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 id="2147483756" r:id="rId5"/>
  </p:sldMasterIdLst>
  <p:notesMasterIdLst>
    <p:notesMasterId r:id="rId33"/>
  </p:notesMasterIdLst>
  <p:sldIdLst>
    <p:sldId id="287" r:id="rId6"/>
    <p:sldId id="1903" r:id="rId7"/>
    <p:sldId id="1777" r:id="rId8"/>
    <p:sldId id="1653" r:id="rId9"/>
    <p:sldId id="1904" r:id="rId10"/>
    <p:sldId id="275" r:id="rId11"/>
    <p:sldId id="278" r:id="rId12"/>
    <p:sldId id="1890" r:id="rId13"/>
    <p:sldId id="1891" r:id="rId14"/>
    <p:sldId id="1886" r:id="rId15"/>
    <p:sldId id="1892" r:id="rId16"/>
    <p:sldId id="1883" r:id="rId17"/>
    <p:sldId id="1893" r:id="rId18"/>
    <p:sldId id="1889" r:id="rId19"/>
    <p:sldId id="1901" r:id="rId20"/>
    <p:sldId id="1884" r:id="rId21"/>
    <p:sldId id="1894" r:id="rId22"/>
    <p:sldId id="1905" r:id="rId23"/>
    <p:sldId id="1900" r:id="rId24"/>
    <p:sldId id="1895" r:id="rId25"/>
    <p:sldId id="1897" r:id="rId26"/>
    <p:sldId id="1898" r:id="rId27"/>
    <p:sldId id="1887" r:id="rId28"/>
    <p:sldId id="1899" r:id="rId29"/>
    <p:sldId id="1896" r:id="rId30"/>
    <p:sldId id="1902" r:id="rId31"/>
    <p:sldId id="1882" r:id="rId32"/>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9E84B6"/>
    <a:srgbClr val="004B7F"/>
    <a:srgbClr val="3D5265"/>
    <a:srgbClr val="08B89D"/>
    <a:srgbClr val="D7E9F6"/>
    <a:srgbClr val="EFFFFF"/>
    <a:srgbClr val="4C67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4B367F-2EA9-49E3-8201-2B4DC1B115DA}" v="1675" dt="2025-10-22T10:39:48.7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2BBD7-3A30-184C-B42E-C45F19937C50}" type="datetimeFigureOut">
              <a:rPr lang="en-PT" smtClean="0"/>
              <a:t>10/22/2025</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7D0246-0936-8449-B637-9D9169ACDCDC}" type="slidenum">
              <a:rPr lang="en-PT" smtClean="0"/>
              <a:t>‹#›</a:t>
            </a:fld>
            <a:endParaRPr lang="en-PT"/>
          </a:p>
        </p:txBody>
      </p:sp>
    </p:spTree>
    <p:extLst>
      <p:ext uri="{BB962C8B-B14F-4D97-AF65-F5344CB8AC3E}">
        <p14:creationId xmlns:p14="http://schemas.microsoft.com/office/powerpoint/2010/main" val="204873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This session will explore how EU Member States report on adaptation goals as part of their NECPs under Article 17.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It will showcase best practices, discuss common challenges, and provide recommendations for improving reporting quality and the effective use of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latin typeface="+mn-lt"/>
                <a:ea typeface="+mn-ea"/>
                <a:cs typeface="+mn-cs"/>
              </a:rPr>
              <a:t>Participants will gain insights into approaches for linking adaptation goals to measurable outcomes and enhancing transparency and comparability across countries</a:t>
            </a:r>
          </a:p>
          <a:p>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1</a:t>
            </a:fld>
            <a:endParaRPr lang="en-PT"/>
          </a:p>
        </p:txBody>
      </p:sp>
    </p:spTree>
    <p:extLst>
      <p:ext uri="{BB962C8B-B14F-4D97-AF65-F5344CB8AC3E}">
        <p14:creationId xmlns:p14="http://schemas.microsoft.com/office/powerpoint/2010/main" val="3038460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sz="1000" cap="all">
              <a:latin typeface="Calibri Light"/>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DK" smtClean="0"/>
              <a:t>3</a:t>
            </a:fld>
            <a:endParaRPr lang="en-DK"/>
          </a:p>
        </p:txBody>
      </p:sp>
    </p:spTree>
    <p:extLst>
      <p:ext uri="{BB962C8B-B14F-4D97-AF65-F5344CB8AC3E}">
        <p14:creationId xmlns:p14="http://schemas.microsoft.com/office/powerpoint/2010/main" val="2610658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A6B3EBFC-DABD-4596-9417-BF287497F504}" type="slidenum">
              <a:rPr lang="en-DK" smtClean="0"/>
              <a:t>4</a:t>
            </a:fld>
            <a:endParaRPr lang="en-DK"/>
          </a:p>
        </p:txBody>
      </p:sp>
    </p:spTree>
    <p:extLst>
      <p:ext uri="{BB962C8B-B14F-4D97-AF65-F5344CB8AC3E}">
        <p14:creationId xmlns:p14="http://schemas.microsoft.com/office/powerpoint/2010/main" val="3458698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1D431-BB09-F0DD-9800-A642AB4E9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6473D-B194-3F05-2CD4-355E56BA2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6BB84-F9F4-3EB4-721E-6D2D737E4002}"/>
              </a:ext>
            </a:extLst>
          </p:cNvPr>
          <p:cNvSpPr>
            <a:spLocks noGrp="1"/>
          </p:cNvSpPr>
          <p:nvPr>
            <p:ph type="body" idx="1"/>
          </p:nvPr>
        </p:nvSpPr>
        <p:spPr/>
        <p:txBody>
          <a:bodyPr/>
          <a:lstStyle/>
          <a:p>
            <a:endParaRPr lang="en-PT"/>
          </a:p>
        </p:txBody>
      </p:sp>
      <p:sp>
        <p:nvSpPr>
          <p:cNvPr id="4" name="Slide Number Placeholder 3">
            <a:extLst>
              <a:ext uri="{FF2B5EF4-FFF2-40B4-BE49-F238E27FC236}">
                <a16:creationId xmlns:a16="http://schemas.microsoft.com/office/drawing/2014/main" id="{0130C313-1F28-D3C3-3011-2A272FCAAC50}"/>
              </a:ext>
            </a:extLst>
          </p:cNvPr>
          <p:cNvSpPr>
            <a:spLocks noGrp="1"/>
          </p:cNvSpPr>
          <p:nvPr>
            <p:ph type="sldNum" sz="quarter" idx="5"/>
          </p:nvPr>
        </p:nvSpPr>
        <p:spPr/>
        <p:txBody>
          <a:bodyPr/>
          <a:lstStyle/>
          <a:p>
            <a:fld id="{CD7D0246-0936-8449-B637-9D9169ACDCDC}" type="slidenum">
              <a:rPr lang="en-PT" smtClean="0"/>
              <a:t>6</a:t>
            </a:fld>
            <a:endParaRPr lang="en-PT"/>
          </a:p>
        </p:txBody>
      </p:sp>
    </p:spTree>
    <p:extLst>
      <p:ext uri="{BB962C8B-B14F-4D97-AF65-F5344CB8AC3E}">
        <p14:creationId xmlns:p14="http://schemas.microsoft.com/office/powerpoint/2010/main" val="130120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7</a:t>
            </a:fld>
            <a:endParaRPr lang="en-PT"/>
          </a:p>
        </p:txBody>
      </p:sp>
    </p:spTree>
    <p:extLst>
      <p:ext uri="{BB962C8B-B14F-4D97-AF65-F5344CB8AC3E}">
        <p14:creationId xmlns:p14="http://schemas.microsoft.com/office/powerpoint/2010/main" val="2306622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8</a:t>
            </a:fld>
            <a:endParaRPr lang="en-PT"/>
          </a:p>
        </p:txBody>
      </p:sp>
    </p:spTree>
    <p:extLst>
      <p:ext uri="{BB962C8B-B14F-4D97-AF65-F5344CB8AC3E}">
        <p14:creationId xmlns:p14="http://schemas.microsoft.com/office/powerpoint/2010/main" val="3973520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1AF6-BAB4-2A56-344B-7375D0F6F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929B6-490E-B62B-FD00-00322317A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A8CA1-E243-9A9B-703E-4A43FFA4DB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DK"/>
          </a:p>
          <a:p>
            <a:endParaRPr lang="en-US"/>
          </a:p>
          <a:p>
            <a:endParaRPr lang="en-US" sz="1200" b="0" i="0" kern="1200">
              <a:solidFill>
                <a:schemeClr val="tx1"/>
              </a:solidFill>
              <a:effectLst/>
              <a:latin typeface="+mn-lt"/>
              <a:ea typeface="+mn-ea"/>
              <a:cs typeface="+mn-cs"/>
            </a:endParaRPr>
          </a:p>
          <a:p>
            <a:endParaRPr lang="en-GB"/>
          </a:p>
        </p:txBody>
      </p:sp>
      <p:sp>
        <p:nvSpPr>
          <p:cNvPr id="4" name="Slide Number Placeholder 3">
            <a:extLst>
              <a:ext uri="{FF2B5EF4-FFF2-40B4-BE49-F238E27FC236}">
                <a16:creationId xmlns:a16="http://schemas.microsoft.com/office/drawing/2014/main" id="{48454ED3-3432-0B64-A15B-927D1100A7E8}"/>
              </a:ext>
            </a:extLst>
          </p:cNvPr>
          <p:cNvSpPr>
            <a:spLocks noGrp="1"/>
          </p:cNvSpPr>
          <p:nvPr>
            <p:ph type="sldNum" sz="quarter" idx="5"/>
          </p:nvPr>
        </p:nvSpPr>
        <p:spPr/>
        <p:txBody>
          <a:bodyPr/>
          <a:lstStyle/>
          <a:p>
            <a:fld id="{CD7D0246-0936-8449-B637-9D9169ACDCDC}" type="slidenum">
              <a:rPr lang="en-PT" smtClean="0"/>
              <a:t>17</a:t>
            </a:fld>
            <a:endParaRPr lang="en-PT"/>
          </a:p>
        </p:txBody>
      </p:sp>
    </p:spTree>
    <p:extLst>
      <p:ext uri="{BB962C8B-B14F-4D97-AF65-F5344CB8AC3E}">
        <p14:creationId xmlns:p14="http://schemas.microsoft.com/office/powerpoint/2010/main" val="1290442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20</a:t>
            </a:fld>
            <a:endParaRPr lang="en-PT"/>
          </a:p>
        </p:txBody>
      </p:sp>
    </p:spTree>
    <p:extLst>
      <p:ext uri="{BB962C8B-B14F-4D97-AF65-F5344CB8AC3E}">
        <p14:creationId xmlns:p14="http://schemas.microsoft.com/office/powerpoint/2010/main" val="3342394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France, Portugal</a:t>
            </a:r>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21</a:t>
            </a:fld>
            <a:endParaRPr lang="en-PT"/>
          </a:p>
        </p:txBody>
      </p:sp>
    </p:spTree>
    <p:extLst>
      <p:ext uri="{BB962C8B-B14F-4D97-AF65-F5344CB8AC3E}">
        <p14:creationId xmlns:p14="http://schemas.microsoft.com/office/powerpoint/2010/main" val="4098510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France, Greece, Portugal</a:t>
            </a:r>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22</a:t>
            </a:fld>
            <a:endParaRPr lang="en-PT"/>
          </a:p>
        </p:txBody>
      </p:sp>
    </p:spTree>
    <p:extLst>
      <p:ext uri="{BB962C8B-B14F-4D97-AF65-F5344CB8AC3E}">
        <p14:creationId xmlns:p14="http://schemas.microsoft.com/office/powerpoint/2010/main" val="225482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Hungary, Austria, Ireland</a:t>
            </a:r>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23</a:t>
            </a:fld>
            <a:endParaRPr lang="en-PT"/>
          </a:p>
        </p:txBody>
      </p:sp>
    </p:spTree>
    <p:extLst>
      <p:ext uri="{BB962C8B-B14F-4D97-AF65-F5344CB8AC3E}">
        <p14:creationId xmlns:p14="http://schemas.microsoft.com/office/powerpoint/2010/main" val="3966616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Greece, Portugal, Hungary</a:t>
            </a:r>
            <a:endParaRPr lang="en-GB"/>
          </a:p>
        </p:txBody>
      </p:sp>
      <p:sp>
        <p:nvSpPr>
          <p:cNvPr id="4" name="Slide Number Placeholder 3"/>
          <p:cNvSpPr>
            <a:spLocks noGrp="1"/>
          </p:cNvSpPr>
          <p:nvPr>
            <p:ph type="sldNum" sz="quarter" idx="5"/>
          </p:nvPr>
        </p:nvSpPr>
        <p:spPr/>
        <p:txBody>
          <a:bodyPr/>
          <a:lstStyle/>
          <a:p>
            <a:fld id="{CD7D0246-0936-8449-B637-9D9169ACDCDC}" type="slidenum">
              <a:rPr lang="en-PT" smtClean="0"/>
              <a:t>24</a:t>
            </a:fld>
            <a:endParaRPr lang="en-PT"/>
          </a:p>
        </p:txBody>
      </p:sp>
    </p:spTree>
    <p:extLst>
      <p:ext uri="{BB962C8B-B14F-4D97-AF65-F5344CB8AC3E}">
        <p14:creationId xmlns:p14="http://schemas.microsoft.com/office/powerpoint/2010/main" val="2467828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emf"/><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emf"/><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911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termark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9E2B6D-5999-4A45-1D5E-5A7BACDA22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29533" y="169008"/>
            <a:ext cx="1762394" cy="924278"/>
          </a:xfrm>
          <a:prstGeom prst="rect">
            <a:avLst/>
          </a:prstGeom>
        </p:spPr>
      </p:pic>
      <p:pic>
        <p:nvPicPr>
          <p:cNvPr id="6" name="Graphic 5">
            <a:extLst>
              <a:ext uri="{FF2B5EF4-FFF2-40B4-BE49-F238E27FC236}">
                <a16:creationId xmlns:a16="http://schemas.microsoft.com/office/drawing/2014/main" id="{6E4CBA84-154A-8B69-CB6B-D93A1235EAE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518071" y="1293238"/>
            <a:ext cx="6594813" cy="5703622"/>
          </a:xfrm>
          <a:prstGeom prst="rect">
            <a:avLst/>
          </a:prstGeom>
        </p:spPr>
      </p:pic>
    </p:spTree>
    <p:extLst>
      <p:ext uri="{BB962C8B-B14F-4D97-AF65-F5344CB8AC3E}">
        <p14:creationId xmlns:p14="http://schemas.microsoft.com/office/powerpoint/2010/main" val="1184776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8775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316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Dark Blank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49A72B-5079-100D-9A6D-2D265BA7F216}"/>
              </a:ext>
            </a:extLst>
          </p:cNvPr>
          <p:cNvSpPr>
            <a:spLocks noChangeAspect="1"/>
          </p:cNvSpPr>
          <p:nvPr userDrawn="1"/>
        </p:nvSpPr>
        <p:spPr>
          <a:xfrm>
            <a:off x="0" y="0"/>
            <a:ext cx="12193200" cy="6858675"/>
          </a:xfrm>
          <a:prstGeom prst="rect">
            <a:avLst/>
          </a:prstGeom>
          <a:solidFill>
            <a:srgbClr val="3D5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3" name="Graphic 2">
            <a:extLst>
              <a:ext uri="{FF2B5EF4-FFF2-40B4-BE49-F238E27FC236}">
                <a16:creationId xmlns:a16="http://schemas.microsoft.com/office/drawing/2014/main" id="{BF4BC9C4-3032-561C-FF95-85D8FAEAD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28658" y="155359"/>
            <a:ext cx="1764000" cy="925120"/>
          </a:xfrm>
          <a:prstGeom prst="rect">
            <a:avLst/>
          </a:prstGeom>
        </p:spPr>
      </p:pic>
    </p:spTree>
    <p:extLst>
      <p:ext uri="{BB962C8B-B14F-4D97-AF65-F5344CB8AC3E}">
        <p14:creationId xmlns:p14="http://schemas.microsoft.com/office/powerpoint/2010/main" val="2259684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adient_Open Tit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4BED75-8FFD-E5C1-A19C-AD79313F19E3}"/>
              </a:ext>
            </a:extLst>
          </p:cNvPr>
          <p:cNvPicPr>
            <a:picLocks noChangeAspect="1"/>
          </p:cNvPicPr>
          <p:nvPr userDrawn="1"/>
        </p:nvPicPr>
        <p:blipFill>
          <a:blip r:embed="rId2"/>
          <a:stretch>
            <a:fillRect/>
          </a:stretch>
        </p:blipFill>
        <p:spPr>
          <a:xfrm>
            <a:off x="1" y="0"/>
            <a:ext cx="12192000" cy="6858000"/>
          </a:xfrm>
          <a:prstGeom prst="rect">
            <a:avLst/>
          </a:prstGeom>
        </p:spPr>
      </p:pic>
      <p:pic>
        <p:nvPicPr>
          <p:cNvPr id="3" name="Graphic 2">
            <a:extLst>
              <a:ext uri="{FF2B5EF4-FFF2-40B4-BE49-F238E27FC236}">
                <a16:creationId xmlns:a16="http://schemas.microsoft.com/office/drawing/2014/main" id="{632A2E29-5325-E84D-CD2C-395EC9CCC54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28658" y="155359"/>
            <a:ext cx="1764000" cy="925120"/>
          </a:xfrm>
          <a:prstGeom prst="rect">
            <a:avLst/>
          </a:prstGeom>
        </p:spPr>
      </p:pic>
      <p:sp>
        <p:nvSpPr>
          <p:cNvPr id="6" name="Rectangle 5">
            <a:extLst>
              <a:ext uri="{FF2B5EF4-FFF2-40B4-BE49-F238E27FC236}">
                <a16:creationId xmlns:a16="http://schemas.microsoft.com/office/drawing/2014/main" id="{CA299587-D68B-4E70-4DE2-A989B24A7DF7}"/>
              </a:ext>
            </a:extLst>
          </p:cNvPr>
          <p:cNvSpPr/>
          <p:nvPr userDrawn="1"/>
        </p:nvSpPr>
        <p:spPr>
          <a:xfrm>
            <a:off x="0" y="5127585"/>
            <a:ext cx="12191999" cy="509286"/>
          </a:xfrm>
          <a:prstGeom prst="rect">
            <a:avLst/>
          </a:prstGeom>
          <a:solidFill>
            <a:srgbClr val="004B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 Placeholder 8">
            <a:extLst>
              <a:ext uri="{FF2B5EF4-FFF2-40B4-BE49-F238E27FC236}">
                <a16:creationId xmlns:a16="http://schemas.microsoft.com/office/drawing/2014/main" id="{F5D6169D-EA91-BB1D-0910-EC9F25BBEA89}"/>
              </a:ext>
            </a:extLst>
          </p:cNvPr>
          <p:cNvSpPr>
            <a:spLocks noGrp="1"/>
          </p:cNvSpPr>
          <p:nvPr>
            <p:ph type="body" sz="quarter" idx="10" hasCustomPrompt="1"/>
          </p:nvPr>
        </p:nvSpPr>
        <p:spPr>
          <a:xfrm>
            <a:off x="4241261" y="2467862"/>
            <a:ext cx="7275224" cy="1225550"/>
          </a:xfrm>
          <a:prstGeom prst="rect">
            <a:avLst/>
          </a:prstGeom>
        </p:spPr>
        <p:txBody>
          <a:bodyPr/>
          <a:lstStyle>
            <a:lvl1pPr marL="0" indent="0" algn="r">
              <a:buNone/>
              <a:defRPr sz="4400" b="1">
                <a:solidFill>
                  <a:schemeClr val="bg1"/>
                </a:solidFill>
                <a:latin typeface="Aptos" panose="020B0004020202020204" pitchFamily="34" charset="0"/>
              </a:defRPr>
            </a:lvl1pPr>
            <a:lvl2pPr algn="r">
              <a:defRPr b="1">
                <a:solidFill>
                  <a:schemeClr val="bg1"/>
                </a:solidFill>
                <a:latin typeface="Aptos" panose="020B0004020202020204" pitchFamily="34" charset="0"/>
              </a:defRPr>
            </a:lvl2pPr>
            <a:lvl3pPr algn="r">
              <a:defRPr b="1">
                <a:solidFill>
                  <a:schemeClr val="bg1"/>
                </a:solidFill>
                <a:latin typeface="Aptos" panose="020B0004020202020204" pitchFamily="34" charset="0"/>
              </a:defRPr>
            </a:lvl3pPr>
            <a:lvl4pPr algn="r">
              <a:defRPr b="1">
                <a:solidFill>
                  <a:schemeClr val="bg1"/>
                </a:solidFill>
                <a:latin typeface="Aptos" panose="020B0004020202020204" pitchFamily="34" charset="0"/>
              </a:defRPr>
            </a:lvl4pPr>
            <a:lvl5pPr algn="r">
              <a:defRPr b="1">
                <a:solidFill>
                  <a:schemeClr val="bg1"/>
                </a:solidFill>
                <a:latin typeface="Aptos" panose="020B0004020202020204" pitchFamily="34" charset="0"/>
              </a:defRPr>
            </a:lvl5pPr>
          </a:lstStyle>
          <a:p>
            <a:pPr algn="r"/>
            <a:r>
              <a:rPr lang="en-GB" sz="2800" b="1">
                <a:solidFill>
                  <a:schemeClr val="bg1"/>
                </a:solidFill>
                <a:latin typeface="Aptos" panose="020B0004020202020204" pitchFamily="34" charset="0"/>
              </a:rPr>
              <a:t>Title of your presentation</a:t>
            </a:r>
            <a:br>
              <a:rPr lang="en-GB" sz="2800" b="1">
                <a:solidFill>
                  <a:schemeClr val="bg1"/>
                </a:solidFill>
                <a:latin typeface="Aptos" panose="020B0004020202020204" pitchFamily="34" charset="0"/>
              </a:rPr>
            </a:br>
            <a:r>
              <a:rPr lang="en-GB" sz="2800" b="1">
                <a:solidFill>
                  <a:schemeClr val="bg1"/>
                </a:solidFill>
                <a:latin typeface="Aptos" panose="020B0004020202020204" pitchFamily="34" charset="0"/>
              </a:rPr>
              <a:t>second row</a:t>
            </a:r>
          </a:p>
        </p:txBody>
      </p:sp>
      <p:sp>
        <p:nvSpPr>
          <p:cNvPr id="15" name="Text Placeholder 13">
            <a:extLst>
              <a:ext uri="{FF2B5EF4-FFF2-40B4-BE49-F238E27FC236}">
                <a16:creationId xmlns:a16="http://schemas.microsoft.com/office/drawing/2014/main" id="{482BB189-7A31-ECF5-C442-8D6095B0B5C1}"/>
              </a:ext>
            </a:extLst>
          </p:cNvPr>
          <p:cNvSpPr>
            <a:spLocks noGrp="1"/>
          </p:cNvSpPr>
          <p:nvPr>
            <p:ph type="body" sz="quarter" idx="11" hasCustomPrompt="1"/>
          </p:nvPr>
        </p:nvSpPr>
        <p:spPr>
          <a:xfrm>
            <a:off x="5906259" y="3844440"/>
            <a:ext cx="5610225" cy="538163"/>
          </a:xfrm>
          <a:prstGeom prst="rect">
            <a:avLst/>
          </a:prstGeom>
        </p:spPr>
        <p:txBody>
          <a:bodyPr/>
          <a:lstStyle>
            <a:lvl1pPr marL="0" indent="0" algn="r">
              <a:buNone/>
              <a:defRPr sz="3600">
                <a:solidFill>
                  <a:schemeClr val="bg1"/>
                </a:solidFill>
                <a:latin typeface="Aptos" panose="020B0004020202020204" pitchFamily="34" charset="0"/>
              </a:defRPr>
            </a:lvl1pPr>
          </a:lstStyle>
          <a:p>
            <a:pPr algn="r"/>
            <a:r>
              <a:rPr lang="en-GB" sz="2800">
                <a:solidFill>
                  <a:schemeClr val="bg1"/>
                </a:solidFill>
                <a:latin typeface="Aptos" panose="020B0004020202020204" pitchFamily="34" charset="0"/>
                <a:ea typeface="+mn-lt"/>
                <a:cs typeface="+mn-lt"/>
              </a:rPr>
              <a:t>Subtitle of presentation</a:t>
            </a:r>
            <a:endParaRPr lang="en-US" sz="2800">
              <a:solidFill>
                <a:schemeClr val="bg1"/>
              </a:solidFill>
              <a:latin typeface="Aptos" panose="020B0004020202020204" pitchFamily="34" charset="0"/>
              <a:ea typeface="+mn-lt"/>
              <a:cs typeface="+mn-lt"/>
            </a:endParaRPr>
          </a:p>
        </p:txBody>
      </p:sp>
      <p:sp>
        <p:nvSpPr>
          <p:cNvPr id="18" name="Text Placeholder 17">
            <a:extLst>
              <a:ext uri="{FF2B5EF4-FFF2-40B4-BE49-F238E27FC236}">
                <a16:creationId xmlns:a16="http://schemas.microsoft.com/office/drawing/2014/main" id="{ADE8B9F4-985C-3692-0DD3-8CA9A22FC73A}"/>
              </a:ext>
            </a:extLst>
          </p:cNvPr>
          <p:cNvSpPr>
            <a:spLocks noGrp="1"/>
          </p:cNvSpPr>
          <p:nvPr>
            <p:ph type="body" sz="quarter" idx="12" hasCustomPrompt="1"/>
          </p:nvPr>
        </p:nvSpPr>
        <p:spPr>
          <a:xfrm>
            <a:off x="6207006" y="5174485"/>
            <a:ext cx="5309478" cy="415485"/>
          </a:xfrm>
          <a:prstGeom prst="rect">
            <a:avLst/>
          </a:prstGeom>
        </p:spPr>
        <p:txBody>
          <a:bodyPr/>
          <a:lstStyle>
            <a:lvl1pPr marL="0" indent="0" algn="r">
              <a:buNone/>
              <a:defRPr sz="2000">
                <a:solidFill>
                  <a:schemeClr val="bg1"/>
                </a:solidFill>
                <a:latin typeface="Aptos" panose="020B0004020202020204" pitchFamily="34" charset="0"/>
              </a:defRPr>
            </a:lvl1pPr>
          </a:lstStyle>
          <a:p>
            <a:pPr algn="r"/>
            <a:r>
              <a:rPr lang="en-GB" sz="2800">
                <a:solidFill>
                  <a:schemeClr val="bg1"/>
                </a:solidFill>
                <a:latin typeface="Aptos" panose="020B0004020202020204" pitchFamily="34" charset="0"/>
                <a:ea typeface="+mn-lt"/>
                <a:cs typeface="+mn-lt"/>
              </a:rPr>
              <a:t>Your name / Date</a:t>
            </a:r>
            <a:endParaRPr lang="en-US" sz="2800">
              <a:solidFill>
                <a:schemeClr val="bg1"/>
              </a:solidFill>
              <a:latin typeface="Aptos" panose="020B0004020202020204" pitchFamily="34" charset="0"/>
              <a:ea typeface="+mn-lt"/>
              <a:cs typeface="+mn-lt"/>
            </a:endParaRPr>
          </a:p>
        </p:txBody>
      </p:sp>
    </p:spTree>
    <p:extLst>
      <p:ext uri="{BB962C8B-B14F-4D97-AF65-F5344CB8AC3E}">
        <p14:creationId xmlns:p14="http://schemas.microsoft.com/office/powerpoint/2010/main" val="1609187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Open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1E293-E01F-4552-88D1-4700766E0A96}"/>
              </a:ext>
            </a:extLst>
          </p:cNvPr>
          <p:cNvSpPr>
            <a:spLocks noChangeAspect="1"/>
          </p:cNvSpPr>
          <p:nvPr userDrawn="1"/>
        </p:nvSpPr>
        <p:spPr>
          <a:xfrm>
            <a:off x="0" y="0"/>
            <a:ext cx="12193200" cy="6858675"/>
          </a:xfrm>
          <a:prstGeom prst="rect">
            <a:avLst/>
          </a:prstGeom>
          <a:solidFill>
            <a:srgbClr val="3D5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3" name="Graphic 2">
            <a:extLst>
              <a:ext uri="{FF2B5EF4-FFF2-40B4-BE49-F238E27FC236}">
                <a16:creationId xmlns:a16="http://schemas.microsoft.com/office/drawing/2014/main" id="{632A2E29-5325-E84D-CD2C-395EC9CCC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28658" y="155359"/>
            <a:ext cx="1764000" cy="925120"/>
          </a:xfrm>
          <a:prstGeom prst="rect">
            <a:avLst/>
          </a:prstGeom>
        </p:spPr>
      </p:pic>
      <p:sp>
        <p:nvSpPr>
          <p:cNvPr id="6" name="Rectangle 5">
            <a:extLst>
              <a:ext uri="{FF2B5EF4-FFF2-40B4-BE49-F238E27FC236}">
                <a16:creationId xmlns:a16="http://schemas.microsoft.com/office/drawing/2014/main" id="{CA299587-D68B-4E70-4DE2-A989B24A7DF7}"/>
              </a:ext>
            </a:extLst>
          </p:cNvPr>
          <p:cNvSpPr/>
          <p:nvPr userDrawn="1"/>
        </p:nvSpPr>
        <p:spPr>
          <a:xfrm>
            <a:off x="8181" y="5127585"/>
            <a:ext cx="12193200" cy="509286"/>
          </a:xfrm>
          <a:prstGeom prst="rect">
            <a:avLst/>
          </a:prstGeom>
          <a:solidFill>
            <a:srgbClr val="004B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9" name="Text Placeholder 8">
            <a:extLst>
              <a:ext uri="{FF2B5EF4-FFF2-40B4-BE49-F238E27FC236}">
                <a16:creationId xmlns:a16="http://schemas.microsoft.com/office/drawing/2014/main" id="{F5D6169D-EA91-BB1D-0910-EC9F25BBEA89}"/>
              </a:ext>
            </a:extLst>
          </p:cNvPr>
          <p:cNvSpPr>
            <a:spLocks noGrp="1"/>
          </p:cNvSpPr>
          <p:nvPr>
            <p:ph type="body" sz="quarter" idx="10" hasCustomPrompt="1"/>
          </p:nvPr>
        </p:nvSpPr>
        <p:spPr>
          <a:xfrm>
            <a:off x="473414" y="2467862"/>
            <a:ext cx="7275224" cy="1225550"/>
          </a:xfrm>
          <a:prstGeom prst="rect">
            <a:avLst/>
          </a:prstGeom>
        </p:spPr>
        <p:txBody>
          <a:bodyPr/>
          <a:lstStyle>
            <a:lvl1pPr marL="0" indent="0" algn="l">
              <a:buNone/>
              <a:defRPr sz="4400" b="1">
                <a:solidFill>
                  <a:schemeClr val="bg1"/>
                </a:solidFill>
                <a:latin typeface="Aptos" panose="020B0004020202020204" pitchFamily="34" charset="0"/>
              </a:defRPr>
            </a:lvl1pPr>
            <a:lvl2pPr algn="r">
              <a:defRPr b="1">
                <a:solidFill>
                  <a:schemeClr val="bg1"/>
                </a:solidFill>
                <a:latin typeface="Aptos" panose="020B0004020202020204" pitchFamily="34" charset="0"/>
              </a:defRPr>
            </a:lvl2pPr>
            <a:lvl3pPr algn="r">
              <a:defRPr b="1">
                <a:solidFill>
                  <a:schemeClr val="bg1"/>
                </a:solidFill>
                <a:latin typeface="Aptos" panose="020B0004020202020204" pitchFamily="34" charset="0"/>
              </a:defRPr>
            </a:lvl3pPr>
            <a:lvl4pPr algn="r">
              <a:defRPr b="1">
                <a:solidFill>
                  <a:schemeClr val="bg1"/>
                </a:solidFill>
                <a:latin typeface="Aptos" panose="020B0004020202020204" pitchFamily="34" charset="0"/>
              </a:defRPr>
            </a:lvl4pPr>
            <a:lvl5pPr algn="r">
              <a:defRPr b="1">
                <a:solidFill>
                  <a:schemeClr val="bg1"/>
                </a:solidFill>
                <a:latin typeface="Aptos" panose="020B0004020202020204" pitchFamily="34" charset="0"/>
              </a:defRPr>
            </a:lvl5pPr>
          </a:lstStyle>
          <a:p>
            <a:pPr algn="r"/>
            <a:r>
              <a:rPr lang="en-GB" sz="2800" b="1">
                <a:solidFill>
                  <a:schemeClr val="bg1"/>
                </a:solidFill>
                <a:latin typeface="Aptos" panose="020B0004020202020204" pitchFamily="34" charset="0"/>
              </a:rPr>
              <a:t>Title of your presentation</a:t>
            </a:r>
            <a:br>
              <a:rPr lang="en-GB" sz="2800" b="1">
                <a:solidFill>
                  <a:schemeClr val="bg1"/>
                </a:solidFill>
                <a:latin typeface="Aptos" panose="020B0004020202020204" pitchFamily="34" charset="0"/>
              </a:rPr>
            </a:br>
            <a:r>
              <a:rPr lang="en-GB" sz="2800" b="1">
                <a:solidFill>
                  <a:schemeClr val="bg1"/>
                </a:solidFill>
                <a:latin typeface="Aptos" panose="020B0004020202020204" pitchFamily="34" charset="0"/>
              </a:rPr>
              <a:t>second row</a:t>
            </a:r>
          </a:p>
        </p:txBody>
      </p:sp>
      <p:sp>
        <p:nvSpPr>
          <p:cNvPr id="15" name="Text Placeholder 13">
            <a:extLst>
              <a:ext uri="{FF2B5EF4-FFF2-40B4-BE49-F238E27FC236}">
                <a16:creationId xmlns:a16="http://schemas.microsoft.com/office/drawing/2014/main" id="{482BB189-7A31-ECF5-C442-8D6095B0B5C1}"/>
              </a:ext>
            </a:extLst>
          </p:cNvPr>
          <p:cNvSpPr>
            <a:spLocks noGrp="1"/>
          </p:cNvSpPr>
          <p:nvPr>
            <p:ph type="body" sz="quarter" idx="11" hasCustomPrompt="1"/>
          </p:nvPr>
        </p:nvSpPr>
        <p:spPr>
          <a:xfrm>
            <a:off x="473414" y="3844440"/>
            <a:ext cx="5610225" cy="538163"/>
          </a:xfrm>
          <a:prstGeom prst="rect">
            <a:avLst/>
          </a:prstGeom>
        </p:spPr>
        <p:txBody>
          <a:bodyPr/>
          <a:lstStyle>
            <a:lvl1pPr marL="0" indent="0" algn="l">
              <a:buNone/>
              <a:defRPr sz="3600">
                <a:solidFill>
                  <a:schemeClr val="bg1"/>
                </a:solidFill>
                <a:latin typeface="Aptos" panose="020B0004020202020204" pitchFamily="34" charset="0"/>
              </a:defRPr>
            </a:lvl1pPr>
          </a:lstStyle>
          <a:p>
            <a:pPr algn="r"/>
            <a:r>
              <a:rPr lang="en-GB" sz="2800">
                <a:solidFill>
                  <a:schemeClr val="bg1"/>
                </a:solidFill>
                <a:latin typeface="Aptos" panose="020B0004020202020204" pitchFamily="34" charset="0"/>
                <a:ea typeface="+mn-lt"/>
                <a:cs typeface="+mn-lt"/>
              </a:rPr>
              <a:t>Subtitle of presentation</a:t>
            </a:r>
            <a:endParaRPr lang="en-US" sz="2800">
              <a:solidFill>
                <a:schemeClr val="bg1"/>
              </a:solidFill>
              <a:latin typeface="Aptos" panose="020B0004020202020204" pitchFamily="34" charset="0"/>
              <a:ea typeface="+mn-lt"/>
              <a:cs typeface="+mn-lt"/>
            </a:endParaRPr>
          </a:p>
        </p:txBody>
      </p:sp>
      <p:sp>
        <p:nvSpPr>
          <p:cNvPr id="18" name="Text Placeholder 17">
            <a:extLst>
              <a:ext uri="{FF2B5EF4-FFF2-40B4-BE49-F238E27FC236}">
                <a16:creationId xmlns:a16="http://schemas.microsoft.com/office/drawing/2014/main" id="{ADE8B9F4-985C-3692-0DD3-8CA9A22FC73A}"/>
              </a:ext>
            </a:extLst>
          </p:cNvPr>
          <p:cNvSpPr>
            <a:spLocks noGrp="1"/>
          </p:cNvSpPr>
          <p:nvPr>
            <p:ph type="body" sz="quarter" idx="12" hasCustomPrompt="1"/>
          </p:nvPr>
        </p:nvSpPr>
        <p:spPr>
          <a:xfrm>
            <a:off x="473414" y="5174485"/>
            <a:ext cx="5309478" cy="415485"/>
          </a:xfrm>
          <a:prstGeom prst="rect">
            <a:avLst/>
          </a:prstGeom>
        </p:spPr>
        <p:txBody>
          <a:bodyPr/>
          <a:lstStyle>
            <a:lvl1pPr marL="0" indent="0" algn="l">
              <a:buNone/>
              <a:defRPr sz="2000">
                <a:solidFill>
                  <a:schemeClr val="bg1"/>
                </a:solidFill>
                <a:latin typeface="Aptos" panose="020B0004020202020204" pitchFamily="34" charset="0"/>
              </a:defRPr>
            </a:lvl1pPr>
          </a:lstStyle>
          <a:p>
            <a:pPr algn="r"/>
            <a:r>
              <a:rPr lang="en-GB" sz="2800">
                <a:solidFill>
                  <a:schemeClr val="bg1"/>
                </a:solidFill>
                <a:latin typeface="Aptos" panose="020B0004020202020204" pitchFamily="34" charset="0"/>
                <a:ea typeface="+mn-lt"/>
                <a:cs typeface="+mn-lt"/>
              </a:rPr>
              <a:t>Your name / Date</a:t>
            </a:r>
            <a:endParaRPr lang="en-US" sz="2800">
              <a:solidFill>
                <a:schemeClr val="bg1"/>
              </a:solidFill>
              <a:latin typeface="Aptos" panose="020B0004020202020204" pitchFamily="34" charset="0"/>
              <a:ea typeface="+mn-lt"/>
              <a:cs typeface="+mn-lt"/>
            </a:endParaRPr>
          </a:p>
        </p:txBody>
      </p:sp>
    </p:spTree>
    <p:extLst>
      <p:ext uri="{BB962C8B-B14F-4D97-AF65-F5344CB8AC3E}">
        <p14:creationId xmlns:p14="http://schemas.microsoft.com/office/powerpoint/2010/main" val="225179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Blank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49A72B-5079-100D-9A6D-2D265BA7F216}"/>
              </a:ext>
            </a:extLst>
          </p:cNvPr>
          <p:cNvSpPr>
            <a:spLocks noChangeAspect="1"/>
          </p:cNvSpPr>
          <p:nvPr userDrawn="1"/>
        </p:nvSpPr>
        <p:spPr>
          <a:xfrm>
            <a:off x="0" y="0"/>
            <a:ext cx="12193200" cy="6858675"/>
          </a:xfrm>
          <a:prstGeom prst="rect">
            <a:avLst/>
          </a:prstGeom>
          <a:solidFill>
            <a:srgbClr val="3D52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3" name="Graphic 2">
            <a:extLst>
              <a:ext uri="{FF2B5EF4-FFF2-40B4-BE49-F238E27FC236}">
                <a16:creationId xmlns:a16="http://schemas.microsoft.com/office/drawing/2014/main" id="{BF4BC9C4-3032-561C-FF95-85D8FAEAD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28658" y="155359"/>
            <a:ext cx="1764000" cy="925120"/>
          </a:xfrm>
          <a:prstGeom prst="rect">
            <a:avLst/>
          </a:prstGeom>
        </p:spPr>
      </p:pic>
    </p:spTree>
    <p:extLst>
      <p:ext uri="{BB962C8B-B14F-4D97-AF65-F5344CB8AC3E}">
        <p14:creationId xmlns:p14="http://schemas.microsoft.com/office/powerpoint/2010/main" val="277429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716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A37B8F8-19B1-2FE4-0A7D-1CBE46ADBBC2}"/>
              </a:ext>
            </a:extLst>
          </p:cNvPr>
          <p:cNvPicPr>
            <a:picLocks noChangeAspect="1"/>
          </p:cNvPicPr>
          <p:nvPr userDrawn="1"/>
        </p:nvPicPr>
        <p:blipFill>
          <a:blip r:embed="rId2"/>
          <a:stretch>
            <a:fillRect/>
          </a:stretch>
        </p:blipFill>
        <p:spPr>
          <a:xfrm>
            <a:off x="1" y="0"/>
            <a:ext cx="12192000" cy="6858000"/>
          </a:xfrm>
          <a:prstGeom prst="rect">
            <a:avLst/>
          </a:prstGeom>
        </p:spPr>
      </p:pic>
      <p:sp>
        <p:nvSpPr>
          <p:cNvPr id="13" name="TextBox 12">
            <a:extLst>
              <a:ext uri="{FF2B5EF4-FFF2-40B4-BE49-F238E27FC236}">
                <a16:creationId xmlns:a16="http://schemas.microsoft.com/office/drawing/2014/main" id="{EFB0DC63-51A6-C7FC-4E0F-7209864DBA4F}"/>
              </a:ext>
            </a:extLst>
          </p:cNvPr>
          <p:cNvSpPr txBox="1"/>
          <p:nvPr userDrawn="1"/>
        </p:nvSpPr>
        <p:spPr>
          <a:xfrm>
            <a:off x="2551928" y="3105834"/>
            <a:ext cx="7088144" cy="646331"/>
          </a:xfrm>
          <a:prstGeom prst="rect">
            <a:avLst/>
          </a:prstGeom>
          <a:noFill/>
        </p:spPr>
        <p:txBody>
          <a:bodyPr wrap="square" rtlCol="0">
            <a:spAutoFit/>
          </a:bodyPr>
          <a:lstStyle/>
          <a:p>
            <a:pPr algn="ctr"/>
            <a:r>
              <a:rPr lang="en-GB" sz="3600" b="1">
                <a:solidFill>
                  <a:schemeClr val="bg1"/>
                </a:solidFill>
                <a:latin typeface="Aptos" panose="020B0004020202020204" pitchFamily="34" charset="0"/>
              </a:rPr>
              <a:t>Thank you</a:t>
            </a:r>
          </a:p>
        </p:txBody>
      </p:sp>
      <p:pic>
        <p:nvPicPr>
          <p:cNvPr id="14" name="Graphic 13">
            <a:extLst>
              <a:ext uri="{FF2B5EF4-FFF2-40B4-BE49-F238E27FC236}">
                <a16:creationId xmlns:a16="http://schemas.microsoft.com/office/drawing/2014/main" id="{DF1EC3A0-C81A-87E8-C412-1AA9E3D98D8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228658" y="155359"/>
            <a:ext cx="1764000" cy="925120"/>
          </a:xfrm>
          <a:prstGeom prst="rect">
            <a:avLst/>
          </a:prstGeom>
        </p:spPr>
      </p:pic>
    </p:spTree>
    <p:extLst>
      <p:ext uri="{BB962C8B-B14F-4D97-AF65-F5344CB8AC3E}">
        <p14:creationId xmlns:p14="http://schemas.microsoft.com/office/powerpoint/2010/main" val="37978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79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C72C706F-6F86-96EB-D527-2EF12B34F78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229533" y="169008"/>
            <a:ext cx="1762394" cy="924278"/>
          </a:xfrm>
          <a:prstGeom prst="rect">
            <a:avLst/>
          </a:prstGeom>
        </p:spPr>
      </p:pic>
    </p:spTree>
    <p:extLst>
      <p:ext uri="{BB962C8B-B14F-4D97-AF65-F5344CB8AC3E}">
        <p14:creationId xmlns:p14="http://schemas.microsoft.com/office/powerpoint/2010/main" val="3659433033"/>
      </p:ext>
    </p:extLst>
  </p:cSld>
  <p:clrMap bg1="lt1" tx1="dk1" bg2="lt2" tx2="dk2" accent1="accent1" accent2="accent2" accent3="accent3" accent4="accent4" accent5="accent5" accent6="accent6" hlink="hlink" folHlink="folHlink"/>
  <p:sldLayoutIdLst>
    <p:sldLayoutId id="2147483746" r:id="rId1"/>
    <p:sldLayoutId id="2147483745" r:id="rId2"/>
    <p:sldLayoutId id="2147483770" r:id="rId3"/>
    <p:sldLayoutId id="2147483771" r:id="rId4"/>
    <p:sldLayoutId id="2147483772" r:id="rId5"/>
  </p:sldLayoutIdLst>
  <p:hf sldNum="0" hdr="0" ftr="0" dt="0"/>
  <p:txStyles>
    <p:title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F9A124EA-595F-E377-D048-66875F2493F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228658" y="155359"/>
            <a:ext cx="1764000" cy="925120"/>
          </a:xfrm>
          <a:prstGeom prst="rect">
            <a:avLst/>
          </a:prstGeom>
        </p:spPr>
      </p:pic>
    </p:spTree>
    <p:extLst>
      <p:ext uri="{BB962C8B-B14F-4D97-AF65-F5344CB8AC3E}">
        <p14:creationId xmlns:p14="http://schemas.microsoft.com/office/powerpoint/2010/main" val="1083120132"/>
      </p:ext>
    </p:extLst>
  </p:cSld>
  <p:clrMap bg1="lt1" tx1="dk1" bg2="lt2" tx2="dk2" accent1="accent1" accent2="accent2" accent3="accent3" accent4="accent4" accent5="accent5" accent6="accent6" hlink="hlink" folHlink="folHlink"/>
  <p:sldLayoutIdLst>
    <p:sldLayoutId id="2147483757" r:id="rId1"/>
    <p:sldLayoutId id="2147483768" r:id="rId2"/>
    <p:sldLayoutId id="2147483759" r:id="rId3"/>
    <p:sldLayoutId id="2147483762" r:id="rId4"/>
    <p:sldLayoutId id="2147483761" r:id="rId5"/>
    <p:sldLayoutId id="2147483769"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eur-lex.europa.eu/legal-content/EN/TXT/?uri=uriserv%3AOJ.L_.2022.306.01.0001.01.ENG&amp;toc=OJ%3AL%3A2022%3A306%3ATOC"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png"/><Relationship Id="rId7"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eea.europa.eu/en/analysis/publications/is-europe-on-track-towards-climate-resilience" TargetMode="External"/><Relationship Id="rId5" Type="http://schemas.openxmlformats.org/officeDocument/2006/relationships/hyperlink" Target="https://climate-energy.eea.europa.eu/topics/climate-change-adaptation/adaptation-progress-to-targets/data" TargetMode="External"/><Relationship Id="rId10" Type="http://schemas.openxmlformats.org/officeDocument/2006/relationships/image" Target="../media/image17.emf"/><Relationship Id="rId4" Type="http://schemas.openxmlformats.org/officeDocument/2006/relationships/image" Target="../media/image2.svg"/><Relationship Id="rId9" Type="http://schemas.openxmlformats.org/officeDocument/2006/relationships/image" Target="../media/image16.emf"/></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reportnet.europa.eu/public/dataflow/1455" TargetMode="External"/><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reportnet.europa.eu/public/dataflow/1455" TargetMode="External"/><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www.eea.europa.eu/en/analysis/publications/is-europe-on-track-towards-climate-resilience" TargetMode="External"/><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8.jpe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8.jpe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8.jpe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climate-energy.eea.europa.eu/" TargetMode="External"/><Relationship Id="rId2" Type="http://schemas.openxmlformats.org/officeDocument/2006/relationships/image" Target="../media/image42.png"/><Relationship Id="rId1" Type="http://schemas.openxmlformats.org/officeDocument/2006/relationships/slideLayout" Target="../slideLayouts/slideLayout3.xml"/><Relationship Id="rId5" Type="http://schemas.openxmlformats.org/officeDocument/2006/relationships/hyperlink" Target="https://climate-energy.eea.europa.eu/topics/climate-change-adaptation/adaptation-progress-to-targets/data" TargetMode="Externa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94630-BB48-8877-8B81-FBBD5F56F091}"/>
            </a:ext>
          </a:extLst>
        </p:cNvPr>
        <p:cNvGrpSpPr/>
        <p:nvPr/>
      </p:nvGrpSpPr>
      <p:grpSpPr>
        <a:xfrm>
          <a:off x="0" y="0"/>
          <a:ext cx="0" cy="0"/>
          <a:chOff x="0" y="0"/>
          <a:chExt cx="0" cy="0"/>
        </a:xfrm>
      </p:grpSpPr>
      <p:pic>
        <p:nvPicPr>
          <p:cNvPr id="3" name="Picture 2" descr="A river flowing through a rocky area&#10;&#10;AI-generated content may be incorrect.">
            <a:extLst>
              <a:ext uri="{FF2B5EF4-FFF2-40B4-BE49-F238E27FC236}">
                <a16:creationId xmlns:a16="http://schemas.microsoft.com/office/drawing/2014/main" id="{CC0957B9-CE4C-C89E-E269-42AE4AAD6593}"/>
              </a:ext>
            </a:extLst>
          </p:cNvPr>
          <p:cNvPicPr>
            <a:picLocks noChangeAspect="1"/>
          </p:cNvPicPr>
          <p:nvPr/>
        </p:nvPicPr>
        <p:blipFill>
          <a:blip r:embed="rId3"/>
          <a:srcRect t="17301" r="8462" b="5374"/>
          <a:stretch>
            <a:fillRect/>
          </a:stretch>
        </p:blipFill>
        <p:spPr>
          <a:xfrm flipH="1">
            <a:off x="11212" y="0"/>
            <a:ext cx="12180788" cy="6858000"/>
          </a:xfrm>
          <a:prstGeom prst="rect">
            <a:avLst/>
          </a:prstGeom>
        </p:spPr>
      </p:pic>
      <p:sp>
        <p:nvSpPr>
          <p:cNvPr id="9" name="Text Placeholder 8">
            <a:extLst>
              <a:ext uri="{FF2B5EF4-FFF2-40B4-BE49-F238E27FC236}">
                <a16:creationId xmlns:a16="http://schemas.microsoft.com/office/drawing/2014/main" id="{CF71FECD-F31B-37ED-FE28-00CF7CA425D1}"/>
              </a:ext>
            </a:extLst>
          </p:cNvPr>
          <p:cNvSpPr>
            <a:spLocks noGrp="1"/>
          </p:cNvSpPr>
          <p:nvPr>
            <p:ph type="body" sz="quarter" idx="10"/>
          </p:nvPr>
        </p:nvSpPr>
        <p:spPr>
          <a:xfrm>
            <a:off x="-11212" y="2508967"/>
            <a:ext cx="12192000" cy="1225550"/>
          </a:xfrm>
        </p:spPr>
        <p:txBody>
          <a:bodyPr/>
          <a:lstStyle/>
          <a:p>
            <a:r>
              <a:rPr lang="en-US" sz="3600"/>
              <a:t>EU MS reporting on adaptation under Article 17 </a:t>
            </a:r>
          </a:p>
          <a:p>
            <a:r>
              <a:rPr lang="en-US" sz="3600"/>
              <a:t>of the Governance Regulation</a:t>
            </a:r>
            <a:endParaRPr lang="en-PT" sz="3600"/>
          </a:p>
        </p:txBody>
      </p:sp>
      <p:sp>
        <p:nvSpPr>
          <p:cNvPr id="10" name="Text Placeholder 9">
            <a:extLst>
              <a:ext uri="{FF2B5EF4-FFF2-40B4-BE49-F238E27FC236}">
                <a16:creationId xmlns:a16="http://schemas.microsoft.com/office/drawing/2014/main" id="{B3C6C5E1-36AB-F72C-200F-FFFC7CDAF75D}"/>
              </a:ext>
            </a:extLst>
          </p:cNvPr>
          <p:cNvSpPr>
            <a:spLocks noGrp="1"/>
          </p:cNvSpPr>
          <p:nvPr>
            <p:ph type="body" sz="quarter" idx="11"/>
          </p:nvPr>
        </p:nvSpPr>
        <p:spPr>
          <a:xfrm>
            <a:off x="651" y="4214448"/>
            <a:ext cx="12191999" cy="538163"/>
          </a:xfrm>
        </p:spPr>
        <p:txBody>
          <a:bodyPr/>
          <a:lstStyle/>
          <a:p>
            <a:r>
              <a:rPr lang="en-US" sz="2400"/>
              <a:t>Technical Exchange Visit – Ukraine to the European Environment Agency </a:t>
            </a:r>
          </a:p>
          <a:p>
            <a:r>
              <a:rPr lang="en-GB" sz="2400"/>
              <a:t>Copenhagen, Denmark, 21-23 October 2025</a:t>
            </a:r>
          </a:p>
          <a:p>
            <a:endParaRPr lang="en-PT" sz="2400"/>
          </a:p>
        </p:txBody>
      </p:sp>
      <p:sp>
        <p:nvSpPr>
          <p:cNvPr id="13" name="Text Placeholder 12">
            <a:extLst>
              <a:ext uri="{FF2B5EF4-FFF2-40B4-BE49-F238E27FC236}">
                <a16:creationId xmlns:a16="http://schemas.microsoft.com/office/drawing/2014/main" id="{FF509EDD-0BFC-3067-0F05-7EBD4742E20A}"/>
              </a:ext>
            </a:extLst>
          </p:cNvPr>
          <p:cNvSpPr>
            <a:spLocks noGrp="1"/>
          </p:cNvSpPr>
          <p:nvPr>
            <p:ph type="body" sz="quarter" idx="12"/>
          </p:nvPr>
        </p:nvSpPr>
        <p:spPr>
          <a:xfrm>
            <a:off x="0" y="5412559"/>
            <a:ext cx="12180788" cy="415485"/>
          </a:xfrm>
        </p:spPr>
        <p:txBody>
          <a:bodyPr/>
          <a:lstStyle/>
          <a:p>
            <a:r>
              <a:rPr lang="en-US" sz="2400"/>
              <a:t>Angelika Tam</a:t>
            </a:r>
            <a:r>
              <a:rPr lang="sk-SK" sz="2400"/>
              <a:t>ásová, Climate Risk and Resilience Unit</a:t>
            </a:r>
            <a:endParaRPr lang="en-PT" sz="2400"/>
          </a:p>
        </p:txBody>
      </p:sp>
      <p:pic>
        <p:nvPicPr>
          <p:cNvPr id="4" name="Picture 8" descr="Graphical user interface, text&#10;&#10;Description automatically generated">
            <a:extLst>
              <a:ext uri="{FF2B5EF4-FFF2-40B4-BE49-F238E27FC236}">
                <a16:creationId xmlns:a16="http://schemas.microsoft.com/office/drawing/2014/main" id="{C3FA0C09-B4BD-F376-C9F9-5400FEF86B43}"/>
              </a:ext>
            </a:extLst>
          </p:cNvPr>
          <p:cNvPicPr>
            <a:picLocks noChangeAspect="1"/>
          </p:cNvPicPr>
          <p:nvPr/>
        </p:nvPicPr>
        <p:blipFill>
          <a:blip r:embed="rId4"/>
          <a:stretch>
            <a:fillRect/>
          </a:stretch>
        </p:blipFill>
        <p:spPr>
          <a:xfrm>
            <a:off x="8337813" y="5999468"/>
            <a:ext cx="3789337" cy="765523"/>
          </a:xfrm>
          <a:prstGeom prst="rect">
            <a:avLst/>
          </a:prstGeom>
        </p:spPr>
      </p:pic>
      <p:sp>
        <p:nvSpPr>
          <p:cNvPr id="5" name="TextBox 4">
            <a:extLst>
              <a:ext uri="{FF2B5EF4-FFF2-40B4-BE49-F238E27FC236}">
                <a16:creationId xmlns:a16="http://schemas.microsoft.com/office/drawing/2014/main" id="{F6F3CD3D-2374-42CE-FEE2-6D06BBEB0113}"/>
              </a:ext>
            </a:extLst>
          </p:cNvPr>
          <p:cNvSpPr txBox="1"/>
          <p:nvPr/>
        </p:nvSpPr>
        <p:spPr>
          <a:xfrm>
            <a:off x="138113" y="6487992"/>
            <a:ext cx="623887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Hanifi</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Koç</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Environment&amp;Me</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2025 / EEA</a:t>
            </a:r>
            <a:endParaRPr kumimoji="0" lang="en-DK"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9456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F3F5B-3483-2DC1-9FBC-C04AD58B55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A0709F-E9CF-8868-9D80-A5B91000F00D}"/>
              </a:ext>
            </a:extLst>
          </p:cNvPr>
          <p:cNvSpPr txBox="1"/>
          <p:nvPr/>
        </p:nvSpPr>
        <p:spPr>
          <a:xfrm>
            <a:off x="0" y="3948672"/>
            <a:ext cx="12192000" cy="646331"/>
          </a:xfrm>
          <a:prstGeom prst="rect">
            <a:avLst/>
          </a:prstGeom>
          <a:noFill/>
        </p:spPr>
        <p:txBody>
          <a:bodyPr wrap="square" lIns="91440" tIns="45720" rIns="91440" bIns="45720" anchor="t">
            <a:spAutoFit/>
          </a:bodyPr>
          <a:lstStyle/>
          <a:p>
            <a:pPr algn="ctr"/>
            <a:r>
              <a:rPr lang="en-US" sz="3600">
                <a:solidFill>
                  <a:schemeClr val="bg1"/>
                </a:solidFill>
                <a:latin typeface="Aptos" panose="020B0004020202020204" pitchFamily="34" charset="0"/>
              </a:rPr>
              <a:t>Legislation</a:t>
            </a:r>
            <a:endParaRPr lang="en-GB" sz="3600">
              <a:solidFill>
                <a:schemeClr val="bg1"/>
              </a:solidFill>
              <a:latin typeface="Aptos" panose="020B0004020202020204" pitchFamily="34" charset="0"/>
            </a:endParaRPr>
          </a:p>
        </p:txBody>
      </p:sp>
      <p:pic>
        <p:nvPicPr>
          <p:cNvPr id="5" name="Graphic 4" descr="Storytelling outline">
            <a:extLst>
              <a:ext uri="{FF2B5EF4-FFF2-40B4-BE49-F238E27FC236}">
                <a16:creationId xmlns:a16="http://schemas.microsoft.com/office/drawing/2014/main" id="{EE809D5A-62C8-90BC-A947-4751C23864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4361" y="2216902"/>
            <a:ext cx="1599724" cy="1599724"/>
          </a:xfrm>
          <a:prstGeom prst="rect">
            <a:avLst/>
          </a:prstGeom>
        </p:spPr>
      </p:pic>
    </p:spTree>
    <p:extLst>
      <p:ext uri="{BB962C8B-B14F-4D97-AF65-F5344CB8AC3E}">
        <p14:creationId xmlns:p14="http://schemas.microsoft.com/office/powerpoint/2010/main" val="6040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4855779" y="380299"/>
            <a:ext cx="7878726" cy="646331"/>
          </a:xfrm>
          <a:prstGeom prst="rect">
            <a:avLst/>
          </a:prstGeom>
          <a:noFill/>
        </p:spPr>
        <p:txBody>
          <a:bodyPr wrap="square" lIns="91440" tIns="45720" rIns="91440" bIns="45720" rtlCol="0" anchor="t">
            <a:spAutoFit/>
          </a:bodyPr>
          <a:lstStyle/>
          <a:p>
            <a:r>
              <a:rPr lang="en-US" sz="3600">
                <a:solidFill>
                  <a:srgbClr val="009999"/>
                </a:solidFill>
                <a:latin typeface="Aptos" panose="020B0004020202020204" pitchFamily="34" charset="0"/>
              </a:rPr>
              <a:t>EU Legislative Framework</a:t>
            </a:r>
            <a:endParaRPr lang="en-DK" sz="3600">
              <a:solidFill>
                <a:srgbClr val="009999"/>
              </a:solidFill>
              <a:latin typeface="Aptos" panose="020B0004020202020204" pitchFamily="34" charset="0"/>
            </a:endParaRPr>
          </a:p>
        </p:txBody>
      </p:sp>
      <p:sp>
        <p:nvSpPr>
          <p:cNvPr id="8" name="TextBox 7">
            <a:extLst>
              <a:ext uri="{FF2B5EF4-FFF2-40B4-BE49-F238E27FC236}">
                <a16:creationId xmlns:a16="http://schemas.microsoft.com/office/drawing/2014/main" id="{4D7E68BC-FA71-E7E8-D056-3301B1D1BABD}"/>
              </a:ext>
            </a:extLst>
          </p:cNvPr>
          <p:cNvSpPr txBox="1"/>
          <p:nvPr/>
        </p:nvSpPr>
        <p:spPr>
          <a:xfrm>
            <a:off x="4855779" y="1241198"/>
            <a:ext cx="6960476" cy="4739759"/>
          </a:xfrm>
          <a:prstGeom prst="rect">
            <a:avLst/>
          </a:prstGeom>
          <a:noFill/>
        </p:spPr>
        <p:txBody>
          <a:bodyPr wrap="square">
            <a:spAutoFit/>
          </a:bodyPr>
          <a:lstStyle/>
          <a:p>
            <a:pPr algn="just"/>
            <a:r>
              <a:rPr lang="en-US" sz="1600" b="1" i="0" cap="all">
                <a:solidFill>
                  <a:schemeClr val="tx2"/>
                </a:solidFill>
                <a:effectLst/>
                <a:latin typeface="Aptos" panose="020B0004020202020204" pitchFamily="34" charset="0"/>
              </a:rPr>
              <a:t>Regulation (EU) 2018/1999 on the Governance of the Energy Union and Climate Action</a:t>
            </a:r>
          </a:p>
          <a:p>
            <a:pPr algn="just"/>
            <a:r>
              <a:rPr lang="en-US" sz="1600">
                <a:latin typeface="Aptos" panose="020B0004020202020204" pitchFamily="34" charset="0"/>
              </a:rPr>
              <a:t>Article 4 National objectives, targets and contributions</a:t>
            </a:r>
          </a:p>
          <a:p>
            <a:pPr algn="just"/>
            <a:r>
              <a:rPr lang="en-US" sz="1600">
                <a:latin typeface="Aptos" panose="020B0004020202020204" pitchFamily="34" charset="0"/>
              </a:rPr>
              <a:t>Article 17 Integrated national energy and climate progress reports </a:t>
            </a:r>
          </a:p>
          <a:p>
            <a:pPr algn="just"/>
            <a:r>
              <a:rPr lang="en-US" sz="1600">
                <a:effectLst/>
                <a:latin typeface="Aptos" panose="020B0004020202020204" pitchFamily="34" charset="0"/>
              </a:rPr>
              <a:t>Article 19 Integrated reporting on national adaptation actions</a:t>
            </a:r>
          </a:p>
          <a:p>
            <a:pPr algn="just"/>
            <a:endParaRPr lang="en-US" sz="1600" b="1">
              <a:solidFill>
                <a:srgbClr val="008080"/>
              </a:solidFill>
              <a:latin typeface="Aptos" panose="020B0004020202020204" pitchFamily="34" charset="0"/>
            </a:endParaRPr>
          </a:p>
          <a:p>
            <a:pPr algn="just"/>
            <a:r>
              <a:rPr lang="en-US" sz="1600" b="1" i="0">
                <a:solidFill>
                  <a:srgbClr val="002060"/>
                </a:solidFill>
                <a:effectLst/>
                <a:latin typeface="Aptos" panose="020B0004020202020204" pitchFamily="34" charset="0"/>
              </a:rPr>
              <a:t>IMPLEMENTING REGULATION (EU) 2020/1208</a:t>
            </a:r>
            <a:r>
              <a:rPr lang="en-US" sz="1600" b="1">
                <a:solidFill>
                  <a:srgbClr val="002060"/>
                </a:solidFill>
                <a:latin typeface="Aptos" panose="020B0004020202020204" pitchFamily="34" charset="0"/>
              </a:rPr>
              <a:t> </a:t>
            </a:r>
            <a:r>
              <a:rPr lang="en-US" sz="1600" b="1" i="0">
                <a:solidFill>
                  <a:srgbClr val="002060"/>
                </a:solidFill>
                <a:effectLst/>
                <a:latin typeface="Aptos" panose="020B0004020202020204" pitchFamily="34" charset="0"/>
              </a:rPr>
              <a:t>on structure, format, submission processes and review of information reported by Member States pursuant to Regulation (EU) 2018/1999 </a:t>
            </a:r>
            <a:endParaRPr lang="en-US" sz="1400" b="1">
              <a:solidFill>
                <a:srgbClr val="008080"/>
              </a:solidFill>
              <a:latin typeface="Aptos" panose="020B0004020202020204" pitchFamily="34" charset="0"/>
            </a:endParaRPr>
          </a:p>
          <a:p>
            <a:pPr algn="just"/>
            <a:r>
              <a:rPr lang="en-US" sz="1600">
                <a:latin typeface="Aptos" panose="020B0004020202020204" pitchFamily="34" charset="0"/>
              </a:rPr>
              <a:t>Article 4 and Annex I - Reporting</a:t>
            </a:r>
            <a:r>
              <a:rPr lang="fr-FR" sz="1600">
                <a:latin typeface="Aptos" panose="020B0004020202020204" pitchFamily="34" charset="0"/>
              </a:rPr>
              <a:t> on national adaptation actions</a:t>
            </a:r>
          </a:p>
          <a:p>
            <a:pPr algn="just"/>
            <a:endParaRPr lang="fr-FR" sz="1400" b="1">
              <a:solidFill>
                <a:srgbClr val="008080"/>
              </a:solidFill>
              <a:latin typeface="Aptos" panose="020B0004020202020204" pitchFamily="34" charset="0"/>
            </a:endParaRPr>
          </a:p>
          <a:p>
            <a:pPr algn="just"/>
            <a:r>
              <a:rPr lang="en-US" sz="1600" b="1" i="0">
                <a:solidFill>
                  <a:schemeClr val="tx2"/>
                </a:solidFill>
                <a:effectLst/>
                <a:latin typeface="Aptos" panose="020B0004020202020204" pitchFamily="34" charset="0"/>
              </a:rPr>
              <a:t>IMPLEMENTING REGULATION (EU) 2022/2299 as regards the structure, format, technical details and process for the integrated national energy and climate progress reports</a:t>
            </a:r>
            <a:endParaRPr lang="en-US" sz="1400" b="1">
              <a:solidFill>
                <a:schemeClr val="tx2"/>
              </a:solidFill>
              <a:latin typeface="Aptos" panose="020B0004020202020204" pitchFamily="34" charset="0"/>
            </a:endParaRPr>
          </a:p>
          <a:p>
            <a:pPr algn="just"/>
            <a:r>
              <a:rPr lang="en-US" sz="1600">
                <a:latin typeface="Aptos" panose="020B0004020202020204" pitchFamily="34" charset="0"/>
              </a:rPr>
              <a:t>Annex III </a:t>
            </a:r>
            <a:r>
              <a:rPr lang="en-US" sz="1600" err="1">
                <a:latin typeface="Aptos" panose="020B0004020202020204" pitchFamily="34" charset="0"/>
              </a:rPr>
              <a:t>Decarbonisation</a:t>
            </a:r>
            <a:r>
              <a:rPr lang="en-US" sz="1600">
                <a:latin typeface="Aptos" panose="020B0004020202020204" pitchFamily="34" charset="0"/>
              </a:rPr>
              <a:t> - Adaptation progress reporting</a:t>
            </a:r>
          </a:p>
          <a:p>
            <a:pPr algn="just"/>
            <a:endParaRPr lang="en-US" sz="1600">
              <a:latin typeface="Aptos" panose="020B0004020202020204" pitchFamily="34" charset="0"/>
            </a:endParaRPr>
          </a:p>
          <a:p>
            <a:pPr algn="just"/>
            <a:r>
              <a:rPr lang="en-US" sz="1600" b="1" i="0" cap="all">
                <a:solidFill>
                  <a:srgbClr val="002060"/>
                </a:solidFill>
                <a:effectLst/>
                <a:latin typeface="Aptos" panose="020B0004020202020204" pitchFamily="34" charset="0"/>
              </a:rPr>
              <a:t>Regulation (EU) 2021/1119 establishing the framework for achieving climate neutrality </a:t>
            </a:r>
            <a:r>
              <a:rPr lang="en-US" sz="1600" b="1" i="0">
                <a:solidFill>
                  <a:srgbClr val="002060"/>
                </a:solidFill>
                <a:effectLst/>
                <a:latin typeface="Aptos" panose="020B0004020202020204" pitchFamily="34" charset="0"/>
              </a:rPr>
              <a:t>(‘European Climate Law’)</a:t>
            </a:r>
          </a:p>
          <a:p>
            <a:pPr algn="just"/>
            <a:r>
              <a:rPr lang="en-US" sz="1600">
                <a:latin typeface="Aptos" panose="020B0004020202020204" pitchFamily="34" charset="0"/>
              </a:rPr>
              <a:t>Article 5, 6, 7 – adaptation, progress assessments</a:t>
            </a:r>
            <a:endParaRPr lang="en-US" sz="1600" i="0">
              <a:effectLst/>
              <a:latin typeface="Aptos" panose="020B0004020202020204" pitchFamily="34" charset="0"/>
            </a:endParaRPr>
          </a:p>
        </p:txBody>
      </p:sp>
      <p:sp>
        <p:nvSpPr>
          <p:cNvPr id="9" name="TextBox 8">
            <a:extLst>
              <a:ext uri="{FF2B5EF4-FFF2-40B4-BE49-F238E27FC236}">
                <a16:creationId xmlns:a16="http://schemas.microsoft.com/office/drawing/2014/main" id="{F569F198-CC04-97D4-A186-FD4F87116D63}"/>
              </a:ext>
            </a:extLst>
          </p:cNvPr>
          <p:cNvSpPr txBox="1"/>
          <p:nvPr/>
        </p:nvSpPr>
        <p:spPr>
          <a:xfrm>
            <a:off x="9358571" y="6227178"/>
            <a:ext cx="6129336" cy="276999"/>
          </a:xfrm>
          <a:prstGeom prst="rect">
            <a:avLst/>
          </a:prstGeom>
          <a:noFill/>
        </p:spPr>
        <p:txBody>
          <a:bodyPr wrap="square">
            <a:spAutoFit/>
          </a:bodyPr>
          <a:lstStyle/>
          <a:p>
            <a:r>
              <a:rPr lang="fr-FR" sz="1200">
                <a:solidFill>
                  <a:srgbClr val="9E84B6"/>
                </a:solidFill>
                <a:latin typeface="Aptos" panose="020B0004020202020204" pitchFamily="34" charset="0"/>
                <a:hlinkClick r:id="rId3">
                  <a:extLst>
                    <a:ext uri="{A12FA001-AC4F-418D-AE19-62706E023703}">
                      <ahyp:hlinkClr xmlns:ahyp="http://schemas.microsoft.com/office/drawing/2018/hyperlinkcolor" val="tx"/>
                    </a:ext>
                  </a:extLst>
                </a:hlinkClick>
              </a:rPr>
              <a:t>EUR-Lex - 32022R2299 - EN - EUR-Lex</a:t>
            </a:r>
            <a:endParaRPr lang="en-DK" sz="1200">
              <a:solidFill>
                <a:srgbClr val="9E84B6"/>
              </a:solidFill>
              <a:latin typeface="Aptos" panose="020B0004020202020204" pitchFamily="34" charset="0"/>
            </a:endParaRPr>
          </a:p>
        </p:txBody>
      </p:sp>
      <p:sp>
        <p:nvSpPr>
          <p:cNvPr id="10" name="TextBox 9">
            <a:extLst>
              <a:ext uri="{FF2B5EF4-FFF2-40B4-BE49-F238E27FC236}">
                <a16:creationId xmlns:a16="http://schemas.microsoft.com/office/drawing/2014/main" id="{19204FBA-05A8-EA05-5D0E-B707F121C73F}"/>
              </a:ext>
            </a:extLst>
          </p:cNvPr>
          <p:cNvSpPr txBox="1"/>
          <p:nvPr/>
        </p:nvSpPr>
        <p:spPr>
          <a:xfrm>
            <a:off x="9358571" y="6441746"/>
            <a:ext cx="7472148" cy="276999"/>
          </a:xfrm>
          <a:prstGeom prst="rect">
            <a:avLst/>
          </a:prstGeom>
          <a:noFill/>
        </p:spPr>
        <p:txBody>
          <a:bodyPr wrap="square">
            <a:spAutoFit/>
          </a:bodyPr>
          <a:lstStyle/>
          <a:p>
            <a:r>
              <a:rPr lang="fr-FR" sz="1200">
                <a:solidFill>
                  <a:srgbClr val="9E84B6"/>
                </a:solidFill>
                <a:latin typeface="Aptos" panose="020B0004020202020204" pitchFamily="34" charset="0"/>
                <a:hlinkClick r:id="rId3">
                  <a:extLst>
                    <a:ext uri="{A12FA001-AC4F-418D-AE19-62706E023703}">
                      <ahyp:hlinkClr xmlns:ahyp="http://schemas.microsoft.com/office/drawing/2018/hyperlinkcolor" val="tx"/>
                    </a:ext>
                  </a:extLst>
                </a:hlinkClick>
              </a:rPr>
              <a:t>EUR-Lex - 32022R2299 - EN - EUR-Lex</a:t>
            </a:r>
            <a:endParaRPr lang="en-DK" sz="1200">
              <a:solidFill>
                <a:srgbClr val="9E84B6"/>
              </a:solidFill>
              <a:latin typeface="Aptos" panose="020B0004020202020204" pitchFamily="34" charset="0"/>
            </a:endParaRPr>
          </a:p>
        </p:txBody>
      </p:sp>
      <p:pic>
        <p:nvPicPr>
          <p:cNvPr id="2" name="Picture 1" descr="A river flowing through a rocky area&#10;&#10;AI-generated content may be incorrect.">
            <a:extLst>
              <a:ext uri="{FF2B5EF4-FFF2-40B4-BE49-F238E27FC236}">
                <a16:creationId xmlns:a16="http://schemas.microsoft.com/office/drawing/2014/main" id="{D574A1E8-6ABB-D8AE-4A8F-CDA4AEEBB731}"/>
              </a:ext>
            </a:extLst>
          </p:cNvPr>
          <p:cNvPicPr>
            <a:picLocks noChangeAspect="1"/>
          </p:cNvPicPr>
          <p:nvPr/>
        </p:nvPicPr>
        <p:blipFill>
          <a:blip r:embed="rId4"/>
          <a:srcRect l="2672" t="17396" r="63288" b="5279"/>
          <a:stretch>
            <a:fillRect/>
          </a:stretch>
        </p:blipFill>
        <p:spPr>
          <a:xfrm flipH="1">
            <a:off x="0" y="0"/>
            <a:ext cx="4529667" cy="6858000"/>
          </a:xfrm>
          <a:prstGeom prst="rect">
            <a:avLst/>
          </a:prstGeom>
        </p:spPr>
      </p:pic>
    </p:spTree>
    <p:extLst>
      <p:ext uri="{BB962C8B-B14F-4D97-AF65-F5344CB8AC3E}">
        <p14:creationId xmlns:p14="http://schemas.microsoft.com/office/powerpoint/2010/main" val="3928623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AB47B-05C3-FCDB-C473-10993B7DE6CC}"/>
              </a:ext>
            </a:extLst>
          </p:cNvPr>
          <p:cNvSpPr txBox="1"/>
          <p:nvPr/>
        </p:nvSpPr>
        <p:spPr>
          <a:xfrm>
            <a:off x="306782" y="610136"/>
            <a:ext cx="11165747" cy="6247864"/>
          </a:xfrm>
          <a:prstGeom prst="rect">
            <a:avLst/>
          </a:prstGeom>
          <a:noFill/>
        </p:spPr>
        <p:txBody>
          <a:bodyPr wrap="square" rtlCol="0">
            <a:spAutoFit/>
          </a:bodyPr>
          <a:lstStyle/>
          <a:p>
            <a:pPr algn="just"/>
            <a:endParaRPr lang="en-US" sz="1600" b="1">
              <a:solidFill>
                <a:srgbClr val="333333"/>
              </a:solidFill>
              <a:latin typeface="Aptos" panose="020B0004020202020204" pitchFamily="34" charset="0"/>
            </a:endParaRPr>
          </a:p>
          <a:p>
            <a:pPr algn="just"/>
            <a:r>
              <a:rPr lang="en-US" sz="1600" b="1" cap="all">
                <a:solidFill>
                  <a:srgbClr val="002060"/>
                </a:solidFill>
                <a:latin typeface="Aptos" panose="020B0004020202020204" pitchFamily="34" charset="0"/>
              </a:rPr>
              <a:t>Regulation (EU) 2018/1999 on the Governance of the Energy Union and Climate Action</a:t>
            </a:r>
          </a:p>
          <a:p>
            <a:pPr algn="just"/>
            <a:endParaRPr lang="en-US" sz="1600">
              <a:latin typeface="Aptos" panose="020B0004020202020204" pitchFamily="34" charset="0"/>
            </a:endParaRPr>
          </a:p>
          <a:p>
            <a:pPr algn="just"/>
            <a:r>
              <a:rPr lang="en-US" sz="1600">
                <a:solidFill>
                  <a:srgbClr val="009999"/>
                </a:solidFill>
                <a:latin typeface="Aptos" panose="020B0004020202020204" pitchFamily="34" charset="0"/>
              </a:rPr>
              <a:t>Article 4 National objectives, targets and contributions</a:t>
            </a:r>
          </a:p>
          <a:p>
            <a:pPr algn="just"/>
            <a:r>
              <a:rPr lang="en-US" sz="1600" i="1">
                <a:solidFill>
                  <a:srgbClr val="333333"/>
                </a:solidFill>
                <a:latin typeface="Aptos" panose="020B0004020202020204" pitchFamily="34" charset="0"/>
                <a:ea typeface="Calibri"/>
                <a:cs typeface="Calibri"/>
              </a:rPr>
              <a:t>‘Each Member State shall set out in its </a:t>
            </a:r>
            <a:r>
              <a:rPr lang="en-US" sz="1600" i="1" u="sng">
                <a:solidFill>
                  <a:srgbClr val="333333"/>
                </a:solidFill>
                <a:latin typeface="Aptos" panose="020B0004020202020204" pitchFamily="34" charset="0"/>
                <a:ea typeface="Calibri"/>
                <a:cs typeface="Calibri"/>
              </a:rPr>
              <a:t>integrated national energy and climate plan </a:t>
            </a:r>
            <a:r>
              <a:rPr lang="en-US" sz="1600" i="1">
                <a:solidFill>
                  <a:srgbClr val="333333"/>
                </a:solidFill>
                <a:latin typeface="Aptos" panose="020B0004020202020204" pitchFamily="34" charset="0"/>
                <a:ea typeface="Calibri"/>
                <a:cs typeface="Calibri"/>
              </a:rPr>
              <a:t>the following</a:t>
            </a:r>
            <a:r>
              <a:rPr lang="en-US" sz="1600" i="1">
                <a:solidFill>
                  <a:srgbClr val="008080"/>
                </a:solidFill>
                <a:latin typeface="Aptos" panose="020B0004020202020204" pitchFamily="34" charset="0"/>
                <a:ea typeface="Calibri"/>
                <a:cs typeface="Calibri"/>
              </a:rPr>
              <a:t>: </a:t>
            </a:r>
            <a:endParaRPr lang="en-US" sz="1600">
              <a:latin typeface="Aptos" panose="020B0004020202020204" pitchFamily="34" charset="0"/>
              <a:ea typeface="Calibri"/>
              <a:cs typeface="Calibri"/>
            </a:endParaRPr>
          </a:p>
          <a:p>
            <a:pPr algn="just"/>
            <a:r>
              <a:rPr lang="de-DE" sz="1600" i="1" err="1">
                <a:solidFill>
                  <a:srgbClr val="333333"/>
                </a:solidFill>
                <a:latin typeface="Aptos" panose="020B0004020202020204" pitchFamily="34" charset="0"/>
                <a:ea typeface="Calibri"/>
                <a:cs typeface="Calibri"/>
              </a:rPr>
              <a:t>Regarding</a:t>
            </a:r>
            <a:r>
              <a:rPr lang="de-DE" sz="1600" i="1">
                <a:solidFill>
                  <a:srgbClr val="333333"/>
                </a:solidFill>
                <a:latin typeface="Aptos" panose="020B0004020202020204" pitchFamily="34" charset="0"/>
                <a:ea typeface="Calibri"/>
                <a:cs typeface="Calibri"/>
              </a:rPr>
              <a:t> </a:t>
            </a:r>
            <a:r>
              <a:rPr lang="de-DE" sz="1600" i="1" err="1">
                <a:solidFill>
                  <a:srgbClr val="333333"/>
                </a:solidFill>
                <a:latin typeface="Aptos" panose="020B0004020202020204" pitchFamily="34" charset="0"/>
                <a:ea typeface="Calibri"/>
                <a:cs typeface="Calibri"/>
              </a:rPr>
              <a:t>the</a:t>
            </a:r>
            <a:r>
              <a:rPr lang="de-DE" sz="1600" i="1">
                <a:solidFill>
                  <a:srgbClr val="333333"/>
                </a:solidFill>
                <a:latin typeface="Aptos" panose="020B0004020202020204" pitchFamily="34" charset="0"/>
                <a:ea typeface="Calibri"/>
                <a:cs typeface="Calibri"/>
              </a:rPr>
              <a:t> </a:t>
            </a:r>
            <a:r>
              <a:rPr lang="de-DE" sz="1600" i="1" u="sng">
                <a:solidFill>
                  <a:srgbClr val="333333"/>
                </a:solidFill>
                <a:latin typeface="Aptos" panose="020B0004020202020204" pitchFamily="34" charset="0"/>
                <a:ea typeface="Calibri"/>
                <a:cs typeface="Calibri"/>
              </a:rPr>
              <a:t>‘</a:t>
            </a:r>
            <a:r>
              <a:rPr lang="de-DE" sz="1600" i="1" u="sng" err="1">
                <a:solidFill>
                  <a:srgbClr val="333333"/>
                </a:solidFill>
                <a:latin typeface="Aptos" panose="020B0004020202020204" pitchFamily="34" charset="0"/>
                <a:ea typeface="Calibri"/>
                <a:cs typeface="Calibri"/>
              </a:rPr>
              <a:t>decarbonisation</a:t>
            </a:r>
            <a:r>
              <a:rPr lang="de-DE" sz="1600" i="1" u="sng">
                <a:solidFill>
                  <a:srgbClr val="333333"/>
                </a:solidFill>
                <a:latin typeface="Aptos" panose="020B0004020202020204" pitchFamily="34" charset="0"/>
                <a:ea typeface="Calibri"/>
                <a:cs typeface="Calibri"/>
              </a:rPr>
              <a:t>’</a:t>
            </a:r>
            <a:r>
              <a:rPr lang="de-DE" sz="1600" i="1">
                <a:solidFill>
                  <a:srgbClr val="333333"/>
                </a:solidFill>
                <a:latin typeface="Aptos" panose="020B0004020202020204" pitchFamily="34" charset="0"/>
                <a:ea typeface="Calibri"/>
                <a:cs typeface="Calibri"/>
              </a:rPr>
              <a:t> </a:t>
            </a:r>
            <a:r>
              <a:rPr lang="de-DE" sz="1600" i="1" err="1">
                <a:solidFill>
                  <a:srgbClr val="333333"/>
                </a:solidFill>
                <a:latin typeface="Aptos" panose="020B0004020202020204" pitchFamily="34" charset="0"/>
                <a:ea typeface="Calibri"/>
                <a:cs typeface="Calibri"/>
              </a:rPr>
              <a:t>dimension</a:t>
            </a:r>
            <a:endParaRPr lang="en-US" sz="1600">
              <a:latin typeface="Aptos" panose="020B0004020202020204" pitchFamily="34" charset="0"/>
              <a:ea typeface="Calibri"/>
              <a:cs typeface="Calibri"/>
            </a:endParaRPr>
          </a:p>
          <a:p>
            <a:pPr algn="just"/>
            <a:r>
              <a:rPr lang="en-US" sz="1600" i="1">
                <a:solidFill>
                  <a:srgbClr val="333333"/>
                </a:solidFill>
                <a:latin typeface="Aptos" panose="020B0004020202020204" pitchFamily="34" charset="0"/>
                <a:ea typeface="Calibri"/>
                <a:cs typeface="Calibri"/>
              </a:rPr>
              <a:t>Other objectives and targets, including </a:t>
            </a:r>
            <a:r>
              <a:rPr lang="en-US" sz="1600" i="1" u="sng">
                <a:solidFill>
                  <a:srgbClr val="333333"/>
                </a:solidFill>
                <a:latin typeface="Aptos" panose="020B0004020202020204" pitchFamily="34" charset="0"/>
                <a:ea typeface="Calibri"/>
                <a:cs typeface="Calibri"/>
              </a:rPr>
              <a:t>adaptation goals</a:t>
            </a:r>
            <a:r>
              <a:rPr lang="en-US" sz="1600">
                <a:solidFill>
                  <a:srgbClr val="333333"/>
                </a:solidFill>
                <a:latin typeface="Aptos" panose="020B0004020202020204" pitchFamily="34" charset="0"/>
                <a:ea typeface="Calibri"/>
                <a:cs typeface="Calibri"/>
              </a:rPr>
              <a:t>.’</a:t>
            </a:r>
            <a:endParaRPr lang="en-US" sz="1600">
              <a:latin typeface="Aptos" panose="020B0004020202020204" pitchFamily="34" charset="0"/>
              <a:ea typeface="Calibri"/>
              <a:cs typeface="Calibri"/>
            </a:endParaRPr>
          </a:p>
          <a:p>
            <a:pPr algn="just"/>
            <a:endParaRPr lang="en-US" sz="1600">
              <a:latin typeface="Aptos" panose="020B0004020202020204" pitchFamily="34" charset="0"/>
            </a:endParaRPr>
          </a:p>
          <a:p>
            <a:pPr algn="just"/>
            <a:r>
              <a:rPr lang="en-US" sz="1600">
                <a:solidFill>
                  <a:srgbClr val="009999"/>
                </a:solidFill>
                <a:latin typeface="Aptos" panose="020B0004020202020204" pitchFamily="34" charset="0"/>
              </a:rPr>
              <a:t>Article 17 Integrated national energy and climate progress reports </a:t>
            </a:r>
          </a:p>
          <a:p>
            <a:pPr algn="just"/>
            <a:r>
              <a:rPr lang="en-US" sz="1600" i="1">
                <a:solidFill>
                  <a:srgbClr val="333333"/>
                </a:solidFill>
                <a:latin typeface="Aptos" panose="020B0004020202020204" pitchFamily="34" charset="0"/>
                <a:ea typeface="Calibri"/>
                <a:cs typeface="Calibri"/>
              </a:rPr>
              <a:t>‘By 15 March 2023, and every two years thereafter, each Member State shall report to the Commission on the </a:t>
            </a:r>
            <a:r>
              <a:rPr lang="en-US" sz="1600" i="1" u="sng">
                <a:solidFill>
                  <a:srgbClr val="333333"/>
                </a:solidFill>
                <a:latin typeface="Aptos" panose="020B0004020202020204" pitchFamily="34" charset="0"/>
                <a:ea typeface="Calibri"/>
                <a:cs typeface="Calibri"/>
              </a:rPr>
              <a:t>status of implementation</a:t>
            </a:r>
            <a:r>
              <a:rPr lang="en-US" sz="1600" i="1">
                <a:solidFill>
                  <a:srgbClr val="333333"/>
                </a:solidFill>
                <a:latin typeface="Aptos" panose="020B0004020202020204" pitchFamily="34" charset="0"/>
                <a:ea typeface="Calibri"/>
                <a:cs typeface="Calibri"/>
              </a:rPr>
              <a:t> of its integrated national energy and climate plan by means of an integrated national energy and climate </a:t>
            </a:r>
            <a:r>
              <a:rPr lang="en-US" sz="1600" i="1" u="sng">
                <a:solidFill>
                  <a:srgbClr val="333333"/>
                </a:solidFill>
                <a:latin typeface="Aptos" panose="020B0004020202020204" pitchFamily="34" charset="0"/>
                <a:ea typeface="Calibri"/>
                <a:cs typeface="Calibri"/>
              </a:rPr>
              <a:t>progress report</a:t>
            </a:r>
            <a:r>
              <a:rPr lang="en-US" sz="1600" i="1">
                <a:solidFill>
                  <a:srgbClr val="333333"/>
                </a:solidFill>
                <a:latin typeface="Aptos" panose="020B0004020202020204" pitchFamily="34" charset="0"/>
                <a:ea typeface="Calibri"/>
                <a:cs typeface="Calibri"/>
              </a:rPr>
              <a:t> covering all five dimensions of the Energy Union.’</a:t>
            </a:r>
            <a:endParaRPr lang="en-US" sz="1600">
              <a:latin typeface="Aptos" panose="020B0004020202020204" pitchFamily="34" charset="0"/>
              <a:ea typeface="Calibri"/>
              <a:cs typeface="Calibri"/>
            </a:endParaRPr>
          </a:p>
          <a:p>
            <a:pPr algn="just"/>
            <a:endParaRPr lang="en-US" sz="1600" b="1">
              <a:solidFill>
                <a:srgbClr val="002060"/>
              </a:solidFill>
              <a:latin typeface="Aptos" panose="020B0004020202020204" pitchFamily="34" charset="0"/>
            </a:endParaRPr>
          </a:p>
          <a:p>
            <a:pPr algn="just"/>
            <a:r>
              <a:rPr lang="en-US" sz="1600" b="1" i="0">
                <a:solidFill>
                  <a:srgbClr val="002060"/>
                </a:solidFill>
                <a:effectLst/>
                <a:latin typeface="Aptos" panose="020B0004020202020204" pitchFamily="34" charset="0"/>
              </a:rPr>
              <a:t>COMMISSION IMPLEMENTING REGULATION (EU) 2022/2299 </a:t>
            </a:r>
          </a:p>
          <a:p>
            <a:pPr algn="just"/>
            <a:r>
              <a:rPr lang="en-US" sz="1600" b="1" i="0">
                <a:solidFill>
                  <a:srgbClr val="002060"/>
                </a:solidFill>
                <a:effectLst/>
                <a:latin typeface="Aptos" panose="020B0004020202020204" pitchFamily="34" charset="0"/>
              </a:rPr>
              <a:t>laying down rules for the application of Regulation (EU) 2018/1999 as regards the structure, format, technical details and process for the integrated national energy and climate progress reports</a:t>
            </a:r>
          </a:p>
          <a:p>
            <a:endParaRPr lang="en-US" sz="1600" b="1">
              <a:solidFill>
                <a:srgbClr val="333333"/>
              </a:solidFill>
              <a:latin typeface="Aptos" panose="020B0004020202020204" pitchFamily="34" charset="0"/>
            </a:endParaRPr>
          </a:p>
          <a:p>
            <a:r>
              <a:rPr lang="en-US" sz="1600" i="0">
                <a:solidFill>
                  <a:srgbClr val="009999"/>
                </a:solidFill>
                <a:effectLst/>
                <a:latin typeface="Aptos" panose="020B0004020202020204" pitchFamily="34" charset="0"/>
              </a:rPr>
              <a:t>Article 2 and Annex III - Reporting on progress with respect to the </a:t>
            </a:r>
            <a:r>
              <a:rPr lang="en-US" sz="1600" i="0" err="1">
                <a:solidFill>
                  <a:srgbClr val="009999"/>
                </a:solidFill>
                <a:effectLst/>
                <a:latin typeface="Aptos" panose="020B0004020202020204" pitchFamily="34" charset="0"/>
              </a:rPr>
              <a:t>decarbonisation</a:t>
            </a:r>
            <a:r>
              <a:rPr lang="en-US" sz="1600" i="0">
                <a:solidFill>
                  <a:srgbClr val="009999"/>
                </a:solidFill>
                <a:effectLst/>
                <a:latin typeface="Aptos" panose="020B0004020202020204" pitchFamily="34" charset="0"/>
              </a:rPr>
              <a:t> dimension</a:t>
            </a:r>
          </a:p>
          <a:p>
            <a:r>
              <a:rPr lang="en-US" sz="1600" b="0" i="0">
                <a:solidFill>
                  <a:srgbClr val="333333"/>
                </a:solidFill>
                <a:effectLst/>
                <a:latin typeface="Aptos" panose="020B0004020202020204" pitchFamily="34" charset="0"/>
              </a:rPr>
              <a:t>MS shall report the information on adaptation referred to in Article 4, point (a)(1) of Regulation (EU) 2018/1999 in accordance with the formats set out in Annex III.</a:t>
            </a:r>
          </a:p>
          <a:p>
            <a:endParaRPr lang="en-US" sz="1600">
              <a:solidFill>
                <a:srgbClr val="333333"/>
              </a:solidFill>
              <a:latin typeface="Aptos" panose="020B0004020202020204" pitchFamily="34" charset="0"/>
            </a:endParaRPr>
          </a:p>
          <a:p>
            <a:r>
              <a:rPr lang="en-US" sz="1600" i="0" u="sng">
                <a:effectLst/>
                <a:latin typeface="Aptos" panose="020B0004020202020204" pitchFamily="34" charset="0"/>
              </a:rPr>
              <a:t>Annex III – Decarbonization: Adaptation</a:t>
            </a:r>
          </a:p>
          <a:p>
            <a:r>
              <a:rPr lang="en-US" sz="1600">
                <a:solidFill>
                  <a:srgbClr val="333333"/>
                </a:solidFill>
                <a:latin typeface="Aptos" panose="020B0004020202020204" pitchFamily="34" charset="0"/>
              </a:rPr>
              <a:t>Table 1 	</a:t>
            </a:r>
            <a:r>
              <a:rPr lang="en-US" sz="1600">
                <a:latin typeface="Aptos" panose="020B0004020202020204" pitchFamily="34" charset="0"/>
              </a:rPr>
              <a:t>Adaptation goals in integrated national energy and climate plans</a:t>
            </a:r>
          </a:p>
          <a:p>
            <a:r>
              <a:rPr lang="en-US" sz="1600">
                <a:solidFill>
                  <a:srgbClr val="333333"/>
                </a:solidFill>
                <a:latin typeface="Aptos" panose="020B0004020202020204" pitchFamily="34" charset="0"/>
              </a:rPr>
              <a:t>Table 2 	</a:t>
            </a:r>
            <a:r>
              <a:rPr lang="en-US" sz="1600">
                <a:latin typeface="Aptos" panose="020B0004020202020204" pitchFamily="34" charset="0"/>
              </a:rPr>
              <a:t>Information on adaptation, which may affect delivery of Energy Union objectives and</a:t>
            </a:r>
          </a:p>
          <a:p>
            <a:r>
              <a:rPr lang="en-US" sz="1600">
                <a:latin typeface="Aptos" panose="020B0004020202020204" pitchFamily="34" charset="0"/>
              </a:rPr>
              <a:t> 	targets and the long-term Union GHG emission reduction commitments under the Paris Agreement</a:t>
            </a:r>
          </a:p>
        </p:txBody>
      </p:sp>
      <p:sp>
        <p:nvSpPr>
          <p:cNvPr id="4" name="TextBox 3">
            <a:extLst>
              <a:ext uri="{FF2B5EF4-FFF2-40B4-BE49-F238E27FC236}">
                <a16:creationId xmlns:a16="http://schemas.microsoft.com/office/drawing/2014/main" id="{FEECA260-449F-DBE4-DA01-388D41CD7D31}"/>
              </a:ext>
            </a:extLst>
          </p:cNvPr>
          <p:cNvSpPr txBox="1"/>
          <p:nvPr/>
        </p:nvSpPr>
        <p:spPr>
          <a:xfrm>
            <a:off x="306782" y="148751"/>
            <a:ext cx="7878726" cy="646331"/>
          </a:xfrm>
          <a:prstGeom prst="rect">
            <a:avLst/>
          </a:prstGeom>
          <a:noFill/>
        </p:spPr>
        <p:txBody>
          <a:bodyPr wrap="square" lIns="91440" tIns="45720" rIns="91440" bIns="45720" rtlCol="0" anchor="t">
            <a:spAutoFit/>
          </a:bodyPr>
          <a:lstStyle/>
          <a:p>
            <a:r>
              <a:rPr lang="en-US" sz="3600">
                <a:solidFill>
                  <a:srgbClr val="009999"/>
                </a:solidFill>
                <a:latin typeface="Aptos" panose="020B0004020202020204" pitchFamily="34" charset="0"/>
              </a:rPr>
              <a:t>EU Legislative Framework</a:t>
            </a:r>
            <a:endParaRPr lang="en-DK" sz="3600">
              <a:solidFill>
                <a:srgbClr val="009999"/>
              </a:solidFill>
              <a:latin typeface="Aptos" panose="020B0004020202020204" pitchFamily="34" charset="0"/>
            </a:endParaRPr>
          </a:p>
        </p:txBody>
      </p:sp>
    </p:spTree>
    <p:extLst>
      <p:ext uri="{BB962C8B-B14F-4D97-AF65-F5344CB8AC3E}">
        <p14:creationId xmlns:p14="http://schemas.microsoft.com/office/powerpoint/2010/main" val="74675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9F7A0-E036-E9E3-3495-AF6CC438533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595AF2-5C8E-96D7-12AD-FB33E6967AD4}"/>
              </a:ext>
            </a:extLst>
          </p:cNvPr>
          <p:cNvSpPr txBox="1"/>
          <p:nvPr/>
        </p:nvSpPr>
        <p:spPr>
          <a:xfrm>
            <a:off x="0" y="3797596"/>
            <a:ext cx="12192000" cy="1200329"/>
          </a:xfrm>
          <a:prstGeom prst="rect">
            <a:avLst/>
          </a:prstGeom>
          <a:noFill/>
        </p:spPr>
        <p:txBody>
          <a:bodyPr wrap="square" lIns="91440" tIns="45720" rIns="91440" bIns="45720" anchor="t">
            <a:spAutoFit/>
          </a:bodyPr>
          <a:lstStyle/>
          <a:p>
            <a:pPr algn="ctr"/>
            <a:r>
              <a:rPr lang="en-GB" sz="3600">
                <a:solidFill>
                  <a:schemeClr val="bg1"/>
                </a:solidFill>
                <a:latin typeface="Aptos" panose="020B0004020202020204" pitchFamily="34" charset="0"/>
              </a:rPr>
              <a:t>EU MS reporting on                                                                                        Article 17 Annex III</a:t>
            </a:r>
          </a:p>
        </p:txBody>
      </p:sp>
      <p:pic>
        <p:nvPicPr>
          <p:cNvPr id="7" name="Graphic 6" descr="Treasure Map outline">
            <a:extLst>
              <a:ext uri="{FF2B5EF4-FFF2-40B4-BE49-F238E27FC236}">
                <a16:creationId xmlns:a16="http://schemas.microsoft.com/office/drawing/2014/main" id="{E26D8C29-ADB5-03FE-82AE-15A087AC12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31739" y="1774942"/>
            <a:ext cx="1928522" cy="1928522"/>
          </a:xfrm>
          <a:prstGeom prst="rect">
            <a:avLst/>
          </a:prstGeom>
        </p:spPr>
      </p:pic>
    </p:spTree>
    <p:extLst>
      <p:ext uri="{BB962C8B-B14F-4D97-AF65-F5344CB8AC3E}">
        <p14:creationId xmlns:p14="http://schemas.microsoft.com/office/powerpoint/2010/main" val="31038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CA75-36D5-97B6-D827-996E19F4F534}"/>
            </a:ext>
          </a:extLst>
        </p:cNvPr>
        <p:cNvGrpSpPr/>
        <p:nvPr/>
      </p:nvGrpSpPr>
      <p:grpSpPr>
        <a:xfrm>
          <a:off x="0" y="0"/>
          <a:ext cx="0" cy="0"/>
          <a:chOff x="0" y="0"/>
          <a:chExt cx="0" cy="0"/>
        </a:xfrm>
      </p:grpSpPr>
      <p:pic>
        <p:nvPicPr>
          <p:cNvPr id="13" name="Graphic 12">
            <a:extLst>
              <a:ext uri="{FF2B5EF4-FFF2-40B4-BE49-F238E27FC236}">
                <a16:creationId xmlns:a16="http://schemas.microsoft.com/office/drawing/2014/main" id="{7AD522D9-C855-D970-2764-224CBD3187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29533" y="169008"/>
            <a:ext cx="1762394" cy="924278"/>
          </a:xfrm>
          <a:prstGeom prst="rect">
            <a:avLst/>
          </a:prstGeom>
        </p:spPr>
      </p:pic>
      <p:grpSp>
        <p:nvGrpSpPr>
          <p:cNvPr id="3" name="Group 2">
            <a:extLst>
              <a:ext uri="{FF2B5EF4-FFF2-40B4-BE49-F238E27FC236}">
                <a16:creationId xmlns:a16="http://schemas.microsoft.com/office/drawing/2014/main" id="{507DC231-54EA-B04B-B967-9E7AA5DFF381}"/>
              </a:ext>
            </a:extLst>
          </p:cNvPr>
          <p:cNvGrpSpPr/>
          <p:nvPr/>
        </p:nvGrpSpPr>
        <p:grpSpPr>
          <a:xfrm>
            <a:off x="290722" y="141974"/>
            <a:ext cx="11610556" cy="6547018"/>
            <a:chOff x="4214461" y="1484010"/>
            <a:chExt cx="8772285" cy="4781204"/>
          </a:xfrm>
        </p:grpSpPr>
        <p:sp>
          <p:nvSpPr>
            <p:cNvPr id="11" name="Title 1">
              <a:extLst>
                <a:ext uri="{FF2B5EF4-FFF2-40B4-BE49-F238E27FC236}">
                  <a16:creationId xmlns:a16="http://schemas.microsoft.com/office/drawing/2014/main" id="{2BD4288B-196B-F15B-67D7-DAC6D7F545F4}"/>
                </a:ext>
              </a:extLst>
            </p:cNvPr>
            <p:cNvSpPr txBox="1">
              <a:spLocks/>
            </p:cNvSpPr>
            <p:nvPr/>
          </p:nvSpPr>
          <p:spPr>
            <a:xfrm>
              <a:off x="4214461" y="1484010"/>
              <a:ext cx="8772285" cy="821682"/>
            </a:xfrm>
            <a:prstGeom prst="rect">
              <a:avLst/>
            </a:prstGeom>
            <a:noFill/>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a:lnSpc>
                  <a:spcPct val="100000"/>
                </a:lnSpc>
              </a:pPr>
              <a:r>
                <a:rPr lang="en-GB" sz="3600" b="0">
                  <a:solidFill>
                    <a:srgbClr val="009999"/>
                  </a:solidFill>
                  <a:latin typeface="Aptos" panose="020B0004020202020204" pitchFamily="34" charset="0"/>
                </a:rPr>
                <a:t>Article 17 Annex III workflow and delivery</a:t>
              </a:r>
            </a:p>
          </p:txBody>
        </p:sp>
        <p:sp>
          <p:nvSpPr>
            <p:cNvPr id="23" name="Oval 22">
              <a:extLst>
                <a:ext uri="{FF2B5EF4-FFF2-40B4-BE49-F238E27FC236}">
                  <a16:creationId xmlns:a16="http://schemas.microsoft.com/office/drawing/2014/main" id="{92DA99A0-816C-6F64-32AC-07C623A1A548}"/>
                </a:ext>
              </a:extLst>
            </p:cNvPr>
            <p:cNvSpPr/>
            <p:nvPr/>
          </p:nvSpPr>
          <p:spPr>
            <a:xfrm>
              <a:off x="5078089" y="2617239"/>
              <a:ext cx="1545688" cy="154568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24" name="TextBox 23">
              <a:extLst>
                <a:ext uri="{FF2B5EF4-FFF2-40B4-BE49-F238E27FC236}">
                  <a16:creationId xmlns:a16="http://schemas.microsoft.com/office/drawing/2014/main" id="{0B5078A1-569C-CC32-CD1C-881D428AF680}"/>
                </a:ext>
              </a:extLst>
            </p:cNvPr>
            <p:cNvSpPr txBox="1"/>
            <p:nvPr/>
          </p:nvSpPr>
          <p:spPr>
            <a:xfrm>
              <a:off x="4993063" y="3408226"/>
              <a:ext cx="173519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u="none" strike="noStrike" kern="0" cap="none" spc="0" normalizeH="0" baseline="0" noProof="0">
                  <a:ln>
                    <a:noFill/>
                  </a:ln>
                  <a:solidFill>
                    <a:prstClr val="white"/>
                  </a:solidFill>
                  <a:effectLst/>
                  <a:uLnTx/>
                  <a:uFillTx/>
                  <a:latin typeface="Aptos SemiBold" panose="020B0004020202020204" pitchFamily="34" charset="0"/>
                </a:rPr>
                <a:t>Reporting services </a:t>
              </a:r>
              <a:br>
                <a:rPr kumimoji="0" lang="en-GB" sz="1400" b="1" u="none" strike="noStrike" kern="0" cap="none" spc="0" normalizeH="0" baseline="0" noProof="0">
                  <a:ln>
                    <a:noFill/>
                  </a:ln>
                  <a:solidFill>
                    <a:prstClr val="white"/>
                  </a:solidFill>
                  <a:effectLst/>
                  <a:uLnTx/>
                  <a:uFillTx/>
                  <a:latin typeface="Aptos SemiBold" panose="020B0004020202020204" pitchFamily="34" charset="0"/>
                </a:rPr>
              </a:br>
              <a:r>
                <a:rPr kumimoji="0" lang="en-GB" sz="1400" b="1" u="none" strike="noStrike" kern="0" cap="none" spc="0" normalizeH="0" baseline="0" noProof="0">
                  <a:ln>
                    <a:noFill/>
                  </a:ln>
                  <a:solidFill>
                    <a:prstClr val="white"/>
                  </a:solidFill>
                  <a:effectLst/>
                  <a:uLnTx/>
                  <a:uFillTx/>
                  <a:latin typeface="Aptos SemiBold" panose="020B0004020202020204" pitchFamily="34" charset="0"/>
                </a:rPr>
                <a:t>(data flows)</a:t>
              </a:r>
            </a:p>
          </p:txBody>
        </p:sp>
        <p:sp>
          <p:nvSpPr>
            <p:cNvPr id="34" name="Oval 33">
              <a:extLst>
                <a:ext uri="{FF2B5EF4-FFF2-40B4-BE49-F238E27FC236}">
                  <a16:creationId xmlns:a16="http://schemas.microsoft.com/office/drawing/2014/main" id="{6BB56010-8983-944F-D436-2045B9296009}"/>
                </a:ext>
              </a:extLst>
            </p:cNvPr>
            <p:cNvSpPr/>
            <p:nvPr/>
          </p:nvSpPr>
          <p:spPr>
            <a:xfrm>
              <a:off x="6903753" y="2617239"/>
              <a:ext cx="1545688" cy="154568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8" name="TextBox 37">
              <a:extLst>
                <a:ext uri="{FF2B5EF4-FFF2-40B4-BE49-F238E27FC236}">
                  <a16:creationId xmlns:a16="http://schemas.microsoft.com/office/drawing/2014/main" id="{92BAF5D5-D422-C711-FFC8-0F5DF8F33C93}"/>
                </a:ext>
              </a:extLst>
            </p:cNvPr>
            <p:cNvSpPr txBox="1"/>
            <p:nvPr/>
          </p:nvSpPr>
          <p:spPr>
            <a:xfrm>
              <a:off x="6868244" y="3390083"/>
              <a:ext cx="165233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u="none" strike="noStrike" kern="0" cap="none" spc="0" normalizeH="0" baseline="0" noProof="0">
                  <a:ln>
                    <a:noFill/>
                  </a:ln>
                  <a:solidFill>
                    <a:prstClr val="white"/>
                  </a:solidFill>
                  <a:effectLst/>
                  <a:uLnTx/>
                  <a:uFillTx/>
                  <a:latin typeface="Aptos SemiBold" panose="020B0004020202020204" pitchFamily="34" charset="0"/>
                </a:rPr>
                <a:t>Data services</a:t>
              </a:r>
            </a:p>
          </p:txBody>
        </p:sp>
        <p:sp>
          <p:nvSpPr>
            <p:cNvPr id="39" name="Oval 38">
              <a:extLst>
                <a:ext uri="{FF2B5EF4-FFF2-40B4-BE49-F238E27FC236}">
                  <a16:creationId xmlns:a16="http://schemas.microsoft.com/office/drawing/2014/main" id="{91B6B070-D346-8938-9A06-DEFE2E7359B8}"/>
                </a:ext>
              </a:extLst>
            </p:cNvPr>
            <p:cNvSpPr/>
            <p:nvPr/>
          </p:nvSpPr>
          <p:spPr>
            <a:xfrm>
              <a:off x="8708491" y="2617239"/>
              <a:ext cx="1545688" cy="154568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0" name="TextBox 39">
              <a:extLst>
                <a:ext uri="{FF2B5EF4-FFF2-40B4-BE49-F238E27FC236}">
                  <a16:creationId xmlns:a16="http://schemas.microsoft.com/office/drawing/2014/main" id="{5FC01C0B-D1E2-D4E9-EF2D-B426FF8A253F}"/>
                </a:ext>
              </a:extLst>
            </p:cNvPr>
            <p:cNvSpPr txBox="1"/>
            <p:nvPr/>
          </p:nvSpPr>
          <p:spPr>
            <a:xfrm>
              <a:off x="8672982" y="3354577"/>
              <a:ext cx="1652337"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u="none" strike="noStrike" kern="0" cap="none" spc="0" normalizeH="0" baseline="0" noProof="0">
                  <a:ln>
                    <a:noFill/>
                  </a:ln>
                  <a:solidFill>
                    <a:prstClr val="white"/>
                  </a:solidFill>
                  <a:effectLst/>
                  <a:uLnTx/>
                  <a:uFillTx/>
                  <a:latin typeface="Aptos SemiBold" panose="020B0004020202020204" pitchFamily="34" charset="0"/>
                </a:rPr>
                <a:t>Knowledge services</a:t>
              </a:r>
            </a:p>
          </p:txBody>
        </p:sp>
        <p:sp>
          <p:nvSpPr>
            <p:cNvPr id="41" name="Oval 40">
              <a:extLst>
                <a:ext uri="{FF2B5EF4-FFF2-40B4-BE49-F238E27FC236}">
                  <a16:creationId xmlns:a16="http://schemas.microsoft.com/office/drawing/2014/main" id="{07F6FB6D-C060-2715-C27C-E516590F3FBD}"/>
                </a:ext>
              </a:extLst>
            </p:cNvPr>
            <p:cNvSpPr/>
            <p:nvPr/>
          </p:nvSpPr>
          <p:spPr>
            <a:xfrm>
              <a:off x="10453069" y="2617239"/>
              <a:ext cx="1545688" cy="154568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4" name="TextBox 43">
              <a:extLst>
                <a:ext uri="{FF2B5EF4-FFF2-40B4-BE49-F238E27FC236}">
                  <a16:creationId xmlns:a16="http://schemas.microsoft.com/office/drawing/2014/main" id="{DD4C4443-D8FB-F118-5486-57B684CBF1E5}"/>
                </a:ext>
              </a:extLst>
            </p:cNvPr>
            <p:cNvSpPr txBox="1"/>
            <p:nvPr/>
          </p:nvSpPr>
          <p:spPr>
            <a:xfrm>
              <a:off x="10417560" y="3258239"/>
              <a:ext cx="1652337"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u="none" strike="noStrike" kern="0" cap="none" spc="0" normalizeH="0" baseline="0" noProof="0">
                  <a:ln>
                    <a:noFill/>
                  </a:ln>
                  <a:solidFill>
                    <a:prstClr val="white"/>
                  </a:solidFill>
                  <a:effectLst/>
                  <a:uLnTx/>
                  <a:uFillTx/>
                  <a:latin typeface="Aptos SemiBold" panose="020B0004020202020204" pitchFamily="34" charset="0"/>
                </a:rPr>
                <a:t>Networks and Collaboration services</a:t>
              </a:r>
            </a:p>
          </p:txBody>
        </p:sp>
        <p:sp>
          <p:nvSpPr>
            <p:cNvPr id="62" name="TextBox 61">
              <a:extLst>
                <a:ext uri="{FF2B5EF4-FFF2-40B4-BE49-F238E27FC236}">
                  <a16:creationId xmlns:a16="http://schemas.microsoft.com/office/drawing/2014/main" id="{95A9B685-1BD1-24C0-242B-86BB81DD8E6F}"/>
                </a:ext>
              </a:extLst>
            </p:cNvPr>
            <p:cNvSpPr txBox="1"/>
            <p:nvPr/>
          </p:nvSpPr>
          <p:spPr>
            <a:xfrm>
              <a:off x="4974370" y="5460231"/>
              <a:ext cx="1512532" cy="60686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kern="0">
                  <a:solidFill>
                    <a:srgbClr val="3D5265"/>
                  </a:solidFill>
                  <a:latin typeface="Aptos" panose="020B0004020202020204" pitchFamily="34" charset="0"/>
                </a:rPr>
                <a:t>Reportnet 3</a:t>
              </a:r>
            </a:p>
            <a:p>
              <a:pPr marL="0" marR="0" lvl="0" indent="0" defTabSz="914400" rtl="0" eaLnBrk="1" fontAlgn="auto" latinLnBrk="0" hangingPunct="1">
                <a:lnSpc>
                  <a:spcPct val="100000"/>
                </a:lnSpc>
                <a:spcBef>
                  <a:spcPts val="0"/>
                </a:spcBef>
                <a:spcAft>
                  <a:spcPts val="0"/>
                </a:spcAft>
                <a:buClrTx/>
                <a:buSzTx/>
                <a:buFontTx/>
                <a:buNone/>
                <a:tabLst/>
                <a:defRPr/>
              </a:pPr>
              <a:r>
                <a:rPr lang="en-US" sz="1600" kern="0">
                  <a:solidFill>
                    <a:srgbClr val="3D5265"/>
                  </a:solidFill>
                  <a:latin typeface="Aptos" panose="020B0004020202020204" pitchFamily="34" charset="0"/>
                </a:rPr>
                <a:t>A</a:t>
              </a:r>
              <a:r>
                <a:rPr lang="en-GB" sz="1600" kern="0" err="1">
                  <a:solidFill>
                    <a:srgbClr val="3D5265"/>
                  </a:solidFill>
                  <a:latin typeface="Aptos" panose="020B0004020202020204" pitchFamily="34" charset="0"/>
                </a:rPr>
                <a:t>rticle</a:t>
              </a:r>
              <a:r>
                <a:rPr lang="en-GB" sz="1600" kern="0">
                  <a:solidFill>
                    <a:srgbClr val="3D5265"/>
                  </a:solidFill>
                  <a:latin typeface="Aptos" panose="020B0004020202020204" pitchFamily="34" charset="0"/>
                </a:rPr>
                <a:t> 17 dataflow and support</a:t>
              </a:r>
              <a:endParaRPr kumimoji="0" lang="en-GB" sz="1600" u="none" strike="noStrike" kern="0" cap="none" spc="0" normalizeH="0" baseline="0" noProof="0">
                <a:ln>
                  <a:noFill/>
                </a:ln>
                <a:solidFill>
                  <a:srgbClr val="3D5265"/>
                </a:solidFill>
                <a:effectLst/>
                <a:uLnTx/>
                <a:uFillTx/>
                <a:latin typeface="Aptos" panose="020B0004020202020204" pitchFamily="34" charset="0"/>
              </a:endParaRPr>
            </a:p>
          </p:txBody>
        </p:sp>
        <p:sp>
          <p:nvSpPr>
            <p:cNvPr id="64" name="TextBox 63">
              <a:extLst>
                <a:ext uri="{FF2B5EF4-FFF2-40B4-BE49-F238E27FC236}">
                  <a16:creationId xmlns:a16="http://schemas.microsoft.com/office/drawing/2014/main" id="{119BDFC3-88CA-8EC5-E9AF-D38F957BD4AF}"/>
                </a:ext>
              </a:extLst>
            </p:cNvPr>
            <p:cNvSpPr txBox="1"/>
            <p:nvPr/>
          </p:nvSpPr>
          <p:spPr>
            <a:xfrm>
              <a:off x="6482398" y="5460232"/>
              <a:ext cx="1951698" cy="606866"/>
            </a:xfrm>
            <a:prstGeom prst="rect">
              <a:avLst/>
            </a:prstGeom>
            <a:noFill/>
          </p:spPr>
          <p:txBody>
            <a:bodyPr wrap="square" rtlCol="0">
              <a:spAutoFit/>
            </a:bodyPr>
            <a:lstStyle/>
            <a:p>
              <a:pPr lvl="0">
                <a:defRPr/>
              </a:pPr>
              <a:r>
                <a:rPr lang="en-US" sz="1600" kern="0">
                  <a:solidFill>
                    <a:srgbClr val="3D5265"/>
                  </a:solidFill>
                  <a:latin typeface="Aptos" panose="020B0004020202020204" pitchFamily="34" charset="0"/>
                </a:rPr>
                <a:t>A</a:t>
              </a:r>
              <a:r>
                <a:rPr lang="en-GB" sz="1600" kern="0" err="1">
                  <a:solidFill>
                    <a:srgbClr val="3D5265"/>
                  </a:solidFill>
                  <a:latin typeface="Aptos" panose="020B0004020202020204" pitchFamily="34" charset="0"/>
                </a:rPr>
                <a:t>rticle</a:t>
              </a:r>
              <a:r>
                <a:rPr lang="en-GB" sz="1600" kern="0">
                  <a:solidFill>
                    <a:srgbClr val="3D5265"/>
                  </a:solidFill>
                  <a:latin typeface="Aptos" panose="020B0004020202020204" pitchFamily="34" charset="0"/>
                </a:rPr>
                <a:t> 17 </a:t>
              </a:r>
              <a:r>
                <a:rPr lang="en-GB" sz="1600">
                  <a:latin typeface="Aptos" panose="020B0004020202020204" pitchFamily="34" charset="0"/>
                  <a:hlinkClick r:id="rId5"/>
                </a:rPr>
                <a:t>dashboard</a:t>
              </a:r>
              <a:r>
                <a:rPr lang="en-GB" sz="1600">
                  <a:latin typeface="Aptos" panose="020B0004020202020204" pitchFamily="34" charset="0"/>
                </a:rPr>
                <a:t> </a:t>
              </a:r>
            </a:p>
            <a:p>
              <a:pPr lvl="0">
                <a:defRPr/>
              </a:pPr>
              <a:r>
                <a:rPr lang="en-GB" sz="1600" kern="0">
                  <a:solidFill>
                    <a:srgbClr val="3D5265"/>
                  </a:solidFill>
                  <a:latin typeface="Aptos" panose="020B0004020202020204" pitchFamily="34" charset="0"/>
                </a:rPr>
                <a:t>at the Climate and Energy in the EU website</a:t>
              </a:r>
              <a:endParaRPr kumimoji="0" lang="en-GB" sz="1600" u="none" strike="noStrike" kern="0" cap="none" spc="0" normalizeH="0" baseline="0" noProof="0">
                <a:ln>
                  <a:noFill/>
                </a:ln>
                <a:solidFill>
                  <a:srgbClr val="3D5265"/>
                </a:solidFill>
                <a:effectLst/>
                <a:uLnTx/>
                <a:uFillTx/>
                <a:latin typeface="Aptos" panose="020B0004020202020204" pitchFamily="34" charset="0"/>
              </a:endParaRPr>
            </a:p>
          </p:txBody>
        </p:sp>
        <p:sp>
          <p:nvSpPr>
            <p:cNvPr id="67" name="TextBox 66">
              <a:extLst>
                <a:ext uri="{FF2B5EF4-FFF2-40B4-BE49-F238E27FC236}">
                  <a16:creationId xmlns:a16="http://schemas.microsoft.com/office/drawing/2014/main" id="{8925AC30-7E64-23C1-499F-95E5EC146BAB}"/>
                </a:ext>
              </a:extLst>
            </p:cNvPr>
            <p:cNvSpPr txBox="1"/>
            <p:nvPr/>
          </p:nvSpPr>
          <p:spPr>
            <a:xfrm>
              <a:off x="8357997" y="5478535"/>
              <a:ext cx="2417784" cy="786679"/>
            </a:xfrm>
            <a:prstGeom prst="rect">
              <a:avLst/>
            </a:prstGeom>
            <a:noFill/>
          </p:spPr>
          <p:txBody>
            <a:bodyPr wrap="square" rtlCol="0">
              <a:spAutoFit/>
            </a:bodyPr>
            <a:lstStyle/>
            <a:p>
              <a:pPr lvl="0">
                <a:defRPr/>
              </a:pPr>
              <a:r>
                <a:rPr lang="en-US" sz="1600" kern="0">
                  <a:solidFill>
                    <a:srgbClr val="3D5265"/>
                  </a:solidFill>
                  <a:latin typeface="Aptos" panose="020B0004020202020204" pitchFamily="34" charset="0"/>
                </a:rPr>
                <a:t>2023 E</a:t>
              </a:r>
              <a:r>
                <a:rPr lang="en-GB" sz="1600" kern="0">
                  <a:solidFill>
                    <a:srgbClr val="3D5265"/>
                  </a:solidFill>
                  <a:latin typeface="Aptos" panose="020B0004020202020204" pitchFamily="34" charset="0"/>
                </a:rPr>
                <a:t>EA briefing </a:t>
              </a:r>
              <a:r>
                <a:rPr lang="en-US" sz="1600">
                  <a:latin typeface="Aptos" panose="020B0004020202020204" pitchFamily="34" charset="0"/>
                  <a:hlinkClick r:id="rId6"/>
                </a:rPr>
                <a:t>Is Europe on track towards climate resilience?</a:t>
              </a:r>
              <a:r>
                <a:rPr lang="en-GB" sz="1600" kern="0">
                  <a:solidFill>
                    <a:srgbClr val="3D5265"/>
                  </a:solidFill>
                  <a:latin typeface="Aptos" panose="020B0004020202020204" pitchFamily="34" charset="0"/>
                </a:rPr>
                <a:t> </a:t>
              </a:r>
            </a:p>
            <a:p>
              <a:pPr lvl="0">
                <a:defRPr/>
              </a:pPr>
              <a:endParaRPr kumimoji="0" lang="en-GB" sz="1600" u="none" strike="noStrike" kern="0" cap="none" spc="0" normalizeH="0" baseline="0" noProof="0">
                <a:ln>
                  <a:noFill/>
                </a:ln>
                <a:solidFill>
                  <a:srgbClr val="3D5265"/>
                </a:solidFill>
                <a:effectLst/>
                <a:uLnTx/>
                <a:uFillTx/>
                <a:latin typeface="Aptos" panose="020B0004020202020204" pitchFamily="34" charset="0"/>
              </a:endParaRPr>
            </a:p>
            <a:p>
              <a:pPr lvl="0">
                <a:defRPr/>
              </a:pPr>
              <a:r>
                <a:rPr kumimoji="0" lang="en-US" sz="1600" u="none" strike="noStrike" kern="0" cap="none" spc="0" normalizeH="0" baseline="0" noProof="0">
                  <a:ln>
                    <a:noFill/>
                  </a:ln>
                  <a:solidFill>
                    <a:srgbClr val="3D5265"/>
                  </a:solidFill>
                  <a:effectLst/>
                  <a:uLnTx/>
                  <a:uFillTx/>
                  <a:latin typeface="Aptos" panose="020B0004020202020204" pitchFamily="34" charset="0"/>
                </a:rPr>
                <a:t>2026 EEA report (forthcoming)</a:t>
              </a:r>
              <a:endParaRPr kumimoji="0" lang="en-GB" sz="1600" u="none" strike="noStrike" kern="0" cap="none" spc="0" normalizeH="0" baseline="0" noProof="0">
                <a:ln>
                  <a:noFill/>
                </a:ln>
                <a:solidFill>
                  <a:srgbClr val="3D5265"/>
                </a:solidFill>
                <a:effectLst/>
                <a:uLnTx/>
                <a:uFillTx/>
                <a:latin typeface="Aptos" panose="020B0004020202020204" pitchFamily="34" charset="0"/>
              </a:endParaRPr>
            </a:p>
          </p:txBody>
        </p:sp>
        <p:sp>
          <p:nvSpPr>
            <p:cNvPr id="69" name="TextBox 68">
              <a:extLst>
                <a:ext uri="{FF2B5EF4-FFF2-40B4-BE49-F238E27FC236}">
                  <a16:creationId xmlns:a16="http://schemas.microsoft.com/office/drawing/2014/main" id="{CB69939A-1D54-CDF5-D413-267D7EC1B503}"/>
                </a:ext>
              </a:extLst>
            </p:cNvPr>
            <p:cNvSpPr txBox="1"/>
            <p:nvPr/>
          </p:nvSpPr>
          <p:spPr>
            <a:xfrm>
              <a:off x="10708750" y="5480168"/>
              <a:ext cx="1841824" cy="42705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600" kern="0">
                  <a:solidFill>
                    <a:srgbClr val="3D5265"/>
                  </a:solidFill>
                  <a:latin typeface="Aptos" panose="020B0004020202020204" pitchFamily="34" charset="0"/>
                </a:rPr>
                <a:t>C</a:t>
              </a:r>
              <a:r>
                <a:rPr lang="en-GB" sz="1600" kern="0" err="1">
                  <a:solidFill>
                    <a:srgbClr val="3D5265"/>
                  </a:solidFill>
                  <a:latin typeface="Aptos" panose="020B0004020202020204" pitchFamily="34" charset="0"/>
                </a:rPr>
                <a:t>ommunity</a:t>
              </a:r>
              <a:r>
                <a:rPr lang="en-GB" sz="1600" kern="0">
                  <a:solidFill>
                    <a:srgbClr val="3D5265"/>
                  </a:solidFill>
                  <a:latin typeface="Aptos" panose="020B0004020202020204" pitchFamily="34" charset="0"/>
                </a:rPr>
                <a:t> of adaptation lead reporters</a:t>
              </a:r>
            </a:p>
          </p:txBody>
        </p:sp>
        <p:cxnSp>
          <p:nvCxnSpPr>
            <p:cNvPr id="79" name="Straight Arrow Connector 78">
              <a:extLst>
                <a:ext uri="{FF2B5EF4-FFF2-40B4-BE49-F238E27FC236}">
                  <a16:creationId xmlns:a16="http://schemas.microsoft.com/office/drawing/2014/main" id="{B7DD6513-2CF4-AD40-8183-4DD7C4124B4C}"/>
                </a:ext>
              </a:extLst>
            </p:cNvPr>
            <p:cNvCxnSpPr>
              <a:cxnSpLocks/>
            </p:cNvCxnSpPr>
            <p:nvPr/>
          </p:nvCxnSpPr>
          <p:spPr>
            <a:xfrm>
              <a:off x="9496501" y="3993943"/>
              <a:ext cx="2649" cy="1263857"/>
            </a:xfrm>
            <a:prstGeom prst="straightConnector1">
              <a:avLst/>
            </a:prstGeom>
            <a:ln w="22225">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F0DE441C-A70C-ABC8-CE8D-43815587CA3E}"/>
                </a:ext>
              </a:extLst>
            </p:cNvPr>
            <p:cNvCxnSpPr>
              <a:cxnSpLocks/>
            </p:cNvCxnSpPr>
            <p:nvPr/>
          </p:nvCxnSpPr>
          <p:spPr>
            <a:xfrm>
              <a:off x="11241080" y="3993943"/>
              <a:ext cx="2649" cy="1263857"/>
            </a:xfrm>
            <a:prstGeom prst="straightConnector1">
              <a:avLst/>
            </a:prstGeom>
            <a:ln w="22225">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AD8F852-4B4B-43CE-45EA-81FF4A3FD742}"/>
                </a:ext>
              </a:extLst>
            </p:cNvPr>
            <p:cNvCxnSpPr>
              <a:cxnSpLocks/>
            </p:cNvCxnSpPr>
            <p:nvPr/>
          </p:nvCxnSpPr>
          <p:spPr>
            <a:xfrm>
              <a:off x="7703794" y="3993943"/>
              <a:ext cx="2649" cy="1263857"/>
            </a:xfrm>
            <a:prstGeom prst="straightConnector1">
              <a:avLst/>
            </a:prstGeom>
            <a:ln w="22225">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D6FCD7B-A1F5-B41C-DAFF-0B1E7357FB69}"/>
                </a:ext>
              </a:extLst>
            </p:cNvPr>
            <p:cNvCxnSpPr>
              <a:cxnSpLocks/>
            </p:cNvCxnSpPr>
            <p:nvPr/>
          </p:nvCxnSpPr>
          <p:spPr>
            <a:xfrm>
              <a:off x="5826869" y="3993943"/>
              <a:ext cx="2649" cy="1263857"/>
            </a:xfrm>
            <a:prstGeom prst="straightConnector1">
              <a:avLst/>
            </a:prstGeom>
            <a:ln w="22225">
              <a:solidFill>
                <a:schemeClr val="tx2"/>
              </a:solidFill>
              <a:headEnd type="none"/>
              <a:tailEnd type="oval" w="lg" len="lg"/>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0F9CFDBE-1282-476A-5629-52979EACA2A0}"/>
                </a:ext>
              </a:extLst>
            </p:cNvPr>
            <p:cNvPicPr>
              <a:picLocks noChangeAspect="1"/>
            </p:cNvPicPr>
            <p:nvPr/>
          </p:nvPicPr>
          <p:blipFill>
            <a:blip r:embed="rId7"/>
            <a:stretch>
              <a:fillRect/>
            </a:stretch>
          </p:blipFill>
          <p:spPr>
            <a:xfrm>
              <a:off x="5543086" y="2804062"/>
              <a:ext cx="567565" cy="567565"/>
            </a:xfrm>
            <a:prstGeom prst="rect">
              <a:avLst/>
            </a:prstGeom>
          </p:spPr>
        </p:pic>
        <p:pic>
          <p:nvPicPr>
            <p:cNvPr id="98" name="Picture 97">
              <a:extLst>
                <a:ext uri="{FF2B5EF4-FFF2-40B4-BE49-F238E27FC236}">
                  <a16:creationId xmlns:a16="http://schemas.microsoft.com/office/drawing/2014/main" id="{17034EFA-9E27-BE9D-E7B4-31F379F67798}"/>
                </a:ext>
              </a:extLst>
            </p:cNvPr>
            <p:cNvPicPr>
              <a:picLocks noChangeAspect="1"/>
            </p:cNvPicPr>
            <p:nvPr/>
          </p:nvPicPr>
          <p:blipFill>
            <a:blip r:embed="rId8"/>
            <a:stretch>
              <a:fillRect/>
            </a:stretch>
          </p:blipFill>
          <p:spPr>
            <a:xfrm>
              <a:off x="7379074" y="2782703"/>
              <a:ext cx="571040" cy="584520"/>
            </a:xfrm>
            <a:prstGeom prst="rect">
              <a:avLst/>
            </a:prstGeom>
          </p:spPr>
        </p:pic>
        <p:pic>
          <p:nvPicPr>
            <p:cNvPr id="99" name="Picture 98">
              <a:extLst>
                <a:ext uri="{FF2B5EF4-FFF2-40B4-BE49-F238E27FC236}">
                  <a16:creationId xmlns:a16="http://schemas.microsoft.com/office/drawing/2014/main" id="{D262FACD-080A-66AF-63DC-7EC090468173}"/>
                </a:ext>
              </a:extLst>
            </p:cNvPr>
            <p:cNvPicPr>
              <a:picLocks noChangeAspect="1"/>
            </p:cNvPicPr>
            <p:nvPr/>
          </p:nvPicPr>
          <p:blipFill>
            <a:blip r:embed="rId9"/>
            <a:stretch>
              <a:fillRect/>
            </a:stretch>
          </p:blipFill>
          <p:spPr>
            <a:xfrm>
              <a:off x="9180592" y="2751610"/>
              <a:ext cx="631817" cy="624033"/>
            </a:xfrm>
            <a:prstGeom prst="rect">
              <a:avLst/>
            </a:prstGeom>
          </p:spPr>
        </p:pic>
        <p:pic>
          <p:nvPicPr>
            <p:cNvPr id="100" name="Picture 99">
              <a:extLst>
                <a:ext uri="{FF2B5EF4-FFF2-40B4-BE49-F238E27FC236}">
                  <a16:creationId xmlns:a16="http://schemas.microsoft.com/office/drawing/2014/main" id="{323F1BF7-A684-954F-F111-067AC40AF918}"/>
                </a:ext>
              </a:extLst>
            </p:cNvPr>
            <p:cNvPicPr>
              <a:picLocks noChangeAspect="1"/>
            </p:cNvPicPr>
            <p:nvPr/>
          </p:nvPicPr>
          <p:blipFill>
            <a:blip r:embed="rId10"/>
            <a:stretch>
              <a:fillRect/>
            </a:stretch>
          </p:blipFill>
          <p:spPr>
            <a:xfrm>
              <a:off x="10949713" y="2732366"/>
              <a:ext cx="552400" cy="552400"/>
            </a:xfrm>
            <a:prstGeom prst="rect">
              <a:avLst/>
            </a:prstGeom>
          </p:spPr>
        </p:pic>
      </p:grpSp>
    </p:spTree>
    <p:extLst>
      <p:ext uri="{BB962C8B-B14F-4D97-AF65-F5344CB8AC3E}">
        <p14:creationId xmlns:p14="http://schemas.microsoft.com/office/powerpoint/2010/main" val="357218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0E7D-4883-B4C1-33C7-A2E5446F4AE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135C4DF-F75C-FFC6-7888-EF9A296A8EFD}"/>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3" name="TextBox 2">
            <a:extLst>
              <a:ext uri="{FF2B5EF4-FFF2-40B4-BE49-F238E27FC236}">
                <a16:creationId xmlns:a16="http://schemas.microsoft.com/office/drawing/2014/main" id="{69A3A4A5-EDA3-1944-9E95-695AC56CBC0E}"/>
              </a:ext>
            </a:extLst>
          </p:cNvPr>
          <p:cNvSpPr txBox="1"/>
          <p:nvPr/>
        </p:nvSpPr>
        <p:spPr>
          <a:xfrm>
            <a:off x="267629" y="301303"/>
            <a:ext cx="10021230" cy="1015663"/>
          </a:xfrm>
          <a:prstGeom prst="rect">
            <a:avLst/>
          </a:prstGeom>
          <a:noFill/>
        </p:spPr>
        <p:txBody>
          <a:bodyPr wrap="square">
            <a:spAutoFit/>
          </a:bodyPr>
          <a:lstStyle/>
          <a:p>
            <a:r>
              <a:rPr lang="en-US" sz="3600">
                <a:solidFill>
                  <a:srgbClr val="009999"/>
                </a:solidFill>
                <a:latin typeface="Aptos" panose="020B0004020202020204" pitchFamily="34" charset="0"/>
              </a:rPr>
              <a:t>Adaptation goals </a:t>
            </a:r>
          </a:p>
          <a:p>
            <a:r>
              <a:rPr lang="en-US" sz="2400">
                <a:solidFill>
                  <a:srgbClr val="009999"/>
                </a:solidFill>
                <a:latin typeface="Aptos" panose="020B0004020202020204" pitchFamily="34" charset="0"/>
              </a:rPr>
              <a:t>in integrated national energy and climate plans</a:t>
            </a:r>
            <a:endParaRPr lang="en-GB" sz="2400">
              <a:solidFill>
                <a:srgbClr val="009999"/>
              </a:solidFill>
            </a:endParaRPr>
          </a:p>
        </p:txBody>
      </p:sp>
      <p:pic>
        <p:nvPicPr>
          <p:cNvPr id="5" name="Picture 4">
            <a:extLst>
              <a:ext uri="{FF2B5EF4-FFF2-40B4-BE49-F238E27FC236}">
                <a16:creationId xmlns:a16="http://schemas.microsoft.com/office/drawing/2014/main" id="{5369AF45-6A75-63AC-500A-02259402EC16}"/>
              </a:ext>
            </a:extLst>
          </p:cNvPr>
          <p:cNvPicPr>
            <a:picLocks noChangeAspect="1"/>
          </p:cNvPicPr>
          <p:nvPr/>
        </p:nvPicPr>
        <p:blipFill>
          <a:blip r:embed="rId3"/>
          <a:stretch>
            <a:fillRect/>
          </a:stretch>
        </p:blipFill>
        <p:spPr>
          <a:xfrm>
            <a:off x="2071083" y="1298130"/>
            <a:ext cx="8049834" cy="5559870"/>
          </a:xfrm>
          <a:prstGeom prst="rect">
            <a:avLst/>
          </a:prstGeom>
        </p:spPr>
      </p:pic>
      <p:sp>
        <p:nvSpPr>
          <p:cNvPr id="16" name="TextBox 15">
            <a:extLst>
              <a:ext uri="{FF2B5EF4-FFF2-40B4-BE49-F238E27FC236}">
                <a16:creationId xmlns:a16="http://schemas.microsoft.com/office/drawing/2014/main" id="{E2157576-6FC2-B410-CC1F-26DA6E3BFB6A}"/>
              </a:ext>
            </a:extLst>
          </p:cNvPr>
          <p:cNvSpPr txBox="1"/>
          <p:nvPr/>
        </p:nvSpPr>
        <p:spPr>
          <a:xfrm>
            <a:off x="5453491" y="3003009"/>
            <a:ext cx="5835805" cy="369332"/>
          </a:xfrm>
          <a:prstGeom prst="rect">
            <a:avLst/>
          </a:prstGeom>
          <a:noFill/>
        </p:spPr>
        <p:txBody>
          <a:bodyPr wrap="square" rtlCol="0">
            <a:spAutoFit/>
          </a:bodyPr>
          <a:lstStyle/>
          <a:p>
            <a:r>
              <a:rPr lang="en-US">
                <a:solidFill>
                  <a:srgbClr val="009999"/>
                </a:solidFill>
                <a:latin typeface="Aptos" panose="020B0004020202020204" pitchFamily="34" charset="0"/>
              </a:rPr>
              <a:t>Used for statistics.</a:t>
            </a:r>
            <a:endParaRPr lang="en-GB">
              <a:solidFill>
                <a:srgbClr val="009999"/>
              </a:solidFill>
              <a:latin typeface="Aptos" panose="020B0004020202020204" pitchFamily="34" charset="0"/>
            </a:endParaRPr>
          </a:p>
        </p:txBody>
      </p:sp>
      <p:sp>
        <p:nvSpPr>
          <p:cNvPr id="18" name="TextBox 17">
            <a:extLst>
              <a:ext uri="{FF2B5EF4-FFF2-40B4-BE49-F238E27FC236}">
                <a16:creationId xmlns:a16="http://schemas.microsoft.com/office/drawing/2014/main" id="{2E270818-9023-9D74-BAE7-1831E8B5D4E0}"/>
              </a:ext>
            </a:extLst>
          </p:cNvPr>
          <p:cNvSpPr txBox="1"/>
          <p:nvPr/>
        </p:nvSpPr>
        <p:spPr>
          <a:xfrm>
            <a:off x="4870215" y="4257556"/>
            <a:ext cx="3270826" cy="646331"/>
          </a:xfrm>
          <a:prstGeom prst="rect">
            <a:avLst/>
          </a:prstGeom>
          <a:noFill/>
        </p:spPr>
        <p:txBody>
          <a:bodyPr wrap="square" rtlCol="0">
            <a:spAutoFit/>
          </a:bodyPr>
          <a:lstStyle/>
          <a:p>
            <a:pPr algn="ctr"/>
            <a:r>
              <a:rPr lang="en-US">
                <a:solidFill>
                  <a:srgbClr val="009999"/>
                </a:solidFill>
                <a:latin typeface="Aptos" panose="020B0004020202020204" pitchFamily="34" charset="0"/>
              </a:rPr>
              <a:t>Information available in the NECP or draft NECP.</a:t>
            </a:r>
            <a:endParaRPr lang="en-GB">
              <a:solidFill>
                <a:srgbClr val="009999"/>
              </a:solidFill>
              <a:latin typeface="Aptos" panose="020B0004020202020204" pitchFamily="34" charset="0"/>
            </a:endParaRPr>
          </a:p>
        </p:txBody>
      </p:sp>
      <p:sp>
        <p:nvSpPr>
          <p:cNvPr id="19" name="TextBox 18">
            <a:extLst>
              <a:ext uri="{FF2B5EF4-FFF2-40B4-BE49-F238E27FC236}">
                <a16:creationId xmlns:a16="http://schemas.microsoft.com/office/drawing/2014/main" id="{4932B313-B908-0D64-AC84-A89EDC81B133}"/>
              </a:ext>
            </a:extLst>
          </p:cNvPr>
          <p:cNvSpPr txBox="1"/>
          <p:nvPr/>
        </p:nvSpPr>
        <p:spPr>
          <a:xfrm>
            <a:off x="4747552" y="5163873"/>
            <a:ext cx="3516153" cy="923330"/>
          </a:xfrm>
          <a:prstGeom prst="rect">
            <a:avLst/>
          </a:prstGeom>
          <a:noFill/>
        </p:spPr>
        <p:txBody>
          <a:bodyPr wrap="square" rtlCol="0">
            <a:spAutoFit/>
          </a:bodyPr>
          <a:lstStyle/>
          <a:p>
            <a:pPr algn="ctr"/>
            <a:r>
              <a:rPr lang="en-US">
                <a:solidFill>
                  <a:srgbClr val="009999"/>
                </a:solidFill>
                <a:latin typeface="Aptos" panose="020B0004020202020204" pitchFamily="34" charset="0"/>
              </a:rPr>
              <a:t>Most EU MS link to other documents like NAS, NAP or sectoral and regional policies.</a:t>
            </a:r>
            <a:endParaRPr lang="en-GB">
              <a:solidFill>
                <a:srgbClr val="009999"/>
              </a:solidFill>
              <a:latin typeface="Aptos" panose="020B0004020202020204" pitchFamily="34" charset="0"/>
            </a:endParaRPr>
          </a:p>
        </p:txBody>
      </p:sp>
    </p:spTree>
    <p:extLst>
      <p:ext uri="{BB962C8B-B14F-4D97-AF65-F5344CB8AC3E}">
        <p14:creationId xmlns:p14="http://schemas.microsoft.com/office/powerpoint/2010/main" val="365124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A64C-34FA-7132-12E8-382CBB0D692C}"/>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1E74FE8-81E2-E0F7-5146-07F6BD944D2F}"/>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BCDC71BF-3354-E28C-1A35-A90704550B65}"/>
              </a:ext>
            </a:extLst>
          </p:cNvPr>
          <p:cNvSpPr txBox="1"/>
          <p:nvPr/>
        </p:nvSpPr>
        <p:spPr>
          <a:xfrm>
            <a:off x="267629" y="301303"/>
            <a:ext cx="10021230" cy="1015663"/>
          </a:xfrm>
          <a:prstGeom prst="rect">
            <a:avLst/>
          </a:prstGeom>
          <a:noFill/>
        </p:spPr>
        <p:txBody>
          <a:bodyPr wrap="square">
            <a:spAutoFit/>
          </a:bodyPr>
          <a:lstStyle/>
          <a:p>
            <a:r>
              <a:rPr lang="en-US" sz="3600">
                <a:solidFill>
                  <a:srgbClr val="009999"/>
                </a:solidFill>
                <a:latin typeface="Aptos" panose="020B0004020202020204" pitchFamily="34" charset="0"/>
              </a:rPr>
              <a:t>Adaptation goals </a:t>
            </a:r>
          </a:p>
          <a:p>
            <a:r>
              <a:rPr lang="en-US" sz="2400">
                <a:solidFill>
                  <a:srgbClr val="009999"/>
                </a:solidFill>
                <a:latin typeface="Aptos" panose="020B0004020202020204" pitchFamily="34" charset="0"/>
              </a:rPr>
              <a:t>in integrated national energy and climate plans</a:t>
            </a:r>
            <a:endParaRPr lang="en-GB" sz="2400">
              <a:solidFill>
                <a:srgbClr val="009999"/>
              </a:solidFill>
            </a:endParaRPr>
          </a:p>
        </p:txBody>
      </p:sp>
      <p:pic>
        <p:nvPicPr>
          <p:cNvPr id="4" name="Picture 3" descr="A green and white graph&#10;&#10;AI-generated content may be incorrect.">
            <a:extLst>
              <a:ext uri="{FF2B5EF4-FFF2-40B4-BE49-F238E27FC236}">
                <a16:creationId xmlns:a16="http://schemas.microsoft.com/office/drawing/2014/main" id="{2DD4C6BE-A2E8-37C9-C338-93F6F6A32BD6}"/>
              </a:ext>
            </a:extLst>
          </p:cNvPr>
          <p:cNvPicPr>
            <a:picLocks noChangeAspect="1"/>
          </p:cNvPicPr>
          <p:nvPr/>
        </p:nvPicPr>
        <p:blipFill>
          <a:blip r:embed="rId3"/>
          <a:srcRect t="10359" r="63456" b="21056"/>
          <a:stretch>
            <a:fillRect/>
          </a:stretch>
        </p:blipFill>
        <p:spPr>
          <a:xfrm>
            <a:off x="6517265" y="1967989"/>
            <a:ext cx="3499526" cy="3292261"/>
          </a:xfrm>
          <a:prstGeom prst="rect">
            <a:avLst/>
          </a:prstGeom>
        </p:spPr>
      </p:pic>
      <p:sp>
        <p:nvSpPr>
          <p:cNvPr id="6" name="TextBox 5">
            <a:extLst>
              <a:ext uri="{FF2B5EF4-FFF2-40B4-BE49-F238E27FC236}">
                <a16:creationId xmlns:a16="http://schemas.microsoft.com/office/drawing/2014/main" id="{0220CC14-6DAD-70D5-786F-F43327449E60}"/>
              </a:ext>
            </a:extLst>
          </p:cNvPr>
          <p:cNvSpPr txBox="1"/>
          <p:nvPr/>
        </p:nvSpPr>
        <p:spPr>
          <a:xfrm>
            <a:off x="328862" y="1517492"/>
            <a:ext cx="5614738" cy="4832092"/>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Several key adaptation related principles appear:</a:t>
            </a:r>
          </a:p>
          <a:p>
            <a:pPr marL="742950" lvl="1" indent="-285750">
              <a:spcBef>
                <a:spcPts val="600"/>
              </a:spcBef>
              <a:buFont typeface="Arial" panose="020B0604020202020204" pitchFamily="34" charset="0"/>
              <a:buChar char="•"/>
            </a:pPr>
            <a:r>
              <a:rPr lang="en-IE" sz="1400">
                <a:latin typeface="Aptos" panose="020B0004020202020204" pitchFamily="34" charset="0"/>
              </a:rPr>
              <a:t>avoiding maladaptation,</a:t>
            </a:r>
          </a:p>
          <a:p>
            <a:pPr marL="742950" lvl="1" indent="-285750">
              <a:spcBef>
                <a:spcPts val="600"/>
              </a:spcBef>
              <a:buFont typeface="Arial" panose="020B0604020202020204" pitchFamily="34" charset="0"/>
              <a:buChar char="•"/>
            </a:pPr>
            <a:r>
              <a:rPr lang="en-IE" sz="1400">
                <a:latin typeface="Aptos" panose="020B0004020202020204" pitchFamily="34" charset="0"/>
              </a:rPr>
              <a:t>synergies between mitigation and adaptation, </a:t>
            </a:r>
          </a:p>
          <a:p>
            <a:pPr marL="742950" lvl="1" indent="-285750">
              <a:spcBef>
                <a:spcPts val="600"/>
              </a:spcBef>
              <a:buFont typeface="Arial" panose="020B0604020202020204" pitchFamily="34" charset="0"/>
              <a:buChar char="•"/>
            </a:pPr>
            <a:r>
              <a:rPr lang="en-IE" sz="1400">
                <a:latin typeface="Aptos" panose="020B0004020202020204" pitchFamily="34" charset="0"/>
              </a:rPr>
              <a:t>integration of climate risk considerations into mitigation planning, </a:t>
            </a:r>
          </a:p>
          <a:p>
            <a:pPr marL="742950" lvl="1" indent="-285750">
              <a:spcBef>
                <a:spcPts val="600"/>
              </a:spcBef>
              <a:buFont typeface="Arial" panose="020B0604020202020204" pitchFamily="34" charset="0"/>
              <a:buChar char="•"/>
            </a:pPr>
            <a:r>
              <a:rPr lang="en-IE" sz="1400">
                <a:latin typeface="Aptos" panose="020B0004020202020204" pitchFamily="34" charset="0"/>
              </a:rPr>
              <a:t>role of ecosystems as carbon sinks, </a:t>
            </a:r>
          </a:p>
          <a:p>
            <a:pPr marL="742950" lvl="1" indent="-285750">
              <a:spcBef>
                <a:spcPts val="600"/>
              </a:spcBef>
              <a:buFont typeface="Arial" panose="020B0604020202020204" pitchFamily="34" charset="0"/>
              <a:buChar char="•"/>
            </a:pPr>
            <a:r>
              <a:rPr lang="en-IE" sz="1400">
                <a:latin typeface="Aptos" panose="020B0004020202020204" pitchFamily="34" charset="0"/>
              </a:rPr>
              <a:t>the principle of prevention.</a:t>
            </a:r>
          </a:p>
          <a:p>
            <a:pPr marL="742950" lvl="1" indent="-285750">
              <a:spcBef>
                <a:spcPts val="600"/>
              </a:spcBef>
              <a:buFont typeface="Arial" panose="020B0604020202020204" pitchFamily="34" charset="0"/>
              <a:buChar char="•"/>
            </a:pPr>
            <a:endParaRPr lang="en-IE" sz="1400">
              <a:latin typeface="Aptos" panose="020B0004020202020204" pitchFamily="34" charset="0"/>
            </a:endParaRP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Adaptation goals, due to various reasons, in some cases were not systematically integrated into the updated NECPs. </a:t>
            </a: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Adaptation goals are rarely considered for all five dimensions of the Energy Union. </a:t>
            </a: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Some MS recognize areas of synergies, where measures can contribute simultaneously to climate resilience and emissions reductions, signalling that future NECPs could better highlight such co-benefits.</a:t>
            </a:r>
          </a:p>
          <a:p>
            <a:pPr marL="285750" indent="-285750" algn="just">
              <a:spcBef>
                <a:spcPts val="600"/>
              </a:spcBef>
              <a:spcAft>
                <a:spcPts val="600"/>
              </a:spcAft>
              <a:buFont typeface="Arial" panose="020B0604020202020204" pitchFamily="34" charset="0"/>
              <a:buChar char="•"/>
            </a:pPr>
            <a:endParaRPr lang="en-IE" sz="1400">
              <a:latin typeface="Aptos" panose="020B0004020202020204" pitchFamily="34" charset="0"/>
            </a:endParaRPr>
          </a:p>
        </p:txBody>
      </p:sp>
      <p:pic>
        <p:nvPicPr>
          <p:cNvPr id="7" name="Picture 6" descr="A green and white graph&#10;&#10;AI-generated content may be incorrect.">
            <a:extLst>
              <a:ext uri="{FF2B5EF4-FFF2-40B4-BE49-F238E27FC236}">
                <a16:creationId xmlns:a16="http://schemas.microsoft.com/office/drawing/2014/main" id="{98BBE8F5-7A54-381C-6FC3-2E9C3A15BD68}"/>
              </a:ext>
            </a:extLst>
          </p:cNvPr>
          <p:cNvPicPr>
            <a:picLocks noChangeAspect="1"/>
          </p:cNvPicPr>
          <p:nvPr/>
        </p:nvPicPr>
        <p:blipFill>
          <a:blip r:embed="rId3"/>
          <a:srcRect l="36220" t="6262" r="50739"/>
          <a:stretch>
            <a:fillRect/>
          </a:stretch>
        </p:blipFill>
        <p:spPr>
          <a:xfrm>
            <a:off x="10288859" y="1328053"/>
            <a:ext cx="1268860" cy="4572132"/>
          </a:xfrm>
          <a:prstGeom prst="rect">
            <a:avLst/>
          </a:prstGeom>
        </p:spPr>
      </p:pic>
    </p:spTree>
    <p:extLst>
      <p:ext uri="{BB962C8B-B14F-4D97-AF65-F5344CB8AC3E}">
        <p14:creationId xmlns:p14="http://schemas.microsoft.com/office/powerpoint/2010/main" val="373991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51A21-5CFA-ADEA-BEA9-80796E9F36E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2666FB2B-6354-115C-545C-6608BE54E8D8}"/>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4" name="Picture 3">
            <a:extLst>
              <a:ext uri="{FF2B5EF4-FFF2-40B4-BE49-F238E27FC236}">
                <a16:creationId xmlns:a16="http://schemas.microsoft.com/office/drawing/2014/main" id="{F4B0C9CC-6005-ACFD-E48A-7E9A71EBB3D9}"/>
              </a:ext>
            </a:extLst>
          </p:cNvPr>
          <p:cNvPicPr>
            <a:picLocks noChangeAspect="1"/>
          </p:cNvPicPr>
          <p:nvPr/>
        </p:nvPicPr>
        <p:blipFill>
          <a:blip r:embed="rId2"/>
          <a:stretch>
            <a:fillRect/>
          </a:stretch>
        </p:blipFill>
        <p:spPr>
          <a:xfrm>
            <a:off x="5196468" y="253948"/>
            <a:ext cx="6892095" cy="6366105"/>
          </a:xfrm>
          <a:prstGeom prst="rect">
            <a:avLst/>
          </a:prstGeom>
        </p:spPr>
      </p:pic>
      <p:sp>
        <p:nvSpPr>
          <p:cNvPr id="8" name="TextBox 7">
            <a:extLst>
              <a:ext uri="{FF2B5EF4-FFF2-40B4-BE49-F238E27FC236}">
                <a16:creationId xmlns:a16="http://schemas.microsoft.com/office/drawing/2014/main" id="{EEAF6FCD-6B9D-E920-35F6-5DA7B3BD9F95}"/>
              </a:ext>
            </a:extLst>
          </p:cNvPr>
          <p:cNvSpPr txBox="1"/>
          <p:nvPr/>
        </p:nvSpPr>
        <p:spPr>
          <a:xfrm>
            <a:off x="208156" y="253948"/>
            <a:ext cx="6096000" cy="646331"/>
          </a:xfrm>
          <a:prstGeom prst="rect">
            <a:avLst/>
          </a:prstGeom>
          <a:noFill/>
        </p:spPr>
        <p:txBody>
          <a:bodyPr wrap="square">
            <a:spAutoFit/>
          </a:bodyPr>
          <a:lstStyle/>
          <a:p>
            <a:r>
              <a:rPr lang="en-GB" sz="3600">
                <a:solidFill>
                  <a:srgbClr val="009999"/>
                </a:solidFill>
                <a:latin typeface="Aptos" panose="020B0004020202020204" pitchFamily="34" charset="0"/>
              </a:rPr>
              <a:t>National circumstances</a:t>
            </a:r>
          </a:p>
        </p:txBody>
      </p:sp>
      <p:sp>
        <p:nvSpPr>
          <p:cNvPr id="14" name="TextBox 13">
            <a:extLst>
              <a:ext uri="{FF2B5EF4-FFF2-40B4-BE49-F238E27FC236}">
                <a16:creationId xmlns:a16="http://schemas.microsoft.com/office/drawing/2014/main" id="{10DFEE22-2C4E-508C-E541-BA065B12A435}"/>
              </a:ext>
            </a:extLst>
          </p:cNvPr>
          <p:cNvSpPr txBox="1"/>
          <p:nvPr/>
        </p:nvSpPr>
        <p:spPr>
          <a:xfrm>
            <a:off x="302699" y="1040150"/>
            <a:ext cx="4691818" cy="3681905"/>
          </a:xfrm>
          <a:prstGeom prst="rect">
            <a:avLst/>
          </a:prstGeom>
          <a:noFill/>
        </p:spPr>
        <p:txBody>
          <a:bodyPr wrap="square">
            <a:spAutoFit/>
          </a:bodyPr>
          <a:lstStyle/>
          <a:p>
            <a:pPr algn="just">
              <a:lnSpc>
                <a:spcPct val="107000"/>
              </a:lnSpc>
              <a:spcBef>
                <a:spcPts val="600"/>
              </a:spcBef>
              <a:spcAft>
                <a:spcPts val="600"/>
              </a:spcAft>
              <a:buNone/>
            </a:pPr>
            <a:r>
              <a:rPr lang="en-IE" kern="100">
                <a:solidFill>
                  <a:srgbClr val="004B7F"/>
                </a:solidFill>
                <a:effectLst/>
                <a:latin typeface="Aptos" panose="020B0004020202020204" pitchFamily="34" charset="0"/>
                <a:ea typeface="Aptos" panose="020B0004020202020204" pitchFamily="34" charset="0"/>
                <a:cs typeface="Times New Roman" panose="02020603050405020304" pitchFamily="18" charset="0"/>
              </a:rPr>
              <a:t>Vulnerabilities, including adaptive capacities </a:t>
            </a:r>
            <a:endParaRPr lang="en-GB" kern="100">
              <a:solidFill>
                <a:srgbClr val="004B7F"/>
              </a:solidFill>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direct effects of extreme weather events, floods, heatwaves or drought to the demand and supply of the energy system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the reduction of energy production (hydropower, lignite power plant or nuclear power)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shortage of cooling water</a:t>
            </a:r>
          </a:p>
          <a:p>
            <a:pPr marL="285750" indent="-285750" algn="just">
              <a:spcBef>
                <a:spcPts val="600"/>
              </a:spcBef>
              <a:spcAft>
                <a:spcPts val="600"/>
              </a:spcAft>
              <a:buFont typeface="Arial" panose="020B0604020202020204" pitchFamily="34" charset="0"/>
              <a:buChar char="•"/>
            </a:pPr>
            <a:r>
              <a:rPr lang="en-IE" sz="1400" kern="100">
                <a:latin typeface="Aptos" panose="020B0004020202020204" pitchFamily="34" charset="0"/>
                <a:ea typeface="Aptos" panose="020B0004020202020204" pitchFamily="34" charset="0"/>
                <a:cs typeface="Times New Roman" panose="02020603050405020304" pitchFamily="18" charset="0"/>
              </a:rPr>
              <a:t>d</a:t>
            </a:r>
            <a:r>
              <a:rPr lang="en-IE" sz="1400" kern="100">
                <a:effectLst/>
                <a:latin typeface="Aptos" panose="020B0004020202020204" pitchFamily="34" charset="0"/>
                <a:ea typeface="Aptos" panose="020B0004020202020204" pitchFamily="34" charset="0"/>
                <a:cs typeface="Times New Roman" panose="02020603050405020304" pitchFamily="18" charset="0"/>
              </a:rPr>
              <a:t>ecrease in agriculture and forestry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decrease of carbon sequestration combined with negative climate impacts on the amount of biomass available for energy production</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challenges in forest management</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8206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1DE58-CDD3-5B87-CCCE-8EA644600875}"/>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D219535C-95C4-C477-C32F-C9A46B5C2A36}"/>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4" name="Picture 3">
            <a:extLst>
              <a:ext uri="{FF2B5EF4-FFF2-40B4-BE49-F238E27FC236}">
                <a16:creationId xmlns:a16="http://schemas.microsoft.com/office/drawing/2014/main" id="{DC78437A-F67E-6499-7AAA-718B0E70BADF}"/>
              </a:ext>
            </a:extLst>
          </p:cNvPr>
          <p:cNvPicPr>
            <a:picLocks noChangeAspect="1"/>
          </p:cNvPicPr>
          <p:nvPr/>
        </p:nvPicPr>
        <p:blipFill>
          <a:blip r:embed="rId2"/>
          <a:stretch>
            <a:fillRect/>
          </a:stretch>
        </p:blipFill>
        <p:spPr>
          <a:xfrm>
            <a:off x="5196468" y="253948"/>
            <a:ext cx="6892095" cy="6366105"/>
          </a:xfrm>
          <a:prstGeom prst="rect">
            <a:avLst/>
          </a:prstGeom>
        </p:spPr>
      </p:pic>
      <p:sp>
        <p:nvSpPr>
          <p:cNvPr id="8" name="TextBox 7">
            <a:extLst>
              <a:ext uri="{FF2B5EF4-FFF2-40B4-BE49-F238E27FC236}">
                <a16:creationId xmlns:a16="http://schemas.microsoft.com/office/drawing/2014/main" id="{17A74459-03C2-A1A9-34A5-865AA7C4FE59}"/>
              </a:ext>
            </a:extLst>
          </p:cNvPr>
          <p:cNvSpPr txBox="1"/>
          <p:nvPr/>
        </p:nvSpPr>
        <p:spPr>
          <a:xfrm>
            <a:off x="208156" y="253948"/>
            <a:ext cx="6096000" cy="646331"/>
          </a:xfrm>
          <a:prstGeom prst="rect">
            <a:avLst/>
          </a:prstGeom>
          <a:noFill/>
        </p:spPr>
        <p:txBody>
          <a:bodyPr wrap="square">
            <a:spAutoFit/>
          </a:bodyPr>
          <a:lstStyle/>
          <a:p>
            <a:r>
              <a:rPr lang="en-GB" sz="3600">
                <a:solidFill>
                  <a:srgbClr val="009999"/>
                </a:solidFill>
                <a:latin typeface="Aptos" panose="020B0004020202020204" pitchFamily="34" charset="0"/>
              </a:rPr>
              <a:t>National circumstances</a:t>
            </a:r>
          </a:p>
        </p:txBody>
      </p:sp>
      <p:sp>
        <p:nvSpPr>
          <p:cNvPr id="14" name="TextBox 13">
            <a:extLst>
              <a:ext uri="{FF2B5EF4-FFF2-40B4-BE49-F238E27FC236}">
                <a16:creationId xmlns:a16="http://schemas.microsoft.com/office/drawing/2014/main" id="{FECC48E5-4614-B9DE-18E2-0F836535EC44}"/>
              </a:ext>
            </a:extLst>
          </p:cNvPr>
          <p:cNvSpPr txBox="1"/>
          <p:nvPr/>
        </p:nvSpPr>
        <p:spPr>
          <a:xfrm>
            <a:off x="255530" y="1020097"/>
            <a:ext cx="4893565" cy="4987519"/>
          </a:xfrm>
          <a:prstGeom prst="rect">
            <a:avLst/>
          </a:prstGeom>
          <a:noFill/>
        </p:spPr>
        <p:txBody>
          <a:bodyPr wrap="square">
            <a:spAutoFit/>
          </a:bodyPr>
          <a:lstStyle/>
          <a:p>
            <a:pPr algn="just">
              <a:lnSpc>
                <a:spcPct val="115000"/>
              </a:lnSpc>
              <a:spcBef>
                <a:spcPts val="600"/>
              </a:spcBef>
              <a:spcAft>
                <a:spcPts val="600"/>
              </a:spcAft>
              <a:buNone/>
            </a:pPr>
            <a:r>
              <a:rPr lang="en-US" kern="100">
                <a:solidFill>
                  <a:srgbClr val="004B7F"/>
                </a:solidFill>
                <a:effectLst/>
                <a:latin typeface="Aptos" panose="020B0004020202020204" pitchFamily="34" charset="0"/>
                <a:ea typeface="Times New Roman" panose="02020603050405020304" pitchFamily="18" charset="0"/>
                <a:cs typeface="Times New Roman" panose="02020603050405020304" pitchFamily="18" charset="0"/>
              </a:rPr>
              <a:t>Risk of potential future impacts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heat and heatwaves (hot spells), drought, extreme weather events with stronger storms as well as an increased amount of precipitation and its intensity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impacts of climate change on agriculture and forestry and the challenge in capturing carbon and carbon sequestration in forest, land and agriculture ecosystems</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changes in the energy demand are likely due to climate change and climate vulnerability as well as decrease in energy consumption for heating and increase in energy demand for cooling</a:t>
            </a:r>
            <a:endParaRPr lang="en-IE" sz="1400" kern="100">
              <a:latin typeface="Aptos" panose="020B0004020202020204" pitchFamily="34" charset="0"/>
              <a:ea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a potential threat to business continuity and supply chains </a:t>
            </a: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carbon sinks could become a potential emitter or have at least negative effect until the end of the century due to e.g. new fire territories that have not been impacted thus far or further degradation and reduction/shrinking of carbon sinks</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64063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0C688-C4DA-AB0E-A09A-6070BF58BDFE}"/>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04E66BFE-652F-9C02-BC62-F421B8567894}"/>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5F9D2640-2E8E-D84E-BACE-DEFD7E688533}"/>
              </a:ext>
            </a:extLst>
          </p:cNvPr>
          <p:cNvSpPr txBox="1"/>
          <p:nvPr/>
        </p:nvSpPr>
        <p:spPr>
          <a:xfrm>
            <a:off x="271696" y="200011"/>
            <a:ext cx="10548704" cy="1015663"/>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Key future hazards reported in 2025                                            </a:t>
            </a:r>
            <a:r>
              <a:rPr lang="en-US" sz="2400">
                <a:solidFill>
                  <a:srgbClr val="009999"/>
                </a:solidFill>
                <a:latin typeface="Aptos" panose="020B0004020202020204" pitchFamily="34" charset="0"/>
              </a:rPr>
              <a:t>under Article 19 </a:t>
            </a:r>
            <a:endParaRPr lang="en-US" sz="3600">
              <a:solidFill>
                <a:srgbClr val="009999"/>
              </a:solidFill>
              <a:latin typeface="Aptos" panose="020B0004020202020204" pitchFamily="34" charset="0"/>
            </a:endParaRPr>
          </a:p>
        </p:txBody>
      </p:sp>
      <p:sp>
        <p:nvSpPr>
          <p:cNvPr id="4" name="TextBox 3">
            <a:extLst>
              <a:ext uri="{FF2B5EF4-FFF2-40B4-BE49-F238E27FC236}">
                <a16:creationId xmlns:a16="http://schemas.microsoft.com/office/drawing/2014/main" id="{D7EF13DB-CC3E-E641-FE13-D45DE20BA55B}"/>
              </a:ext>
            </a:extLst>
          </p:cNvPr>
          <p:cNvSpPr txBox="1"/>
          <p:nvPr/>
        </p:nvSpPr>
        <p:spPr>
          <a:xfrm>
            <a:off x="377123" y="1563986"/>
            <a:ext cx="4585816" cy="4001095"/>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1600">
                <a:latin typeface="Aptos" panose="020B0004020202020204" pitchFamily="34" charset="0"/>
              </a:rPr>
              <a:t>In 2025, EU Member States, Iceland, Switzerland and Türkiye continued to report heatwaves, floods, droughts and heavy precipitation as the most frequently-occurring acute climate hazards. </a:t>
            </a:r>
          </a:p>
          <a:p>
            <a:pPr marL="285750" indent="-285750">
              <a:spcBef>
                <a:spcPts val="600"/>
              </a:spcBef>
              <a:spcAft>
                <a:spcPts val="600"/>
              </a:spcAft>
              <a:buFont typeface="Arial" panose="020B0604020202020204" pitchFamily="34" charset="0"/>
              <a:buChar char="•"/>
            </a:pPr>
            <a:r>
              <a:rPr lang="en-US" sz="1600">
                <a:latin typeface="Aptos" panose="020B0004020202020204" pitchFamily="34" charset="0"/>
              </a:rPr>
              <a:t>Chronic hazards remain dominated by changing temperatures and hydrological variability. </a:t>
            </a:r>
            <a:endParaRPr lang="en-US" sz="1600" b="0" i="0">
              <a:effectLst/>
              <a:latin typeface="Aptos" panose="020B0004020202020204" pitchFamily="34" charset="0"/>
            </a:endParaRPr>
          </a:p>
          <a:p>
            <a:pPr marL="285750" indent="-285750">
              <a:spcBef>
                <a:spcPts val="600"/>
              </a:spcBef>
              <a:spcAft>
                <a:spcPts val="600"/>
              </a:spcAft>
              <a:buFont typeface="Arial" panose="020B0604020202020204" pitchFamily="34" charset="0"/>
              <a:buChar char="•"/>
            </a:pPr>
            <a:r>
              <a:rPr lang="en-US" sz="1600" b="0" i="0">
                <a:effectLst/>
                <a:latin typeface="Aptos" panose="020B0004020202020204" pitchFamily="34" charset="0"/>
              </a:rPr>
              <a:t>The reported hazards under Article 17 seem to be in line with those hazards reported under Article 19 of the GovReg on national adaptation actions.</a:t>
            </a:r>
            <a:endParaRPr lang="en-US" sz="1600">
              <a:latin typeface="Aptos" panose="020B0004020202020204" pitchFamily="34" charset="0"/>
            </a:endParaRPr>
          </a:p>
          <a:p>
            <a:pPr marL="285750" indent="-285750">
              <a:spcBef>
                <a:spcPts val="600"/>
              </a:spcBef>
              <a:spcAft>
                <a:spcPts val="600"/>
              </a:spcAft>
              <a:buFont typeface="Arial" panose="020B0604020202020204" pitchFamily="34" charset="0"/>
              <a:buChar char="•"/>
            </a:pPr>
            <a:r>
              <a:rPr lang="en-US" sz="1600" b="0" i="0">
                <a:effectLst/>
                <a:latin typeface="Aptos" panose="020B0004020202020204" pitchFamily="34" charset="0"/>
              </a:rPr>
              <a:t>However, due to the different reporting structure a direct comparison cannot be made.</a:t>
            </a:r>
            <a:endParaRPr lang="en-US" sz="1600">
              <a:latin typeface="Aptos" panose="020B0004020202020204" pitchFamily="34" charset="0"/>
            </a:endParaRPr>
          </a:p>
        </p:txBody>
      </p:sp>
      <p:pic>
        <p:nvPicPr>
          <p:cNvPr id="5" name="Picture 4" descr="A screen shot of a graph&#10;&#10;AI-generated content may be incorrect.">
            <a:extLst>
              <a:ext uri="{FF2B5EF4-FFF2-40B4-BE49-F238E27FC236}">
                <a16:creationId xmlns:a16="http://schemas.microsoft.com/office/drawing/2014/main" id="{7CC62895-2AD9-504D-86D1-1F67EFDBDF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55705" y="1323787"/>
            <a:ext cx="6759172" cy="5256957"/>
          </a:xfrm>
          <a:prstGeom prst="rect">
            <a:avLst/>
          </a:prstGeom>
          <a:noFill/>
          <a:ln>
            <a:noFill/>
          </a:ln>
        </p:spPr>
      </p:pic>
      <p:sp>
        <p:nvSpPr>
          <p:cNvPr id="7" name="TextBox 6">
            <a:extLst>
              <a:ext uri="{FF2B5EF4-FFF2-40B4-BE49-F238E27FC236}">
                <a16:creationId xmlns:a16="http://schemas.microsoft.com/office/drawing/2014/main" id="{146A9046-89AD-9C80-6168-965640E59D2D}"/>
              </a:ext>
            </a:extLst>
          </p:cNvPr>
          <p:cNvSpPr txBox="1"/>
          <p:nvPr/>
        </p:nvSpPr>
        <p:spPr>
          <a:xfrm>
            <a:off x="159026" y="6357801"/>
            <a:ext cx="6096000" cy="276999"/>
          </a:xfrm>
          <a:prstGeom prst="rect">
            <a:avLst/>
          </a:prstGeom>
          <a:noFill/>
        </p:spPr>
        <p:txBody>
          <a:bodyPr wrap="square">
            <a:spAutoFit/>
          </a:bodyPr>
          <a:lstStyle/>
          <a:p>
            <a:r>
              <a:rPr lang="en-US" sz="1200" u="sng">
                <a:solidFill>
                  <a:srgbClr val="0563C1"/>
                </a:solidFill>
                <a:effectLst/>
                <a:latin typeface="Aptos" panose="020B0004020202020204" pitchFamily="34" charset="0"/>
                <a:ea typeface="ヒラギノ角ゴ Pro W3"/>
                <a:cs typeface="Times New Roman" panose="02020603050405020304" pitchFamily="18" charset="0"/>
                <a:hlinkClick r:id="rId3"/>
              </a:rPr>
              <a:t>National climate change adaptation planning and strategies, EU Dataset</a:t>
            </a:r>
            <a:r>
              <a:rPr lang="en-GB" sz="1200">
                <a:effectLst/>
                <a:latin typeface="Aptos" panose="020B0004020202020204" pitchFamily="34" charset="0"/>
                <a:ea typeface="ヒラギノ角ゴ Pro W3"/>
                <a:cs typeface="Times New Roman" panose="02020603050405020304" pitchFamily="18" charset="0"/>
              </a:rPr>
              <a:t> </a:t>
            </a:r>
            <a:endParaRPr lang="en-GB" sz="1200">
              <a:latin typeface="Aptos" panose="020B0004020202020204" pitchFamily="34" charset="0"/>
            </a:endParaRPr>
          </a:p>
        </p:txBody>
      </p:sp>
      <p:sp>
        <p:nvSpPr>
          <p:cNvPr id="8" name="TextBox 7">
            <a:extLst>
              <a:ext uri="{FF2B5EF4-FFF2-40B4-BE49-F238E27FC236}">
                <a16:creationId xmlns:a16="http://schemas.microsoft.com/office/drawing/2014/main" id="{BA4B44CB-476B-B530-A6ED-220CDE6AC446}"/>
              </a:ext>
            </a:extLst>
          </p:cNvPr>
          <p:cNvSpPr txBox="1"/>
          <p:nvPr/>
        </p:nvSpPr>
        <p:spPr>
          <a:xfrm>
            <a:off x="159026" y="5896136"/>
            <a:ext cx="4896679" cy="46166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200" u="sng" kern="1200">
                <a:solidFill>
                  <a:srgbClr val="9E84B6"/>
                </a:solidFill>
                <a:effectLst/>
                <a:latin typeface="Aptos" panose="020B0004020202020204" pitchFamily="34" charset="0"/>
              </a:rPr>
              <a:t>EEA (2025): </a:t>
            </a:r>
            <a:r>
              <a:rPr lang="en-GB" sz="1200" u="sng" kern="1200">
                <a:solidFill>
                  <a:srgbClr val="9E84B6"/>
                </a:solidFill>
                <a:effectLst/>
                <a:latin typeface="Aptos" panose="020B0004020202020204" pitchFamily="34" charset="0"/>
              </a:rPr>
              <a:t>From adaptation planning to action: Insights into progress and challenges across Europe (publication in November 2025)</a:t>
            </a:r>
          </a:p>
        </p:txBody>
      </p:sp>
    </p:spTree>
    <p:extLst>
      <p:ext uri="{BB962C8B-B14F-4D97-AF65-F5344CB8AC3E}">
        <p14:creationId xmlns:p14="http://schemas.microsoft.com/office/powerpoint/2010/main" val="1166433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DCDF7-608E-0EC4-E048-B8CC5BB34AA4}"/>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FFB161A-6E95-4C7A-2BC6-E44630FEE59E}"/>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4" name="Picture 3">
            <a:extLst>
              <a:ext uri="{FF2B5EF4-FFF2-40B4-BE49-F238E27FC236}">
                <a16:creationId xmlns:a16="http://schemas.microsoft.com/office/drawing/2014/main" id="{DFE7B923-AA6F-7CDC-5D2B-17A5C0243A8A}"/>
              </a:ext>
            </a:extLst>
          </p:cNvPr>
          <p:cNvPicPr>
            <a:picLocks noChangeAspect="1"/>
          </p:cNvPicPr>
          <p:nvPr/>
        </p:nvPicPr>
        <p:blipFill>
          <a:blip r:embed="rId2"/>
          <a:stretch>
            <a:fillRect/>
          </a:stretch>
        </p:blipFill>
        <p:spPr>
          <a:xfrm>
            <a:off x="5174166" y="1455038"/>
            <a:ext cx="6895586" cy="4866515"/>
          </a:xfrm>
          <a:prstGeom prst="rect">
            <a:avLst/>
          </a:prstGeom>
        </p:spPr>
      </p:pic>
      <p:sp>
        <p:nvSpPr>
          <p:cNvPr id="5" name="TextBox 4">
            <a:extLst>
              <a:ext uri="{FF2B5EF4-FFF2-40B4-BE49-F238E27FC236}">
                <a16:creationId xmlns:a16="http://schemas.microsoft.com/office/drawing/2014/main" id="{794B4B8F-1A56-917D-8F36-03BB29E56A71}"/>
              </a:ext>
            </a:extLst>
          </p:cNvPr>
          <p:cNvSpPr txBox="1"/>
          <p:nvPr/>
        </p:nvSpPr>
        <p:spPr>
          <a:xfrm>
            <a:off x="208156" y="253948"/>
            <a:ext cx="6096000" cy="646331"/>
          </a:xfrm>
          <a:prstGeom prst="rect">
            <a:avLst/>
          </a:prstGeom>
          <a:noFill/>
        </p:spPr>
        <p:txBody>
          <a:bodyPr wrap="square">
            <a:spAutoFit/>
          </a:bodyPr>
          <a:lstStyle/>
          <a:p>
            <a:r>
              <a:rPr lang="en-GB" sz="3600">
                <a:solidFill>
                  <a:srgbClr val="009999"/>
                </a:solidFill>
                <a:latin typeface="Aptos" panose="020B0004020202020204" pitchFamily="34" charset="0"/>
              </a:rPr>
              <a:t>Strategies and plans</a:t>
            </a:r>
          </a:p>
        </p:txBody>
      </p:sp>
      <p:sp>
        <p:nvSpPr>
          <p:cNvPr id="7" name="TextBox 6">
            <a:extLst>
              <a:ext uri="{FF2B5EF4-FFF2-40B4-BE49-F238E27FC236}">
                <a16:creationId xmlns:a16="http://schemas.microsoft.com/office/drawing/2014/main" id="{CA77209F-FBA1-69C4-E0FA-D8F6C43EE602}"/>
              </a:ext>
            </a:extLst>
          </p:cNvPr>
          <p:cNvSpPr txBox="1"/>
          <p:nvPr/>
        </p:nvSpPr>
        <p:spPr>
          <a:xfrm>
            <a:off x="208156" y="1050940"/>
            <a:ext cx="4759609" cy="5338962"/>
          </a:xfrm>
          <a:prstGeom prst="rect">
            <a:avLst/>
          </a:prstGeom>
          <a:noFill/>
        </p:spPr>
        <p:txBody>
          <a:bodyPr wrap="square">
            <a:spAutoFit/>
          </a:bodyPr>
          <a:lstStyle/>
          <a:p>
            <a:pPr algn="just">
              <a:lnSpc>
                <a:spcPct val="107000"/>
              </a:lnSpc>
              <a:spcBef>
                <a:spcPts val="600"/>
              </a:spcBef>
              <a:spcAft>
                <a:spcPts val="600"/>
              </a:spcAft>
              <a:buNone/>
            </a:pPr>
            <a:r>
              <a:rPr lang="en-IE" kern="100">
                <a:solidFill>
                  <a:srgbClr val="004B7F"/>
                </a:solidFill>
                <a:effectLst/>
                <a:latin typeface="Aptos" panose="020B0004020202020204" pitchFamily="34" charset="0"/>
                <a:ea typeface="Aptos" panose="020B0004020202020204" pitchFamily="34" charset="0"/>
                <a:cs typeface="Times New Roman" panose="02020603050405020304" pitchFamily="18" charset="0"/>
              </a:rPr>
              <a:t>Adaptation goals </a:t>
            </a:r>
            <a:endParaRPr lang="en-GB" kern="100">
              <a:solidFill>
                <a:srgbClr val="004B7F"/>
              </a:solidFill>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Two main approaches across MS:</a:t>
            </a:r>
          </a:p>
          <a:p>
            <a:pPr marL="742950" lvl="1" indent="-285750" algn="just">
              <a:buFont typeface="Arial" panose="020B0604020202020204" pitchFamily="34" charset="0"/>
              <a:buChar char="•"/>
            </a:pPr>
            <a:r>
              <a:rPr lang="en-IE" sz="1400">
                <a:latin typeface="Aptos" panose="020B0004020202020204" pitchFamily="34" charset="0"/>
              </a:rPr>
              <a:t>some refer broadly to adaptation documents and overarching goals</a:t>
            </a:r>
          </a:p>
          <a:p>
            <a:pPr marL="742950" lvl="1" indent="-285750" algn="just">
              <a:buFont typeface="Arial" panose="020B0604020202020204" pitchFamily="34" charset="0"/>
              <a:buChar char="•"/>
            </a:pPr>
            <a:r>
              <a:rPr lang="en-IE" sz="1400">
                <a:latin typeface="Aptos" panose="020B0004020202020204" pitchFamily="34" charset="0"/>
              </a:rPr>
              <a:t>others provide a more detailed listing of sectors, sectoral goals relevant for the Energy Union, based on their national assessments or strategies</a:t>
            </a:r>
          </a:p>
          <a:p>
            <a:pPr lvl="1" algn="just"/>
            <a:endParaRPr lang="en-GB" sz="1400">
              <a:latin typeface="Aptos" panose="020B0004020202020204" pitchFamily="34" charset="0"/>
            </a:endParaRPr>
          </a:p>
          <a:p>
            <a:pPr marL="285750" indent="-285750" algn="just">
              <a:spcBef>
                <a:spcPts val="600"/>
              </a:spcBef>
              <a:spcAft>
                <a:spcPts val="600"/>
              </a:spcAft>
              <a:buFont typeface="Arial" panose="020B0604020202020204" pitchFamily="34" charset="0"/>
              <a:buChar char="•"/>
            </a:pPr>
            <a:r>
              <a:rPr lang="en-IE" sz="1400" kern="100">
                <a:effectLst/>
                <a:latin typeface="Aptos" panose="020B0004020202020204" pitchFamily="34" charset="0"/>
                <a:ea typeface="Times New Roman" panose="02020603050405020304" pitchFamily="18" charset="0"/>
                <a:cs typeface="Times New Roman" panose="02020603050405020304" pitchFamily="18" charset="0"/>
              </a:rPr>
              <a:t>without describing specificities regarding the decarbonisation dimension</a:t>
            </a:r>
            <a:endParaRPr lang="en-IE" sz="1400" kern="100">
              <a:latin typeface="Aptos" panose="020B0004020202020204" pitchFamily="34" charset="0"/>
              <a:ea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many MS identify priority sectors as listed in their NECPs or by referencing sectoral focus areas from their national adaptation policies</a:t>
            </a:r>
          </a:p>
          <a:p>
            <a:pPr marL="285750" indent="-285750" algn="just">
              <a:spcBef>
                <a:spcPts val="600"/>
              </a:spcBef>
              <a:spcAft>
                <a:spcPts val="600"/>
              </a:spcAft>
              <a:buFont typeface="Arial" panose="020B0604020202020204" pitchFamily="34" charset="0"/>
              <a:buChar char="•"/>
            </a:pPr>
            <a:r>
              <a:rPr lang="en-IE" sz="1400">
                <a:latin typeface="Aptos" panose="020B0004020202020204" pitchFamily="34" charset="0"/>
              </a:rPr>
              <a:t>energy sector; agriculture; forestry; the urban environment and buildings; water management; coastal protection; nature and biodiversity; infrastructure, transport, and land use; circular economy; disaster risk management and reduction of economic losses; tourism and cultural heritage</a:t>
            </a:r>
          </a:p>
          <a:p>
            <a:pPr marL="285750" indent="-285750" algn="just">
              <a:lnSpc>
                <a:spcPct val="115000"/>
              </a:lnSpc>
              <a:spcBef>
                <a:spcPts val="600"/>
              </a:spcBef>
              <a:spcAft>
                <a:spcPts val="600"/>
              </a:spcAft>
              <a:buFont typeface="Arial" panose="020B0604020202020204" pitchFamily="34" charset="0"/>
              <a:buChar char="•"/>
            </a:pP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71256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79B2-54E2-DB90-83D1-9A68EFD10F1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F6511F5F-1503-A540-55A5-3873BB1EA6F4}"/>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3" name="Picture 2">
            <a:extLst>
              <a:ext uri="{FF2B5EF4-FFF2-40B4-BE49-F238E27FC236}">
                <a16:creationId xmlns:a16="http://schemas.microsoft.com/office/drawing/2014/main" id="{1E26E083-3CC4-EB8F-3790-9E993F4C9D5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1269" y="1464366"/>
            <a:ext cx="6970617" cy="4481057"/>
          </a:xfrm>
          <a:prstGeom prst="rect">
            <a:avLst/>
          </a:prstGeom>
          <a:noFill/>
          <a:ln>
            <a:noFill/>
          </a:ln>
        </p:spPr>
      </p:pic>
      <p:sp>
        <p:nvSpPr>
          <p:cNvPr id="4" name="TextBox 3">
            <a:extLst>
              <a:ext uri="{FF2B5EF4-FFF2-40B4-BE49-F238E27FC236}">
                <a16:creationId xmlns:a16="http://schemas.microsoft.com/office/drawing/2014/main" id="{A2177223-ADD4-22A7-5048-1230EE6807D0}"/>
              </a:ext>
            </a:extLst>
          </p:cNvPr>
          <p:cNvSpPr txBox="1"/>
          <p:nvPr/>
        </p:nvSpPr>
        <p:spPr>
          <a:xfrm>
            <a:off x="159026" y="6357801"/>
            <a:ext cx="6096000" cy="276999"/>
          </a:xfrm>
          <a:prstGeom prst="rect">
            <a:avLst/>
          </a:prstGeom>
          <a:noFill/>
        </p:spPr>
        <p:txBody>
          <a:bodyPr wrap="square">
            <a:spAutoFit/>
          </a:bodyPr>
          <a:lstStyle/>
          <a:p>
            <a:r>
              <a:rPr lang="en-US" sz="1200" u="sng">
                <a:solidFill>
                  <a:srgbClr val="0563C1"/>
                </a:solidFill>
                <a:effectLst/>
                <a:latin typeface="Aptos" panose="020B0004020202020204" pitchFamily="34" charset="0"/>
                <a:ea typeface="ヒラギノ角ゴ Pro W3"/>
                <a:cs typeface="Times New Roman" panose="02020603050405020304" pitchFamily="18" charset="0"/>
                <a:hlinkClick r:id="rId3"/>
              </a:rPr>
              <a:t>National climate change adaptation planning and strategies, EU Dataset</a:t>
            </a:r>
            <a:r>
              <a:rPr lang="en-GB" sz="1200">
                <a:effectLst/>
                <a:latin typeface="Aptos" panose="020B0004020202020204" pitchFamily="34" charset="0"/>
                <a:ea typeface="ヒラギノ角ゴ Pro W3"/>
                <a:cs typeface="Times New Roman" panose="02020603050405020304" pitchFamily="18" charset="0"/>
              </a:rPr>
              <a:t> </a:t>
            </a:r>
            <a:endParaRPr lang="en-GB" sz="1200">
              <a:latin typeface="Aptos" panose="020B0004020202020204" pitchFamily="34" charset="0"/>
            </a:endParaRPr>
          </a:p>
        </p:txBody>
      </p:sp>
      <p:sp>
        <p:nvSpPr>
          <p:cNvPr id="5" name="TextBox 4">
            <a:extLst>
              <a:ext uri="{FF2B5EF4-FFF2-40B4-BE49-F238E27FC236}">
                <a16:creationId xmlns:a16="http://schemas.microsoft.com/office/drawing/2014/main" id="{0F01860A-7E4F-8181-8B80-AFF7A1CC4F59}"/>
              </a:ext>
            </a:extLst>
          </p:cNvPr>
          <p:cNvSpPr txBox="1"/>
          <p:nvPr/>
        </p:nvSpPr>
        <p:spPr>
          <a:xfrm>
            <a:off x="271696" y="200011"/>
            <a:ext cx="10548704" cy="1015663"/>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Key affected sectors reported in 2025                                            </a:t>
            </a:r>
            <a:r>
              <a:rPr lang="en-US" sz="2400">
                <a:solidFill>
                  <a:srgbClr val="009999"/>
                </a:solidFill>
                <a:latin typeface="Aptos" panose="020B0004020202020204" pitchFamily="34" charset="0"/>
              </a:rPr>
              <a:t>under Article 19 </a:t>
            </a:r>
            <a:endParaRPr lang="en-US" sz="3600">
              <a:solidFill>
                <a:srgbClr val="009999"/>
              </a:solidFill>
              <a:latin typeface="Aptos" panose="020B0004020202020204" pitchFamily="34" charset="0"/>
            </a:endParaRPr>
          </a:p>
        </p:txBody>
      </p:sp>
      <p:sp>
        <p:nvSpPr>
          <p:cNvPr id="9" name="TextBox 8">
            <a:extLst>
              <a:ext uri="{FF2B5EF4-FFF2-40B4-BE49-F238E27FC236}">
                <a16:creationId xmlns:a16="http://schemas.microsoft.com/office/drawing/2014/main" id="{B055D423-3D5C-DBFF-1493-926575336722}"/>
              </a:ext>
            </a:extLst>
          </p:cNvPr>
          <p:cNvSpPr txBox="1"/>
          <p:nvPr/>
        </p:nvSpPr>
        <p:spPr>
          <a:xfrm>
            <a:off x="337957" y="1464366"/>
            <a:ext cx="4088269" cy="4247317"/>
          </a:xfrm>
          <a:prstGeom prst="rect">
            <a:avLst/>
          </a:prstGeom>
          <a:noFill/>
        </p:spPr>
        <p:txBody>
          <a:bodyPr wrap="square">
            <a:spAutoFit/>
          </a:bodyPr>
          <a:lstStyle/>
          <a:p>
            <a:pPr marL="285750" lvl="0" indent="-285750">
              <a:spcBef>
                <a:spcPts val="600"/>
              </a:spcBef>
              <a:spcAft>
                <a:spcPts val="600"/>
              </a:spcAft>
              <a:buFont typeface="Arial" panose="020B0604020202020204" pitchFamily="34" charset="0"/>
              <a:buChar char="•"/>
              <a:defRPr/>
            </a:pPr>
            <a:r>
              <a:rPr lang="en-US" sz="1600">
                <a:latin typeface="Aptos" panose="020B0004020202020204" pitchFamily="34" charset="0"/>
              </a:rPr>
              <a:t>In 2025, EU Member States, Iceland, Switzerland and Türkiye reported</a:t>
            </a:r>
            <a:r>
              <a:rPr lang="en-US" sz="1600">
                <a:solidFill>
                  <a:srgbClr val="000000"/>
                </a:solidFill>
                <a:latin typeface="Aptos" panose="020B0004020202020204" pitchFamily="34" charset="0"/>
              </a:rPr>
              <a:t> a</a:t>
            </a:r>
            <a:r>
              <a:rPr kumimoji="0" lang="en-US" sz="1600" b="0" i="0" u="none" strike="noStrike" kern="1200" cap="none" spc="0" normalizeH="0" baseline="0" noProof="0" err="1">
                <a:ln>
                  <a:noFill/>
                </a:ln>
                <a:solidFill>
                  <a:srgbClr val="000000"/>
                </a:solidFill>
                <a:effectLst/>
                <a:uLnTx/>
                <a:uFillTx/>
                <a:latin typeface="Aptos" panose="020B0004020202020204" pitchFamily="34" charset="0"/>
                <a:ea typeface="+mn-ea"/>
                <a:cs typeface="+mn-cs"/>
              </a:rPr>
              <a:t>griculture</a:t>
            </a:r>
            <a:r>
              <a:rPr kumimoji="0" lang="en-US" sz="1600" b="0" i="0" u="none" strike="noStrike" kern="1200" cap="none" spc="0" normalizeH="0" baseline="0" noProof="0">
                <a:ln>
                  <a:noFill/>
                </a:ln>
                <a:solidFill>
                  <a:srgbClr val="000000"/>
                </a:solidFill>
                <a:effectLst/>
                <a:uLnTx/>
                <a:uFillTx/>
                <a:latin typeface="Aptos" panose="020B0004020202020204" pitchFamily="34" charset="0"/>
                <a:ea typeface="+mn-ea"/>
                <a:cs typeface="+mn-cs"/>
              </a:rPr>
              <a:t> and food as the most affected sector.</a:t>
            </a:r>
          </a:p>
          <a:p>
            <a:pPr marL="285750" lvl="0" indent="-285750">
              <a:spcBef>
                <a:spcPts val="600"/>
              </a:spcBef>
              <a:spcAft>
                <a:spcPts val="600"/>
              </a:spcAft>
              <a:buFont typeface="Arial" panose="020B0604020202020204" pitchFamily="34" charset="0"/>
              <a:buChar char="•"/>
              <a:defRPr/>
            </a:pPr>
            <a:r>
              <a:rPr kumimoji="0" lang="en-US" sz="1600" b="0" i="0" u="none" strike="noStrike" kern="1200" cap="none" spc="0" normalizeH="0" baseline="0" noProof="0">
                <a:ln>
                  <a:noFill/>
                </a:ln>
                <a:solidFill>
                  <a:srgbClr val="000000"/>
                </a:solidFill>
                <a:effectLst/>
                <a:uLnTx/>
                <a:uFillTx/>
                <a:latin typeface="Aptos" panose="020B0004020202020204" pitchFamily="34" charset="0"/>
                <a:ea typeface="+mn-ea"/>
                <a:cs typeface="+mn-cs"/>
              </a:rPr>
              <a:t>The health, biodiversity, forestry and energy sectors follow, reflecting a broadening recognition of sectoral vulnerability.</a:t>
            </a:r>
          </a:p>
          <a:p>
            <a:pPr marL="285750" marR="0" lvl="0" indent="-285750" defTabSz="914400" rtl="0" eaLnBrk="1" fontAlgn="auto" latinLnBrk="0" hangingPunct="1">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panose="020B0004020202020204" pitchFamily="34" charset="0"/>
                <a:ea typeface="+mn-ea"/>
                <a:cs typeface="+mn-cs"/>
              </a:rPr>
              <a:t>The reported sectors under Article 17 seem to be in line with those key affected sectors reported under Article 19 of the GovReg on national adaptation actions.</a:t>
            </a:r>
          </a:p>
          <a:p>
            <a:pPr marL="285750" marR="0" lvl="0" indent="-285750" defTabSz="914400" rtl="0" eaLnBrk="1" fontAlgn="auto" latinLnBrk="0" hangingPunct="1">
              <a:spcBef>
                <a:spcPts val="60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ptos" panose="020B0004020202020204" pitchFamily="34" charset="0"/>
                <a:ea typeface="+mn-ea"/>
                <a:cs typeface="+mn-cs"/>
              </a:rPr>
              <a:t>However, due to the different reporting structure a direct comparison cannot be made.</a:t>
            </a:r>
          </a:p>
        </p:txBody>
      </p:sp>
      <p:sp>
        <p:nvSpPr>
          <p:cNvPr id="10" name="TextBox 9">
            <a:extLst>
              <a:ext uri="{FF2B5EF4-FFF2-40B4-BE49-F238E27FC236}">
                <a16:creationId xmlns:a16="http://schemas.microsoft.com/office/drawing/2014/main" id="{F574EF9F-883D-C454-8A82-3FD9E15B5F75}"/>
              </a:ext>
            </a:extLst>
          </p:cNvPr>
          <p:cNvSpPr txBox="1"/>
          <p:nvPr/>
        </p:nvSpPr>
        <p:spPr>
          <a:xfrm>
            <a:off x="159026" y="5896136"/>
            <a:ext cx="4896679" cy="46166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200" u="sng" kern="1200">
                <a:solidFill>
                  <a:srgbClr val="9E84B6"/>
                </a:solidFill>
                <a:effectLst/>
                <a:latin typeface="Aptos" panose="020B0004020202020204" pitchFamily="34" charset="0"/>
              </a:rPr>
              <a:t>EEA (2025): </a:t>
            </a:r>
            <a:r>
              <a:rPr lang="en-GB" sz="1200" u="sng" kern="1200">
                <a:solidFill>
                  <a:srgbClr val="9E84B6"/>
                </a:solidFill>
                <a:effectLst/>
                <a:latin typeface="Aptos" panose="020B0004020202020204" pitchFamily="34" charset="0"/>
              </a:rPr>
              <a:t>From adaptation planning to action: Insights into progress and challenges across Europe (publication in November 2025)</a:t>
            </a:r>
          </a:p>
        </p:txBody>
      </p:sp>
    </p:spTree>
    <p:extLst>
      <p:ext uri="{BB962C8B-B14F-4D97-AF65-F5344CB8AC3E}">
        <p14:creationId xmlns:p14="http://schemas.microsoft.com/office/powerpoint/2010/main" val="1030834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2F221-219A-83FD-71E3-489550E9A342}"/>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82E654DA-C0D2-06E5-EF2D-2B6A2FB75470}"/>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4" name="Picture 3">
            <a:extLst>
              <a:ext uri="{FF2B5EF4-FFF2-40B4-BE49-F238E27FC236}">
                <a16:creationId xmlns:a16="http://schemas.microsoft.com/office/drawing/2014/main" id="{446EBF0B-4622-1C3E-17B2-AA64E1A7CDEC}"/>
              </a:ext>
            </a:extLst>
          </p:cNvPr>
          <p:cNvPicPr>
            <a:picLocks noChangeAspect="1"/>
          </p:cNvPicPr>
          <p:nvPr/>
        </p:nvPicPr>
        <p:blipFill>
          <a:blip r:embed="rId2"/>
          <a:stretch>
            <a:fillRect/>
          </a:stretch>
        </p:blipFill>
        <p:spPr>
          <a:xfrm>
            <a:off x="6229739" y="0"/>
            <a:ext cx="5962261" cy="6858000"/>
          </a:xfrm>
          <a:prstGeom prst="rect">
            <a:avLst/>
          </a:prstGeom>
        </p:spPr>
      </p:pic>
      <p:sp>
        <p:nvSpPr>
          <p:cNvPr id="5" name="TextBox 4">
            <a:extLst>
              <a:ext uri="{FF2B5EF4-FFF2-40B4-BE49-F238E27FC236}">
                <a16:creationId xmlns:a16="http://schemas.microsoft.com/office/drawing/2014/main" id="{4C192A53-9C23-34A4-49E8-310E6D7A037F}"/>
              </a:ext>
            </a:extLst>
          </p:cNvPr>
          <p:cNvSpPr txBox="1"/>
          <p:nvPr/>
        </p:nvSpPr>
        <p:spPr>
          <a:xfrm>
            <a:off x="208156" y="253948"/>
            <a:ext cx="6096000" cy="646331"/>
          </a:xfrm>
          <a:prstGeom prst="rect">
            <a:avLst/>
          </a:prstGeom>
          <a:noFill/>
        </p:spPr>
        <p:txBody>
          <a:bodyPr wrap="square">
            <a:spAutoFit/>
          </a:bodyPr>
          <a:lstStyle/>
          <a:p>
            <a:r>
              <a:rPr lang="en-GB" sz="3600">
                <a:solidFill>
                  <a:srgbClr val="009999"/>
                </a:solidFill>
                <a:latin typeface="Aptos" panose="020B0004020202020204" pitchFamily="34" charset="0"/>
              </a:rPr>
              <a:t>Monitoring and evaluation</a:t>
            </a:r>
          </a:p>
        </p:txBody>
      </p:sp>
      <p:sp>
        <p:nvSpPr>
          <p:cNvPr id="7" name="TextBox 6">
            <a:extLst>
              <a:ext uri="{FF2B5EF4-FFF2-40B4-BE49-F238E27FC236}">
                <a16:creationId xmlns:a16="http://schemas.microsoft.com/office/drawing/2014/main" id="{FDDE34B3-94E3-1510-E868-87B19C10B31B}"/>
              </a:ext>
            </a:extLst>
          </p:cNvPr>
          <p:cNvSpPr txBox="1"/>
          <p:nvPr/>
        </p:nvSpPr>
        <p:spPr>
          <a:xfrm>
            <a:off x="277502" y="1003640"/>
            <a:ext cx="5818498" cy="5594096"/>
          </a:xfrm>
          <a:prstGeom prst="rect">
            <a:avLst/>
          </a:prstGeom>
          <a:noFill/>
        </p:spPr>
        <p:txBody>
          <a:bodyPr wrap="square">
            <a:spAutoFit/>
          </a:bodyPr>
          <a:lstStyle/>
          <a:p>
            <a:pPr>
              <a:lnSpc>
                <a:spcPct val="107000"/>
              </a:lnSpc>
              <a:spcBef>
                <a:spcPts val="600"/>
              </a:spcBef>
              <a:spcAft>
                <a:spcPts val="600"/>
              </a:spcAft>
              <a:buNone/>
            </a:pPr>
            <a:r>
              <a:rPr lang="en-IE" kern="100">
                <a:solidFill>
                  <a:srgbClr val="004B7F"/>
                </a:solidFill>
                <a:effectLst/>
                <a:latin typeface="Aptos" panose="020B0004020202020204" pitchFamily="34" charset="0"/>
                <a:ea typeface="Aptos" panose="020B0004020202020204" pitchFamily="34" charset="0"/>
                <a:cs typeface="Times New Roman" panose="02020603050405020304" pitchFamily="18" charset="0"/>
              </a:rPr>
              <a:t>Progress of implementation towards meeting the adaptation goals</a:t>
            </a:r>
            <a:endParaRPr lang="en-GB" kern="100">
              <a:solidFill>
                <a:srgbClr val="004B7F"/>
              </a:solidFill>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kern="100">
                <a:latin typeface="Aptos" panose="020B0004020202020204" pitchFamily="34" charset="0"/>
                <a:ea typeface="Aptos" panose="020B0004020202020204" pitchFamily="34" charset="0"/>
                <a:cs typeface="Times New Roman" panose="02020603050405020304" pitchFamily="18" charset="0"/>
              </a:rPr>
              <a:t>C</a:t>
            </a:r>
            <a:r>
              <a:rPr lang="en-IE" sz="1400" kern="100">
                <a:effectLst/>
                <a:latin typeface="Aptos" panose="020B0004020202020204" pitchFamily="34" charset="0"/>
                <a:ea typeface="Aptos" panose="020B0004020202020204" pitchFamily="34" charset="0"/>
                <a:cs typeface="Times New Roman" panose="02020603050405020304" pitchFamily="18" charset="0"/>
              </a:rPr>
              <a:t>onsiderable variation in the data quality, availability and maturity of assessments:</a:t>
            </a:r>
            <a:endParaRPr lang="en-IE" sz="1400" kern="100">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buFont typeface="Arial" panose="020B0604020202020204" pitchFamily="34" charset="0"/>
              <a:buChar char="•"/>
            </a:pPr>
            <a:r>
              <a:rPr lang="en-IE" sz="1400" kern="100">
                <a:latin typeface="Aptos" panose="020B0004020202020204" pitchFamily="34" charset="0"/>
                <a:ea typeface="Aptos" panose="020B0004020202020204" pitchFamily="34" charset="0"/>
                <a:cs typeface="Times New Roman" panose="02020603050405020304" pitchFamily="18" charset="0"/>
              </a:rPr>
              <a:t>n</a:t>
            </a:r>
            <a:r>
              <a:rPr lang="en-IE" sz="1400" kern="100">
                <a:effectLst/>
                <a:latin typeface="Aptos" panose="020B0004020202020204" pitchFamily="34" charset="0"/>
                <a:ea typeface="Aptos" panose="020B0004020202020204" pitchFamily="34" charset="0"/>
                <a:cs typeface="Times New Roman" panose="02020603050405020304" pitchFamily="18" charset="0"/>
              </a:rPr>
              <a:t>o report on concrete progress towards adaptation goals</a:t>
            </a:r>
            <a:endParaRPr lang="en-IE" sz="1400" kern="100">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progress assessments are under way, with results not yet available</a:t>
            </a: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missing adaptation goals in NECPs</a:t>
            </a:r>
            <a:r>
              <a:rPr lang="en-IE" sz="1400" kern="100">
                <a:latin typeface="Aptos" panose="020B0004020202020204" pitchFamily="34" charset="0"/>
                <a:ea typeface="Aptos" panose="020B0004020202020204" pitchFamily="34" charset="0"/>
                <a:cs typeface="Times New Roman" panose="02020603050405020304" pitchFamily="18" charset="0"/>
              </a:rPr>
              <a:t> </a:t>
            </a: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thorough methodology or systems to monitor and evaluate the implementation of the NECPs, or national adaptation policies not yet established. </a:t>
            </a: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progress assessments are still under development or expected soon.</a:t>
            </a:r>
          </a:p>
          <a:p>
            <a:pPr marL="742950" lvl="1" indent="-285750" algn="just">
              <a:buFont typeface="Arial" panose="020B0604020202020204" pitchFamily="34" charset="0"/>
              <a:buChar char="•"/>
            </a:pP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en-IE" sz="1400" kern="100">
                <a:latin typeface="Aptos" panose="020B0004020202020204" pitchFamily="34" charset="0"/>
                <a:ea typeface="Aptos" panose="020B0004020202020204" pitchFamily="34" charset="0"/>
                <a:cs typeface="Times New Roman" panose="02020603050405020304" pitchFamily="18" charset="0"/>
              </a:rPr>
              <a:t>R</a:t>
            </a:r>
            <a:r>
              <a:rPr lang="en-IE" sz="1400" kern="100">
                <a:effectLst/>
                <a:latin typeface="Aptos" panose="020B0004020202020204" pitchFamily="34" charset="0"/>
                <a:ea typeface="Aptos" panose="020B0004020202020204" pitchFamily="34" charset="0"/>
                <a:cs typeface="Times New Roman" panose="02020603050405020304" pitchFamily="18" charset="0"/>
              </a:rPr>
              <a:t>eference to the implementation of national adaptation policies as evidence of progress:</a:t>
            </a: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implementation of adaptation measures is underway,</a:t>
            </a:r>
          </a:p>
          <a:p>
            <a:pPr marL="742950" lvl="1" indent="-285750" algn="just">
              <a:buFont typeface="Arial" panose="020B0604020202020204" pitchFamily="34" charset="0"/>
              <a:buChar char="•"/>
            </a:pPr>
            <a:r>
              <a:rPr lang="en-IE" sz="1400" kern="100">
                <a:effectLst/>
                <a:latin typeface="Aptos" panose="020B0004020202020204" pitchFamily="34" charset="0"/>
                <a:ea typeface="Aptos" panose="020B0004020202020204" pitchFamily="34" charset="0"/>
                <a:cs typeface="Times New Roman" panose="02020603050405020304" pitchFamily="18" charset="0"/>
              </a:rPr>
              <a:t>established structures are in place or being set up to monitor progress towards adaptation goals. </a:t>
            </a:r>
            <a:endParaRPr lang="en-IE" sz="1400" kern="100">
              <a:latin typeface="Aptos" panose="020B0004020202020204" pitchFamily="34" charset="0"/>
              <a:ea typeface="Aptos" panose="020B0004020202020204" pitchFamily="34" charset="0"/>
              <a:cs typeface="Times New Roman" panose="02020603050405020304" pitchFamily="18" charset="0"/>
            </a:endParaRPr>
          </a:p>
          <a:p>
            <a:pPr marL="742950" lvl="1" indent="-285750" algn="just">
              <a:buFont typeface="Arial" panose="020B0604020202020204" pitchFamily="34" charset="0"/>
              <a:buChar char="•"/>
            </a:pPr>
            <a:r>
              <a:rPr lang="en-IE" sz="1400" kern="100">
                <a:latin typeface="Aptos" panose="020B0004020202020204" pitchFamily="34" charset="0"/>
                <a:ea typeface="Aptos" panose="020B0004020202020204" pitchFamily="34" charset="0"/>
                <a:cs typeface="Times New Roman" panose="02020603050405020304" pitchFamily="18" charset="0"/>
              </a:rPr>
              <a:t>e</a:t>
            </a:r>
            <a:r>
              <a:rPr lang="en-IE" sz="1400" kern="100">
                <a:effectLst/>
                <a:latin typeface="Aptos" panose="020B0004020202020204" pitchFamily="34" charset="0"/>
                <a:ea typeface="Aptos" panose="020B0004020202020204" pitchFamily="34" charset="0"/>
                <a:cs typeface="Times New Roman" panose="02020603050405020304" pitchFamily="18" charset="0"/>
              </a:rPr>
              <a:t>xpectation that ongoing activities - implementation of projects or establishment of institutional processes - are expected to contribute to progress </a:t>
            </a:r>
            <a:r>
              <a:rPr lang="en-IE" sz="1400" kern="100">
                <a:latin typeface="Aptos" panose="020B0004020202020204" pitchFamily="34" charset="0"/>
                <a:ea typeface="Aptos" panose="020B0004020202020204" pitchFamily="34" charset="0"/>
                <a:cs typeface="Times New Roman" panose="02020603050405020304" pitchFamily="18" charset="0"/>
              </a:rPr>
              <a:t>in</a:t>
            </a:r>
            <a:r>
              <a:rPr lang="en-IE" sz="1400" kern="100">
                <a:effectLst/>
                <a:latin typeface="Aptos" panose="020B0004020202020204" pitchFamily="34" charset="0"/>
                <a:ea typeface="Aptos" panose="020B0004020202020204" pitchFamily="34" charset="0"/>
                <a:cs typeface="Times New Roman" panose="02020603050405020304" pitchFamily="18" charset="0"/>
              </a:rPr>
              <a:t> achieving adaptation goals, even if these are not presented as formal progress assessments</a:t>
            </a:r>
            <a:endParaRPr lang="en-GB" sz="1400" kern="10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99882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1F9B-CFF3-51AA-ABAC-CDD422E9FB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F2326A-E4BE-DE7E-AEE6-85F4AEE85D5C}"/>
              </a:ext>
            </a:extLst>
          </p:cNvPr>
          <p:cNvSpPr txBox="1"/>
          <p:nvPr/>
        </p:nvSpPr>
        <p:spPr>
          <a:xfrm>
            <a:off x="-83646" y="3972525"/>
            <a:ext cx="12275646" cy="646331"/>
          </a:xfrm>
          <a:prstGeom prst="rect">
            <a:avLst/>
          </a:prstGeom>
          <a:noFill/>
        </p:spPr>
        <p:txBody>
          <a:bodyPr wrap="square" lIns="91440" tIns="45720" rIns="91440" bIns="45720" anchor="t">
            <a:spAutoFit/>
          </a:bodyPr>
          <a:lstStyle/>
          <a:p>
            <a:pPr algn="ctr"/>
            <a:r>
              <a:rPr lang="en-US" sz="3600">
                <a:solidFill>
                  <a:schemeClr val="bg1"/>
                </a:solidFill>
                <a:latin typeface="Aptos" panose="020B0004020202020204" pitchFamily="34" charset="0"/>
              </a:rPr>
              <a:t>Key takeaways</a:t>
            </a:r>
            <a:endParaRPr lang="en-GB" sz="3600">
              <a:solidFill>
                <a:schemeClr val="bg1"/>
              </a:solidFill>
              <a:latin typeface="Aptos" panose="020B0004020202020204" pitchFamily="34" charset="0"/>
            </a:endParaRPr>
          </a:p>
        </p:txBody>
      </p:sp>
      <p:pic>
        <p:nvPicPr>
          <p:cNvPr id="5" name="Graphic 4" descr="Tricycle outline">
            <a:extLst>
              <a:ext uri="{FF2B5EF4-FFF2-40B4-BE49-F238E27FC236}">
                <a16:creationId xmlns:a16="http://schemas.microsoft.com/office/drawing/2014/main" id="{2EA4CC58-0C95-B470-C8C1-11773DDEA4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9656" y="2318654"/>
            <a:ext cx="1789044" cy="1789044"/>
          </a:xfrm>
          <a:prstGeom prst="rect">
            <a:avLst/>
          </a:prstGeom>
        </p:spPr>
      </p:pic>
    </p:spTree>
    <p:extLst>
      <p:ext uri="{BB962C8B-B14F-4D97-AF65-F5344CB8AC3E}">
        <p14:creationId xmlns:p14="http://schemas.microsoft.com/office/powerpoint/2010/main" val="1498730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EB665-6085-766E-A3BA-F08FC3F70B81}"/>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99A146D6-9C2F-21B7-7517-C0529E26931D}"/>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1DE18A65-4B87-55CE-51CD-DFDCCF9974AE}"/>
              </a:ext>
            </a:extLst>
          </p:cNvPr>
          <p:cNvSpPr txBox="1"/>
          <p:nvPr/>
        </p:nvSpPr>
        <p:spPr>
          <a:xfrm>
            <a:off x="4638288" y="226777"/>
            <a:ext cx="8656560" cy="646331"/>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Key takeaways</a:t>
            </a:r>
            <a:endParaRPr lang="en-GB" sz="3600">
              <a:solidFill>
                <a:srgbClr val="009999"/>
              </a:solidFill>
              <a:latin typeface="Aptos" panose="020B0004020202020204" pitchFamily="34" charset="0"/>
            </a:endParaRPr>
          </a:p>
        </p:txBody>
      </p:sp>
      <p:sp>
        <p:nvSpPr>
          <p:cNvPr id="5" name="TextBox 4">
            <a:extLst>
              <a:ext uri="{FF2B5EF4-FFF2-40B4-BE49-F238E27FC236}">
                <a16:creationId xmlns:a16="http://schemas.microsoft.com/office/drawing/2014/main" id="{C0E97D63-5794-3F75-1924-524AD21DE3CD}"/>
              </a:ext>
            </a:extLst>
          </p:cNvPr>
          <p:cNvSpPr txBox="1"/>
          <p:nvPr/>
        </p:nvSpPr>
        <p:spPr>
          <a:xfrm>
            <a:off x="4638288" y="1549602"/>
            <a:ext cx="7103167" cy="4247317"/>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1600" b="0" i="0">
                <a:effectLst/>
                <a:latin typeface="Aptos" panose="020B0004020202020204" pitchFamily="34" charset="0"/>
              </a:rPr>
              <a:t>The reporting shows that Member States’ adaptation goals, defined in their national adaptation policies, are usually not </a:t>
            </a:r>
            <a:r>
              <a:rPr lang="en-US" sz="1600" b="0" i="0" err="1">
                <a:effectLst/>
                <a:latin typeface="Aptos" panose="020B0004020202020204" pitchFamily="34" charset="0"/>
              </a:rPr>
              <a:t>organised</a:t>
            </a:r>
            <a:r>
              <a:rPr lang="en-US" sz="1600" b="0" i="0">
                <a:effectLst/>
                <a:latin typeface="Aptos" panose="020B0004020202020204" pitchFamily="34" charset="0"/>
              </a:rPr>
              <a:t> along the Energy Union dimensions. </a:t>
            </a:r>
          </a:p>
          <a:p>
            <a:pPr marL="285750" indent="-285750" algn="just">
              <a:spcBef>
                <a:spcPts val="600"/>
              </a:spcBef>
              <a:spcAft>
                <a:spcPts val="600"/>
              </a:spcAft>
              <a:buFont typeface="Arial" panose="020B0604020202020204" pitchFamily="34" charset="0"/>
              <a:buChar char="•"/>
            </a:pPr>
            <a:r>
              <a:rPr lang="en-US" sz="1600" b="0" i="0">
                <a:effectLst/>
                <a:latin typeface="Aptos" panose="020B0004020202020204" pitchFamily="34" charset="0"/>
              </a:rPr>
              <a:t>While it is not a requirement to </a:t>
            </a:r>
            <a:r>
              <a:rPr lang="en-US" sz="1600" b="0" i="0" err="1">
                <a:effectLst/>
                <a:latin typeface="Aptos" panose="020B0004020202020204" pitchFamily="34" charset="0"/>
              </a:rPr>
              <a:t>organise</a:t>
            </a:r>
            <a:r>
              <a:rPr lang="en-US" sz="1600" b="0" i="0">
                <a:effectLst/>
                <a:latin typeface="Aptos" panose="020B0004020202020204" pitchFamily="34" charset="0"/>
              </a:rPr>
              <a:t> adaptation goals along the Energy Union dimensions, the NECPs may specify how the included adaptation goals are addressing the Energy Union dimensions, especially </a:t>
            </a:r>
            <a:r>
              <a:rPr lang="en-US" sz="1600" b="0" i="0" err="1">
                <a:effectLst/>
                <a:latin typeface="Aptos" panose="020B0004020202020204" pitchFamily="34" charset="0"/>
              </a:rPr>
              <a:t>decarbonisation</a:t>
            </a:r>
            <a:r>
              <a:rPr lang="en-US" sz="1600" b="0" i="0">
                <a:effectLst/>
                <a:latin typeface="Aptos" panose="020B0004020202020204" pitchFamily="34" charset="0"/>
              </a:rPr>
              <a:t>. </a:t>
            </a:r>
          </a:p>
          <a:p>
            <a:pPr marL="285750" indent="-285750" algn="just">
              <a:spcBef>
                <a:spcPts val="600"/>
              </a:spcBef>
              <a:spcAft>
                <a:spcPts val="600"/>
              </a:spcAft>
              <a:buFont typeface="Arial" panose="020B0604020202020204" pitchFamily="34" charset="0"/>
              <a:buChar char="•"/>
            </a:pPr>
            <a:r>
              <a:rPr lang="en-US" sz="1600">
                <a:latin typeface="Aptos" panose="020B0004020202020204" pitchFamily="34" charset="0"/>
              </a:rPr>
              <a:t>In most EU Member States, monitoring and evaluation frameworks for measuring progress of implementation towards meeting the adaptation goals are under development or are recently implemented. Therefore, reporting is focusing on action implemented.</a:t>
            </a:r>
          </a:p>
          <a:p>
            <a:pPr marL="285750" indent="-285750" algn="just">
              <a:spcBef>
                <a:spcPts val="600"/>
              </a:spcBef>
              <a:spcAft>
                <a:spcPts val="600"/>
              </a:spcAft>
              <a:buFont typeface="Arial" panose="020B0604020202020204" pitchFamily="34" charset="0"/>
              <a:buChar char="•"/>
            </a:pPr>
            <a:r>
              <a:rPr lang="en-US" sz="1600">
                <a:latin typeface="Aptos" panose="020B0004020202020204" pitchFamily="34" charset="0"/>
              </a:rPr>
              <a:t>If operational, these frameworks are mostly structured around adaptation measures outlined in national adaptation strategies or plans, or follow an indicator-based approach, and might not consider synergies with the Energy Union dimensions.</a:t>
            </a:r>
          </a:p>
        </p:txBody>
      </p:sp>
      <p:pic>
        <p:nvPicPr>
          <p:cNvPr id="6" name="Picture 5" descr="A river flowing through a rocky area&#10;&#10;AI-generated content may be incorrect.">
            <a:extLst>
              <a:ext uri="{FF2B5EF4-FFF2-40B4-BE49-F238E27FC236}">
                <a16:creationId xmlns:a16="http://schemas.microsoft.com/office/drawing/2014/main" id="{50DA1F72-FBFD-9595-DBA4-576C053E37E6}"/>
              </a:ext>
            </a:extLst>
          </p:cNvPr>
          <p:cNvPicPr>
            <a:picLocks noChangeAspect="1"/>
          </p:cNvPicPr>
          <p:nvPr/>
        </p:nvPicPr>
        <p:blipFill>
          <a:blip r:embed="rId2"/>
          <a:srcRect l="2672" t="17396" r="63288" b="5279"/>
          <a:stretch>
            <a:fillRect/>
          </a:stretch>
        </p:blipFill>
        <p:spPr>
          <a:xfrm flipH="1">
            <a:off x="0" y="0"/>
            <a:ext cx="4529667" cy="6858000"/>
          </a:xfrm>
          <a:prstGeom prst="rect">
            <a:avLst/>
          </a:prstGeom>
        </p:spPr>
      </p:pic>
      <p:sp>
        <p:nvSpPr>
          <p:cNvPr id="8" name="TextBox 7">
            <a:extLst>
              <a:ext uri="{FF2B5EF4-FFF2-40B4-BE49-F238E27FC236}">
                <a16:creationId xmlns:a16="http://schemas.microsoft.com/office/drawing/2014/main" id="{9F64C986-9796-5BF5-C776-DAC5C65846D8}"/>
              </a:ext>
            </a:extLst>
          </p:cNvPr>
          <p:cNvSpPr txBox="1"/>
          <p:nvPr/>
        </p:nvSpPr>
        <p:spPr>
          <a:xfrm>
            <a:off x="8603312" y="6169558"/>
            <a:ext cx="3480019" cy="461665"/>
          </a:xfrm>
          <a:prstGeom prst="rect">
            <a:avLst/>
          </a:prstGeom>
          <a:noFill/>
        </p:spPr>
        <p:txBody>
          <a:bodyPr wrap="square">
            <a:spAutoFit/>
          </a:bodyPr>
          <a:lstStyle/>
          <a:p>
            <a:pPr algn="r"/>
            <a:r>
              <a:rPr lang="en-US" sz="1200">
                <a:hlinkClick r:id="rId3"/>
              </a:rPr>
              <a:t>Is Europe on track towards climate resilience? Status of reported national adaptation actions in 2023</a:t>
            </a:r>
            <a:endParaRPr lang="en-GB" sz="1200"/>
          </a:p>
        </p:txBody>
      </p:sp>
    </p:spTree>
    <p:extLst>
      <p:ext uri="{BB962C8B-B14F-4D97-AF65-F5344CB8AC3E}">
        <p14:creationId xmlns:p14="http://schemas.microsoft.com/office/powerpoint/2010/main" val="1629421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2BB8A-ED05-C824-D540-A35C69C9123B}"/>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0BCE351-0659-65FF-11C3-0FB7D832A2BD}"/>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E8B7E7E4-4FAD-DDBD-2560-DCC4999F4160}"/>
              </a:ext>
            </a:extLst>
          </p:cNvPr>
          <p:cNvSpPr txBox="1"/>
          <p:nvPr/>
        </p:nvSpPr>
        <p:spPr>
          <a:xfrm>
            <a:off x="4731054" y="359300"/>
            <a:ext cx="8656560" cy="646331"/>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K</a:t>
            </a:r>
            <a:r>
              <a:rPr lang="en-GB" sz="3600" err="1">
                <a:solidFill>
                  <a:srgbClr val="009999"/>
                </a:solidFill>
                <a:latin typeface="Aptos" panose="020B0004020202020204" pitchFamily="34" charset="0"/>
              </a:rPr>
              <a:t>ey</a:t>
            </a:r>
            <a:r>
              <a:rPr lang="en-GB" sz="3600">
                <a:solidFill>
                  <a:srgbClr val="009999"/>
                </a:solidFill>
                <a:latin typeface="Aptos" panose="020B0004020202020204" pitchFamily="34" charset="0"/>
              </a:rPr>
              <a:t> takeaways </a:t>
            </a:r>
          </a:p>
        </p:txBody>
      </p:sp>
      <p:sp>
        <p:nvSpPr>
          <p:cNvPr id="6" name="TextBox 5">
            <a:extLst>
              <a:ext uri="{FF2B5EF4-FFF2-40B4-BE49-F238E27FC236}">
                <a16:creationId xmlns:a16="http://schemas.microsoft.com/office/drawing/2014/main" id="{503EAE62-4665-37DF-EA19-DC4B77EF1BFC}"/>
              </a:ext>
            </a:extLst>
          </p:cNvPr>
          <p:cNvSpPr txBox="1"/>
          <p:nvPr/>
        </p:nvSpPr>
        <p:spPr>
          <a:xfrm>
            <a:off x="4731054" y="1475287"/>
            <a:ext cx="7096879" cy="4708981"/>
          </a:xfrm>
          <a:prstGeom prst="rect">
            <a:avLst/>
          </a:prstGeom>
          <a:noFill/>
        </p:spPr>
        <p:txBody>
          <a:bodyPr wrap="square">
            <a:spAutoFit/>
          </a:bodyPr>
          <a:lstStyle/>
          <a:p>
            <a:pPr marL="342900" indent="-342900" algn="just">
              <a:spcBef>
                <a:spcPts val="600"/>
              </a:spcBef>
              <a:spcAft>
                <a:spcPts val="600"/>
              </a:spcAft>
              <a:buFont typeface="Arial" panose="020B0604020202020204" pitchFamily="34" charset="0"/>
              <a:buChar char="•"/>
              <a:defRPr/>
            </a:pPr>
            <a:r>
              <a:rPr lang="en-US" sz="1600">
                <a:latin typeface="Aptos" panose="020B0004020202020204" pitchFamily="34" charset="0"/>
              </a:rPr>
              <a:t>2025 - A mixed picture of Member States’ efforts. </a:t>
            </a:r>
          </a:p>
          <a:p>
            <a:pPr marL="342900" indent="-342900" algn="just">
              <a:spcBef>
                <a:spcPts val="600"/>
              </a:spcBef>
              <a:spcAft>
                <a:spcPts val="600"/>
              </a:spcAft>
              <a:buFont typeface="Arial" panose="020B0604020202020204" pitchFamily="34" charset="0"/>
              <a:buChar char="•"/>
              <a:defRPr/>
            </a:pPr>
            <a:r>
              <a:rPr lang="en-US" sz="1600">
                <a:latin typeface="Aptos" panose="020B0004020202020204" pitchFamily="34" charset="0"/>
              </a:rPr>
              <a:t>Difficult to understand the progress made in implementing adaptation goals set in the NECPs, or other documents cross-referenced in the NECPs containing adaptation goals. </a:t>
            </a:r>
          </a:p>
          <a:p>
            <a:pPr marL="342900" indent="-342900" algn="just">
              <a:spcBef>
                <a:spcPts val="600"/>
              </a:spcBef>
              <a:spcAft>
                <a:spcPts val="600"/>
              </a:spcAft>
              <a:buFont typeface="Arial" panose="020B0604020202020204" pitchFamily="34" charset="0"/>
              <a:buChar char="•"/>
              <a:defRPr/>
            </a:pPr>
            <a:r>
              <a:rPr lang="en-US" sz="1600">
                <a:latin typeface="Aptos" panose="020B0004020202020204" pitchFamily="34" charset="0"/>
              </a:rPr>
              <a:t>The heterogeneity of reporting practices and varying data quality makes it challenging to identify trends, challenges or good practices. </a:t>
            </a:r>
          </a:p>
          <a:p>
            <a:pPr marL="342900" indent="-342900" algn="just">
              <a:spcBef>
                <a:spcPts val="600"/>
              </a:spcBef>
              <a:spcAft>
                <a:spcPts val="600"/>
              </a:spcAft>
              <a:buFont typeface="Arial" panose="020B0604020202020204" pitchFamily="34" charset="0"/>
              <a:buChar char="•"/>
              <a:defRPr/>
            </a:pPr>
            <a:r>
              <a:rPr lang="en-US" sz="1600">
                <a:latin typeface="Aptos" panose="020B0004020202020204" pitchFamily="34" charset="0"/>
              </a:rPr>
              <a:t>When interpreting Article 17 reported data, it is important to take into account reporting under Article 19 of the Governance Regulation</a:t>
            </a:r>
          </a:p>
          <a:p>
            <a:pPr marL="742950" lvl="1" indent="-285750" algn="just">
              <a:spcBef>
                <a:spcPts val="600"/>
              </a:spcBef>
              <a:spcAft>
                <a:spcPts val="600"/>
              </a:spcAft>
              <a:buFont typeface="Arial" panose="020B0604020202020204" pitchFamily="34" charset="0"/>
              <a:buChar char="•"/>
              <a:defRPr/>
            </a:pPr>
            <a:r>
              <a:rPr lang="en-US" sz="1600">
                <a:latin typeface="Aptos" panose="020B0004020202020204" pitchFamily="34" charset="0"/>
              </a:rPr>
              <a:t>Article 19 reported data provides a comprehensive picture of national adaptation planning, implementation, monitoring and evaluation of adaptation policies and actions.</a:t>
            </a:r>
          </a:p>
          <a:p>
            <a:pPr marL="742950" lvl="1" indent="-285750" algn="just">
              <a:spcBef>
                <a:spcPts val="600"/>
              </a:spcBef>
              <a:spcAft>
                <a:spcPts val="600"/>
              </a:spcAft>
              <a:buFont typeface="Arial" panose="020B0604020202020204" pitchFamily="34" charset="0"/>
              <a:buChar char="•"/>
              <a:defRPr/>
            </a:pPr>
            <a:r>
              <a:rPr lang="en-US" sz="1600">
                <a:latin typeface="Aptos" panose="020B0004020202020204" pitchFamily="34" charset="0"/>
              </a:rPr>
              <a:t>Article 17 reported data is more sector-oriented, exploring also                            co-benefits between mitigation and adaptation action.</a:t>
            </a:r>
          </a:p>
          <a:p>
            <a:pPr marL="285750" indent="-285750" algn="just">
              <a:spcBef>
                <a:spcPts val="600"/>
              </a:spcBef>
              <a:spcAft>
                <a:spcPts val="600"/>
              </a:spcAft>
              <a:buFont typeface="Arial" panose="020B0604020202020204" pitchFamily="34" charset="0"/>
              <a:buChar char="•"/>
              <a:defRPr/>
            </a:pPr>
            <a:r>
              <a:rPr lang="en-US" sz="1600">
                <a:latin typeface="Aptos" panose="020B0004020202020204" pitchFamily="34" charset="0"/>
              </a:rPr>
              <a:t>Clarity, guidance and a harmonized approach between NECPs and NAS/NAP is needed.</a:t>
            </a:r>
          </a:p>
        </p:txBody>
      </p:sp>
      <p:pic>
        <p:nvPicPr>
          <p:cNvPr id="4" name="Picture 3" descr="A river flowing through a rocky area&#10;&#10;AI-generated content may be incorrect.">
            <a:extLst>
              <a:ext uri="{FF2B5EF4-FFF2-40B4-BE49-F238E27FC236}">
                <a16:creationId xmlns:a16="http://schemas.microsoft.com/office/drawing/2014/main" id="{298DCA51-74E2-383A-FD17-91FF3B8B0F1A}"/>
              </a:ext>
            </a:extLst>
          </p:cNvPr>
          <p:cNvPicPr>
            <a:picLocks noChangeAspect="1"/>
          </p:cNvPicPr>
          <p:nvPr/>
        </p:nvPicPr>
        <p:blipFill>
          <a:blip r:embed="rId3"/>
          <a:srcRect l="42429" t="12237" r="23532" b="10437"/>
          <a:stretch>
            <a:fillRect/>
          </a:stretch>
        </p:blipFill>
        <p:spPr>
          <a:xfrm flipH="1">
            <a:off x="0" y="0"/>
            <a:ext cx="4529667" cy="6858000"/>
          </a:xfrm>
          <a:prstGeom prst="rect">
            <a:avLst/>
          </a:prstGeom>
        </p:spPr>
      </p:pic>
    </p:spTree>
    <p:extLst>
      <p:ext uri="{BB962C8B-B14F-4D97-AF65-F5344CB8AC3E}">
        <p14:creationId xmlns:p14="http://schemas.microsoft.com/office/powerpoint/2010/main" val="3621060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D61F-A5BC-8443-F58F-7192BDEA108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4EF0EC4B-921B-BFD8-82CF-6CD87BEC73FA}"/>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2" name="Picture 1" descr="A river flowing through a rocky area&#10;&#10;AI-generated content may be incorrect.">
            <a:extLst>
              <a:ext uri="{FF2B5EF4-FFF2-40B4-BE49-F238E27FC236}">
                <a16:creationId xmlns:a16="http://schemas.microsoft.com/office/drawing/2014/main" id="{D32A1AE7-2BF2-4C5C-2C02-68874BFC785A}"/>
              </a:ext>
            </a:extLst>
          </p:cNvPr>
          <p:cNvPicPr>
            <a:picLocks noChangeAspect="1"/>
          </p:cNvPicPr>
          <p:nvPr/>
        </p:nvPicPr>
        <p:blipFill>
          <a:blip r:embed="rId2"/>
          <a:srcRect t="17301" r="8462" b="5374"/>
          <a:stretch>
            <a:fillRect/>
          </a:stretch>
        </p:blipFill>
        <p:spPr>
          <a:xfrm flipH="1">
            <a:off x="11212" y="0"/>
            <a:ext cx="12180788" cy="6858000"/>
          </a:xfrm>
          <a:prstGeom prst="rect">
            <a:avLst/>
          </a:prstGeom>
        </p:spPr>
      </p:pic>
      <p:sp>
        <p:nvSpPr>
          <p:cNvPr id="3" name="TextBox 2">
            <a:extLst>
              <a:ext uri="{FF2B5EF4-FFF2-40B4-BE49-F238E27FC236}">
                <a16:creationId xmlns:a16="http://schemas.microsoft.com/office/drawing/2014/main" id="{7BB22E80-130D-F742-7CDA-C92B108CF2C6}"/>
              </a:ext>
            </a:extLst>
          </p:cNvPr>
          <p:cNvSpPr txBox="1"/>
          <p:nvPr/>
        </p:nvSpPr>
        <p:spPr>
          <a:xfrm>
            <a:off x="138113" y="6487992"/>
            <a:ext cx="623887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Hanifi</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Koç</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Environment&amp;Me</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2025 / EEA</a:t>
            </a:r>
            <a:endParaRPr kumimoji="0" lang="en-DK"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blue and green logo&#10;&#10;Description automatically generated">
            <a:extLst>
              <a:ext uri="{FF2B5EF4-FFF2-40B4-BE49-F238E27FC236}">
                <a16:creationId xmlns:a16="http://schemas.microsoft.com/office/drawing/2014/main" id="{563B5BC3-E414-F2E0-8478-602520489E2C}"/>
              </a:ext>
            </a:extLst>
          </p:cNvPr>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rot="21424502">
            <a:off x="9588569" y="4507761"/>
            <a:ext cx="2892173" cy="2892173"/>
          </a:xfrm>
          <a:prstGeom prst="rect">
            <a:avLst/>
          </a:prstGeom>
        </p:spPr>
      </p:pic>
      <p:sp>
        <p:nvSpPr>
          <p:cNvPr id="5" name="TextBox 4">
            <a:extLst>
              <a:ext uri="{FF2B5EF4-FFF2-40B4-BE49-F238E27FC236}">
                <a16:creationId xmlns:a16="http://schemas.microsoft.com/office/drawing/2014/main" id="{14404801-722C-A510-7C71-542415E10C34}"/>
              </a:ext>
            </a:extLst>
          </p:cNvPr>
          <p:cNvSpPr txBox="1"/>
          <p:nvPr/>
        </p:nvSpPr>
        <p:spPr>
          <a:xfrm>
            <a:off x="10756232" y="5292127"/>
            <a:ext cx="183740" cy="1323439"/>
          </a:xfrm>
          <a:prstGeom prst="rect">
            <a:avLst/>
          </a:prstGeom>
          <a:noFill/>
        </p:spPr>
        <p:txBody>
          <a:bodyPr wrap="square" rtlCol="0">
            <a:spAutoFit/>
          </a:bodyPr>
          <a:lstStyle/>
          <a:p>
            <a:r>
              <a:rPr lang="en-US" sz="8000">
                <a:solidFill>
                  <a:schemeClr val="bg1"/>
                </a:solidFill>
                <a:latin typeface="Aptos" panose="020B0004020202020204" pitchFamily="34" charset="0"/>
              </a:rPr>
              <a:t>?</a:t>
            </a:r>
            <a:endParaRPr lang="en-DK" sz="8000">
              <a:solidFill>
                <a:schemeClr val="bg1"/>
              </a:solidFill>
              <a:latin typeface="Aptos" panose="020B0004020202020204" pitchFamily="34" charset="0"/>
            </a:endParaRPr>
          </a:p>
        </p:txBody>
      </p:sp>
    </p:spTree>
    <p:extLst>
      <p:ext uri="{BB962C8B-B14F-4D97-AF65-F5344CB8AC3E}">
        <p14:creationId xmlns:p14="http://schemas.microsoft.com/office/powerpoint/2010/main" val="3748081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33F2EA-EEE1-85D8-568D-8B5EC44633AE}"/>
              </a:ext>
            </a:extLst>
          </p:cNvPr>
          <p:cNvSpPr txBox="1"/>
          <p:nvPr/>
        </p:nvSpPr>
        <p:spPr>
          <a:xfrm>
            <a:off x="1" y="4107698"/>
            <a:ext cx="12192000" cy="646331"/>
          </a:xfrm>
          <a:prstGeom prst="rect">
            <a:avLst/>
          </a:prstGeom>
          <a:noFill/>
        </p:spPr>
        <p:txBody>
          <a:bodyPr wrap="square" lIns="91440" tIns="45720" rIns="91440" bIns="45720" anchor="t">
            <a:spAutoFit/>
          </a:bodyPr>
          <a:lstStyle/>
          <a:p>
            <a:pPr algn="ctr"/>
            <a:r>
              <a:rPr lang="en-US" sz="3600">
                <a:solidFill>
                  <a:schemeClr val="bg1"/>
                </a:solidFill>
                <a:latin typeface="Aptos" panose="020B0004020202020204" pitchFamily="34" charset="0"/>
              </a:rPr>
              <a:t>Good practices</a:t>
            </a:r>
            <a:endParaRPr lang="en-GB" sz="3600">
              <a:solidFill>
                <a:schemeClr val="bg1"/>
              </a:solidFill>
              <a:latin typeface="Aptos" panose="020B0004020202020204" pitchFamily="34" charset="0"/>
            </a:endParaRPr>
          </a:p>
        </p:txBody>
      </p:sp>
      <p:pic>
        <p:nvPicPr>
          <p:cNvPr id="4" name="Graphic 3" descr="Lightbulb and gear outline">
            <a:extLst>
              <a:ext uri="{FF2B5EF4-FFF2-40B4-BE49-F238E27FC236}">
                <a16:creationId xmlns:a16="http://schemas.microsoft.com/office/drawing/2014/main" id="{15E12F23-7D06-8145-FD17-EDA4EDC194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42228" y="2202509"/>
            <a:ext cx="1707543" cy="1707543"/>
          </a:xfrm>
          <a:prstGeom prst="rect">
            <a:avLst/>
          </a:prstGeom>
        </p:spPr>
      </p:pic>
    </p:spTree>
    <p:extLst>
      <p:ext uri="{BB962C8B-B14F-4D97-AF65-F5344CB8AC3E}">
        <p14:creationId xmlns:p14="http://schemas.microsoft.com/office/powerpoint/2010/main" val="4232477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35C86-5DB4-949A-970A-ABEBD3F7B67E}"/>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E99AF3B-C20C-1745-70EA-378ACAE209EE}"/>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D117EDF9-D414-27D4-ADDF-2982D0ECFCEB}"/>
              </a:ext>
            </a:extLst>
          </p:cNvPr>
          <p:cNvSpPr txBox="1"/>
          <p:nvPr/>
        </p:nvSpPr>
        <p:spPr>
          <a:xfrm>
            <a:off x="4674070" y="94256"/>
            <a:ext cx="8656560" cy="646331"/>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Recommendations</a:t>
            </a:r>
            <a:endParaRPr lang="en-GB" sz="3600">
              <a:solidFill>
                <a:srgbClr val="009999"/>
              </a:solidFill>
              <a:latin typeface="Aptos" panose="020B0004020202020204" pitchFamily="34" charset="0"/>
            </a:endParaRPr>
          </a:p>
        </p:txBody>
      </p:sp>
      <p:pic>
        <p:nvPicPr>
          <p:cNvPr id="4" name="Picture 3" descr="A river flowing through a rocky area&#10;&#10;AI-generated content may be incorrect.">
            <a:extLst>
              <a:ext uri="{FF2B5EF4-FFF2-40B4-BE49-F238E27FC236}">
                <a16:creationId xmlns:a16="http://schemas.microsoft.com/office/drawing/2014/main" id="{B0A502A3-3A71-8226-BBAB-DF6D9630AA86}"/>
              </a:ext>
            </a:extLst>
          </p:cNvPr>
          <p:cNvPicPr>
            <a:picLocks noChangeAspect="1"/>
          </p:cNvPicPr>
          <p:nvPr/>
        </p:nvPicPr>
        <p:blipFill>
          <a:blip r:embed="rId3"/>
          <a:srcRect l="42429" t="12237" r="23532" b="10437"/>
          <a:stretch>
            <a:fillRect/>
          </a:stretch>
        </p:blipFill>
        <p:spPr>
          <a:xfrm flipH="1">
            <a:off x="0" y="0"/>
            <a:ext cx="4529667" cy="6858000"/>
          </a:xfrm>
          <a:prstGeom prst="rect">
            <a:avLst/>
          </a:prstGeom>
        </p:spPr>
      </p:pic>
      <p:sp>
        <p:nvSpPr>
          <p:cNvPr id="3" name="TextBox 2">
            <a:extLst>
              <a:ext uri="{FF2B5EF4-FFF2-40B4-BE49-F238E27FC236}">
                <a16:creationId xmlns:a16="http://schemas.microsoft.com/office/drawing/2014/main" id="{2E72E950-D6CE-A4DA-5691-B33CDB79F627}"/>
              </a:ext>
            </a:extLst>
          </p:cNvPr>
          <p:cNvSpPr txBox="1"/>
          <p:nvPr/>
        </p:nvSpPr>
        <p:spPr>
          <a:xfrm>
            <a:off x="4574650" y="740587"/>
            <a:ext cx="7617350" cy="637097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1400">
                <a:latin typeface="Aptos" panose="020B0004020202020204" pitchFamily="34" charset="0"/>
              </a:rPr>
              <a:t>S</a:t>
            </a:r>
            <a:r>
              <a:rPr lang="en-US" sz="1400" b="0" i="0">
                <a:effectLst/>
                <a:latin typeface="Aptos" panose="020B0004020202020204" pitchFamily="34" charset="0"/>
              </a:rPr>
              <a:t>tart with the </a:t>
            </a:r>
            <a:r>
              <a:rPr lang="en-US" sz="1400" b="1" i="0">
                <a:effectLst/>
                <a:latin typeface="Aptos" panose="020B0004020202020204" pitchFamily="34" charset="0"/>
              </a:rPr>
              <a:t>Reporting guidelines</a:t>
            </a:r>
          </a:p>
          <a:p>
            <a:pPr marL="285750" indent="-285750" algn="just">
              <a:spcBef>
                <a:spcPts val="600"/>
              </a:spcBef>
              <a:spcAft>
                <a:spcPts val="600"/>
              </a:spcAft>
              <a:buFont typeface="Arial" panose="020B0604020202020204" pitchFamily="34" charset="0"/>
              <a:buChar char="•"/>
            </a:pPr>
            <a:r>
              <a:rPr lang="en-US" sz="1400" b="0" i="0">
                <a:effectLst/>
                <a:latin typeface="Aptos" panose="020B0004020202020204" pitchFamily="34" charset="0"/>
              </a:rPr>
              <a:t>Potential </a:t>
            </a:r>
            <a:r>
              <a:rPr lang="en-US" sz="1400" b="1" i="0">
                <a:effectLst/>
                <a:latin typeface="Aptos" panose="020B0004020202020204" pitchFamily="34" charset="0"/>
              </a:rPr>
              <a:t>sources </a:t>
            </a:r>
            <a:r>
              <a:rPr lang="en-US" sz="1400" b="0" i="0">
                <a:effectLst/>
                <a:latin typeface="Aptos" panose="020B0004020202020204" pitchFamily="34" charset="0"/>
              </a:rPr>
              <a:t>are NECP, ‘other documents’ as NAS or NAP, progress reports and evaluations, expert judgement, inter-ministerial coordination is key, UNFCCC transparency framework reporting</a:t>
            </a:r>
          </a:p>
          <a:p>
            <a:pPr marL="285750" indent="-285750" algn="just">
              <a:spcBef>
                <a:spcPts val="600"/>
              </a:spcBef>
              <a:spcAft>
                <a:spcPts val="600"/>
              </a:spcAft>
              <a:buFont typeface="Arial" panose="020B0604020202020204" pitchFamily="34" charset="0"/>
              <a:buChar char="•"/>
            </a:pPr>
            <a:r>
              <a:rPr lang="en-US" sz="1400">
                <a:latin typeface="Aptos" panose="020B0004020202020204" pitchFamily="34" charset="0"/>
              </a:rPr>
              <a:t>Focus on the </a:t>
            </a:r>
            <a:r>
              <a:rPr lang="en-US" sz="1400" b="1">
                <a:latin typeface="Aptos" panose="020B0004020202020204" pitchFamily="34" charset="0"/>
              </a:rPr>
              <a:t>narrative</a:t>
            </a:r>
            <a:r>
              <a:rPr lang="en-US" sz="1400">
                <a:latin typeface="Aptos" panose="020B0004020202020204" pitchFamily="34" charset="0"/>
              </a:rPr>
              <a:t>, based on the mandatory reporting elements, and keep it </a:t>
            </a:r>
            <a:r>
              <a:rPr lang="en-US" sz="1400" b="1">
                <a:latin typeface="Aptos" panose="020B0004020202020204" pitchFamily="34" charset="0"/>
              </a:rPr>
              <a:t>consistent</a:t>
            </a:r>
            <a:r>
              <a:rPr lang="en-US" sz="1400">
                <a:latin typeface="Aptos" panose="020B0004020202020204" pitchFamily="34" charset="0"/>
              </a:rPr>
              <a:t>:</a:t>
            </a:r>
          </a:p>
          <a:p>
            <a:pPr marL="742950" lvl="1" indent="-285750" algn="just">
              <a:spcBef>
                <a:spcPts val="600"/>
              </a:spcBef>
              <a:spcAft>
                <a:spcPts val="600"/>
              </a:spcAft>
              <a:buFont typeface="Arial" panose="020B0604020202020204" pitchFamily="34" charset="0"/>
              <a:buChar char="•"/>
            </a:pPr>
            <a:r>
              <a:rPr lang="en-US" sz="1400">
                <a:latin typeface="Aptos" panose="020B0004020202020204" pitchFamily="34" charset="0"/>
              </a:rPr>
              <a:t>What are the adaptation goals defined in the NECP? What was the progress made towards achieving the mentioned goals in the last period?</a:t>
            </a:r>
          </a:p>
          <a:p>
            <a:pPr marL="742950" lvl="1" indent="-285750" algn="just">
              <a:spcBef>
                <a:spcPts val="600"/>
              </a:spcBef>
              <a:spcAft>
                <a:spcPts val="600"/>
              </a:spcAft>
              <a:buFont typeface="Arial" panose="020B0604020202020204" pitchFamily="34" charset="0"/>
              <a:buChar char="•"/>
            </a:pPr>
            <a:r>
              <a:rPr lang="en-US" sz="1400" b="0" i="0">
                <a:effectLst/>
                <a:latin typeface="Aptos" panose="020B0004020202020204" pitchFamily="34" charset="0"/>
              </a:rPr>
              <a:t>H</a:t>
            </a:r>
            <a:r>
              <a:rPr lang="en-US" sz="1400">
                <a:latin typeface="Aptos" panose="020B0004020202020204" pitchFamily="34" charset="0"/>
              </a:rPr>
              <a:t>ow objectives or priorities of NAS or NAP support the adaptation goals defined in the NECP? What adaptation actions were planned or implemented?</a:t>
            </a:r>
          </a:p>
          <a:p>
            <a:pPr marL="742950" lvl="1" indent="-285750" algn="just">
              <a:spcBef>
                <a:spcPts val="600"/>
              </a:spcBef>
              <a:spcAft>
                <a:spcPts val="600"/>
              </a:spcAft>
              <a:buFont typeface="Arial" panose="020B0604020202020204" pitchFamily="34" charset="0"/>
              <a:buChar char="•"/>
            </a:pPr>
            <a:r>
              <a:rPr lang="en-US" sz="1400" b="0" i="0">
                <a:effectLst/>
                <a:latin typeface="Aptos" panose="020B0004020202020204" pitchFamily="34" charset="0"/>
              </a:rPr>
              <a:t>Are there any identified synergies between adaptation and mitigation, what ar</a:t>
            </a:r>
            <a:r>
              <a:rPr lang="en-US" sz="1400">
                <a:latin typeface="Aptos" panose="020B0004020202020204" pitchFamily="34" charset="0"/>
              </a:rPr>
              <a:t>e the mitigation co-benefits of adaptation actions?</a:t>
            </a:r>
          </a:p>
          <a:p>
            <a:pPr marL="742950" lvl="1" indent="-285750" algn="just">
              <a:spcBef>
                <a:spcPts val="600"/>
              </a:spcBef>
              <a:spcAft>
                <a:spcPts val="600"/>
              </a:spcAft>
              <a:buFont typeface="Arial" panose="020B0604020202020204" pitchFamily="34" charset="0"/>
              <a:buChar char="•"/>
            </a:pPr>
            <a:r>
              <a:rPr lang="en-US" sz="1400" b="0" i="0">
                <a:effectLst/>
                <a:latin typeface="Aptos" panose="020B0004020202020204" pitchFamily="34" charset="0"/>
              </a:rPr>
              <a:t>What are the</a:t>
            </a:r>
            <a:r>
              <a:rPr lang="en-US" sz="1400">
                <a:latin typeface="Aptos" panose="020B0004020202020204" pitchFamily="34" charset="0"/>
              </a:rPr>
              <a:t> hazards, vulnerabilities and future impacts? </a:t>
            </a:r>
          </a:p>
          <a:p>
            <a:pPr marL="742950" lvl="1" indent="-285750" algn="just">
              <a:spcBef>
                <a:spcPts val="600"/>
              </a:spcBef>
              <a:spcAft>
                <a:spcPts val="600"/>
              </a:spcAft>
              <a:buFont typeface="Arial" panose="020B0604020202020204" pitchFamily="34" charset="0"/>
              <a:buChar char="•"/>
            </a:pPr>
            <a:r>
              <a:rPr lang="en-US" sz="1400">
                <a:latin typeface="Aptos" panose="020B0004020202020204" pitchFamily="34" charset="0"/>
              </a:rPr>
              <a:t>Focus primarily on sectors /sectoral policies covered in the NECP in a consistent way – for example: energy, industry, business, agriculture and food, forestry, transport, water management, buildings, land use planning, urban</a:t>
            </a:r>
          </a:p>
          <a:p>
            <a:pPr marL="285750" marR="0" lvl="0" indent="-285750" algn="just"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Once the narrative is clear, see how it fits with the </a:t>
            </a:r>
            <a:r>
              <a:rPr kumimoji="0" lang="en-US" sz="1400" b="1" i="0" u="none" strike="noStrike" kern="1200" cap="none" spc="0" normalizeH="0" baseline="0" noProof="0">
                <a:ln>
                  <a:noFill/>
                </a:ln>
                <a:effectLst/>
                <a:uLnTx/>
                <a:uFillTx/>
                <a:latin typeface="Aptos" panose="020B0004020202020204" pitchFamily="34" charset="0"/>
                <a:ea typeface="+mn-ea"/>
                <a:cs typeface="+mn-cs"/>
              </a:rPr>
              <a:t>dimensions of the Energy Union </a:t>
            </a: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and decide which information fits where:</a:t>
            </a:r>
          </a:p>
          <a:p>
            <a:pPr marL="742950" lvl="1" indent="-285750" algn="just">
              <a:spcBef>
                <a:spcPts val="600"/>
              </a:spcBef>
              <a:spcAft>
                <a:spcPts val="600"/>
              </a:spcAft>
              <a:buFont typeface="Arial" panose="020B0604020202020204" pitchFamily="34" charset="0"/>
              <a:buChar char="•"/>
              <a:defRPr/>
            </a:pP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(M) </a:t>
            </a:r>
            <a:r>
              <a:rPr kumimoji="0" lang="en-US" sz="1400" b="0" i="0" u="none" strike="noStrike" kern="1200" cap="none" spc="0" normalizeH="0" baseline="0" noProof="0" err="1">
                <a:ln>
                  <a:noFill/>
                </a:ln>
                <a:solidFill>
                  <a:srgbClr val="000000"/>
                </a:solidFill>
                <a:effectLst/>
                <a:uLnTx/>
                <a:uFillTx/>
                <a:latin typeface="Aptos" panose="020B0004020202020204" pitchFamily="34" charset="0"/>
                <a:ea typeface="+mn-ea"/>
                <a:cs typeface="+mn-cs"/>
              </a:rPr>
              <a:t>Decarbonisation</a:t>
            </a: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 GHG emissions and removals, (V) </a:t>
            </a:r>
            <a:r>
              <a:rPr kumimoji="0" lang="en-US" sz="1400" b="0" i="0" u="none" strike="noStrike" kern="1200" cap="none" spc="0" normalizeH="0" baseline="0" noProof="0" err="1">
                <a:ln>
                  <a:noFill/>
                </a:ln>
                <a:solidFill>
                  <a:srgbClr val="000000"/>
                </a:solidFill>
                <a:effectLst/>
                <a:uLnTx/>
                <a:uFillTx/>
                <a:latin typeface="Aptos" panose="020B0004020202020204" pitchFamily="34" charset="0"/>
                <a:ea typeface="+mn-ea"/>
                <a:cs typeface="+mn-cs"/>
              </a:rPr>
              <a:t>Decarbonisation</a:t>
            </a: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 Renewable energy, Energy efficiency, Energy security, Internal energy market, Research, innovation and competitiveness</a:t>
            </a:r>
          </a:p>
          <a:p>
            <a:pPr marL="285750" marR="0" lvl="0" indent="-285750" algn="just"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ptos" panose="020B0004020202020204" pitchFamily="34" charset="0"/>
                <a:ea typeface="+mn-ea"/>
                <a:cs typeface="+mn-cs"/>
              </a:rPr>
              <a:t>If possible and available, provide complementary information on voluntary elements</a:t>
            </a:r>
            <a:endParaRPr lang="en-US" sz="1600">
              <a:latin typeface="Aptos" panose="020B0004020202020204" pitchFamily="34" charset="0"/>
            </a:endParaRPr>
          </a:p>
        </p:txBody>
      </p:sp>
    </p:spTree>
    <p:extLst>
      <p:ext uri="{BB962C8B-B14F-4D97-AF65-F5344CB8AC3E}">
        <p14:creationId xmlns:p14="http://schemas.microsoft.com/office/powerpoint/2010/main" val="1198238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1921-7319-4A76-EF4A-28E92F5C7B77}"/>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51D0A591-6410-BC6F-8389-CA6FD3206BA3}"/>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5" name="Picture 4">
            <a:extLst>
              <a:ext uri="{FF2B5EF4-FFF2-40B4-BE49-F238E27FC236}">
                <a16:creationId xmlns:a16="http://schemas.microsoft.com/office/drawing/2014/main" id="{B9FC72D6-CD13-E452-EDFE-C3390B94BB5B}"/>
              </a:ext>
            </a:extLst>
          </p:cNvPr>
          <p:cNvPicPr>
            <a:picLocks noChangeAspect="1"/>
          </p:cNvPicPr>
          <p:nvPr/>
        </p:nvPicPr>
        <p:blipFill>
          <a:blip r:embed="rId3"/>
          <a:stretch>
            <a:fillRect/>
          </a:stretch>
        </p:blipFill>
        <p:spPr>
          <a:xfrm>
            <a:off x="189674" y="255684"/>
            <a:ext cx="6581235" cy="2961556"/>
          </a:xfrm>
          <a:prstGeom prst="rect">
            <a:avLst/>
          </a:prstGeom>
          <a:ln>
            <a:solidFill>
              <a:srgbClr val="004B7F"/>
            </a:solidFill>
          </a:ln>
        </p:spPr>
      </p:pic>
      <p:pic>
        <p:nvPicPr>
          <p:cNvPr id="10" name="Picture 9">
            <a:extLst>
              <a:ext uri="{FF2B5EF4-FFF2-40B4-BE49-F238E27FC236}">
                <a16:creationId xmlns:a16="http://schemas.microsoft.com/office/drawing/2014/main" id="{972417E2-FE1F-EAC4-1879-A30F5980E960}"/>
              </a:ext>
            </a:extLst>
          </p:cNvPr>
          <p:cNvPicPr>
            <a:picLocks noChangeAspect="1"/>
          </p:cNvPicPr>
          <p:nvPr/>
        </p:nvPicPr>
        <p:blipFill>
          <a:blip r:embed="rId4"/>
          <a:stretch>
            <a:fillRect/>
          </a:stretch>
        </p:blipFill>
        <p:spPr>
          <a:xfrm>
            <a:off x="189673" y="3701026"/>
            <a:ext cx="6581235" cy="2901290"/>
          </a:xfrm>
          <a:prstGeom prst="rect">
            <a:avLst/>
          </a:prstGeom>
          <a:ln>
            <a:solidFill>
              <a:srgbClr val="004B7F"/>
            </a:solidFill>
          </a:ln>
        </p:spPr>
      </p:pic>
      <p:pic>
        <p:nvPicPr>
          <p:cNvPr id="13" name="Picture 12" descr="A river flowing through a rocky area&#10;&#10;AI-generated content may be incorrect.">
            <a:extLst>
              <a:ext uri="{FF2B5EF4-FFF2-40B4-BE49-F238E27FC236}">
                <a16:creationId xmlns:a16="http://schemas.microsoft.com/office/drawing/2014/main" id="{D48220EE-C130-2CCF-BB40-7F577BB68C61}"/>
              </a:ext>
            </a:extLst>
          </p:cNvPr>
          <p:cNvPicPr>
            <a:picLocks noChangeAspect="1"/>
          </p:cNvPicPr>
          <p:nvPr/>
        </p:nvPicPr>
        <p:blipFill>
          <a:blip r:embed="rId5"/>
          <a:srcRect l="42429" t="12237" r="23532" b="10437"/>
          <a:stretch>
            <a:fillRect/>
          </a:stretch>
        </p:blipFill>
        <p:spPr>
          <a:xfrm flipH="1">
            <a:off x="7662333" y="0"/>
            <a:ext cx="4529667" cy="6858000"/>
          </a:xfrm>
          <a:prstGeom prst="rect">
            <a:avLst/>
          </a:prstGeom>
        </p:spPr>
      </p:pic>
      <p:sp>
        <p:nvSpPr>
          <p:cNvPr id="14" name="TextBox 13">
            <a:extLst>
              <a:ext uri="{FF2B5EF4-FFF2-40B4-BE49-F238E27FC236}">
                <a16:creationId xmlns:a16="http://schemas.microsoft.com/office/drawing/2014/main" id="{6DB65A6A-F97D-48C0-FCFE-B30AAFA9310F}"/>
              </a:ext>
            </a:extLst>
          </p:cNvPr>
          <p:cNvSpPr txBox="1"/>
          <p:nvPr/>
        </p:nvSpPr>
        <p:spPr>
          <a:xfrm>
            <a:off x="8163145" y="5781669"/>
            <a:ext cx="8656560" cy="646331"/>
          </a:xfrm>
          <a:prstGeom prst="rect">
            <a:avLst/>
          </a:prstGeom>
          <a:noFill/>
        </p:spPr>
        <p:txBody>
          <a:bodyPr wrap="square" lIns="91440" tIns="45720" rIns="91440" bIns="45720" anchor="t">
            <a:spAutoFit/>
          </a:bodyPr>
          <a:lstStyle/>
          <a:p>
            <a:r>
              <a:rPr lang="en-US" sz="3600">
                <a:solidFill>
                  <a:schemeClr val="bg1"/>
                </a:solidFill>
                <a:latin typeface="Aptos" panose="020B0004020202020204" pitchFamily="34" charset="0"/>
              </a:rPr>
              <a:t>Good practices I</a:t>
            </a:r>
            <a:endParaRPr lang="en-GB" sz="3600">
              <a:solidFill>
                <a:schemeClr val="bg1"/>
              </a:solidFill>
              <a:latin typeface="Aptos" panose="020B0004020202020204" pitchFamily="34" charset="0"/>
            </a:endParaRPr>
          </a:p>
        </p:txBody>
      </p:sp>
      <p:pic>
        <p:nvPicPr>
          <p:cNvPr id="8" name="Picture 7">
            <a:extLst>
              <a:ext uri="{FF2B5EF4-FFF2-40B4-BE49-F238E27FC236}">
                <a16:creationId xmlns:a16="http://schemas.microsoft.com/office/drawing/2014/main" id="{400E7393-E0F7-35DB-AF6A-70177BD1A0A1}"/>
              </a:ext>
            </a:extLst>
          </p:cNvPr>
          <p:cNvPicPr>
            <a:picLocks noChangeAspect="1"/>
          </p:cNvPicPr>
          <p:nvPr/>
        </p:nvPicPr>
        <p:blipFill>
          <a:blip r:embed="rId6"/>
          <a:stretch>
            <a:fillRect/>
          </a:stretch>
        </p:blipFill>
        <p:spPr>
          <a:xfrm>
            <a:off x="5610764" y="2022445"/>
            <a:ext cx="6581236" cy="2993418"/>
          </a:xfrm>
          <a:prstGeom prst="rect">
            <a:avLst/>
          </a:prstGeom>
          <a:ln>
            <a:solidFill>
              <a:srgbClr val="004B7F"/>
            </a:solidFill>
          </a:ln>
        </p:spPr>
      </p:pic>
    </p:spTree>
    <p:extLst>
      <p:ext uri="{BB962C8B-B14F-4D97-AF65-F5344CB8AC3E}">
        <p14:creationId xmlns:p14="http://schemas.microsoft.com/office/powerpoint/2010/main" val="544980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41DDC-E5E4-A77E-8510-4E3BF8FF571D}"/>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F2F66603-F8F9-FE9F-C46A-DCFF7C12B9B5}"/>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5" name="Picture 4">
            <a:extLst>
              <a:ext uri="{FF2B5EF4-FFF2-40B4-BE49-F238E27FC236}">
                <a16:creationId xmlns:a16="http://schemas.microsoft.com/office/drawing/2014/main" id="{09589C15-B196-BDB5-8BF1-546DE9475CA9}"/>
              </a:ext>
            </a:extLst>
          </p:cNvPr>
          <p:cNvPicPr>
            <a:picLocks noChangeAspect="1"/>
          </p:cNvPicPr>
          <p:nvPr/>
        </p:nvPicPr>
        <p:blipFill>
          <a:blip r:embed="rId3"/>
          <a:stretch>
            <a:fillRect/>
          </a:stretch>
        </p:blipFill>
        <p:spPr>
          <a:xfrm>
            <a:off x="340712" y="169143"/>
            <a:ext cx="6888136" cy="3184717"/>
          </a:xfrm>
          <a:prstGeom prst="rect">
            <a:avLst/>
          </a:prstGeom>
          <a:ln>
            <a:solidFill>
              <a:srgbClr val="004B7F"/>
            </a:solidFill>
          </a:ln>
        </p:spPr>
      </p:pic>
      <p:pic>
        <p:nvPicPr>
          <p:cNvPr id="8" name="Picture 7">
            <a:extLst>
              <a:ext uri="{FF2B5EF4-FFF2-40B4-BE49-F238E27FC236}">
                <a16:creationId xmlns:a16="http://schemas.microsoft.com/office/drawing/2014/main" id="{B027E5EF-8FDD-A110-B2EC-3A320FB25192}"/>
              </a:ext>
            </a:extLst>
          </p:cNvPr>
          <p:cNvPicPr>
            <a:picLocks noChangeAspect="1"/>
          </p:cNvPicPr>
          <p:nvPr/>
        </p:nvPicPr>
        <p:blipFill>
          <a:blip r:embed="rId4"/>
          <a:stretch>
            <a:fillRect/>
          </a:stretch>
        </p:blipFill>
        <p:spPr>
          <a:xfrm>
            <a:off x="340712" y="3479917"/>
            <a:ext cx="6888136" cy="3281400"/>
          </a:xfrm>
          <a:prstGeom prst="rect">
            <a:avLst/>
          </a:prstGeom>
          <a:ln>
            <a:solidFill>
              <a:srgbClr val="004B7F"/>
            </a:solidFill>
          </a:ln>
        </p:spPr>
      </p:pic>
      <p:pic>
        <p:nvPicPr>
          <p:cNvPr id="9" name="Picture 8" descr="A river flowing through a rocky area&#10;&#10;AI-generated content may be incorrect.">
            <a:extLst>
              <a:ext uri="{FF2B5EF4-FFF2-40B4-BE49-F238E27FC236}">
                <a16:creationId xmlns:a16="http://schemas.microsoft.com/office/drawing/2014/main" id="{1011ED4F-3B69-9D00-7CDE-DF165263FF02}"/>
              </a:ext>
            </a:extLst>
          </p:cNvPr>
          <p:cNvPicPr>
            <a:picLocks noChangeAspect="1"/>
          </p:cNvPicPr>
          <p:nvPr/>
        </p:nvPicPr>
        <p:blipFill>
          <a:blip r:embed="rId5"/>
          <a:srcRect l="42429" t="12237" r="23532" b="10437"/>
          <a:stretch>
            <a:fillRect/>
          </a:stretch>
        </p:blipFill>
        <p:spPr>
          <a:xfrm flipH="1">
            <a:off x="7662333" y="0"/>
            <a:ext cx="4529667" cy="6858000"/>
          </a:xfrm>
          <a:prstGeom prst="rect">
            <a:avLst/>
          </a:prstGeom>
        </p:spPr>
      </p:pic>
      <p:sp>
        <p:nvSpPr>
          <p:cNvPr id="10" name="TextBox 9">
            <a:extLst>
              <a:ext uri="{FF2B5EF4-FFF2-40B4-BE49-F238E27FC236}">
                <a16:creationId xmlns:a16="http://schemas.microsoft.com/office/drawing/2014/main" id="{F243615A-6D77-7A1D-E781-27F350806058}"/>
              </a:ext>
            </a:extLst>
          </p:cNvPr>
          <p:cNvSpPr txBox="1"/>
          <p:nvPr/>
        </p:nvSpPr>
        <p:spPr>
          <a:xfrm>
            <a:off x="8163145" y="5781669"/>
            <a:ext cx="8656560" cy="646331"/>
          </a:xfrm>
          <a:prstGeom prst="rect">
            <a:avLst/>
          </a:prstGeom>
          <a:noFill/>
        </p:spPr>
        <p:txBody>
          <a:bodyPr wrap="square" lIns="91440" tIns="45720" rIns="91440" bIns="45720" anchor="t">
            <a:spAutoFit/>
          </a:bodyPr>
          <a:lstStyle/>
          <a:p>
            <a:r>
              <a:rPr lang="en-US" sz="3600">
                <a:solidFill>
                  <a:schemeClr val="bg1"/>
                </a:solidFill>
                <a:latin typeface="Aptos" panose="020B0004020202020204" pitchFamily="34" charset="0"/>
              </a:rPr>
              <a:t>Good practices I</a:t>
            </a:r>
            <a:endParaRPr lang="en-GB" sz="3600">
              <a:solidFill>
                <a:schemeClr val="bg1"/>
              </a:solidFill>
              <a:latin typeface="Aptos" panose="020B0004020202020204" pitchFamily="34" charset="0"/>
            </a:endParaRPr>
          </a:p>
        </p:txBody>
      </p:sp>
      <p:pic>
        <p:nvPicPr>
          <p:cNvPr id="12" name="Picture 11">
            <a:extLst>
              <a:ext uri="{FF2B5EF4-FFF2-40B4-BE49-F238E27FC236}">
                <a16:creationId xmlns:a16="http://schemas.microsoft.com/office/drawing/2014/main" id="{DB3B8F52-30C1-ED8D-CB62-6C5187F66CB7}"/>
              </a:ext>
            </a:extLst>
          </p:cNvPr>
          <p:cNvPicPr>
            <a:picLocks noChangeAspect="1"/>
          </p:cNvPicPr>
          <p:nvPr/>
        </p:nvPicPr>
        <p:blipFill>
          <a:blip r:embed="rId6"/>
          <a:stretch>
            <a:fillRect/>
          </a:stretch>
        </p:blipFill>
        <p:spPr>
          <a:xfrm>
            <a:off x="5043649" y="1935900"/>
            <a:ext cx="7148351" cy="3281400"/>
          </a:xfrm>
          <a:prstGeom prst="rect">
            <a:avLst/>
          </a:prstGeom>
          <a:ln>
            <a:solidFill>
              <a:srgbClr val="004B7F"/>
            </a:solidFill>
          </a:ln>
        </p:spPr>
      </p:pic>
    </p:spTree>
    <p:extLst>
      <p:ext uri="{BB962C8B-B14F-4D97-AF65-F5344CB8AC3E}">
        <p14:creationId xmlns:p14="http://schemas.microsoft.com/office/powerpoint/2010/main" val="2387143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074F0-BFF7-99CD-E1FC-13B2BDCDF70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4B871D3-05BE-DE66-9EC7-8D58ABFDCD29}"/>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8" name="Picture 7">
            <a:extLst>
              <a:ext uri="{FF2B5EF4-FFF2-40B4-BE49-F238E27FC236}">
                <a16:creationId xmlns:a16="http://schemas.microsoft.com/office/drawing/2014/main" id="{27D81BF0-790C-F880-9B7B-C6BA43319E31}"/>
              </a:ext>
            </a:extLst>
          </p:cNvPr>
          <p:cNvPicPr>
            <a:picLocks noChangeAspect="1"/>
          </p:cNvPicPr>
          <p:nvPr/>
        </p:nvPicPr>
        <p:blipFill>
          <a:blip r:embed="rId3"/>
          <a:stretch>
            <a:fillRect/>
          </a:stretch>
        </p:blipFill>
        <p:spPr>
          <a:xfrm>
            <a:off x="84860" y="174877"/>
            <a:ext cx="6670602" cy="3054461"/>
          </a:xfrm>
          <a:prstGeom prst="rect">
            <a:avLst/>
          </a:prstGeom>
          <a:ln>
            <a:solidFill>
              <a:srgbClr val="004B7F"/>
            </a:solidFill>
          </a:ln>
        </p:spPr>
      </p:pic>
      <p:pic>
        <p:nvPicPr>
          <p:cNvPr id="6" name="Picture 5">
            <a:extLst>
              <a:ext uri="{FF2B5EF4-FFF2-40B4-BE49-F238E27FC236}">
                <a16:creationId xmlns:a16="http://schemas.microsoft.com/office/drawing/2014/main" id="{28A24BA4-740E-18C6-BB92-78ACB7FBEDDC}"/>
              </a:ext>
            </a:extLst>
          </p:cNvPr>
          <p:cNvPicPr>
            <a:picLocks noChangeAspect="1"/>
          </p:cNvPicPr>
          <p:nvPr/>
        </p:nvPicPr>
        <p:blipFill>
          <a:blip r:embed="rId4"/>
          <a:stretch>
            <a:fillRect/>
          </a:stretch>
        </p:blipFill>
        <p:spPr>
          <a:xfrm>
            <a:off x="84860" y="3583381"/>
            <a:ext cx="6670601" cy="3099742"/>
          </a:xfrm>
          <a:prstGeom prst="rect">
            <a:avLst/>
          </a:prstGeom>
          <a:ln>
            <a:solidFill>
              <a:srgbClr val="004B7F"/>
            </a:solidFill>
          </a:ln>
        </p:spPr>
      </p:pic>
      <p:pic>
        <p:nvPicPr>
          <p:cNvPr id="9" name="Picture 8" descr="A river flowing through a rocky area&#10;&#10;AI-generated content may be incorrect.">
            <a:extLst>
              <a:ext uri="{FF2B5EF4-FFF2-40B4-BE49-F238E27FC236}">
                <a16:creationId xmlns:a16="http://schemas.microsoft.com/office/drawing/2014/main" id="{7582CBC9-2C5F-4369-D470-2C9200D2F370}"/>
              </a:ext>
            </a:extLst>
          </p:cNvPr>
          <p:cNvPicPr>
            <a:picLocks noChangeAspect="1"/>
          </p:cNvPicPr>
          <p:nvPr/>
        </p:nvPicPr>
        <p:blipFill>
          <a:blip r:embed="rId5"/>
          <a:srcRect l="42429" t="12237" r="23532" b="10437"/>
          <a:stretch>
            <a:fillRect/>
          </a:stretch>
        </p:blipFill>
        <p:spPr>
          <a:xfrm flipH="1">
            <a:off x="7662333" y="0"/>
            <a:ext cx="4529667" cy="6858000"/>
          </a:xfrm>
          <a:prstGeom prst="rect">
            <a:avLst/>
          </a:prstGeom>
        </p:spPr>
      </p:pic>
      <p:sp>
        <p:nvSpPr>
          <p:cNvPr id="10" name="TextBox 9">
            <a:extLst>
              <a:ext uri="{FF2B5EF4-FFF2-40B4-BE49-F238E27FC236}">
                <a16:creationId xmlns:a16="http://schemas.microsoft.com/office/drawing/2014/main" id="{E74A32D0-9FC8-FA1E-7E15-BFC42225DD32}"/>
              </a:ext>
            </a:extLst>
          </p:cNvPr>
          <p:cNvSpPr txBox="1"/>
          <p:nvPr/>
        </p:nvSpPr>
        <p:spPr>
          <a:xfrm>
            <a:off x="8163145" y="5781669"/>
            <a:ext cx="8656560" cy="646331"/>
          </a:xfrm>
          <a:prstGeom prst="rect">
            <a:avLst/>
          </a:prstGeom>
          <a:noFill/>
        </p:spPr>
        <p:txBody>
          <a:bodyPr wrap="square" lIns="91440" tIns="45720" rIns="91440" bIns="45720" anchor="t">
            <a:spAutoFit/>
          </a:bodyPr>
          <a:lstStyle/>
          <a:p>
            <a:r>
              <a:rPr lang="en-US" sz="3600">
                <a:solidFill>
                  <a:schemeClr val="bg1"/>
                </a:solidFill>
                <a:latin typeface="Aptos" panose="020B0004020202020204" pitchFamily="34" charset="0"/>
              </a:rPr>
              <a:t>Good practices III</a:t>
            </a:r>
            <a:endParaRPr lang="en-GB" sz="3600">
              <a:solidFill>
                <a:schemeClr val="bg1"/>
              </a:solidFill>
              <a:latin typeface="Aptos" panose="020B0004020202020204" pitchFamily="34" charset="0"/>
            </a:endParaRPr>
          </a:p>
        </p:txBody>
      </p:sp>
      <p:pic>
        <p:nvPicPr>
          <p:cNvPr id="12" name="Picture 11">
            <a:extLst>
              <a:ext uri="{FF2B5EF4-FFF2-40B4-BE49-F238E27FC236}">
                <a16:creationId xmlns:a16="http://schemas.microsoft.com/office/drawing/2014/main" id="{C84AC47D-040C-3FC8-6FF4-6FC4D209991F}"/>
              </a:ext>
            </a:extLst>
          </p:cNvPr>
          <p:cNvPicPr>
            <a:picLocks noChangeAspect="1"/>
          </p:cNvPicPr>
          <p:nvPr/>
        </p:nvPicPr>
        <p:blipFill>
          <a:blip r:embed="rId6"/>
          <a:stretch>
            <a:fillRect/>
          </a:stretch>
        </p:blipFill>
        <p:spPr>
          <a:xfrm>
            <a:off x="5521400" y="1781841"/>
            <a:ext cx="6670600" cy="3064138"/>
          </a:xfrm>
          <a:prstGeom prst="rect">
            <a:avLst/>
          </a:prstGeom>
          <a:ln>
            <a:solidFill>
              <a:srgbClr val="004B7F"/>
            </a:solidFill>
          </a:ln>
        </p:spPr>
      </p:pic>
    </p:spTree>
    <p:extLst>
      <p:ext uri="{BB962C8B-B14F-4D97-AF65-F5344CB8AC3E}">
        <p14:creationId xmlns:p14="http://schemas.microsoft.com/office/powerpoint/2010/main" val="778720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15D6-FD09-07F1-D41D-B30C69562CD8}"/>
            </a:ext>
          </a:extLst>
        </p:cNvPr>
        <p:cNvGrpSpPr/>
        <p:nvPr/>
      </p:nvGrpSpPr>
      <p:grpSpPr>
        <a:xfrm>
          <a:off x="0" y="0"/>
          <a:ext cx="0" cy="0"/>
          <a:chOff x="0" y="0"/>
          <a:chExt cx="0" cy="0"/>
        </a:xfrm>
      </p:grpSpPr>
      <p:pic>
        <p:nvPicPr>
          <p:cNvPr id="13" name="Picture 12" descr="A river flowing through a rocky area&#10;&#10;AI-generated content may be incorrect.">
            <a:extLst>
              <a:ext uri="{FF2B5EF4-FFF2-40B4-BE49-F238E27FC236}">
                <a16:creationId xmlns:a16="http://schemas.microsoft.com/office/drawing/2014/main" id="{E9D00684-4810-1370-FBA7-A93B07FBE440}"/>
              </a:ext>
            </a:extLst>
          </p:cNvPr>
          <p:cNvPicPr>
            <a:picLocks noChangeAspect="1"/>
          </p:cNvPicPr>
          <p:nvPr/>
        </p:nvPicPr>
        <p:blipFill>
          <a:blip r:embed="rId3"/>
          <a:srcRect l="42429" t="12237" r="23532" b="10437"/>
          <a:stretch>
            <a:fillRect/>
          </a:stretch>
        </p:blipFill>
        <p:spPr>
          <a:xfrm flipH="1">
            <a:off x="7662333" y="-18407"/>
            <a:ext cx="4529667" cy="6858000"/>
          </a:xfrm>
          <a:prstGeom prst="rect">
            <a:avLst/>
          </a:prstGeom>
        </p:spPr>
      </p:pic>
      <p:sp>
        <p:nvSpPr>
          <p:cNvPr id="17" name="TextBox 16">
            <a:extLst>
              <a:ext uri="{FF2B5EF4-FFF2-40B4-BE49-F238E27FC236}">
                <a16:creationId xmlns:a16="http://schemas.microsoft.com/office/drawing/2014/main" id="{B6882C09-F2E3-6B7B-397D-F3DE1BE2DF30}"/>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A88CDD29-3769-65DF-529A-E58ED564C267}"/>
              </a:ext>
            </a:extLst>
          </p:cNvPr>
          <p:cNvSpPr txBox="1"/>
          <p:nvPr/>
        </p:nvSpPr>
        <p:spPr>
          <a:xfrm>
            <a:off x="8163145" y="5781669"/>
            <a:ext cx="8656560" cy="646331"/>
          </a:xfrm>
          <a:prstGeom prst="rect">
            <a:avLst/>
          </a:prstGeom>
          <a:noFill/>
        </p:spPr>
        <p:txBody>
          <a:bodyPr wrap="square" lIns="91440" tIns="45720" rIns="91440" bIns="45720" anchor="t">
            <a:spAutoFit/>
          </a:bodyPr>
          <a:lstStyle/>
          <a:p>
            <a:r>
              <a:rPr lang="en-US" sz="3600">
                <a:solidFill>
                  <a:schemeClr val="bg1"/>
                </a:solidFill>
                <a:latin typeface="Aptos" panose="020B0004020202020204" pitchFamily="34" charset="0"/>
              </a:rPr>
              <a:t>Good practices IV</a:t>
            </a:r>
            <a:endParaRPr lang="en-GB" sz="3600">
              <a:solidFill>
                <a:schemeClr val="bg1"/>
              </a:solidFill>
              <a:latin typeface="Aptos" panose="020B0004020202020204" pitchFamily="34" charset="0"/>
            </a:endParaRPr>
          </a:p>
        </p:txBody>
      </p:sp>
      <p:pic>
        <p:nvPicPr>
          <p:cNvPr id="10" name="Picture 9">
            <a:extLst>
              <a:ext uri="{FF2B5EF4-FFF2-40B4-BE49-F238E27FC236}">
                <a16:creationId xmlns:a16="http://schemas.microsoft.com/office/drawing/2014/main" id="{5E4B67E2-D951-9B64-F7E7-EFF69ED06F0B}"/>
              </a:ext>
            </a:extLst>
          </p:cNvPr>
          <p:cNvPicPr>
            <a:picLocks noChangeAspect="1"/>
          </p:cNvPicPr>
          <p:nvPr/>
        </p:nvPicPr>
        <p:blipFill>
          <a:blip r:embed="rId4"/>
          <a:stretch>
            <a:fillRect/>
          </a:stretch>
        </p:blipFill>
        <p:spPr>
          <a:xfrm>
            <a:off x="277664" y="132328"/>
            <a:ext cx="7085244" cy="2101024"/>
          </a:xfrm>
          <a:prstGeom prst="rect">
            <a:avLst/>
          </a:prstGeom>
          <a:ln>
            <a:solidFill>
              <a:srgbClr val="004B7F"/>
            </a:solidFill>
          </a:ln>
        </p:spPr>
      </p:pic>
      <p:pic>
        <p:nvPicPr>
          <p:cNvPr id="12" name="Picture 11">
            <a:extLst>
              <a:ext uri="{FF2B5EF4-FFF2-40B4-BE49-F238E27FC236}">
                <a16:creationId xmlns:a16="http://schemas.microsoft.com/office/drawing/2014/main" id="{6ECE5539-720E-3A60-7D8F-EA63FA67AC74}"/>
              </a:ext>
            </a:extLst>
          </p:cNvPr>
          <p:cNvPicPr>
            <a:picLocks noChangeAspect="1"/>
          </p:cNvPicPr>
          <p:nvPr/>
        </p:nvPicPr>
        <p:blipFill>
          <a:blip r:embed="rId5"/>
          <a:stretch>
            <a:fillRect/>
          </a:stretch>
        </p:blipFill>
        <p:spPr>
          <a:xfrm>
            <a:off x="277664" y="4587834"/>
            <a:ext cx="7085244" cy="2225640"/>
          </a:xfrm>
          <a:prstGeom prst="rect">
            <a:avLst/>
          </a:prstGeom>
          <a:ln>
            <a:solidFill>
              <a:srgbClr val="004B7F"/>
            </a:solidFill>
          </a:ln>
        </p:spPr>
      </p:pic>
      <p:pic>
        <p:nvPicPr>
          <p:cNvPr id="15" name="Picture 14">
            <a:extLst>
              <a:ext uri="{FF2B5EF4-FFF2-40B4-BE49-F238E27FC236}">
                <a16:creationId xmlns:a16="http://schemas.microsoft.com/office/drawing/2014/main" id="{F3A9F896-2FB3-2891-4570-D9325394FF0A}"/>
              </a:ext>
            </a:extLst>
          </p:cNvPr>
          <p:cNvPicPr>
            <a:picLocks noChangeAspect="1"/>
          </p:cNvPicPr>
          <p:nvPr/>
        </p:nvPicPr>
        <p:blipFill>
          <a:blip r:embed="rId6"/>
          <a:stretch>
            <a:fillRect/>
          </a:stretch>
        </p:blipFill>
        <p:spPr>
          <a:xfrm>
            <a:off x="277664" y="2327981"/>
            <a:ext cx="7085244" cy="2160626"/>
          </a:xfrm>
          <a:prstGeom prst="rect">
            <a:avLst/>
          </a:prstGeom>
          <a:ln>
            <a:solidFill>
              <a:srgbClr val="004B7F"/>
            </a:solidFill>
          </a:ln>
        </p:spPr>
      </p:pic>
    </p:spTree>
    <p:extLst>
      <p:ext uri="{BB962C8B-B14F-4D97-AF65-F5344CB8AC3E}">
        <p14:creationId xmlns:p14="http://schemas.microsoft.com/office/powerpoint/2010/main" val="3339645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83118-21BE-1B99-4237-A7CCB852ADD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9DA07BAA-CE2C-A27D-3810-435388B76060}"/>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sp>
        <p:nvSpPr>
          <p:cNvPr id="2" name="TextBox 1">
            <a:extLst>
              <a:ext uri="{FF2B5EF4-FFF2-40B4-BE49-F238E27FC236}">
                <a16:creationId xmlns:a16="http://schemas.microsoft.com/office/drawing/2014/main" id="{800B90C8-18C0-8753-2F30-B377F9317C35}"/>
              </a:ext>
            </a:extLst>
          </p:cNvPr>
          <p:cNvSpPr txBox="1"/>
          <p:nvPr/>
        </p:nvSpPr>
        <p:spPr>
          <a:xfrm>
            <a:off x="4593277" y="293038"/>
            <a:ext cx="8656560" cy="646331"/>
          </a:xfrm>
          <a:prstGeom prst="rect">
            <a:avLst/>
          </a:prstGeom>
          <a:noFill/>
        </p:spPr>
        <p:txBody>
          <a:bodyPr wrap="square" lIns="91440" tIns="45720" rIns="91440" bIns="45720" anchor="t">
            <a:spAutoFit/>
          </a:bodyPr>
          <a:lstStyle/>
          <a:p>
            <a:r>
              <a:rPr lang="hu-HU" sz="3600">
                <a:solidFill>
                  <a:srgbClr val="009999"/>
                </a:solidFill>
                <a:latin typeface="Aptos" panose="020B0004020202020204" pitchFamily="34" charset="0"/>
              </a:rPr>
              <a:t>Voluntary elements</a:t>
            </a:r>
            <a:endParaRPr lang="en-GB" sz="3600">
              <a:solidFill>
                <a:srgbClr val="009999"/>
              </a:solidFill>
              <a:latin typeface="Aptos" panose="020B0004020202020204" pitchFamily="34" charset="0"/>
            </a:endParaRPr>
          </a:p>
        </p:txBody>
      </p:sp>
      <p:pic>
        <p:nvPicPr>
          <p:cNvPr id="4" name="Picture 3" descr="A river flowing through a rocky area&#10;&#10;AI-generated content may be incorrect.">
            <a:extLst>
              <a:ext uri="{FF2B5EF4-FFF2-40B4-BE49-F238E27FC236}">
                <a16:creationId xmlns:a16="http://schemas.microsoft.com/office/drawing/2014/main" id="{B471BF29-0B77-B034-97EE-58172D204DF9}"/>
              </a:ext>
            </a:extLst>
          </p:cNvPr>
          <p:cNvPicPr>
            <a:picLocks noChangeAspect="1"/>
          </p:cNvPicPr>
          <p:nvPr/>
        </p:nvPicPr>
        <p:blipFill>
          <a:blip r:embed="rId2"/>
          <a:srcRect l="42429" t="12237" r="23532" b="10437"/>
          <a:stretch>
            <a:fillRect/>
          </a:stretch>
        </p:blipFill>
        <p:spPr>
          <a:xfrm flipH="1">
            <a:off x="0" y="0"/>
            <a:ext cx="4529667" cy="6858000"/>
          </a:xfrm>
          <a:prstGeom prst="rect">
            <a:avLst/>
          </a:prstGeom>
        </p:spPr>
      </p:pic>
      <p:sp>
        <p:nvSpPr>
          <p:cNvPr id="6" name="TextBox 5">
            <a:extLst>
              <a:ext uri="{FF2B5EF4-FFF2-40B4-BE49-F238E27FC236}">
                <a16:creationId xmlns:a16="http://schemas.microsoft.com/office/drawing/2014/main" id="{B6E2E62C-B55D-3E39-1CE7-847C7A29743A}"/>
              </a:ext>
            </a:extLst>
          </p:cNvPr>
          <p:cNvSpPr txBox="1"/>
          <p:nvPr/>
        </p:nvSpPr>
        <p:spPr>
          <a:xfrm>
            <a:off x="4685306" y="932533"/>
            <a:ext cx="7154186" cy="3693319"/>
          </a:xfrm>
          <a:prstGeom prst="rect">
            <a:avLst/>
          </a:prstGeom>
          <a:noFill/>
        </p:spPr>
        <p:txBody>
          <a:bodyPr wrap="square">
            <a:spAutoFit/>
          </a:bodyPr>
          <a:lstStyle/>
          <a:p>
            <a:r>
              <a:rPr lang="en-US"/>
              <a:t>	</a:t>
            </a:r>
          </a:p>
          <a:p>
            <a:pPr marL="285750" indent="-285750">
              <a:buFont typeface="Arial" panose="020B0604020202020204" pitchFamily="34" charset="0"/>
              <a:buChar char="•"/>
            </a:pPr>
            <a:r>
              <a:rPr lang="en-US"/>
              <a:t>Challenges, gaps and barriers</a:t>
            </a:r>
            <a:endParaRPr lang="hu-HU"/>
          </a:p>
          <a:p>
            <a:pPr marL="285750" indent="-285750">
              <a:buFont typeface="Arial" panose="020B0604020202020204" pitchFamily="34" charset="0"/>
              <a:buChar char="•"/>
            </a:pPr>
            <a:r>
              <a:rPr lang="en-US"/>
              <a:t>Foreseen actions, budget and timeline related to the adaptation goals </a:t>
            </a:r>
            <a:endParaRPr lang="hu-HU"/>
          </a:p>
          <a:p>
            <a:pPr marL="285750" indent="-285750">
              <a:buFont typeface="Arial" panose="020B0604020202020204" pitchFamily="34" charset="0"/>
              <a:buChar char="•"/>
            </a:pPr>
            <a:r>
              <a:rPr lang="en-US"/>
              <a:t>Overview of the content of sub-national strategies, policies, plans and efforts related to the adaptation goals</a:t>
            </a:r>
            <a:endParaRPr lang="hu-HU"/>
          </a:p>
          <a:p>
            <a:pPr marL="285750" indent="-285750">
              <a:buFont typeface="Arial" panose="020B0604020202020204" pitchFamily="34" charset="0"/>
              <a:buChar char="•"/>
            </a:pPr>
            <a:r>
              <a:rPr lang="en-US"/>
              <a:t>Progress towards reducing climate impacts, vulnerabilities and risks</a:t>
            </a:r>
            <a:endParaRPr lang="hu-HU"/>
          </a:p>
          <a:p>
            <a:pPr marL="285750" indent="-285750">
              <a:buFont typeface="Arial" panose="020B0604020202020204" pitchFamily="34" charset="0"/>
              <a:buChar char="•"/>
            </a:pPr>
            <a:r>
              <a:rPr lang="en-US"/>
              <a:t>Progress towards increasing adaptive capacity</a:t>
            </a:r>
            <a:endParaRPr lang="hu-HU"/>
          </a:p>
          <a:p>
            <a:pPr marL="285750" indent="-285750">
              <a:buFont typeface="Arial" panose="020B0604020202020204" pitchFamily="34" charset="0"/>
              <a:buChar char="•"/>
            </a:pPr>
            <a:r>
              <a:rPr lang="en-GB"/>
              <a:t>Progress towards addressing barriers</a:t>
            </a:r>
            <a:endParaRPr lang="hu-HU"/>
          </a:p>
          <a:p>
            <a:pPr marL="285750" indent="-285750">
              <a:buFont typeface="Arial" panose="020B0604020202020204" pitchFamily="34" charset="0"/>
              <a:buChar char="•"/>
            </a:pPr>
            <a:endParaRPr lang="hu-HU"/>
          </a:p>
          <a:p>
            <a:pPr marL="285750" indent="-285750">
              <a:buFont typeface="Arial" panose="020B0604020202020204" pitchFamily="34" charset="0"/>
              <a:buChar char="•"/>
            </a:pPr>
            <a:r>
              <a:rPr lang="hu-HU"/>
              <a:t>I</a:t>
            </a:r>
            <a:r>
              <a:rPr lang="en-US" err="1"/>
              <a:t>nformation</a:t>
            </a:r>
            <a:r>
              <a:rPr lang="en-US"/>
              <a:t> on vulnerabilities, including adaptive capacities, disaggregated by vulnerable group</a:t>
            </a:r>
            <a:endParaRPr lang="hu-HU"/>
          </a:p>
          <a:p>
            <a:pPr marL="285750" indent="-285750">
              <a:buFont typeface="Arial" panose="020B0604020202020204" pitchFamily="34" charset="0"/>
              <a:buChar char="•"/>
            </a:pPr>
            <a:r>
              <a:rPr lang="hu-HU"/>
              <a:t>I</a:t>
            </a:r>
            <a:r>
              <a:rPr lang="en-US" err="1"/>
              <a:t>nformation</a:t>
            </a:r>
            <a:r>
              <a:rPr lang="en-US"/>
              <a:t> on progress towards reducing climate impacts, vulnerabilities and risks, disaggregated by vulnerable group</a:t>
            </a:r>
          </a:p>
        </p:txBody>
      </p:sp>
    </p:spTree>
    <p:extLst>
      <p:ext uri="{BB962C8B-B14F-4D97-AF65-F5344CB8AC3E}">
        <p14:creationId xmlns:p14="http://schemas.microsoft.com/office/powerpoint/2010/main" val="235396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BA0DC7-E079-B1D1-10A5-FCF48B1FD46F}"/>
              </a:ext>
            </a:extLst>
          </p:cNvPr>
          <p:cNvSpPr txBox="1"/>
          <p:nvPr/>
        </p:nvSpPr>
        <p:spPr>
          <a:xfrm>
            <a:off x="307524" y="425632"/>
            <a:ext cx="8656560" cy="646331"/>
          </a:xfrm>
          <a:prstGeom prst="rect">
            <a:avLst/>
          </a:prstGeom>
          <a:noFill/>
        </p:spPr>
        <p:txBody>
          <a:bodyPr wrap="square" lIns="91440" tIns="45720" rIns="91440" bIns="45720" anchor="t">
            <a:spAutoFit/>
          </a:bodyPr>
          <a:lstStyle/>
          <a:p>
            <a:r>
              <a:rPr lang="en-US" sz="3600">
                <a:solidFill>
                  <a:srgbClr val="009999"/>
                </a:solidFill>
                <a:latin typeface="Aptos" panose="020B0004020202020204" pitchFamily="34" charset="0"/>
              </a:rPr>
              <a:t>Where to find inspiration?</a:t>
            </a:r>
            <a:endParaRPr lang="en-GB" sz="3600">
              <a:solidFill>
                <a:srgbClr val="009999"/>
              </a:solidFill>
              <a:latin typeface="Aptos" panose="020B0004020202020204" pitchFamily="34" charset="0"/>
            </a:endParaRPr>
          </a:p>
        </p:txBody>
      </p:sp>
      <p:pic>
        <p:nvPicPr>
          <p:cNvPr id="4" name="Picture 3">
            <a:extLst>
              <a:ext uri="{FF2B5EF4-FFF2-40B4-BE49-F238E27FC236}">
                <a16:creationId xmlns:a16="http://schemas.microsoft.com/office/drawing/2014/main" id="{4426A652-4698-A865-4CFF-CCF4BB590FEE}"/>
              </a:ext>
            </a:extLst>
          </p:cNvPr>
          <p:cNvPicPr>
            <a:picLocks noChangeAspect="1"/>
          </p:cNvPicPr>
          <p:nvPr/>
        </p:nvPicPr>
        <p:blipFill>
          <a:blip r:embed="rId2"/>
          <a:stretch>
            <a:fillRect/>
          </a:stretch>
        </p:blipFill>
        <p:spPr>
          <a:xfrm>
            <a:off x="307524" y="1484529"/>
            <a:ext cx="6640040" cy="4144995"/>
          </a:xfrm>
          <a:prstGeom prst="rect">
            <a:avLst/>
          </a:prstGeom>
        </p:spPr>
      </p:pic>
      <p:sp>
        <p:nvSpPr>
          <p:cNvPr id="6" name="TextBox 5">
            <a:extLst>
              <a:ext uri="{FF2B5EF4-FFF2-40B4-BE49-F238E27FC236}">
                <a16:creationId xmlns:a16="http://schemas.microsoft.com/office/drawing/2014/main" id="{CE79D891-950D-E461-A700-403433337C91}"/>
              </a:ext>
            </a:extLst>
          </p:cNvPr>
          <p:cNvSpPr txBox="1"/>
          <p:nvPr/>
        </p:nvSpPr>
        <p:spPr>
          <a:xfrm>
            <a:off x="175560" y="6223397"/>
            <a:ext cx="6555850" cy="276999"/>
          </a:xfrm>
          <a:prstGeom prst="rect">
            <a:avLst/>
          </a:prstGeom>
          <a:noFill/>
        </p:spPr>
        <p:txBody>
          <a:bodyPr wrap="square">
            <a:spAutoFit/>
          </a:bodyPr>
          <a:lstStyle/>
          <a:p>
            <a:r>
              <a:rPr lang="en-US" sz="1200">
                <a:latin typeface="Aptos" panose="020B0004020202020204" pitchFamily="34" charset="0"/>
                <a:hlinkClick r:id="rId3"/>
              </a:rPr>
              <a:t>Climate and Energy in the EU</a:t>
            </a:r>
            <a:endParaRPr lang="en-GB" sz="1200">
              <a:latin typeface="Aptos" panose="020B0004020202020204" pitchFamily="34" charset="0"/>
            </a:endParaRPr>
          </a:p>
        </p:txBody>
      </p:sp>
      <p:pic>
        <p:nvPicPr>
          <p:cNvPr id="8" name="Picture 7">
            <a:extLst>
              <a:ext uri="{FF2B5EF4-FFF2-40B4-BE49-F238E27FC236}">
                <a16:creationId xmlns:a16="http://schemas.microsoft.com/office/drawing/2014/main" id="{F086B820-E28B-ECB6-8D19-B5ABB1D6AEA6}"/>
              </a:ext>
            </a:extLst>
          </p:cNvPr>
          <p:cNvPicPr>
            <a:picLocks noChangeAspect="1"/>
          </p:cNvPicPr>
          <p:nvPr/>
        </p:nvPicPr>
        <p:blipFill>
          <a:blip r:embed="rId4"/>
          <a:stretch>
            <a:fillRect/>
          </a:stretch>
        </p:blipFill>
        <p:spPr>
          <a:xfrm>
            <a:off x="6688354" y="0"/>
            <a:ext cx="5328087" cy="6858000"/>
          </a:xfrm>
          <a:prstGeom prst="rect">
            <a:avLst/>
          </a:prstGeom>
        </p:spPr>
      </p:pic>
      <p:sp>
        <p:nvSpPr>
          <p:cNvPr id="10" name="TextBox 9">
            <a:extLst>
              <a:ext uri="{FF2B5EF4-FFF2-40B4-BE49-F238E27FC236}">
                <a16:creationId xmlns:a16="http://schemas.microsoft.com/office/drawing/2014/main" id="{59288D70-F718-622A-F097-A90A19411DEE}"/>
              </a:ext>
            </a:extLst>
          </p:cNvPr>
          <p:cNvSpPr txBox="1"/>
          <p:nvPr/>
        </p:nvSpPr>
        <p:spPr>
          <a:xfrm>
            <a:off x="175560" y="6402198"/>
            <a:ext cx="6555850" cy="276999"/>
          </a:xfrm>
          <a:prstGeom prst="rect">
            <a:avLst/>
          </a:prstGeom>
          <a:noFill/>
        </p:spPr>
        <p:txBody>
          <a:bodyPr wrap="square">
            <a:spAutoFit/>
          </a:bodyPr>
          <a:lstStyle/>
          <a:p>
            <a:r>
              <a:rPr lang="en-GB" sz="1200">
                <a:latin typeface="Aptos" panose="020B0004020202020204" pitchFamily="34" charset="0"/>
                <a:hlinkClick r:id="rId5"/>
              </a:rPr>
              <a:t>Article 17 Annex III Dashboard</a:t>
            </a:r>
            <a:endParaRPr lang="en-GB" sz="1200">
              <a:latin typeface="Aptos" panose="020B0004020202020204" pitchFamily="34" charset="0"/>
            </a:endParaRPr>
          </a:p>
        </p:txBody>
      </p:sp>
      <p:sp>
        <p:nvSpPr>
          <p:cNvPr id="11" name="TextBox 10">
            <a:extLst>
              <a:ext uri="{FF2B5EF4-FFF2-40B4-BE49-F238E27FC236}">
                <a16:creationId xmlns:a16="http://schemas.microsoft.com/office/drawing/2014/main" id="{82010D08-334C-1EFE-BCF0-426D8FC60504}"/>
              </a:ext>
            </a:extLst>
          </p:cNvPr>
          <p:cNvSpPr txBox="1"/>
          <p:nvPr/>
        </p:nvSpPr>
        <p:spPr>
          <a:xfrm>
            <a:off x="7055459" y="6247702"/>
            <a:ext cx="5136541" cy="369332"/>
          </a:xfrm>
          <a:prstGeom prst="rect">
            <a:avLst/>
          </a:prstGeom>
          <a:noFill/>
        </p:spPr>
        <p:txBody>
          <a:bodyPr wrap="square" rtlCol="0">
            <a:spAutoFit/>
          </a:bodyPr>
          <a:lstStyle/>
          <a:p>
            <a:r>
              <a:rPr lang="en-US">
                <a:solidFill>
                  <a:srgbClr val="C00000"/>
                </a:solidFill>
              </a:rPr>
              <a:t>to be updated with 2025 data by December 2025</a:t>
            </a:r>
            <a:endParaRPr lang="en-GB">
              <a:solidFill>
                <a:srgbClr val="C00000"/>
              </a:solidFill>
            </a:endParaRPr>
          </a:p>
        </p:txBody>
      </p:sp>
    </p:spTree>
    <p:extLst>
      <p:ext uri="{BB962C8B-B14F-4D97-AF65-F5344CB8AC3E}">
        <p14:creationId xmlns:p14="http://schemas.microsoft.com/office/powerpoint/2010/main" val="147522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42B9-C215-B25C-849A-6D7416C148F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97B981CB-E4BA-D930-DD49-D1FADD2BBBBE}"/>
              </a:ext>
            </a:extLst>
          </p:cNvPr>
          <p:cNvSpPr txBox="1"/>
          <p:nvPr/>
        </p:nvSpPr>
        <p:spPr>
          <a:xfrm>
            <a:off x="6517265" y="6473413"/>
            <a:ext cx="3168102" cy="215444"/>
          </a:xfrm>
          <a:prstGeom prst="rect">
            <a:avLst/>
          </a:prstGeom>
          <a:noFill/>
        </p:spPr>
        <p:txBody>
          <a:bodyPr wrap="square" rtlCol="0">
            <a:spAutoFit/>
          </a:bodyPr>
          <a:lstStyle/>
          <a:p>
            <a:r>
              <a:rPr lang="en-GB" sz="800">
                <a:solidFill>
                  <a:schemeClr val="bg1"/>
                </a:solidFill>
                <a:latin typeface="Aptos" panose="020B0004020202020204" pitchFamily="34" charset="0"/>
              </a:rPr>
              <a:t>©  Source</a:t>
            </a:r>
            <a:endParaRPr lang="en-DK" sz="800">
              <a:solidFill>
                <a:schemeClr val="bg1"/>
              </a:solidFill>
              <a:latin typeface="Aptos" panose="020B0004020202020204" pitchFamily="34" charset="0"/>
            </a:endParaRPr>
          </a:p>
        </p:txBody>
      </p:sp>
      <p:pic>
        <p:nvPicPr>
          <p:cNvPr id="2" name="Picture 1" descr="A river flowing through a rocky area&#10;&#10;AI-generated content may be incorrect.">
            <a:extLst>
              <a:ext uri="{FF2B5EF4-FFF2-40B4-BE49-F238E27FC236}">
                <a16:creationId xmlns:a16="http://schemas.microsoft.com/office/drawing/2014/main" id="{0905654C-CEBD-B627-BAC5-8F3B3E1CE514}"/>
              </a:ext>
            </a:extLst>
          </p:cNvPr>
          <p:cNvPicPr>
            <a:picLocks noChangeAspect="1"/>
          </p:cNvPicPr>
          <p:nvPr/>
        </p:nvPicPr>
        <p:blipFill>
          <a:blip r:embed="rId2"/>
          <a:srcRect t="17301" r="8462" b="5374"/>
          <a:stretch>
            <a:fillRect/>
          </a:stretch>
        </p:blipFill>
        <p:spPr>
          <a:xfrm flipH="1">
            <a:off x="11212" y="0"/>
            <a:ext cx="12180788" cy="6858000"/>
          </a:xfrm>
          <a:prstGeom prst="rect">
            <a:avLst/>
          </a:prstGeom>
        </p:spPr>
      </p:pic>
      <p:sp>
        <p:nvSpPr>
          <p:cNvPr id="3" name="TextBox 2">
            <a:extLst>
              <a:ext uri="{FF2B5EF4-FFF2-40B4-BE49-F238E27FC236}">
                <a16:creationId xmlns:a16="http://schemas.microsoft.com/office/drawing/2014/main" id="{5C4675D7-42F1-4CCE-48C7-65C6BCE6C59F}"/>
              </a:ext>
            </a:extLst>
          </p:cNvPr>
          <p:cNvSpPr txBox="1"/>
          <p:nvPr/>
        </p:nvSpPr>
        <p:spPr>
          <a:xfrm>
            <a:off x="138113" y="6487992"/>
            <a:ext cx="623887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Hanifi</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Koç</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a:t>
            </a:r>
            <a:r>
              <a:rPr kumimoji="0" lang="fr-FR" sz="1200" b="0" i="0" u="none" strike="noStrike" kern="1200" cap="none" spc="0" normalizeH="0" baseline="0" noProof="0" err="1">
                <a:ln>
                  <a:noFill/>
                </a:ln>
                <a:solidFill>
                  <a:prstClr val="white"/>
                </a:solidFill>
                <a:effectLst/>
                <a:uLnTx/>
                <a:uFillTx/>
                <a:latin typeface="Aptos" panose="02110004020202020204"/>
                <a:ea typeface="+mn-ea"/>
                <a:cs typeface="+mn-cs"/>
              </a:rPr>
              <a:t>Environment&amp;Me</a:t>
            </a:r>
            <a:r>
              <a:rPr kumimoji="0" lang="fr-FR" sz="1200" b="0" i="0" u="none" strike="noStrike" kern="1200" cap="none" spc="0" normalizeH="0" baseline="0" noProof="0">
                <a:ln>
                  <a:noFill/>
                </a:ln>
                <a:solidFill>
                  <a:prstClr val="white"/>
                </a:solidFill>
                <a:effectLst/>
                <a:uLnTx/>
                <a:uFillTx/>
                <a:latin typeface="Aptos" panose="02110004020202020204"/>
                <a:ea typeface="+mn-ea"/>
                <a:cs typeface="+mn-cs"/>
              </a:rPr>
              <a:t> 2025 / EEA</a:t>
            </a:r>
            <a:endParaRPr kumimoji="0" lang="en-DK" sz="12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 name="Picture 3" descr="A blue and green logo&#10;&#10;Description automatically generated">
            <a:extLst>
              <a:ext uri="{FF2B5EF4-FFF2-40B4-BE49-F238E27FC236}">
                <a16:creationId xmlns:a16="http://schemas.microsoft.com/office/drawing/2014/main" id="{A92867EB-60FD-2525-C005-5B1BECA10563}"/>
              </a:ext>
            </a:extLst>
          </p:cNvPr>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rot="21424502">
            <a:off x="9588569" y="4507761"/>
            <a:ext cx="2892173" cy="2892173"/>
          </a:xfrm>
          <a:prstGeom prst="rect">
            <a:avLst/>
          </a:prstGeom>
        </p:spPr>
      </p:pic>
      <p:sp>
        <p:nvSpPr>
          <p:cNvPr id="5" name="TextBox 4">
            <a:extLst>
              <a:ext uri="{FF2B5EF4-FFF2-40B4-BE49-F238E27FC236}">
                <a16:creationId xmlns:a16="http://schemas.microsoft.com/office/drawing/2014/main" id="{E63533B3-C943-690C-98D8-18C62FF2A46B}"/>
              </a:ext>
            </a:extLst>
          </p:cNvPr>
          <p:cNvSpPr txBox="1"/>
          <p:nvPr/>
        </p:nvSpPr>
        <p:spPr>
          <a:xfrm>
            <a:off x="10756232" y="5292127"/>
            <a:ext cx="183740" cy="1323439"/>
          </a:xfrm>
          <a:prstGeom prst="rect">
            <a:avLst/>
          </a:prstGeom>
          <a:noFill/>
        </p:spPr>
        <p:txBody>
          <a:bodyPr wrap="square" rtlCol="0">
            <a:spAutoFit/>
          </a:bodyPr>
          <a:lstStyle/>
          <a:p>
            <a:r>
              <a:rPr lang="en-US" sz="8000">
                <a:solidFill>
                  <a:schemeClr val="bg1"/>
                </a:solidFill>
                <a:latin typeface="Aptos" panose="020B0004020202020204" pitchFamily="34" charset="0"/>
              </a:rPr>
              <a:t>?</a:t>
            </a:r>
            <a:endParaRPr lang="en-DK" sz="8000">
              <a:solidFill>
                <a:schemeClr val="bg1"/>
              </a:solidFill>
              <a:latin typeface="Aptos" panose="020B0004020202020204" pitchFamily="34" charset="0"/>
            </a:endParaRPr>
          </a:p>
        </p:txBody>
      </p:sp>
    </p:spTree>
    <p:extLst>
      <p:ext uri="{BB962C8B-B14F-4D97-AF65-F5344CB8AC3E}">
        <p14:creationId xmlns:p14="http://schemas.microsoft.com/office/powerpoint/2010/main" val="652055743"/>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03051"/>
      </a:dk2>
      <a:lt2>
        <a:srgbClr val="E7E6E6"/>
      </a:lt2>
      <a:accent1>
        <a:srgbClr val="289588"/>
      </a:accent1>
      <a:accent2>
        <a:srgbClr val="004B7F"/>
      </a:accent2>
      <a:accent3>
        <a:srgbClr val="005148"/>
      </a:accent3>
      <a:accent4>
        <a:srgbClr val="FAC50D"/>
      </a:accent4>
      <a:accent5>
        <a:srgbClr val="B83230"/>
      </a:accent5>
      <a:accent6>
        <a:srgbClr val="5C1918"/>
      </a:accent6>
      <a:hlink>
        <a:srgbClr val="3C096C"/>
      </a:hlink>
      <a:folHlink>
        <a:srgbClr val="3C220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EA_corporate_template_2025" id="{4D994E23-F07B-4330-A1ED-973569385687}" vid="{B38D2213-8BE7-4FE8-96BE-82C40A90BBD2}"/>
    </a:ext>
  </a:extLst>
</a:theme>
</file>

<file path=ppt/theme/theme2.xml><?xml version="1.0" encoding="utf-8"?>
<a:theme xmlns:a="http://schemas.openxmlformats.org/drawingml/2006/main" name="Custom Design">
  <a:themeElements>
    <a:clrScheme name="EEA">
      <a:dk1>
        <a:srgbClr val="000000"/>
      </a:dk1>
      <a:lt1>
        <a:srgbClr val="FFFFFF"/>
      </a:lt1>
      <a:dk2>
        <a:srgbClr val="003051"/>
      </a:dk2>
      <a:lt2>
        <a:srgbClr val="E7E6E6"/>
      </a:lt2>
      <a:accent1>
        <a:srgbClr val="007B6C"/>
      </a:accent1>
      <a:accent2>
        <a:srgbClr val="004B7F"/>
      </a:accent2>
      <a:accent3>
        <a:srgbClr val="005148"/>
      </a:accent3>
      <a:accent4>
        <a:srgbClr val="FAC50D"/>
      </a:accent4>
      <a:accent5>
        <a:srgbClr val="B83230"/>
      </a:accent5>
      <a:accent6>
        <a:srgbClr val="5C1918"/>
      </a:accent6>
      <a:hlink>
        <a:srgbClr val="3C096C"/>
      </a:hlink>
      <a:folHlink>
        <a:srgbClr val="3C220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r">
          <a:defRPr sz="3600" dirty="0">
            <a:solidFill>
              <a:schemeClr val="bg1"/>
            </a:solidFill>
            <a:latin typeface="Aptos" panose="020B0004020202020204" pitchFamily="34" charset="0"/>
            <a:ea typeface="+mn-lt"/>
            <a:cs typeface="+mn-lt"/>
          </a:defRPr>
        </a:defPPr>
      </a:lstStyle>
    </a:txDef>
  </a:objectDefaults>
  <a:extraClrSchemeLst/>
  <a:extLst>
    <a:ext uri="{05A4C25C-085E-4340-85A3-A5531E510DB2}">
      <thm15:themeFamily xmlns:thm15="http://schemas.microsoft.com/office/thememl/2012/main" name="EEA_corporate_template_2025" id="{4D994E23-F07B-4330-A1ED-973569385687}" vid="{A4C0C8D8-58CB-4053-815E-E46B754A485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40712eb-23a5-460f-9036-c6d10688f9a1" xsi:nil="true"/>
    <lcf76f155ced4ddcb4097134ff3c332f xmlns="1403fb54-47f0-4125-8d87-6a6e13582a5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7BA3A2428DB744E821DDFA0A9E10ECC" ma:contentTypeVersion="14" ma:contentTypeDescription="Create a new document." ma:contentTypeScope="" ma:versionID="8bee8df0d26522b659286bbf97a4b010">
  <xsd:schema xmlns:xsd="http://www.w3.org/2001/XMLSchema" xmlns:xs="http://www.w3.org/2001/XMLSchema" xmlns:p="http://schemas.microsoft.com/office/2006/metadata/properties" xmlns:ns2="1403fb54-47f0-4125-8d87-6a6e13582a5f" xmlns:ns3="340712eb-23a5-460f-9036-c6d10688f9a1" targetNamespace="http://schemas.microsoft.com/office/2006/metadata/properties" ma:root="true" ma:fieldsID="2079c50b34cde841e7e7eef08b1850f0" ns2:_="" ns3:_="">
    <xsd:import namespace="1403fb54-47f0-4125-8d87-6a6e13582a5f"/>
    <xsd:import namespace="340712eb-23a5-460f-9036-c6d10688f9a1"/>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03fb54-47f0-4125-8d87-6a6e13582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40712eb-23a5-460f-9036-c6d10688f9a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e6286381-c642-4a0c-afc0-c5b6a9882855}" ma:internalName="TaxCatchAll" ma:showField="CatchAllData" ma:web="340712eb-23a5-460f-9036-c6d10688f9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5CFFE6-7C97-4ABD-A102-0451C907C48F}">
  <ds:schemaRefs>
    <ds:schemaRef ds:uri="17d8fa40-3667-4042-b604-b9ffb9f5dd87"/>
    <ds:schemaRef ds:uri="8f8cc9cf-95e3-4160-8451-0be025984d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F40868C-A5BD-4A2E-B5BF-D1B11818B188}"/>
</file>

<file path=customXml/itemProps3.xml><?xml version="1.0" encoding="utf-8"?>
<ds:datastoreItem xmlns:ds="http://schemas.openxmlformats.org/officeDocument/2006/customXml" ds:itemID="{A77DD690-81E9-40DF-8F83-68C0B98ECD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EEA_corporate_template_2025</Template>
  <Application>Microsoft Office PowerPoint</Application>
  <PresentationFormat>Widescreen</PresentationFormat>
  <Slides>27</Slides>
  <Notes>12</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European Environment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Angelika Tamasova</dc:creator>
  <cp:revision>3</cp:revision>
  <dcterms:created xsi:type="dcterms:W3CDTF">2025-10-21T13:02:10Z</dcterms:created>
  <dcterms:modified xsi:type="dcterms:W3CDTF">2025-10-22T13:48:12Z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0x010100A7BA3A2428DB744E821DDFA0A9E10ECC</vt:lpwstr>
  </property>
  <property fmtid="{D5CDD505-2E9C-101B-9397-08002B2CF9AE}" pid="3" name="MediaServiceImageTags">
    <vt:lpwstr/>
  </property>
</Properties>
</file>