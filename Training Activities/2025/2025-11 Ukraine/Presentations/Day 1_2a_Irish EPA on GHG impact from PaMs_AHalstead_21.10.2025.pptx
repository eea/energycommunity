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Masters/notesMaster1.xml" ContentType="application/vnd.openxmlformats-officedocument.presentationml.notesMaster+xml"/>
  <Override PartName="/ppt/charts/style3.xml" ContentType="application/vnd.ms-office.chartstyle+xml"/>
  <Override PartName="/ppt/theme/theme1.xml" ContentType="application/vnd.openxmlformats-officedocument.theme+xml"/>
  <Override PartName="/ppt/charts/chart3.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heme/themeOverride2.xml" ContentType="application/vnd.openxmlformats-officedocument.themeOverrid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theme/themeOverride1.xml" ContentType="application/vnd.openxmlformats-officedocument.themeOverride+xml"/>
  <Override PartName="/ppt/charts/colors1.xml" ContentType="application/vnd.ms-office.chartcolorstyle+xml"/>
  <Override PartName="/ppt/charts/chart1.xml" ContentType="application/vnd.openxmlformats-officedocument.drawingml.chart+xml"/>
  <Override PartName="/ppt/charts/style1.xml" ContentType="application/vnd.ms-office.chartstyle+xml"/>
  <Override PartName="/ppt/theme/themeOverride4.xml" ContentType="application/vnd.openxmlformats-officedocument.themeOverride+xml"/>
  <Override PartName="/ppt/charts/style4.xml" ContentType="application/vnd.ms-office.chartstyle+xml"/>
  <Override PartName="/ppt/theme/theme4.xml" ContentType="application/vnd.openxmlformats-officedocument.theme+xml"/>
  <Override PartName="/ppt/charts/chart4.xml" ContentType="application/vnd.openxmlformats-officedocument.drawingml.chart+xml"/>
  <Override PartName="/ppt/charts/colors4.xml" ContentType="application/vnd.ms-office.chartcolorstyle+xml"/>
  <Override PartName="/ppt/theme/themeOverride3.xml" ContentType="application/vnd.openxmlformats-officedocument.themeOverride+xml"/>
  <Override PartName="/ppt/charts/colors3.xml" ContentType="application/vnd.ms-office.chartcolorstyl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88" r:id="rId3"/>
  </p:sldMasterIdLst>
  <p:notesMasterIdLst>
    <p:notesMasterId r:id="rId27"/>
  </p:notesMasterIdLst>
  <p:sldIdLst>
    <p:sldId id="393" r:id="rId4"/>
    <p:sldId id="789" r:id="rId5"/>
    <p:sldId id="790" r:id="rId6"/>
    <p:sldId id="791" r:id="rId7"/>
    <p:sldId id="792" r:id="rId8"/>
    <p:sldId id="793" r:id="rId9"/>
    <p:sldId id="814" r:id="rId10"/>
    <p:sldId id="794" r:id="rId11"/>
    <p:sldId id="776" r:id="rId12"/>
    <p:sldId id="796" r:id="rId13"/>
    <p:sldId id="812" r:id="rId14"/>
    <p:sldId id="795" r:id="rId15"/>
    <p:sldId id="797" r:id="rId16"/>
    <p:sldId id="811" r:id="rId17"/>
    <p:sldId id="810" r:id="rId18"/>
    <p:sldId id="813" r:id="rId19"/>
    <p:sldId id="395" r:id="rId20"/>
    <p:sldId id="801" r:id="rId21"/>
    <p:sldId id="779" r:id="rId22"/>
    <p:sldId id="800" r:id="rId23"/>
    <p:sldId id="802" r:id="rId24"/>
    <p:sldId id="816" r:id="rId25"/>
    <p:sldId id="80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588F"/>
    <a:srgbClr val="A0CCC5"/>
    <a:srgbClr val="FFFFFF"/>
    <a:srgbClr val="3A9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709" autoAdjust="0"/>
  </p:normalViewPr>
  <p:slideViewPr>
    <p:cSldViewPr snapToGrid="0">
      <p:cViewPr varScale="1">
        <p:scale>
          <a:sx n="98" d="100"/>
          <a:sy n="98" d="100"/>
        </p:scale>
        <p:origin x="10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customXml" Target="../customXml/item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341324678950307"/>
          <c:y val="8.6537052295717107E-2"/>
          <c:w val="0.8727521977061109"/>
          <c:h val="0.73378319503799661"/>
        </c:manualLayout>
      </c:layout>
      <c:barChart>
        <c:barDir val="col"/>
        <c:grouping val="stacked"/>
        <c:varyColors val="0"/>
        <c:ser>
          <c:idx val="0"/>
          <c:order val="0"/>
          <c:tx>
            <c:strRef>
              <c:f>Sheet3!$E$12</c:f>
              <c:strCache>
                <c:ptCount val="1"/>
                <c:pt idx="0">
                  <c:v>WEM</c:v>
                </c:pt>
              </c:strCache>
            </c:strRef>
          </c:tx>
          <c:spPr>
            <a:solidFill>
              <a:srgbClr val="A0CCC5"/>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Sheet3!$D$13:$D$15</c:f>
              <c:strCache>
                <c:ptCount val="3"/>
                <c:pt idx="0">
                  <c:v>Total PaMs</c:v>
                </c:pt>
                <c:pt idx="1">
                  <c:v>PaMs under both                      WEM and WAM</c:v>
                </c:pt>
                <c:pt idx="2">
                  <c:v>PaMs under WEM or WAM only</c:v>
                </c:pt>
              </c:strCache>
            </c:strRef>
          </c:cat>
          <c:val>
            <c:numRef>
              <c:f>Sheet3!$E$13:$E$15</c:f>
              <c:numCache>
                <c:formatCode>General</c:formatCode>
                <c:ptCount val="3"/>
                <c:pt idx="0">
                  <c:v>45</c:v>
                </c:pt>
                <c:pt idx="1">
                  <c:v>28</c:v>
                </c:pt>
                <c:pt idx="2">
                  <c:v>17</c:v>
                </c:pt>
              </c:numCache>
            </c:numRef>
          </c:val>
          <c:extLst>
            <c:ext xmlns:c16="http://schemas.microsoft.com/office/drawing/2014/chart" uri="{C3380CC4-5D6E-409C-BE32-E72D297353CC}">
              <c16:uniqueId val="{00000000-C506-41BA-83A5-193DB2F39E98}"/>
            </c:ext>
          </c:extLst>
        </c:ser>
        <c:ser>
          <c:idx val="1"/>
          <c:order val="1"/>
          <c:tx>
            <c:strRef>
              <c:f>Sheet3!$F$12</c:f>
              <c:strCache>
                <c:ptCount val="1"/>
                <c:pt idx="0">
                  <c:v>WAM</c:v>
                </c:pt>
              </c:strCache>
            </c:strRef>
          </c:tx>
          <c:spPr>
            <a:solidFill>
              <a:srgbClr val="D4E8E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Sheet3!$D$13:$D$15</c:f>
              <c:strCache>
                <c:ptCount val="3"/>
                <c:pt idx="0">
                  <c:v>Total PaMs</c:v>
                </c:pt>
                <c:pt idx="1">
                  <c:v>PaMs under both                      WEM and WAM</c:v>
                </c:pt>
                <c:pt idx="2">
                  <c:v>PaMs under WEM or WAM only</c:v>
                </c:pt>
              </c:strCache>
            </c:strRef>
          </c:cat>
          <c:val>
            <c:numRef>
              <c:f>Sheet3!$F$13:$F$15</c:f>
              <c:numCache>
                <c:formatCode>General</c:formatCode>
                <c:ptCount val="3"/>
                <c:pt idx="0">
                  <c:v>46</c:v>
                </c:pt>
                <c:pt idx="1">
                  <c:v>28</c:v>
                </c:pt>
                <c:pt idx="2">
                  <c:v>18</c:v>
                </c:pt>
              </c:numCache>
            </c:numRef>
          </c:val>
          <c:extLst>
            <c:ext xmlns:c16="http://schemas.microsoft.com/office/drawing/2014/chart" uri="{C3380CC4-5D6E-409C-BE32-E72D297353CC}">
              <c16:uniqueId val="{00000001-C506-41BA-83A5-193DB2F39E98}"/>
            </c:ext>
          </c:extLst>
        </c:ser>
        <c:dLbls>
          <c:showLegendKey val="0"/>
          <c:showVal val="0"/>
          <c:showCatName val="0"/>
          <c:showSerName val="0"/>
          <c:showPercent val="0"/>
          <c:showBubbleSize val="0"/>
        </c:dLbls>
        <c:gapWidth val="63"/>
        <c:overlap val="100"/>
        <c:axId val="1363317311"/>
        <c:axId val="1363318751"/>
      </c:barChart>
      <c:catAx>
        <c:axId val="1363317311"/>
        <c:scaling>
          <c:orientation val="minMax"/>
        </c:scaling>
        <c:delete val="0"/>
        <c:axPos val="b"/>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crossAx val="1363318751"/>
        <c:crosses val="autoZero"/>
        <c:auto val="1"/>
        <c:lblAlgn val="ctr"/>
        <c:lblOffset val="100"/>
        <c:noMultiLvlLbl val="0"/>
      </c:catAx>
      <c:valAx>
        <c:axId val="1363318751"/>
        <c:scaling>
          <c:orientation val="minMax"/>
          <c:max val="100"/>
        </c:scaling>
        <c:delete val="0"/>
        <c:axPos val="l"/>
        <c:majorGridlines>
          <c:spPr>
            <a:ln w="6350" cap="flat" cmpd="sng" algn="ctr">
              <a:solidFill>
                <a:schemeClr val="bg1">
                  <a:lumMod val="7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crossAx val="1363317311"/>
        <c:crosses val="autoZero"/>
        <c:crossBetween val="between"/>
        <c:majorUnit val="25"/>
      </c:valAx>
      <c:spPr>
        <a:noFill/>
        <a:ln>
          <a:noFill/>
        </a:ln>
        <a:effectLst/>
      </c:spPr>
    </c:plotArea>
    <c:legend>
      <c:legendPos val="r"/>
      <c:layout>
        <c:manualLayout>
          <c:xMode val="edge"/>
          <c:yMode val="edge"/>
          <c:x val="0.79618209919178196"/>
          <c:y val="0.10235449735449736"/>
          <c:w val="0.11957535458771276"/>
          <c:h val="0.161124679632142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303225732254401"/>
          <c:y val="0.11121064741406382"/>
          <c:w val="0.69557546628166311"/>
          <c:h val="0.78399112494193612"/>
        </c:manualLayout>
      </c:layout>
      <c:barChart>
        <c:barDir val="col"/>
        <c:grouping val="stacked"/>
        <c:varyColors val="0"/>
        <c:ser>
          <c:idx val="0"/>
          <c:order val="0"/>
          <c:tx>
            <c:strRef>
              <c:f>'Reductions graph'!$C$5</c:f>
              <c:strCache>
                <c:ptCount val="1"/>
                <c:pt idx="0">
                  <c:v>Reductions from implemented PaMs</c:v>
                </c:pt>
              </c:strCache>
            </c:strRef>
          </c:tx>
          <c:spPr>
            <a:solidFill>
              <a:srgbClr val="8AC0B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'Reductions graph'!$D$4:$J$4</c:f>
              <c:numCache>
                <c:formatCode>General</c:formatCode>
                <c:ptCount val="7"/>
                <c:pt idx="0">
                  <c:v>2023</c:v>
                </c:pt>
                <c:pt idx="1">
                  <c:v>2025</c:v>
                </c:pt>
                <c:pt idx="2">
                  <c:v>2030</c:v>
                </c:pt>
                <c:pt idx="3">
                  <c:v>2035</c:v>
                </c:pt>
                <c:pt idx="4">
                  <c:v>2040</c:v>
                </c:pt>
                <c:pt idx="5">
                  <c:v>2045</c:v>
                </c:pt>
                <c:pt idx="6">
                  <c:v>2050</c:v>
                </c:pt>
              </c:numCache>
              <c:extLst/>
            </c:numRef>
          </c:cat>
          <c:val>
            <c:numRef>
              <c:f>'Reductions graph'!$D$5:$J$5</c:f>
              <c:numCache>
                <c:formatCode>_-* #,##0_-;\-* #,##0_-;_-* "-"??_-;_-@_-</c:formatCode>
                <c:ptCount val="7"/>
                <c:pt idx="0">
                  <c:v>14968.104578301785</c:v>
                </c:pt>
                <c:pt idx="1">
                  <c:v>17901.444142490102</c:v>
                </c:pt>
                <c:pt idx="2">
                  <c:v>27142.492102685774</c:v>
                </c:pt>
                <c:pt idx="3">
                  <c:v>36235.821736237056</c:v>
                </c:pt>
                <c:pt idx="4">
                  <c:v>42357.474881706999</c:v>
                </c:pt>
                <c:pt idx="5">
                  <c:v>45730.024597935269</c:v>
                </c:pt>
                <c:pt idx="6">
                  <c:v>50649.087534384693</c:v>
                </c:pt>
              </c:numCache>
              <c:extLst/>
            </c:numRef>
          </c:val>
          <c:extLst>
            <c:ext xmlns:c16="http://schemas.microsoft.com/office/drawing/2014/chart" uri="{C3380CC4-5D6E-409C-BE32-E72D297353CC}">
              <c16:uniqueId val="{00000000-0E6A-40F9-86D5-6EA2392F5010}"/>
            </c:ext>
          </c:extLst>
        </c:ser>
        <c:ser>
          <c:idx val="1"/>
          <c:order val="1"/>
          <c:tx>
            <c:strRef>
              <c:f>'Reductions graph'!$C$6</c:f>
              <c:strCache>
                <c:ptCount val="1"/>
                <c:pt idx="0">
                  <c:v>Additional reductions from planned PaMs</c:v>
                </c:pt>
              </c:strCache>
            </c:strRef>
          </c:tx>
          <c:spPr>
            <a:solidFill>
              <a:srgbClr val="D4E8E5"/>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0E6A-40F9-86D5-6EA2392F5010}"/>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'Reductions graph'!$D$4:$J$4</c:f>
              <c:numCache>
                <c:formatCode>General</c:formatCode>
                <c:ptCount val="7"/>
                <c:pt idx="0">
                  <c:v>2023</c:v>
                </c:pt>
                <c:pt idx="1">
                  <c:v>2025</c:v>
                </c:pt>
                <c:pt idx="2">
                  <c:v>2030</c:v>
                </c:pt>
                <c:pt idx="3">
                  <c:v>2035</c:v>
                </c:pt>
                <c:pt idx="4">
                  <c:v>2040</c:v>
                </c:pt>
                <c:pt idx="5">
                  <c:v>2045</c:v>
                </c:pt>
                <c:pt idx="6">
                  <c:v>2050</c:v>
                </c:pt>
              </c:numCache>
              <c:extLst/>
            </c:numRef>
          </c:cat>
          <c:val>
            <c:numRef>
              <c:f>'Reductions graph'!$D$6:$J$6</c:f>
              <c:numCache>
                <c:formatCode>_-* #,##0_-;\-* #,##0_-;_-* "-"??_-;_-@_-</c:formatCode>
                <c:ptCount val="7"/>
                <c:pt idx="0">
                  <c:v>0</c:v>
                </c:pt>
                <c:pt idx="1">
                  <c:v>859.57655329302565</c:v>
                </c:pt>
                <c:pt idx="2">
                  <c:v>5960.7347658271992</c:v>
                </c:pt>
                <c:pt idx="3">
                  <c:v>6491.3733713192332</c:v>
                </c:pt>
                <c:pt idx="4">
                  <c:v>7089.3962532213563</c:v>
                </c:pt>
                <c:pt idx="5">
                  <c:v>7620.6686140867077</c:v>
                </c:pt>
                <c:pt idx="6">
                  <c:v>8032.2656467376974</c:v>
                </c:pt>
              </c:numCache>
              <c:extLst/>
            </c:numRef>
          </c:val>
          <c:extLst>
            <c:ext xmlns:c16="http://schemas.microsoft.com/office/drawing/2014/chart" uri="{C3380CC4-5D6E-409C-BE32-E72D297353CC}">
              <c16:uniqueId val="{00000002-0E6A-40F9-86D5-6EA2392F5010}"/>
            </c:ext>
          </c:extLst>
        </c:ser>
        <c:dLbls>
          <c:showLegendKey val="0"/>
          <c:showVal val="0"/>
          <c:showCatName val="0"/>
          <c:showSerName val="0"/>
          <c:showPercent val="0"/>
          <c:showBubbleSize val="0"/>
        </c:dLbls>
        <c:gapWidth val="52"/>
        <c:overlap val="100"/>
        <c:axId val="984194959"/>
        <c:axId val="984196879"/>
      </c:barChart>
      <c:catAx>
        <c:axId val="984194959"/>
        <c:scaling>
          <c:orientation val="minMax"/>
        </c:scaling>
        <c:delete val="0"/>
        <c:axPos val="t"/>
        <c:numFmt formatCode="General" sourceLinked="1"/>
        <c:majorTickMark val="none"/>
        <c:minorTickMark val="none"/>
        <c:tickLblPos val="nextTo"/>
        <c:spPr>
          <a:noFill/>
          <a:ln w="6350" cap="flat" cmpd="sng" algn="ctr">
            <a:solidFill>
              <a:schemeClr val="bg1">
                <a:lumMod val="7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crossAx val="984196879"/>
        <c:crosses val="autoZero"/>
        <c:auto val="1"/>
        <c:lblAlgn val="ctr"/>
        <c:lblOffset val="100"/>
        <c:noMultiLvlLbl val="0"/>
      </c:catAx>
      <c:valAx>
        <c:axId val="984196879"/>
        <c:scaling>
          <c:orientation val="maxMin"/>
        </c:scaling>
        <c:delete val="0"/>
        <c:axPos val="l"/>
        <c:majorGridlines>
          <c:spPr>
            <a:ln w="12700" cap="flat" cmpd="sng" algn="ctr">
              <a:solidFill>
                <a:sysClr val="window" lastClr="FFFFFF">
                  <a:lumMod val="85000"/>
                </a:sys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r>
                  <a:rPr lang="en-IE" sz="1200">
                    <a:solidFill>
                      <a:schemeClr val="tx1"/>
                    </a:solidFill>
                    <a:latin typeface="Verdana" panose="020B0604030504040204" pitchFamily="34" charset="0"/>
                    <a:ea typeface="Verdana" panose="020B0604030504040204" pitchFamily="34" charset="0"/>
                  </a:rPr>
                  <a:t>kt CO</a:t>
                </a:r>
                <a:r>
                  <a:rPr lang="en-IE" sz="1200" baseline="-25000">
                    <a:solidFill>
                      <a:schemeClr val="tx1"/>
                    </a:solidFill>
                    <a:latin typeface="Verdana" panose="020B0604030504040204" pitchFamily="34" charset="0"/>
                    <a:ea typeface="Verdana" panose="020B0604030504040204" pitchFamily="34" charset="0"/>
                  </a:rPr>
                  <a:t>2</a:t>
                </a:r>
                <a:r>
                  <a:rPr lang="en-IE" sz="1200">
                    <a:solidFill>
                      <a:schemeClr val="tx1"/>
                    </a:solidFill>
                    <a:latin typeface="Verdana" panose="020B0604030504040204" pitchFamily="34" charset="0"/>
                    <a:ea typeface="Verdana" panose="020B0604030504040204" pitchFamily="34" charset="0"/>
                  </a:rPr>
                  <a:t> eq</a:t>
                </a:r>
              </a:p>
            </c:rich>
          </c:tx>
          <c:layout>
            <c:manualLayout>
              <c:xMode val="edge"/>
              <c:yMode val="edge"/>
              <c:x val="2.1787854888709022E-2"/>
              <c:y val="0.38315722487085763"/>
            </c:manualLayout>
          </c:layout>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title>
        <c:numFmt formatCode="#,&quot;K&quot;"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crossAx val="984194959"/>
        <c:crosses val="autoZero"/>
        <c:crossBetween val="between"/>
        <c:majorUnit val="10000"/>
      </c:valAx>
      <c:spPr>
        <a:noFill/>
        <a:ln>
          <a:noFill/>
        </a:ln>
        <a:effectLst/>
      </c:spPr>
    </c:plotArea>
    <c:legend>
      <c:legendPos val="r"/>
      <c:layout>
        <c:manualLayout>
          <c:xMode val="edge"/>
          <c:yMode val="edge"/>
          <c:x val="0.81515456320402269"/>
          <c:y val="0.10391877719651821"/>
          <c:w val="0.1695148264431664"/>
          <c:h val="0.4971860521886030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7069111062251413"/>
          <c:y val="5.6501275142318508E-2"/>
          <c:w val="0.55054393315993277"/>
          <c:h val="0.85380845137669392"/>
        </c:manualLayout>
      </c:layout>
      <c:barChart>
        <c:barDir val="col"/>
        <c:grouping val="stacked"/>
        <c:varyColors val="0"/>
        <c:ser>
          <c:idx val="5"/>
          <c:order val="0"/>
          <c:tx>
            <c:strRef>
              <c:f>'2025 cycle'!$C$8</c:f>
              <c:strCache>
                <c:ptCount val="1"/>
                <c:pt idx="0">
                  <c:v>Filler</c:v>
                </c:pt>
              </c:strCache>
            </c:strRef>
          </c:tx>
          <c:spPr>
            <a:solidFill>
              <a:schemeClr val="bg1"/>
            </a:solidFill>
            <a:ln>
              <a:noFill/>
            </a:ln>
            <a:effectLst/>
          </c:spPr>
          <c:invertIfNegative val="0"/>
          <c:cat>
            <c:numRef>
              <c:f>'2025 cycle'!$D$2:$J$2</c:f>
              <c:numCache>
                <c:formatCode>General</c:formatCode>
                <c:ptCount val="7"/>
                <c:pt idx="0">
                  <c:v>2025</c:v>
                </c:pt>
                <c:pt idx="1">
                  <c:v>2030</c:v>
                </c:pt>
                <c:pt idx="2">
                  <c:v>2035</c:v>
                </c:pt>
                <c:pt idx="3">
                  <c:v>2040</c:v>
                </c:pt>
                <c:pt idx="4">
                  <c:v>2045</c:v>
                </c:pt>
                <c:pt idx="5">
                  <c:v>2050</c:v>
                </c:pt>
                <c:pt idx="6">
                  <c:v>2055</c:v>
                </c:pt>
              </c:numCache>
            </c:numRef>
          </c:cat>
          <c:val>
            <c:numRef>
              <c:f>'2025 cycle'!$D$8:$J$8</c:f>
              <c:numCache>
                <c:formatCode>_-* #,##0_-;\-* #,##0_-;_-* "-"??_-;_-@_-</c:formatCode>
                <c:ptCount val="7"/>
                <c:pt idx="0">
                  <c:v>53749.305293530379</c:v>
                </c:pt>
                <c:pt idx="1">
                  <c:v>46084.685112952997</c:v>
                </c:pt>
                <c:pt idx="2">
                  <c:v>42456.287307580562</c:v>
                </c:pt>
                <c:pt idx="3">
                  <c:v>39005.974481511163</c:v>
                </c:pt>
                <c:pt idx="4">
                  <c:v>36356.791086749501</c:v>
                </c:pt>
                <c:pt idx="5">
                  <c:v>33766.186012305196</c:v>
                </c:pt>
                <c:pt idx="6">
                  <c:v>33013.797849813083</c:v>
                </c:pt>
              </c:numCache>
            </c:numRef>
          </c:val>
          <c:extLst>
            <c:ext xmlns:c16="http://schemas.microsoft.com/office/drawing/2014/chart" uri="{C3380CC4-5D6E-409C-BE32-E72D297353CC}">
              <c16:uniqueId val="{00000000-4F59-4F0D-8185-F9D8B5506631}"/>
            </c:ext>
          </c:extLst>
        </c:ser>
        <c:ser>
          <c:idx val="1"/>
          <c:order val="1"/>
          <c:tx>
            <c:strRef>
              <c:f>'2025 cycle'!$C$4</c:f>
              <c:strCache>
                <c:ptCount val="1"/>
                <c:pt idx="0">
                  <c:v>WAM PaMs effect</c:v>
                </c:pt>
              </c:strCache>
            </c:strRef>
          </c:tx>
          <c:spPr>
            <a:pattFill prst="pct60">
              <a:fgClr>
                <a:srgbClr val="F49538"/>
              </a:fgClr>
              <a:bgClr>
                <a:schemeClr val="bg1"/>
              </a:bgClr>
            </a:pattFill>
            <a:ln>
              <a:noFill/>
            </a:ln>
            <a:effectLst/>
          </c:spPr>
          <c:invertIfNegative val="0"/>
          <c:cat>
            <c:numRef>
              <c:f>'2025 cycle'!$D$2:$J$2</c:f>
              <c:numCache>
                <c:formatCode>General</c:formatCode>
                <c:ptCount val="7"/>
                <c:pt idx="0">
                  <c:v>2025</c:v>
                </c:pt>
                <c:pt idx="1">
                  <c:v>2030</c:v>
                </c:pt>
                <c:pt idx="2">
                  <c:v>2035</c:v>
                </c:pt>
                <c:pt idx="3">
                  <c:v>2040</c:v>
                </c:pt>
                <c:pt idx="4">
                  <c:v>2045</c:v>
                </c:pt>
                <c:pt idx="5">
                  <c:v>2050</c:v>
                </c:pt>
                <c:pt idx="6">
                  <c:v>2055</c:v>
                </c:pt>
              </c:numCache>
            </c:numRef>
          </c:cat>
          <c:val>
            <c:numRef>
              <c:f>'2025 cycle'!$D$4:$J$4</c:f>
              <c:numCache>
                <c:formatCode>_-* #,##0_-;\-* #,##0_-;_-* "-"??_-;_-@_-</c:formatCode>
                <c:ptCount val="7"/>
                <c:pt idx="0">
                  <c:v>859.57655329302565</c:v>
                </c:pt>
                <c:pt idx="1">
                  <c:v>5960.7347658271992</c:v>
                </c:pt>
                <c:pt idx="2">
                  <c:v>6491.3733713192332</c:v>
                </c:pt>
                <c:pt idx="3">
                  <c:v>7089.3962532213563</c:v>
                </c:pt>
                <c:pt idx="4">
                  <c:v>7620.6686140867077</c:v>
                </c:pt>
                <c:pt idx="5">
                  <c:v>8032.2656467376974</c:v>
                </c:pt>
                <c:pt idx="6">
                  <c:v>8469.950553254972</c:v>
                </c:pt>
              </c:numCache>
            </c:numRef>
          </c:val>
          <c:extLst>
            <c:ext xmlns:c16="http://schemas.microsoft.com/office/drawing/2014/chart" uri="{C3380CC4-5D6E-409C-BE32-E72D297353CC}">
              <c16:uniqueId val="{00000001-4F59-4F0D-8185-F9D8B5506631}"/>
            </c:ext>
          </c:extLst>
        </c:ser>
        <c:ser>
          <c:idx val="0"/>
          <c:order val="2"/>
          <c:tx>
            <c:strRef>
              <c:f>'2025 cycle'!$C$3</c:f>
              <c:strCache>
                <c:ptCount val="1"/>
                <c:pt idx="0">
                  <c:v>WEM PaMs effect</c:v>
                </c:pt>
              </c:strCache>
            </c:strRef>
          </c:tx>
          <c:spPr>
            <a:pattFill prst="pct60">
              <a:fgClr>
                <a:srgbClr val="3AA6DD"/>
              </a:fgClr>
              <a:bgClr>
                <a:schemeClr val="bg1"/>
              </a:bgClr>
            </a:pattFill>
            <a:ln>
              <a:noFill/>
            </a:ln>
            <a:effectLst/>
          </c:spPr>
          <c:invertIfNegative val="0"/>
          <c:cat>
            <c:numRef>
              <c:f>'2025 cycle'!$D$2:$J$2</c:f>
              <c:numCache>
                <c:formatCode>General</c:formatCode>
                <c:ptCount val="7"/>
                <c:pt idx="0">
                  <c:v>2025</c:v>
                </c:pt>
                <c:pt idx="1">
                  <c:v>2030</c:v>
                </c:pt>
                <c:pt idx="2">
                  <c:v>2035</c:v>
                </c:pt>
                <c:pt idx="3">
                  <c:v>2040</c:v>
                </c:pt>
                <c:pt idx="4">
                  <c:v>2045</c:v>
                </c:pt>
                <c:pt idx="5">
                  <c:v>2050</c:v>
                </c:pt>
                <c:pt idx="6">
                  <c:v>2055</c:v>
                </c:pt>
              </c:numCache>
            </c:numRef>
          </c:cat>
          <c:val>
            <c:numRef>
              <c:f>'2025 cycle'!$D$3:$J$3</c:f>
              <c:numCache>
                <c:formatCode>_-* #,##0_-;\-* #,##0_-;_-* "-"??_-;_-@_-</c:formatCode>
                <c:ptCount val="7"/>
                <c:pt idx="0">
                  <c:v>17901.444142490102</c:v>
                </c:pt>
                <c:pt idx="1">
                  <c:v>27142.492102685774</c:v>
                </c:pt>
                <c:pt idx="2">
                  <c:v>36235.821736237056</c:v>
                </c:pt>
                <c:pt idx="3">
                  <c:v>42357.474881706999</c:v>
                </c:pt>
                <c:pt idx="4">
                  <c:v>45730.024597935269</c:v>
                </c:pt>
                <c:pt idx="5">
                  <c:v>50649.087534384693</c:v>
                </c:pt>
                <c:pt idx="6">
                  <c:v>52883.284807921693</c:v>
                </c:pt>
              </c:numCache>
            </c:numRef>
          </c:val>
          <c:extLst>
            <c:ext xmlns:c16="http://schemas.microsoft.com/office/drawing/2014/chart" uri="{C3380CC4-5D6E-409C-BE32-E72D297353CC}">
              <c16:uniqueId val="{00000002-4F59-4F0D-8185-F9D8B5506631}"/>
            </c:ext>
          </c:extLst>
        </c:ser>
        <c:dLbls>
          <c:showLegendKey val="0"/>
          <c:showVal val="0"/>
          <c:showCatName val="0"/>
          <c:showSerName val="0"/>
          <c:showPercent val="0"/>
          <c:showBubbleSize val="0"/>
        </c:dLbls>
        <c:gapWidth val="100"/>
        <c:overlap val="100"/>
        <c:axId val="1612028512"/>
        <c:axId val="1612043392"/>
      </c:barChart>
      <c:lineChart>
        <c:grouping val="standard"/>
        <c:varyColors val="0"/>
        <c:ser>
          <c:idx val="3"/>
          <c:order val="3"/>
          <c:tx>
            <c:strRef>
              <c:f>'2025 cycle'!$C$6</c:f>
              <c:strCache>
                <c:ptCount val="1"/>
                <c:pt idx="0">
                  <c:v>WEM projections</c:v>
                </c:pt>
              </c:strCache>
            </c:strRef>
          </c:tx>
          <c:spPr>
            <a:ln w="28575" cap="rnd">
              <a:solidFill>
                <a:srgbClr val="3AA6DD"/>
              </a:solidFill>
              <a:round/>
            </a:ln>
            <a:effectLst/>
          </c:spPr>
          <c:marker>
            <c:symbol val="none"/>
          </c:marker>
          <c:cat>
            <c:numRef>
              <c:f>'2025 cycle'!$D$2:$J$2</c:f>
              <c:numCache>
                <c:formatCode>General</c:formatCode>
                <c:ptCount val="7"/>
                <c:pt idx="0">
                  <c:v>2025</c:v>
                </c:pt>
                <c:pt idx="1">
                  <c:v>2030</c:v>
                </c:pt>
                <c:pt idx="2">
                  <c:v>2035</c:v>
                </c:pt>
                <c:pt idx="3">
                  <c:v>2040</c:v>
                </c:pt>
                <c:pt idx="4">
                  <c:v>2045</c:v>
                </c:pt>
                <c:pt idx="5">
                  <c:v>2050</c:v>
                </c:pt>
                <c:pt idx="6">
                  <c:v>2055</c:v>
                </c:pt>
              </c:numCache>
            </c:numRef>
          </c:cat>
          <c:val>
            <c:numRef>
              <c:f>'2025 cycle'!$D$6:$J$6</c:f>
              <c:numCache>
                <c:formatCode>_-* #,##0_-;\-* #,##0_-;_-* "-"??_-;_-@_-</c:formatCode>
                <c:ptCount val="7"/>
                <c:pt idx="0">
                  <c:v>54608.881846823402</c:v>
                </c:pt>
                <c:pt idx="1">
                  <c:v>52045.419878780194</c:v>
                </c:pt>
                <c:pt idx="2">
                  <c:v>48947.660678899796</c:v>
                </c:pt>
                <c:pt idx="3">
                  <c:v>46095.370734732518</c:v>
                </c:pt>
                <c:pt idx="4">
                  <c:v>43977.459700836211</c:v>
                </c:pt>
                <c:pt idx="5">
                  <c:v>41798.45165904289</c:v>
                </c:pt>
                <c:pt idx="6">
                  <c:v>41483.748403068057</c:v>
                </c:pt>
              </c:numCache>
            </c:numRef>
          </c:val>
          <c:smooth val="0"/>
          <c:extLst>
            <c:ext xmlns:c16="http://schemas.microsoft.com/office/drawing/2014/chart" uri="{C3380CC4-5D6E-409C-BE32-E72D297353CC}">
              <c16:uniqueId val="{00000003-4F59-4F0D-8185-F9D8B5506631}"/>
            </c:ext>
          </c:extLst>
        </c:ser>
        <c:ser>
          <c:idx val="4"/>
          <c:order val="4"/>
          <c:tx>
            <c:strRef>
              <c:f>'2025 cycle'!$C$7</c:f>
              <c:strCache>
                <c:ptCount val="1"/>
                <c:pt idx="0">
                  <c:v>WAM projections</c:v>
                </c:pt>
              </c:strCache>
            </c:strRef>
          </c:tx>
          <c:spPr>
            <a:ln w="28575" cap="rnd">
              <a:solidFill>
                <a:srgbClr val="F49538"/>
              </a:solidFill>
              <a:round/>
            </a:ln>
            <a:effectLst/>
          </c:spPr>
          <c:marker>
            <c:symbol val="none"/>
          </c:marker>
          <c:cat>
            <c:numRef>
              <c:f>'2025 cycle'!$D$2:$J$2</c:f>
              <c:numCache>
                <c:formatCode>General</c:formatCode>
                <c:ptCount val="7"/>
                <c:pt idx="0">
                  <c:v>2025</c:v>
                </c:pt>
                <c:pt idx="1">
                  <c:v>2030</c:v>
                </c:pt>
                <c:pt idx="2">
                  <c:v>2035</c:v>
                </c:pt>
                <c:pt idx="3">
                  <c:v>2040</c:v>
                </c:pt>
                <c:pt idx="4">
                  <c:v>2045</c:v>
                </c:pt>
                <c:pt idx="5">
                  <c:v>2050</c:v>
                </c:pt>
                <c:pt idx="6">
                  <c:v>2055</c:v>
                </c:pt>
              </c:numCache>
            </c:numRef>
          </c:cat>
          <c:val>
            <c:numRef>
              <c:f>'2025 cycle'!$D$7:$J$7</c:f>
              <c:numCache>
                <c:formatCode>_-* #,##0_-;\-* #,##0_-;_-* "-"??_-;_-@_-</c:formatCode>
                <c:ptCount val="7"/>
                <c:pt idx="0">
                  <c:v>53565.436121127721</c:v>
                </c:pt>
                <c:pt idx="1">
                  <c:v>45035.937326533</c:v>
                </c:pt>
                <c:pt idx="2">
                  <c:v>41361.361225106011</c:v>
                </c:pt>
                <c:pt idx="3">
                  <c:v>37880.605838770629</c:v>
                </c:pt>
                <c:pt idx="4">
                  <c:v>34733.061003420567</c:v>
                </c:pt>
                <c:pt idx="5">
                  <c:v>31701.623269593747</c:v>
                </c:pt>
                <c:pt idx="6">
                  <c:v>30333.831288952351</c:v>
                </c:pt>
              </c:numCache>
            </c:numRef>
          </c:val>
          <c:smooth val="0"/>
          <c:extLst>
            <c:ext xmlns:c16="http://schemas.microsoft.com/office/drawing/2014/chart" uri="{C3380CC4-5D6E-409C-BE32-E72D297353CC}">
              <c16:uniqueId val="{00000004-4F59-4F0D-8185-F9D8B5506631}"/>
            </c:ext>
          </c:extLst>
        </c:ser>
        <c:dLbls>
          <c:showLegendKey val="0"/>
          <c:showVal val="0"/>
          <c:showCatName val="0"/>
          <c:showSerName val="0"/>
          <c:showPercent val="0"/>
          <c:showBubbleSize val="0"/>
        </c:dLbls>
        <c:marker val="1"/>
        <c:smooth val="0"/>
        <c:axId val="1612028512"/>
        <c:axId val="1612043392"/>
      </c:lineChart>
      <c:catAx>
        <c:axId val="1612028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85000"/>
                    <a:lumOff val="15000"/>
                  </a:schemeClr>
                </a:solidFill>
                <a:latin typeface="+mn-lt"/>
                <a:ea typeface="+mn-ea"/>
                <a:cs typeface="+mn-cs"/>
              </a:defRPr>
            </a:pPr>
            <a:endParaRPr lang="en-US"/>
          </a:p>
        </c:txPr>
        <c:crossAx val="1612043392"/>
        <c:crosses val="autoZero"/>
        <c:auto val="1"/>
        <c:lblAlgn val="ctr"/>
        <c:lblOffset val="100"/>
        <c:noMultiLvlLbl val="0"/>
      </c:catAx>
      <c:valAx>
        <c:axId val="1612043392"/>
        <c:scaling>
          <c:orientation val="minMax"/>
          <c:min val="20000"/>
        </c:scaling>
        <c:delete val="0"/>
        <c:axPos val="l"/>
        <c:title>
          <c:tx>
            <c:rich>
              <a:bodyPr rot="-5400000" spcFirstLastPara="1" vertOverflow="ellipsis" vert="horz" wrap="square" anchor="ctr" anchorCtr="1"/>
              <a:lstStyle/>
              <a:p>
                <a:pPr>
                  <a:defRPr sz="1600" b="0" i="0" u="none" strike="noStrike" kern="1200" baseline="0">
                    <a:solidFill>
                      <a:schemeClr val="tx1">
                        <a:lumMod val="85000"/>
                        <a:lumOff val="15000"/>
                      </a:schemeClr>
                    </a:solidFill>
                    <a:latin typeface="+mn-lt"/>
                    <a:ea typeface="+mn-ea"/>
                    <a:cs typeface="+mn-cs"/>
                  </a:defRPr>
                </a:pPr>
                <a:r>
                  <a:rPr lang="en-IE" sz="1600">
                    <a:solidFill>
                      <a:schemeClr val="tx1">
                        <a:lumMod val="85000"/>
                        <a:lumOff val="15000"/>
                      </a:schemeClr>
                    </a:solidFill>
                  </a:rPr>
                  <a:t>Kt CO</a:t>
                </a:r>
                <a:r>
                  <a:rPr lang="en-IE" sz="1600" baseline="-25000">
                    <a:solidFill>
                      <a:schemeClr val="tx1">
                        <a:lumMod val="85000"/>
                        <a:lumOff val="15000"/>
                      </a:schemeClr>
                    </a:solidFill>
                  </a:rPr>
                  <a:t>2</a:t>
                </a:r>
                <a:r>
                  <a:rPr lang="en-IE" sz="1600">
                    <a:solidFill>
                      <a:schemeClr val="tx1">
                        <a:lumMod val="85000"/>
                        <a:lumOff val="15000"/>
                      </a:schemeClr>
                    </a:solidFill>
                  </a:rPr>
                  <a:t> eq</a:t>
                </a:r>
              </a:p>
            </c:rich>
          </c:tx>
          <c:layout>
            <c:manualLayout>
              <c:xMode val="edge"/>
              <c:yMode val="edge"/>
              <c:x val="1.1915598163522612E-2"/>
              <c:y val="0.37119330733334532"/>
            </c:manualLayout>
          </c:layout>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85000"/>
                      <a:lumOff val="1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85000"/>
                    <a:lumOff val="15000"/>
                  </a:schemeClr>
                </a:solidFill>
                <a:latin typeface="+mn-lt"/>
                <a:ea typeface="+mn-ea"/>
                <a:cs typeface="+mn-cs"/>
              </a:defRPr>
            </a:pPr>
            <a:endParaRPr lang="en-US"/>
          </a:p>
        </c:txPr>
        <c:crossAx val="1612028512"/>
        <c:crosses val="autoZero"/>
        <c:crossBetween val="between"/>
      </c:valAx>
      <c:spPr>
        <a:noFill/>
        <a:ln>
          <a:noFill/>
        </a:ln>
        <a:effectLst/>
      </c:spPr>
    </c:plotArea>
    <c:legend>
      <c:legendPos val="b"/>
      <c:legendEntry>
        <c:idx val="0"/>
        <c:delete val="1"/>
      </c:legendEntry>
      <c:layout>
        <c:manualLayout>
          <c:xMode val="edge"/>
          <c:yMode val="edge"/>
          <c:x val="0.77776688499746138"/>
          <c:y val="0.18107067367735621"/>
          <c:w val="0.20779356499864571"/>
          <c:h val="0.56653838195737638"/>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85000"/>
                  <a:lumOff val="1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61352965033808"/>
          <c:y val="5.0925925925925923E-2"/>
          <c:w val="0.83567625047165728"/>
          <c:h val="0.79081802274715662"/>
        </c:manualLayout>
      </c:layout>
      <c:barChart>
        <c:barDir val="col"/>
        <c:grouping val="stacked"/>
        <c:varyColors val="0"/>
        <c:ser>
          <c:idx val="0"/>
          <c:order val="0"/>
          <c:tx>
            <c:strRef>
              <c:f>Sheet2!$D$15</c:f>
              <c:strCache>
                <c:ptCount val="1"/>
                <c:pt idx="0">
                  <c:v>WEM</c:v>
                </c:pt>
              </c:strCache>
            </c:strRef>
          </c:tx>
          <c:spPr>
            <a:solidFill>
              <a:srgbClr val="A0CCC5"/>
            </a:solidFill>
            <a:ln>
              <a:noFill/>
            </a:ln>
            <a:effectLst/>
          </c:spPr>
          <c:invertIfNegative val="0"/>
          <c:dLbls>
            <c:dLbl>
              <c:idx val="0"/>
              <c:tx>
                <c:rich>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fld id="{0A86DEFF-5EF1-46AC-AE82-69C48C0CBA16}" type="VALUE">
                      <a:rPr lang="en-US" sz="1600"/>
                      <a:pPr>
                        <a:defRPr sz="1600"/>
                      </a:pPr>
                      <a:t>[VALUE]</a:t>
                    </a:fld>
                    <a:endParaRPr lang="en-IE"/>
                  </a:p>
                </c:rich>
              </c:tx>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IE"/>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048-4523-8CDC-3856B3744655}"/>
                </c:ext>
              </c:extLst>
            </c:dLbl>
            <c:dLbl>
              <c:idx val="1"/>
              <c:tx>
                <c:rich>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fld id="{114E354B-ED0A-45E5-9611-AFFF82DA4E96}" type="VALUE">
                      <a:rPr lang="en-US" sz="1600"/>
                      <a:pPr>
                        <a:defRPr sz="1600"/>
                      </a:pPr>
                      <a:t>[VALUE]</a:t>
                    </a:fld>
                    <a:endParaRPr lang="en-IE"/>
                  </a:p>
                </c:rich>
              </c:tx>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IE"/>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048-4523-8CDC-3856B3744655}"/>
                </c:ext>
              </c:extLst>
            </c:dLbl>
            <c:dLbl>
              <c:idx val="2"/>
              <c:tx>
                <c:rich>
                  <a:bodyPr/>
                  <a:lstStyle/>
                  <a:p>
                    <a:fld id="{4EEE2AA2-8D53-4356-8648-DCB2DAF71455}" type="VALUE">
                      <a:rPr lang="en-US" sz="1000"/>
                      <a:pPr/>
                      <a:t>[VALUE]</a:t>
                    </a:fld>
                    <a:endParaRPr lang="en-IE"/>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048-4523-8CDC-3856B3744655}"/>
                </c:ext>
              </c:extLst>
            </c:dLbl>
            <c:dLbl>
              <c:idx val="3"/>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9-7048-4523-8CDC-3856B3744655}"/>
                </c:ext>
              </c:extLst>
            </c:dLbl>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Sheet2!$C$16:$C$19</c:f>
              <c:strCache>
                <c:ptCount val="4"/>
                <c:pt idx="0">
                  <c:v>Total</c:v>
                </c:pt>
                <c:pt idx="1">
                  <c:v>Energy efficiency        PaMs</c:v>
                </c:pt>
                <c:pt idx="2">
                  <c:v>Other energy              PaMs</c:v>
                </c:pt>
                <c:pt idx="3">
                  <c:v>Non-energy             PaMs</c:v>
                </c:pt>
              </c:strCache>
            </c:strRef>
          </c:cat>
          <c:val>
            <c:numRef>
              <c:f>Sheet2!$D$16:$D$19</c:f>
              <c:numCache>
                <c:formatCode>General</c:formatCode>
                <c:ptCount val="4"/>
                <c:pt idx="0">
                  <c:v>45</c:v>
                </c:pt>
                <c:pt idx="1">
                  <c:v>36</c:v>
                </c:pt>
                <c:pt idx="2">
                  <c:v>4</c:v>
                </c:pt>
                <c:pt idx="3">
                  <c:v>5</c:v>
                </c:pt>
              </c:numCache>
            </c:numRef>
          </c:val>
          <c:extLst>
            <c:ext xmlns:c16="http://schemas.microsoft.com/office/drawing/2014/chart" uri="{C3380CC4-5D6E-409C-BE32-E72D297353CC}">
              <c16:uniqueId val="{00000002-7048-4523-8CDC-3856B3744655}"/>
            </c:ext>
          </c:extLst>
        </c:ser>
        <c:ser>
          <c:idx val="1"/>
          <c:order val="1"/>
          <c:tx>
            <c:strRef>
              <c:f>Sheet2!$E$15</c:f>
              <c:strCache>
                <c:ptCount val="1"/>
                <c:pt idx="0">
                  <c:v>WAM</c:v>
                </c:pt>
              </c:strCache>
            </c:strRef>
          </c:tx>
          <c:spPr>
            <a:solidFill>
              <a:srgbClr val="D4E8E5"/>
            </a:solidFill>
            <a:ln>
              <a:noFill/>
            </a:ln>
            <a:effectLst/>
          </c:spPr>
          <c:invertIfNegative val="0"/>
          <c:dLbls>
            <c:dLbl>
              <c:idx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6-7048-4523-8CDC-3856B3744655}"/>
                </c:ext>
              </c:extLst>
            </c:dLbl>
            <c:dLbl>
              <c:idx val="1"/>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7-7048-4523-8CDC-3856B3744655}"/>
                </c:ext>
              </c:extLst>
            </c:dLbl>
            <c:dLbl>
              <c:idx val="2"/>
              <c:layout>
                <c:manualLayout>
                  <c:x val="0"/>
                  <c:y val="1.8955963837862089E-4"/>
                </c:manualLayout>
              </c:layout>
              <c:tx>
                <c:rich>
                  <a:bodyPr/>
                  <a:lstStyle/>
                  <a:p>
                    <a:fld id="{BF78672B-2558-4AF4-AC84-6D950294DF69}" type="VALUE">
                      <a:rPr lang="en-US" sz="1000"/>
                      <a:pPr/>
                      <a:t>[VALUE]</a:t>
                    </a:fld>
                    <a:endParaRPr lang="en-IE"/>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048-4523-8CDC-3856B3744655}"/>
                </c:ext>
              </c:extLst>
            </c:dLbl>
            <c:dLbl>
              <c:idx val="3"/>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8-7048-4523-8CDC-3856B3744655}"/>
                </c:ext>
              </c:extLst>
            </c:dLbl>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Sheet2!$C$16:$C$19</c:f>
              <c:strCache>
                <c:ptCount val="4"/>
                <c:pt idx="0">
                  <c:v>Total</c:v>
                </c:pt>
                <c:pt idx="1">
                  <c:v>Energy efficiency        PaMs</c:v>
                </c:pt>
                <c:pt idx="2">
                  <c:v>Other energy              PaMs</c:v>
                </c:pt>
                <c:pt idx="3">
                  <c:v>Non-energy             PaMs</c:v>
                </c:pt>
              </c:strCache>
            </c:strRef>
          </c:cat>
          <c:val>
            <c:numRef>
              <c:f>Sheet2!$E$16:$E$19</c:f>
              <c:numCache>
                <c:formatCode>General</c:formatCode>
                <c:ptCount val="4"/>
                <c:pt idx="0">
                  <c:v>46</c:v>
                </c:pt>
                <c:pt idx="1">
                  <c:v>26</c:v>
                </c:pt>
                <c:pt idx="2">
                  <c:v>4</c:v>
                </c:pt>
                <c:pt idx="3">
                  <c:v>16</c:v>
                </c:pt>
              </c:numCache>
            </c:numRef>
          </c:val>
          <c:extLst>
            <c:ext xmlns:c16="http://schemas.microsoft.com/office/drawing/2014/chart" uri="{C3380CC4-5D6E-409C-BE32-E72D297353CC}">
              <c16:uniqueId val="{00000004-7048-4523-8CDC-3856B3744655}"/>
            </c:ext>
          </c:extLst>
        </c:ser>
        <c:dLbls>
          <c:showLegendKey val="0"/>
          <c:showVal val="0"/>
          <c:showCatName val="0"/>
          <c:showSerName val="0"/>
          <c:showPercent val="0"/>
          <c:showBubbleSize val="0"/>
        </c:dLbls>
        <c:gapWidth val="68"/>
        <c:overlap val="100"/>
        <c:axId val="575194591"/>
        <c:axId val="575195071"/>
      </c:barChart>
      <c:catAx>
        <c:axId val="575194591"/>
        <c:scaling>
          <c:orientation val="minMax"/>
        </c:scaling>
        <c:delete val="0"/>
        <c:axPos val="b"/>
        <c:numFmt formatCode="General" sourceLinked="1"/>
        <c:majorTickMark val="none"/>
        <c:minorTickMark val="none"/>
        <c:tickLblPos val="nextTo"/>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575195071"/>
        <c:crosses val="autoZero"/>
        <c:auto val="1"/>
        <c:lblAlgn val="ctr"/>
        <c:lblOffset val="100"/>
        <c:noMultiLvlLbl val="0"/>
      </c:catAx>
      <c:valAx>
        <c:axId val="575195071"/>
        <c:scaling>
          <c:orientation val="minMax"/>
          <c:max val="100"/>
        </c:scaling>
        <c:delete val="0"/>
        <c:axPos val="l"/>
        <c:majorGridlines>
          <c:spPr>
            <a:ln w="635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r>
                  <a:rPr lang="en-IE">
                    <a:solidFill>
                      <a:schemeClr val="tx1"/>
                    </a:solidFill>
                  </a:rPr>
                  <a:t>Number of PaMs</a:t>
                </a:r>
              </a:p>
            </c:rich>
          </c:tx>
          <c:layout>
            <c:manualLayout>
              <c:xMode val="edge"/>
              <c:yMode val="edge"/>
              <c:x val="1.949442983397719E-2"/>
              <c:y val="0.27347586759988335"/>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575194591"/>
        <c:crosses val="autoZero"/>
        <c:crossBetween val="between"/>
        <c:majorUnit val="25"/>
      </c:valAx>
      <c:spPr>
        <a:noFill/>
        <a:ln>
          <a:noFill/>
        </a:ln>
        <a:effectLst/>
      </c:spPr>
    </c:plotArea>
    <c:legend>
      <c:legendPos val="r"/>
      <c:layout>
        <c:manualLayout>
          <c:xMode val="edge"/>
          <c:yMode val="edge"/>
          <c:x val="0.82456725457010782"/>
          <c:y val="7.9281860600758258E-2"/>
          <c:w val="9.8127381733784727E-2"/>
          <c:h val="0.1558384368620588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78181-0EEC-49C1-933F-90D69F445989}" type="datetimeFigureOut">
              <a:rPr lang="en-IE" smtClean="0"/>
              <a:t>23/10/2025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29A2B9-E0DB-4D73-B87E-87D1F4BAADDD}" type="slidenum">
              <a:rPr lang="en-IE" smtClean="0"/>
              <a:t>‹#›</a:t>
            </a:fld>
            <a:endParaRPr lang="en-IE"/>
          </a:p>
        </p:txBody>
      </p:sp>
    </p:spTree>
    <p:extLst>
      <p:ext uri="{BB962C8B-B14F-4D97-AF65-F5344CB8AC3E}">
        <p14:creationId xmlns:p14="http://schemas.microsoft.com/office/powerpoint/2010/main" val="3662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49DA0D7-EA1B-4953-B0DC-CA28DACA1B0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375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E16B-05D3-036E-C6E8-41E0E8BC3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B7286-46F6-5F05-8DCD-E7E0AD301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09C23-4AE7-47AD-FAF7-92E4FACA26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E"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AFC5278-CD9C-7C8C-580D-6A996874432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2754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229A2B9-E0DB-4D73-B87E-87D1F4BAADDD}" type="slidenum">
              <a:rPr lang="en-IE" smtClean="0"/>
              <a:t>3</a:t>
            </a:fld>
            <a:endParaRPr lang="en-IE"/>
          </a:p>
        </p:txBody>
      </p:sp>
    </p:spTree>
    <p:extLst>
      <p:ext uri="{BB962C8B-B14F-4D97-AF65-F5344CB8AC3E}">
        <p14:creationId xmlns:p14="http://schemas.microsoft.com/office/powerpoint/2010/main" val="2228381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B818-B270-E9DE-EFAB-23F9E700C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F8FB9-ACAC-C08D-6A95-BFC7AB4CC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57FCC-4FCC-3FE3-598E-7E8C5E5F2EAD}"/>
              </a:ext>
            </a:extLst>
          </p:cNvPr>
          <p:cNvSpPr>
            <a:spLocks noGrp="1"/>
          </p:cNvSpPr>
          <p:nvPr>
            <p:ph type="body" idx="1"/>
          </p:nvPr>
        </p:nvSpPr>
        <p:spPr/>
        <p:txBody>
          <a:bodyPr/>
          <a:lstStyle/>
          <a:p>
            <a:pPr marL="0" indent="0">
              <a:buFont typeface="Arial" panose="020B0604020202020204" pitchFamily="34" charset="0"/>
              <a:buNone/>
            </a:pPr>
            <a:endParaRPr lang="en-IE" sz="1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0CCE34E9-A9EE-88C3-8517-0E4807B367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635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78CA3-C4AA-130A-2B21-E7031D77A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45FCB-D80C-7D93-6296-1342D4DE79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B506E-6C5D-AEB2-6A2B-62EFFF430580}"/>
              </a:ext>
            </a:extLst>
          </p:cNvPr>
          <p:cNvSpPr>
            <a:spLocks noGrp="1"/>
          </p:cNvSpPr>
          <p:nvPr>
            <p:ph type="body" idx="1"/>
          </p:nvPr>
        </p:nvSpPr>
        <p:spPr/>
        <p:txBody>
          <a:bodyPr/>
          <a:lstStyle/>
          <a:p>
            <a:pPr marL="0" marR="0" lvl="0" indent="0" algn="just" defTabSz="914400" rtl="0" eaLnBrk="1" fontAlgn="auto" latinLnBrk="0" hangingPunct="1">
              <a:lnSpc>
                <a:spcPct val="107000"/>
              </a:lnSpc>
              <a:spcBef>
                <a:spcPts val="0"/>
              </a:spcBef>
              <a:spcAft>
                <a:spcPts val="800"/>
              </a:spcAft>
              <a:buClrTx/>
              <a:buSzTx/>
              <a:buFont typeface="Arial" panose="020B0604020202020204" pitchFamily="34" charset="0"/>
              <a:buNone/>
              <a:tabLst/>
              <a:defRPr/>
            </a:pPr>
            <a:endParaRPr lang="en-IE" sz="1000" dirty="0">
              <a:effectLst/>
              <a:latin typeface="Verdana" panose="020B060403050404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E924C078-0E8F-711D-0F2A-6E1BD426767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1053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4164-20B7-B953-C39E-91C7519D7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B51A6-A80D-A6BC-5922-F548267E4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9A000-6C66-8065-786D-0832704E0AB4}"/>
              </a:ext>
            </a:extLst>
          </p:cNvPr>
          <p:cNvSpPr>
            <a:spLocks noGrp="1"/>
          </p:cNvSpPr>
          <p:nvPr>
            <p:ph type="body" idx="1"/>
          </p:nvPr>
        </p:nvSpPr>
        <p:spPr/>
        <p:txBody>
          <a:bodyPr/>
          <a:lstStyle/>
          <a:p>
            <a:pPr marL="0" marR="0" lvl="0" indent="0" algn="l" defTabSz="609570" rtl="0" eaLnBrk="1" fontAlgn="auto" latinLnBrk="0" hangingPunct="1">
              <a:lnSpc>
                <a:spcPct val="100000"/>
              </a:lnSpc>
              <a:spcBef>
                <a:spcPts val="0"/>
              </a:spcBef>
              <a:spcAft>
                <a:spcPts val="1800"/>
              </a:spcAft>
              <a:buClr>
                <a:srgbClr val="00AFA3"/>
              </a:buClr>
              <a:buSzTx/>
              <a:buFont typeface="Wingdings" charset="2"/>
              <a:buNone/>
              <a:tabLst>
                <a:tab pos="8246121" algn="l"/>
              </a:tabLst>
              <a:defRPr/>
            </a:pPr>
            <a:endParaRPr kumimoji="0" lang="en-IE" sz="2133" b="0" i="0" u="none" strike="noStrike" kern="1200" cap="none" spc="0" normalizeH="0" baseline="0" noProof="0" dirty="0">
              <a:ln>
                <a:noFill/>
              </a:ln>
              <a:solidFill>
                <a:srgbClr val="006DB5"/>
              </a:solidFill>
              <a:effectLst/>
              <a:uLnTx/>
              <a:uFillTx/>
              <a:latin typeface="Arial"/>
              <a:ea typeface="+mn-ea"/>
              <a:cs typeface="+mn-cs"/>
            </a:endParaRPr>
          </a:p>
        </p:txBody>
      </p:sp>
      <p:sp>
        <p:nvSpPr>
          <p:cNvPr id="4" name="Slide Number Placeholder 3">
            <a:extLst>
              <a:ext uri="{FF2B5EF4-FFF2-40B4-BE49-F238E27FC236}">
                <a16:creationId xmlns:a16="http://schemas.microsoft.com/office/drawing/2014/main" id="{845E4FAB-4640-8B70-70FE-986A298504B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5131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DE2DD-554A-4493-8A8F-D25646F26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D6114-0C34-B4FA-C25D-4D8DFDA08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9F6F7-418A-DEE4-2E03-DB4B196926E9}"/>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6B93C06C-26C1-F9DB-4B9A-99D3BD2D2C6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2318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229A2B9-E0DB-4D73-B87E-87D1F4BAADDD}" type="slidenum">
              <a:rPr lang="en-IE" smtClean="0"/>
              <a:t>8</a:t>
            </a:fld>
            <a:endParaRPr lang="en-IE"/>
          </a:p>
        </p:txBody>
      </p:sp>
    </p:spTree>
    <p:extLst>
      <p:ext uri="{BB962C8B-B14F-4D97-AF65-F5344CB8AC3E}">
        <p14:creationId xmlns:p14="http://schemas.microsoft.com/office/powerpoint/2010/main" val="1472733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E" sz="1000" b="0" dirty="0">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9615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8778B-AF57-B146-C8BE-9DC10196C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C0CF9-672B-457C-9EAC-15EE32A2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9A44E-5173-0493-8280-B40E5D5F3A8A}"/>
              </a:ext>
            </a:extLst>
          </p:cNvPr>
          <p:cNvSpPr>
            <a:spLocks noGrp="1"/>
          </p:cNvSpPr>
          <p:nvPr>
            <p:ph type="body" idx="1"/>
          </p:nvPr>
        </p:nvSpPr>
        <p:spPr/>
        <p:txBody>
          <a:bodyPr/>
          <a:lstStyle/>
          <a:p>
            <a:pPr marL="0" indent="0">
              <a:buFont typeface="Arial" panose="020B0604020202020204" pitchFamily="34" charset="0"/>
              <a:buNone/>
            </a:pPr>
            <a:endParaRPr lang="en-IE" dirty="0"/>
          </a:p>
        </p:txBody>
      </p:sp>
      <p:sp>
        <p:nvSpPr>
          <p:cNvPr id="4" name="Slide Number Placeholder 3">
            <a:extLst>
              <a:ext uri="{FF2B5EF4-FFF2-40B4-BE49-F238E27FC236}">
                <a16:creationId xmlns:a16="http://schemas.microsoft.com/office/drawing/2014/main" id="{E108B09D-A8E2-C9F5-E95A-391BC0326AC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100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76BC3-AE27-7BB7-1DCE-5A5270D79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AD3B7-816F-E6D1-BB95-1350A6C6D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B87FC-1C7F-CDCD-B88A-645B2740C135}"/>
              </a:ext>
            </a:extLst>
          </p:cNvPr>
          <p:cNvSpPr>
            <a:spLocks noGrp="1"/>
          </p:cNvSpPr>
          <p:nvPr>
            <p:ph type="body" idx="1"/>
          </p:nvPr>
        </p:nvSpPr>
        <p:spPr/>
        <p:txBody>
          <a:bodyPr/>
          <a:lstStyle/>
          <a:p>
            <a:endParaRPr kumimoji="0" lang="en-IE"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0EF781E-6ABD-40A9-1C73-C44D4FAD80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500BE-FD33-49D3-9857-821F578EDF29}"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8440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C954F-1C97-841C-EA2E-C80AED9F1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00615-D685-ED95-5D80-84FA50F8E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7285C-A0D2-4E66-3AAF-60C249B4B85E}"/>
              </a:ext>
            </a:extLst>
          </p:cNvPr>
          <p:cNvSpPr>
            <a:spLocks noGrp="1"/>
          </p:cNvSpPr>
          <p:nvPr>
            <p:ph type="body" idx="1"/>
          </p:nvPr>
        </p:nvSpPr>
        <p:spPr/>
        <p:txBody>
          <a:bodyPr/>
          <a:lstStyle/>
          <a:p>
            <a:pPr marL="0" indent="0">
              <a:buFont typeface="Arial" panose="020B0604020202020204" pitchFamily="34" charset="0"/>
              <a:buNone/>
            </a:pPr>
            <a:endParaRPr lang="en-IE" sz="1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D09A9598-53B9-A43F-4D33-71B74F75DDF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4722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CA97-F4E7-2847-9D57-750B4F984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A8B9D-D7BC-3354-6BDB-90AEB1361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3B166-9CC4-770F-90EE-439C394CC1B2}"/>
              </a:ext>
            </a:extLst>
          </p:cNvPr>
          <p:cNvSpPr>
            <a:spLocks noGrp="1"/>
          </p:cNvSpPr>
          <p:nvPr>
            <p:ph type="body" idx="1"/>
          </p:nvPr>
        </p:nvSpPr>
        <p:spPr/>
        <p:txBody>
          <a:bodyPr/>
          <a:lstStyle/>
          <a:p>
            <a:pPr marL="0" indent="0">
              <a:buFont typeface="Arial" panose="020B0604020202020204" pitchFamily="34" charset="0"/>
              <a:buNone/>
            </a:pPr>
            <a:endParaRPr lang="en-IE" sz="1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AA9BF629-EF21-28B5-817E-93FA384A310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451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996B-A9BE-E919-FBC5-F3BC2B261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BDCCA-8562-C565-67C6-353B30F168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3086A-4C5E-E089-5FD9-1A1121F5C9AF}"/>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03F558FC-2C6E-BE7E-4AFF-3077B43020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500BE-FD33-49D3-9857-821F578EDF29}"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7350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D8E73-BAB8-9275-E86F-41EA0B27E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08C99-C5E8-C5DC-C614-602530DC1F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327B3-3402-B21C-B5E9-57C48D6DBB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E" sz="1000" dirty="0"/>
          </a:p>
        </p:txBody>
      </p:sp>
      <p:sp>
        <p:nvSpPr>
          <p:cNvPr id="4" name="Slide Number Placeholder 3">
            <a:extLst>
              <a:ext uri="{FF2B5EF4-FFF2-40B4-BE49-F238E27FC236}">
                <a16:creationId xmlns:a16="http://schemas.microsoft.com/office/drawing/2014/main" id="{A24EBAD8-BD9B-4016-A671-1899A75E404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417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FEF50-76DB-71BF-A79F-4F2DFF204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28C69-62AF-F89A-3E75-6777DFAE0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EF959-6179-6819-BC03-19BEA0B6F2DD}"/>
              </a:ext>
            </a:extLst>
          </p:cNvPr>
          <p:cNvSpPr>
            <a:spLocks noGrp="1"/>
          </p:cNvSpPr>
          <p:nvPr>
            <p:ph type="body" idx="1"/>
          </p:nvPr>
        </p:nvSpPr>
        <p:spPr/>
        <p:txBody>
          <a:bodyPr/>
          <a:lstStyle/>
          <a:p>
            <a:pPr>
              <a:spcAft>
                <a:spcPts val="1200"/>
              </a:spcAft>
            </a:pPr>
            <a:endParaRPr lang="en-IE" sz="1000" dirty="0"/>
          </a:p>
        </p:txBody>
      </p:sp>
      <p:sp>
        <p:nvSpPr>
          <p:cNvPr id="4" name="Slide Number Placeholder 3">
            <a:extLst>
              <a:ext uri="{FF2B5EF4-FFF2-40B4-BE49-F238E27FC236}">
                <a16:creationId xmlns:a16="http://schemas.microsoft.com/office/drawing/2014/main" id="{9516C1B2-AA2A-3E2C-97EF-D5D3CAFEC3B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4037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1500BE-FD33-49D3-9857-821F578EDF29}"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004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84132-390C-7191-DEE6-0B923C6F3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C7783-799B-9F3C-8EF4-B995A85A9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13E0A-7E0F-7F23-5474-300925854B9D}"/>
              </a:ext>
            </a:extLst>
          </p:cNvPr>
          <p:cNvSpPr>
            <a:spLocks noGrp="1"/>
          </p:cNvSpPr>
          <p:nvPr>
            <p:ph type="body" idx="1"/>
          </p:nvPr>
        </p:nvSpPr>
        <p:spPr/>
        <p:txBody>
          <a:bodyPr/>
          <a:lstStyle/>
          <a:p>
            <a:pPr marL="0" indent="0">
              <a:buFont typeface="Arial" panose="020B0604020202020204" pitchFamily="34" charset="0"/>
              <a:buNone/>
            </a:pPr>
            <a:endParaRPr lang="en-IE" sz="10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411FD182-230F-1085-7391-22A7A1559EA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2983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71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4229A2B9-E0DB-4D73-B87E-87D1F4BAADDD}" type="slidenum">
              <a:rPr lang="en-IE" smtClean="0"/>
              <a:t>20</a:t>
            </a:fld>
            <a:endParaRPr lang="en-IE"/>
          </a:p>
        </p:txBody>
      </p:sp>
    </p:spTree>
    <p:extLst>
      <p:ext uri="{BB962C8B-B14F-4D97-AF65-F5344CB8AC3E}">
        <p14:creationId xmlns:p14="http://schemas.microsoft.com/office/powerpoint/2010/main" val="9804830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B93A-7BB5-04BB-21CC-3275A935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ACC28-2037-52FF-DD25-FF94D2A8A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ADE5E-2CDA-E16E-95E6-B57B9C3CB597}"/>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A69D3E44-B938-D78A-0166-332840F5BA9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722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78D2E-D80F-2373-6C5E-1F67C6FB9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A01FE-D5A6-A463-D4F6-C7763F70DD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DB065-C681-EC6C-9F54-3737F141ECD7}"/>
              </a:ext>
            </a:extLst>
          </p:cNvPr>
          <p:cNvSpPr>
            <a:spLocks noGrp="1"/>
          </p:cNvSpPr>
          <p:nvPr>
            <p:ph type="body" idx="1"/>
          </p:nvPr>
        </p:nvSpPr>
        <p:spPr/>
        <p:txBody>
          <a:bodyPr/>
          <a:lstStyle/>
          <a:p>
            <a:endParaRPr lang="en-IE"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FF3B755-7CC9-DF68-5E4E-21EEDD037F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343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F571-CE56-B537-7468-831986322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27127-F5B7-FDAF-D931-5E0AA0B7C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5F710-748F-8AB1-A3CA-E28D1691085A}"/>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0747D9EA-8E15-04BC-3F4B-43FE9D1E7F1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622C2-0A03-44BA-837B-8196EA9E24AE}"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08181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5" name="Rectangle 14"/>
          <p:cNvSpPr/>
          <p:nvPr userDrawn="1"/>
        </p:nvSpPr>
        <p:spPr>
          <a:xfrm>
            <a:off x="0" y="3840000"/>
            <a:ext cx="12217400" cy="3018000"/>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6" name="Rectangle 15"/>
          <p:cNvSpPr/>
          <p:nvPr userDrawn="1"/>
        </p:nvSpPr>
        <p:spPr>
          <a:xfrm>
            <a:off x="0" y="3840000"/>
            <a:ext cx="12217400" cy="240000"/>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18" name="Picture 17"/>
          <p:cNvPicPr>
            <a:picLocks noChangeAspect="1"/>
          </p:cNvPicPr>
          <p:nvPr userDrawn="1"/>
        </p:nvPicPr>
        <p:blipFill>
          <a:blip r:embed="rId2"/>
          <a:stretch>
            <a:fillRect/>
          </a:stretch>
        </p:blipFill>
        <p:spPr>
          <a:xfrm>
            <a:off x="575734" y="740701"/>
            <a:ext cx="11040533" cy="2573867"/>
          </a:xfrm>
          <a:prstGeom prst="rect">
            <a:avLst/>
          </a:prstGeom>
        </p:spPr>
      </p:pic>
      <p:sp>
        <p:nvSpPr>
          <p:cNvPr id="19" name="Title 1"/>
          <p:cNvSpPr>
            <a:spLocks noGrp="1"/>
          </p:cNvSpPr>
          <p:nvPr>
            <p:ph type="ctrTitle"/>
          </p:nvPr>
        </p:nvSpPr>
        <p:spPr>
          <a:xfrm>
            <a:off x="914400" y="3840000"/>
            <a:ext cx="10366177" cy="2084957"/>
          </a:xfrm>
          <a:prstGeom prst="rect">
            <a:avLst/>
          </a:prstGeom>
        </p:spPr>
        <p:txBody>
          <a:bodyPr lIns="0" tIns="0" rIns="0" bIns="0" anchor="ctr" anchorCtr="0"/>
          <a:lstStyle>
            <a:lvl1pPr>
              <a:defRPr sz="5333" b="1">
                <a:solidFill>
                  <a:schemeClr val="bg1"/>
                </a:solidFill>
              </a:defRPr>
            </a:lvl1pPr>
          </a:lstStyle>
          <a:p>
            <a:r>
              <a:rPr lang="ga-IE" dirty="0"/>
              <a:t>Click to edit Master title style</a:t>
            </a:r>
            <a:endParaRPr lang="en-US" dirty="0"/>
          </a:p>
        </p:txBody>
      </p:sp>
      <p:sp>
        <p:nvSpPr>
          <p:cNvPr id="6" name="Text Placeholder 2"/>
          <p:cNvSpPr>
            <a:spLocks noGrp="1"/>
          </p:cNvSpPr>
          <p:nvPr>
            <p:ph type="body" sz="quarter" idx="10"/>
          </p:nvPr>
        </p:nvSpPr>
        <p:spPr>
          <a:xfrm>
            <a:off x="914400" y="5924957"/>
            <a:ext cx="10366176" cy="933043"/>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255844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02">
    <p:spTree>
      <p:nvGrpSpPr>
        <p:cNvPr id="1" name=""/>
        <p:cNvGrpSpPr/>
        <p:nvPr/>
      </p:nvGrpSpPr>
      <p:grpSpPr>
        <a:xfrm>
          <a:off x="0" y="0"/>
          <a:ext cx="0" cy="0"/>
          <a:chOff x="0" y="0"/>
          <a:chExt cx="0" cy="0"/>
        </a:xfrm>
      </p:grpSpPr>
      <p:sp>
        <p:nvSpPr>
          <p:cNvPr id="6" name="Rectangle 5"/>
          <p:cNvSpPr/>
          <p:nvPr userDrawn="1"/>
        </p:nvSpPr>
        <p:spPr>
          <a:xfrm>
            <a:off x="4318002" y="-21696"/>
            <a:ext cx="7873999" cy="6879696"/>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8" name="Rectangle 7"/>
          <p:cNvSpPr/>
          <p:nvPr userDrawn="1"/>
        </p:nvSpPr>
        <p:spPr>
          <a:xfrm rot="5400000">
            <a:off x="759617" y="3299618"/>
            <a:ext cx="6879697" cy="237069"/>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9" name="Picture 8"/>
          <p:cNvPicPr>
            <a:picLocks noChangeAspect="1"/>
          </p:cNvPicPr>
          <p:nvPr userDrawn="1"/>
        </p:nvPicPr>
        <p:blipFill>
          <a:blip r:embed="rId2"/>
          <a:stretch>
            <a:fillRect/>
          </a:stretch>
        </p:blipFill>
        <p:spPr>
          <a:xfrm>
            <a:off x="-50800" y="1210734"/>
            <a:ext cx="4097867" cy="4436533"/>
          </a:xfrm>
          <a:prstGeom prst="rect">
            <a:avLst/>
          </a:prstGeom>
        </p:spPr>
      </p:pic>
      <p:sp>
        <p:nvSpPr>
          <p:cNvPr id="10" name="Title 1"/>
          <p:cNvSpPr>
            <a:spLocks noGrp="1"/>
          </p:cNvSpPr>
          <p:nvPr>
            <p:ph type="ctrTitle" hasCustomPrompt="1"/>
          </p:nvPr>
        </p:nvSpPr>
        <p:spPr>
          <a:xfrm>
            <a:off x="4318001" y="-21696"/>
            <a:ext cx="7899399" cy="5760000"/>
          </a:xfrm>
          <a:prstGeom prst="rect">
            <a:avLst/>
          </a:prstGeom>
        </p:spPr>
        <p:txBody>
          <a:bodyPr lIns="360000" tIns="0" rIns="360000" bIns="144000" anchor="ctr" anchorCtr="0"/>
          <a:lstStyle>
            <a:lvl1pPr>
              <a:defRPr sz="5333" b="0">
                <a:solidFill>
                  <a:schemeClr val="bg1"/>
                </a:solidFill>
              </a:defRPr>
            </a:lvl1pPr>
          </a:lstStyle>
          <a:p>
            <a:r>
              <a:rPr lang="ga-IE" dirty="0"/>
              <a:t>Click to Edit Master Title Style</a:t>
            </a:r>
            <a:endParaRPr lang="en-US" dirty="0"/>
          </a:p>
        </p:txBody>
      </p:sp>
      <p:sp>
        <p:nvSpPr>
          <p:cNvPr id="3" name="Text Placeholder 2"/>
          <p:cNvSpPr>
            <a:spLocks noGrp="1"/>
          </p:cNvSpPr>
          <p:nvPr>
            <p:ph type="body" sz="quarter" idx="10"/>
          </p:nvPr>
        </p:nvSpPr>
        <p:spPr>
          <a:xfrm>
            <a:off x="4318000" y="5738285"/>
            <a:ext cx="7920000" cy="1119716"/>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227553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03">
    <p:spTree>
      <p:nvGrpSpPr>
        <p:cNvPr id="1" name=""/>
        <p:cNvGrpSpPr/>
        <p:nvPr/>
      </p:nvGrpSpPr>
      <p:grpSpPr>
        <a:xfrm>
          <a:off x="0" y="0"/>
          <a:ext cx="0" cy="0"/>
          <a:chOff x="0" y="0"/>
          <a:chExt cx="0" cy="0"/>
        </a:xfrm>
      </p:grpSpPr>
      <p:pic>
        <p:nvPicPr>
          <p:cNvPr id="7" name="Picture 6" descr="05411-EPA-TitleSlide-2.jpg"/>
          <p:cNvPicPr>
            <a:picLocks noChangeAspect="1"/>
          </p:cNvPicPr>
          <p:nvPr userDrawn="1"/>
        </p:nvPicPr>
        <p:blipFill>
          <a:blip r:embed="rId2"/>
          <a:stretch>
            <a:fillRect/>
          </a:stretch>
        </p:blipFill>
        <p:spPr>
          <a:xfrm>
            <a:off x="0" y="0"/>
            <a:ext cx="12192000" cy="6860032"/>
          </a:xfrm>
          <a:prstGeom prst="rect">
            <a:avLst/>
          </a:prstGeom>
        </p:spPr>
      </p:pic>
      <p:pic>
        <p:nvPicPr>
          <p:cNvPr id="12" name="Picture 11"/>
          <p:cNvPicPr>
            <a:picLocks noChangeAspect="1"/>
          </p:cNvPicPr>
          <p:nvPr userDrawn="1"/>
        </p:nvPicPr>
        <p:blipFill>
          <a:blip r:embed="rId3"/>
          <a:stretch>
            <a:fillRect/>
          </a:stretch>
        </p:blipFill>
        <p:spPr>
          <a:xfrm>
            <a:off x="558800" y="177800"/>
            <a:ext cx="11430000" cy="2319867"/>
          </a:xfrm>
          <a:prstGeom prst="rect">
            <a:avLst/>
          </a:prstGeom>
        </p:spPr>
      </p:pic>
      <p:sp>
        <p:nvSpPr>
          <p:cNvPr id="14" name="Title 1"/>
          <p:cNvSpPr>
            <a:spLocks noGrp="1"/>
          </p:cNvSpPr>
          <p:nvPr>
            <p:ph type="ctrTitle"/>
          </p:nvPr>
        </p:nvSpPr>
        <p:spPr>
          <a:xfrm>
            <a:off x="914401" y="3044957"/>
            <a:ext cx="8349951" cy="2880000"/>
          </a:xfrm>
          <a:prstGeom prst="rect">
            <a:avLst/>
          </a:prstGeom>
        </p:spPr>
        <p:txBody>
          <a:bodyPr lIns="0" tIns="0" rIns="0" bIns="144000" anchor="ctr" anchorCtr="0"/>
          <a:lstStyle>
            <a:lvl1pPr algn="l">
              <a:defRPr sz="5333" b="1">
                <a:solidFill>
                  <a:schemeClr val="bg1"/>
                </a:solidFill>
              </a:defRPr>
            </a:lvl1pPr>
          </a:lstStyle>
          <a:p>
            <a:r>
              <a:rPr lang="ga-IE" dirty="0"/>
              <a:t>Click to edit Master title style</a:t>
            </a:r>
            <a:endParaRPr lang="en-US" dirty="0"/>
          </a:p>
        </p:txBody>
      </p:sp>
      <p:sp>
        <p:nvSpPr>
          <p:cNvPr id="5" name="Text Placeholder 2"/>
          <p:cNvSpPr>
            <a:spLocks noGrp="1"/>
          </p:cNvSpPr>
          <p:nvPr>
            <p:ph type="body" sz="quarter" idx="10"/>
          </p:nvPr>
        </p:nvSpPr>
        <p:spPr>
          <a:xfrm>
            <a:off x="914400" y="5924957"/>
            <a:ext cx="8349949" cy="933043"/>
          </a:xfrm>
          <a:prstGeom prst="rect">
            <a:avLst/>
          </a:prstGeom>
        </p:spPr>
        <p:txBody>
          <a:bodyPr vert="horz" lIns="0" tIns="0" rIns="0" bIns="72000" anchor="ctr"/>
          <a:lstStyle>
            <a:lvl1pPr marL="0" indent="0" algn="l">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dirty="0"/>
              <a:t>Click to edit Master text styles</a:t>
            </a:r>
            <a:endParaRPr lang="en-US" dirty="0"/>
          </a:p>
        </p:txBody>
      </p:sp>
    </p:spTree>
    <p:extLst>
      <p:ext uri="{BB962C8B-B14F-4D97-AF65-F5344CB8AC3E}">
        <p14:creationId xmlns:p14="http://schemas.microsoft.com/office/powerpoint/2010/main" val="1515779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Col-01">
    <p:spTree>
      <p:nvGrpSpPr>
        <p:cNvPr id="1" name=""/>
        <p:cNvGrpSpPr/>
        <p:nvPr/>
      </p:nvGrpSpPr>
      <p:grpSpPr>
        <a:xfrm>
          <a:off x="0" y="0"/>
          <a:ext cx="0" cy="0"/>
          <a:chOff x="0" y="0"/>
          <a:chExt cx="0" cy="0"/>
        </a:xfrm>
      </p:grpSpPr>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2"/>
          <a:stretch>
            <a:fillRect/>
          </a:stretch>
        </p:blipFill>
        <p:spPr>
          <a:xfrm>
            <a:off x="8686800" y="160867"/>
            <a:ext cx="3098800" cy="1236133"/>
          </a:xfrm>
          <a:prstGeom prst="rect">
            <a:avLst/>
          </a:prstGeom>
        </p:spPr>
      </p:pic>
      <p:sp>
        <p:nvSpPr>
          <p:cNvPr id="9" name="Rectangle 8"/>
          <p:cNvSpPr/>
          <p:nvPr userDrawn="1"/>
        </p:nvSpPr>
        <p:spPr>
          <a:xfrm>
            <a:off x="0" y="6311372"/>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609600" y="1796819"/>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609600" y="2528655"/>
            <a:ext cx="10972800"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69701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Col-02">
    <p:spTree>
      <p:nvGrpSpPr>
        <p:cNvPr id="1" name=""/>
        <p:cNvGrpSpPr/>
        <p:nvPr/>
      </p:nvGrpSpPr>
      <p:grpSpPr>
        <a:xfrm>
          <a:off x="0" y="0"/>
          <a:ext cx="0" cy="0"/>
          <a:chOff x="0" y="0"/>
          <a:chExt cx="0" cy="0"/>
        </a:xfrm>
      </p:grpSpPr>
      <p:sp>
        <p:nvSpPr>
          <p:cNvPr id="13" name="Rectangle 12"/>
          <p:cNvSpPr/>
          <p:nvPr userDrawn="1"/>
        </p:nvSpPr>
        <p:spPr>
          <a:xfrm>
            <a:off x="0" y="6311372"/>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4" name="Rectangle 13"/>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2"/>
          <a:stretch>
            <a:fillRect/>
          </a:stretch>
        </p:blipFill>
        <p:spPr>
          <a:xfrm>
            <a:off x="8686800" y="160867"/>
            <a:ext cx="3098800" cy="1236133"/>
          </a:xfrm>
          <a:prstGeom prst="rect">
            <a:avLst/>
          </a:prstGeom>
        </p:spPr>
      </p:pic>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609600" y="1796819"/>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609600" y="2528655"/>
            <a:ext cx="10972800"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122224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Col-01">
    <p:spTree>
      <p:nvGrpSpPr>
        <p:cNvPr id="1" name=""/>
        <p:cNvGrpSpPr/>
        <p:nvPr/>
      </p:nvGrpSpPr>
      <p:grpSpPr>
        <a:xfrm>
          <a:off x="0" y="0"/>
          <a:ext cx="0" cy="0"/>
          <a:chOff x="0" y="0"/>
          <a:chExt cx="0" cy="0"/>
        </a:xfrm>
      </p:grpSpPr>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2"/>
          <a:stretch>
            <a:fillRect/>
          </a:stretch>
        </p:blipFill>
        <p:spPr>
          <a:xfrm>
            <a:off x="8686800" y="160867"/>
            <a:ext cx="3098800" cy="1236133"/>
          </a:xfrm>
          <a:prstGeom prst="rect">
            <a:avLst/>
          </a:prstGeom>
        </p:spPr>
      </p:pic>
      <p:sp>
        <p:nvSpPr>
          <p:cNvPr id="9" name="Rectangle 8"/>
          <p:cNvSpPr/>
          <p:nvPr userDrawn="1"/>
        </p:nvSpPr>
        <p:spPr>
          <a:xfrm>
            <a:off x="0" y="6311372"/>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609600" y="1796819"/>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609600" y="2528655"/>
            <a:ext cx="5294379" cy="3588644"/>
          </a:xfrm>
          <a:prstGeom prst="rect">
            <a:avLst/>
          </a:prstGeom>
        </p:spPr>
        <p:txBody>
          <a:bodyPr lIns="0" tIns="0" rIns="0" bIns="0" anchor="t" anchorCtr="0"/>
          <a:lstStyle>
            <a:lvl1pPr marL="0" indent="0">
              <a:spcBef>
                <a:spcPts val="0"/>
              </a:spcBef>
              <a:spcAft>
                <a:spcPts val="1600"/>
              </a:spcAft>
              <a:buClr>
                <a:srgbClr val="00AFA3"/>
              </a:buClr>
              <a:buFont typeface="Wingdings" charset="2"/>
              <a:buNone/>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p:txBody>
      </p:sp>
      <p:sp>
        <p:nvSpPr>
          <p:cNvPr id="11" name="Content Placeholder 2"/>
          <p:cNvSpPr>
            <a:spLocks noGrp="1"/>
          </p:cNvSpPr>
          <p:nvPr>
            <p:ph idx="11"/>
          </p:nvPr>
        </p:nvSpPr>
        <p:spPr>
          <a:xfrm>
            <a:off x="6288021" y="2528655"/>
            <a:ext cx="5294379"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773213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Col-02">
    <p:spTree>
      <p:nvGrpSpPr>
        <p:cNvPr id="1" name=""/>
        <p:cNvGrpSpPr/>
        <p:nvPr/>
      </p:nvGrpSpPr>
      <p:grpSpPr>
        <a:xfrm>
          <a:off x="0" y="0"/>
          <a:ext cx="0" cy="0"/>
          <a:chOff x="0" y="0"/>
          <a:chExt cx="0" cy="0"/>
        </a:xfrm>
      </p:grpSpPr>
      <p:sp>
        <p:nvSpPr>
          <p:cNvPr id="12" name="Rectangle 11"/>
          <p:cNvSpPr/>
          <p:nvPr userDrawn="1"/>
        </p:nvSpPr>
        <p:spPr>
          <a:xfrm>
            <a:off x="0" y="6311372"/>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2"/>
          <a:stretch>
            <a:fillRect/>
          </a:stretch>
        </p:blipFill>
        <p:spPr>
          <a:xfrm>
            <a:off x="8686800" y="160867"/>
            <a:ext cx="3098800" cy="1236133"/>
          </a:xfrm>
          <a:prstGeom prst="rect">
            <a:avLst/>
          </a:prstGeom>
        </p:spPr>
      </p:pic>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609600" y="1796819"/>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609600" y="2528655"/>
            <a:ext cx="5294379" cy="3588644"/>
          </a:xfrm>
          <a:prstGeom prst="rect">
            <a:avLst/>
          </a:prstGeom>
        </p:spPr>
        <p:txBody>
          <a:bodyPr lIns="0" tIns="0" rIns="0" bIns="0" anchor="t" anchorCtr="0"/>
          <a:lstStyle>
            <a:lvl1pPr marL="0" indent="0">
              <a:spcBef>
                <a:spcPts val="0"/>
              </a:spcBef>
              <a:spcAft>
                <a:spcPts val="1600"/>
              </a:spcAft>
              <a:buClr>
                <a:srgbClr val="00AFA3"/>
              </a:buClr>
              <a:buFont typeface="Wingdings" charset="2"/>
              <a:buNone/>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p:txBody>
      </p:sp>
      <p:sp>
        <p:nvSpPr>
          <p:cNvPr id="11" name="Content Placeholder 2"/>
          <p:cNvSpPr>
            <a:spLocks noGrp="1"/>
          </p:cNvSpPr>
          <p:nvPr>
            <p:ph idx="11"/>
          </p:nvPr>
        </p:nvSpPr>
        <p:spPr>
          <a:xfrm>
            <a:off x="6288021" y="2528655"/>
            <a:ext cx="5294379"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1750630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Pic+Head-01">
    <p:spTree>
      <p:nvGrpSpPr>
        <p:cNvPr id="1" name=""/>
        <p:cNvGrpSpPr/>
        <p:nvPr/>
      </p:nvGrpSpPr>
      <p:grpSpPr>
        <a:xfrm>
          <a:off x="0" y="0"/>
          <a:ext cx="0" cy="0"/>
          <a:chOff x="0" y="0"/>
          <a:chExt cx="0" cy="0"/>
        </a:xfrm>
      </p:grpSpPr>
      <p:sp>
        <p:nvSpPr>
          <p:cNvPr id="12" name="Rectangle 11"/>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3"/>
          <a:stretch>
            <a:fillRect/>
          </a:stretch>
        </p:blipFill>
        <p:spPr>
          <a:xfrm>
            <a:off x="8686800" y="160867"/>
            <a:ext cx="3098800" cy="1236133"/>
          </a:xfrm>
          <a:prstGeom prst="rect">
            <a:avLst/>
          </a:prstGeom>
        </p:spPr>
      </p:pic>
      <p:sp>
        <p:nvSpPr>
          <p:cNvPr id="9" name="Rectangle 8"/>
          <p:cNvSpPr/>
          <p:nvPr userDrawn="1"/>
        </p:nvSpPr>
        <p:spPr>
          <a:xfrm>
            <a:off x="0" y="6311372"/>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4655840" y="1796819"/>
            <a:ext cx="692656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4655840" y="2528655"/>
            <a:ext cx="6926560"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50901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Pic+Head-02">
    <p:spTree>
      <p:nvGrpSpPr>
        <p:cNvPr id="1" name=""/>
        <p:cNvGrpSpPr/>
        <p:nvPr/>
      </p:nvGrpSpPr>
      <p:grpSpPr>
        <a:xfrm>
          <a:off x="0" y="0"/>
          <a:ext cx="0" cy="0"/>
          <a:chOff x="0" y="0"/>
          <a:chExt cx="0" cy="0"/>
        </a:xfrm>
      </p:grpSpPr>
      <p:sp>
        <p:nvSpPr>
          <p:cNvPr id="14" name="Rectangle 13"/>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11" name="Rectangle 10"/>
          <p:cNvSpPr/>
          <p:nvPr userDrawn="1"/>
        </p:nvSpPr>
        <p:spPr>
          <a:xfrm>
            <a:off x="0" y="6311372"/>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3"/>
          <a:stretch>
            <a:fillRect/>
          </a:stretch>
        </p:blipFill>
        <p:spPr>
          <a:xfrm>
            <a:off x="8686800" y="160867"/>
            <a:ext cx="3098800" cy="1236133"/>
          </a:xfrm>
          <a:prstGeom prst="rect">
            <a:avLst/>
          </a:prstGeom>
        </p:spPr>
      </p:pic>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
        <p:nvSpPr>
          <p:cNvPr id="3" name="Content Placeholder 2"/>
          <p:cNvSpPr>
            <a:spLocks noGrp="1"/>
          </p:cNvSpPr>
          <p:nvPr>
            <p:ph idx="1" hasCustomPrompt="1"/>
          </p:nvPr>
        </p:nvSpPr>
        <p:spPr>
          <a:xfrm>
            <a:off x="4655840" y="1796819"/>
            <a:ext cx="692656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88" indent="0">
              <a:spcBef>
                <a:spcPts val="0"/>
              </a:spcBef>
              <a:spcAft>
                <a:spcPts val="1600"/>
              </a:spcAft>
              <a:buClr>
                <a:srgbClr val="00AFA3"/>
              </a:buClr>
              <a:buFont typeface="Arial"/>
              <a:buNone/>
              <a:defRPr sz="2133">
                <a:solidFill>
                  <a:srgbClr val="006DB5"/>
                </a:solidFill>
              </a:defRPr>
            </a:lvl2pPr>
            <a:lvl3pPr marL="959976" indent="0">
              <a:spcBef>
                <a:spcPts val="0"/>
              </a:spcBef>
              <a:spcAft>
                <a:spcPts val="1600"/>
              </a:spcAft>
              <a:buClr>
                <a:srgbClr val="00AFA3"/>
              </a:buClr>
              <a:buFont typeface="Arial"/>
              <a:buNone/>
              <a:defRPr sz="2133">
                <a:solidFill>
                  <a:srgbClr val="006DB5"/>
                </a:solidFill>
              </a:defRPr>
            </a:lvl3pPr>
            <a:lvl4pPr marL="1439964" indent="0">
              <a:spcBef>
                <a:spcPts val="0"/>
              </a:spcBef>
              <a:spcAft>
                <a:spcPts val="1600"/>
              </a:spcAft>
              <a:buClr>
                <a:srgbClr val="00AFA3"/>
              </a:buClr>
              <a:buFont typeface="Arial"/>
              <a:buNone/>
              <a:defRPr sz="2133">
                <a:solidFill>
                  <a:srgbClr val="006DB5"/>
                </a:solidFill>
              </a:defRPr>
            </a:lvl4pPr>
            <a:lvl5pPr marL="1919952" indent="0">
              <a:spcBef>
                <a:spcPts val="0"/>
              </a:spcBef>
              <a:spcAft>
                <a:spcPts val="1600"/>
              </a:spcAft>
              <a:buClr>
                <a:srgbClr val="00AFA3"/>
              </a:buClr>
              <a:buFont typeface="Arial"/>
              <a:buNone/>
              <a:defRPr sz="2133">
                <a:solidFill>
                  <a:srgbClr val="006DB5"/>
                </a:solidFill>
              </a:defRPr>
            </a:lvl5pPr>
          </a:lstStyle>
          <a:p>
            <a:pPr lvl="0"/>
            <a:r>
              <a:rPr lang="ga-IE" dirty="0"/>
              <a:t>Click to Edit Master Text Styles</a:t>
            </a:r>
          </a:p>
        </p:txBody>
      </p:sp>
      <p:sp>
        <p:nvSpPr>
          <p:cNvPr id="10" name="Content Placeholder 2"/>
          <p:cNvSpPr>
            <a:spLocks noGrp="1"/>
          </p:cNvSpPr>
          <p:nvPr>
            <p:ph idx="10"/>
          </p:nvPr>
        </p:nvSpPr>
        <p:spPr>
          <a:xfrm>
            <a:off x="4655840" y="2528655"/>
            <a:ext cx="6926560" cy="3588644"/>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Tree>
    <p:extLst>
      <p:ext uri="{BB962C8B-B14F-4D97-AF65-F5344CB8AC3E}">
        <p14:creationId xmlns:p14="http://schemas.microsoft.com/office/powerpoint/2010/main" val="229517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ext-01">
    <p:spTree>
      <p:nvGrpSpPr>
        <p:cNvPr id="1" name=""/>
        <p:cNvGrpSpPr/>
        <p:nvPr/>
      </p:nvGrpSpPr>
      <p:grpSpPr>
        <a:xfrm>
          <a:off x="0" y="0"/>
          <a:ext cx="0" cy="0"/>
          <a:chOff x="0" y="0"/>
          <a:chExt cx="0" cy="0"/>
        </a:xfrm>
      </p:grpSpPr>
      <p:sp>
        <p:nvSpPr>
          <p:cNvPr id="10" name="Content Placeholder 2"/>
          <p:cNvSpPr>
            <a:spLocks noGrp="1"/>
          </p:cNvSpPr>
          <p:nvPr>
            <p:ph idx="10"/>
          </p:nvPr>
        </p:nvSpPr>
        <p:spPr>
          <a:xfrm>
            <a:off x="4655840" y="1796820"/>
            <a:ext cx="6926560" cy="4320480"/>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
        <p:nvSpPr>
          <p:cNvPr id="12" name="Rectangle 11"/>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3"/>
          <a:stretch>
            <a:fillRect/>
          </a:stretch>
        </p:blipFill>
        <p:spPr>
          <a:xfrm>
            <a:off x="8686800" y="160867"/>
            <a:ext cx="3098800" cy="1236133"/>
          </a:xfrm>
          <a:prstGeom prst="rect">
            <a:avLst/>
          </a:prstGeom>
        </p:spPr>
      </p:pic>
      <p:sp>
        <p:nvSpPr>
          <p:cNvPr id="9" name="Rectangle 8"/>
          <p:cNvSpPr/>
          <p:nvPr userDrawn="1"/>
        </p:nvSpPr>
        <p:spPr>
          <a:xfrm>
            <a:off x="0" y="6311372"/>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Tree>
    <p:extLst>
      <p:ext uri="{BB962C8B-B14F-4D97-AF65-F5344CB8AC3E}">
        <p14:creationId xmlns:p14="http://schemas.microsoft.com/office/powerpoint/2010/main" val="392078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ext-02">
    <p:spTree>
      <p:nvGrpSpPr>
        <p:cNvPr id="1" name=""/>
        <p:cNvGrpSpPr/>
        <p:nvPr/>
      </p:nvGrpSpPr>
      <p:grpSpPr>
        <a:xfrm>
          <a:off x="0" y="0"/>
          <a:ext cx="0" cy="0"/>
          <a:chOff x="0" y="0"/>
          <a:chExt cx="0" cy="0"/>
        </a:xfrm>
      </p:grpSpPr>
      <p:sp>
        <p:nvSpPr>
          <p:cNvPr id="10" name="Content Placeholder 2"/>
          <p:cNvSpPr>
            <a:spLocks noGrp="1"/>
          </p:cNvSpPr>
          <p:nvPr>
            <p:ph idx="10"/>
          </p:nvPr>
        </p:nvSpPr>
        <p:spPr>
          <a:xfrm>
            <a:off x="4655840" y="1796820"/>
            <a:ext cx="6926560" cy="4320480"/>
          </a:xfrm>
          <a:prstGeom prst="rect">
            <a:avLst/>
          </a:prstGeom>
        </p:spPr>
        <p:txBody>
          <a:bodyPr lIns="0" tIns="0" rIns="0" bIns="0" anchor="t" anchorCtr="0"/>
          <a:lstStyle>
            <a:lvl1pPr marL="479988" indent="-479988">
              <a:spcBef>
                <a:spcPts val="0"/>
              </a:spcBef>
              <a:spcAft>
                <a:spcPts val="1600"/>
              </a:spcAft>
              <a:buClr>
                <a:srgbClr val="00AFA3"/>
              </a:buClr>
              <a:buFont typeface="Wingdings" charset="2"/>
              <a:buChar char="§"/>
              <a:tabLst>
                <a:tab pos="8246327" algn="l"/>
              </a:tabLst>
              <a:defRPr sz="2133">
                <a:solidFill>
                  <a:srgbClr val="006DB5"/>
                </a:solidFill>
              </a:defRPr>
            </a:lvl1pPr>
            <a:lvl2pPr marL="959976" indent="-479988">
              <a:spcBef>
                <a:spcPts val="0"/>
              </a:spcBef>
              <a:spcAft>
                <a:spcPts val="1600"/>
              </a:spcAft>
              <a:buClr>
                <a:srgbClr val="00AFA3"/>
              </a:buClr>
              <a:buFont typeface="Wingdings" charset="2"/>
              <a:buChar char="§"/>
              <a:tabLst>
                <a:tab pos="8246327" algn="l"/>
              </a:tabLst>
              <a:defRPr sz="2133">
                <a:solidFill>
                  <a:srgbClr val="006DB5"/>
                </a:solidFill>
              </a:defRPr>
            </a:lvl2pPr>
            <a:lvl3pPr marL="1439964" indent="-479988">
              <a:spcBef>
                <a:spcPts val="0"/>
              </a:spcBef>
              <a:spcAft>
                <a:spcPts val="1600"/>
              </a:spcAft>
              <a:buClr>
                <a:srgbClr val="00AFA3"/>
              </a:buClr>
              <a:buFont typeface="Wingdings" charset="2"/>
              <a:buChar char="§"/>
              <a:tabLst>
                <a:tab pos="8246327" algn="l"/>
              </a:tabLst>
              <a:defRPr sz="2133">
                <a:solidFill>
                  <a:srgbClr val="006DB5"/>
                </a:solidFill>
              </a:defRPr>
            </a:lvl3pPr>
            <a:lvl4pPr marL="1919952" indent="-479988">
              <a:spcBef>
                <a:spcPts val="0"/>
              </a:spcBef>
              <a:spcAft>
                <a:spcPts val="1600"/>
              </a:spcAft>
              <a:buClr>
                <a:srgbClr val="00AFA3"/>
              </a:buClr>
              <a:buFont typeface="Wingdings" charset="2"/>
              <a:buChar char="§"/>
              <a:tabLst>
                <a:tab pos="8246327" algn="l"/>
              </a:tabLst>
              <a:defRPr sz="2133">
                <a:solidFill>
                  <a:srgbClr val="006DB5"/>
                </a:solidFill>
              </a:defRPr>
            </a:lvl4pPr>
            <a:lvl5pPr marL="2399940" indent="-479988">
              <a:spcBef>
                <a:spcPts val="0"/>
              </a:spcBef>
              <a:spcAft>
                <a:spcPts val="1600"/>
              </a:spcAft>
              <a:buClr>
                <a:srgbClr val="00AFA3"/>
              </a:buClr>
              <a:buFont typeface="Wingdings" charset="2"/>
              <a:buChar char="§"/>
              <a:tabLst>
                <a:tab pos="8246327" algn="l"/>
              </a:tabLst>
              <a:defRPr sz="2133">
                <a:solidFill>
                  <a:srgbClr val="006DB5"/>
                </a:solidFill>
              </a:defRPr>
            </a:lvl5p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
        <p:nvSpPr>
          <p:cNvPr id="14" name="Rectangle 13"/>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11" name="Rectangle 10"/>
          <p:cNvSpPr/>
          <p:nvPr userDrawn="1"/>
        </p:nvSpPr>
        <p:spPr>
          <a:xfrm>
            <a:off x="0" y="6311372"/>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8" name="Picture 7"/>
          <p:cNvPicPr>
            <a:picLocks noChangeAspect="1"/>
          </p:cNvPicPr>
          <p:nvPr userDrawn="1"/>
        </p:nvPicPr>
        <p:blipFill>
          <a:blip r:embed="rId3"/>
          <a:stretch>
            <a:fillRect/>
          </a:stretch>
        </p:blipFill>
        <p:spPr>
          <a:xfrm>
            <a:off x="8686800" y="160867"/>
            <a:ext cx="3098800" cy="1236133"/>
          </a:xfrm>
          <a:prstGeom prst="rect">
            <a:avLst/>
          </a:prstGeom>
        </p:spPr>
      </p:pic>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dirty="0"/>
              <a:t>Click to Edit Master Title Style</a:t>
            </a:r>
            <a:endParaRPr lang="en-US" dirty="0"/>
          </a:p>
        </p:txBody>
      </p:sp>
    </p:spTree>
    <p:extLst>
      <p:ext uri="{BB962C8B-B14F-4D97-AF65-F5344CB8AC3E}">
        <p14:creationId xmlns:p14="http://schemas.microsoft.com/office/powerpoint/2010/main" val="1817125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078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01">
    <p:spTree>
      <p:nvGrpSpPr>
        <p:cNvPr id="1" name=""/>
        <p:cNvGrpSpPr/>
        <p:nvPr/>
      </p:nvGrpSpPr>
      <p:grpSpPr>
        <a:xfrm>
          <a:off x="0" y="0"/>
          <a:ext cx="0" cy="0"/>
          <a:chOff x="0" y="0"/>
          <a:chExt cx="0" cy="0"/>
        </a:xfrm>
      </p:grpSpPr>
      <p:sp>
        <p:nvSpPr>
          <p:cNvPr id="15" name="Rectangle 14"/>
          <p:cNvSpPr/>
          <p:nvPr userDrawn="1"/>
        </p:nvSpPr>
        <p:spPr>
          <a:xfrm>
            <a:off x="0" y="3840000"/>
            <a:ext cx="12217400" cy="3018000"/>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6" name="Rectangle 15"/>
          <p:cNvSpPr/>
          <p:nvPr userDrawn="1"/>
        </p:nvSpPr>
        <p:spPr>
          <a:xfrm>
            <a:off x="0" y="3840000"/>
            <a:ext cx="12217400" cy="240000"/>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9" name="Title 1"/>
          <p:cNvSpPr>
            <a:spLocks noGrp="1"/>
          </p:cNvSpPr>
          <p:nvPr>
            <p:ph type="ctrTitle"/>
          </p:nvPr>
        </p:nvSpPr>
        <p:spPr>
          <a:xfrm>
            <a:off x="914401" y="3840000"/>
            <a:ext cx="10366177" cy="2084957"/>
          </a:xfrm>
          <a:prstGeom prst="rect">
            <a:avLst/>
          </a:prstGeom>
        </p:spPr>
        <p:txBody>
          <a:bodyPr lIns="0" tIns="0" rIns="0" bIns="0" anchor="ctr" anchorCtr="0"/>
          <a:lstStyle>
            <a:lvl1pPr>
              <a:defRPr sz="5333" b="1">
                <a:solidFill>
                  <a:schemeClr val="bg1"/>
                </a:solidFill>
              </a:defRPr>
            </a:lvl1pPr>
          </a:lstStyle>
          <a:p>
            <a:r>
              <a:rPr lang="ga-IE" dirty="0"/>
              <a:t>Click to edit Master title style</a:t>
            </a:r>
            <a:endParaRPr lang="en-US" dirty="0"/>
          </a:p>
        </p:txBody>
      </p:sp>
      <p:sp>
        <p:nvSpPr>
          <p:cNvPr id="6" name="Text Placeholder 2"/>
          <p:cNvSpPr>
            <a:spLocks noGrp="1"/>
          </p:cNvSpPr>
          <p:nvPr>
            <p:ph type="body" sz="quarter" idx="10"/>
          </p:nvPr>
        </p:nvSpPr>
        <p:spPr>
          <a:xfrm>
            <a:off x="914400" y="5924957"/>
            <a:ext cx="10366176" cy="933043"/>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dirty="0"/>
              <a:t>Click to edit Master text styles</a:t>
            </a:r>
            <a:endParaRPr lang="en-US" dirty="0"/>
          </a:p>
        </p:txBody>
      </p:sp>
      <p:pic>
        <p:nvPicPr>
          <p:cNvPr id="7" name="Picture 6"/>
          <p:cNvPicPr>
            <a:picLocks noChangeAspect="1"/>
          </p:cNvPicPr>
          <p:nvPr userDrawn="1"/>
        </p:nvPicPr>
        <p:blipFill rotWithShape="1">
          <a:blip r:embed="rId2"/>
          <a:srcRect r="56141"/>
          <a:stretch/>
        </p:blipFill>
        <p:spPr>
          <a:xfrm>
            <a:off x="575735" y="740701"/>
            <a:ext cx="4842285" cy="2573867"/>
          </a:xfrm>
          <a:prstGeom prst="rect">
            <a:avLst/>
          </a:prstGeom>
        </p:spPr>
      </p:pic>
    </p:spTree>
    <p:extLst>
      <p:ext uri="{BB962C8B-B14F-4D97-AF65-F5344CB8AC3E}">
        <p14:creationId xmlns:p14="http://schemas.microsoft.com/office/powerpoint/2010/main" val="2312547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5" name="Rectangle 14"/>
          <p:cNvSpPr/>
          <p:nvPr userDrawn="1"/>
        </p:nvSpPr>
        <p:spPr>
          <a:xfrm>
            <a:off x="0" y="3840000"/>
            <a:ext cx="12217400" cy="3018000"/>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6" name="Rectangle 15"/>
          <p:cNvSpPr/>
          <p:nvPr userDrawn="1"/>
        </p:nvSpPr>
        <p:spPr>
          <a:xfrm>
            <a:off x="0" y="3840000"/>
            <a:ext cx="12217400" cy="240000"/>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9" name="Title 1"/>
          <p:cNvSpPr>
            <a:spLocks noGrp="1"/>
          </p:cNvSpPr>
          <p:nvPr>
            <p:ph type="ctrTitle"/>
          </p:nvPr>
        </p:nvSpPr>
        <p:spPr>
          <a:xfrm>
            <a:off x="914401" y="3840000"/>
            <a:ext cx="10366177" cy="2084957"/>
          </a:xfrm>
          <a:prstGeom prst="rect">
            <a:avLst/>
          </a:prstGeom>
        </p:spPr>
        <p:txBody>
          <a:bodyPr lIns="0" tIns="0" rIns="0" bIns="0" anchor="ctr" anchorCtr="0"/>
          <a:lstStyle>
            <a:lvl1pPr>
              <a:defRPr sz="5333" b="1">
                <a:solidFill>
                  <a:schemeClr val="bg1"/>
                </a:solidFill>
              </a:defRPr>
            </a:lvl1pPr>
          </a:lstStyle>
          <a:p>
            <a:r>
              <a:rPr lang="en-US"/>
              <a:t>Click to edit Master title style</a:t>
            </a:r>
          </a:p>
        </p:txBody>
      </p:sp>
      <p:sp>
        <p:nvSpPr>
          <p:cNvPr id="6" name="Text Placeholder 2"/>
          <p:cNvSpPr>
            <a:spLocks noGrp="1"/>
          </p:cNvSpPr>
          <p:nvPr>
            <p:ph type="body" sz="quarter" idx="10"/>
          </p:nvPr>
        </p:nvSpPr>
        <p:spPr>
          <a:xfrm>
            <a:off x="914400" y="5924957"/>
            <a:ext cx="10366176" cy="933043"/>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US"/>
              <a:t>Edit Master text styles</a:t>
            </a:r>
          </a:p>
        </p:txBody>
      </p:sp>
      <p:pic>
        <p:nvPicPr>
          <p:cNvPr id="7" name="Picture 6"/>
          <p:cNvPicPr>
            <a:picLocks noChangeAspect="1"/>
          </p:cNvPicPr>
          <p:nvPr userDrawn="1"/>
        </p:nvPicPr>
        <p:blipFill>
          <a:blip r:embed="rId2"/>
          <a:stretch>
            <a:fillRect/>
          </a:stretch>
        </p:blipFill>
        <p:spPr>
          <a:xfrm>
            <a:off x="3311692" y="132756"/>
            <a:ext cx="5571067" cy="3488267"/>
          </a:xfrm>
          <a:prstGeom prst="rect">
            <a:avLst/>
          </a:prstGeom>
        </p:spPr>
      </p:pic>
    </p:spTree>
    <p:extLst>
      <p:ext uri="{BB962C8B-B14F-4D97-AF65-F5344CB8AC3E}">
        <p14:creationId xmlns:p14="http://schemas.microsoft.com/office/powerpoint/2010/main" val="3498751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02">
    <p:spTree>
      <p:nvGrpSpPr>
        <p:cNvPr id="1" name=""/>
        <p:cNvGrpSpPr/>
        <p:nvPr/>
      </p:nvGrpSpPr>
      <p:grpSpPr>
        <a:xfrm>
          <a:off x="0" y="0"/>
          <a:ext cx="0" cy="0"/>
          <a:chOff x="0" y="0"/>
          <a:chExt cx="0" cy="0"/>
        </a:xfrm>
      </p:grpSpPr>
      <p:sp>
        <p:nvSpPr>
          <p:cNvPr id="6" name="Rectangle 5"/>
          <p:cNvSpPr/>
          <p:nvPr userDrawn="1"/>
        </p:nvSpPr>
        <p:spPr>
          <a:xfrm>
            <a:off x="4318003" y="-21696"/>
            <a:ext cx="7873999" cy="6879696"/>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8" name="Rectangle 7"/>
          <p:cNvSpPr/>
          <p:nvPr userDrawn="1"/>
        </p:nvSpPr>
        <p:spPr>
          <a:xfrm rot="5400000">
            <a:off x="759618" y="3299619"/>
            <a:ext cx="6879697" cy="237069"/>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pic>
        <p:nvPicPr>
          <p:cNvPr id="9" name="Picture 8"/>
          <p:cNvPicPr>
            <a:picLocks noChangeAspect="1"/>
          </p:cNvPicPr>
          <p:nvPr userDrawn="1"/>
        </p:nvPicPr>
        <p:blipFill rotWithShape="1">
          <a:blip r:embed="rId2"/>
          <a:srcRect b="64656"/>
          <a:stretch/>
        </p:blipFill>
        <p:spPr>
          <a:xfrm>
            <a:off x="-50800" y="2244974"/>
            <a:ext cx="4097867" cy="1568071"/>
          </a:xfrm>
          <a:prstGeom prst="rect">
            <a:avLst/>
          </a:prstGeom>
        </p:spPr>
      </p:pic>
      <p:sp>
        <p:nvSpPr>
          <p:cNvPr id="10" name="Title 1"/>
          <p:cNvSpPr>
            <a:spLocks noGrp="1"/>
          </p:cNvSpPr>
          <p:nvPr>
            <p:ph type="ctrTitle" hasCustomPrompt="1"/>
          </p:nvPr>
        </p:nvSpPr>
        <p:spPr>
          <a:xfrm>
            <a:off x="4318002" y="-21696"/>
            <a:ext cx="7899399" cy="5760000"/>
          </a:xfrm>
          <a:prstGeom prst="rect">
            <a:avLst/>
          </a:prstGeom>
        </p:spPr>
        <p:txBody>
          <a:bodyPr lIns="360000" tIns="0" rIns="360000" bIns="144000" anchor="ctr" anchorCtr="0"/>
          <a:lstStyle>
            <a:lvl1pPr>
              <a:defRPr sz="5333" b="0">
                <a:solidFill>
                  <a:schemeClr val="bg1"/>
                </a:solidFill>
              </a:defRPr>
            </a:lvl1pPr>
          </a:lstStyle>
          <a:p>
            <a:r>
              <a:rPr lang="ga-IE"/>
              <a:t>Click to Edit Master Title Style</a:t>
            </a:r>
            <a:endParaRPr lang="en-US"/>
          </a:p>
        </p:txBody>
      </p:sp>
      <p:sp>
        <p:nvSpPr>
          <p:cNvPr id="3" name="Text Placeholder 2"/>
          <p:cNvSpPr>
            <a:spLocks noGrp="1"/>
          </p:cNvSpPr>
          <p:nvPr>
            <p:ph type="body" sz="quarter" idx="10"/>
          </p:nvPr>
        </p:nvSpPr>
        <p:spPr>
          <a:xfrm>
            <a:off x="4318000" y="5738286"/>
            <a:ext cx="7920000" cy="1119716"/>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US"/>
              <a:t>Edit Master text styles</a:t>
            </a:r>
          </a:p>
        </p:txBody>
      </p:sp>
    </p:spTree>
    <p:extLst>
      <p:ext uri="{BB962C8B-B14F-4D97-AF65-F5344CB8AC3E}">
        <p14:creationId xmlns:p14="http://schemas.microsoft.com/office/powerpoint/2010/main" val="226075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03">
    <p:spTree>
      <p:nvGrpSpPr>
        <p:cNvPr id="1" name=""/>
        <p:cNvGrpSpPr/>
        <p:nvPr/>
      </p:nvGrpSpPr>
      <p:grpSpPr>
        <a:xfrm>
          <a:off x="0" y="0"/>
          <a:ext cx="0" cy="0"/>
          <a:chOff x="0" y="0"/>
          <a:chExt cx="0" cy="0"/>
        </a:xfrm>
      </p:grpSpPr>
      <p:pic>
        <p:nvPicPr>
          <p:cNvPr id="7" name="Picture 6" descr="05411-EPA-TitleSlide-2.jpg"/>
          <p:cNvPicPr>
            <a:picLocks noChangeAspect="1"/>
          </p:cNvPicPr>
          <p:nvPr userDrawn="1"/>
        </p:nvPicPr>
        <p:blipFill>
          <a:blip r:embed="rId2"/>
          <a:stretch>
            <a:fillRect/>
          </a:stretch>
        </p:blipFill>
        <p:spPr>
          <a:xfrm>
            <a:off x="0" y="0"/>
            <a:ext cx="12192000" cy="6860032"/>
          </a:xfrm>
          <a:prstGeom prst="rect">
            <a:avLst/>
          </a:prstGeom>
        </p:spPr>
      </p:pic>
      <p:sp>
        <p:nvSpPr>
          <p:cNvPr id="14" name="Title 1"/>
          <p:cNvSpPr>
            <a:spLocks noGrp="1"/>
          </p:cNvSpPr>
          <p:nvPr>
            <p:ph type="ctrTitle"/>
          </p:nvPr>
        </p:nvSpPr>
        <p:spPr>
          <a:xfrm>
            <a:off x="914402" y="3044957"/>
            <a:ext cx="8349951" cy="2880000"/>
          </a:xfrm>
          <a:prstGeom prst="rect">
            <a:avLst/>
          </a:prstGeom>
        </p:spPr>
        <p:txBody>
          <a:bodyPr lIns="0" tIns="0" rIns="0" bIns="144000" anchor="ctr" anchorCtr="0"/>
          <a:lstStyle>
            <a:lvl1pPr algn="l">
              <a:defRPr sz="5333" b="1">
                <a:solidFill>
                  <a:schemeClr val="bg1"/>
                </a:solidFill>
              </a:defRPr>
            </a:lvl1pPr>
          </a:lstStyle>
          <a:p>
            <a:r>
              <a:rPr lang="en-US"/>
              <a:t>Click to edit Master title style</a:t>
            </a:r>
          </a:p>
        </p:txBody>
      </p:sp>
      <p:sp>
        <p:nvSpPr>
          <p:cNvPr id="5" name="Text Placeholder 2"/>
          <p:cNvSpPr>
            <a:spLocks noGrp="1"/>
          </p:cNvSpPr>
          <p:nvPr>
            <p:ph type="body" sz="quarter" idx="10"/>
          </p:nvPr>
        </p:nvSpPr>
        <p:spPr>
          <a:xfrm>
            <a:off x="914400" y="5924957"/>
            <a:ext cx="8349949" cy="933043"/>
          </a:xfrm>
          <a:prstGeom prst="rect">
            <a:avLst/>
          </a:prstGeom>
        </p:spPr>
        <p:txBody>
          <a:bodyPr vert="horz" lIns="0" tIns="0" rIns="0" bIns="72000" anchor="ctr"/>
          <a:lstStyle>
            <a:lvl1pPr marL="0" indent="0" algn="l">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US"/>
              <a:t>Edit Master text styles</a:t>
            </a:r>
          </a:p>
        </p:txBody>
      </p:sp>
      <p:pic>
        <p:nvPicPr>
          <p:cNvPr id="6" name="Picture 5"/>
          <p:cNvPicPr>
            <a:picLocks noChangeAspect="1"/>
          </p:cNvPicPr>
          <p:nvPr userDrawn="1"/>
        </p:nvPicPr>
        <p:blipFill>
          <a:blip r:embed="rId3"/>
          <a:stretch>
            <a:fillRect/>
          </a:stretch>
        </p:blipFill>
        <p:spPr>
          <a:xfrm>
            <a:off x="6620933" y="-59267"/>
            <a:ext cx="5571067" cy="3488267"/>
          </a:xfrm>
          <a:prstGeom prst="rect">
            <a:avLst/>
          </a:prstGeom>
        </p:spPr>
      </p:pic>
    </p:spTree>
    <p:extLst>
      <p:ext uri="{BB962C8B-B14F-4D97-AF65-F5344CB8AC3E}">
        <p14:creationId xmlns:p14="http://schemas.microsoft.com/office/powerpoint/2010/main" val="29493386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Col-01">
    <p:spTree>
      <p:nvGrpSpPr>
        <p:cNvPr id="1" name=""/>
        <p:cNvGrpSpPr/>
        <p:nvPr/>
      </p:nvGrpSpPr>
      <p:grpSpPr>
        <a:xfrm>
          <a:off x="0" y="0"/>
          <a:ext cx="0" cy="0"/>
          <a:chOff x="0" y="0"/>
          <a:chExt cx="0" cy="0"/>
        </a:xfrm>
      </p:grpSpPr>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9" name="Rectangle 8"/>
          <p:cNvSpPr/>
          <p:nvPr userDrawn="1"/>
        </p:nvSpPr>
        <p:spPr>
          <a:xfrm>
            <a:off x="0" y="6311373"/>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609600" y="1796820"/>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609600" y="2528655"/>
            <a:ext cx="10972800"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2"/>
          <a:stretch>
            <a:fillRect/>
          </a:stretch>
        </p:blipFill>
        <p:spPr>
          <a:xfrm>
            <a:off x="9719733" y="0"/>
            <a:ext cx="2167467" cy="1439333"/>
          </a:xfrm>
          <a:prstGeom prst="rect">
            <a:avLst/>
          </a:prstGeom>
        </p:spPr>
      </p:pic>
    </p:spTree>
    <p:extLst>
      <p:ext uri="{BB962C8B-B14F-4D97-AF65-F5344CB8AC3E}">
        <p14:creationId xmlns:p14="http://schemas.microsoft.com/office/powerpoint/2010/main" val="14793386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Col-02">
    <p:spTree>
      <p:nvGrpSpPr>
        <p:cNvPr id="1" name=""/>
        <p:cNvGrpSpPr/>
        <p:nvPr/>
      </p:nvGrpSpPr>
      <p:grpSpPr>
        <a:xfrm>
          <a:off x="0" y="0"/>
          <a:ext cx="0" cy="0"/>
          <a:chOff x="0" y="0"/>
          <a:chExt cx="0" cy="0"/>
        </a:xfrm>
      </p:grpSpPr>
      <p:sp>
        <p:nvSpPr>
          <p:cNvPr id="13" name="Rectangle 12"/>
          <p:cNvSpPr/>
          <p:nvPr userDrawn="1"/>
        </p:nvSpPr>
        <p:spPr>
          <a:xfrm>
            <a:off x="0" y="6311373"/>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4" name="Rectangle 13"/>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609600" y="1796820"/>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609600" y="2528655"/>
            <a:ext cx="10972800"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a:blip r:embed="rId2"/>
          <a:stretch>
            <a:fillRect/>
          </a:stretch>
        </p:blipFill>
        <p:spPr>
          <a:xfrm>
            <a:off x="9719733" y="0"/>
            <a:ext cx="2167467" cy="1439333"/>
          </a:xfrm>
          <a:prstGeom prst="rect">
            <a:avLst/>
          </a:prstGeom>
        </p:spPr>
      </p:pic>
    </p:spTree>
    <p:extLst>
      <p:ext uri="{BB962C8B-B14F-4D97-AF65-F5344CB8AC3E}">
        <p14:creationId xmlns:p14="http://schemas.microsoft.com/office/powerpoint/2010/main" val="3432161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2Col-01">
    <p:spTree>
      <p:nvGrpSpPr>
        <p:cNvPr id="1" name=""/>
        <p:cNvGrpSpPr/>
        <p:nvPr/>
      </p:nvGrpSpPr>
      <p:grpSpPr>
        <a:xfrm>
          <a:off x="0" y="0"/>
          <a:ext cx="0" cy="0"/>
          <a:chOff x="0" y="0"/>
          <a:chExt cx="0" cy="0"/>
        </a:xfrm>
      </p:grpSpPr>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9" name="Rectangle 8"/>
          <p:cNvSpPr/>
          <p:nvPr userDrawn="1"/>
        </p:nvSpPr>
        <p:spPr>
          <a:xfrm>
            <a:off x="0" y="6311373"/>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609600" y="1796820"/>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609601" y="2528655"/>
            <a:ext cx="5294379" cy="3588644"/>
          </a:xfrm>
          <a:prstGeom prst="rect">
            <a:avLst/>
          </a:prstGeom>
        </p:spPr>
        <p:txBody>
          <a:bodyPr lIns="0" tIns="0" rIns="0" bIns="0" anchor="t" anchorCtr="0"/>
          <a:lstStyle>
            <a:lvl1pPr marL="0" indent="0">
              <a:spcBef>
                <a:spcPts val="0"/>
              </a:spcBef>
              <a:spcAft>
                <a:spcPts val="1600"/>
              </a:spcAft>
              <a:buClr>
                <a:srgbClr val="00AFA3"/>
              </a:buClr>
              <a:buFont typeface="Wingdings" charset="2"/>
              <a:buNone/>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p:txBody>
      </p:sp>
      <p:sp>
        <p:nvSpPr>
          <p:cNvPr id="11" name="Content Placeholder 2"/>
          <p:cNvSpPr>
            <a:spLocks noGrp="1"/>
          </p:cNvSpPr>
          <p:nvPr>
            <p:ph idx="11"/>
          </p:nvPr>
        </p:nvSpPr>
        <p:spPr>
          <a:xfrm>
            <a:off x="6288021" y="2528655"/>
            <a:ext cx="5294379"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p:cNvPicPr>
            <a:picLocks noChangeAspect="1"/>
          </p:cNvPicPr>
          <p:nvPr userDrawn="1"/>
        </p:nvPicPr>
        <p:blipFill>
          <a:blip r:embed="rId2"/>
          <a:stretch>
            <a:fillRect/>
          </a:stretch>
        </p:blipFill>
        <p:spPr>
          <a:xfrm>
            <a:off x="9719733" y="0"/>
            <a:ext cx="2167467" cy="1439333"/>
          </a:xfrm>
          <a:prstGeom prst="rect">
            <a:avLst/>
          </a:prstGeom>
        </p:spPr>
      </p:pic>
    </p:spTree>
    <p:extLst>
      <p:ext uri="{BB962C8B-B14F-4D97-AF65-F5344CB8AC3E}">
        <p14:creationId xmlns:p14="http://schemas.microsoft.com/office/powerpoint/2010/main" val="19750147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Col-02">
    <p:spTree>
      <p:nvGrpSpPr>
        <p:cNvPr id="1" name=""/>
        <p:cNvGrpSpPr/>
        <p:nvPr/>
      </p:nvGrpSpPr>
      <p:grpSpPr>
        <a:xfrm>
          <a:off x="0" y="0"/>
          <a:ext cx="0" cy="0"/>
          <a:chOff x="0" y="0"/>
          <a:chExt cx="0" cy="0"/>
        </a:xfrm>
      </p:grpSpPr>
      <p:sp>
        <p:nvSpPr>
          <p:cNvPr id="12" name="Rectangle 11"/>
          <p:cNvSpPr/>
          <p:nvPr userDrawn="1"/>
        </p:nvSpPr>
        <p:spPr>
          <a:xfrm>
            <a:off x="0" y="6311373"/>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609600" y="1796820"/>
            <a:ext cx="1097280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609601" y="2528655"/>
            <a:ext cx="5294379" cy="3588644"/>
          </a:xfrm>
          <a:prstGeom prst="rect">
            <a:avLst/>
          </a:prstGeom>
        </p:spPr>
        <p:txBody>
          <a:bodyPr lIns="0" tIns="0" rIns="0" bIns="0" anchor="t" anchorCtr="0"/>
          <a:lstStyle>
            <a:lvl1pPr marL="0" indent="0">
              <a:spcBef>
                <a:spcPts val="0"/>
              </a:spcBef>
              <a:spcAft>
                <a:spcPts val="1600"/>
              </a:spcAft>
              <a:buClr>
                <a:srgbClr val="00AFA3"/>
              </a:buClr>
              <a:buFont typeface="Wingdings" charset="2"/>
              <a:buNone/>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p:txBody>
      </p:sp>
      <p:sp>
        <p:nvSpPr>
          <p:cNvPr id="11" name="Content Placeholder 2"/>
          <p:cNvSpPr>
            <a:spLocks noGrp="1"/>
          </p:cNvSpPr>
          <p:nvPr>
            <p:ph idx="11"/>
          </p:nvPr>
        </p:nvSpPr>
        <p:spPr>
          <a:xfrm>
            <a:off x="6288021" y="2528655"/>
            <a:ext cx="5294379"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a:blip r:embed="rId2"/>
          <a:stretch>
            <a:fillRect/>
          </a:stretch>
        </p:blipFill>
        <p:spPr>
          <a:xfrm>
            <a:off x="9719733" y="0"/>
            <a:ext cx="2167467" cy="1439333"/>
          </a:xfrm>
          <a:prstGeom prst="rect">
            <a:avLst/>
          </a:prstGeom>
        </p:spPr>
      </p:pic>
    </p:spTree>
    <p:extLst>
      <p:ext uri="{BB962C8B-B14F-4D97-AF65-F5344CB8AC3E}">
        <p14:creationId xmlns:p14="http://schemas.microsoft.com/office/powerpoint/2010/main" val="6704802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Pic+Head-01">
    <p:spTree>
      <p:nvGrpSpPr>
        <p:cNvPr id="1" name=""/>
        <p:cNvGrpSpPr/>
        <p:nvPr/>
      </p:nvGrpSpPr>
      <p:grpSpPr>
        <a:xfrm>
          <a:off x="0" y="0"/>
          <a:ext cx="0" cy="0"/>
          <a:chOff x="0" y="0"/>
          <a:chExt cx="0" cy="0"/>
        </a:xfrm>
      </p:grpSpPr>
      <p:sp>
        <p:nvSpPr>
          <p:cNvPr id="12" name="Rectangle 11"/>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9" name="Rectangle 8"/>
          <p:cNvSpPr/>
          <p:nvPr userDrawn="1"/>
        </p:nvSpPr>
        <p:spPr>
          <a:xfrm>
            <a:off x="0" y="6311373"/>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4655840" y="1796820"/>
            <a:ext cx="692656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AFA3"/>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4655840" y="2528655"/>
            <a:ext cx="6926560"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3"/>
          <a:stretch>
            <a:fillRect/>
          </a:stretch>
        </p:blipFill>
        <p:spPr>
          <a:xfrm>
            <a:off x="9719733" y="0"/>
            <a:ext cx="2167467" cy="1439333"/>
          </a:xfrm>
          <a:prstGeom prst="rect">
            <a:avLst/>
          </a:prstGeom>
        </p:spPr>
      </p:pic>
    </p:spTree>
    <p:extLst>
      <p:ext uri="{BB962C8B-B14F-4D97-AF65-F5344CB8AC3E}">
        <p14:creationId xmlns:p14="http://schemas.microsoft.com/office/powerpoint/2010/main" val="22625228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Pic+Head-02">
    <p:spTree>
      <p:nvGrpSpPr>
        <p:cNvPr id="1" name=""/>
        <p:cNvGrpSpPr/>
        <p:nvPr/>
      </p:nvGrpSpPr>
      <p:grpSpPr>
        <a:xfrm>
          <a:off x="0" y="0"/>
          <a:ext cx="0" cy="0"/>
          <a:chOff x="0" y="0"/>
          <a:chExt cx="0" cy="0"/>
        </a:xfrm>
      </p:grpSpPr>
      <p:sp>
        <p:nvSpPr>
          <p:cNvPr id="14" name="Rectangle 13"/>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11" name="Rectangle 10"/>
          <p:cNvSpPr/>
          <p:nvPr userDrawn="1"/>
        </p:nvSpPr>
        <p:spPr>
          <a:xfrm>
            <a:off x="0" y="6311373"/>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sp>
        <p:nvSpPr>
          <p:cNvPr id="3" name="Content Placeholder 2"/>
          <p:cNvSpPr>
            <a:spLocks noGrp="1"/>
          </p:cNvSpPr>
          <p:nvPr>
            <p:ph idx="1" hasCustomPrompt="1"/>
          </p:nvPr>
        </p:nvSpPr>
        <p:spPr>
          <a:xfrm>
            <a:off x="4655840" y="1796820"/>
            <a:ext cx="6926560" cy="731837"/>
          </a:xfrm>
          <a:prstGeom prst="rect">
            <a:avLst/>
          </a:prstGeom>
        </p:spPr>
        <p:txBody>
          <a:bodyPr lIns="0" tIns="0" rIns="0" bIns="0" anchor="t" anchorCtr="0"/>
          <a:lstStyle>
            <a:lvl1pPr marL="0" indent="0">
              <a:spcBef>
                <a:spcPts val="0"/>
              </a:spcBef>
              <a:spcAft>
                <a:spcPts val="1600"/>
              </a:spcAft>
              <a:buClr>
                <a:srgbClr val="00AFA3"/>
              </a:buClr>
              <a:buFont typeface="Arial"/>
              <a:buNone/>
              <a:defRPr sz="2667">
                <a:solidFill>
                  <a:srgbClr val="006DB5"/>
                </a:solidFill>
              </a:defRPr>
            </a:lvl1pPr>
            <a:lvl2pPr marL="479976" indent="0">
              <a:spcBef>
                <a:spcPts val="0"/>
              </a:spcBef>
              <a:spcAft>
                <a:spcPts val="1600"/>
              </a:spcAft>
              <a:buClr>
                <a:srgbClr val="00AFA3"/>
              </a:buClr>
              <a:buFont typeface="Arial"/>
              <a:buNone/>
              <a:defRPr sz="2133">
                <a:solidFill>
                  <a:srgbClr val="006DB5"/>
                </a:solidFill>
              </a:defRPr>
            </a:lvl2pPr>
            <a:lvl3pPr marL="959952" indent="0">
              <a:spcBef>
                <a:spcPts val="0"/>
              </a:spcBef>
              <a:spcAft>
                <a:spcPts val="1600"/>
              </a:spcAft>
              <a:buClr>
                <a:srgbClr val="00AFA3"/>
              </a:buClr>
              <a:buFont typeface="Arial"/>
              <a:buNone/>
              <a:defRPr sz="2133">
                <a:solidFill>
                  <a:srgbClr val="006DB5"/>
                </a:solidFill>
              </a:defRPr>
            </a:lvl3pPr>
            <a:lvl4pPr marL="1439928" indent="0">
              <a:spcBef>
                <a:spcPts val="0"/>
              </a:spcBef>
              <a:spcAft>
                <a:spcPts val="1600"/>
              </a:spcAft>
              <a:buClr>
                <a:srgbClr val="00AFA3"/>
              </a:buClr>
              <a:buFont typeface="Arial"/>
              <a:buNone/>
              <a:defRPr sz="2133">
                <a:solidFill>
                  <a:srgbClr val="006DB5"/>
                </a:solidFill>
              </a:defRPr>
            </a:lvl4pPr>
            <a:lvl5pPr marL="1919904" indent="0">
              <a:spcBef>
                <a:spcPts val="0"/>
              </a:spcBef>
              <a:spcAft>
                <a:spcPts val="1600"/>
              </a:spcAft>
              <a:buClr>
                <a:srgbClr val="00AFA3"/>
              </a:buClr>
              <a:buFont typeface="Arial"/>
              <a:buNone/>
              <a:defRPr sz="2133">
                <a:solidFill>
                  <a:srgbClr val="006DB5"/>
                </a:solidFill>
              </a:defRPr>
            </a:lvl5pPr>
          </a:lstStyle>
          <a:p>
            <a:pPr lvl="0"/>
            <a:r>
              <a:rPr lang="ga-IE"/>
              <a:t>Click to Edit Master Text Styles</a:t>
            </a:r>
          </a:p>
        </p:txBody>
      </p:sp>
      <p:sp>
        <p:nvSpPr>
          <p:cNvPr id="10" name="Content Placeholder 2"/>
          <p:cNvSpPr>
            <a:spLocks noGrp="1"/>
          </p:cNvSpPr>
          <p:nvPr>
            <p:ph idx="10"/>
          </p:nvPr>
        </p:nvSpPr>
        <p:spPr>
          <a:xfrm>
            <a:off x="4655840" y="2528655"/>
            <a:ext cx="6926560" cy="3588644"/>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a:blip r:embed="rId3"/>
          <a:stretch>
            <a:fillRect/>
          </a:stretch>
        </p:blipFill>
        <p:spPr>
          <a:xfrm>
            <a:off x="9719733" y="0"/>
            <a:ext cx="2167467" cy="1439333"/>
          </a:xfrm>
          <a:prstGeom prst="rect">
            <a:avLst/>
          </a:prstGeom>
        </p:spPr>
      </p:pic>
    </p:spTree>
    <p:extLst>
      <p:ext uri="{BB962C8B-B14F-4D97-AF65-F5344CB8AC3E}">
        <p14:creationId xmlns:p14="http://schemas.microsoft.com/office/powerpoint/2010/main" val="1989339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ext-01">
    <p:spTree>
      <p:nvGrpSpPr>
        <p:cNvPr id="1" name=""/>
        <p:cNvGrpSpPr/>
        <p:nvPr/>
      </p:nvGrpSpPr>
      <p:grpSpPr>
        <a:xfrm>
          <a:off x="0" y="0"/>
          <a:ext cx="0" cy="0"/>
          <a:chOff x="0" y="0"/>
          <a:chExt cx="0" cy="0"/>
        </a:xfrm>
      </p:grpSpPr>
      <p:sp>
        <p:nvSpPr>
          <p:cNvPr id="10" name="Content Placeholder 2"/>
          <p:cNvSpPr>
            <a:spLocks noGrp="1"/>
          </p:cNvSpPr>
          <p:nvPr>
            <p:ph idx="10"/>
          </p:nvPr>
        </p:nvSpPr>
        <p:spPr>
          <a:xfrm>
            <a:off x="4655840" y="1796820"/>
            <a:ext cx="6926560" cy="4320480"/>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7" name="Rectangle 6"/>
          <p:cNvSpPr/>
          <p:nvPr userDrawn="1"/>
        </p:nvSpPr>
        <p:spPr>
          <a:xfrm>
            <a:off x="0" y="-21695"/>
            <a:ext cx="12192000" cy="1439333"/>
          </a:xfrm>
          <a:prstGeom prst="rect">
            <a:avLst/>
          </a:prstGeom>
          <a:solidFill>
            <a:srgbClr val="0058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9" name="Rectangle 8"/>
          <p:cNvSpPr/>
          <p:nvPr userDrawn="1"/>
        </p:nvSpPr>
        <p:spPr>
          <a:xfrm>
            <a:off x="0" y="6311373"/>
            <a:ext cx="12192000" cy="237067"/>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pic>
        <p:nvPicPr>
          <p:cNvPr id="11" name="Picture 10"/>
          <p:cNvPicPr>
            <a:picLocks noChangeAspect="1"/>
          </p:cNvPicPr>
          <p:nvPr userDrawn="1"/>
        </p:nvPicPr>
        <p:blipFill>
          <a:blip r:embed="rId3"/>
          <a:stretch>
            <a:fillRect/>
          </a:stretch>
        </p:blipFill>
        <p:spPr>
          <a:xfrm>
            <a:off x="9719733" y="0"/>
            <a:ext cx="2167467" cy="1439333"/>
          </a:xfrm>
          <a:prstGeom prst="rect">
            <a:avLst/>
          </a:prstGeom>
        </p:spPr>
      </p:pic>
    </p:spTree>
    <p:extLst>
      <p:ext uri="{BB962C8B-B14F-4D97-AF65-F5344CB8AC3E}">
        <p14:creationId xmlns:p14="http://schemas.microsoft.com/office/powerpoint/2010/main" val="23512591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ext-02">
    <p:spTree>
      <p:nvGrpSpPr>
        <p:cNvPr id="1" name=""/>
        <p:cNvGrpSpPr/>
        <p:nvPr/>
      </p:nvGrpSpPr>
      <p:grpSpPr>
        <a:xfrm>
          <a:off x="0" y="0"/>
          <a:ext cx="0" cy="0"/>
          <a:chOff x="0" y="0"/>
          <a:chExt cx="0" cy="0"/>
        </a:xfrm>
      </p:grpSpPr>
      <p:sp>
        <p:nvSpPr>
          <p:cNvPr id="10" name="Content Placeholder 2"/>
          <p:cNvSpPr>
            <a:spLocks noGrp="1"/>
          </p:cNvSpPr>
          <p:nvPr>
            <p:ph idx="10"/>
          </p:nvPr>
        </p:nvSpPr>
        <p:spPr>
          <a:xfrm>
            <a:off x="4655840" y="1796820"/>
            <a:ext cx="6926560" cy="4320480"/>
          </a:xfrm>
          <a:prstGeom prst="rect">
            <a:avLst/>
          </a:prstGeom>
        </p:spPr>
        <p:txBody>
          <a:bodyPr lIns="0" tIns="0" rIns="0" bIns="0" anchor="t" anchorCtr="0"/>
          <a:lstStyle>
            <a:lvl1pPr marL="479976" indent="-479976">
              <a:spcBef>
                <a:spcPts val="0"/>
              </a:spcBef>
              <a:spcAft>
                <a:spcPts val="1600"/>
              </a:spcAft>
              <a:buClr>
                <a:srgbClr val="00AFA3"/>
              </a:buClr>
              <a:buFont typeface="Wingdings" charset="2"/>
              <a:buChar char="§"/>
              <a:tabLst>
                <a:tab pos="8246121" algn="l"/>
              </a:tabLst>
              <a:defRPr sz="2133">
                <a:solidFill>
                  <a:srgbClr val="006DB5"/>
                </a:solidFill>
              </a:defRPr>
            </a:lvl1pPr>
            <a:lvl2pPr marL="959952" indent="-479976">
              <a:spcBef>
                <a:spcPts val="0"/>
              </a:spcBef>
              <a:spcAft>
                <a:spcPts val="1600"/>
              </a:spcAft>
              <a:buClr>
                <a:srgbClr val="00AFA3"/>
              </a:buClr>
              <a:buFont typeface="Wingdings" charset="2"/>
              <a:buChar char="§"/>
              <a:tabLst>
                <a:tab pos="8246121" algn="l"/>
              </a:tabLst>
              <a:defRPr sz="2133">
                <a:solidFill>
                  <a:srgbClr val="006DB5"/>
                </a:solidFill>
              </a:defRPr>
            </a:lvl2pPr>
            <a:lvl3pPr marL="1439928" indent="-479976">
              <a:spcBef>
                <a:spcPts val="0"/>
              </a:spcBef>
              <a:spcAft>
                <a:spcPts val="1600"/>
              </a:spcAft>
              <a:buClr>
                <a:srgbClr val="00AFA3"/>
              </a:buClr>
              <a:buFont typeface="Wingdings" charset="2"/>
              <a:buChar char="§"/>
              <a:tabLst>
                <a:tab pos="8246121" algn="l"/>
              </a:tabLst>
              <a:defRPr sz="2133">
                <a:solidFill>
                  <a:srgbClr val="006DB5"/>
                </a:solidFill>
              </a:defRPr>
            </a:lvl3pPr>
            <a:lvl4pPr marL="1919904" indent="-479976">
              <a:spcBef>
                <a:spcPts val="0"/>
              </a:spcBef>
              <a:spcAft>
                <a:spcPts val="1600"/>
              </a:spcAft>
              <a:buClr>
                <a:srgbClr val="00AFA3"/>
              </a:buClr>
              <a:buFont typeface="Wingdings" charset="2"/>
              <a:buChar char="§"/>
              <a:tabLst>
                <a:tab pos="8246121" algn="l"/>
              </a:tabLst>
              <a:defRPr sz="2133">
                <a:solidFill>
                  <a:srgbClr val="006DB5"/>
                </a:solidFill>
              </a:defRPr>
            </a:lvl4pPr>
            <a:lvl5pPr marL="2399880" indent="-479976">
              <a:spcBef>
                <a:spcPts val="0"/>
              </a:spcBef>
              <a:spcAft>
                <a:spcPts val="1600"/>
              </a:spcAft>
              <a:buClr>
                <a:srgbClr val="00AFA3"/>
              </a:buClr>
              <a:buFont typeface="Wingdings" charset="2"/>
              <a:buChar char="§"/>
              <a:tabLst>
                <a:tab pos="8246121" algn="l"/>
              </a:tabLst>
              <a:defRPr sz="2133">
                <a:solidFill>
                  <a:srgbClr val="006DB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p:cNvSpPr/>
          <p:nvPr userDrawn="1"/>
        </p:nvSpPr>
        <p:spPr>
          <a:xfrm>
            <a:off x="-5979" y="1412776"/>
            <a:ext cx="4080000" cy="4944000"/>
          </a:xfrm>
          <a:prstGeom prst="rect">
            <a:avLst/>
          </a:prstGeom>
          <a:blipFill rotWithShape="1">
            <a:blip r:embed="rId2"/>
            <a:srcRect/>
            <a:stretch>
              <a:fillRect l="-15340" r="-140614" b="-18857"/>
            </a:stretch>
          </a:bli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sz="2400"/>
          </a:p>
        </p:txBody>
      </p:sp>
      <p:sp>
        <p:nvSpPr>
          <p:cNvPr id="11" name="Rectangle 10"/>
          <p:cNvSpPr/>
          <p:nvPr userDrawn="1"/>
        </p:nvSpPr>
        <p:spPr>
          <a:xfrm>
            <a:off x="0" y="6311373"/>
            <a:ext cx="12192000" cy="237067"/>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3" name="Rectangle 12"/>
          <p:cNvSpPr/>
          <p:nvPr userDrawn="1"/>
        </p:nvSpPr>
        <p:spPr>
          <a:xfrm>
            <a:off x="0" y="-21695"/>
            <a:ext cx="12192000" cy="1439333"/>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2" name="Title 1"/>
          <p:cNvSpPr>
            <a:spLocks noGrp="1"/>
          </p:cNvSpPr>
          <p:nvPr>
            <p:ph type="title" hasCustomPrompt="1"/>
          </p:nvPr>
        </p:nvSpPr>
        <p:spPr>
          <a:xfrm>
            <a:off x="609600" y="274639"/>
            <a:ext cx="10972800" cy="1143000"/>
          </a:xfrm>
          <a:prstGeom prst="rect">
            <a:avLst/>
          </a:prstGeom>
        </p:spPr>
        <p:txBody>
          <a:bodyPr lIns="0" tIns="0" rIns="0" bIns="0" anchor="ctr" anchorCtr="0"/>
          <a:lstStyle>
            <a:lvl1pPr algn="l">
              <a:defRPr sz="4000">
                <a:solidFill>
                  <a:srgbClr val="FFFFFF"/>
                </a:solidFill>
              </a:defRPr>
            </a:lvl1pPr>
          </a:lstStyle>
          <a:p>
            <a:r>
              <a:rPr lang="ga-IE"/>
              <a:t>Click to Edit Master Title Style</a:t>
            </a:r>
            <a:endParaRPr lang="en-US"/>
          </a:p>
        </p:txBody>
      </p:sp>
      <p:pic>
        <p:nvPicPr>
          <p:cNvPr id="9" name="Picture 8"/>
          <p:cNvPicPr>
            <a:picLocks noChangeAspect="1"/>
          </p:cNvPicPr>
          <p:nvPr userDrawn="1"/>
        </p:nvPicPr>
        <p:blipFill>
          <a:blip r:embed="rId3"/>
          <a:stretch>
            <a:fillRect/>
          </a:stretch>
        </p:blipFill>
        <p:spPr>
          <a:xfrm>
            <a:off x="9719733" y="0"/>
            <a:ext cx="2167467" cy="1439333"/>
          </a:xfrm>
          <a:prstGeom prst="rect">
            <a:avLst/>
          </a:prstGeom>
        </p:spPr>
      </p:pic>
    </p:spTree>
    <p:extLst>
      <p:ext uri="{BB962C8B-B14F-4D97-AF65-F5344CB8AC3E}">
        <p14:creationId xmlns:p14="http://schemas.microsoft.com/office/powerpoint/2010/main" val="3903456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635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01">
    <p:spTree>
      <p:nvGrpSpPr>
        <p:cNvPr id="1" name=""/>
        <p:cNvGrpSpPr/>
        <p:nvPr/>
      </p:nvGrpSpPr>
      <p:grpSpPr>
        <a:xfrm>
          <a:off x="0" y="0"/>
          <a:ext cx="0" cy="0"/>
          <a:chOff x="0" y="0"/>
          <a:chExt cx="0" cy="0"/>
        </a:xfrm>
      </p:grpSpPr>
      <p:sp>
        <p:nvSpPr>
          <p:cNvPr id="15" name="Rectangle 14"/>
          <p:cNvSpPr/>
          <p:nvPr userDrawn="1"/>
        </p:nvSpPr>
        <p:spPr>
          <a:xfrm>
            <a:off x="0" y="3840000"/>
            <a:ext cx="12217400" cy="3018000"/>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6" name="Rectangle 15"/>
          <p:cNvSpPr/>
          <p:nvPr userDrawn="1"/>
        </p:nvSpPr>
        <p:spPr>
          <a:xfrm>
            <a:off x="0" y="3840000"/>
            <a:ext cx="12217400" cy="240000"/>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9" name="Title 1"/>
          <p:cNvSpPr>
            <a:spLocks noGrp="1"/>
          </p:cNvSpPr>
          <p:nvPr>
            <p:ph type="ctrTitle"/>
          </p:nvPr>
        </p:nvSpPr>
        <p:spPr>
          <a:xfrm>
            <a:off x="914402" y="3840000"/>
            <a:ext cx="10366177" cy="2084957"/>
          </a:xfrm>
          <a:prstGeom prst="rect">
            <a:avLst/>
          </a:prstGeom>
        </p:spPr>
        <p:txBody>
          <a:bodyPr lIns="0" tIns="0" rIns="0" bIns="0" anchor="ctr" anchorCtr="0"/>
          <a:lstStyle>
            <a:lvl1pPr>
              <a:defRPr sz="5333" b="1">
                <a:solidFill>
                  <a:schemeClr val="bg1"/>
                </a:solidFill>
              </a:defRPr>
            </a:lvl1pPr>
          </a:lstStyle>
          <a:p>
            <a:r>
              <a:rPr lang="ga-IE"/>
              <a:t>Click to edit Master title style</a:t>
            </a:r>
            <a:endParaRPr lang="en-US"/>
          </a:p>
        </p:txBody>
      </p:sp>
      <p:sp>
        <p:nvSpPr>
          <p:cNvPr id="6" name="Text Placeholder 2"/>
          <p:cNvSpPr>
            <a:spLocks noGrp="1"/>
          </p:cNvSpPr>
          <p:nvPr>
            <p:ph type="body" sz="quarter" idx="10"/>
          </p:nvPr>
        </p:nvSpPr>
        <p:spPr>
          <a:xfrm>
            <a:off x="914400" y="5924957"/>
            <a:ext cx="10366176" cy="933043"/>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a:t>Click to edit Master text styles</a:t>
            </a:r>
            <a:endParaRPr lang="en-US"/>
          </a:p>
        </p:txBody>
      </p:sp>
      <p:pic>
        <p:nvPicPr>
          <p:cNvPr id="7" name="Picture 6"/>
          <p:cNvPicPr>
            <a:picLocks noChangeAspect="1"/>
          </p:cNvPicPr>
          <p:nvPr userDrawn="1"/>
        </p:nvPicPr>
        <p:blipFill rotWithShape="1">
          <a:blip r:embed="rId2"/>
          <a:srcRect r="56141"/>
          <a:stretch/>
        </p:blipFill>
        <p:spPr>
          <a:xfrm>
            <a:off x="575736" y="740701"/>
            <a:ext cx="4842285" cy="2573867"/>
          </a:xfrm>
          <a:prstGeom prst="rect">
            <a:avLst/>
          </a:prstGeom>
        </p:spPr>
      </p:pic>
    </p:spTree>
    <p:extLst>
      <p:ext uri="{BB962C8B-B14F-4D97-AF65-F5344CB8AC3E}">
        <p14:creationId xmlns:p14="http://schemas.microsoft.com/office/powerpoint/2010/main" val="1835443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089B-E34D-4A71-9F9C-A41DAB9E0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BE25671-337F-45E2-B509-1A9DEF4130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4C9095D0-9C90-46AD-AA6F-2994370A2789}"/>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A33682E4-919A-444E-96F9-00DC74CE145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6E3A73D-D0F8-4CF6-9CD6-8C56E0E1A8ED}"/>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30394005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3E9-F383-4AC6-B4D8-CB77A5115221}"/>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59ACE302-731E-4643-ADCA-796CD12D753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B52E3EC7-84A1-416E-8826-9351F130FBF0}"/>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556D85BB-4C60-44A8-8389-7DEC2FB10C9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6513D8F-FBD6-4A14-8610-CCEA5A8F0424}"/>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20791397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E1CC-9F41-4BF9-9669-88868E0DD1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C5C6AFF7-4648-4337-9B81-DC249A4F04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E2ACF83-89DB-46BD-8026-D8796C184A75}"/>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63307B15-B719-42BA-83FF-D12D47D54E5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FCACEC6-C56B-4673-8981-0F430DB6BEF0}"/>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30462668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AB916-FE4A-49A4-8E29-EFEF12C710C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81C73DD-DF22-4F6F-BBDC-0B133F19D4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20A96674-6D0B-403B-AC1B-18DF8A3D81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C4333832-3851-4C96-A1B3-DB7CBD749E66}"/>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6" name="Footer Placeholder 5">
            <a:extLst>
              <a:ext uri="{FF2B5EF4-FFF2-40B4-BE49-F238E27FC236}">
                <a16:creationId xmlns:a16="http://schemas.microsoft.com/office/drawing/2014/main" id="{4F2DA9DE-2128-4EFF-A7AE-3094E75C208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9440D1A-E6DA-40E3-89B2-4B3203DB61F6}"/>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1717236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C7949-F841-413C-9572-F51F4AC89F17}"/>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EB74689D-55AA-4D0B-906C-3BCAB6A0FF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CE9BCB0-A884-4B62-BDE4-FAE3DBB954A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41F1CF74-BE7F-49AC-83BE-E81B561A75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BA71EEF-3513-40D9-A84F-843B949AE36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9DE8D702-14BC-4207-A992-766869046C1F}"/>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8" name="Footer Placeholder 7">
            <a:extLst>
              <a:ext uri="{FF2B5EF4-FFF2-40B4-BE49-F238E27FC236}">
                <a16:creationId xmlns:a16="http://schemas.microsoft.com/office/drawing/2014/main" id="{7B747D58-EA5E-4049-8FFB-922ABB884E71}"/>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0542F496-79FE-4126-B03B-EE7D65A9BBB4}"/>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36443796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24A6-3F08-45B1-994B-C9DE29F9F5AE}"/>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3934DB82-85D4-4FC5-95B2-32655382E4AA}"/>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4" name="Footer Placeholder 3">
            <a:extLst>
              <a:ext uri="{FF2B5EF4-FFF2-40B4-BE49-F238E27FC236}">
                <a16:creationId xmlns:a16="http://schemas.microsoft.com/office/drawing/2014/main" id="{639A0C67-6544-450C-A684-2746B0E1A7EF}"/>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2DEE4A4C-16D7-48FA-9082-ED547C99FEBE}"/>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12338308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CE49DE-4BB1-414E-973E-D10CA6B07E38}"/>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3" name="Footer Placeholder 2">
            <a:extLst>
              <a:ext uri="{FF2B5EF4-FFF2-40B4-BE49-F238E27FC236}">
                <a16:creationId xmlns:a16="http://schemas.microsoft.com/office/drawing/2014/main" id="{E2E9AD5C-5276-4E3E-A346-75C067ECBA33}"/>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DA1D1B1F-850B-40B3-A9C4-D3B7500E6C23}"/>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42289763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2C56-4FDF-4848-8497-22FCF2537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92B4C557-CFDB-4F61-813A-DEF8DCF3EC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926674B3-408F-4CE3-ADE9-4474C6595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00616E-29D9-4CC8-834D-F6905CCFD2BD}"/>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6" name="Footer Placeholder 5">
            <a:extLst>
              <a:ext uri="{FF2B5EF4-FFF2-40B4-BE49-F238E27FC236}">
                <a16:creationId xmlns:a16="http://schemas.microsoft.com/office/drawing/2014/main" id="{6AFD2907-B00F-41B8-82EE-7B2F8379DF2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64557A5-DB7D-425D-BAD6-83DA56B4F220}"/>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10193047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92C5-8519-473B-95FE-045F1D82E8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1DFE6323-290E-40C4-89F4-3E870964F4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8B8CD68F-6663-48DD-A014-B081A4E2A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61FF10A-9A05-461F-965B-05BB2C44AE84}"/>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6" name="Footer Placeholder 5">
            <a:extLst>
              <a:ext uri="{FF2B5EF4-FFF2-40B4-BE49-F238E27FC236}">
                <a16:creationId xmlns:a16="http://schemas.microsoft.com/office/drawing/2014/main" id="{31843F99-CBDA-4CB0-B0F8-F99052CDA17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A164269-32EE-4BB1-A654-20E1CACF4333}"/>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23015940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A2FB-CD4A-4449-BDD1-509A042EAFAF}"/>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BA34E39-A261-4EE5-9A21-EAA20858A8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99A2320-F7B9-43D6-9E1B-84055AF89A05}"/>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8AB9918B-ADF3-4D16-AF21-D30B558B2C1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2C309FE-099B-4990-A4DC-07A64109BFBE}"/>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33812557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056A91-6A25-4872-9F53-86D9CACE59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B239194-F42B-43CE-841A-D0DA7C2F89E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891E379-E73F-4650-AD8E-81082480BAD0}"/>
              </a:ext>
            </a:extLst>
          </p:cNvPr>
          <p:cNvSpPr>
            <a:spLocks noGrp="1"/>
          </p:cNvSpPr>
          <p:nvPr>
            <p:ph type="dt" sz="half" idx="10"/>
          </p:nvPr>
        </p:nvSpPr>
        <p:spPr/>
        <p:txBody>
          <a:body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97AF497E-EBEE-445B-95EB-2BAA1FAED3E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D86151E-D911-4188-9C37-BA754FC251EA}"/>
              </a:ext>
            </a:extLst>
          </p:cNvPr>
          <p:cNvSpPr>
            <a:spLocks noGrp="1"/>
          </p:cNvSpPr>
          <p:nvPr>
            <p:ph type="sldNum" sz="quarter" idx="12"/>
          </p:nvPr>
        </p:nvSpPr>
        <p:spPr/>
        <p:txBody>
          <a:bodyPr/>
          <a:lstStyle/>
          <a:p>
            <a:fld id="{204DDF80-0E55-43BA-A43E-9088FF54A195}" type="slidenum">
              <a:rPr lang="en-IE" smtClean="0"/>
              <a:t>‹#›</a:t>
            </a:fld>
            <a:endParaRPr lang="en-IE"/>
          </a:p>
        </p:txBody>
      </p:sp>
    </p:spTree>
    <p:extLst>
      <p:ext uri="{BB962C8B-B14F-4D97-AF65-F5344CB8AC3E}">
        <p14:creationId xmlns:p14="http://schemas.microsoft.com/office/powerpoint/2010/main" val="25569472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01">
    <p:spTree>
      <p:nvGrpSpPr>
        <p:cNvPr id="1" name=""/>
        <p:cNvGrpSpPr/>
        <p:nvPr/>
      </p:nvGrpSpPr>
      <p:grpSpPr>
        <a:xfrm>
          <a:off x="0" y="0"/>
          <a:ext cx="0" cy="0"/>
          <a:chOff x="0" y="0"/>
          <a:chExt cx="0" cy="0"/>
        </a:xfrm>
      </p:grpSpPr>
      <p:sp>
        <p:nvSpPr>
          <p:cNvPr id="15" name="Rectangle 14"/>
          <p:cNvSpPr/>
          <p:nvPr userDrawn="1"/>
        </p:nvSpPr>
        <p:spPr>
          <a:xfrm>
            <a:off x="0" y="3840000"/>
            <a:ext cx="12217400" cy="3018000"/>
          </a:xfrm>
          <a:prstGeom prst="rect">
            <a:avLst/>
          </a:prstGeom>
          <a:solidFill>
            <a:srgbClr val="3A9C9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6" name="Rectangle 15"/>
          <p:cNvSpPr/>
          <p:nvPr userDrawn="1"/>
        </p:nvSpPr>
        <p:spPr>
          <a:xfrm>
            <a:off x="0" y="3840000"/>
            <a:ext cx="12217400" cy="240000"/>
          </a:xfrm>
          <a:prstGeom prst="rect">
            <a:avLst/>
          </a:prstGeom>
          <a:solidFill>
            <a:srgbClr val="0D5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2400"/>
          </a:p>
        </p:txBody>
      </p:sp>
      <p:sp>
        <p:nvSpPr>
          <p:cNvPr id="19" name="Title 1"/>
          <p:cNvSpPr>
            <a:spLocks noGrp="1"/>
          </p:cNvSpPr>
          <p:nvPr>
            <p:ph type="ctrTitle"/>
          </p:nvPr>
        </p:nvSpPr>
        <p:spPr>
          <a:xfrm>
            <a:off x="914401" y="3840000"/>
            <a:ext cx="10366177" cy="2084957"/>
          </a:xfrm>
          <a:prstGeom prst="rect">
            <a:avLst/>
          </a:prstGeom>
        </p:spPr>
        <p:txBody>
          <a:bodyPr lIns="0" tIns="0" rIns="0" bIns="0" anchor="ctr" anchorCtr="0"/>
          <a:lstStyle>
            <a:lvl1pPr>
              <a:defRPr sz="5333" b="1">
                <a:solidFill>
                  <a:schemeClr val="bg1"/>
                </a:solidFill>
              </a:defRPr>
            </a:lvl1pPr>
          </a:lstStyle>
          <a:p>
            <a:r>
              <a:rPr lang="ga-IE" dirty="0"/>
              <a:t>Click to edit Master title style</a:t>
            </a:r>
            <a:endParaRPr lang="en-US" dirty="0"/>
          </a:p>
        </p:txBody>
      </p:sp>
      <p:sp>
        <p:nvSpPr>
          <p:cNvPr id="6" name="Text Placeholder 2"/>
          <p:cNvSpPr>
            <a:spLocks noGrp="1"/>
          </p:cNvSpPr>
          <p:nvPr>
            <p:ph type="body" sz="quarter" idx="10"/>
          </p:nvPr>
        </p:nvSpPr>
        <p:spPr>
          <a:xfrm>
            <a:off x="914400" y="5924957"/>
            <a:ext cx="10366176" cy="933043"/>
          </a:xfrm>
          <a:prstGeom prst="rect">
            <a:avLst/>
          </a:prstGeom>
        </p:spPr>
        <p:txBody>
          <a:bodyPr vert="horz" lIns="0" tIns="0" rIns="0" bIns="72000" anchor="ctr"/>
          <a:lstStyle>
            <a:lvl1pPr marL="0" indent="0" algn="ctr">
              <a:spcBef>
                <a:spcPts val="2784"/>
              </a:spcBef>
              <a:buNone/>
              <a:defRPr sz="1867">
                <a:solidFill>
                  <a:schemeClr val="bg1"/>
                </a:solidFill>
              </a:defRPr>
            </a:lvl1pPr>
            <a:lvl2pPr marL="0" indent="0" algn="ctr">
              <a:spcBef>
                <a:spcPts val="2784"/>
              </a:spcBef>
              <a:buNone/>
              <a:defRPr sz="1600">
                <a:solidFill>
                  <a:schemeClr val="bg1"/>
                </a:solidFill>
              </a:defRPr>
            </a:lvl2pPr>
            <a:lvl3pPr marL="0" indent="0" algn="ctr">
              <a:spcBef>
                <a:spcPts val="2784"/>
              </a:spcBef>
              <a:buNone/>
              <a:defRPr sz="1600">
                <a:solidFill>
                  <a:schemeClr val="bg1"/>
                </a:solidFill>
              </a:defRPr>
            </a:lvl3pPr>
            <a:lvl4pPr marL="0" indent="0" algn="ctr">
              <a:spcBef>
                <a:spcPts val="2784"/>
              </a:spcBef>
              <a:buNone/>
              <a:defRPr sz="1600">
                <a:solidFill>
                  <a:schemeClr val="bg1"/>
                </a:solidFill>
              </a:defRPr>
            </a:lvl4pPr>
            <a:lvl5pPr marL="0" indent="0" algn="ctr">
              <a:spcBef>
                <a:spcPts val="2784"/>
              </a:spcBef>
              <a:buNone/>
              <a:defRPr sz="1600">
                <a:solidFill>
                  <a:schemeClr val="bg1"/>
                </a:solidFill>
              </a:defRPr>
            </a:lvl5pPr>
          </a:lstStyle>
          <a:p>
            <a:pPr lvl="0"/>
            <a:r>
              <a:rPr lang="en-GB" dirty="0"/>
              <a:t>Click to edit Master text styles</a:t>
            </a:r>
            <a:endParaRPr lang="en-US" dirty="0"/>
          </a:p>
        </p:txBody>
      </p:sp>
      <p:pic>
        <p:nvPicPr>
          <p:cNvPr id="7" name="Picture 6"/>
          <p:cNvPicPr>
            <a:picLocks noChangeAspect="1"/>
          </p:cNvPicPr>
          <p:nvPr userDrawn="1"/>
        </p:nvPicPr>
        <p:blipFill rotWithShape="1">
          <a:blip r:embed="rId2"/>
          <a:srcRect r="56141"/>
          <a:stretch/>
        </p:blipFill>
        <p:spPr>
          <a:xfrm>
            <a:off x="575735" y="740701"/>
            <a:ext cx="4842285" cy="2573867"/>
          </a:xfrm>
          <a:prstGeom prst="rect">
            <a:avLst/>
          </a:prstGeom>
        </p:spPr>
      </p:pic>
    </p:spTree>
    <p:extLst>
      <p:ext uri="{BB962C8B-B14F-4D97-AF65-F5344CB8AC3E}">
        <p14:creationId xmlns:p14="http://schemas.microsoft.com/office/powerpoint/2010/main" val="134001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384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60835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defTabSz="609570" rtl="0" eaLnBrk="1" latinLnBrk="0" hangingPunct="1">
        <a:spcBef>
          <a:spcPct val="0"/>
        </a:spcBef>
        <a:buNone/>
        <a:defRPr sz="5867" kern="1200">
          <a:solidFill>
            <a:schemeClr val="tx1"/>
          </a:solidFill>
          <a:latin typeface="+mj-lt"/>
          <a:ea typeface="+mj-ea"/>
          <a:cs typeface="+mj-cs"/>
        </a:defRPr>
      </a:lvl1pPr>
    </p:titleStyle>
    <p:bodyStyle>
      <a:lvl1pPr marL="457178" indent="-457178" algn="l" defTabSz="609570" rtl="0" eaLnBrk="1" latinLnBrk="0" hangingPunct="1">
        <a:spcBef>
          <a:spcPct val="20000"/>
        </a:spcBef>
        <a:buFont typeface="Arial"/>
        <a:buChar char="•"/>
        <a:defRPr sz="4267" kern="1200">
          <a:solidFill>
            <a:schemeClr val="tx1"/>
          </a:solidFill>
          <a:latin typeface="+mn-lt"/>
          <a:ea typeface="+mn-ea"/>
          <a:cs typeface="+mn-cs"/>
        </a:defRPr>
      </a:lvl1pPr>
      <a:lvl2pPr marL="990550" indent="-380981" algn="l" defTabSz="609570" rtl="0" eaLnBrk="1" latinLnBrk="0" hangingPunct="1">
        <a:spcBef>
          <a:spcPct val="20000"/>
        </a:spcBef>
        <a:buFont typeface="Arial"/>
        <a:buChar char="–"/>
        <a:defRPr sz="3733" kern="1200">
          <a:solidFill>
            <a:schemeClr val="tx1"/>
          </a:solidFill>
          <a:latin typeface="+mn-lt"/>
          <a:ea typeface="+mn-ea"/>
          <a:cs typeface="+mn-cs"/>
        </a:defRPr>
      </a:lvl2pPr>
      <a:lvl3pPr marL="1523925" indent="-304784" algn="l" defTabSz="609570" rtl="0" eaLnBrk="1" latinLnBrk="0" hangingPunct="1">
        <a:spcBef>
          <a:spcPct val="20000"/>
        </a:spcBef>
        <a:buFont typeface="Arial"/>
        <a:buChar char="•"/>
        <a:defRPr sz="3200" kern="1200">
          <a:solidFill>
            <a:schemeClr val="tx1"/>
          </a:solidFill>
          <a:latin typeface="+mn-lt"/>
          <a:ea typeface="+mn-ea"/>
          <a:cs typeface="+mn-cs"/>
        </a:defRPr>
      </a:lvl3pPr>
      <a:lvl4pPr marL="2133493" indent="-304784" algn="l" defTabSz="609570" rtl="0" eaLnBrk="1" latinLnBrk="0" hangingPunct="1">
        <a:spcBef>
          <a:spcPct val="20000"/>
        </a:spcBef>
        <a:buFont typeface="Arial"/>
        <a:buChar char="–"/>
        <a:defRPr sz="2667" kern="1200">
          <a:solidFill>
            <a:schemeClr val="tx1"/>
          </a:solidFill>
          <a:latin typeface="+mn-lt"/>
          <a:ea typeface="+mn-ea"/>
          <a:cs typeface="+mn-cs"/>
        </a:defRPr>
      </a:lvl4pPr>
      <a:lvl5pPr marL="2743062" indent="-304784" algn="l" defTabSz="609570" rtl="0" eaLnBrk="1" latinLnBrk="0" hangingPunct="1">
        <a:spcBef>
          <a:spcPct val="20000"/>
        </a:spcBef>
        <a:buFont typeface="Arial"/>
        <a:buChar char="»"/>
        <a:defRPr sz="2667" kern="1200">
          <a:solidFill>
            <a:schemeClr val="tx1"/>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70" rtl="0" eaLnBrk="1" latinLnBrk="0" hangingPunct="1">
        <a:defRPr sz="2400" kern="1200">
          <a:solidFill>
            <a:schemeClr val="tx1"/>
          </a:solidFill>
          <a:latin typeface="+mn-lt"/>
          <a:ea typeface="+mn-ea"/>
          <a:cs typeface="+mn-cs"/>
        </a:defRPr>
      </a:lvl1pPr>
      <a:lvl2pPr marL="609570" algn="l" defTabSz="609570" rtl="0" eaLnBrk="1" latinLnBrk="0" hangingPunct="1">
        <a:defRPr sz="2400" kern="1200">
          <a:solidFill>
            <a:schemeClr val="tx1"/>
          </a:solidFill>
          <a:latin typeface="+mn-lt"/>
          <a:ea typeface="+mn-ea"/>
          <a:cs typeface="+mn-cs"/>
        </a:defRPr>
      </a:lvl2pPr>
      <a:lvl3pPr marL="1219140" algn="l" defTabSz="609570" rtl="0" eaLnBrk="1" latinLnBrk="0" hangingPunct="1">
        <a:defRPr sz="2400" kern="1200">
          <a:solidFill>
            <a:schemeClr val="tx1"/>
          </a:solidFill>
          <a:latin typeface="+mn-lt"/>
          <a:ea typeface="+mn-ea"/>
          <a:cs typeface="+mn-cs"/>
        </a:defRPr>
      </a:lvl3pPr>
      <a:lvl4pPr marL="1828709" algn="l" defTabSz="609570" rtl="0" eaLnBrk="1" latinLnBrk="0" hangingPunct="1">
        <a:defRPr sz="2400" kern="1200">
          <a:solidFill>
            <a:schemeClr val="tx1"/>
          </a:solidFill>
          <a:latin typeface="+mn-lt"/>
          <a:ea typeface="+mn-ea"/>
          <a:cs typeface="+mn-cs"/>
        </a:defRPr>
      </a:lvl4pPr>
      <a:lvl5pPr marL="2438278" algn="l" defTabSz="609570" rtl="0" eaLnBrk="1" latinLnBrk="0" hangingPunct="1">
        <a:defRPr sz="2400" kern="1200">
          <a:solidFill>
            <a:schemeClr val="tx1"/>
          </a:solidFill>
          <a:latin typeface="+mn-lt"/>
          <a:ea typeface="+mn-ea"/>
          <a:cs typeface="+mn-cs"/>
        </a:defRPr>
      </a:lvl5pPr>
      <a:lvl6pPr marL="3047848" algn="l" defTabSz="609570" rtl="0" eaLnBrk="1" latinLnBrk="0" hangingPunct="1">
        <a:defRPr sz="2400" kern="1200">
          <a:solidFill>
            <a:schemeClr val="tx1"/>
          </a:solidFill>
          <a:latin typeface="+mn-lt"/>
          <a:ea typeface="+mn-ea"/>
          <a:cs typeface="+mn-cs"/>
        </a:defRPr>
      </a:lvl6pPr>
      <a:lvl7pPr marL="3657418" algn="l" defTabSz="609570" rtl="0" eaLnBrk="1" latinLnBrk="0" hangingPunct="1">
        <a:defRPr sz="2400" kern="1200">
          <a:solidFill>
            <a:schemeClr val="tx1"/>
          </a:solidFill>
          <a:latin typeface="+mn-lt"/>
          <a:ea typeface="+mn-ea"/>
          <a:cs typeface="+mn-cs"/>
        </a:defRPr>
      </a:lvl7pPr>
      <a:lvl8pPr marL="4266987" algn="l" defTabSz="609570" rtl="0" eaLnBrk="1" latinLnBrk="0" hangingPunct="1">
        <a:defRPr sz="2400" kern="1200">
          <a:solidFill>
            <a:schemeClr val="tx1"/>
          </a:solidFill>
          <a:latin typeface="+mn-lt"/>
          <a:ea typeface="+mn-ea"/>
          <a:cs typeface="+mn-cs"/>
        </a:defRPr>
      </a:lvl8pPr>
      <a:lvl9pPr marL="4876557" algn="l" defTabSz="6095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D6C722-5067-4135-89FD-3EE57A7A5B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5C2A58D-F182-4AC5-88F9-6E7012C372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51C8D8D-7C5B-412C-89BA-1A79D0AC2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33961-7ABD-4F34-98D0-122FA438BA7A}" type="datetimeFigureOut">
              <a:rPr lang="en-IE" smtClean="0"/>
              <a:t>23/10/2025</a:t>
            </a:fld>
            <a:endParaRPr lang="en-IE"/>
          </a:p>
        </p:txBody>
      </p:sp>
      <p:sp>
        <p:nvSpPr>
          <p:cNvPr id="5" name="Footer Placeholder 4">
            <a:extLst>
              <a:ext uri="{FF2B5EF4-FFF2-40B4-BE49-F238E27FC236}">
                <a16:creationId xmlns:a16="http://schemas.microsoft.com/office/drawing/2014/main" id="{8F17D5C3-18FC-4EB1-AF6C-55DEA6D419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FDFB969E-6930-4715-BF24-D25D1C39E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4DDF80-0E55-43BA-A43E-9088FF54A195}" type="slidenum">
              <a:rPr lang="en-IE" smtClean="0"/>
              <a:t>‹#›</a:t>
            </a:fld>
            <a:endParaRPr lang="en-IE"/>
          </a:p>
        </p:txBody>
      </p:sp>
    </p:spTree>
    <p:extLst>
      <p:ext uri="{BB962C8B-B14F-4D97-AF65-F5344CB8AC3E}">
        <p14:creationId xmlns:p14="http://schemas.microsoft.com/office/powerpoint/2010/main" val="405537656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hyperlink" Target="https://www.eea.europa.eu/en/analysis/publications/projections-in-hindsight" TargetMode="Externa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file://monfile/AIRQG/Air%20Emissions/Annual%20Inventory%20Compilation/2022data/SourceData/Projections/PaMs/PaMs%20Handover/Aether_IrelandPAMsDB_UserManual_2019_4.3.pdf" TargetMode="External"/><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3.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1424" y="4996442"/>
            <a:ext cx="10366177" cy="1660833"/>
          </a:xfrm>
        </p:spPr>
        <p:txBody>
          <a:bodyPr/>
          <a:lstStyle/>
          <a:p>
            <a:pPr algn="l"/>
            <a:r>
              <a:rPr lang="en-IE" sz="3733" dirty="0"/>
              <a:t>Technical exchange: Ireland’s </a:t>
            </a:r>
            <a:r>
              <a:rPr lang="en-IE" sz="3733" dirty="0" err="1"/>
              <a:t>PaMs</a:t>
            </a:r>
            <a:r>
              <a:rPr lang="en-IE" sz="3733" dirty="0"/>
              <a:t> reporting</a:t>
            </a:r>
            <a:endParaRPr lang="en-US" sz="3733" dirty="0"/>
          </a:p>
        </p:txBody>
      </p:sp>
      <p:sp>
        <p:nvSpPr>
          <p:cNvPr id="3" name="Text Placeholder 2"/>
          <p:cNvSpPr>
            <a:spLocks noGrp="1"/>
          </p:cNvSpPr>
          <p:nvPr>
            <p:ph type="body" sz="quarter" idx="10"/>
          </p:nvPr>
        </p:nvSpPr>
        <p:spPr>
          <a:xfrm>
            <a:off x="914400" y="6209617"/>
            <a:ext cx="10366176" cy="622495"/>
          </a:xfrm>
        </p:spPr>
        <p:txBody>
          <a:bodyPr/>
          <a:lstStyle/>
          <a:p>
            <a:pPr algn="l"/>
            <a:r>
              <a:rPr lang="en-US" dirty="0"/>
              <a:t>October 2025</a:t>
            </a:r>
          </a:p>
        </p:txBody>
      </p:sp>
      <p:pic>
        <p:nvPicPr>
          <p:cNvPr id="9" name="Picture 8">
            <a:extLst>
              <a:ext uri="{FF2B5EF4-FFF2-40B4-BE49-F238E27FC236}">
                <a16:creationId xmlns:a16="http://schemas.microsoft.com/office/drawing/2014/main" id="{D06F0B29-3F12-4AD7-A9AC-92F2FE46A5DE}"/>
              </a:ext>
            </a:extLst>
          </p:cNvPr>
          <p:cNvPicPr>
            <a:picLocks noChangeAspect="1"/>
          </p:cNvPicPr>
          <p:nvPr/>
        </p:nvPicPr>
        <p:blipFill>
          <a:blip r:embed="rId3"/>
          <a:stretch>
            <a:fillRect/>
          </a:stretch>
        </p:blipFill>
        <p:spPr>
          <a:xfrm>
            <a:off x="6629084" y="164639"/>
            <a:ext cx="4730688" cy="4863572"/>
          </a:xfrm>
          <a:prstGeom prst="rect">
            <a:avLst/>
          </a:prstGeom>
        </p:spPr>
      </p:pic>
    </p:spTree>
    <p:extLst>
      <p:ext uri="{BB962C8B-B14F-4D97-AF65-F5344CB8AC3E}">
        <p14:creationId xmlns:p14="http://schemas.microsoft.com/office/powerpoint/2010/main" val="1330670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C517A-5D61-50CD-EA73-4E092A31B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77F12-C338-3F82-DFAD-C369E3640721}"/>
              </a:ext>
            </a:extLst>
          </p:cNvPr>
          <p:cNvSpPr>
            <a:spLocks noGrp="1"/>
          </p:cNvSpPr>
          <p:nvPr>
            <p:ph type="title"/>
          </p:nvPr>
        </p:nvSpPr>
        <p:spPr/>
        <p:txBody>
          <a:bodyPr/>
          <a:lstStyle/>
          <a:p>
            <a:r>
              <a:rPr lang="en-IE" dirty="0"/>
              <a:t>Overview</a:t>
            </a:r>
          </a:p>
        </p:txBody>
      </p:sp>
      <p:sp>
        <p:nvSpPr>
          <p:cNvPr id="4" name="Content Placeholder 3">
            <a:extLst>
              <a:ext uri="{FF2B5EF4-FFF2-40B4-BE49-F238E27FC236}">
                <a16:creationId xmlns:a16="http://schemas.microsoft.com/office/drawing/2014/main" id="{34160CF9-0F6E-CCE0-2560-F0A3E5E19E41}"/>
              </a:ext>
            </a:extLst>
          </p:cNvPr>
          <p:cNvSpPr>
            <a:spLocks noGrp="1"/>
          </p:cNvSpPr>
          <p:nvPr>
            <p:ph idx="10"/>
          </p:nvPr>
        </p:nvSpPr>
        <p:spPr>
          <a:xfrm>
            <a:off x="609601" y="2469231"/>
            <a:ext cx="9108558" cy="1919539"/>
          </a:xfrm>
        </p:spPr>
        <p:txBody>
          <a:bodyPr/>
          <a:lstStyle/>
          <a:p>
            <a:pPr>
              <a:spcAft>
                <a:spcPts val="2400"/>
              </a:spcAft>
              <a:buClr>
                <a:srgbClr val="0070C0"/>
              </a:buClr>
              <a:buFont typeface="+mj-lt"/>
              <a:buAutoNum type="arabicPeriod"/>
            </a:pPr>
            <a:r>
              <a:rPr lang="en-IE" sz="2400" dirty="0"/>
              <a:t>Summary of data from 2025 reporting cycle </a:t>
            </a:r>
          </a:p>
          <a:p>
            <a:pPr>
              <a:spcAft>
                <a:spcPts val="2400"/>
              </a:spcAft>
              <a:buClr>
                <a:srgbClr val="0070C0"/>
              </a:buClr>
              <a:buFont typeface="+mj-lt"/>
              <a:buAutoNum type="arabicPeriod"/>
            </a:pPr>
            <a:r>
              <a:rPr lang="en-IE" sz="2400" dirty="0"/>
              <a:t>Approach and workflow</a:t>
            </a:r>
          </a:p>
          <a:p>
            <a:pPr>
              <a:spcAft>
                <a:spcPts val="2400"/>
              </a:spcAft>
              <a:buClr>
                <a:srgbClr val="0070C0"/>
              </a:buClr>
              <a:buFont typeface="+mj-lt"/>
              <a:buAutoNum type="arabicPeriod"/>
            </a:pPr>
            <a:r>
              <a:rPr lang="en-IE" sz="2400" dirty="0"/>
              <a:t>The national system for </a:t>
            </a:r>
            <a:r>
              <a:rPr lang="en-IE" sz="2400" dirty="0" err="1"/>
              <a:t>PaMs</a:t>
            </a:r>
            <a:r>
              <a:rPr lang="en-IE" sz="2400" dirty="0"/>
              <a:t> and Projections</a:t>
            </a:r>
          </a:p>
        </p:txBody>
      </p:sp>
    </p:spTree>
    <p:extLst>
      <p:ext uri="{BB962C8B-B14F-4D97-AF65-F5344CB8AC3E}">
        <p14:creationId xmlns:p14="http://schemas.microsoft.com/office/powerpoint/2010/main" val="1991975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588F"/>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3FC8B3-B785-CA93-468F-041786AA8159}"/>
              </a:ext>
            </a:extLst>
          </p:cNvPr>
          <p:cNvSpPr txBox="1"/>
          <p:nvPr/>
        </p:nvSpPr>
        <p:spPr>
          <a:xfrm>
            <a:off x="3513282" y="2890391"/>
            <a:ext cx="5165437" cy="1077218"/>
          </a:xfrm>
          <a:prstGeom prst="rect">
            <a:avLst/>
          </a:prstGeom>
          <a:noFill/>
        </p:spPr>
        <p:txBody>
          <a:bodyPr wrap="square" rtlCol="0">
            <a:spAutoFit/>
          </a:bodyPr>
          <a:lstStyle/>
          <a:p>
            <a:pPr algn="ctr"/>
            <a:r>
              <a:rPr lang="en-IE" sz="3200" dirty="0">
                <a:solidFill>
                  <a:schemeClr val="bg1"/>
                </a:solidFill>
                <a:latin typeface="+mj-lt"/>
              </a:rPr>
              <a:t>Summary of data from 2025 reporting cycle </a:t>
            </a:r>
          </a:p>
        </p:txBody>
      </p:sp>
    </p:spTree>
    <p:extLst>
      <p:ext uri="{BB962C8B-B14F-4D97-AF65-F5344CB8AC3E}">
        <p14:creationId xmlns:p14="http://schemas.microsoft.com/office/powerpoint/2010/main" val="329693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F608E-0054-EAFA-1DFC-7D123B57F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A93DE-E8F6-F762-5533-D692E7C2A640}"/>
              </a:ext>
            </a:extLst>
          </p:cNvPr>
          <p:cNvSpPr>
            <a:spLocks noGrp="1"/>
          </p:cNvSpPr>
          <p:nvPr>
            <p:ph type="title"/>
          </p:nvPr>
        </p:nvSpPr>
        <p:spPr/>
        <p:txBody>
          <a:bodyPr/>
          <a:lstStyle/>
          <a:p>
            <a:r>
              <a:rPr lang="en-IE" dirty="0"/>
              <a:t>Number of </a:t>
            </a:r>
            <a:r>
              <a:rPr lang="en-IE" dirty="0" err="1"/>
              <a:t>PaMs</a:t>
            </a:r>
            <a:r>
              <a:rPr lang="en-IE" dirty="0"/>
              <a:t> reported</a:t>
            </a:r>
          </a:p>
        </p:txBody>
      </p:sp>
      <p:graphicFrame>
        <p:nvGraphicFramePr>
          <p:cNvPr id="3" name="Chart 2">
            <a:extLst>
              <a:ext uri="{FF2B5EF4-FFF2-40B4-BE49-F238E27FC236}">
                <a16:creationId xmlns:a16="http://schemas.microsoft.com/office/drawing/2014/main" id="{EF3B24DB-C223-F9EA-E974-E207B4E396A9}"/>
              </a:ext>
            </a:extLst>
          </p:cNvPr>
          <p:cNvGraphicFramePr>
            <a:graphicFrameLocks/>
          </p:cNvGraphicFramePr>
          <p:nvPr>
            <p:extLst>
              <p:ext uri="{D42A27DB-BD31-4B8C-83A1-F6EECF244321}">
                <p14:modId xmlns:p14="http://schemas.microsoft.com/office/powerpoint/2010/main" val="4129449202"/>
              </p:ext>
            </p:extLst>
          </p:nvPr>
        </p:nvGraphicFramePr>
        <p:xfrm>
          <a:off x="2018580" y="1613140"/>
          <a:ext cx="7832786" cy="440809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6FDFDA90-1712-54A3-74DB-C2D59BF12E7F}"/>
              </a:ext>
            </a:extLst>
          </p:cNvPr>
          <p:cNvSpPr txBox="1"/>
          <p:nvPr/>
        </p:nvSpPr>
        <p:spPr>
          <a:xfrm>
            <a:off x="3735659" y="1951463"/>
            <a:ext cx="446048" cy="369332"/>
          </a:xfrm>
          <a:prstGeom prst="rect">
            <a:avLst/>
          </a:prstGeom>
          <a:noFill/>
        </p:spPr>
        <p:txBody>
          <a:bodyPr wrap="square" rtlCol="0">
            <a:spAutoFit/>
          </a:bodyPr>
          <a:lstStyle/>
          <a:p>
            <a:r>
              <a:rPr lang="en-IE" b="1" dirty="0"/>
              <a:t>91</a:t>
            </a:r>
          </a:p>
        </p:txBody>
      </p:sp>
      <p:sp>
        <p:nvSpPr>
          <p:cNvPr id="5" name="TextBox 4">
            <a:extLst>
              <a:ext uri="{FF2B5EF4-FFF2-40B4-BE49-F238E27FC236}">
                <a16:creationId xmlns:a16="http://schemas.microsoft.com/office/drawing/2014/main" id="{807B994D-8C6D-8AC6-9964-74CEF51033E0}"/>
              </a:ext>
            </a:extLst>
          </p:cNvPr>
          <p:cNvSpPr txBox="1"/>
          <p:nvPr/>
        </p:nvSpPr>
        <p:spPr>
          <a:xfrm>
            <a:off x="6013030" y="3059668"/>
            <a:ext cx="446048" cy="369332"/>
          </a:xfrm>
          <a:prstGeom prst="rect">
            <a:avLst/>
          </a:prstGeom>
          <a:noFill/>
        </p:spPr>
        <p:txBody>
          <a:bodyPr wrap="square" rtlCol="0">
            <a:spAutoFit/>
          </a:bodyPr>
          <a:lstStyle/>
          <a:p>
            <a:r>
              <a:rPr lang="en-IE" b="1" dirty="0"/>
              <a:t>56</a:t>
            </a:r>
          </a:p>
        </p:txBody>
      </p:sp>
      <p:sp>
        <p:nvSpPr>
          <p:cNvPr id="6" name="TextBox 5">
            <a:extLst>
              <a:ext uri="{FF2B5EF4-FFF2-40B4-BE49-F238E27FC236}">
                <a16:creationId xmlns:a16="http://schemas.microsoft.com/office/drawing/2014/main" id="{CF0E21B1-066E-A690-064F-83362F6DC5ED}"/>
              </a:ext>
            </a:extLst>
          </p:cNvPr>
          <p:cNvSpPr txBox="1"/>
          <p:nvPr/>
        </p:nvSpPr>
        <p:spPr>
          <a:xfrm>
            <a:off x="8295312" y="3736175"/>
            <a:ext cx="446048" cy="369332"/>
          </a:xfrm>
          <a:prstGeom prst="rect">
            <a:avLst/>
          </a:prstGeom>
          <a:noFill/>
        </p:spPr>
        <p:txBody>
          <a:bodyPr wrap="square" rtlCol="0">
            <a:spAutoFit/>
          </a:bodyPr>
          <a:lstStyle/>
          <a:p>
            <a:r>
              <a:rPr lang="en-IE" b="1" dirty="0"/>
              <a:t>35</a:t>
            </a:r>
          </a:p>
        </p:txBody>
      </p:sp>
    </p:spTree>
    <p:extLst>
      <p:ext uri="{BB962C8B-B14F-4D97-AF65-F5344CB8AC3E}">
        <p14:creationId xmlns:p14="http://schemas.microsoft.com/office/powerpoint/2010/main" val="453591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A312-B519-4B8E-2933-2C694459F88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C67C856-1FCE-9E59-43B3-E1D138519140}"/>
              </a:ext>
            </a:extLst>
          </p:cNvPr>
          <p:cNvSpPr/>
          <p:nvPr/>
        </p:nvSpPr>
        <p:spPr>
          <a:xfrm>
            <a:off x="1609724" y="2011946"/>
            <a:ext cx="1142101" cy="3474454"/>
          </a:xfrm>
          <a:prstGeom prst="rect">
            <a:avLst/>
          </a:prstGeom>
          <a:solidFill>
            <a:srgbClr val="E2E2E2"/>
          </a:solidFill>
          <a:ln w="12700" cap="flat" cmpd="sng" algn="ctr">
            <a:noFill/>
            <a:prstDash val="solid"/>
            <a:miter lim="800000"/>
          </a:ln>
          <a:effectLst/>
        </p:spPr>
        <p:txBody>
          <a:bodyPr wrap="square"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IE" sz="11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709006-3F12-02B2-C01B-924D606A1B29}"/>
              </a:ext>
            </a:extLst>
          </p:cNvPr>
          <p:cNvSpPr>
            <a:spLocks noGrp="1"/>
          </p:cNvSpPr>
          <p:nvPr>
            <p:ph type="title"/>
          </p:nvPr>
        </p:nvSpPr>
        <p:spPr/>
        <p:txBody>
          <a:bodyPr/>
          <a:lstStyle/>
          <a:p>
            <a:r>
              <a:rPr lang="en-IE"/>
              <a:t>GHG emission reductions</a:t>
            </a:r>
          </a:p>
        </p:txBody>
      </p:sp>
      <p:sp>
        <p:nvSpPr>
          <p:cNvPr id="9" name="TextBox 8">
            <a:extLst>
              <a:ext uri="{FF2B5EF4-FFF2-40B4-BE49-F238E27FC236}">
                <a16:creationId xmlns:a16="http://schemas.microsoft.com/office/drawing/2014/main" id="{D30E9998-EB1A-2D36-9273-1781EB20F162}"/>
              </a:ext>
            </a:extLst>
          </p:cNvPr>
          <p:cNvSpPr txBox="1"/>
          <p:nvPr/>
        </p:nvSpPr>
        <p:spPr>
          <a:xfrm>
            <a:off x="1476246" y="6028140"/>
            <a:ext cx="5406390" cy="276999"/>
          </a:xfrm>
          <a:prstGeom prst="rect">
            <a:avLst/>
          </a:prstGeom>
          <a:noFill/>
        </p:spPr>
        <p:txBody>
          <a:bodyPr wrap="square" rtlCol="0">
            <a:spAutoFit/>
          </a:bodyPr>
          <a:lstStyle/>
          <a:p>
            <a:r>
              <a:rPr lang="en-IE" sz="1200" dirty="0"/>
              <a:t>Note: graph excludes LULUCF </a:t>
            </a:r>
            <a:r>
              <a:rPr lang="en-IE" sz="1200" dirty="0" err="1"/>
              <a:t>PaMs</a:t>
            </a:r>
            <a:endParaRPr lang="en-IE" sz="1200" dirty="0"/>
          </a:p>
        </p:txBody>
      </p:sp>
      <p:sp>
        <p:nvSpPr>
          <p:cNvPr id="3" name="TextBox 9">
            <a:extLst>
              <a:ext uri="{FF2B5EF4-FFF2-40B4-BE49-F238E27FC236}">
                <a16:creationId xmlns:a16="http://schemas.microsoft.com/office/drawing/2014/main" id="{9886668B-4DD5-3AB7-4FC2-FCAB82169F4F}"/>
              </a:ext>
            </a:extLst>
          </p:cNvPr>
          <p:cNvSpPr txBox="1"/>
          <p:nvPr/>
        </p:nvSpPr>
        <p:spPr>
          <a:xfrm>
            <a:off x="1609724" y="5543698"/>
            <a:ext cx="1142101" cy="310680"/>
          </a:xfrm>
          <a:prstGeom prst="rect">
            <a:avLst/>
          </a:prstGeom>
          <a:noFill/>
          <a:ln w="9525" cmpd="sng">
            <a:noFill/>
          </a:ln>
          <a:effectLst/>
        </p:spPr>
        <p:txBody>
          <a:bodyPr wrap="square"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E" sz="1600" b="0" i="1" u="none" strike="noStrike" kern="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cs typeface="+mn-cs"/>
              </a:rPr>
              <a:t>Achieved</a:t>
            </a:r>
          </a:p>
        </p:txBody>
      </p:sp>
      <p:sp>
        <p:nvSpPr>
          <p:cNvPr id="4" name="TextBox 10">
            <a:extLst>
              <a:ext uri="{FF2B5EF4-FFF2-40B4-BE49-F238E27FC236}">
                <a16:creationId xmlns:a16="http://schemas.microsoft.com/office/drawing/2014/main" id="{192387DC-F9ED-3AA1-CCF7-E8D350CAF03B}"/>
              </a:ext>
            </a:extLst>
          </p:cNvPr>
          <p:cNvSpPr txBox="1"/>
          <p:nvPr/>
        </p:nvSpPr>
        <p:spPr>
          <a:xfrm>
            <a:off x="2751825" y="5543698"/>
            <a:ext cx="6711797" cy="310680"/>
          </a:xfrm>
          <a:prstGeom prst="rect">
            <a:avLst/>
          </a:prstGeom>
          <a:noFill/>
          <a:ln w="9525" cmpd="sng">
            <a:noFill/>
          </a:ln>
          <a:effectLst/>
        </p:spPr>
        <p:txBody>
          <a:bodyPr wrap="square"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E" sz="1600" b="0" i="1" u="none" strike="noStrike" kern="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cs typeface="+mn-cs"/>
              </a:rPr>
              <a:t>Expected</a:t>
            </a:r>
          </a:p>
        </p:txBody>
      </p:sp>
      <p:graphicFrame>
        <p:nvGraphicFramePr>
          <p:cNvPr id="12" name="Chart 11">
            <a:extLst>
              <a:ext uri="{FF2B5EF4-FFF2-40B4-BE49-F238E27FC236}">
                <a16:creationId xmlns:a16="http://schemas.microsoft.com/office/drawing/2014/main" id="{8B503052-24D0-C662-2F24-5151F2E7507B}"/>
              </a:ext>
            </a:extLst>
          </p:cNvPr>
          <p:cNvGraphicFramePr>
            <a:graphicFrameLocks/>
          </p:cNvGraphicFramePr>
          <p:nvPr>
            <p:extLst>
              <p:ext uri="{D42A27DB-BD31-4B8C-83A1-F6EECF244321}">
                <p14:modId xmlns:p14="http://schemas.microsoft.com/office/powerpoint/2010/main" val="265419180"/>
              </p:ext>
            </p:extLst>
          </p:nvPr>
        </p:nvGraphicFramePr>
        <p:xfrm>
          <a:off x="444105" y="1538286"/>
          <a:ext cx="11303790" cy="43922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92957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BAD51-89A6-D934-6156-14C22EBF1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EA760-82F9-B73F-3E68-B9CF2A3E445D}"/>
              </a:ext>
            </a:extLst>
          </p:cNvPr>
          <p:cNvSpPr>
            <a:spLocks noGrp="1"/>
          </p:cNvSpPr>
          <p:nvPr>
            <p:ph type="title"/>
          </p:nvPr>
        </p:nvSpPr>
        <p:spPr/>
        <p:txBody>
          <a:bodyPr/>
          <a:lstStyle/>
          <a:p>
            <a:r>
              <a:rPr lang="en-IE" dirty="0"/>
              <a:t>Alignment: </a:t>
            </a:r>
            <a:r>
              <a:rPr lang="en-IE" dirty="0" err="1"/>
              <a:t>PaMs</a:t>
            </a:r>
            <a:r>
              <a:rPr lang="en-IE" dirty="0"/>
              <a:t> and Projections </a:t>
            </a:r>
          </a:p>
        </p:txBody>
      </p:sp>
      <p:pic>
        <p:nvPicPr>
          <p:cNvPr id="6" name="Picture 5">
            <a:extLst>
              <a:ext uri="{FF2B5EF4-FFF2-40B4-BE49-F238E27FC236}">
                <a16:creationId xmlns:a16="http://schemas.microsoft.com/office/drawing/2014/main" id="{8FC3C604-4B95-DBF6-63CE-C15767FF06D2}"/>
              </a:ext>
            </a:extLst>
          </p:cNvPr>
          <p:cNvPicPr>
            <a:picLocks noChangeAspect="1"/>
          </p:cNvPicPr>
          <p:nvPr/>
        </p:nvPicPr>
        <p:blipFill>
          <a:blip r:embed="rId3"/>
          <a:stretch>
            <a:fillRect/>
          </a:stretch>
        </p:blipFill>
        <p:spPr>
          <a:xfrm>
            <a:off x="1408704" y="1527416"/>
            <a:ext cx="6924708" cy="4623222"/>
          </a:xfrm>
          <a:prstGeom prst="rect">
            <a:avLst/>
          </a:prstGeom>
        </p:spPr>
      </p:pic>
      <p:sp>
        <p:nvSpPr>
          <p:cNvPr id="7" name="TextBox 6">
            <a:extLst>
              <a:ext uri="{FF2B5EF4-FFF2-40B4-BE49-F238E27FC236}">
                <a16:creationId xmlns:a16="http://schemas.microsoft.com/office/drawing/2014/main" id="{3F3C7694-ADA5-A731-4B12-90B961CD2631}"/>
              </a:ext>
            </a:extLst>
          </p:cNvPr>
          <p:cNvSpPr txBox="1"/>
          <p:nvPr/>
        </p:nvSpPr>
        <p:spPr>
          <a:xfrm>
            <a:off x="8505936" y="5998805"/>
            <a:ext cx="2967447" cy="261610"/>
          </a:xfrm>
          <a:prstGeom prst="rect">
            <a:avLst/>
          </a:prstGeom>
          <a:noFill/>
        </p:spPr>
        <p:txBody>
          <a:bodyPr wrap="square">
            <a:spAutoFit/>
          </a:bodyPr>
          <a:lstStyle/>
          <a:p>
            <a:pPr defTabSz="914377"/>
            <a:r>
              <a:rPr lang="en-IE" sz="1050" dirty="0">
                <a:solidFill>
                  <a:prstClr val="black"/>
                </a:solidFill>
                <a:cs typeface="Arial" panose="020B0604020202020204" pitchFamily="34" charset="0"/>
              </a:rPr>
              <a:t>Source: </a:t>
            </a:r>
            <a:r>
              <a:rPr lang="en-IE" sz="1050" dirty="0">
                <a:solidFill>
                  <a:prstClr val="black"/>
                </a:solidFill>
                <a:cs typeface="Arial" panose="020B0604020202020204" pitchFamily="34" charset="0"/>
                <a:hlinkClick r:id="rId4"/>
              </a:rPr>
              <a:t>EEA Technical report No 4/2015</a:t>
            </a:r>
            <a:endParaRPr lang="en-IE" sz="1050" dirty="0">
              <a:solidFill>
                <a:prstClr val="black"/>
              </a:solidFill>
              <a:cs typeface="Arial" panose="020B0604020202020204" pitchFamily="34" charset="0"/>
            </a:endParaRPr>
          </a:p>
        </p:txBody>
      </p:sp>
    </p:spTree>
    <p:extLst>
      <p:ext uri="{BB962C8B-B14F-4D97-AF65-F5344CB8AC3E}">
        <p14:creationId xmlns:p14="http://schemas.microsoft.com/office/powerpoint/2010/main" val="2429244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D2021-37C8-25CB-1456-E37D7B38E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7D82B-EC85-9F19-D259-DBEA2EC598F6}"/>
              </a:ext>
            </a:extLst>
          </p:cNvPr>
          <p:cNvSpPr>
            <a:spLocks noGrp="1"/>
          </p:cNvSpPr>
          <p:nvPr>
            <p:ph type="title"/>
          </p:nvPr>
        </p:nvSpPr>
        <p:spPr/>
        <p:txBody>
          <a:bodyPr/>
          <a:lstStyle/>
          <a:p>
            <a:r>
              <a:rPr lang="en-IE" dirty="0"/>
              <a:t>Alignment: </a:t>
            </a:r>
            <a:r>
              <a:rPr lang="en-IE" dirty="0" err="1"/>
              <a:t>PaMs</a:t>
            </a:r>
            <a:r>
              <a:rPr lang="en-IE" dirty="0"/>
              <a:t> and Projections </a:t>
            </a:r>
          </a:p>
        </p:txBody>
      </p:sp>
      <p:graphicFrame>
        <p:nvGraphicFramePr>
          <p:cNvPr id="6" name="Chart 5">
            <a:extLst>
              <a:ext uri="{FF2B5EF4-FFF2-40B4-BE49-F238E27FC236}">
                <a16:creationId xmlns:a16="http://schemas.microsoft.com/office/drawing/2014/main" id="{4F01C7E8-6032-F8CA-D9EB-E5B8AB5DE78B}"/>
              </a:ext>
            </a:extLst>
          </p:cNvPr>
          <p:cNvGraphicFramePr/>
          <p:nvPr/>
        </p:nvGraphicFramePr>
        <p:xfrm>
          <a:off x="1338614" y="1648047"/>
          <a:ext cx="9514772" cy="4125736"/>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25DD93BF-B2BB-3D47-6BAA-729A1120141B}"/>
              </a:ext>
            </a:extLst>
          </p:cNvPr>
          <p:cNvSpPr txBox="1"/>
          <p:nvPr/>
        </p:nvSpPr>
        <p:spPr>
          <a:xfrm>
            <a:off x="2114421" y="5951940"/>
            <a:ext cx="5406390" cy="276999"/>
          </a:xfrm>
          <a:prstGeom prst="rect">
            <a:avLst/>
          </a:prstGeom>
          <a:noFill/>
        </p:spPr>
        <p:txBody>
          <a:bodyPr wrap="square" rtlCol="0">
            <a:spAutoFit/>
          </a:bodyPr>
          <a:lstStyle/>
          <a:p>
            <a:r>
              <a:rPr lang="en-IE" sz="1200" dirty="0"/>
              <a:t>Note: graph excludes LULUCF emissions and LULUCF </a:t>
            </a:r>
            <a:r>
              <a:rPr lang="en-IE" sz="1200" dirty="0" err="1"/>
              <a:t>PaMs</a:t>
            </a:r>
            <a:endParaRPr lang="en-IE" sz="1200" dirty="0"/>
          </a:p>
        </p:txBody>
      </p:sp>
    </p:spTree>
    <p:extLst>
      <p:ext uri="{BB962C8B-B14F-4D97-AF65-F5344CB8AC3E}">
        <p14:creationId xmlns:p14="http://schemas.microsoft.com/office/powerpoint/2010/main" val="2552178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588F"/>
        </a:solidFill>
        <a:effectLst/>
      </p:bgPr>
    </p:bg>
    <p:spTree>
      <p:nvGrpSpPr>
        <p:cNvPr id="1" name="">
          <a:extLst>
            <a:ext uri="{FF2B5EF4-FFF2-40B4-BE49-F238E27FC236}">
              <a16:creationId xmlns:a16="http://schemas.microsoft.com/office/drawing/2014/main" id="{7B5BF573-EB99-6DF9-BD81-B8E83651965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4FA064-BA19-9FC5-8953-EA7DB368422D}"/>
              </a:ext>
            </a:extLst>
          </p:cNvPr>
          <p:cNvSpPr txBox="1"/>
          <p:nvPr/>
        </p:nvSpPr>
        <p:spPr>
          <a:xfrm>
            <a:off x="3513282" y="3136613"/>
            <a:ext cx="5165437" cy="584775"/>
          </a:xfrm>
          <a:prstGeom prst="rect">
            <a:avLst/>
          </a:prstGeom>
          <a:noFill/>
        </p:spPr>
        <p:txBody>
          <a:bodyPr wrap="square" rtlCol="0">
            <a:spAutoFit/>
          </a:bodyPr>
          <a:lstStyle/>
          <a:p>
            <a:pPr algn="ctr"/>
            <a:r>
              <a:rPr lang="en-IE" sz="3200" dirty="0">
                <a:solidFill>
                  <a:schemeClr val="bg1"/>
                </a:solidFill>
                <a:latin typeface="+mj-lt"/>
              </a:rPr>
              <a:t>Approach and workflow</a:t>
            </a:r>
          </a:p>
        </p:txBody>
      </p:sp>
    </p:spTree>
    <p:extLst>
      <p:ext uri="{BB962C8B-B14F-4D97-AF65-F5344CB8AC3E}">
        <p14:creationId xmlns:p14="http://schemas.microsoft.com/office/powerpoint/2010/main" val="55685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EFF52C5-F8E9-CCC9-9E2E-FFBE9EB4532B}"/>
              </a:ext>
            </a:extLst>
          </p:cNvPr>
          <p:cNvSpPr/>
          <p:nvPr/>
        </p:nvSpPr>
        <p:spPr>
          <a:xfrm>
            <a:off x="523874" y="3842937"/>
            <a:ext cx="3460463" cy="2251243"/>
          </a:xfrm>
          <a:prstGeom prst="roundRect">
            <a:avLst/>
          </a:prstGeom>
          <a:solidFill>
            <a:srgbClr val="0D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sp>
        <p:nvSpPr>
          <p:cNvPr id="2" name="Title 1">
            <a:extLst>
              <a:ext uri="{FF2B5EF4-FFF2-40B4-BE49-F238E27FC236}">
                <a16:creationId xmlns:a16="http://schemas.microsoft.com/office/drawing/2014/main" id="{7A7CDFEF-D385-96CD-248F-F0BED4013194}"/>
              </a:ext>
            </a:extLst>
          </p:cNvPr>
          <p:cNvSpPr>
            <a:spLocks noGrp="1"/>
          </p:cNvSpPr>
          <p:nvPr>
            <p:ph type="title"/>
          </p:nvPr>
        </p:nvSpPr>
        <p:spPr/>
        <p:txBody>
          <a:bodyPr/>
          <a:lstStyle/>
          <a:p>
            <a:r>
              <a:rPr lang="en-IE" dirty="0"/>
              <a:t>Approach - </a:t>
            </a:r>
            <a:r>
              <a:rPr lang="en-IE" dirty="0" err="1"/>
              <a:t>PaMs</a:t>
            </a:r>
            <a:endParaRPr lang="en-IE" dirty="0"/>
          </a:p>
        </p:txBody>
      </p:sp>
      <p:sp>
        <p:nvSpPr>
          <p:cNvPr id="5" name="Content Placeholder 3">
            <a:extLst>
              <a:ext uri="{FF2B5EF4-FFF2-40B4-BE49-F238E27FC236}">
                <a16:creationId xmlns:a16="http://schemas.microsoft.com/office/drawing/2014/main" id="{0D3BCD99-AD20-27F2-FC67-C1F29B69651A}"/>
              </a:ext>
            </a:extLst>
          </p:cNvPr>
          <p:cNvSpPr txBox="1">
            <a:spLocks/>
          </p:cNvSpPr>
          <p:nvPr/>
        </p:nvSpPr>
        <p:spPr>
          <a:xfrm>
            <a:off x="609600" y="1742625"/>
            <a:ext cx="10972800" cy="3286577"/>
          </a:xfrm>
          <a:prstGeom prst="rect">
            <a:avLst/>
          </a:prstGeom>
        </p:spPr>
        <p:txBody>
          <a:bodyPr lIns="0" tIns="0" rIns="0" bIns="0" anchor="t" anchorCtr="0"/>
          <a:lstStyle>
            <a:lvl1pPr marL="360000" indent="-360000" algn="l" defTabSz="457200" rtl="0" eaLnBrk="1" latinLnBrk="0" hangingPunct="1">
              <a:spcBef>
                <a:spcPts val="0"/>
              </a:spcBef>
              <a:spcAft>
                <a:spcPts val="1200"/>
              </a:spcAft>
              <a:buClr>
                <a:srgbClr val="00AFA3"/>
              </a:buClr>
              <a:buFont typeface="Wingdings" charset="2"/>
              <a:buChar char="§"/>
              <a:tabLst>
                <a:tab pos="6184900" algn="l"/>
              </a:tabLst>
              <a:defRPr sz="1600" kern="1200">
                <a:solidFill>
                  <a:srgbClr val="006DB5"/>
                </a:solidFill>
                <a:latin typeface="+mn-lt"/>
                <a:ea typeface="+mn-ea"/>
                <a:cs typeface="+mn-cs"/>
              </a:defRPr>
            </a:lvl1pPr>
            <a:lvl2pPr marL="720000" indent="-360000" algn="l" defTabSz="457200" rtl="0" eaLnBrk="1" latinLnBrk="0" hangingPunct="1">
              <a:spcBef>
                <a:spcPts val="0"/>
              </a:spcBef>
              <a:spcAft>
                <a:spcPts val="1200"/>
              </a:spcAft>
              <a:buClr>
                <a:srgbClr val="00AFA3"/>
              </a:buClr>
              <a:buFont typeface="Wingdings" charset="2"/>
              <a:buChar char="§"/>
              <a:tabLst>
                <a:tab pos="6184900" algn="l"/>
              </a:tabLst>
              <a:defRPr sz="1600" kern="1200">
                <a:solidFill>
                  <a:srgbClr val="006DB5"/>
                </a:solidFill>
                <a:latin typeface="+mn-lt"/>
                <a:ea typeface="+mn-ea"/>
                <a:cs typeface="+mn-cs"/>
              </a:defRPr>
            </a:lvl2pPr>
            <a:lvl3pPr marL="1080000" indent="-360000" algn="l" defTabSz="457200" rtl="0" eaLnBrk="1" latinLnBrk="0" hangingPunct="1">
              <a:spcBef>
                <a:spcPts val="0"/>
              </a:spcBef>
              <a:spcAft>
                <a:spcPts val="1200"/>
              </a:spcAft>
              <a:buClr>
                <a:srgbClr val="00AFA3"/>
              </a:buClr>
              <a:buFont typeface="Wingdings" charset="2"/>
              <a:buChar char="§"/>
              <a:tabLst>
                <a:tab pos="6184900" algn="l"/>
              </a:tabLst>
              <a:defRPr sz="1600" kern="1200">
                <a:solidFill>
                  <a:srgbClr val="006DB5"/>
                </a:solidFill>
                <a:latin typeface="+mn-lt"/>
                <a:ea typeface="+mn-ea"/>
                <a:cs typeface="+mn-cs"/>
              </a:defRPr>
            </a:lvl3pPr>
            <a:lvl4pPr marL="1440000" indent="-360000" algn="l" defTabSz="457200" rtl="0" eaLnBrk="1" latinLnBrk="0" hangingPunct="1">
              <a:spcBef>
                <a:spcPts val="0"/>
              </a:spcBef>
              <a:spcAft>
                <a:spcPts val="1200"/>
              </a:spcAft>
              <a:buClr>
                <a:srgbClr val="00AFA3"/>
              </a:buClr>
              <a:buFont typeface="Wingdings" charset="2"/>
              <a:buChar char="§"/>
              <a:tabLst>
                <a:tab pos="6184900" algn="l"/>
              </a:tabLst>
              <a:defRPr sz="1600" kern="1200">
                <a:solidFill>
                  <a:srgbClr val="006DB5"/>
                </a:solidFill>
                <a:latin typeface="+mn-lt"/>
                <a:ea typeface="+mn-ea"/>
                <a:cs typeface="+mn-cs"/>
              </a:defRPr>
            </a:lvl4pPr>
            <a:lvl5pPr marL="1800000" indent="-360000" algn="l" defTabSz="457200" rtl="0" eaLnBrk="1" latinLnBrk="0" hangingPunct="1">
              <a:spcBef>
                <a:spcPts val="0"/>
              </a:spcBef>
              <a:spcAft>
                <a:spcPts val="1200"/>
              </a:spcAft>
              <a:buClr>
                <a:srgbClr val="00AFA3"/>
              </a:buClr>
              <a:buFont typeface="Wingdings" charset="2"/>
              <a:buChar char="§"/>
              <a:tabLst>
                <a:tab pos="6184900" algn="l"/>
              </a:tabLst>
              <a:defRPr sz="1600" kern="1200">
                <a:solidFill>
                  <a:srgbClr val="006DB5"/>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79964" marR="0" lvl="0" indent="-479964" algn="l" defTabSz="609555" rtl="0" eaLnBrk="1" fontAlgn="auto" latinLnBrk="0" hangingPunct="1">
              <a:lnSpc>
                <a:spcPct val="100000"/>
              </a:lnSpc>
              <a:spcBef>
                <a:spcPts val="0"/>
              </a:spcBef>
              <a:spcAft>
                <a:spcPts val="1600"/>
              </a:spcAft>
              <a:buClr>
                <a:srgbClr val="00AFA3"/>
              </a:buClr>
              <a:buSzTx/>
              <a:buFont typeface="Wingdings" charset="2"/>
              <a:buChar char="§"/>
              <a:tabLst>
                <a:tab pos="8245915" algn="l"/>
              </a:tabLst>
              <a:defRPr/>
            </a:pPr>
            <a:r>
              <a:rPr kumimoji="0" lang="en-IE" sz="2100" b="0" i="0" u="none" strike="noStrike" kern="1200" cap="none" spc="0" normalizeH="0" baseline="0" noProof="0" dirty="0">
                <a:ln>
                  <a:noFill/>
                </a:ln>
                <a:solidFill>
                  <a:srgbClr val="006DB5"/>
                </a:solidFill>
                <a:effectLst/>
                <a:uLnTx/>
                <a:uFillTx/>
                <a:latin typeface="Arial"/>
                <a:ea typeface="+mn-ea"/>
                <a:cs typeface="+mn-cs"/>
              </a:rPr>
              <a:t>Quantitative assessment of </a:t>
            </a:r>
            <a:r>
              <a:rPr kumimoji="0" lang="en-IE" sz="2100" b="0" i="0" u="none" strike="noStrike" kern="1200" cap="none" spc="0" normalizeH="0" baseline="0" noProof="0" dirty="0" err="1">
                <a:ln>
                  <a:noFill/>
                </a:ln>
                <a:solidFill>
                  <a:srgbClr val="006DB5"/>
                </a:solidFill>
                <a:effectLst/>
                <a:uLnTx/>
                <a:uFillTx/>
                <a:latin typeface="Arial"/>
                <a:ea typeface="+mn-ea"/>
                <a:cs typeface="+mn-cs"/>
              </a:rPr>
              <a:t>PaMs</a:t>
            </a:r>
            <a:r>
              <a:rPr kumimoji="0" lang="en-IE" sz="2100" b="0" i="0" u="none" strike="noStrike" kern="1200" cap="none" spc="0" normalizeH="0" baseline="0" noProof="0" dirty="0">
                <a:ln>
                  <a:noFill/>
                </a:ln>
                <a:solidFill>
                  <a:srgbClr val="006DB5"/>
                </a:solidFill>
                <a:effectLst/>
                <a:uLnTx/>
                <a:uFillTx/>
                <a:latin typeface="Arial"/>
                <a:ea typeface="+mn-ea"/>
                <a:cs typeface="+mn-cs"/>
              </a:rPr>
              <a:t> is underpinned by the same set of projected activity data and underlying scenario assumptions as those used to produce the national GHG projections</a:t>
            </a:r>
          </a:p>
          <a:p>
            <a:pPr marL="479964" marR="0" lvl="0" indent="-479964" algn="l" defTabSz="609555" rtl="0" eaLnBrk="1" fontAlgn="auto" latinLnBrk="0" hangingPunct="1">
              <a:lnSpc>
                <a:spcPct val="100000"/>
              </a:lnSpc>
              <a:spcBef>
                <a:spcPts val="0"/>
              </a:spcBef>
              <a:spcAft>
                <a:spcPts val="1600"/>
              </a:spcAft>
              <a:buClr>
                <a:srgbClr val="00AFA3"/>
              </a:buClr>
              <a:buSzTx/>
              <a:buFont typeface="Wingdings" charset="2"/>
              <a:buChar char="§"/>
              <a:tabLst>
                <a:tab pos="8245915" algn="l"/>
              </a:tabLst>
              <a:defRPr/>
            </a:pPr>
            <a:r>
              <a:rPr kumimoji="0" lang="en-IE" sz="2100" b="0" i="0" u="none" strike="noStrike" kern="1200" cap="none" spc="0" normalizeH="0" baseline="0" noProof="0" dirty="0">
                <a:ln>
                  <a:noFill/>
                </a:ln>
                <a:solidFill>
                  <a:srgbClr val="006DB5"/>
                </a:solidFill>
                <a:effectLst/>
                <a:uLnTx/>
                <a:uFillTx/>
                <a:latin typeface="Arial"/>
                <a:ea typeface="+mn-ea"/>
                <a:cs typeface="+mn-cs"/>
              </a:rPr>
              <a:t>Three streams of data compilation: </a:t>
            </a:r>
          </a:p>
          <a:p>
            <a:pPr marL="479964" marR="0" lvl="1" indent="0" algn="l" defTabSz="609555" rtl="0" eaLnBrk="1" fontAlgn="auto" latinLnBrk="0" hangingPunct="1">
              <a:lnSpc>
                <a:spcPct val="100000"/>
              </a:lnSpc>
              <a:spcBef>
                <a:spcPts val="0"/>
              </a:spcBef>
              <a:spcAft>
                <a:spcPts val="533"/>
              </a:spcAft>
              <a:buClr>
                <a:srgbClr val="00AFA3"/>
              </a:buClr>
              <a:buSzTx/>
              <a:buFont typeface="Wingdings" charset="2"/>
              <a:buNone/>
              <a:tabLst>
                <a:tab pos="8245915" algn="l"/>
              </a:tabLst>
              <a:defRPr/>
            </a:pPr>
            <a:endParaRPr kumimoji="0" lang="en-IE" sz="2400" b="0" i="0" u="none" strike="noStrike" kern="1200" cap="none" spc="0" normalizeH="0" baseline="0" noProof="0" dirty="0">
              <a:ln>
                <a:noFill/>
              </a:ln>
              <a:solidFill>
                <a:srgbClr val="006DB5"/>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74EEAC2-2D83-06BA-0C06-0C44DD728687}"/>
              </a:ext>
            </a:extLst>
          </p:cNvPr>
          <p:cNvSpPr txBox="1"/>
          <p:nvPr/>
        </p:nvSpPr>
        <p:spPr>
          <a:xfrm>
            <a:off x="523874" y="4644372"/>
            <a:ext cx="3460463" cy="1200329"/>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white"/>
                </a:solidFill>
                <a:effectLst/>
                <a:uLnTx/>
                <a:uFillTx/>
                <a:latin typeface="Arial"/>
                <a:ea typeface="+mn-ea"/>
                <a:cs typeface="+mn-cs"/>
              </a:rPr>
              <a:t>Initiatives and supports typically delivered through SEAI</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white"/>
                </a:solidFill>
                <a:effectLst/>
                <a:uLnTx/>
                <a:uFillTx/>
                <a:latin typeface="Arial"/>
                <a:ea typeface="+mn-ea"/>
                <a:cs typeface="+mn-cs"/>
              </a:rPr>
              <a:t>e.g. Electric </a:t>
            </a:r>
            <a:r>
              <a:rPr kumimoji="0" lang="en-IE" sz="1800" b="0" i="0" u="none" strike="noStrike" kern="1200" cap="none" spc="0" normalizeH="0" baseline="0" noProof="0">
                <a:ln>
                  <a:noFill/>
                </a:ln>
                <a:solidFill>
                  <a:prstClr val="white"/>
                </a:solidFill>
                <a:effectLst/>
                <a:uLnTx/>
                <a:uFillTx/>
                <a:latin typeface="Arial"/>
                <a:ea typeface="+mn-ea"/>
                <a:cs typeface="+mn-cs"/>
              </a:rPr>
              <a:t>Vehicle Deployment</a:t>
            </a:r>
            <a:endParaRPr kumimoji="0" lang="en-IE"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TextBox 26">
            <a:extLst>
              <a:ext uri="{FF2B5EF4-FFF2-40B4-BE49-F238E27FC236}">
                <a16:creationId xmlns:a16="http://schemas.microsoft.com/office/drawing/2014/main" id="{06E9F6AC-2C3B-E6ED-2113-67EE87517605}"/>
              </a:ext>
            </a:extLst>
          </p:cNvPr>
          <p:cNvSpPr txBox="1"/>
          <p:nvPr/>
        </p:nvSpPr>
        <p:spPr>
          <a:xfrm>
            <a:off x="523875" y="4158317"/>
            <a:ext cx="3460461" cy="400110"/>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2000" b="1" i="0" u="none" strike="noStrike" kern="1200" cap="none" spc="0" normalizeH="0" baseline="0" noProof="0">
                <a:ln>
                  <a:noFill/>
                </a:ln>
                <a:solidFill>
                  <a:prstClr val="white"/>
                </a:solidFill>
                <a:effectLst/>
                <a:uLnTx/>
                <a:uFillTx/>
                <a:latin typeface="Arial"/>
                <a:ea typeface="+mn-ea"/>
                <a:cs typeface="+mn-cs"/>
              </a:rPr>
              <a:t>Energy Efficiency </a:t>
            </a:r>
            <a:r>
              <a:rPr kumimoji="0" lang="en-IE" sz="2000" b="1" i="0" u="none" strike="noStrike" kern="1200" cap="none" spc="0" normalizeH="0" baseline="0" noProof="0" err="1">
                <a:ln>
                  <a:noFill/>
                </a:ln>
                <a:solidFill>
                  <a:prstClr val="white"/>
                </a:solidFill>
                <a:effectLst/>
                <a:uLnTx/>
                <a:uFillTx/>
                <a:latin typeface="Arial"/>
                <a:ea typeface="+mn-ea"/>
                <a:cs typeface="+mn-cs"/>
              </a:rPr>
              <a:t>PaMs</a:t>
            </a:r>
            <a:endParaRPr kumimoji="0" lang="en-IE" sz="2000" b="1" i="0" u="none" strike="noStrike" kern="1200" cap="none" spc="0" normalizeH="0" baseline="0" noProof="0">
              <a:ln>
                <a:noFill/>
              </a:ln>
              <a:solidFill>
                <a:prstClr val="white"/>
              </a:solidFill>
              <a:effectLst/>
              <a:uLnTx/>
              <a:uFillTx/>
              <a:latin typeface="Arial"/>
              <a:ea typeface="+mn-ea"/>
              <a:cs typeface="+mn-cs"/>
            </a:endParaRPr>
          </a:p>
        </p:txBody>
      </p:sp>
      <p:sp>
        <p:nvSpPr>
          <p:cNvPr id="28" name="Rectangle: Rounded Corners 27">
            <a:extLst>
              <a:ext uri="{FF2B5EF4-FFF2-40B4-BE49-F238E27FC236}">
                <a16:creationId xmlns:a16="http://schemas.microsoft.com/office/drawing/2014/main" id="{BCC82762-2625-8639-27E6-90690BE97A4D}"/>
              </a:ext>
            </a:extLst>
          </p:cNvPr>
          <p:cNvSpPr/>
          <p:nvPr/>
        </p:nvSpPr>
        <p:spPr>
          <a:xfrm>
            <a:off x="1612417" y="3535095"/>
            <a:ext cx="1283376" cy="570200"/>
          </a:xfrm>
          <a:prstGeom prst="roundRect">
            <a:avLst/>
          </a:prstGeom>
          <a:solidFill>
            <a:srgbClr val="3A9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pic>
        <p:nvPicPr>
          <p:cNvPr id="31" name="Graphic 30" descr="Lightbulb with solid fill">
            <a:extLst>
              <a:ext uri="{FF2B5EF4-FFF2-40B4-BE49-F238E27FC236}">
                <a16:creationId xmlns:a16="http://schemas.microsoft.com/office/drawing/2014/main" id="{508A29BD-67FC-D4E3-1D52-4E1FCBB9D8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6532" y="3590317"/>
            <a:ext cx="449019" cy="449019"/>
          </a:xfrm>
          <a:prstGeom prst="rect">
            <a:avLst/>
          </a:prstGeom>
        </p:spPr>
      </p:pic>
      <p:sp>
        <p:nvSpPr>
          <p:cNvPr id="6" name="Rectangle: Rounded Corners 5">
            <a:extLst>
              <a:ext uri="{FF2B5EF4-FFF2-40B4-BE49-F238E27FC236}">
                <a16:creationId xmlns:a16="http://schemas.microsoft.com/office/drawing/2014/main" id="{C32D6F93-6D68-B4A8-7D93-E0E7E2D5E1B8}"/>
              </a:ext>
            </a:extLst>
          </p:cNvPr>
          <p:cNvSpPr/>
          <p:nvPr/>
        </p:nvSpPr>
        <p:spPr>
          <a:xfrm>
            <a:off x="4406999" y="3842937"/>
            <a:ext cx="3460463" cy="2251243"/>
          </a:xfrm>
          <a:prstGeom prst="roundRect">
            <a:avLst/>
          </a:prstGeom>
          <a:solidFill>
            <a:srgbClr val="0D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0E138026-02F4-36BB-5B62-48E532B85F01}"/>
              </a:ext>
            </a:extLst>
          </p:cNvPr>
          <p:cNvSpPr txBox="1"/>
          <p:nvPr/>
        </p:nvSpPr>
        <p:spPr>
          <a:xfrm>
            <a:off x="4406999" y="4782871"/>
            <a:ext cx="3460463" cy="923330"/>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prstClr val="white"/>
                </a:solidFill>
                <a:effectLst/>
                <a:uLnTx/>
                <a:uFillTx/>
                <a:latin typeface="Arial"/>
                <a:ea typeface="+mn-ea"/>
                <a:cs typeface="+mn-cs"/>
              </a:rPr>
              <a:t>Measures that go beyond energy efficiency including the use of renewables</a:t>
            </a:r>
          </a:p>
        </p:txBody>
      </p:sp>
      <p:sp>
        <p:nvSpPr>
          <p:cNvPr id="8" name="TextBox 7">
            <a:extLst>
              <a:ext uri="{FF2B5EF4-FFF2-40B4-BE49-F238E27FC236}">
                <a16:creationId xmlns:a16="http://schemas.microsoft.com/office/drawing/2014/main" id="{48876BD6-EA42-A4F4-9F74-775210A2EA80}"/>
              </a:ext>
            </a:extLst>
          </p:cNvPr>
          <p:cNvSpPr txBox="1"/>
          <p:nvPr/>
        </p:nvSpPr>
        <p:spPr>
          <a:xfrm>
            <a:off x="4407000" y="4158317"/>
            <a:ext cx="3460461" cy="400110"/>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2000" b="1" i="0" u="none" strike="noStrike" kern="1200" cap="none" spc="0" normalizeH="0" baseline="0" noProof="0">
                <a:ln>
                  <a:noFill/>
                </a:ln>
                <a:solidFill>
                  <a:prstClr val="white"/>
                </a:solidFill>
                <a:effectLst/>
                <a:uLnTx/>
                <a:uFillTx/>
                <a:latin typeface="Arial"/>
                <a:ea typeface="+mn-ea"/>
                <a:cs typeface="+mn-cs"/>
              </a:rPr>
              <a:t>Other Energy </a:t>
            </a:r>
            <a:r>
              <a:rPr kumimoji="0" lang="en-IE" sz="2000" b="1" i="0" u="none" strike="noStrike" kern="1200" cap="none" spc="0" normalizeH="0" baseline="0" noProof="0" err="1">
                <a:ln>
                  <a:noFill/>
                </a:ln>
                <a:solidFill>
                  <a:prstClr val="white"/>
                </a:solidFill>
                <a:effectLst/>
                <a:uLnTx/>
                <a:uFillTx/>
                <a:latin typeface="Arial"/>
                <a:ea typeface="+mn-ea"/>
                <a:cs typeface="+mn-cs"/>
              </a:rPr>
              <a:t>PaMs</a:t>
            </a:r>
            <a:endParaRPr kumimoji="0" lang="en-IE" sz="2000" b="1" i="0" u="none" strike="noStrike" kern="1200" cap="none" spc="0" normalizeH="0" baseline="0" noProof="0">
              <a:ln>
                <a:noFill/>
              </a:ln>
              <a:solidFill>
                <a:prstClr val="white"/>
              </a:solidFill>
              <a:effectLst/>
              <a:uLnTx/>
              <a:uFillTx/>
              <a:latin typeface="Arial"/>
              <a:ea typeface="+mn-ea"/>
              <a:cs typeface="+mn-cs"/>
            </a:endParaRPr>
          </a:p>
        </p:txBody>
      </p:sp>
      <p:sp>
        <p:nvSpPr>
          <p:cNvPr id="9" name="Rectangle: Rounded Corners 8">
            <a:extLst>
              <a:ext uri="{FF2B5EF4-FFF2-40B4-BE49-F238E27FC236}">
                <a16:creationId xmlns:a16="http://schemas.microsoft.com/office/drawing/2014/main" id="{E236A8B9-9B90-0D69-C859-3955D3FA5204}"/>
              </a:ext>
            </a:extLst>
          </p:cNvPr>
          <p:cNvSpPr/>
          <p:nvPr/>
        </p:nvSpPr>
        <p:spPr>
          <a:xfrm>
            <a:off x="5495543" y="3535095"/>
            <a:ext cx="1283376" cy="570200"/>
          </a:xfrm>
          <a:prstGeom prst="roundRect">
            <a:avLst/>
          </a:prstGeom>
          <a:solidFill>
            <a:srgbClr val="3A9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pic>
        <p:nvPicPr>
          <p:cNvPr id="13" name="Graphic 12" descr="Wind Turbines with solid fill">
            <a:extLst>
              <a:ext uri="{FF2B5EF4-FFF2-40B4-BE49-F238E27FC236}">
                <a16:creationId xmlns:a16="http://schemas.microsoft.com/office/drawing/2014/main" id="{A6A32C98-EBE1-A227-6D8B-27CB46E7E1C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872509" y="3590318"/>
            <a:ext cx="471143" cy="471143"/>
          </a:xfrm>
          <a:prstGeom prst="rect">
            <a:avLst/>
          </a:prstGeom>
        </p:spPr>
      </p:pic>
      <p:sp>
        <p:nvSpPr>
          <p:cNvPr id="16" name="Rectangle: Rounded Corners 15">
            <a:extLst>
              <a:ext uri="{FF2B5EF4-FFF2-40B4-BE49-F238E27FC236}">
                <a16:creationId xmlns:a16="http://schemas.microsoft.com/office/drawing/2014/main" id="{73FD1709-3C04-4F57-024E-026F289CF420}"/>
              </a:ext>
            </a:extLst>
          </p:cNvPr>
          <p:cNvSpPr/>
          <p:nvPr/>
        </p:nvSpPr>
        <p:spPr>
          <a:xfrm>
            <a:off x="8308929" y="3842937"/>
            <a:ext cx="3460463" cy="2251243"/>
          </a:xfrm>
          <a:prstGeom prst="roundRect">
            <a:avLst/>
          </a:prstGeom>
          <a:solidFill>
            <a:srgbClr val="0D58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37B657DA-720B-2C11-7F81-EAA1A36F4D36}"/>
              </a:ext>
            </a:extLst>
          </p:cNvPr>
          <p:cNvSpPr txBox="1"/>
          <p:nvPr/>
        </p:nvSpPr>
        <p:spPr>
          <a:xfrm>
            <a:off x="8308929" y="4782871"/>
            <a:ext cx="3460463" cy="923330"/>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a:ln>
                  <a:noFill/>
                </a:ln>
                <a:solidFill>
                  <a:prstClr val="white"/>
                </a:solidFill>
                <a:effectLst/>
                <a:uLnTx/>
                <a:uFillTx/>
                <a:latin typeface="Arial"/>
                <a:ea typeface="+mn-ea"/>
                <a:cs typeface="+mn-cs"/>
              </a:rPr>
              <a:t>Measures related to Agriculture and LULUCF and the smaller IPPU and Waste sectors </a:t>
            </a:r>
          </a:p>
        </p:txBody>
      </p:sp>
      <p:sp>
        <p:nvSpPr>
          <p:cNvPr id="19" name="TextBox 18">
            <a:extLst>
              <a:ext uri="{FF2B5EF4-FFF2-40B4-BE49-F238E27FC236}">
                <a16:creationId xmlns:a16="http://schemas.microsoft.com/office/drawing/2014/main" id="{DB0D99CF-70A6-2EC0-7F71-CD58B40B16AA}"/>
              </a:ext>
            </a:extLst>
          </p:cNvPr>
          <p:cNvSpPr txBox="1"/>
          <p:nvPr/>
        </p:nvSpPr>
        <p:spPr>
          <a:xfrm>
            <a:off x="8308928" y="4158317"/>
            <a:ext cx="3460461" cy="400110"/>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IE" sz="2000" b="1" i="0" u="none" strike="noStrike" kern="1200" cap="none" spc="0" normalizeH="0" baseline="0" noProof="0">
                <a:ln>
                  <a:noFill/>
                </a:ln>
                <a:solidFill>
                  <a:prstClr val="white"/>
                </a:solidFill>
                <a:effectLst/>
                <a:uLnTx/>
                <a:uFillTx/>
                <a:latin typeface="Arial"/>
                <a:ea typeface="+mn-ea"/>
                <a:cs typeface="+mn-cs"/>
              </a:rPr>
              <a:t>Non-Energy </a:t>
            </a:r>
            <a:r>
              <a:rPr kumimoji="0" lang="en-IE" sz="2000" b="1" i="0" u="none" strike="noStrike" kern="1200" cap="none" spc="0" normalizeH="0" baseline="0" noProof="0" err="1">
                <a:ln>
                  <a:noFill/>
                </a:ln>
                <a:solidFill>
                  <a:prstClr val="white"/>
                </a:solidFill>
                <a:effectLst/>
                <a:uLnTx/>
                <a:uFillTx/>
                <a:latin typeface="Arial"/>
                <a:ea typeface="+mn-ea"/>
                <a:cs typeface="+mn-cs"/>
              </a:rPr>
              <a:t>PaMs</a:t>
            </a:r>
            <a:endParaRPr kumimoji="0" lang="en-IE" sz="2000" b="1" i="0" u="none" strike="noStrike" kern="1200" cap="none" spc="0" normalizeH="0" baseline="0" noProof="0">
              <a:ln>
                <a:noFill/>
              </a:ln>
              <a:solidFill>
                <a:prstClr val="white"/>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D5910677-0925-4261-41B9-D59C526F1717}"/>
              </a:ext>
            </a:extLst>
          </p:cNvPr>
          <p:cNvSpPr/>
          <p:nvPr/>
        </p:nvSpPr>
        <p:spPr>
          <a:xfrm>
            <a:off x="9397471" y="3535095"/>
            <a:ext cx="1283376" cy="570200"/>
          </a:xfrm>
          <a:prstGeom prst="roundRect">
            <a:avLst/>
          </a:prstGeom>
          <a:solidFill>
            <a:srgbClr val="3A9C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55" rtl="0" eaLnBrk="1" fontAlgn="auto" latinLnBrk="0" hangingPunct="1">
              <a:lnSpc>
                <a:spcPct val="100000"/>
              </a:lnSpc>
              <a:spcBef>
                <a:spcPts val="0"/>
              </a:spcBef>
              <a:spcAft>
                <a:spcPts val="0"/>
              </a:spcAft>
              <a:buClrTx/>
              <a:buSzTx/>
              <a:buFontTx/>
              <a:buNone/>
              <a:tabLst/>
              <a:defRPr/>
            </a:pPr>
            <a:endParaRPr kumimoji="0" lang="en-IE" sz="2400" b="0" i="0" u="none" strike="noStrike" kern="1200" cap="none" spc="0" normalizeH="0" baseline="0" noProof="0">
              <a:ln>
                <a:noFill/>
              </a:ln>
              <a:solidFill>
                <a:prstClr val="white"/>
              </a:solidFill>
              <a:effectLst/>
              <a:uLnTx/>
              <a:uFillTx/>
              <a:latin typeface="Arial"/>
              <a:ea typeface="+mn-ea"/>
              <a:cs typeface="+mn-cs"/>
            </a:endParaRPr>
          </a:p>
        </p:txBody>
      </p:sp>
      <p:pic>
        <p:nvPicPr>
          <p:cNvPr id="23" name="Graphic 22" descr="Plant with solid fill">
            <a:extLst>
              <a:ext uri="{FF2B5EF4-FFF2-40B4-BE49-F238E27FC236}">
                <a16:creationId xmlns:a16="http://schemas.microsoft.com/office/drawing/2014/main" id="{3B893C9B-66F8-3991-CB82-7D5B53A94C9C}"/>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812537" y="3602781"/>
            <a:ext cx="428183" cy="428183"/>
          </a:xfrm>
          <a:prstGeom prst="rect">
            <a:avLst/>
          </a:prstGeom>
        </p:spPr>
      </p:pic>
    </p:spTree>
    <p:extLst>
      <p:ext uri="{BB962C8B-B14F-4D97-AF65-F5344CB8AC3E}">
        <p14:creationId xmlns:p14="http://schemas.microsoft.com/office/powerpoint/2010/main" val="773095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9DAA-2690-6A83-1976-A9FDE5D35C71}"/>
            </a:ext>
          </a:extLst>
        </p:cNvPr>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28B52816-16CB-714D-DB4C-D4A60011504E}"/>
              </a:ext>
            </a:extLst>
          </p:cNvPr>
          <p:cNvGraphicFramePr>
            <a:graphicFrameLocks/>
          </p:cNvGraphicFramePr>
          <p:nvPr/>
        </p:nvGraphicFramePr>
        <p:xfrm>
          <a:off x="1885874" y="2098414"/>
          <a:ext cx="7891200" cy="398160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4CADCC29-5578-F1FF-F946-6910A9F6FF32}"/>
              </a:ext>
            </a:extLst>
          </p:cNvPr>
          <p:cNvSpPr>
            <a:spLocks noGrp="1"/>
          </p:cNvSpPr>
          <p:nvPr>
            <p:ph type="title"/>
          </p:nvPr>
        </p:nvSpPr>
        <p:spPr/>
        <p:txBody>
          <a:bodyPr/>
          <a:lstStyle/>
          <a:p>
            <a:r>
              <a:rPr lang="en-IE" dirty="0"/>
              <a:t>Three streams of data compilation</a:t>
            </a:r>
          </a:p>
        </p:txBody>
      </p:sp>
      <p:sp>
        <p:nvSpPr>
          <p:cNvPr id="11" name="TextBox 10">
            <a:extLst>
              <a:ext uri="{FF2B5EF4-FFF2-40B4-BE49-F238E27FC236}">
                <a16:creationId xmlns:a16="http://schemas.microsoft.com/office/drawing/2014/main" id="{6A0E2DDB-BEA7-E6E4-688E-40A83F613C2F}"/>
              </a:ext>
            </a:extLst>
          </p:cNvPr>
          <p:cNvSpPr txBox="1"/>
          <p:nvPr/>
        </p:nvSpPr>
        <p:spPr>
          <a:xfrm>
            <a:off x="3038230" y="1587699"/>
            <a:ext cx="6214053" cy="338554"/>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Number of </a:t>
            </a:r>
            <a:r>
              <a:rPr kumimoji="0" lang="en-IE" sz="16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rPr>
              <a:t>PaMs</a:t>
            </a:r>
            <a:r>
              <a:rPr kumimoji="0" lang="en-IE" sz="16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by data stream and projections scenario</a:t>
            </a:r>
          </a:p>
        </p:txBody>
      </p:sp>
      <p:sp>
        <p:nvSpPr>
          <p:cNvPr id="15" name="TextBox 14">
            <a:extLst>
              <a:ext uri="{FF2B5EF4-FFF2-40B4-BE49-F238E27FC236}">
                <a16:creationId xmlns:a16="http://schemas.microsoft.com/office/drawing/2014/main" id="{B34725B1-E897-1204-00C3-E49FA51A707E}"/>
              </a:ext>
            </a:extLst>
          </p:cNvPr>
          <p:cNvSpPr txBox="1"/>
          <p:nvPr/>
        </p:nvSpPr>
        <p:spPr>
          <a:xfrm>
            <a:off x="3513221" y="2240335"/>
            <a:ext cx="5173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rPr>
              <a:t>91</a:t>
            </a:r>
          </a:p>
        </p:txBody>
      </p:sp>
      <p:sp>
        <p:nvSpPr>
          <p:cNvPr id="18" name="TextBox 17">
            <a:extLst>
              <a:ext uri="{FF2B5EF4-FFF2-40B4-BE49-F238E27FC236}">
                <a16:creationId xmlns:a16="http://schemas.microsoft.com/office/drawing/2014/main" id="{A62E7F91-D635-340B-5162-4848B9E79D39}"/>
              </a:ext>
            </a:extLst>
          </p:cNvPr>
          <p:cNvSpPr txBox="1"/>
          <p:nvPr/>
        </p:nvSpPr>
        <p:spPr>
          <a:xfrm>
            <a:off x="5172549" y="3131523"/>
            <a:ext cx="5173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rPr>
              <a:t>62</a:t>
            </a:r>
          </a:p>
        </p:txBody>
      </p:sp>
      <p:sp>
        <p:nvSpPr>
          <p:cNvPr id="21" name="TextBox 20">
            <a:extLst>
              <a:ext uri="{FF2B5EF4-FFF2-40B4-BE49-F238E27FC236}">
                <a16:creationId xmlns:a16="http://schemas.microsoft.com/office/drawing/2014/main" id="{A1CED35E-47E8-BB96-B5E8-2B3527F8438A}"/>
              </a:ext>
            </a:extLst>
          </p:cNvPr>
          <p:cNvSpPr txBox="1"/>
          <p:nvPr/>
        </p:nvSpPr>
        <p:spPr>
          <a:xfrm>
            <a:off x="8459509" y="4400532"/>
            <a:ext cx="5173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rPr>
              <a:t>21</a:t>
            </a:r>
          </a:p>
        </p:txBody>
      </p:sp>
      <p:sp>
        <p:nvSpPr>
          <p:cNvPr id="22" name="TextBox 21">
            <a:extLst>
              <a:ext uri="{FF2B5EF4-FFF2-40B4-BE49-F238E27FC236}">
                <a16:creationId xmlns:a16="http://schemas.microsoft.com/office/drawing/2014/main" id="{C47C275A-E808-000B-9C4D-56228D15FD77}"/>
              </a:ext>
            </a:extLst>
          </p:cNvPr>
          <p:cNvSpPr txBox="1"/>
          <p:nvPr/>
        </p:nvSpPr>
        <p:spPr>
          <a:xfrm>
            <a:off x="6800821" y="4824150"/>
            <a:ext cx="5173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rPr>
              <a:t>8</a:t>
            </a:r>
          </a:p>
        </p:txBody>
      </p:sp>
    </p:spTree>
    <p:extLst>
      <p:ext uri="{BB962C8B-B14F-4D97-AF65-F5344CB8AC3E}">
        <p14:creationId xmlns:p14="http://schemas.microsoft.com/office/powerpoint/2010/main" val="3486104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FD197-3FA4-B7E1-E162-06D4BD5A6B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33FD38-C3F8-5CCD-9697-C89943439BB4}"/>
              </a:ext>
            </a:extLst>
          </p:cNvPr>
          <p:cNvSpPr txBox="1"/>
          <p:nvPr/>
        </p:nvSpPr>
        <p:spPr>
          <a:xfrm>
            <a:off x="3496006" y="272647"/>
            <a:ext cx="2414892" cy="1021556"/>
          </a:xfrm>
          <a:prstGeom prst="roundRect">
            <a:avLst/>
          </a:prstGeom>
          <a:solidFill>
            <a:schemeClr val="accent4">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SEAI energy savings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E0FA343-838F-C5D8-0EF1-85E4469AD3C1}"/>
              </a:ext>
            </a:extLst>
          </p:cNvPr>
          <p:cNvSpPr txBox="1"/>
          <p:nvPr/>
        </p:nvSpPr>
        <p:spPr>
          <a:xfrm>
            <a:off x="6078785" y="272646"/>
            <a:ext cx="2414892" cy="1021556"/>
          </a:xfrm>
          <a:prstGeom prst="roundRect">
            <a:avLst/>
          </a:prstGeom>
          <a:solidFill>
            <a:schemeClr val="accent5">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EPA Emission Factors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Cylinder 7">
            <a:extLst>
              <a:ext uri="{FF2B5EF4-FFF2-40B4-BE49-F238E27FC236}">
                <a16:creationId xmlns:a16="http://schemas.microsoft.com/office/drawing/2014/main" id="{B72B41BC-ECA1-F91E-5BA4-8D9E4DAFC8DB}"/>
              </a:ext>
            </a:extLst>
          </p:cNvPr>
          <p:cNvSpPr/>
          <p:nvPr/>
        </p:nvSpPr>
        <p:spPr>
          <a:xfrm>
            <a:off x="4640684" y="2372130"/>
            <a:ext cx="2277980" cy="1212225"/>
          </a:xfrm>
          <a:prstGeom prst="can">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PaMs Tool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6E4251E5-C9B4-C2A7-E9F7-F5E74F6C3727}"/>
              </a:ext>
            </a:extLst>
          </p:cNvPr>
          <p:cNvSpPr txBox="1"/>
          <p:nvPr/>
        </p:nvSpPr>
        <p:spPr>
          <a:xfrm>
            <a:off x="4769022" y="4142109"/>
            <a:ext cx="2149642" cy="584775"/>
          </a:xfrm>
          <a:prstGeom prst="rect">
            <a:avLst/>
          </a:prstGeom>
          <a:noFill/>
          <a:ln>
            <a:solidFill>
              <a:schemeClr val="tx1"/>
            </a:solidFill>
            <a:prstDash val="sysDash"/>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Data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[MS Excel]</a:t>
            </a:r>
          </a:p>
        </p:txBody>
      </p:sp>
      <p:sp>
        <p:nvSpPr>
          <p:cNvPr id="34" name="Cylinder 33">
            <a:extLst>
              <a:ext uri="{FF2B5EF4-FFF2-40B4-BE49-F238E27FC236}">
                <a16:creationId xmlns:a16="http://schemas.microsoft.com/office/drawing/2014/main" id="{C6893D17-BB1E-4D0C-D3CB-EBC9597A295B}"/>
              </a:ext>
            </a:extLst>
          </p:cNvPr>
          <p:cNvSpPr/>
          <p:nvPr/>
        </p:nvSpPr>
        <p:spPr>
          <a:xfrm>
            <a:off x="3878686" y="5257361"/>
            <a:ext cx="1848851" cy="1088692"/>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a:t>
            </a:r>
            <a:r>
              <a:rPr kumimoji="0" lang="en-IE" sz="1600" b="0" i="0" u="none" strike="noStrike" kern="1200" cap="none" spc="0" normalizeH="0" baseline="0" noProof="0" dirty="0" err="1">
                <a:ln>
                  <a:noFill/>
                </a:ln>
                <a:solidFill>
                  <a:prstClr val="black"/>
                </a:solidFill>
                <a:effectLst/>
                <a:uLnTx/>
                <a:uFillTx/>
                <a:latin typeface="Calibri" panose="020F0502020204030204"/>
                <a:ea typeface="+mn-ea"/>
                <a:cs typeface="+mn-cs"/>
              </a:rPr>
              <a:t>PaMs</a:t>
            </a: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 attributes and progress)</a:t>
            </a:r>
          </a:p>
        </p:txBody>
      </p:sp>
      <p:cxnSp>
        <p:nvCxnSpPr>
          <p:cNvPr id="36" name="Straight Arrow Connector 35">
            <a:extLst>
              <a:ext uri="{FF2B5EF4-FFF2-40B4-BE49-F238E27FC236}">
                <a16:creationId xmlns:a16="http://schemas.microsoft.com/office/drawing/2014/main" id="{AE902793-CD48-9692-757E-65455A2618C3}"/>
              </a:ext>
            </a:extLst>
          </p:cNvPr>
          <p:cNvCxnSpPr>
            <a:cxnSpLocks/>
          </p:cNvCxnSpPr>
          <p:nvPr/>
        </p:nvCxnSpPr>
        <p:spPr>
          <a:xfrm>
            <a:off x="5779674" y="3584355"/>
            <a:ext cx="0" cy="48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36E3DFA-F624-75B1-3521-40203D057C8F}"/>
              </a:ext>
            </a:extLst>
          </p:cNvPr>
          <p:cNvCxnSpPr>
            <a:cxnSpLocks/>
          </p:cNvCxnSpPr>
          <p:nvPr/>
        </p:nvCxnSpPr>
        <p:spPr>
          <a:xfrm flipH="1">
            <a:off x="5184680" y="4726884"/>
            <a:ext cx="422036"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17323A99-20AF-3BD6-8CD2-000A0921958C}"/>
              </a:ext>
            </a:extLst>
          </p:cNvPr>
          <p:cNvSpPr/>
          <p:nvPr/>
        </p:nvSpPr>
        <p:spPr>
          <a:xfrm>
            <a:off x="3366839" y="171806"/>
            <a:ext cx="5237747" cy="1178768"/>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TextBox 53">
            <a:extLst>
              <a:ext uri="{FF2B5EF4-FFF2-40B4-BE49-F238E27FC236}">
                <a16:creationId xmlns:a16="http://schemas.microsoft.com/office/drawing/2014/main" id="{4DD4263A-B622-BFC9-A61B-F63B5A995C66}"/>
              </a:ext>
            </a:extLst>
          </p:cNvPr>
          <p:cNvSpPr txBox="1"/>
          <p:nvPr/>
        </p:nvSpPr>
        <p:spPr>
          <a:xfrm>
            <a:off x="4844897" y="1440268"/>
            <a:ext cx="19789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Extract, Transform, Load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(Mostly manual)</a:t>
            </a:r>
          </a:p>
        </p:txBody>
      </p:sp>
      <p:sp>
        <p:nvSpPr>
          <p:cNvPr id="59" name="TextBox 58">
            <a:extLst>
              <a:ext uri="{FF2B5EF4-FFF2-40B4-BE49-F238E27FC236}">
                <a16:creationId xmlns:a16="http://schemas.microsoft.com/office/drawing/2014/main" id="{96FF6915-81F9-E47C-E19F-DAFB3612D6F3}"/>
              </a:ext>
            </a:extLst>
          </p:cNvPr>
          <p:cNvSpPr txBox="1"/>
          <p:nvPr/>
        </p:nvSpPr>
        <p:spPr>
          <a:xfrm>
            <a:off x="5508965" y="4914997"/>
            <a:ext cx="73793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Load</a:t>
            </a:r>
            <a:endParaRPr kumimoji="0" lang="en-IE" sz="1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77" name="Cylinder 76">
            <a:extLst>
              <a:ext uri="{FF2B5EF4-FFF2-40B4-BE49-F238E27FC236}">
                <a16:creationId xmlns:a16="http://schemas.microsoft.com/office/drawing/2014/main" id="{B1D13202-D810-99B9-219F-81BE7905E3A0}"/>
              </a:ext>
            </a:extLst>
          </p:cNvPr>
          <p:cNvSpPr/>
          <p:nvPr/>
        </p:nvSpPr>
        <p:spPr>
          <a:xfrm>
            <a:off x="5972181" y="5257361"/>
            <a:ext cx="1848852" cy="1076088"/>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XIV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(Air Quality)</a:t>
            </a:r>
          </a:p>
        </p:txBody>
      </p:sp>
      <p:cxnSp>
        <p:nvCxnSpPr>
          <p:cNvPr id="78" name="Straight Arrow Connector 77">
            <a:extLst>
              <a:ext uri="{FF2B5EF4-FFF2-40B4-BE49-F238E27FC236}">
                <a16:creationId xmlns:a16="http://schemas.microsoft.com/office/drawing/2014/main" id="{38DF0E56-C51F-C4DE-2386-2461F36FDF9C}"/>
              </a:ext>
            </a:extLst>
          </p:cNvPr>
          <p:cNvCxnSpPr>
            <a:cxnSpLocks/>
          </p:cNvCxnSpPr>
          <p:nvPr/>
        </p:nvCxnSpPr>
        <p:spPr>
          <a:xfrm>
            <a:off x="6096000" y="4726884"/>
            <a:ext cx="395545"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angle: Rounded Corners 82">
            <a:extLst>
              <a:ext uri="{FF2B5EF4-FFF2-40B4-BE49-F238E27FC236}">
                <a16:creationId xmlns:a16="http://schemas.microsoft.com/office/drawing/2014/main" id="{BB2FCB37-254F-16C8-48D3-97766DC139EE}"/>
              </a:ext>
            </a:extLst>
          </p:cNvPr>
          <p:cNvSpPr/>
          <p:nvPr/>
        </p:nvSpPr>
        <p:spPr>
          <a:xfrm>
            <a:off x="3766390" y="5207024"/>
            <a:ext cx="4154905" cy="12347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B3FD993D-539F-5BD9-9896-1139AE767576}"/>
              </a:ext>
            </a:extLst>
          </p:cNvPr>
          <p:cNvSpPr txBox="1"/>
          <p:nvPr/>
        </p:nvSpPr>
        <p:spPr>
          <a:xfrm>
            <a:off x="3658985" y="6476322"/>
            <a:ext cx="450382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3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rPr>
              <a:t>Integrated national policies and measures – GovReg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1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endParaRPr>
          </a:p>
        </p:txBody>
      </p:sp>
      <p:cxnSp>
        <p:nvCxnSpPr>
          <p:cNvPr id="122" name="Straight Arrow Connector 121">
            <a:extLst>
              <a:ext uri="{FF2B5EF4-FFF2-40B4-BE49-F238E27FC236}">
                <a16:creationId xmlns:a16="http://schemas.microsoft.com/office/drawing/2014/main" id="{FDFA58C3-676E-D852-6850-E613B1FB2ED6}"/>
              </a:ext>
            </a:extLst>
          </p:cNvPr>
          <p:cNvCxnSpPr>
            <a:cxnSpLocks/>
            <a:endCxn id="33" idx="3"/>
          </p:cNvCxnSpPr>
          <p:nvPr/>
        </p:nvCxnSpPr>
        <p:spPr>
          <a:xfrm flipH="1">
            <a:off x="6918664" y="3470675"/>
            <a:ext cx="2030825" cy="96382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5" name="TextBox 134">
            <a:extLst>
              <a:ext uri="{FF2B5EF4-FFF2-40B4-BE49-F238E27FC236}">
                <a16:creationId xmlns:a16="http://schemas.microsoft.com/office/drawing/2014/main" id="{42FC6F9B-BD3D-CF94-4810-15FAEC457B0D}"/>
              </a:ext>
            </a:extLst>
          </p:cNvPr>
          <p:cNvSpPr txBox="1"/>
          <p:nvPr/>
        </p:nvSpPr>
        <p:spPr>
          <a:xfrm>
            <a:off x="5767545" y="3584302"/>
            <a:ext cx="109161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Transform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(Manual)</a:t>
            </a:r>
            <a:r>
              <a:rPr kumimoji="0" lang="en-IE" sz="1400" b="0" i="0" u="none" strike="noStrike" kern="1200" cap="none" spc="0" normalizeH="0" baseline="0" noProof="0" dirty="0">
                <a:ln>
                  <a:noFill/>
                </a:ln>
                <a:solidFill>
                  <a:srgbClr val="4472C4"/>
                </a:solidFill>
                <a:effectLst/>
                <a:uLnTx/>
                <a:uFillTx/>
                <a:latin typeface="Calibri" panose="020F0502020204030204"/>
                <a:ea typeface="+mn-ea"/>
                <a:cs typeface="+mn-cs"/>
              </a:rPr>
              <a:t> </a:t>
            </a:r>
            <a:endParaRPr kumimoji="0" lang="en-IE" sz="1800" b="0"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C5F46621-3695-4607-0F16-56FB48730427}"/>
              </a:ext>
            </a:extLst>
          </p:cNvPr>
          <p:cNvCxnSpPr>
            <a:cxnSpLocks/>
            <a:stCxn id="2" idx="2"/>
          </p:cNvCxnSpPr>
          <p:nvPr/>
        </p:nvCxnSpPr>
        <p:spPr>
          <a:xfrm>
            <a:off x="4703452" y="1294203"/>
            <a:ext cx="543427" cy="1135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9392071-6D09-3F82-58E5-4EFBE6049675}"/>
              </a:ext>
            </a:extLst>
          </p:cNvPr>
          <p:cNvCxnSpPr>
            <a:cxnSpLocks/>
          </p:cNvCxnSpPr>
          <p:nvPr/>
        </p:nvCxnSpPr>
        <p:spPr>
          <a:xfrm flipH="1">
            <a:off x="6400800" y="1361418"/>
            <a:ext cx="717544" cy="108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A8B7B9A-7BB7-C311-7FCC-EC5B6921185E}"/>
              </a:ext>
            </a:extLst>
          </p:cNvPr>
          <p:cNvSpPr txBox="1"/>
          <p:nvPr/>
        </p:nvSpPr>
        <p:spPr>
          <a:xfrm>
            <a:off x="8949489" y="2602352"/>
            <a:ext cx="2685048" cy="2009061"/>
          </a:xfrm>
          <a:prstGeom prst="roundRect">
            <a:avLst/>
          </a:prstGeom>
          <a:solidFill>
            <a:schemeClr val="accent2">
              <a:lumMod val="20000"/>
              <a:lumOff val="80000"/>
            </a:schemeClr>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Other </a:t>
            </a:r>
            <a:r>
              <a:rPr lang="en-IE" sz="1600" dirty="0">
                <a:solidFill>
                  <a:srgbClr val="C00000"/>
                </a:solidFill>
                <a:latin typeface="Calibri" panose="020F0502020204030204"/>
              </a:rPr>
              <a:t>energy and non-energy </a:t>
            </a:r>
            <a:r>
              <a:rPr kumimoji="0" lang="en-IE" sz="1600" b="0" i="0" u="none" strike="noStrike" kern="1200" cap="none" spc="0" normalizeH="0" baseline="0" noProof="0" dirty="0" err="1">
                <a:ln>
                  <a:noFill/>
                </a:ln>
                <a:solidFill>
                  <a:srgbClr val="C00000"/>
                </a:solidFill>
                <a:effectLst/>
                <a:uLnTx/>
                <a:uFillTx/>
                <a:latin typeface="Calibri" panose="020F0502020204030204"/>
                <a:ea typeface="+mn-ea"/>
                <a:cs typeface="+mn-cs"/>
              </a:rPr>
              <a:t>PaMs</a:t>
            </a: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[e.g. Ag, LULUCF, Renewables]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pic>
        <p:nvPicPr>
          <p:cNvPr id="9" name="Picture 8" descr="A green square with a white x on it&#10;&#10;Description automatically generated">
            <a:extLst>
              <a:ext uri="{FF2B5EF4-FFF2-40B4-BE49-F238E27FC236}">
                <a16:creationId xmlns:a16="http://schemas.microsoft.com/office/drawing/2014/main" id="{DCD7D6A5-3693-08C1-E3D7-DCD546F3AC0F}"/>
              </a:ext>
            </a:extLst>
          </p:cNvPr>
          <p:cNvPicPr>
            <a:picLocks noChangeAspect="1"/>
          </p:cNvPicPr>
          <p:nvPr/>
        </p:nvPicPr>
        <p:blipFill>
          <a:blip r:embed="rId3"/>
          <a:stretch>
            <a:fillRect/>
          </a:stretch>
        </p:blipFill>
        <p:spPr>
          <a:xfrm>
            <a:off x="5184680" y="2982206"/>
            <a:ext cx="523359" cy="488469"/>
          </a:xfrm>
          <a:prstGeom prst="rect">
            <a:avLst/>
          </a:prstGeom>
        </p:spPr>
      </p:pic>
      <p:pic>
        <p:nvPicPr>
          <p:cNvPr id="10" name="Picture 2">
            <a:extLst>
              <a:ext uri="{FF2B5EF4-FFF2-40B4-BE49-F238E27FC236}">
                <a16:creationId xmlns:a16="http://schemas.microsoft.com/office/drawing/2014/main" id="{38FE6379-1976-7C17-A15C-99AF2EF52B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9674" y="2981075"/>
            <a:ext cx="502154" cy="4896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green square with a white x on it&#10;&#10;Description automatically generated">
            <a:extLst>
              <a:ext uri="{FF2B5EF4-FFF2-40B4-BE49-F238E27FC236}">
                <a16:creationId xmlns:a16="http://schemas.microsoft.com/office/drawing/2014/main" id="{2A33A5E3-0D8C-E2FB-1D7B-FFC5F11639E4}"/>
              </a:ext>
            </a:extLst>
          </p:cNvPr>
          <p:cNvPicPr>
            <a:picLocks noChangeAspect="1"/>
          </p:cNvPicPr>
          <p:nvPr/>
        </p:nvPicPr>
        <p:blipFill>
          <a:blip r:embed="rId3"/>
          <a:stretch>
            <a:fillRect/>
          </a:stretch>
        </p:blipFill>
        <p:spPr>
          <a:xfrm>
            <a:off x="4441772" y="698505"/>
            <a:ext cx="523359" cy="488469"/>
          </a:xfrm>
          <a:prstGeom prst="rect">
            <a:avLst/>
          </a:prstGeom>
        </p:spPr>
      </p:pic>
      <p:pic>
        <p:nvPicPr>
          <p:cNvPr id="14" name="Picture 13" descr="A green square with a white x on it&#10;&#10;Description automatically generated">
            <a:extLst>
              <a:ext uri="{FF2B5EF4-FFF2-40B4-BE49-F238E27FC236}">
                <a16:creationId xmlns:a16="http://schemas.microsoft.com/office/drawing/2014/main" id="{5B97A313-5110-92B0-1368-2960EAFAC837}"/>
              </a:ext>
            </a:extLst>
          </p:cNvPr>
          <p:cNvPicPr>
            <a:picLocks noChangeAspect="1"/>
          </p:cNvPicPr>
          <p:nvPr/>
        </p:nvPicPr>
        <p:blipFill>
          <a:blip r:embed="rId3"/>
          <a:stretch>
            <a:fillRect/>
          </a:stretch>
        </p:blipFill>
        <p:spPr>
          <a:xfrm>
            <a:off x="6956736" y="659376"/>
            <a:ext cx="523359" cy="488469"/>
          </a:xfrm>
          <a:prstGeom prst="rect">
            <a:avLst/>
          </a:prstGeom>
        </p:spPr>
      </p:pic>
      <p:pic>
        <p:nvPicPr>
          <p:cNvPr id="22" name="Picture 21" descr="A green square with a white x on it&#10;&#10;Description automatically generated">
            <a:extLst>
              <a:ext uri="{FF2B5EF4-FFF2-40B4-BE49-F238E27FC236}">
                <a16:creationId xmlns:a16="http://schemas.microsoft.com/office/drawing/2014/main" id="{16D0C2E1-6A08-77CB-CD00-5AFF2FC26FCC}"/>
              </a:ext>
            </a:extLst>
          </p:cNvPr>
          <p:cNvPicPr>
            <a:picLocks noChangeAspect="1"/>
          </p:cNvPicPr>
          <p:nvPr/>
        </p:nvPicPr>
        <p:blipFill>
          <a:blip r:embed="rId3"/>
          <a:stretch>
            <a:fillRect/>
          </a:stretch>
        </p:blipFill>
        <p:spPr>
          <a:xfrm>
            <a:off x="6300484" y="662539"/>
            <a:ext cx="523359" cy="488469"/>
          </a:xfrm>
          <a:prstGeom prst="rect">
            <a:avLst/>
          </a:prstGeom>
        </p:spPr>
      </p:pic>
      <p:pic>
        <p:nvPicPr>
          <p:cNvPr id="23" name="Picture 22" descr="A green square with a white x on it&#10;&#10;Description automatically generated">
            <a:extLst>
              <a:ext uri="{FF2B5EF4-FFF2-40B4-BE49-F238E27FC236}">
                <a16:creationId xmlns:a16="http://schemas.microsoft.com/office/drawing/2014/main" id="{5A45FA8F-EF5E-F396-1475-DB01C0847F78}"/>
              </a:ext>
            </a:extLst>
          </p:cNvPr>
          <p:cNvPicPr>
            <a:picLocks noChangeAspect="1"/>
          </p:cNvPicPr>
          <p:nvPr/>
        </p:nvPicPr>
        <p:blipFill>
          <a:blip r:embed="rId3"/>
          <a:stretch>
            <a:fillRect/>
          </a:stretch>
        </p:blipFill>
        <p:spPr>
          <a:xfrm>
            <a:off x="7612988" y="655555"/>
            <a:ext cx="523359" cy="488469"/>
          </a:xfrm>
          <a:prstGeom prst="rect">
            <a:avLst/>
          </a:prstGeom>
        </p:spPr>
      </p:pic>
      <p:pic>
        <p:nvPicPr>
          <p:cNvPr id="31" name="Picture 30" descr="A green square with a white x on it&#10;&#10;Description automatically generated">
            <a:extLst>
              <a:ext uri="{FF2B5EF4-FFF2-40B4-BE49-F238E27FC236}">
                <a16:creationId xmlns:a16="http://schemas.microsoft.com/office/drawing/2014/main" id="{C6B855DF-7BC6-8AD3-1ADA-A81B1FB03D3E}"/>
              </a:ext>
            </a:extLst>
          </p:cNvPr>
          <p:cNvPicPr>
            <a:picLocks noChangeAspect="1"/>
          </p:cNvPicPr>
          <p:nvPr/>
        </p:nvPicPr>
        <p:blipFill>
          <a:blip r:embed="rId3"/>
          <a:stretch>
            <a:fillRect/>
          </a:stretch>
        </p:blipFill>
        <p:spPr>
          <a:xfrm>
            <a:off x="10001859" y="3855091"/>
            <a:ext cx="523359" cy="488469"/>
          </a:xfrm>
          <a:prstGeom prst="rect">
            <a:avLst/>
          </a:prstGeom>
        </p:spPr>
      </p:pic>
      <p:pic>
        <p:nvPicPr>
          <p:cNvPr id="32" name="Picture 31" descr="A green square with a white x on it&#10;&#10;Description automatically generated">
            <a:extLst>
              <a:ext uri="{FF2B5EF4-FFF2-40B4-BE49-F238E27FC236}">
                <a16:creationId xmlns:a16="http://schemas.microsoft.com/office/drawing/2014/main" id="{1858492A-BF98-5D39-4F71-19C0880556D0}"/>
              </a:ext>
            </a:extLst>
          </p:cNvPr>
          <p:cNvPicPr>
            <a:picLocks noChangeAspect="1"/>
          </p:cNvPicPr>
          <p:nvPr/>
        </p:nvPicPr>
        <p:blipFill>
          <a:blip r:embed="rId3"/>
          <a:stretch>
            <a:fillRect/>
          </a:stretch>
        </p:blipFill>
        <p:spPr>
          <a:xfrm>
            <a:off x="9345607" y="3858254"/>
            <a:ext cx="523359" cy="488469"/>
          </a:xfrm>
          <a:prstGeom prst="rect">
            <a:avLst/>
          </a:prstGeom>
        </p:spPr>
      </p:pic>
      <p:pic>
        <p:nvPicPr>
          <p:cNvPr id="35" name="Picture 34" descr="A green square with a white x on it&#10;&#10;Description automatically generated">
            <a:extLst>
              <a:ext uri="{FF2B5EF4-FFF2-40B4-BE49-F238E27FC236}">
                <a16:creationId xmlns:a16="http://schemas.microsoft.com/office/drawing/2014/main" id="{B86EF641-3D0C-93ED-FF93-5F4A9D570588}"/>
              </a:ext>
            </a:extLst>
          </p:cNvPr>
          <p:cNvPicPr>
            <a:picLocks noChangeAspect="1"/>
          </p:cNvPicPr>
          <p:nvPr/>
        </p:nvPicPr>
        <p:blipFill>
          <a:blip r:embed="rId3"/>
          <a:stretch>
            <a:fillRect/>
          </a:stretch>
        </p:blipFill>
        <p:spPr>
          <a:xfrm>
            <a:off x="10658111" y="3851270"/>
            <a:ext cx="523359" cy="488469"/>
          </a:xfrm>
          <a:prstGeom prst="rect">
            <a:avLst/>
          </a:prstGeom>
        </p:spPr>
      </p:pic>
    </p:spTree>
    <p:extLst>
      <p:ext uri="{BB962C8B-B14F-4D97-AF65-F5344CB8AC3E}">
        <p14:creationId xmlns:p14="http://schemas.microsoft.com/office/powerpoint/2010/main" val="3760428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9C43C-6B95-517B-2C19-93D5674E7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DCECA-05A7-C2DF-0055-D4F704AA8995}"/>
              </a:ext>
            </a:extLst>
          </p:cNvPr>
          <p:cNvSpPr>
            <a:spLocks noGrp="1"/>
          </p:cNvSpPr>
          <p:nvPr>
            <p:ph type="title"/>
          </p:nvPr>
        </p:nvSpPr>
        <p:spPr/>
        <p:txBody>
          <a:bodyPr/>
          <a:lstStyle/>
          <a:p>
            <a:r>
              <a:rPr lang="en-IE" dirty="0" err="1"/>
              <a:t>PaMs</a:t>
            </a:r>
            <a:r>
              <a:rPr lang="en-IE" dirty="0"/>
              <a:t> tool</a:t>
            </a:r>
          </a:p>
        </p:txBody>
      </p:sp>
      <p:sp>
        <p:nvSpPr>
          <p:cNvPr id="4" name="Content Placeholder 3">
            <a:extLst>
              <a:ext uri="{FF2B5EF4-FFF2-40B4-BE49-F238E27FC236}">
                <a16:creationId xmlns:a16="http://schemas.microsoft.com/office/drawing/2014/main" id="{F1D6EF2B-285D-B76F-FF66-79C042776AA4}"/>
              </a:ext>
            </a:extLst>
          </p:cNvPr>
          <p:cNvSpPr txBox="1">
            <a:spLocks/>
          </p:cNvSpPr>
          <p:nvPr/>
        </p:nvSpPr>
        <p:spPr>
          <a:xfrm>
            <a:off x="542693" y="1821615"/>
            <a:ext cx="7820721" cy="4463696"/>
          </a:xfrm>
          <a:prstGeom prst="rect">
            <a:avLst/>
          </a:prstGeom>
        </p:spPr>
        <p:txBody>
          <a:bodyPr lIns="0" tIns="0" rIns="0" bIns="0" anchor="t" anchorCtr="0"/>
          <a:lstStyle>
            <a:lvl1pPr marL="479976"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1pPr>
            <a:lvl2pPr marL="959952"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2pPr>
            <a:lvl3pPr marL="1439928"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3pPr>
            <a:lvl4pPr marL="1919904"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4pPr>
            <a:lvl5pPr marL="2399880"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600"/>
              </a:spcAft>
            </a:pPr>
            <a:r>
              <a:rPr lang="en-IE" sz="1800" dirty="0"/>
              <a:t>In 2015, EPA commissioned Aether to create a </a:t>
            </a:r>
            <a:r>
              <a:rPr lang="en-IE" sz="1800" dirty="0" err="1"/>
              <a:t>PaMs</a:t>
            </a:r>
            <a:r>
              <a:rPr lang="en-IE" sz="1800" dirty="0"/>
              <a:t> tool for calculation and collation of energy </a:t>
            </a:r>
            <a:r>
              <a:rPr lang="en-IE" sz="1800" dirty="0" err="1"/>
              <a:t>PaMs</a:t>
            </a:r>
            <a:r>
              <a:rPr lang="en-IE" sz="1800" dirty="0"/>
              <a:t> </a:t>
            </a:r>
          </a:p>
          <a:p>
            <a:pPr lvl="1">
              <a:spcAft>
                <a:spcPts val="1000"/>
              </a:spcAft>
              <a:buFont typeface="Arial" panose="020B0604020202020204" pitchFamily="34" charset="0"/>
              <a:buChar char="•"/>
            </a:pPr>
            <a:r>
              <a:rPr lang="en-IE" sz="1700" dirty="0"/>
              <a:t>Tool updated in 2019 to generate savings from Ireland's energy </a:t>
            </a:r>
            <a:r>
              <a:rPr lang="en-IE" sz="1700" dirty="0" err="1"/>
              <a:t>PaMs</a:t>
            </a:r>
            <a:r>
              <a:rPr lang="en-IE" sz="1700" dirty="0"/>
              <a:t> for reporting under the Monitoring Mechanism Regulation</a:t>
            </a:r>
          </a:p>
          <a:p>
            <a:pPr>
              <a:spcAft>
                <a:spcPts val="600"/>
              </a:spcAft>
              <a:buFont typeface="Wingdings" panose="05000000000000000000" pitchFamily="2" charset="2"/>
              <a:buChar char="§"/>
            </a:pPr>
            <a:r>
              <a:rPr lang="en-IE" sz="1800" dirty="0"/>
              <a:t>GHG and air pollutant emissions savings calculated based on data from SEAI</a:t>
            </a:r>
          </a:p>
          <a:p>
            <a:pPr lvl="1">
              <a:spcAft>
                <a:spcPts val="600"/>
              </a:spcAft>
              <a:buFont typeface="Arial" panose="020B0604020202020204" pitchFamily="34" charset="0"/>
              <a:buChar char="•"/>
            </a:pPr>
            <a:r>
              <a:rPr lang="en-IE" sz="1700" dirty="0"/>
              <a:t>Energy savings (TWh/year) for each </a:t>
            </a:r>
            <a:r>
              <a:rPr lang="en-IE" sz="1700" dirty="0" err="1"/>
              <a:t>PaM</a:t>
            </a:r>
            <a:r>
              <a:rPr lang="en-IE" sz="1700" dirty="0"/>
              <a:t>, by fuel group</a:t>
            </a:r>
          </a:p>
          <a:p>
            <a:pPr lvl="1">
              <a:spcAft>
                <a:spcPts val="600"/>
              </a:spcAft>
              <a:buFont typeface="Arial" panose="020B0604020202020204" pitchFamily="34" charset="0"/>
              <a:buChar char="•"/>
            </a:pPr>
            <a:r>
              <a:rPr lang="en-IE" sz="1700" dirty="0"/>
              <a:t>Fuel splits for each </a:t>
            </a:r>
            <a:r>
              <a:rPr lang="en-IE" sz="1700" dirty="0" err="1"/>
              <a:t>PaM</a:t>
            </a:r>
            <a:r>
              <a:rPr lang="en-IE" sz="1700" dirty="0"/>
              <a:t>, as percentage across solid fossil fuel, oil, gas, electricity, renewables </a:t>
            </a:r>
          </a:p>
          <a:p>
            <a:pPr lvl="1">
              <a:spcAft>
                <a:spcPts val="1000"/>
              </a:spcAft>
              <a:buFont typeface="Arial" panose="020B0604020202020204" pitchFamily="34" charset="0"/>
              <a:buChar char="•"/>
            </a:pPr>
            <a:r>
              <a:rPr lang="en-US" sz="1700" dirty="0"/>
              <a:t>Sectors allocated to each </a:t>
            </a:r>
            <a:r>
              <a:rPr lang="en-US" sz="1700" dirty="0" err="1"/>
              <a:t>PaM</a:t>
            </a:r>
            <a:r>
              <a:rPr lang="en-US" sz="1700" dirty="0"/>
              <a:t> from industry, residential, services and transport</a:t>
            </a:r>
          </a:p>
          <a:p>
            <a:pPr marL="479976" lvl="1">
              <a:spcAft>
                <a:spcPts val="1000"/>
              </a:spcAft>
              <a:buFont typeface="Wingdings" panose="05000000000000000000" pitchFamily="2" charset="2"/>
              <a:buChar char="§"/>
            </a:pPr>
            <a:r>
              <a:rPr lang="en-IE" sz="1800" dirty="0"/>
              <a:t>Emission factors applied to energy savings specific to sector, fuel and year</a:t>
            </a:r>
            <a:endParaRPr lang="en-US" sz="1800" dirty="0"/>
          </a:p>
          <a:p>
            <a:pPr marL="0" indent="0">
              <a:buFont typeface="Wingdings" charset="2"/>
              <a:buNone/>
            </a:pPr>
            <a:endParaRPr lang="en-IE" strike="sngStrike" dirty="0"/>
          </a:p>
        </p:txBody>
      </p:sp>
      <p:pic>
        <p:nvPicPr>
          <p:cNvPr id="5" name="Content Placeholder 7">
            <a:hlinkClick r:id="rId3" action="ppaction://hlinkfile"/>
            <a:extLst>
              <a:ext uri="{FF2B5EF4-FFF2-40B4-BE49-F238E27FC236}">
                <a16:creationId xmlns:a16="http://schemas.microsoft.com/office/drawing/2014/main" id="{AE3D2459-F1C3-83C8-79CD-C9B487F294A4}"/>
              </a:ext>
            </a:extLst>
          </p:cNvPr>
          <p:cNvPicPr>
            <a:picLocks noChangeAspect="1"/>
          </p:cNvPicPr>
          <p:nvPr/>
        </p:nvPicPr>
        <p:blipFill>
          <a:blip r:embed="rId4"/>
          <a:srcRect r="6059"/>
          <a:stretch/>
        </p:blipFill>
        <p:spPr>
          <a:xfrm>
            <a:off x="8800963" y="1799313"/>
            <a:ext cx="3096719" cy="395968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7576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252F6-C3C3-C5D0-F6A9-2D49CA8CA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8E9DA-2B7F-464C-F5DB-8A204533EA31}"/>
              </a:ext>
            </a:extLst>
          </p:cNvPr>
          <p:cNvSpPr>
            <a:spLocks noGrp="1"/>
          </p:cNvSpPr>
          <p:nvPr>
            <p:ph type="title"/>
          </p:nvPr>
        </p:nvSpPr>
        <p:spPr/>
        <p:txBody>
          <a:bodyPr/>
          <a:lstStyle/>
          <a:p>
            <a:r>
              <a:rPr lang="en-IE" dirty="0" err="1"/>
              <a:t>PaMs</a:t>
            </a:r>
            <a:r>
              <a:rPr lang="en-IE" dirty="0"/>
              <a:t> tool</a:t>
            </a:r>
          </a:p>
        </p:txBody>
      </p:sp>
      <p:sp>
        <p:nvSpPr>
          <p:cNvPr id="4" name="Content Placeholder 3">
            <a:extLst>
              <a:ext uri="{FF2B5EF4-FFF2-40B4-BE49-F238E27FC236}">
                <a16:creationId xmlns:a16="http://schemas.microsoft.com/office/drawing/2014/main" id="{A6B709CF-37E5-6678-1184-83A1356CD5C3}"/>
              </a:ext>
            </a:extLst>
          </p:cNvPr>
          <p:cNvSpPr txBox="1">
            <a:spLocks/>
          </p:cNvSpPr>
          <p:nvPr/>
        </p:nvSpPr>
        <p:spPr>
          <a:xfrm>
            <a:off x="542693" y="1665501"/>
            <a:ext cx="10385501" cy="4463696"/>
          </a:xfrm>
          <a:prstGeom prst="rect">
            <a:avLst/>
          </a:prstGeom>
        </p:spPr>
        <p:txBody>
          <a:bodyPr lIns="0" tIns="0" rIns="0" bIns="0" anchor="t" anchorCtr="0"/>
          <a:lstStyle>
            <a:lvl1pPr marL="479976"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1pPr>
            <a:lvl2pPr marL="959952"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2pPr>
            <a:lvl3pPr marL="1439928"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3pPr>
            <a:lvl4pPr marL="1919904"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4pPr>
            <a:lvl5pPr marL="2399880"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600"/>
              </a:spcAft>
            </a:pPr>
            <a:r>
              <a:rPr lang="en-IE" sz="1800" dirty="0"/>
              <a:t>The </a:t>
            </a:r>
            <a:r>
              <a:rPr lang="en-IE" sz="1800" dirty="0" err="1"/>
              <a:t>PaMs</a:t>
            </a:r>
            <a:r>
              <a:rPr lang="en-IE" sz="1800" dirty="0"/>
              <a:t> tool is based in an Excel workbook </a:t>
            </a:r>
          </a:p>
          <a:p>
            <a:pPr lvl="1">
              <a:spcAft>
                <a:spcPts val="1000"/>
              </a:spcAft>
              <a:buFont typeface="Arial" panose="020B0604020202020204" pitchFamily="34" charset="0"/>
              <a:buChar char="•"/>
            </a:pPr>
            <a:r>
              <a:rPr lang="en-IE" sz="1800" dirty="0"/>
              <a:t>uses the data manipulation functionalities of a relational database (Microsoft Access) to generate GHG and air quality emissions savings </a:t>
            </a:r>
          </a:p>
          <a:p>
            <a:pPr>
              <a:spcAft>
                <a:spcPts val="600"/>
              </a:spcAft>
              <a:buFont typeface="Wingdings" panose="05000000000000000000" pitchFamily="2" charset="2"/>
              <a:buChar char="§"/>
            </a:pPr>
            <a:r>
              <a:rPr lang="en-IE" sz="1800" dirty="0"/>
              <a:t>The tool includes two components:</a:t>
            </a:r>
          </a:p>
          <a:p>
            <a:pPr lvl="2">
              <a:spcAft>
                <a:spcPts val="600"/>
              </a:spcAft>
              <a:buFont typeface="+mj-lt"/>
              <a:buAutoNum type="arabicPeriod"/>
            </a:pPr>
            <a:r>
              <a:rPr lang="en-IE" sz="1800" b="1" dirty="0"/>
              <a:t>Excel workbook</a:t>
            </a:r>
          </a:p>
          <a:p>
            <a:pPr lvl="3">
              <a:spcAft>
                <a:spcPts val="600"/>
              </a:spcAft>
              <a:buFont typeface="Arial" panose="020B0604020202020204" pitchFamily="34" charset="0"/>
              <a:buChar char="•"/>
            </a:pPr>
            <a:r>
              <a:rPr lang="en-IE" sz="1800" dirty="0"/>
              <a:t>to manage input data and gather output data</a:t>
            </a:r>
          </a:p>
          <a:p>
            <a:pPr lvl="3">
              <a:spcAft>
                <a:spcPts val="600"/>
              </a:spcAft>
              <a:buFont typeface="Arial" panose="020B0604020202020204" pitchFamily="34" charset="0"/>
              <a:buChar char="•"/>
            </a:pPr>
            <a:r>
              <a:rPr lang="en-IE" sz="1800" dirty="0"/>
              <a:t>linked to the Access database and includes the output data through links to the database using Excel pivot tables</a:t>
            </a:r>
          </a:p>
          <a:p>
            <a:pPr lvl="2">
              <a:spcAft>
                <a:spcPts val="600"/>
              </a:spcAft>
              <a:buFont typeface="+mj-lt"/>
              <a:buAutoNum type="arabicPeriod"/>
            </a:pPr>
            <a:r>
              <a:rPr lang="en-IE" sz="1800" b="1" dirty="0"/>
              <a:t>Access database</a:t>
            </a:r>
          </a:p>
          <a:p>
            <a:pPr lvl="3">
              <a:spcAft>
                <a:spcPts val="600"/>
              </a:spcAft>
              <a:buFont typeface="Arial" panose="020B0604020202020204" pitchFamily="34" charset="0"/>
              <a:buChar char="•"/>
            </a:pPr>
            <a:r>
              <a:rPr lang="en-IE" sz="1800" dirty="0"/>
              <a:t>functions in the background to complete the data table joining and combining tasks</a:t>
            </a:r>
          </a:p>
          <a:p>
            <a:pPr lvl="3">
              <a:spcAft>
                <a:spcPts val="600"/>
              </a:spcAft>
              <a:buFont typeface="Arial" panose="020B0604020202020204" pitchFamily="34" charset="0"/>
              <a:buChar char="•"/>
            </a:pPr>
            <a:r>
              <a:rPr lang="en-IE" sz="1800" dirty="0"/>
              <a:t>performs queries on the input data taken from the Excel workbook, the results of which are included in the Excel workbook </a:t>
            </a:r>
          </a:p>
          <a:p>
            <a:pPr lvl="3">
              <a:spcAft>
                <a:spcPts val="600"/>
              </a:spcAft>
              <a:buFont typeface="Arial" panose="020B0604020202020204" pitchFamily="34" charset="0"/>
              <a:buChar char="•"/>
            </a:pPr>
            <a:r>
              <a:rPr lang="en-IE" sz="1800" dirty="0"/>
              <a:t>the Access database does not need to be open to update results </a:t>
            </a:r>
          </a:p>
        </p:txBody>
      </p:sp>
      <p:pic>
        <p:nvPicPr>
          <p:cNvPr id="3" name="Picture 2">
            <a:extLst>
              <a:ext uri="{FF2B5EF4-FFF2-40B4-BE49-F238E27FC236}">
                <a16:creationId xmlns:a16="http://schemas.microsoft.com/office/drawing/2014/main" id="{C7D04CBA-66BE-20A0-AE28-388AD2492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147" y="4919904"/>
            <a:ext cx="762000" cy="7429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green square with a white x on it&#10;&#10;Description automatically generated">
            <a:extLst>
              <a:ext uri="{FF2B5EF4-FFF2-40B4-BE49-F238E27FC236}">
                <a16:creationId xmlns:a16="http://schemas.microsoft.com/office/drawing/2014/main" id="{8FE7728F-175C-5A38-92AC-2029EBF314B9}"/>
              </a:ext>
            </a:extLst>
          </p:cNvPr>
          <p:cNvPicPr>
            <a:picLocks noChangeAspect="1"/>
          </p:cNvPicPr>
          <p:nvPr/>
        </p:nvPicPr>
        <p:blipFill>
          <a:blip r:embed="rId4"/>
          <a:stretch>
            <a:fillRect/>
          </a:stretch>
        </p:blipFill>
        <p:spPr>
          <a:xfrm>
            <a:off x="576147" y="3384310"/>
            <a:ext cx="762000" cy="711201"/>
          </a:xfrm>
          <a:prstGeom prst="rect">
            <a:avLst/>
          </a:prstGeom>
        </p:spPr>
      </p:pic>
    </p:spTree>
    <p:extLst>
      <p:ext uri="{BB962C8B-B14F-4D97-AF65-F5344CB8AC3E}">
        <p14:creationId xmlns:p14="http://schemas.microsoft.com/office/powerpoint/2010/main" val="3337607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868DA-8A5E-C2EB-EA98-511EF9B172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6DF5A9-DA0E-91DC-047F-AF1CB40D7C0D}"/>
              </a:ext>
            </a:extLst>
          </p:cNvPr>
          <p:cNvSpPr txBox="1"/>
          <p:nvPr/>
        </p:nvSpPr>
        <p:spPr>
          <a:xfrm>
            <a:off x="3496006" y="272647"/>
            <a:ext cx="2414892" cy="1021556"/>
          </a:xfrm>
          <a:prstGeom prst="roundRect">
            <a:avLst/>
          </a:prstGeom>
          <a:solidFill>
            <a:schemeClr val="accent4">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SEAI energy savings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F11137D-1B23-B2C1-598E-D14EB9111929}"/>
              </a:ext>
            </a:extLst>
          </p:cNvPr>
          <p:cNvSpPr txBox="1"/>
          <p:nvPr/>
        </p:nvSpPr>
        <p:spPr>
          <a:xfrm>
            <a:off x="6078785" y="272646"/>
            <a:ext cx="2414892" cy="1021556"/>
          </a:xfrm>
          <a:prstGeom prst="roundRect">
            <a:avLst/>
          </a:prstGeom>
          <a:solidFill>
            <a:schemeClr val="accent5">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EPA Emission Factors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Cylinder 7">
            <a:extLst>
              <a:ext uri="{FF2B5EF4-FFF2-40B4-BE49-F238E27FC236}">
                <a16:creationId xmlns:a16="http://schemas.microsoft.com/office/drawing/2014/main" id="{FD8BB49F-A3C5-4454-FCC7-DEFF4AC31C79}"/>
              </a:ext>
            </a:extLst>
          </p:cNvPr>
          <p:cNvSpPr/>
          <p:nvPr/>
        </p:nvSpPr>
        <p:spPr>
          <a:xfrm>
            <a:off x="4640684" y="2372130"/>
            <a:ext cx="2277980" cy="1212225"/>
          </a:xfrm>
          <a:prstGeom prst="can">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PaMs Tool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8369DC61-3739-9FDE-E366-4AD0BC9D74B7}"/>
              </a:ext>
            </a:extLst>
          </p:cNvPr>
          <p:cNvSpPr txBox="1"/>
          <p:nvPr/>
        </p:nvSpPr>
        <p:spPr>
          <a:xfrm>
            <a:off x="4769022" y="4142109"/>
            <a:ext cx="2149642" cy="584775"/>
          </a:xfrm>
          <a:prstGeom prst="rect">
            <a:avLst/>
          </a:prstGeom>
          <a:noFill/>
          <a:ln>
            <a:solidFill>
              <a:schemeClr val="tx1"/>
            </a:solidFill>
            <a:prstDash val="sysDash"/>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Data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[MS Excel]</a:t>
            </a:r>
          </a:p>
        </p:txBody>
      </p:sp>
      <p:sp>
        <p:nvSpPr>
          <p:cNvPr id="34" name="Cylinder 33">
            <a:extLst>
              <a:ext uri="{FF2B5EF4-FFF2-40B4-BE49-F238E27FC236}">
                <a16:creationId xmlns:a16="http://schemas.microsoft.com/office/drawing/2014/main" id="{C42A7DF1-5AFE-FE71-50B5-CB84211F7FB3}"/>
              </a:ext>
            </a:extLst>
          </p:cNvPr>
          <p:cNvSpPr/>
          <p:nvPr/>
        </p:nvSpPr>
        <p:spPr>
          <a:xfrm>
            <a:off x="3878686" y="5257361"/>
            <a:ext cx="1848851" cy="1088692"/>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a:t>
            </a:r>
            <a:r>
              <a:rPr kumimoji="0" lang="en-IE" sz="1600" b="0" i="0" u="none" strike="noStrike" kern="1200" cap="none" spc="0" normalizeH="0" baseline="0" noProof="0" dirty="0" err="1">
                <a:ln>
                  <a:noFill/>
                </a:ln>
                <a:solidFill>
                  <a:prstClr val="black"/>
                </a:solidFill>
                <a:effectLst/>
                <a:uLnTx/>
                <a:uFillTx/>
                <a:latin typeface="Calibri" panose="020F0502020204030204"/>
                <a:ea typeface="+mn-ea"/>
                <a:cs typeface="+mn-cs"/>
              </a:rPr>
              <a:t>PaMs</a:t>
            </a: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 attributes and progress)</a:t>
            </a:r>
          </a:p>
        </p:txBody>
      </p:sp>
      <p:cxnSp>
        <p:nvCxnSpPr>
          <p:cNvPr id="36" name="Straight Arrow Connector 35">
            <a:extLst>
              <a:ext uri="{FF2B5EF4-FFF2-40B4-BE49-F238E27FC236}">
                <a16:creationId xmlns:a16="http://schemas.microsoft.com/office/drawing/2014/main" id="{16B222A5-11F3-64F3-3433-D4F36BCCB5C3}"/>
              </a:ext>
            </a:extLst>
          </p:cNvPr>
          <p:cNvCxnSpPr>
            <a:cxnSpLocks/>
          </p:cNvCxnSpPr>
          <p:nvPr/>
        </p:nvCxnSpPr>
        <p:spPr>
          <a:xfrm>
            <a:off x="5779674" y="3584355"/>
            <a:ext cx="0" cy="48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81E893E-57B7-B5FC-C447-6BFDE6DC1C5D}"/>
              </a:ext>
            </a:extLst>
          </p:cNvPr>
          <p:cNvCxnSpPr>
            <a:cxnSpLocks/>
          </p:cNvCxnSpPr>
          <p:nvPr/>
        </p:nvCxnSpPr>
        <p:spPr>
          <a:xfrm flipH="1">
            <a:off x="5184680" y="4726884"/>
            <a:ext cx="422036"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584807C7-1639-DB3B-8907-8B6B929DEA6C}"/>
              </a:ext>
            </a:extLst>
          </p:cNvPr>
          <p:cNvSpPr/>
          <p:nvPr/>
        </p:nvSpPr>
        <p:spPr>
          <a:xfrm>
            <a:off x="3366839" y="171806"/>
            <a:ext cx="5237747" cy="1178768"/>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TextBox 53">
            <a:extLst>
              <a:ext uri="{FF2B5EF4-FFF2-40B4-BE49-F238E27FC236}">
                <a16:creationId xmlns:a16="http://schemas.microsoft.com/office/drawing/2014/main" id="{4B8BFF3E-7642-3328-3729-58EA42F3A8B9}"/>
              </a:ext>
            </a:extLst>
          </p:cNvPr>
          <p:cNvSpPr txBox="1"/>
          <p:nvPr/>
        </p:nvSpPr>
        <p:spPr>
          <a:xfrm>
            <a:off x="4844897" y="1440268"/>
            <a:ext cx="19789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Extract, Transform, Load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(Mostly manual)</a:t>
            </a:r>
          </a:p>
        </p:txBody>
      </p:sp>
      <p:sp>
        <p:nvSpPr>
          <p:cNvPr id="59" name="TextBox 58">
            <a:extLst>
              <a:ext uri="{FF2B5EF4-FFF2-40B4-BE49-F238E27FC236}">
                <a16:creationId xmlns:a16="http://schemas.microsoft.com/office/drawing/2014/main" id="{DF40D39F-BD7D-6841-80B6-D7741230866D}"/>
              </a:ext>
            </a:extLst>
          </p:cNvPr>
          <p:cNvSpPr txBox="1"/>
          <p:nvPr/>
        </p:nvSpPr>
        <p:spPr>
          <a:xfrm>
            <a:off x="5508965" y="4914997"/>
            <a:ext cx="73793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Load</a:t>
            </a:r>
            <a:endParaRPr kumimoji="0" lang="en-IE" sz="1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77" name="Cylinder 76">
            <a:extLst>
              <a:ext uri="{FF2B5EF4-FFF2-40B4-BE49-F238E27FC236}">
                <a16:creationId xmlns:a16="http://schemas.microsoft.com/office/drawing/2014/main" id="{21C53926-3ECB-E5B5-0CC9-E6DBBC03831F}"/>
              </a:ext>
            </a:extLst>
          </p:cNvPr>
          <p:cNvSpPr/>
          <p:nvPr/>
        </p:nvSpPr>
        <p:spPr>
          <a:xfrm>
            <a:off x="5972181" y="5257361"/>
            <a:ext cx="1848852" cy="1076088"/>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XIV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(Air Quality)</a:t>
            </a:r>
          </a:p>
        </p:txBody>
      </p:sp>
      <p:cxnSp>
        <p:nvCxnSpPr>
          <p:cNvPr id="78" name="Straight Arrow Connector 77">
            <a:extLst>
              <a:ext uri="{FF2B5EF4-FFF2-40B4-BE49-F238E27FC236}">
                <a16:creationId xmlns:a16="http://schemas.microsoft.com/office/drawing/2014/main" id="{0ADF2E94-1344-FBC9-D0FD-0458F0849210}"/>
              </a:ext>
            </a:extLst>
          </p:cNvPr>
          <p:cNvCxnSpPr>
            <a:cxnSpLocks/>
          </p:cNvCxnSpPr>
          <p:nvPr/>
        </p:nvCxnSpPr>
        <p:spPr>
          <a:xfrm>
            <a:off x="6096000" y="4726884"/>
            <a:ext cx="395545"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angle: Rounded Corners 82">
            <a:extLst>
              <a:ext uri="{FF2B5EF4-FFF2-40B4-BE49-F238E27FC236}">
                <a16:creationId xmlns:a16="http://schemas.microsoft.com/office/drawing/2014/main" id="{F8DA7771-ED1B-624B-14D3-F39636B9B702}"/>
              </a:ext>
            </a:extLst>
          </p:cNvPr>
          <p:cNvSpPr/>
          <p:nvPr/>
        </p:nvSpPr>
        <p:spPr>
          <a:xfrm>
            <a:off x="3766390" y="5207024"/>
            <a:ext cx="4154905" cy="12347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7F791D50-9C5E-78FA-8CE9-AE96970FD728}"/>
              </a:ext>
            </a:extLst>
          </p:cNvPr>
          <p:cNvSpPr txBox="1"/>
          <p:nvPr/>
        </p:nvSpPr>
        <p:spPr>
          <a:xfrm>
            <a:off x="3658985" y="6476322"/>
            <a:ext cx="450382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3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rPr>
              <a:t>Integrated national policies and measures – GovReg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1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endParaRPr>
          </a:p>
        </p:txBody>
      </p:sp>
      <p:cxnSp>
        <p:nvCxnSpPr>
          <p:cNvPr id="122" name="Straight Arrow Connector 121">
            <a:extLst>
              <a:ext uri="{FF2B5EF4-FFF2-40B4-BE49-F238E27FC236}">
                <a16:creationId xmlns:a16="http://schemas.microsoft.com/office/drawing/2014/main" id="{BE6D445F-151A-745A-D461-796B3CEB059D}"/>
              </a:ext>
            </a:extLst>
          </p:cNvPr>
          <p:cNvCxnSpPr>
            <a:cxnSpLocks/>
            <a:endCxn id="33" idx="3"/>
          </p:cNvCxnSpPr>
          <p:nvPr/>
        </p:nvCxnSpPr>
        <p:spPr>
          <a:xfrm flipH="1">
            <a:off x="6918664" y="3470675"/>
            <a:ext cx="2030825" cy="96382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5" name="TextBox 134">
            <a:extLst>
              <a:ext uri="{FF2B5EF4-FFF2-40B4-BE49-F238E27FC236}">
                <a16:creationId xmlns:a16="http://schemas.microsoft.com/office/drawing/2014/main" id="{ED11A952-6741-AA4A-DFDA-9D56AA6A8930}"/>
              </a:ext>
            </a:extLst>
          </p:cNvPr>
          <p:cNvSpPr txBox="1"/>
          <p:nvPr/>
        </p:nvSpPr>
        <p:spPr>
          <a:xfrm>
            <a:off x="5767545" y="3584302"/>
            <a:ext cx="109161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Transform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(Manual)</a:t>
            </a:r>
            <a:r>
              <a:rPr kumimoji="0" lang="en-IE" sz="1400" b="0" i="0" u="none" strike="noStrike" kern="1200" cap="none" spc="0" normalizeH="0" baseline="0" noProof="0" dirty="0">
                <a:ln>
                  <a:noFill/>
                </a:ln>
                <a:solidFill>
                  <a:srgbClr val="4472C4"/>
                </a:solidFill>
                <a:effectLst/>
                <a:uLnTx/>
                <a:uFillTx/>
                <a:latin typeface="Calibri" panose="020F0502020204030204"/>
                <a:ea typeface="+mn-ea"/>
                <a:cs typeface="+mn-cs"/>
              </a:rPr>
              <a:t> </a:t>
            </a:r>
            <a:endParaRPr kumimoji="0" lang="en-IE" sz="1800" b="0"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699177C3-8D65-F428-3671-2736E57818FF}"/>
              </a:ext>
            </a:extLst>
          </p:cNvPr>
          <p:cNvCxnSpPr>
            <a:cxnSpLocks/>
            <a:stCxn id="2" idx="2"/>
          </p:cNvCxnSpPr>
          <p:nvPr/>
        </p:nvCxnSpPr>
        <p:spPr>
          <a:xfrm>
            <a:off x="4703452" y="1294203"/>
            <a:ext cx="543427" cy="1135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343F6EE-0FCF-A9EF-2193-1BA31FCD35B1}"/>
              </a:ext>
            </a:extLst>
          </p:cNvPr>
          <p:cNvCxnSpPr>
            <a:cxnSpLocks/>
          </p:cNvCxnSpPr>
          <p:nvPr/>
        </p:nvCxnSpPr>
        <p:spPr>
          <a:xfrm flipH="1">
            <a:off x="6400800" y="1361418"/>
            <a:ext cx="717544" cy="108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8EDFC0C-E403-6ADA-8A27-3CAF49C81619}"/>
              </a:ext>
            </a:extLst>
          </p:cNvPr>
          <p:cNvSpPr txBox="1"/>
          <p:nvPr/>
        </p:nvSpPr>
        <p:spPr>
          <a:xfrm>
            <a:off x="8949489" y="2602352"/>
            <a:ext cx="2685048" cy="2009061"/>
          </a:xfrm>
          <a:prstGeom prst="roundRect">
            <a:avLst/>
          </a:prstGeom>
          <a:solidFill>
            <a:schemeClr val="accent2">
              <a:lumMod val="20000"/>
              <a:lumOff val="80000"/>
            </a:schemeClr>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Other </a:t>
            </a:r>
            <a:r>
              <a:rPr lang="en-IE" sz="1600" dirty="0">
                <a:solidFill>
                  <a:srgbClr val="C00000"/>
                </a:solidFill>
                <a:latin typeface="Calibri" panose="020F0502020204030204"/>
              </a:rPr>
              <a:t>energy and non-energy </a:t>
            </a:r>
            <a:r>
              <a:rPr kumimoji="0" lang="en-IE" sz="1600" b="0" i="0" u="none" strike="noStrike" kern="1200" cap="none" spc="0" normalizeH="0" baseline="0" noProof="0" dirty="0" err="1">
                <a:ln>
                  <a:noFill/>
                </a:ln>
                <a:solidFill>
                  <a:srgbClr val="C00000"/>
                </a:solidFill>
                <a:effectLst/>
                <a:uLnTx/>
                <a:uFillTx/>
                <a:latin typeface="Calibri" panose="020F0502020204030204"/>
                <a:ea typeface="+mn-ea"/>
                <a:cs typeface="+mn-cs"/>
              </a:rPr>
              <a:t>PaMs</a:t>
            </a: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[e.g. Ag, LULUCF, Renewables]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pic>
        <p:nvPicPr>
          <p:cNvPr id="9" name="Picture 8" descr="A green square with a white x on it&#10;&#10;Description automatically generated">
            <a:extLst>
              <a:ext uri="{FF2B5EF4-FFF2-40B4-BE49-F238E27FC236}">
                <a16:creationId xmlns:a16="http://schemas.microsoft.com/office/drawing/2014/main" id="{C193D2FA-82BA-D144-165C-32A047C6D283}"/>
              </a:ext>
            </a:extLst>
          </p:cNvPr>
          <p:cNvPicPr>
            <a:picLocks noChangeAspect="1"/>
          </p:cNvPicPr>
          <p:nvPr/>
        </p:nvPicPr>
        <p:blipFill>
          <a:blip r:embed="rId3"/>
          <a:stretch>
            <a:fillRect/>
          </a:stretch>
        </p:blipFill>
        <p:spPr>
          <a:xfrm>
            <a:off x="5184680" y="2982206"/>
            <a:ext cx="523359" cy="488469"/>
          </a:xfrm>
          <a:prstGeom prst="rect">
            <a:avLst/>
          </a:prstGeom>
        </p:spPr>
      </p:pic>
      <p:pic>
        <p:nvPicPr>
          <p:cNvPr id="10" name="Picture 2">
            <a:extLst>
              <a:ext uri="{FF2B5EF4-FFF2-40B4-BE49-F238E27FC236}">
                <a16:creationId xmlns:a16="http://schemas.microsoft.com/office/drawing/2014/main" id="{CE149D5D-6B81-186B-7E38-014F21519A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9674" y="2981075"/>
            <a:ext cx="502154" cy="4896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green square with a white x on it&#10;&#10;Description automatically generated">
            <a:extLst>
              <a:ext uri="{FF2B5EF4-FFF2-40B4-BE49-F238E27FC236}">
                <a16:creationId xmlns:a16="http://schemas.microsoft.com/office/drawing/2014/main" id="{EC27F980-391B-6A27-F24E-7C3727EAB143}"/>
              </a:ext>
            </a:extLst>
          </p:cNvPr>
          <p:cNvPicPr>
            <a:picLocks noChangeAspect="1"/>
          </p:cNvPicPr>
          <p:nvPr/>
        </p:nvPicPr>
        <p:blipFill>
          <a:blip r:embed="rId3"/>
          <a:stretch>
            <a:fillRect/>
          </a:stretch>
        </p:blipFill>
        <p:spPr>
          <a:xfrm>
            <a:off x="4441772" y="698505"/>
            <a:ext cx="523359" cy="488469"/>
          </a:xfrm>
          <a:prstGeom prst="rect">
            <a:avLst/>
          </a:prstGeom>
        </p:spPr>
      </p:pic>
      <p:pic>
        <p:nvPicPr>
          <p:cNvPr id="14" name="Picture 13" descr="A green square with a white x on it&#10;&#10;Description automatically generated">
            <a:extLst>
              <a:ext uri="{FF2B5EF4-FFF2-40B4-BE49-F238E27FC236}">
                <a16:creationId xmlns:a16="http://schemas.microsoft.com/office/drawing/2014/main" id="{539C36D8-16DB-18BB-31DB-E674185C2006}"/>
              </a:ext>
            </a:extLst>
          </p:cNvPr>
          <p:cNvPicPr>
            <a:picLocks noChangeAspect="1"/>
          </p:cNvPicPr>
          <p:nvPr/>
        </p:nvPicPr>
        <p:blipFill>
          <a:blip r:embed="rId3"/>
          <a:stretch>
            <a:fillRect/>
          </a:stretch>
        </p:blipFill>
        <p:spPr>
          <a:xfrm>
            <a:off x="6956736" y="659376"/>
            <a:ext cx="523359" cy="488469"/>
          </a:xfrm>
          <a:prstGeom prst="rect">
            <a:avLst/>
          </a:prstGeom>
        </p:spPr>
      </p:pic>
      <p:pic>
        <p:nvPicPr>
          <p:cNvPr id="22" name="Picture 21" descr="A green square with a white x on it&#10;&#10;Description automatically generated">
            <a:extLst>
              <a:ext uri="{FF2B5EF4-FFF2-40B4-BE49-F238E27FC236}">
                <a16:creationId xmlns:a16="http://schemas.microsoft.com/office/drawing/2014/main" id="{DAF3029E-175F-676A-2E0C-0CA3FE77457F}"/>
              </a:ext>
            </a:extLst>
          </p:cNvPr>
          <p:cNvPicPr>
            <a:picLocks noChangeAspect="1"/>
          </p:cNvPicPr>
          <p:nvPr/>
        </p:nvPicPr>
        <p:blipFill>
          <a:blip r:embed="rId3"/>
          <a:stretch>
            <a:fillRect/>
          </a:stretch>
        </p:blipFill>
        <p:spPr>
          <a:xfrm>
            <a:off x="6300484" y="662539"/>
            <a:ext cx="523359" cy="488469"/>
          </a:xfrm>
          <a:prstGeom prst="rect">
            <a:avLst/>
          </a:prstGeom>
        </p:spPr>
      </p:pic>
      <p:pic>
        <p:nvPicPr>
          <p:cNvPr id="23" name="Picture 22" descr="A green square with a white x on it&#10;&#10;Description automatically generated">
            <a:extLst>
              <a:ext uri="{FF2B5EF4-FFF2-40B4-BE49-F238E27FC236}">
                <a16:creationId xmlns:a16="http://schemas.microsoft.com/office/drawing/2014/main" id="{8ED5A294-0D33-EBB3-05E2-BC8CA02036C5}"/>
              </a:ext>
            </a:extLst>
          </p:cNvPr>
          <p:cNvPicPr>
            <a:picLocks noChangeAspect="1"/>
          </p:cNvPicPr>
          <p:nvPr/>
        </p:nvPicPr>
        <p:blipFill>
          <a:blip r:embed="rId3"/>
          <a:stretch>
            <a:fillRect/>
          </a:stretch>
        </p:blipFill>
        <p:spPr>
          <a:xfrm>
            <a:off x="7612988" y="655555"/>
            <a:ext cx="523359" cy="488469"/>
          </a:xfrm>
          <a:prstGeom prst="rect">
            <a:avLst/>
          </a:prstGeom>
        </p:spPr>
      </p:pic>
      <p:pic>
        <p:nvPicPr>
          <p:cNvPr id="31" name="Picture 30" descr="A green square with a white x on it&#10;&#10;Description automatically generated">
            <a:extLst>
              <a:ext uri="{FF2B5EF4-FFF2-40B4-BE49-F238E27FC236}">
                <a16:creationId xmlns:a16="http://schemas.microsoft.com/office/drawing/2014/main" id="{42C5D4C3-E0A6-DF4B-C990-D4FAA5BB5187}"/>
              </a:ext>
            </a:extLst>
          </p:cNvPr>
          <p:cNvPicPr>
            <a:picLocks noChangeAspect="1"/>
          </p:cNvPicPr>
          <p:nvPr/>
        </p:nvPicPr>
        <p:blipFill>
          <a:blip r:embed="rId3"/>
          <a:stretch>
            <a:fillRect/>
          </a:stretch>
        </p:blipFill>
        <p:spPr>
          <a:xfrm>
            <a:off x="10001859" y="3855091"/>
            <a:ext cx="523359" cy="488469"/>
          </a:xfrm>
          <a:prstGeom prst="rect">
            <a:avLst/>
          </a:prstGeom>
        </p:spPr>
      </p:pic>
      <p:pic>
        <p:nvPicPr>
          <p:cNvPr id="32" name="Picture 31" descr="A green square with a white x on it&#10;&#10;Description automatically generated">
            <a:extLst>
              <a:ext uri="{FF2B5EF4-FFF2-40B4-BE49-F238E27FC236}">
                <a16:creationId xmlns:a16="http://schemas.microsoft.com/office/drawing/2014/main" id="{B2014701-C064-58B4-4B56-A88D66DB0F55}"/>
              </a:ext>
            </a:extLst>
          </p:cNvPr>
          <p:cNvPicPr>
            <a:picLocks noChangeAspect="1"/>
          </p:cNvPicPr>
          <p:nvPr/>
        </p:nvPicPr>
        <p:blipFill>
          <a:blip r:embed="rId3"/>
          <a:stretch>
            <a:fillRect/>
          </a:stretch>
        </p:blipFill>
        <p:spPr>
          <a:xfrm>
            <a:off x="9345607" y="3858254"/>
            <a:ext cx="523359" cy="488469"/>
          </a:xfrm>
          <a:prstGeom prst="rect">
            <a:avLst/>
          </a:prstGeom>
        </p:spPr>
      </p:pic>
      <p:pic>
        <p:nvPicPr>
          <p:cNvPr id="35" name="Picture 34" descr="A green square with a white x on it&#10;&#10;Description automatically generated">
            <a:extLst>
              <a:ext uri="{FF2B5EF4-FFF2-40B4-BE49-F238E27FC236}">
                <a16:creationId xmlns:a16="http://schemas.microsoft.com/office/drawing/2014/main" id="{DD52B813-3FF8-F852-5AD7-C294E47189AB}"/>
              </a:ext>
            </a:extLst>
          </p:cNvPr>
          <p:cNvPicPr>
            <a:picLocks noChangeAspect="1"/>
          </p:cNvPicPr>
          <p:nvPr/>
        </p:nvPicPr>
        <p:blipFill>
          <a:blip r:embed="rId3"/>
          <a:stretch>
            <a:fillRect/>
          </a:stretch>
        </p:blipFill>
        <p:spPr>
          <a:xfrm>
            <a:off x="10658111" y="3851270"/>
            <a:ext cx="523359" cy="488469"/>
          </a:xfrm>
          <a:prstGeom prst="rect">
            <a:avLst/>
          </a:prstGeom>
        </p:spPr>
      </p:pic>
    </p:spTree>
    <p:extLst>
      <p:ext uri="{BB962C8B-B14F-4D97-AF65-F5344CB8AC3E}">
        <p14:creationId xmlns:p14="http://schemas.microsoft.com/office/powerpoint/2010/main" val="1482116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F3A17-337C-479A-76F9-60BBC3D81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9D5DD-BFEC-7DD7-391E-DED748479123}"/>
              </a:ext>
            </a:extLst>
          </p:cNvPr>
          <p:cNvSpPr>
            <a:spLocks noGrp="1"/>
          </p:cNvSpPr>
          <p:nvPr>
            <p:ph type="title"/>
          </p:nvPr>
        </p:nvSpPr>
        <p:spPr/>
        <p:txBody>
          <a:bodyPr/>
          <a:lstStyle/>
          <a:p>
            <a:r>
              <a:rPr lang="en-IE" dirty="0"/>
              <a:t>Other energy </a:t>
            </a:r>
            <a:r>
              <a:rPr lang="en-IE" dirty="0" err="1"/>
              <a:t>PaMs</a:t>
            </a:r>
            <a:endParaRPr lang="en-IE" dirty="0"/>
          </a:p>
        </p:txBody>
      </p:sp>
      <p:sp>
        <p:nvSpPr>
          <p:cNvPr id="4" name="Content Placeholder 3">
            <a:extLst>
              <a:ext uri="{FF2B5EF4-FFF2-40B4-BE49-F238E27FC236}">
                <a16:creationId xmlns:a16="http://schemas.microsoft.com/office/drawing/2014/main" id="{519280BD-86FE-87AC-EA3F-1A0FA9D4552F}"/>
              </a:ext>
            </a:extLst>
          </p:cNvPr>
          <p:cNvSpPr txBox="1">
            <a:spLocks/>
          </p:cNvSpPr>
          <p:nvPr/>
        </p:nvSpPr>
        <p:spPr>
          <a:xfrm>
            <a:off x="542693" y="1665501"/>
            <a:ext cx="11039707" cy="4463696"/>
          </a:xfrm>
          <a:prstGeom prst="rect">
            <a:avLst/>
          </a:prstGeom>
        </p:spPr>
        <p:txBody>
          <a:bodyPr lIns="0" tIns="0" rIns="0" bIns="0" anchor="t" anchorCtr="0"/>
          <a:lstStyle>
            <a:lvl1pPr marL="479976"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1pPr>
            <a:lvl2pPr marL="959952"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2pPr>
            <a:lvl3pPr marL="1439928"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3pPr>
            <a:lvl4pPr marL="1919904"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4pPr>
            <a:lvl5pPr marL="2399880"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1200"/>
              </a:spcAft>
            </a:pPr>
            <a:r>
              <a:rPr lang="en-IE" sz="2000" dirty="0"/>
              <a:t>Impacts of these </a:t>
            </a:r>
            <a:r>
              <a:rPr lang="en-IE" sz="2000" dirty="0" err="1"/>
              <a:t>PaMs</a:t>
            </a:r>
            <a:r>
              <a:rPr lang="en-IE" sz="2000" dirty="0"/>
              <a:t> calculated through counterfactuals and assumptions around fossil fuel displacement: </a:t>
            </a:r>
          </a:p>
          <a:p>
            <a:pPr lvl="1">
              <a:spcAft>
                <a:spcPts val="1200"/>
              </a:spcAft>
              <a:buFont typeface="Arial" panose="020B0604020202020204" pitchFamily="34" charset="0"/>
              <a:buChar char="•"/>
            </a:pPr>
            <a:r>
              <a:rPr lang="en-IE" sz="2000" b="1" dirty="0"/>
              <a:t>Renewables - Electricity Generation: </a:t>
            </a:r>
            <a:r>
              <a:rPr lang="en-IE" sz="2000" dirty="0"/>
              <a:t>Renewable electricity displacing the use of natural gas</a:t>
            </a:r>
          </a:p>
          <a:p>
            <a:pPr lvl="1">
              <a:spcAft>
                <a:spcPts val="1200"/>
              </a:spcAft>
              <a:buFont typeface="Arial" panose="020B0604020202020204" pitchFamily="34" charset="0"/>
              <a:buChar char="•"/>
            </a:pPr>
            <a:r>
              <a:rPr lang="en-IE" sz="2000" b="1" dirty="0"/>
              <a:t>Renewables - Transport: </a:t>
            </a:r>
            <a:r>
              <a:rPr lang="en-IE" sz="2000" dirty="0"/>
              <a:t>Biodiesel and bioethanol displacing the use of petrol and diesel </a:t>
            </a:r>
          </a:p>
          <a:p>
            <a:pPr lvl="1">
              <a:spcAft>
                <a:spcPts val="1200"/>
              </a:spcAft>
              <a:buFont typeface="Arial" panose="020B0604020202020204" pitchFamily="34" charset="0"/>
              <a:buChar char="•"/>
            </a:pPr>
            <a:r>
              <a:rPr lang="en-IE" sz="2000" b="1" dirty="0"/>
              <a:t>Renewables - Heat: </a:t>
            </a:r>
            <a:r>
              <a:rPr lang="en-IE" sz="2000" dirty="0"/>
              <a:t>Consumption of renewable heat displacing the consumption of oil</a:t>
            </a:r>
          </a:p>
          <a:p>
            <a:pPr lvl="1">
              <a:spcAft>
                <a:spcPts val="1200"/>
              </a:spcAft>
              <a:buFont typeface="Arial" panose="020B0604020202020204" pitchFamily="34" charset="0"/>
              <a:buChar char="•"/>
            </a:pPr>
            <a:r>
              <a:rPr lang="en-IE" sz="2000" b="1" dirty="0"/>
              <a:t>Biomethane:</a:t>
            </a:r>
            <a:r>
              <a:rPr lang="en-IE" sz="2000" dirty="0"/>
              <a:t> Consumption of biomethane displacing the consumption of natural gas</a:t>
            </a:r>
          </a:p>
          <a:p>
            <a:pPr>
              <a:spcAft>
                <a:spcPts val="1200"/>
              </a:spcAft>
              <a:buFont typeface="Arial" panose="020B0604020202020204" pitchFamily="34" charset="0"/>
              <a:buChar char="•"/>
            </a:pPr>
            <a:r>
              <a:rPr lang="en-IE" sz="2000" dirty="0"/>
              <a:t>Energy demand data sourced from National Energy Projections produced by SEAI</a:t>
            </a:r>
          </a:p>
          <a:p>
            <a:pPr>
              <a:spcAft>
                <a:spcPts val="1200"/>
              </a:spcAft>
              <a:buFont typeface="Arial" panose="020B0604020202020204" pitchFamily="34" charset="0"/>
              <a:buChar char="•"/>
            </a:pPr>
            <a:r>
              <a:rPr lang="en-IE" sz="2000" dirty="0"/>
              <a:t>Fossil fuel emission factors sourced from National GHG Inventory</a:t>
            </a:r>
          </a:p>
          <a:p>
            <a:pPr marL="959952" lvl="2" indent="0">
              <a:spcAft>
                <a:spcPts val="600"/>
              </a:spcAft>
              <a:buNone/>
            </a:pPr>
            <a:endParaRPr lang="en-IE" sz="1800" dirty="0"/>
          </a:p>
        </p:txBody>
      </p:sp>
    </p:spTree>
    <p:extLst>
      <p:ext uri="{BB962C8B-B14F-4D97-AF65-F5344CB8AC3E}">
        <p14:creationId xmlns:p14="http://schemas.microsoft.com/office/powerpoint/2010/main" val="1748022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55206-D461-162B-D60D-EF20AE41C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7C062-E76E-D5E8-50FC-04A649E0FD24}"/>
              </a:ext>
            </a:extLst>
          </p:cNvPr>
          <p:cNvSpPr>
            <a:spLocks noGrp="1"/>
          </p:cNvSpPr>
          <p:nvPr>
            <p:ph type="title"/>
          </p:nvPr>
        </p:nvSpPr>
        <p:spPr/>
        <p:txBody>
          <a:bodyPr/>
          <a:lstStyle/>
          <a:p>
            <a:r>
              <a:rPr lang="en-IE" dirty="0"/>
              <a:t>Non-energy </a:t>
            </a:r>
            <a:r>
              <a:rPr lang="en-IE" dirty="0" err="1"/>
              <a:t>PaMs</a:t>
            </a:r>
            <a:endParaRPr lang="en-IE" dirty="0"/>
          </a:p>
        </p:txBody>
      </p:sp>
      <p:sp>
        <p:nvSpPr>
          <p:cNvPr id="4" name="Content Placeholder 3">
            <a:extLst>
              <a:ext uri="{FF2B5EF4-FFF2-40B4-BE49-F238E27FC236}">
                <a16:creationId xmlns:a16="http://schemas.microsoft.com/office/drawing/2014/main" id="{3E2FDC12-251F-968E-A50C-99C9573601CA}"/>
              </a:ext>
            </a:extLst>
          </p:cNvPr>
          <p:cNvSpPr txBox="1">
            <a:spLocks/>
          </p:cNvSpPr>
          <p:nvPr/>
        </p:nvSpPr>
        <p:spPr>
          <a:xfrm>
            <a:off x="542693" y="1665501"/>
            <a:ext cx="11039707" cy="4463696"/>
          </a:xfrm>
          <a:prstGeom prst="rect">
            <a:avLst/>
          </a:prstGeom>
        </p:spPr>
        <p:txBody>
          <a:bodyPr lIns="0" tIns="0" rIns="0" bIns="0" anchor="t" anchorCtr="0"/>
          <a:lstStyle>
            <a:lvl1pPr marL="479976"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1pPr>
            <a:lvl2pPr marL="959952"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2pPr>
            <a:lvl3pPr marL="1439928"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3pPr>
            <a:lvl4pPr marL="1919904"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4pPr>
            <a:lvl5pPr marL="2399880"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1200"/>
              </a:spcAft>
            </a:pPr>
            <a:r>
              <a:rPr lang="en-IE" sz="2000" dirty="0"/>
              <a:t>Agriculture and LULUCF policies and measures are isolated in the GHG projections by the sectoral expert</a:t>
            </a:r>
          </a:p>
          <a:p>
            <a:pPr>
              <a:spcAft>
                <a:spcPts val="1200"/>
              </a:spcAft>
              <a:buFont typeface="Wingdings" panose="05000000000000000000" pitchFamily="2" charset="2"/>
              <a:buChar char="§"/>
            </a:pPr>
            <a:r>
              <a:rPr lang="en-IE" sz="2000" dirty="0"/>
              <a:t>e.g.  the planned measure ‘Extended forestry rotation’ is linked to the LULUCF accounting category ‘Managed forest land’ </a:t>
            </a:r>
          </a:p>
          <a:p>
            <a:pPr lvl="1">
              <a:spcAft>
                <a:spcPts val="1200"/>
              </a:spcAft>
              <a:buFont typeface="Arial" panose="020B0604020202020204" pitchFamily="34" charset="0"/>
              <a:buChar char="•"/>
            </a:pPr>
            <a:r>
              <a:rPr lang="en-IE" sz="2000" dirty="0"/>
              <a:t>Difference between WEM and WAM GHG projection for this category captures a bigger source of emissions under WEM moving to a smaller source under WAM (the effect of extended forestry rotation)</a:t>
            </a:r>
          </a:p>
          <a:p>
            <a:pPr marL="959952" lvl="2" indent="0">
              <a:spcAft>
                <a:spcPts val="600"/>
              </a:spcAft>
              <a:buNone/>
            </a:pPr>
            <a:endParaRPr lang="en-IE" sz="1800" dirty="0"/>
          </a:p>
        </p:txBody>
      </p:sp>
    </p:spTree>
    <p:extLst>
      <p:ext uri="{BB962C8B-B14F-4D97-AF65-F5344CB8AC3E}">
        <p14:creationId xmlns:p14="http://schemas.microsoft.com/office/powerpoint/2010/main" val="1446152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29DE4C-1D7D-C1D7-501A-A9C185C1A77A}"/>
              </a:ext>
            </a:extLst>
          </p:cNvPr>
          <p:cNvSpPr txBox="1"/>
          <p:nvPr/>
        </p:nvSpPr>
        <p:spPr>
          <a:xfrm>
            <a:off x="3496006" y="272647"/>
            <a:ext cx="2414892" cy="1021556"/>
          </a:xfrm>
          <a:prstGeom prst="roundRect">
            <a:avLst/>
          </a:prstGeom>
          <a:solidFill>
            <a:schemeClr val="accent4">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SEAI energy savings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58310903-5DE7-1847-AC7B-8DC1D2ACA5F1}"/>
              </a:ext>
            </a:extLst>
          </p:cNvPr>
          <p:cNvSpPr txBox="1"/>
          <p:nvPr/>
        </p:nvSpPr>
        <p:spPr>
          <a:xfrm>
            <a:off x="6078785" y="272646"/>
            <a:ext cx="2414892" cy="1021556"/>
          </a:xfrm>
          <a:prstGeom prst="roundRect">
            <a:avLst/>
          </a:prstGeom>
          <a:solidFill>
            <a:schemeClr val="accent5">
              <a:lumMod val="20000"/>
              <a:lumOff val="80000"/>
            </a:schemeClr>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EPA Emission Factors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Cylinder 7">
            <a:extLst>
              <a:ext uri="{FF2B5EF4-FFF2-40B4-BE49-F238E27FC236}">
                <a16:creationId xmlns:a16="http://schemas.microsoft.com/office/drawing/2014/main" id="{F6D792C6-842E-4795-AB41-CF591A85CC32}"/>
              </a:ext>
            </a:extLst>
          </p:cNvPr>
          <p:cNvSpPr/>
          <p:nvPr/>
        </p:nvSpPr>
        <p:spPr>
          <a:xfrm>
            <a:off x="4640684" y="2372130"/>
            <a:ext cx="2277980" cy="1212225"/>
          </a:xfrm>
          <a:prstGeom prst="can">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rPr>
              <a:t>PaMs Tool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3027A817-79BF-5094-A6ED-01591E338070}"/>
              </a:ext>
            </a:extLst>
          </p:cNvPr>
          <p:cNvSpPr txBox="1"/>
          <p:nvPr/>
        </p:nvSpPr>
        <p:spPr>
          <a:xfrm>
            <a:off x="4769022" y="4142109"/>
            <a:ext cx="2149642" cy="584775"/>
          </a:xfrm>
          <a:prstGeom prst="rect">
            <a:avLst/>
          </a:prstGeom>
          <a:noFill/>
          <a:ln>
            <a:solidFill>
              <a:schemeClr val="tx1"/>
            </a:solidFill>
            <a:prstDash val="sysDash"/>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Data Processing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[MS Excel]</a:t>
            </a:r>
          </a:p>
        </p:txBody>
      </p:sp>
      <p:sp>
        <p:nvSpPr>
          <p:cNvPr id="34" name="Cylinder 33">
            <a:extLst>
              <a:ext uri="{FF2B5EF4-FFF2-40B4-BE49-F238E27FC236}">
                <a16:creationId xmlns:a16="http://schemas.microsoft.com/office/drawing/2014/main" id="{D1F8D8B0-4E33-F3AB-FD22-3F0AA5BA6AB4}"/>
              </a:ext>
            </a:extLst>
          </p:cNvPr>
          <p:cNvSpPr/>
          <p:nvPr/>
        </p:nvSpPr>
        <p:spPr>
          <a:xfrm>
            <a:off x="3878686" y="5257361"/>
            <a:ext cx="1848851" cy="1088692"/>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a:t>
            </a:r>
            <a:r>
              <a:rPr kumimoji="0" lang="en-IE" sz="1600" b="0" i="0" u="none" strike="noStrike" kern="1200" cap="none" spc="0" normalizeH="0" baseline="0" noProof="0" dirty="0" err="1">
                <a:ln>
                  <a:noFill/>
                </a:ln>
                <a:solidFill>
                  <a:prstClr val="black"/>
                </a:solidFill>
                <a:effectLst/>
                <a:uLnTx/>
                <a:uFillTx/>
                <a:latin typeface="Calibri" panose="020F0502020204030204"/>
                <a:ea typeface="+mn-ea"/>
                <a:cs typeface="+mn-cs"/>
              </a:rPr>
              <a:t>PaMs</a:t>
            </a: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 attributes and progress)</a:t>
            </a:r>
          </a:p>
        </p:txBody>
      </p:sp>
      <p:cxnSp>
        <p:nvCxnSpPr>
          <p:cNvPr id="36" name="Straight Arrow Connector 35">
            <a:extLst>
              <a:ext uri="{FF2B5EF4-FFF2-40B4-BE49-F238E27FC236}">
                <a16:creationId xmlns:a16="http://schemas.microsoft.com/office/drawing/2014/main" id="{07EDA47C-4BF0-AA90-18EF-5AEE562C16C0}"/>
              </a:ext>
            </a:extLst>
          </p:cNvPr>
          <p:cNvCxnSpPr>
            <a:cxnSpLocks/>
          </p:cNvCxnSpPr>
          <p:nvPr/>
        </p:nvCxnSpPr>
        <p:spPr>
          <a:xfrm>
            <a:off x="5779674" y="3584355"/>
            <a:ext cx="0" cy="487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53507A2-1505-A367-49E2-0E057B8D8DC3}"/>
              </a:ext>
            </a:extLst>
          </p:cNvPr>
          <p:cNvCxnSpPr>
            <a:cxnSpLocks/>
          </p:cNvCxnSpPr>
          <p:nvPr/>
        </p:nvCxnSpPr>
        <p:spPr>
          <a:xfrm flipH="1">
            <a:off x="5184680" y="4726884"/>
            <a:ext cx="422036"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40FBFE39-1513-7BBF-EF46-011F046EFE00}"/>
              </a:ext>
            </a:extLst>
          </p:cNvPr>
          <p:cNvSpPr/>
          <p:nvPr/>
        </p:nvSpPr>
        <p:spPr>
          <a:xfrm>
            <a:off x="3366839" y="171806"/>
            <a:ext cx="5237747" cy="1178768"/>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TextBox 53">
            <a:extLst>
              <a:ext uri="{FF2B5EF4-FFF2-40B4-BE49-F238E27FC236}">
                <a16:creationId xmlns:a16="http://schemas.microsoft.com/office/drawing/2014/main" id="{3EC75929-1045-C22B-3E95-3682A9005BB6}"/>
              </a:ext>
            </a:extLst>
          </p:cNvPr>
          <p:cNvSpPr txBox="1"/>
          <p:nvPr/>
        </p:nvSpPr>
        <p:spPr>
          <a:xfrm>
            <a:off x="4844897" y="1440268"/>
            <a:ext cx="197894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Extract, Transform, Load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(Mostly manual)</a:t>
            </a:r>
          </a:p>
        </p:txBody>
      </p:sp>
      <p:sp>
        <p:nvSpPr>
          <p:cNvPr id="59" name="TextBox 58">
            <a:extLst>
              <a:ext uri="{FF2B5EF4-FFF2-40B4-BE49-F238E27FC236}">
                <a16:creationId xmlns:a16="http://schemas.microsoft.com/office/drawing/2014/main" id="{9813142E-4A30-BDC0-0403-71BA1A2F8E11}"/>
              </a:ext>
            </a:extLst>
          </p:cNvPr>
          <p:cNvSpPr txBox="1"/>
          <p:nvPr/>
        </p:nvSpPr>
        <p:spPr>
          <a:xfrm>
            <a:off x="5508965" y="4914997"/>
            <a:ext cx="73793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Load</a:t>
            </a:r>
            <a:endParaRPr kumimoji="0" lang="en-IE" sz="1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77" name="Cylinder 76">
            <a:extLst>
              <a:ext uri="{FF2B5EF4-FFF2-40B4-BE49-F238E27FC236}">
                <a16:creationId xmlns:a16="http://schemas.microsoft.com/office/drawing/2014/main" id="{B28B95C1-4004-F7D4-C2A3-E015054DCC75}"/>
              </a:ext>
            </a:extLst>
          </p:cNvPr>
          <p:cNvSpPr/>
          <p:nvPr/>
        </p:nvSpPr>
        <p:spPr>
          <a:xfrm>
            <a:off x="5972181" y="5257361"/>
            <a:ext cx="1848852" cy="1076088"/>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Annex XIV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prstClr val="black"/>
                </a:solidFill>
                <a:effectLst/>
                <a:uLnTx/>
                <a:uFillTx/>
                <a:latin typeface="Calibri" panose="020F0502020204030204"/>
                <a:ea typeface="+mn-ea"/>
                <a:cs typeface="+mn-cs"/>
              </a:rPr>
              <a:t>(Air Quality)</a:t>
            </a:r>
          </a:p>
        </p:txBody>
      </p:sp>
      <p:cxnSp>
        <p:nvCxnSpPr>
          <p:cNvPr id="78" name="Straight Arrow Connector 77">
            <a:extLst>
              <a:ext uri="{FF2B5EF4-FFF2-40B4-BE49-F238E27FC236}">
                <a16:creationId xmlns:a16="http://schemas.microsoft.com/office/drawing/2014/main" id="{BD0C0704-1CCA-0253-4ABD-C43F1178E847}"/>
              </a:ext>
            </a:extLst>
          </p:cNvPr>
          <p:cNvCxnSpPr>
            <a:cxnSpLocks/>
          </p:cNvCxnSpPr>
          <p:nvPr/>
        </p:nvCxnSpPr>
        <p:spPr>
          <a:xfrm>
            <a:off x="6096000" y="4726884"/>
            <a:ext cx="395545" cy="412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Rectangle: Rounded Corners 82">
            <a:extLst>
              <a:ext uri="{FF2B5EF4-FFF2-40B4-BE49-F238E27FC236}">
                <a16:creationId xmlns:a16="http://schemas.microsoft.com/office/drawing/2014/main" id="{45FBAB95-1CB8-F197-D8DB-DE6B9685176E}"/>
              </a:ext>
            </a:extLst>
          </p:cNvPr>
          <p:cNvSpPr/>
          <p:nvPr/>
        </p:nvSpPr>
        <p:spPr>
          <a:xfrm>
            <a:off x="3766390" y="5207024"/>
            <a:ext cx="4154905" cy="12347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36DBB76E-3BAA-C021-022C-5E5BF140DF85}"/>
              </a:ext>
            </a:extLst>
          </p:cNvPr>
          <p:cNvSpPr txBox="1"/>
          <p:nvPr/>
        </p:nvSpPr>
        <p:spPr>
          <a:xfrm>
            <a:off x="3658985" y="6476322"/>
            <a:ext cx="450382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3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rPr>
              <a:t>Integrated national policies and measures – GovReg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100" b="0" i="0" u="none" strike="noStrike" kern="1200" cap="none" spc="0" normalizeH="0" baseline="0" noProof="0" dirty="0">
              <a:ln>
                <a:noFill/>
              </a:ln>
              <a:solidFill>
                <a:srgbClr val="44546A"/>
              </a:solidFill>
              <a:effectLst/>
              <a:uLnTx/>
              <a:uFillTx/>
              <a:latin typeface="open sans" panose="020B0606030504020204" pitchFamily="34" charset="0"/>
              <a:ea typeface="+mn-ea"/>
              <a:cs typeface="+mn-cs"/>
            </a:endParaRPr>
          </a:p>
        </p:txBody>
      </p:sp>
      <p:cxnSp>
        <p:nvCxnSpPr>
          <p:cNvPr id="122" name="Straight Arrow Connector 121">
            <a:extLst>
              <a:ext uri="{FF2B5EF4-FFF2-40B4-BE49-F238E27FC236}">
                <a16:creationId xmlns:a16="http://schemas.microsoft.com/office/drawing/2014/main" id="{9D940366-4B97-A962-E5E5-D032F0991B91}"/>
              </a:ext>
            </a:extLst>
          </p:cNvPr>
          <p:cNvCxnSpPr>
            <a:cxnSpLocks/>
            <a:endCxn id="33" idx="3"/>
          </p:cNvCxnSpPr>
          <p:nvPr/>
        </p:nvCxnSpPr>
        <p:spPr>
          <a:xfrm flipH="1">
            <a:off x="6918664" y="3470675"/>
            <a:ext cx="2030825" cy="963822"/>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5" name="TextBox 134">
            <a:extLst>
              <a:ext uri="{FF2B5EF4-FFF2-40B4-BE49-F238E27FC236}">
                <a16:creationId xmlns:a16="http://schemas.microsoft.com/office/drawing/2014/main" id="{63D05C1D-7107-3F3F-9E2A-C35623CCB599}"/>
              </a:ext>
            </a:extLst>
          </p:cNvPr>
          <p:cNvSpPr txBox="1"/>
          <p:nvPr/>
        </p:nvSpPr>
        <p:spPr>
          <a:xfrm>
            <a:off x="5767545" y="3584302"/>
            <a:ext cx="109161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Transform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400" b="1" i="0" u="none" strike="noStrike" kern="1200" cap="none" spc="0" normalizeH="0" baseline="0" noProof="0" dirty="0">
                <a:ln>
                  <a:noFill/>
                </a:ln>
                <a:solidFill>
                  <a:srgbClr val="4472C4"/>
                </a:solidFill>
                <a:effectLst/>
                <a:uLnTx/>
                <a:uFillTx/>
                <a:latin typeface="Calibri" panose="020F0502020204030204"/>
                <a:ea typeface="+mn-ea"/>
                <a:cs typeface="+mn-cs"/>
              </a:rPr>
              <a:t>(Manual)</a:t>
            </a:r>
            <a:r>
              <a:rPr kumimoji="0" lang="en-IE" sz="1400" b="0" i="0" u="none" strike="noStrike" kern="1200" cap="none" spc="0" normalizeH="0" baseline="0" noProof="0" dirty="0">
                <a:ln>
                  <a:noFill/>
                </a:ln>
                <a:solidFill>
                  <a:srgbClr val="4472C4"/>
                </a:solidFill>
                <a:effectLst/>
                <a:uLnTx/>
                <a:uFillTx/>
                <a:latin typeface="Calibri" panose="020F0502020204030204"/>
                <a:ea typeface="+mn-ea"/>
                <a:cs typeface="+mn-cs"/>
              </a:rPr>
              <a:t> </a:t>
            </a:r>
            <a:endParaRPr kumimoji="0" lang="en-IE" sz="1800" b="0"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EC01E8CF-87E3-2A20-0940-0ED9EF4D2FE9}"/>
              </a:ext>
            </a:extLst>
          </p:cNvPr>
          <p:cNvCxnSpPr>
            <a:cxnSpLocks/>
            <a:stCxn id="2" idx="2"/>
          </p:cNvCxnSpPr>
          <p:nvPr/>
        </p:nvCxnSpPr>
        <p:spPr>
          <a:xfrm>
            <a:off x="4703452" y="1294203"/>
            <a:ext cx="543427" cy="1135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89FC0B-BC78-D6E4-8920-93290D827827}"/>
              </a:ext>
            </a:extLst>
          </p:cNvPr>
          <p:cNvCxnSpPr>
            <a:cxnSpLocks/>
          </p:cNvCxnSpPr>
          <p:nvPr/>
        </p:nvCxnSpPr>
        <p:spPr>
          <a:xfrm flipH="1">
            <a:off x="6400800" y="1361418"/>
            <a:ext cx="717544" cy="1080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0B97F87-FBC5-DED3-519F-F9A0E7F4991E}"/>
              </a:ext>
            </a:extLst>
          </p:cNvPr>
          <p:cNvSpPr txBox="1"/>
          <p:nvPr/>
        </p:nvSpPr>
        <p:spPr>
          <a:xfrm>
            <a:off x="8949489" y="2602352"/>
            <a:ext cx="2685048" cy="2009061"/>
          </a:xfrm>
          <a:prstGeom prst="roundRect">
            <a:avLst/>
          </a:prstGeom>
          <a:solidFill>
            <a:schemeClr val="accent2">
              <a:lumMod val="20000"/>
              <a:lumOff val="80000"/>
            </a:schemeClr>
          </a:solidFill>
          <a:ln>
            <a:solidFill>
              <a:srgbClr val="FF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Other </a:t>
            </a:r>
            <a:r>
              <a:rPr lang="en-IE" sz="1600" dirty="0">
                <a:solidFill>
                  <a:srgbClr val="C00000"/>
                </a:solidFill>
                <a:latin typeface="Calibri" panose="020F0502020204030204"/>
              </a:rPr>
              <a:t>energy and non-energy </a:t>
            </a:r>
            <a:r>
              <a:rPr kumimoji="0" lang="en-IE" sz="1600" b="0" i="0" u="none" strike="noStrike" kern="1200" cap="none" spc="0" normalizeH="0" baseline="0" noProof="0" dirty="0" err="1">
                <a:ln>
                  <a:noFill/>
                </a:ln>
                <a:solidFill>
                  <a:srgbClr val="C00000"/>
                </a:solidFill>
                <a:effectLst/>
                <a:uLnTx/>
                <a:uFillTx/>
                <a:latin typeface="Calibri" panose="020F0502020204030204"/>
                <a:ea typeface="+mn-ea"/>
                <a:cs typeface="+mn-cs"/>
              </a:rPr>
              <a:t>PaMs</a:t>
            </a: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rPr>
              <a:t>[e.g. Ag, LULUCF, Renewables]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E" sz="16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pic>
        <p:nvPicPr>
          <p:cNvPr id="9" name="Picture 8" descr="A green square with a white x on it&#10;&#10;Description automatically generated">
            <a:extLst>
              <a:ext uri="{FF2B5EF4-FFF2-40B4-BE49-F238E27FC236}">
                <a16:creationId xmlns:a16="http://schemas.microsoft.com/office/drawing/2014/main" id="{90BC2FB2-6B43-5154-6815-0FB034E7FBA7}"/>
              </a:ext>
            </a:extLst>
          </p:cNvPr>
          <p:cNvPicPr>
            <a:picLocks noChangeAspect="1"/>
          </p:cNvPicPr>
          <p:nvPr/>
        </p:nvPicPr>
        <p:blipFill>
          <a:blip r:embed="rId3"/>
          <a:stretch>
            <a:fillRect/>
          </a:stretch>
        </p:blipFill>
        <p:spPr>
          <a:xfrm>
            <a:off x="5184680" y="2982206"/>
            <a:ext cx="523359" cy="488469"/>
          </a:xfrm>
          <a:prstGeom prst="rect">
            <a:avLst/>
          </a:prstGeom>
        </p:spPr>
      </p:pic>
      <p:pic>
        <p:nvPicPr>
          <p:cNvPr id="10" name="Picture 2">
            <a:extLst>
              <a:ext uri="{FF2B5EF4-FFF2-40B4-BE49-F238E27FC236}">
                <a16:creationId xmlns:a16="http://schemas.microsoft.com/office/drawing/2014/main" id="{3A2CC78D-D432-69EF-D6A9-DA738FB075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9674" y="2981075"/>
            <a:ext cx="502154" cy="4896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green square with a white x on it&#10;&#10;Description automatically generated">
            <a:extLst>
              <a:ext uri="{FF2B5EF4-FFF2-40B4-BE49-F238E27FC236}">
                <a16:creationId xmlns:a16="http://schemas.microsoft.com/office/drawing/2014/main" id="{5242144E-011C-EBD2-A4C8-C7FC439581D0}"/>
              </a:ext>
            </a:extLst>
          </p:cNvPr>
          <p:cNvPicPr>
            <a:picLocks noChangeAspect="1"/>
          </p:cNvPicPr>
          <p:nvPr/>
        </p:nvPicPr>
        <p:blipFill>
          <a:blip r:embed="rId3"/>
          <a:stretch>
            <a:fillRect/>
          </a:stretch>
        </p:blipFill>
        <p:spPr>
          <a:xfrm>
            <a:off x="4441772" y="698505"/>
            <a:ext cx="523359" cy="488469"/>
          </a:xfrm>
          <a:prstGeom prst="rect">
            <a:avLst/>
          </a:prstGeom>
        </p:spPr>
      </p:pic>
      <p:pic>
        <p:nvPicPr>
          <p:cNvPr id="14" name="Picture 13" descr="A green square with a white x on it&#10;&#10;Description automatically generated">
            <a:extLst>
              <a:ext uri="{FF2B5EF4-FFF2-40B4-BE49-F238E27FC236}">
                <a16:creationId xmlns:a16="http://schemas.microsoft.com/office/drawing/2014/main" id="{91DE1433-BEFC-9339-7053-A2A9FC6E06DF}"/>
              </a:ext>
            </a:extLst>
          </p:cNvPr>
          <p:cNvPicPr>
            <a:picLocks noChangeAspect="1"/>
          </p:cNvPicPr>
          <p:nvPr/>
        </p:nvPicPr>
        <p:blipFill>
          <a:blip r:embed="rId3"/>
          <a:stretch>
            <a:fillRect/>
          </a:stretch>
        </p:blipFill>
        <p:spPr>
          <a:xfrm>
            <a:off x="6956736" y="659376"/>
            <a:ext cx="523359" cy="488469"/>
          </a:xfrm>
          <a:prstGeom prst="rect">
            <a:avLst/>
          </a:prstGeom>
        </p:spPr>
      </p:pic>
      <p:pic>
        <p:nvPicPr>
          <p:cNvPr id="22" name="Picture 21" descr="A green square with a white x on it&#10;&#10;Description automatically generated">
            <a:extLst>
              <a:ext uri="{FF2B5EF4-FFF2-40B4-BE49-F238E27FC236}">
                <a16:creationId xmlns:a16="http://schemas.microsoft.com/office/drawing/2014/main" id="{C1FA07D1-7383-2C66-4276-B96FAA029EE1}"/>
              </a:ext>
            </a:extLst>
          </p:cNvPr>
          <p:cNvPicPr>
            <a:picLocks noChangeAspect="1"/>
          </p:cNvPicPr>
          <p:nvPr/>
        </p:nvPicPr>
        <p:blipFill>
          <a:blip r:embed="rId3"/>
          <a:stretch>
            <a:fillRect/>
          </a:stretch>
        </p:blipFill>
        <p:spPr>
          <a:xfrm>
            <a:off x="6300484" y="662539"/>
            <a:ext cx="523359" cy="488469"/>
          </a:xfrm>
          <a:prstGeom prst="rect">
            <a:avLst/>
          </a:prstGeom>
        </p:spPr>
      </p:pic>
      <p:pic>
        <p:nvPicPr>
          <p:cNvPr id="23" name="Picture 22" descr="A green square with a white x on it&#10;&#10;Description automatically generated">
            <a:extLst>
              <a:ext uri="{FF2B5EF4-FFF2-40B4-BE49-F238E27FC236}">
                <a16:creationId xmlns:a16="http://schemas.microsoft.com/office/drawing/2014/main" id="{8A81E609-0824-D414-0C74-07F378D8C240}"/>
              </a:ext>
            </a:extLst>
          </p:cNvPr>
          <p:cNvPicPr>
            <a:picLocks noChangeAspect="1"/>
          </p:cNvPicPr>
          <p:nvPr/>
        </p:nvPicPr>
        <p:blipFill>
          <a:blip r:embed="rId3"/>
          <a:stretch>
            <a:fillRect/>
          </a:stretch>
        </p:blipFill>
        <p:spPr>
          <a:xfrm>
            <a:off x="7612988" y="655555"/>
            <a:ext cx="523359" cy="488469"/>
          </a:xfrm>
          <a:prstGeom prst="rect">
            <a:avLst/>
          </a:prstGeom>
        </p:spPr>
      </p:pic>
      <p:pic>
        <p:nvPicPr>
          <p:cNvPr id="31" name="Picture 30" descr="A green square with a white x on it&#10;&#10;Description automatically generated">
            <a:extLst>
              <a:ext uri="{FF2B5EF4-FFF2-40B4-BE49-F238E27FC236}">
                <a16:creationId xmlns:a16="http://schemas.microsoft.com/office/drawing/2014/main" id="{A562B053-6BB6-0623-C124-E4CF230D2F85}"/>
              </a:ext>
            </a:extLst>
          </p:cNvPr>
          <p:cNvPicPr>
            <a:picLocks noChangeAspect="1"/>
          </p:cNvPicPr>
          <p:nvPr/>
        </p:nvPicPr>
        <p:blipFill>
          <a:blip r:embed="rId3"/>
          <a:stretch>
            <a:fillRect/>
          </a:stretch>
        </p:blipFill>
        <p:spPr>
          <a:xfrm>
            <a:off x="10001859" y="3855091"/>
            <a:ext cx="523359" cy="488469"/>
          </a:xfrm>
          <a:prstGeom prst="rect">
            <a:avLst/>
          </a:prstGeom>
        </p:spPr>
      </p:pic>
      <p:pic>
        <p:nvPicPr>
          <p:cNvPr id="32" name="Picture 31" descr="A green square with a white x on it&#10;&#10;Description automatically generated">
            <a:extLst>
              <a:ext uri="{FF2B5EF4-FFF2-40B4-BE49-F238E27FC236}">
                <a16:creationId xmlns:a16="http://schemas.microsoft.com/office/drawing/2014/main" id="{6AB49BD8-569B-9946-B0C9-1F17D7188607}"/>
              </a:ext>
            </a:extLst>
          </p:cNvPr>
          <p:cNvPicPr>
            <a:picLocks noChangeAspect="1"/>
          </p:cNvPicPr>
          <p:nvPr/>
        </p:nvPicPr>
        <p:blipFill>
          <a:blip r:embed="rId3"/>
          <a:stretch>
            <a:fillRect/>
          </a:stretch>
        </p:blipFill>
        <p:spPr>
          <a:xfrm>
            <a:off x="9345607" y="3858254"/>
            <a:ext cx="523359" cy="488469"/>
          </a:xfrm>
          <a:prstGeom prst="rect">
            <a:avLst/>
          </a:prstGeom>
        </p:spPr>
      </p:pic>
      <p:pic>
        <p:nvPicPr>
          <p:cNvPr id="35" name="Picture 34" descr="A green square with a white x on it&#10;&#10;Description automatically generated">
            <a:extLst>
              <a:ext uri="{FF2B5EF4-FFF2-40B4-BE49-F238E27FC236}">
                <a16:creationId xmlns:a16="http://schemas.microsoft.com/office/drawing/2014/main" id="{D5D8CB33-27D8-4FA0-5C33-172C808E984A}"/>
              </a:ext>
            </a:extLst>
          </p:cNvPr>
          <p:cNvPicPr>
            <a:picLocks noChangeAspect="1"/>
          </p:cNvPicPr>
          <p:nvPr/>
        </p:nvPicPr>
        <p:blipFill>
          <a:blip r:embed="rId3"/>
          <a:stretch>
            <a:fillRect/>
          </a:stretch>
        </p:blipFill>
        <p:spPr>
          <a:xfrm>
            <a:off x="10658111" y="3851270"/>
            <a:ext cx="523359" cy="488469"/>
          </a:xfrm>
          <a:prstGeom prst="rect">
            <a:avLst/>
          </a:prstGeom>
        </p:spPr>
      </p:pic>
    </p:spTree>
    <p:extLst>
      <p:ext uri="{BB962C8B-B14F-4D97-AF65-F5344CB8AC3E}">
        <p14:creationId xmlns:p14="http://schemas.microsoft.com/office/powerpoint/2010/main" val="2356971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456DA-DA5D-FE3A-6AD9-53FF142E8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08C71-D466-B0DD-8079-FE230ED28B2B}"/>
              </a:ext>
            </a:extLst>
          </p:cNvPr>
          <p:cNvSpPr>
            <a:spLocks noGrp="1"/>
          </p:cNvSpPr>
          <p:nvPr>
            <p:ph type="title"/>
          </p:nvPr>
        </p:nvSpPr>
        <p:spPr/>
        <p:txBody>
          <a:bodyPr/>
          <a:lstStyle/>
          <a:p>
            <a:r>
              <a:rPr lang="en-IE" dirty="0"/>
              <a:t>Unique </a:t>
            </a:r>
            <a:r>
              <a:rPr lang="en-IE" dirty="0" err="1"/>
              <a:t>PaM</a:t>
            </a:r>
            <a:r>
              <a:rPr lang="en-IE" dirty="0"/>
              <a:t> IDs</a:t>
            </a:r>
          </a:p>
        </p:txBody>
      </p:sp>
      <p:sp>
        <p:nvSpPr>
          <p:cNvPr id="4" name="Content Placeholder 3">
            <a:extLst>
              <a:ext uri="{FF2B5EF4-FFF2-40B4-BE49-F238E27FC236}">
                <a16:creationId xmlns:a16="http://schemas.microsoft.com/office/drawing/2014/main" id="{FC16DD41-2C11-F72F-CA1C-36B6FF2A3750}"/>
              </a:ext>
            </a:extLst>
          </p:cNvPr>
          <p:cNvSpPr txBox="1">
            <a:spLocks/>
          </p:cNvSpPr>
          <p:nvPr/>
        </p:nvSpPr>
        <p:spPr>
          <a:xfrm>
            <a:off x="542693" y="1821615"/>
            <a:ext cx="10396653" cy="4463696"/>
          </a:xfrm>
          <a:prstGeom prst="rect">
            <a:avLst/>
          </a:prstGeom>
        </p:spPr>
        <p:txBody>
          <a:bodyPr lIns="0" tIns="0" rIns="0" bIns="0" anchor="t" anchorCtr="0"/>
          <a:lstStyle>
            <a:lvl1pPr marL="479976"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1pPr>
            <a:lvl2pPr marL="959952"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2pPr>
            <a:lvl3pPr marL="1439928"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3pPr>
            <a:lvl4pPr marL="1919904"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4pPr>
            <a:lvl5pPr marL="2399880" indent="-479976" algn="l" defTabSz="609570" rtl="0" eaLnBrk="1" latinLnBrk="0" hangingPunct="1">
              <a:spcBef>
                <a:spcPts val="0"/>
              </a:spcBef>
              <a:spcAft>
                <a:spcPts val="1600"/>
              </a:spcAft>
              <a:buClr>
                <a:srgbClr val="00AFA3"/>
              </a:buClr>
              <a:buFont typeface="Wingdings" charset="2"/>
              <a:buChar char="§"/>
              <a:tabLst>
                <a:tab pos="8246121" algn="l"/>
              </a:tabLst>
              <a:defRPr sz="2133" kern="1200">
                <a:solidFill>
                  <a:srgbClr val="006DB5"/>
                </a:solidFill>
                <a:latin typeface="+mn-lt"/>
                <a:ea typeface="+mn-ea"/>
                <a:cs typeface="+mn-cs"/>
              </a:defRPr>
            </a:lvl5pPr>
            <a:lvl6pPr marL="3352632" indent="-304784" algn="l" defTabSz="609570" rtl="0" eaLnBrk="1" latinLnBrk="0" hangingPunct="1">
              <a:spcBef>
                <a:spcPct val="20000"/>
              </a:spcBef>
              <a:buFont typeface="Arial"/>
              <a:buChar char="•"/>
              <a:defRPr sz="2667" kern="1200">
                <a:solidFill>
                  <a:schemeClr val="tx1"/>
                </a:solidFill>
                <a:latin typeface="+mn-lt"/>
                <a:ea typeface="+mn-ea"/>
                <a:cs typeface="+mn-cs"/>
              </a:defRPr>
            </a:lvl6pPr>
            <a:lvl7pPr marL="3962202" indent="-304784" algn="l" defTabSz="609570" rtl="0" eaLnBrk="1" latinLnBrk="0" hangingPunct="1">
              <a:spcBef>
                <a:spcPct val="20000"/>
              </a:spcBef>
              <a:buFont typeface="Arial"/>
              <a:buChar char="•"/>
              <a:defRPr sz="2667" kern="1200">
                <a:solidFill>
                  <a:schemeClr val="tx1"/>
                </a:solidFill>
                <a:latin typeface="+mn-lt"/>
                <a:ea typeface="+mn-ea"/>
                <a:cs typeface="+mn-cs"/>
              </a:defRPr>
            </a:lvl7pPr>
            <a:lvl8pPr marL="4571772" indent="-304784" algn="l" defTabSz="609570" rtl="0" eaLnBrk="1" latinLnBrk="0" hangingPunct="1">
              <a:spcBef>
                <a:spcPct val="20000"/>
              </a:spcBef>
              <a:buFont typeface="Arial"/>
              <a:buChar char="•"/>
              <a:defRPr sz="2667" kern="1200">
                <a:solidFill>
                  <a:schemeClr val="tx1"/>
                </a:solidFill>
                <a:latin typeface="+mn-lt"/>
                <a:ea typeface="+mn-ea"/>
                <a:cs typeface="+mn-cs"/>
              </a:defRPr>
            </a:lvl8pPr>
            <a:lvl9pPr marL="5181341" indent="-304784" algn="l" defTabSz="609570" rtl="0" eaLnBrk="1" latinLnBrk="0" hangingPunct="1">
              <a:spcBef>
                <a:spcPct val="20000"/>
              </a:spcBef>
              <a:buFont typeface="Arial"/>
              <a:buChar char="•"/>
              <a:defRPr sz="2667" kern="1200">
                <a:solidFill>
                  <a:schemeClr val="tx1"/>
                </a:solidFill>
                <a:latin typeface="+mn-lt"/>
                <a:ea typeface="+mn-ea"/>
                <a:cs typeface="+mn-cs"/>
              </a:defRPr>
            </a:lvl9pPr>
          </a:lstStyle>
          <a:p>
            <a:pPr>
              <a:spcAft>
                <a:spcPts val="600"/>
              </a:spcAft>
            </a:pPr>
            <a:r>
              <a:rPr lang="en-IE" sz="2000" dirty="0"/>
              <a:t>Reporting field requires that each </a:t>
            </a:r>
            <a:r>
              <a:rPr lang="en-IE" sz="2000" dirty="0" err="1"/>
              <a:t>PaM</a:t>
            </a:r>
            <a:r>
              <a:rPr lang="en-IE" sz="2000" dirty="0"/>
              <a:t> has a unique ID</a:t>
            </a:r>
          </a:p>
          <a:p>
            <a:pPr lvl="1">
              <a:spcAft>
                <a:spcPts val="1000"/>
              </a:spcAft>
              <a:buFont typeface="Arial" panose="020B0604020202020204" pitchFamily="34" charset="0"/>
              <a:buChar char="•"/>
            </a:pPr>
            <a:r>
              <a:rPr lang="en-IE" sz="2000" dirty="0"/>
              <a:t>Ensures consistency across reporting cycles </a:t>
            </a:r>
          </a:p>
          <a:p>
            <a:pPr lvl="1">
              <a:spcAft>
                <a:spcPts val="1000"/>
              </a:spcAft>
              <a:buFont typeface="Arial" panose="020B0604020202020204" pitchFamily="34" charset="0"/>
              <a:buChar char="•"/>
            </a:pPr>
            <a:r>
              <a:rPr lang="en-IE" sz="2000" dirty="0"/>
              <a:t>Useful for lookup formulas to pull data from data processing files to import template </a:t>
            </a:r>
          </a:p>
          <a:p>
            <a:pPr marL="0" indent="0">
              <a:buFont typeface="Wingdings" charset="2"/>
              <a:buNone/>
            </a:pPr>
            <a:endParaRPr lang="en-IE" strike="sngStrike" dirty="0"/>
          </a:p>
        </p:txBody>
      </p:sp>
      <p:pic>
        <p:nvPicPr>
          <p:cNvPr id="10" name="Picture 9">
            <a:extLst>
              <a:ext uri="{FF2B5EF4-FFF2-40B4-BE49-F238E27FC236}">
                <a16:creationId xmlns:a16="http://schemas.microsoft.com/office/drawing/2014/main" id="{114460C8-26E8-11F7-1787-6957CFFE3F70}"/>
              </a:ext>
            </a:extLst>
          </p:cNvPr>
          <p:cNvPicPr>
            <a:picLocks noChangeAspect="1"/>
          </p:cNvPicPr>
          <p:nvPr/>
        </p:nvPicPr>
        <p:blipFill>
          <a:blip r:embed="rId3"/>
          <a:srcRect b="22203"/>
          <a:stretch/>
        </p:blipFill>
        <p:spPr>
          <a:xfrm>
            <a:off x="1349654" y="3306339"/>
            <a:ext cx="9492693" cy="255920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31535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DCED-9D68-4C7A-979F-68BD1F24D031}"/>
              </a:ext>
            </a:extLst>
          </p:cNvPr>
          <p:cNvSpPr>
            <a:spLocks noGrp="1"/>
          </p:cNvSpPr>
          <p:nvPr>
            <p:ph type="title"/>
          </p:nvPr>
        </p:nvSpPr>
        <p:spPr/>
        <p:txBody>
          <a:bodyPr/>
          <a:lstStyle/>
          <a:p>
            <a:r>
              <a:rPr lang="en-IE" dirty="0" err="1"/>
              <a:t>PaMs</a:t>
            </a:r>
            <a:r>
              <a:rPr lang="en-IE" dirty="0"/>
              <a:t> Improvement process</a:t>
            </a:r>
          </a:p>
        </p:txBody>
      </p:sp>
      <p:sp>
        <p:nvSpPr>
          <p:cNvPr id="4" name="Content Placeholder 3">
            <a:extLst>
              <a:ext uri="{FF2B5EF4-FFF2-40B4-BE49-F238E27FC236}">
                <a16:creationId xmlns:a16="http://schemas.microsoft.com/office/drawing/2014/main" id="{093EA245-D554-4934-80EF-6EBC22B5337E}"/>
              </a:ext>
            </a:extLst>
          </p:cNvPr>
          <p:cNvSpPr>
            <a:spLocks noGrp="1"/>
          </p:cNvSpPr>
          <p:nvPr>
            <p:ph idx="10"/>
          </p:nvPr>
        </p:nvSpPr>
        <p:spPr>
          <a:xfrm>
            <a:off x="609600" y="1996211"/>
            <a:ext cx="10972800" cy="4608512"/>
          </a:xfrm>
        </p:spPr>
        <p:txBody>
          <a:bodyPr/>
          <a:lstStyle/>
          <a:p>
            <a:pPr>
              <a:spcAft>
                <a:spcPts val="800"/>
              </a:spcAft>
            </a:pPr>
            <a:r>
              <a:rPr lang="en-IE" sz="2000" dirty="0"/>
              <a:t>Continuing to develop and expand work on </a:t>
            </a:r>
            <a:r>
              <a:rPr lang="en-IE" sz="2000" dirty="0" err="1"/>
              <a:t>PaMs</a:t>
            </a:r>
            <a:r>
              <a:rPr lang="en-IE" sz="2000" dirty="0"/>
              <a:t> </a:t>
            </a:r>
          </a:p>
          <a:p>
            <a:pPr>
              <a:spcAft>
                <a:spcPts val="800"/>
              </a:spcAft>
            </a:pPr>
            <a:r>
              <a:rPr lang="en-IE" sz="2000" dirty="0"/>
              <a:t>Annual QA/QC feedback from the ETC-CM acts as a starting point </a:t>
            </a:r>
          </a:p>
          <a:p>
            <a:pPr>
              <a:spcAft>
                <a:spcPts val="800"/>
              </a:spcAft>
            </a:pPr>
            <a:r>
              <a:rPr lang="en-US" sz="2000" dirty="0"/>
              <a:t>Ongoing improvements include:</a:t>
            </a:r>
          </a:p>
          <a:p>
            <a:pPr lvl="1">
              <a:spcAft>
                <a:spcPts val="800"/>
              </a:spcAft>
              <a:buFont typeface="Arial" panose="020B0604020202020204" pitchFamily="34" charset="0"/>
              <a:buChar char="•"/>
            </a:pPr>
            <a:r>
              <a:rPr lang="en-US" sz="2000" dirty="0"/>
              <a:t>Enhancing alignment with national GHG projections </a:t>
            </a:r>
          </a:p>
          <a:p>
            <a:pPr lvl="1">
              <a:spcAft>
                <a:spcPts val="800"/>
              </a:spcAft>
              <a:buFont typeface="Arial" panose="020B0604020202020204" pitchFamily="34" charset="0"/>
              <a:buChar char="•"/>
            </a:pPr>
            <a:r>
              <a:rPr lang="en-US" sz="2000" dirty="0"/>
              <a:t>methodology updates for in-house calculations</a:t>
            </a:r>
          </a:p>
          <a:p>
            <a:pPr lvl="1">
              <a:spcAft>
                <a:spcPts val="800"/>
              </a:spcAft>
              <a:buFont typeface="Arial" panose="020B0604020202020204" pitchFamily="34" charset="0"/>
              <a:buChar char="•"/>
            </a:pPr>
            <a:r>
              <a:rPr lang="en-US" sz="2000" dirty="0"/>
              <a:t>improving ex-post analysis of </a:t>
            </a:r>
            <a:r>
              <a:rPr lang="en-US" sz="2000" dirty="0" err="1"/>
              <a:t>PaMs</a:t>
            </a:r>
            <a:r>
              <a:rPr lang="en-US" sz="2000" dirty="0"/>
              <a:t> </a:t>
            </a:r>
          </a:p>
          <a:p>
            <a:pPr lvl="1">
              <a:spcAft>
                <a:spcPts val="800"/>
              </a:spcAft>
              <a:buFont typeface="Arial" panose="020B0604020202020204" pitchFamily="34" charset="0"/>
              <a:buChar char="•"/>
            </a:pPr>
            <a:r>
              <a:rPr lang="en-US" sz="2000" dirty="0"/>
              <a:t>updating qualitative information behind each </a:t>
            </a:r>
            <a:r>
              <a:rPr lang="en-US" sz="2000" dirty="0" err="1"/>
              <a:t>PaM</a:t>
            </a:r>
            <a:r>
              <a:rPr lang="en-US" sz="2000" dirty="0"/>
              <a:t> (e.g., descriptions, assumptions, links to Union dimensions and policies)</a:t>
            </a:r>
          </a:p>
          <a:p>
            <a:pPr lvl="1">
              <a:spcAft>
                <a:spcPts val="800"/>
              </a:spcAft>
              <a:buFont typeface="Arial" panose="020B0604020202020204" pitchFamily="34" charset="0"/>
              <a:buChar char="•"/>
            </a:pPr>
            <a:r>
              <a:rPr lang="en-US" sz="2000" dirty="0"/>
              <a:t>process documentation</a:t>
            </a:r>
          </a:p>
          <a:p>
            <a:pPr marL="0" indent="0">
              <a:buNone/>
            </a:pPr>
            <a:endParaRPr lang="en-IE" strike="sngStrike" dirty="0"/>
          </a:p>
        </p:txBody>
      </p:sp>
    </p:spTree>
    <p:extLst>
      <p:ext uri="{BB962C8B-B14F-4D97-AF65-F5344CB8AC3E}">
        <p14:creationId xmlns:p14="http://schemas.microsoft.com/office/powerpoint/2010/main" val="3508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588F"/>
        </a:solidFill>
        <a:effectLst/>
      </p:bgPr>
    </p:bg>
    <p:spTree>
      <p:nvGrpSpPr>
        <p:cNvPr id="1" name="">
          <a:extLst>
            <a:ext uri="{FF2B5EF4-FFF2-40B4-BE49-F238E27FC236}">
              <a16:creationId xmlns:a16="http://schemas.microsoft.com/office/drawing/2014/main" id="{F6C78A59-81B7-9562-6BBA-80771E291B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66C71A-81E9-3E26-653F-06A24CA5EC7B}"/>
              </a:ext>
            </a:extLst>
          </p:cNvPr>
          <p:cNvSpPr txBox="1"/>
          <p:nvPr/>
        </p:nvSpPr>
        <p:spPr>
          <a:xfrm>
            <a:off x="3280641" y="3136613"/>
            <a:ext cx="5630718" cy="1077218"/>
          </a:xfrm>
          <a:prstGeom prst="rect">
            <a:avLst/>
          </a:prstGeom>
          <a:noFill/>
        </p:spPr>
        <p:txBody>
          <a:bodyPr wrap="square" rtlCol="0">
            <a:spAutoFit/>
          </a:bodyPr>
          <a:lstStyle/>
          <a:p>
            <a:pPr algn="ctr"/>
            <a:r>
              <a:rPr lang="en-IE" sz="3200" dirty="0">
                <a:solidFill>
                  <a:schemeClr val="bg1"/>
                </a:solidFill>
                <a:latin typeface="+mj-lt"/>
              </a:rPr>
              <a:t>The national system for </a:t>
            </a:r>
            <a:r>
              <a:rPr lang="en-IE" sz="3200" dirty="0" err="1">
                <a:solidFill>
                  <a:schemeClr val="bg1"/>
                </a:solidFill>
                <a:latin typeface="+mj-lt"/>
              </a:rPr>
              <a:t>PaMs</a:t>
            </a:r>
            <a:r>
              <a:rPr lang="en-IE" sz="3200" dirty="0">
                <a:solidFill>
                  <a:schemeClr val="bg1"/>
                </a:solidFill>
                <a:latin typeface="+mj-lt"/>
              </a:rPr>
              <a:t> and Projections</a:t>
            </a:r>
          </a:p>
        </p:txBody>
      </p:sp>
    </p:spTree>
    <p:extLst>
      <p:ext uri="{BB962C8B-B14F-4D97-AF65-F5344CB8AC3E}">
        <p14:creationId xmlns:p14="http://schemas.microsoft.com/office/powerpoint/2010/main" val="3740600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DD485-5F12-CB46-77C7-65059FF93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E1865-FCB4-7508-6446-18D4DD5CF2FB}"/>
              </a:ext>
            </a:extLst>
          </p:cNvPr>
          <p:cNvSpPr>
            <a:spLocks noGrp="1"/>
          </p:cNvSpPr>
          <p:nvPr>
            <p:ph type="title"/>
          </p:nvPr>
        </p:nvSpPr>
        <p:spPr/>
        <p:txBody>
          <a:bodyPr/>
          <a:lstStyle/>
          <a:p>
            <a:r>
              <a:rPr lang="en-IE" dirty="0"/>
              <a:t>Institutional arrangements </a:t>
            </a:r>
          </a:p>
        </p:txBody>
      </p:sp>
      <p:sp>
        <p:nvSpPr>
          <p:cNvPr id="4" name="Content Placeholder 3">
            <a:extLst>
              <a:ext uri="{FF2B5EF4-FFF2-40B4-BE49-F238E27FC236}">
                <a16:creationId xmlns:a16="http://schemas.microsoft.com/office/drawing/2014/main" id="{EE398623-324F-9898-6CE5-ECB6D2F5A219}"/>
              </a:ext>
            </a:extLst>
          </p:cNvPr>
          <p:cNvSpPr>
            <a:spLocks noGrp="1"/>
          </p:cNvSpPr>
          <p:nvPr>
            <p:ph idx="10"/>
          </p:nvPr>
        </p:nvSpPr>
        <p:spPr>
          <a:xfrm>
            <a:off x="609600" y="1605921"/>
            <a:ext cx="10972800" cy="4608512"/>
          </a:xfrm>
        </p:spPr>
        <p:txBody>
          <a:bodyPr/>
          <a:lstStyle/>
          <a:p>
            <a:pPr>
              <a:spcAft>
                <a:spcPts val="1200"/>
              </a:spcAft>
            </a:pPr>
            <a:r>
              <a:rPr lang="en-IE" sz="2000" dirty="0"/>
              <a:t>Ireland’s Environmental Protection Agency (EPA) designated as the national entity with overall responsibility for reporting on policies and measures (</a:t>
            </a:r>
            <a:r>
              <a:rPr lang="en-IE" sz="2000" dirty="0" err="1"/>
              <a:t>PaMs</a:t>
            </a:r>
            <a:r>
              <a:rPr lang="en-IE" sz="2000" dirty="0"/>
              <a:t>) and GHG projections</a:t>
            </a:r>
          </a:p>
          <a:p>
            <a:pPr>
              <a:spcAft>
                <a:spcPts val="1200"/>
              </a:spcAft>
            </a:pPr>
            <a:r>
              <a:rPr lang="en-IE" sz="2000" dirty="0"/>
              <a:t>The Minister for Climate, Energy and the Environment has overall responsibility for climate change policy and coordination of the development of the national policies and measures in climate change mitigation and adaptation</a:t>
            </a:r>
          </a:p>
          <a:p>
            <a:pPr>
              <a:spcAft>
                <a:spcPts val="1200"/>
              </a:spcAft>
            </a:pPr>
            <a:r>
              <a:rPr lang="en-IE" sz="2000" dirty="0"/>
              <a:t>The EPA works with the following organisations to clearly understand the assumptions, methodologies and models underpinning projections and </a:t>
            </a:r>
            <a:r>
              <a:rPr lang="en-IE" sz="2000" dirty="0" err="1"/>
              <a:t>PaMs</a:t>
            </a:r>
            <a:r>
              <a:rPr lang="en-IE" sz="2000" dirty="0"/>
              <a:t> associated with relevant sectors:</a:t>
            </a:r>
            <a:endParaRPr lang="en-US" sz="2000" dirty="0"/>
          </a:p>
          <a:p>
            <a:pPr lvl="1">
              <a:spcAft>
                <a:spcPts val="800"/>
              </a:spcAft>
              <a:buFont typeface="Arial" panose="020B0604020202020204" pitchFamily="34" charset="0"/>
              <a:buChar char="•"/>
            </a:pPr>
            <a:r>
              <a:rPr lang="en-IE" sz="2000" dirty="0"/>
              <a:t>Sustainable Energy Authority of Ireland (SEAI) </a:t>
            </a:r>
            <a:endParaRPr lang="en-US" sz="2000" dirty="0"/>
          </a:p>
          <a:p>
            <a:pPr lvl="1">
              <a:spcAft>
                <a:spcPts val="800"/>
              </a:spcAft>
              <a:buFont typeface="Arial" panose="020B0604020202020204" pitchFamily="34" charset="0"/>
              <a:buChar char="•"/>
            </a:pPr>
            <a:r>
              <a:rPr lang="en-IE" sz="2000" dirty="0"/>
              <a:t>Economic and Social Research Institute (ESRI) </a:t>
            </a:r>
            <a:endParaRPr lang="en-US" sz="2000" dirty="0"/>
          </a:p>
          <a:p>
            <a:pPr lvl="1">
              <a:spcAft>
                <a:spcPts val="800"/>
              </a:spcAft>
              <a:buFont typeface="Arial" panose="020B0604020202020204" pitchFamily="34" charset="0"/>
              <a:buChar char="•"/>
            </a:pPr>
            <a:r>
              <a:rPr lang="en-US" sz="2000" dirty="0" err="1"/>
              <a:t>Teagasc</a:t>
            </a:r>
            <a:r>
              <a:rPr lang="en-US" sz="2000" dirty="0"/>
              <a:t> </a:t>
            </a:r>
            <a:r>
              <a:rPr lang="en-IE" sz="2000" dirty="0"/>
              <a:t>(The Irish Agriculture and Food Development Authority)</a:t>
            </a:r>
            <a:endParaRPr lang="en-US" sz="2000" dirty="0"/>
          </a:p>
          <a:p>
            <a:pPr lvl="1">
              <a:spcAft>
                <a:spcPts val="800"/>
              </a:spcAft>
              <a:buFont typeface="Arial" panose="020B0604020202020204" pitchFamily="34" charset="0"/>
              <a:buChar char="•"/>
            </a:pPr>
            <a:r>
              <a:rPr lang="en-IE" sz="2000" dirty="0"/>
              <a:t>Government Departments</a:t>
            </a:r>
          </a:p>
          <a:p>
            <a:pPr lvl="1">
              <a:spcAft>
                <a:spcPts val="800"/>
              </a:spcAft>
              <a:buFont typeface="Arial" panose="020B0604020202020204" pitchFamily="34" charset="0"/>
              <a:buChar char="•"/>
            </a:pPr>
            <a:endParaRPr lang="en-IE" strike="sngStrike" dirty="0"/>
          </a:p>
        </p:txBody>
      </p:sp>
    </p:spTree>
    <p:extLst>
      <p:ext uri="{BB962C8B-B14F-4D97-AF65-F5344CB8AC3E}">
        <p14:creationId xmlns:p14="http://schemas.microsoft.com/office/powerpoint/2010/main" val="544377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A069-824F-F070-18F1-603F1FBE3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CB778-6830-A122-A4DE-C4FF888359AF}"/>
              </a:ext>
            </a:extLst>
          </p:cNvPr>
          <p:cNvSpPr>
            <a:spLocks noGrp="1"/>
          </p:cNvSpPr>
          <p:nvPr>
            <p:ph type="title"/>
          </p:nvPr>
        </p:nvSpPr>
        <p:spPr/>
        <p:txBody>
          <a:bodyPr/>
          <a:lstStyle/>
          <a:p>
            <a:r>
              <a:rPr lang="en-IE" dirty="0"/>
              <a:t>Stakeholder engagement</a:t>
            </a:r>
          </a:p>
        </p:txBody>
      </p:sp>
      <p:sp>
        <p:nvSpPr>
          <p:cNvPr id="4" name="Content Placeholder 3">
            <a:extLst>
              <a:ext uri="{FF2B5EF4-FFF2-40B4-BE49-F238E27FC236}">
                <a16:creationId xmlns:a16="http://schemas.microsoft.com/office/drawing/2014/main" id="{B37E0254-9541-4066-8180-3A91201E3D58}"/>
              </a:ext>
            </a:extLst>
          </p:cNvPr>
          <p:cNvSpPr>
            <a:spLocks noGrp="1"/>
          </p:cNvSpPr>
          <p:nvPr>
            <p:ph idx="10"/>
          </p:nvPr>
        </p:nvSpPr>
        <p:spPr>
          <a:xfrm>
            <a:off x="609600" y="1605921"/>
            <a:ext cx="10972800" cy="4608512"/>
          </a:xfrm>
        </p:spPr>
        <p:txBody>
          <a:bodyPr/>
          <a:lstStyle/>
          <a:p>
            <a:pPr>
              <a:spcAft>
                <a:spcPts val="1200"/>
              </a:spcAft>
            </a:pPr>
            <a:r>
              <a:rPr lang="en-IE" sz="2000" dirty="0"/>
              <a:t>Engagement process is well established </a:t>
            </a:r>
          </a:p>
          <a:p>
            <a:pPr>
              <a:spcAft>
                <a:spcPts val="1200"/>
              </a:spcAft>
            </a:pPr>
            <a:r>
              <a:rPr lang="en-IE" sz="2000" dirty="0"/>
              <a:t>Main stakeholders consulted in the preparation of GHG emission projections and Policies and Measures are:</a:t>
            </a:r>
            <a:endParaRPr lang="en-US" sz="2000" dirty="0"/>
          </a:p>
          <a:p>
            <a:pPr lvl="1">
              <a:spcAft>
                <a:spcPts val="800"/>
              </a:spcAft>
              <a:buFont typeface="Arial" panose="020B0604020202020204" pitchFamily="34" charset="0"/>
              <a:buChar char="•"/>
            </a:pPr>
            <a:r>
              <a:rPr lang="en-IE" sz="2000" dirty="0"/>
              <a:t>Sustainable Energy Authority of Ireland (SEAI) </a:t>
            </a:r>
            <a:endParaRPr lang="en-US" sz="2000" dirty="0"/>
          </a:p>
          <a:p>
            <a:pPr lvl="1">
              <a:spcAft>
                <a:spcPts val="800"/>
              </a:spcAft>
              <a:buFont typeface="Arial" panose="020B0604020202020204" pitchFamily="34" charset="0"/>
              <a:buChar char="•"/>
            </a:pPr>
            <a:r>
              <a:rPr lang="en-IE" sz="2000" dirty="0"/>
              <a:t>Economic and Social Research Institute (ESRI), with input from Department of Finance</a:t>
            </a:r>
          </a:p>
          <a:p>
            <a:pPr lvl="1">
              <a:spcAft>
                <a:spcPts val="800"/>
              </a:spcAft>
              <a:buFont typeface="Arial" panose="020B0604020202020204" pitchFamily="34" charset="0"/>
              <a:buChar char="•"/>
            </a:pPr>
            <a:r>
              <a:rPr lang="en-IE" sz="2000" dirty="0"/>
              <a:t>Government Departments (Climate, Energy and the Environment , Enterprise Trade and Employment, Housing Local Government and Heritage, Transport)</a:t>
            </a:r>
          </a:p>
          <a:p>
            <a:pPr lvl="1">
              <a:spcAft>
                <a:spcPts val="800"/>
              </a:spcAft>
              <a:buFont typeface="Arial" panose="020B0604020202020204" pitchFamily="34" charset="0"/>
              <a:buChar char="•"/>
            </a:pPr>
            <a:r>
              <a:rPr lang="en-US" sz="2000" dirty="0" err="1"/>
              <a:t>Teagasc</a:t>
            </a:r>
            <a:r>
              <a:rPr lang="en-US" sz="2000" dirty="0"/>
              <a:t> </a:t>
            </a:r>
            <a:r>
              <a:rPr lang="en-IE" sz="2000" dirty="0"/>
              <a:t>(The Irish Agriculture and Food Development Authority) and Department of Agriculture, Food and the Marine</a:t>
            </a:r>
            <a:endParaRPr lang="en-US" sz="2000" dirty="0"/>
          </a:p>
          <a:p>
            <a:pPr lvl="1">
              <a:spcAft>
                <a:spcPts val="800"/>
              </a:spcAft>
              <a:buFont typeface="Arial" panose="020B0604020202020204" pitchFamily="34" charset="0"/>
              <a:buChar char="•"/>
            </a:pPr>
            <a:endParaRPr lang="en-US" sz="2000" dirty="0"/>
          </a:p>
          <a:p>
            <a:pPr marL="0" indent="0">
              <a:buNone/>
            </a:pPr>
            <a:endParaRPr lang="en-IE" strike="sngStrike" dirty="0"/>
          </a:p>
        </p:txBody>
      </p:sp>
    </p:spTree>
    <p:extLst>
      <p:ext uri="{BB962C8B-B14F-4D97-AF65-F5344CB8AC3E}">
        <p14:creationId xmlns:p14="http://schemas.microsoft.com/office/powerpoint/2010/main" val="3223348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17227-CF58-BB20-B6B0-BDFD067CC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103B9-6AA5-C81A-6902-13179E9162E0}"/>
              </a:ext>
            </a:extLst>
          </p:cNvPr>
          <p:cNvSpPr>
            <a:spLocks noGrp="1"/>
          </p:cNvSpPr>
          <p:nvPr>
            <p:ph type="title"/>
          </p:nvPr>
        </p:nvSpPr>
        <p:spPr/>
        <p:txBody>
          <a:bodyPr/>
          <a:lstStyle/>
          <a:p>
            <a:r>
              <a:rPr lang="en-IE" dirty="0"/>
              <a:t>Alignment with national inventory system</a:t>
            </a:r>
          </a:p>
        </p:txBody>
      </p:sp>
      <p:sp>
        <p:nvSpPr>
          <p:cNvPr id="4" name="Content Placeholder 3">
            <a:extLst>
              <a:ext uri="{FF2B5EF4-FFF2-40B4-BE49-F238E27FC236}">
                <a16:creationId xmlns:a16="http://schemas.microsoft.com/office/drawing/2014/main" id="{C35D99AB-D26A-7D1C-8761-64150EA2B5F5}"/>
              </a:ext>
            </a:extLst>
          </p:cNvPr>
          <p:cNvSpPr>
            <a:spLocks noGrp="1"/>
          </p:cNvSpPr>
          <p:nvPr>
            <p:ph idx="10"/>
          </p:nvPr>
        </p:nvSpPr>
        <p:spPr>
          <a:xfrm>
            <a:off x="609600" y="1605921"/>
            <a:ext cx="10972800" cy="4608512"/>
          </a:xfrm>
        </p:spPr>
        <p:txBody>
          <a:bodyPr/>
          <a:lstStyle/>
          <a:p>
            <a:pPr>
              <a:spcAft>
                <a:spcPts val="1200"/>
              </a:spcAft>
            </a:pPr>
            <a:r>
              <a:rPr lang="en-IE" sz="2000" dirty="0"/>
              <a:t>National system for </a:t>
            </a:r>
            <a:r>
              <a:rPr lang="en-IE" sz="2000" dirty="0" err="1"/>
              <a:t>PaMs</a:t>
            </a:r>
            <a:r>
              <a:rPr lang="en-IE" sz="2000" dirty="0"/>
              <a:t> and projections builds on the National Atmospheric Inventory System (NAIS) for Ireland which was established by Government Decision in 2007</a:t>
            </a:r>
          </a:p>
          <a:p>
            <a:pPr>
              <a:spcAft>
                <a:spcPts val="1200"/>
              </a:spcAft>
            </a:pPr>
            <a:r>
              <a:rPr lang="en-IE" sz="2000" dirty="0"/>
              <a:t>The EPA has developed and implemented practices in the development of greenhouse gas emission projections which broadly follow the processes and arrangements in place for the national inventory system:</a:t>
            </a:r>
          </a:p>
          <a:p>
            <a:pPr lvl="1">
              <a:spcAft>
                <a:spcPts val="800"/>
              </a:spcAft>
              <a:buFont typeface="Arial" panose="020B0604020202020204" pitchFamily="34" charset="0"/>
              <a:buChar char="•"/>
            </a:pPr>
            <a:r>
              <a:rPr lang="en-IE" sz="2000" dirty="0"/>
              <a:t>Incorporation of the projections data processing into the national emission inventory file structures</a:t>
            </a:r>
            <a:endParaRPr lang="en-US" sz="2000" dirty="0"/>
          </a:p>
          <a:p>
            <a:pPr lvl="1">
              <a:spcAft>
                <a:spcPts val="800"/>
              </a:spcAft>
              <a:buFont typeface="Arial" panose="020B0604020202020204" pitchFamily="34" charset="0"/>
              <a:buChar char="•"/>
            </a:pPr>
            <a:r>
              <a:rPr lang="en-IE" sz="2000" dirty="0"/>
              <a:t>Development of QA/QC procedures like those in place for national emission inventories </a:t>
            </a:r>
            <a:endParaRPr lang="en-US" sz="2000" dirty="0"/>
          </a:p>
          <a:p>
            <a:pPr lvl="1">
              <a:spcAft>
                <a:spcPts val="800"/>
              </a:spcAft>
              <a:buFont typeface="Arial" panose="020B0604020202020204" pitchFamily="34" charset="0"/>
              <a:buChar char="•"/>
            </a:pPr>
            <a:r>
              <a:rPr lang="en-IE" sz="2000" dirty="0"/>
              <a:t>Extending the remit of national emission inventory system Memoranda of Understanding with key data providers to include the supply of activity data for national greenhouse gas and air pollutant emission projections</a:t>
            </a:r>
            <a:endParaRPr lang="en-US" sz="2000" dirty="0"/>
          </a:p>
        </p:txBody>
      </p:sp>
    </p:spTree>
    <p:extLst>
      <p:ext uri="{BB962C8B-B14F-4D97-AF65-F5344CB8AC3E}">
        <p14:creationId xmlns:p14="http://schemas.microsoft.com/office/powerpoint/2010/main" val="228368645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6DB5"/>
        </a:solidFill>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6DB5"/>
        </a:solidFill>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PA-PPT-EPA.pptx" id="{6651830F-5BCA-4812-868E-82FB66FD84F4}" vid="{8640D8CA-0DBD-4C5A-B5EB-D689CCF9FA7B}"/>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BA3A2428DB744E821DDFA0A9E10ECC" ma:contentTypeVersion="14" ma:contentTypeDescription="Create a new document." ma:contentTypeScope="" ma:versionID="8bee8df0d26522b659286bbf97a4b010">
  <xsd:schema xmlns:xsd="http://www.w3.org/2001/XMLSchema" xmlns:xs="http://www.w3.org/2001/XMLSchema" xmlns:p="http://schemas.microsoft.com/office/2006/metadata/properties" xmlns:ns2="1403fb54-47f0-4125-8d87-6a6e13582a5f" xmlns:ns3="340712eb-23a5-460f-9036-c6d10688f9a1" targetNamespace="http://schemas.microsoft.com/office/2006/metadata/properties" ma:root="true" ma:fieldsID="2079c50b34cde841e7e7eef08b1850f0" ns2:_="" ns3:_="">
    <xsd:import namespace="1403fb54-47f0-4125-8d87-6a6e13582a5f"/>
    <xsd:import namespace="340712eb-23a5-460f-9036-c6d10688f9a1"/>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03fb54-47f0-4125-8d87-6a6e13582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0712eb-23a5-460f-9036-c6d10688f9a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e6286381-c642-4a0c-afc0-c5b6a9882855}" ma:internalName="TaxCatchAll" ma:showField="CatchAllData" ma:web="340712eb-23a5-460f-9036-c6d10688f9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40712eb-23a5-460f-9036-c6d10688f9a1" xsi:nil="true"/>
    <lcf76f155ced4ddcb4097134ff3c332f xmlns="1403fb54-47f0-4125-8d87-6a6e13582a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619516-F412-4E02-8F1E-867FA550F541}"/>
</file>

<file path=customXml/itemProps2.xml><?xml version="1.0" encoding="utf-8"?>
<ds:datastoreItem xmlns:ds="http://schemas.openxmlformats.org/officeDocument/2006/customXml" ds:itemID="{74A166F0-B958-40EB-A67F-08FAB59D8E9A}"/>
</file>

<file path=customXml/itemProps3.xml><?xml version="1.0" encoding="utf-8"?>
<ds:datastoreItem xmlns:ds="http://schemas.openxmlformats.org/officeDocument/2006/customXml" ds:itemID="{7779FF35-F81B-40C5-A152-86978CAD6E47}"/>
</file>

<file path=docProps/app.xml><?xml version="1.0" encoding="utf-8"?>
<Properties xmlns="http://schemas.openxmlformats.org/officeDocument/2006/extended-properties" xmlns:vt="http://schemas.openxmlformats.org/officeDocument/2006/docPropsVTypes">
  <TotalTime>2393</TotalTime>
  <Words>1229</Words>
  <Application>Microsoft Office PowerPoint</Application>
  <PresentationFormat>Widescreen</PresentationFormat>
  <Paragraphs>187</Paragraphs>
  <Slides>23</Slides>
  <Notes>23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23</vt:i4>
      </vt:variant>
    </vt:vector>
  </HeadingPairs>
  <TitlesOfParts>
    <vt:vector size="34" baseType="lpstr">
      <vt:lpstr>Aptos</vt:lpstr>
      <vt:lpstr>Arial</vt:lpstr>
      <vt:lpstr>Calibri</vt:lpstr>
      <vt:lpstr>Calibri Light</vt:lpstr>
      <vt:lpstr>open sans</vt:lpstr>
      <vt:lpstr>Times New Roman</vt:lpstr>
      <vt:lpstr>Verdana</vt:lpstr>
      <vt:lpstr>Wingdings</vt:lpstr>
      <vt:lpstr>1_Office Theme</vt:lpstr>
      <vt:lpstr>2_Office Theme</vt:lpstr>
      <vt:lpstr>3_Office Theme</vt:lpstr>
      <vt:lpstr>Technical exchange: Ireland’s PaMs reporting</vt:lpstr>
      <vt:lpstr>Overview</vt:lpstr>
      <vt:lpstr>PowerPoint Presentation</vt:lpstr>
      <vt:lpstr>Number of PaMs reported</vt:lpstr>
      <vt:lpstr>GHG emission reductions</vt:lpstr>
      <vt:lpstr>Alignment: PaMs and Projections </vt:lpstr>
      <vt:lpstr>Alignment: PaMs and Projections </vt:lpstr>
      <vt:lpstr>PowerPoint Presentation</vt:lpstr>
      <vt:lpstr>Approach - PaMs</vt:lpstr>
      <vt:lpstr>Three streams of data compilation</vt:lpstr>
      <vt:lpstr>PowerPoint Presentation</vt:lpstr>
      <vt:lpstr>PaMs tool</vt:lpstr>
      <vt:lpstr>PaMs tool</vt:lpstr>
      <vt:lpstr>PowerPoint Presentation</vt:lpstr>
      <vt:lpstr>Other energy PaMs</vt:lpstr>
      <vt:lpstr>Non-energy PaMs</vt:lpstr>
      <vt:lpstr>PowerPoint Presentation</vt:lpstr>
      <vt:lpstr>Unique PaM IDs</vt:lpstr>
      <vt:lpstr>PaMs Improvement process</vt:lpstr>
      <vt:lpstr>PowerPoint Presentation</vt:lpstr>
      <vt:lpstr>Institutional arrangements </vt:lpstr>
      <vt:lpstr>Stakeholder engagement</vt:lpstr>
      <vt:lpstr>Alignment with national inventory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Aoife Halstead</dc:creator>
  <cp:lastModifiedBy>Aoife Halstead</cp:lastModifiedBy>
  <cp:revision>47</cp:revision>
  <dcterms:created xsi:type="dcterms:W3CDTF">2025-10-13T10:01:34Z</dcterms:created>
  <dcterms:modified xsi:type="dcterms:W3CDTF">2025-10-23T09:07:21Z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0x010100A7BA3A2428DB744E821DDFA0A9E10ECC</vt:lpwstr>
  </property>
</Properties>
</file>