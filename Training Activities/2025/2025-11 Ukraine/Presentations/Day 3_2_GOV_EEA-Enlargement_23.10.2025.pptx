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5"/>
  </p:notesMasterIdLst>
  <p:handoutMasterIdLst>
    <p:handoutMasterId r:id="rId16"/>
  </p:handoutMasterIdLst>
  <p:sldIdLst>
    <p:sldId id="350" r:id="rId5"/>
    <p:sldId id="365" r:id="rId6"/>
    <p:sldId id="364" r:id="rId7"/>
    <p:sldId id="368" r:id="rId8"/>
    <p:sldId id="352" r:id="rId9"/>
    <p:sldId id="366" r:id="rId10"/>
    <p:sldId id="367" r:id="rId11"/>
    <p:sldId id="355" r:id="rId12"/>
    <p:sldId id="361" r:id="rId13"/>
    <p:sldId id="334" r:id="rId14"/>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862CCF-4D90-B613-5D00-46F022FD81A9}" v="68" dt="2025-10-22T13:04:25.092"/>
    <p1510:client id="{14DF9381-25E8-0DF1-869C-1224692C1DA4}" v="473" dt="2025-10-22T08:53:48.111"/>
    <p1510:client id="{3F7BC20F-CC53-4E43-9D95-C6DAB00AA9A5}" v="52" dt="2025-10-22T12:58:25.110"/>
    <p1510:client id="{4AB7A34F-81BA-551B-65F7-0DF4DEFBF09E}" v="4" dt="2025-10-22T11:06:02.790"/>
    <p1510:client id="{B701E562-1572-45BC-8E84-97D195AEF2BA}" v="115" dt="2025-10-22T07:27:29.271"/>
    <p1510:client id="{E7974349-F87A-057A-CEE3-F8686C745B6A}" v="4" dt="2025-10-22T10:00:51.9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4" name="Footer Placeholder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n-GB" smtClean="0"/>
              <a:t>‹#›</a:t>
            </a:fld>
            <a:endParaRPr lang="en-GB"/>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1T20:40:23.991"/>
    </inkml:context>
    <inkml:brush xml:id="br0">
      <inkml:brushProperty name="width" value="0.16757" units="cm"/>
      <inkml:brushProperty name="height" value="0.16757" units="cm"/>
      <inkml:brushProperty name="color" value="#397E89"/>
      <inkml:brushProperty name="transparency" value="107"/>
    </inkml:brush>
  </inkml:definitions>
  <inkml:trace contextRef="#ctx0" brushRef="#br0">3 35 22910,'15042'-27'0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CA15AE-E040-4F31-96C6-FD066D034FFB}" type="datetime1">
              <a:rPr lang="en-GB" smtClean="0"/>
              <a:pPr/>
              <a:t>22/10/2025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n-GB" noProof="0" smtClean="0"/>
              <a:t>‹#›</a:t>
            </a:fld>
            <a:endParaRPr lang="en-GB"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A89C7E07-3C67-C64C-8DA0-0404F6303970}" type="slidenum">
              <a:rPr lang="en-GB" smtClean="0"/>
              <a:t>1</a:t>
            </a:fld>
            <a:endParaRPr lang="en-GB"/>
          </a:p>
        </p:txBody>
      </p:sp>
    </p:spTree>
    <p:extLst>
      <p:ext uri="{BB962C8B-B14F-4D97-AF65-F5344CB8AC3E}">
        <p14:creationId xmlns:p14="http://schemas.microsoft.com/office/powerpoint/2010/main" val="334658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have already heard about the Eionet coverage and EEA cooperation with the Western Balkans.</a:t>
            </a:r>
          </a:p>
          <a:p>
            <a:r>
              <a:rPr lang="en-US"/>
              <a:t>On the map you also see the current cooperation activities with Ukraine + Moldova &amp; Georgia under the Energy Community project, implemented by EEA</a:t>
            </a:r>
            <a:endParaRPr lang="en-GB"/>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2</a:t>
            </a:fld>
            <a:endParaRPr lang="en-GB" noProof="0"/>
          </a:p>
        </p:txBody>
      </p:sp>
    </p:spTree>
    <p:extLst>
      <p:ext uri="{BB962C8B-B14F-4D97-AF65-F5344CB8AC3E}">
        <p14:creationId xmlns:p14="http://schemas.microsoft.com/office/powerpoint/2010/main" val="837761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short overview of the cooperation status (the example of the Western Balkan partners) versus EEA membership (covering 32 member countries in total)</a:t>
            </a:r>
            <a:endParaRPr lang="en-GB"/>
          </a:p>
        </p:txBody>
      </p:sp>
      <p:sp>
        <p:nvSpPr>
          <p:cNvPr id="4" name="Slide Number Placeholder 3"/>
          <p:cNvSpPr>
            <a:spLocks noGrp="1"/>
          </p:cNvSpPr>
          <p:nvPr>
            <p:ph type="sldNum" sz="quarter" idx="5"/>
          </p:nvPr>
        </p:nvSpPr>
        <p:spPr/>
        <p:txBody>
          <a:bodyPr/>
          <a:lstStyle/>
          <a:p>
            <a:pPr rtl="0"/>
            <a:fld id="{A89C7E07-3C67-C64C-8DA0-0404F6303970}" type="slidenum">
              <a:rPr lang="en-GB" smtClean="0"/>
              <a:t>3</a:t>
            </a:fld>
            <a:endParaRPr lang="en-GB"/>
          </a:p>
        </p:txBody>
      </p:sp>
    </p:spTree>
    <p:extLst>
      <p:ext uri="{BB962C8B-B14F-4D97-AF65-F5344CB8AC3E}">
        <p14:creationId xmlns:p14="http://schemas.microsoft.com/office/powerpoint/2010/main" val="1805860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Formal steps outlining the process for joining EEA and Eionet – through the main decision-makers in Brussels.</a:t>
            </a:r>
            <a:endParaRPr lang="en-GB"/>
          </a:p>
        </p:txBody>
      </p:sp>
      <p:sp>
        <p:nvSpPr>
          <p:cNvPr id="4" name="Slide Number Placeholder 3"/>
          <p:cNvSpPr>
            <a:spLocks noGrp="1"/>
          </p:cNvSpPr>
          <p:nvPr>
            <p:ph type="sldNum" sz="quarter" idx="5"/>
          </p:nvPr>
        </p:nvSpPr>
        <p:spPr/>
        <p:txBody>
          <a:bodyPr/>
          <a:lstStyle/>
          <a:p>
            <a:pPr rtl="0"/>
            <a:fld id="{A89C7E07-3C67-C64C-8DA0-0404F6303970}" type="slidenum">
              <a:rPr lang="en-GB" smtClean="0"/>
              <a:t>5</a:t>
            </a:fld>
            <a:endParaRPr lang="en-GB"/>
          </a:p>
        </p:txBody>
      </p:sp>
    </p:spTree>
    <p:extLst>
      <p:ext uri="{BB962C8B-B14F-4D97-AF65-F5344CB8AC3E}">
        <p14:creationId xmlns:p14="http://schemas.microsoft.com/office/powerpoint/2010/main" val="1315790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The provision of high-quality data by Eionet is fundamental for the EEA to achieve its mission to provide timely, targeted, relevant and reliable information to policy-making agents and the public.</a:t>
            </a:r>
            <a:endParaRPr lang="en-GB"/>
          </a:p>
          <a:p>
            <a:r>
              <a:rPr lang="en-US"/>
              <a:t>The graph</a:t>
            </a:r>
            <a:r>
              <a:rPr lang="en-US" sz="1200" b="0" i="0" kern="1200">
                <a:solidFill>
                  <a:schemeClr val="tx1"/>
                </a:solidFill>
                <a:effectLst/>
                <a:latin typeface="+mn-lt"/>
                <a:ea typeface="+mn-ea"/>
                <a:cs typeface="+mn-cs"/>
              </a:rPr>
              <a:t> presents the results of data collected in 2023 for 12 Eionet core data flows. It </a:t>
            </a:r>
            <a:r>
              <a:rPr lang="en-US" sz="1200" b="0" i="0" kern="1200" err="1">
                <a:solidFill>
                  <a:schemeClr val="tx1"/>
                </a:solidFill>
                <a:effectLst/>
                <a:latin typeface="+mn-lt"/>
                <a:ea typeface="+mn-ea"/>
                <a:cs typeface="+mn-cs"/>
              </a:rPr>
              <a:t>summarises</a:t>
            </a:r>
            <a:r>
              <a:rPr lang="en-US" sz="1200" b="0" i="0" kern="1200">
                <a:solidFill>
                  <a:schemeClr val="tx1"/>
                </a:solidFill>
                <a:effectLst/>
                <a:latin typeface="+mn-lt"/>
                <a:ea typeface="+mn-ea"/>
                <a:cs typeface="+mn-cs"/>
              </a:rPr>
              <a:t> the evaluation of hundreds of data deliveries received from reporting countries (on voluntary basis), in many cases used by the countries to report to various commitments in environmental domain. </a:t>
            </a:r>
          </a:p>
          <a:p>
            <a:r>
              <a:rPr lang="en-US" sz="1200" b="0" i="0" kern="1200">
                <a:solidFill>
                  <a:schemeClr val="tx1"/>
                </a:solidFill>
                <a:effectLst/>
                <a:latin typeface="+mn-lt"/>
                <a:ea typeface="+mn-ea"/>
                <a:cs typeface="+mn-cs"/>
              </a:rPr>
              <a:t>This overview is produced on annual basis for the part 20 years and is one of the most popular reference, showing progress against agreed reporting criteria (timeliness and data quality) and allowing countries to identify and </a:t>
            </a:r>
            <a:r>
              <a:rPr lang="en-US" sz="1200" b="0" i="0" kern="1200" err="1">
                <a:solidFill>
                  <a:schemeClr val="tx1"/>
                </a:solidFill>
                <a:effectLst/>
                <a:latin typeface="+mn-lt"/>
                <a:ea typeface="+mn-ea"/>
                <a:cs typeface="+mn-cs"/>
              </a:rPr>
              <a:t>prioritise</a:t>
            </a:r>
            <a:r>
              <a:rPr lang="en-US" sz="1200" b="0" i="0" kern="1200">
                <a:solidFill>
                  <a:schemeClr val="tx1"/>
                </a:solidFill>
                <a:effectLst/>
                <a:latin typeface="+mn-lt"/>
                <a:ea typeface="+mn-ea"/>
                <a:cs typeface="+mn-cs"/>
              </a:rPr>
              <a:t> the resources they need for regular reporting procedures. </a:t>
            </a:r>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6</a:t>
            </a:fld>
            <a:endParaRPr lang="en-GB" noProof="0"/>
          </a:p>
        </p:txBody>
      </p:sp>
    </p:spTree>
    <p:extLst>
      <p:ext uri="{BB962C8B-B14F-4D97-AF65-F5344CB8AC3E}">
        <p14:creationId xmlns:p14="http://schemas.microsoft.com/office/powerpoint/2010/main" val="346630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five non-EU member countries have three different legal bases and setups for financial participation:</a:t>
            </a:r>
          </a:p>
          <a:p>
            <a:pPr marL="228600" indent="-228600">
              <a:buAutoNum type="arabicPeriod"/>
            </a:pPr>
            <a:r>
              <a:rPr lang="en-US"/>
              <a:t>The European Economic Area countries pay a block grant for participation (Iceland, Norway and Lichtenstein).</a:t>
            </a:r>
          </a:p>
          <a:p>
            <a:pPr marL="228600" indent="-228600">
              <a:buAutoNum type="arabicPeriod"/>
            </a:pPr>
            <a:r>
              <a:rPr lang="en-US"/>
              <a:t>Switzerland’s contribution is calculated based on the EU contribution divided by the number of Member States (i.e. 1/27th). </a:t>
            </a:r>
          </a:p>
          <a:p>
            <a:pPr marL="228600" indent="-228600">
              <a:buAutoNum type="arabicPeriod"/>
            </a:pPr>
            <a:r>
              <a:rPr lang="en-US"/>
              <a:t>Türkiye’s contribution is a fixed amount, calculated based on GDP at the time of joining EEA (2003).</a:t>
            </a:r>
            <a:endParaRPr lang="en-GB"/>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7</a:t>
            </a:fld>
            <a:endParaRPr lang="en-GB" noProof="0"/>
          </a:p>
        </p:txBody>
      </p:sp>
    </p:spTree>
    <p:extLst>
      <p:ext uri="{BB962C8B-B14F-4D97-AF65-F5344CB8AC3E}">
        <p14:creationId xmlns:p14="http://schemas.microsoft.com/office/powerpoint/2010/main" val="2306518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Earlier this year, the EEA Management Board discussed the EEA enlargement and agreed to proceed with granting cooperating status to Moldova and Ukraine, conditional to additional resources allocated to the Agency.</a:t>
            </a:r>
          </a:p>
          <a:p>
            <a:r>
              <a:rPr lang="en-US"/>
              <a:t>The process with Republic of Moldova is going ahead, with expected date of joining EEA on 1 January 2026.</a:t>
            </a:r>
            <a:endParaRPr lang="en-GB"/>
          </a:p>
        </p:txBody>
      </p:sp>
      <p:sp>
        <p:nvSpPr>
          <p:cNvPr id="4" name="Slide Number Placeholder 3"/>
          <p:cNvSpPr>
            <a:spLocks noGrp="1"/>
          </p:cNvSpPr>
          <p:nvPr>
            <p:ph type="sldNum" sz="quarter" idx="5"/>
          </p:nvPr>
        </p:nvSpPr>
        <p:spPr/>
        <p:txBody>
          <a:bodyPr/>
          <a:lstStyle/>
          <a:p>
            <a:pPr rtl="0"/>
            <a:fld id="{A89C7E07-3C67-C64C-8DA0-0404F6303970}" type="slidenum">
              <a:rPr lang="en-GB" smtClean="0"/>
              <a:t>8</a:t>
            </a:fld>
            <a:endParaRPr lang="en-GB"/>
          </a:p>
        </p:txBody>
      </p:sp>
    </p:spTree>
    <p:extLst>
      <p:ext uri="{BB962C8B-B14F-4D97-AF65-F5344CB8AC3E}">
        <p14:creationId xmlns:p14="http://schemas.microsoft.com/office/powerpoint/2010/main" val="952895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Beyond the Energy Community activities that you are currently involved in, the Agency has a long-history of engaging with the Eastern partners in the context of the pan-European assessments since Kyiv report (2003).</a:t>
            </a:r>
          </a:p>
          <a:p>
            <a:r>
              <a:rPr lang="en-US"/>
              <a:t>In the period 2010-2020, the EEA has implemented several big regional projects supporting the implementation of the Shared Environmental Information System (SEIS) principles and practices, designed around Eionet activities. The cooperation under SEIS heading covered a wide range of activities aiming to further improve environmental governance and to support the institutional capacities in the six EaP partner countries in terms of data collection, indicators and assessments. The thematic focus was on air, water and biodiversity data and information, while interested partner countries – including Ukraine – piloted other areas such as land and waste. The project addressed ways to increase accessibility and the use of environmental data and information, to improve the effective sharing of the data and information across the region and to reduce the reporting burden. Project activities – closed in 2020 for EEA, but still continuing under other EU-funded umbrellas – allowed the various networks and experts in the partner countries to actively engage in identified activities and strengthened the communication and dialogue on environmental issues.</a:t>
            </a:r>
            <a:endParaRPr lang="en-GB"/>
          </a:p>
        </p:txBody>
      </p:sp>
      <p:sp>
        <p:nvSpPr>
          <p:cNvPr id="4" name="Slide Number Placeholder 3"/>
          <p:cNvSpPr>
            <a:spLocks noGrp="1"/>
          </p:cNvSpPr>
          <p:nvPr>
            <p:ph type="sldNum" sz="quarter" idx="5"/>
          </p:nvPr>
        </p:nvSpPr>
        <p:spPr/>
        <p:txBody>
          <a:bodyPr/>
          <a:lstStyle/>
          <a:p>
            <a:pPr rtl="0"/>
            <a:fld id="{A89C7E07-3C67-C64C-8DA0-0404F6303970}" type="slidenum">
              <a:rPr lang="en-GB" smtClean="0"/>
              <a:t>9</a:t>
            </a:fld>
            <a:endParaRPr lang="en-GB"/>
          </a:p>
        </p:txBody>
      </p:sp>
    </p:spTree>
    <p:extLst>
      <p:ext uri="{BB962C8B-B14F-4D97-AF65-F5344CB8AC3E}">
        <p14:creationId xmlns:p14="http://schemas.microsoft.com/office/powerpoint/2010/main" val="448152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en-US"/>
              <a:t>Thank you for your attention! In case of any further questions, please reach out to the EEA Governance Unit</a:t>
            </a:r>
            <a:endParaRPr lang="en-GB"/>
          </a:p>
        </p:txBody>
      </p:sp>
      <p:sp>
        <p:nvSpPr>
          <p:cNvPr id="4" name="Slide Number Placeholder 3"/>
          <p:cNvSpPr>
            <a:spLocks noGrp="1"/>
          </p:cNvSpPr>
          <p:nvPr>
            <p:ph type="sldNum" sz="quarter" idx="5"/>
          </p:nvPr>
        </p:nvSpPr>
        <p:spPr/>
        <p:txBody>
          <a:bodyPr rtlCol="0"/>
          <a:lstStyle/>
          <a:p>
            <a:pPr rtl="0"/>
            <a:fld id="{A89C7E07-3C67-C64C-8DA0-0404F6303970}" type="slidenum">
              <a:rPr lang="en-GB" smtClean="0"/>
              <a:t>10</a:t>
            </a:fld>
            <a:endParaRPr lang="en-GB"/>
          </a:p>
        </p:txBody>
      </p:sp>
    </p:spTree>
    <p:extLst>
      <p:ext uri="{BB962C8B-B14F-4D97-AF65-F5344CB8AC3E}">
        <p14:creationId xmlns:p14="http://schemas.microsoft.com/office/powerpoint/2010/main" val="4285802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n-US" noProof="0"/>
              <a:t>Click to edit Master title style</a:t>
            </a:r>
            <a:endParaRPr lang="en-GB" noProof="0"/>
          </a:p>
        </p:txBody>
      </p:sp>
      <p:grpSp>
        <p:nvGrpSpPr>
          <p:cNvPr id="9" name="Group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3" name="Straight Connector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n-US" noProof="0"/>
              <a:t>Click to edit Master title style</a:t>
            </a:r>
            <a:endParaRPr lang="en-GB" noProof="0"/>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3" name="Straight Connector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ext Placeholder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5" name="Text Placeholder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6" name="Straight Connector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ext Placeholder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8" name="Text Placeholder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 name="Date Placeholder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rtl="0"/>
            <a:fld id="{C02CDA83-4160-4EEB-AD7D-1C57C21837F3}" type="datetime3">
              <a:rPr lang="en-GB" noProof="0" smtClean="0">
                <a:latin typeface="+mn-lt"/>
              </a:rPr>
              <a:t>22 October, 2025</a:t>
            </a:fld>
            <a:endParaRPr lang="en-GB" noProof="0">
              <a:latin typeface="+mn-lt"/>
            </a:endParaRPr>
          </a:p>
        </p:txBody>
      </p:sp>
      <p:sp>
        <p:nvSpPr>
          <p:cNvPr id="3" name="Footer Placeholder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en-GB" noProof="0" smtClean="0"/>
              <a:pPr rtl="0"/>
              <a:t>‹#›</a:t>
            </a:fld>
            <a:endParaRPr lang="en-GB" noProof="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16" name="Freef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19" name="Freef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grpSp>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n-US" noProof="0"/>
              <a:t>Click icon to add picture</a:t>
            </a:r>
            <a:endParaRPr lang="en-GB" noProof="0"/>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 name="Date Placeholder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rtl="0"/>
            <a:fld id="{94200668-9301-4F8B-89F3-A4E2AEA80049}" type="datetime3">
              <a:rPr lang="en-GB" noProof="0" smtClean="0">
                <a:latin typeface="+mn-lt"/>
              </a:rPr>
              <a:t>22 October, 2025</a:t>
            </a:fld>
            <a:endParaRPr lang="en-GB" noProof="0">
              <a:latin typeface="+mn-lt"/>
            </a:endParaRPr>
          </a:p>
        </p:txBody>
      </p:sp>
      <p:sp>
        <p:nvSpPr>
          <p:cNvPr id="3" name="Footer Placeholder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rtl="0"/>
            <a:fld id="{294A09A9-5501-47C1-A89A-A340965A2BE2}" type="slidenum">
              <a:rPr lang="en-GB" noProof="0" smtClean="0"/>
              <a:pPr rtl="0"/>
              <a:t>‹#›</a:t>
            </a:fld>
            <a:endParaRPr lang="en-GB" noProof="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n-US" noProof="0"/>
              <a:t>Click icon to add picture</a:t>
            </a:r>
            <a:endParaRPr lang="en-GB" noProof="0"/>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n-US" noProof="0"/>
              <a:t>Click to edit Master title style</a:t>
            </a:r>
            <a:endParaRPr lang="en-GB" noProof="0"/>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n-US" noProof="0"/>
              <a:t>Click icon to add chart</a:t>
            </a:r>
            <a:endParaRPr lang="en-GB" noProof="0"/>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a:p>
        </p:txBody>
      </p:sp>
      <p:sp>
        <p:nvSpPr>
          <p:cNvPr id="2" name="Date Placeholder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rtl="0"/>
            <a:fld id="{029ECAD1-3047-43DC-81B7-231597E81F19}" type="datetime3">
              <a:rPr lang="en-GB" noProof="0" smtClean="0">
                <a:latin typeface="+mn-lt"/>
              </a:rPr>
              <a:t>22 October, 2025</a:t>
            </a:fld>
            <a:endParaRPr lang="en-GB" noProof="0">
              <a:latin typeface="+mn-lt"/>
            </a:endParaRPr>
          </a:p>
        </p:txBody>
      </p:sp>
      <p:sp>
        <p:nvSpPr>
          <p:cNvPr id="3" name="Footer Placeholder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rtl="0"/>
            <a:fld id="{294A09A9-5501-47C1-A89A-A340965A2BE2}" type="slidenum">
              <a:rPr lang="en-GB" noProof="0" smtClean="0"/>
              <a:pPr rtl="0"/>
              <a:t>‹#›</a:t>
            </a:fld>
            <a:endParaRPr lang="en-GB" noProof="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n-US" noProof="0"/>
              <a:t>Click icon to add table</a:t>
            </a:r>
            <a:endParaRPr lang="en-GB" noProof="0"/>
          </a:p>
        </p:txBody>
      </p:sp>
      <p:sp>
        <p:nvSpPr>
          <p:cNvPr id="2" name="Date Placeholder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rtl="0"/>
            <a:fld id="{1E6A16EE-7FBD-4E62-A186-69A1E1C8758D}" type="datetime3">
              <a:rPr lang="en-GB" noProof="0" smtClean="0">
                <a:latin typeface="+mn-lt"/>
              </a:rPr>
              <a:t>22 October, 2025</a:t>
            </a:fld>
            <a:endParaRPr lang="en-GB" noProof="0">
              <a:latin typeface="+mn-lt"/>
            </a:endParaRPr>
          </a:p>
        </p:txBody>
      </p:sp>
      <p:sp>
        <p:nvSpPr>
          <p:cNvPr id="3" name="Footer Placeholder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rtl="0"/>
            <a:fld id="{294A09A9-5501-47C1-A89A-A340965A2BE2}" type="slidenum">
              <a:rPr lang="en-GB" noProof="0" smtClean="0"/>
              <a:pPr rtl="0"/>
              <a:t>‹#›</a:t>
            </a:fld>
            <a:endParaRPr lang="en-GB" noProof="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n-US" noProof="0"/>
              <a:t>Click to edit Master title style</a:t>
            </a:r>
            <a:endParaRPr lang="en-GB" noProof="0"/>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en-GB" sz="20000" b="1" noProof="0">
                <a:solidFill>
                  <a:schemeClr val="bg1"/>
                </a:solidFill>
              </a:rPr>
              <a:t>“</a:t>
            </a:r>
          </a:p>
        </p:txBody>
      </p:sp>
      <p:grpSp>
        <p:nvGrpSpPr>
          <p:cNvPr id="18" name="Group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Shape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20" name="Freeform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21" name="Freeform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22" name="Freeform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a:p>
          </p:txBody>
        </p:sp>
        <p:sp>
          <p:nvSpPr>
            <p:cNvPr id="23" name="Freeform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grpSp>
      <p:grpSp>
        <p:nvGrpSpPr>
          <p:cNvPr id="24" name="Group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reeform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26" name="Freeform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27" name="Freeform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reeform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27" name="Freeform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36" name="Freeform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grpSp>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n-US" noProof="0"/>
              <a:t>Click icon to add picture</a:t>
            </a:r>
            <a:endParaRPr lang="en-GB" noProof="0"/>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n-US" noProof="0"/>
              <a:t>Click icon to add picture</a:t>
            </a:r>
            <a:endParaRPr lang="en-GB" noProof="0"/>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grpSp>
        <p:nvGrpSpPr>
          <p:cNvPr id="23" name="Group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Shape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29" name="Freeform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30" name="Freeform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31" name="Freeform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a:p>
          </p:txBody>
        </p:sp>
        <p:sp>
          <p:nvSpPr>
            <p:cNvPr id="32" name="Freeform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gr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n-US" noProof="0"/>
              <a:t>Click icon to add picture</a:t>
            </a:r>
            <a:endParaRPr lang="en-GB" noProof="0"/>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n-US" noProof="0"/>
              <a:t>Click icon to add picture</a:t>
            </a:r>
            <a:endParaRPr lang="en-GB" noProof="0"/>
          </a:p>
        </p:txBody>
      </p:sp>
      <p:sp>
        <p:nvSpPr>
          <p:cNvPr id="2" name="Date Placeholder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rtl="0"/>
            <a:fld id="{D21FA074-9295-430E-9633-F682F8C96958}" type="datetime3">
              <a:rPr lang="en-GB" noProof="0" smtClean="0">
                <a:latin typeface="+mn-lt"/>
              </a:rPr>
              <a:t>22 October, 2025</a:t>
            </a:fld>
            <a:endParaRPr lang="en-GB" noProof="0">
              <a:latin typeface="+mn-lt"/>
            </a:endParaRPr>
          </a:p>
        </p:txBody>
      </p:sp>
      <p:sp>
        <p:nvSpPr>
          <p:cNvPr id="3" name="Footer Placeholder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rtl="0"/>
            <a:fld id="{294A09A9-5501-47C1-A89A-A340965A2BE2}" type="slidenum">
              <a:rPr lang="en-GB" noProof="0" smtClean="0"/>
              <a:pPr rtl="0"/>
              <a:t>‹#›</a:t>
            </a:fld>
            <a:endParaRPr lang="en-GB" noProof="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a:p>
        </p:txBody>
      </p: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n-US" noProof="0"/>
              <a:t>Click to edit Master text styles</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n-US" noProof="0"/>
              <a:t>Click to edit Master text styles</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8" name="Straight Connector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7" name="Rectangle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7" name="Rectangle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9" name="Rectangle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Date Placeholder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rtl="0"/>
            <a:fld id="{D33AD83D-9671-4762-AF03-9C719A9CD695}" type="datetime3">
              <a:rPr lang="en-GB" noProof="0" smtClean="0">
                <a:latin typeface="+mn-lt"/>
              </a:rPr>
              <a:t>22 October, 2025</a:t>
            </a:fld>
            <a:endParaRPr lang="en-GB" noProof="0">
              <a:latin typeface="+mn-lt"/>
            </a:endParaRPr>
          </a:p>
        </p:txBody>
      </p:sp>
      <p:sp>
        <p:nvSpPr>
          <p:cNvPr id="3" name="Footer Placeholder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rtl="0"/>
            <a:fld id="{294A09A9-5501-47C1-A89A-A340965A2BE2}" type="slidenum">
              <a:rPr lang="en-GB" noProof="0" smtClean="0"/>
              <a:pPr rtl="0"/>
              <a:t>‹#›</a:t>
            </a:fld>
            <a:endParaRPr lang="en-GB" noProof="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21" name="Freeform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22" name="Freeform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rtl="0"/>
            <a:fld id="{F88F5F63-8808-4375-85CE-D0FAFA3BBE65}" type="datetime3">
              <a:rPr lang="en-GB" noProof="0" smtClean="0">
                <a:latin typeface="+mn-lt"/>
              </a:rPr>
              <a:t>22 October, 2025</a:t>
            </a:fld>
            <a:endParaRPr lang="en-GB" noProof="0">
              <a:latin typeface="+mn-lt"/>
            </a:endParaRPr>
          </a:p>
        </p:txBody>
      </p:sp>
      <p:sp>
        <p:nvSpPr>
          <p:cNvPr id="3" name="Footer Placeholder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rtl="0"/>
            <a:fld id="{294A09A9-5501-47C1-A89A-A340965A2BE2}" type="slidenum">
              <a:rPr lang="en-GB" noProof="0" smtClean="0"/>
              <a:pPr rtl="0"/>
              <a:t>‹#›</a:t>
            </a:fld>
            <a:endParaRPr lang="en-GB" noProof="0"/>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reeform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39" name="Freeform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40" name="Freeform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rtl="0"/>
            <a:fld id="{6D17C7AE-DC41-4D6E-8CE7-A0296D62536F}" type="datetime3">
              <a:rPr lang="en-GB" noProof="0" smtClean="0">
                <a:latin typeface="+mn-lt"/>
              </a:rPr>
              <a:t>22 October, 2025</a:t>
            </a:fld>
            <a:endParaRPr lang="en-GB" noProof="0">
              <a:latin typeface="+mn-lt"/>
            </a:endParaRPr>
          </a:p>
        </p:txBody>
      </p:sp>
      <p:sp>
        <p:nvSpPr>
          <p:cNvPr id="3" name="Footer Placeholder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rtl="0"/>
            <a:fld id="{294A09A9-5501-47C1-A89A-A340965A2BE2}" type="slidenum">
              <a:rPr lang="en-GB" noProof="0" smtClean="0"/>
              <a:pPr rtl="0"/>
              <a:t>‹#›</a:t>
            </a:fld>
            <a:endParaRPr lang="en-GB" noProof="0"/>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grpSp>
        <p:nvGrpSpPr>
          <p:cNvPr id="15" name="Group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17" name="Freef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18" name="Freef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gr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 name="Date Placeholder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rtl="0"/>
            <a:fld id="{0971D3F5-C297-4F98-9679-48877DEF0EC7}" type="datetime3">
              <a:rPr lang="en-GB" noProof="0" smtClean="0">
                <a:latin typeface="+mn-lt"/>
              </a:rPr>
              <a:t>22 October, 2025</a:t>
            </a:fld>
            <a:endParaRPr lang="en-GB" noProof="0">
              <a:latin typeface="+mn-lt"/>
            </a:endParaRPr>
          </a:p>
        </p:txBody>
      </p:sp>
      <p:sp>
        <p:nvSpPr>
          <p:cNvPr id="5" name="Footer Placeholder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rtl="0"/>
            <a:r>
              <a:rPr lang="en-GB" noProof="0"/>
              <a:t>Annual Review</a:t>
            </a:r>
            <a:endParaRPr lang="en-GB" b="0" noProof="0"/>
          </a:p>
        </p:txBody>
      </p:sp>
      <p:sp>
        <p:nvSpPr>
          <p:cNvPr id="6" name="Slide Number Placeholder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rtl="0"/>
            <a:fld id="{294A09A9-5501-47C1-A89A-A340965A2BE2}" type="slidenum">
              <a:rPr lang="en-GB" noProof="0" smtClean="0"/>
              <a:pPr rtl="0"/>
              <a:t>‹#›</a:t>
            </a:fld>
            <a:endParaRPr lang="en-GB" noProof="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n-US" noProof="0"/>
              <a:t>Click icon to add picture</a:t>
            </a:r>
            <a:endParaRPr lang="en-GB" noProof="0"/>
          </a:p>
        </p:txBody>
      </p:sp>
      <p:grpSp>
        <p:nvGrpSpPr>
          <p:cNvPr id="30" name="Group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32" name="Freef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sp>
          <p:nvSpPr>
            <p:cNvPr id="33" name="Freef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8AC5E797-DDC7-4716-ABC9-2C172A510C23}" type="datetime3">
              <a:rPr lang="en-GB" noProof="0" smtClean="0">
                <a:latin typeface="+mn-lt"/>
              </a:rPr>
              <a:t>22 October, 2025</a:t>
            </a:fld>
            <a:endParaRPr lang="en-GB" noProof="0">
              <a:latin typeface="+mn-lt"/>
            </a:endParaRPr>
          </a:p>
        </p:txBody>
      </p:sp>
      <p:sp>
        <p:nvSpPr>
          <p:cNvPr id="31" name="Footer Placeholder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en-GB" noProof="0"/>
              <a:t>Annual Review</a:t>
            </a:r>
            <a:endParaRPr lang="en-GB" b="0" noProof="0"/>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n-GB" noProof="0" smtClean="0"/>
              <a:pPr rtl="0"/>
              <a:t>‹#›</a:t>
            </a:fld>
            <a:endParaRPr lang="en-GB" noProof="0">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customXml" Target="../ink/ink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hyperlink" Target="mailto:Governance@eea.europa.e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6367054" y="1830033"/>
            <a:ext cx="5491571" cy="1514019"/>
          </a:xfrm>
        </p:spPr>
        <p:txBody>
          <a:bodyPr rtlCol="0"/>
          <a:lstStyle/>
          <a:p>
            <a:pPr rtl="0"/>
            <a:r>
              <a:rPr lang="en-GB" sz="4500">
                <a:solidFill>
                  <a:schemeClr val="accent3">
                    <a:lumMod val="50000"/>
                  </a:schemeClr>
                </a:solidFill>
              </a:rPr>
              <a:t>EEA Enlargement</a:t>
            </a:r>
          </a:p>
        </p:txBody>
      </p:sp>
      <p:sp>
        <p:nvSpPr>
          <p:cNvPr id="3" name="Text Placeholder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rtl="0"/>
            <a:r>
              <a:rPr lang="en-GB">
                <a:latin typeface="+mj-lt"/>
              </a:rPr>
              <a:t>Ukraine Technical Exchange Visit to EEA</a:t>
            </a:r>
            <a:r>
              <a:rPr lang="en-GB"/>
              <a:t> </a:t>
            </a:r>
          </a:p>
          <a:p>
            <a:pPr rtl="0"/>
            <a:r>
              <a:rPr lang="en-GB"/>
              <a:t>EEA Governance Unit – </a:t>
            </a:r>
          </a:p>
          <a:p>
            <a:pPr rtl="0"/>
            <a:r>
              <a:rPr lang="en-GB"/>
              <a:t>Galina Georgieva, Nikolaj Bock, Milan Chrenko</a:t>
            </a:r>
          </a:p>
          <a:p>
            <a:pPr rtl="0"/>
            <a:r>
              <a:rPr lang="en-GB"/>
              <a:t>23 October 2025, Copenhagen</a:t>
            </a:r>
          </a:p>
          <a:p>
            <a:pPr rtl="0"/>
            <a:endParaRPr lang="en-GB"/>
          </a:p>
        </p:txBody>
      </p:sp>
      <p:pic>
        <p:nvPicPr>
          <p:cNvPr id="4" name="Picture 3">
            <a:extLst>
              <a:ext uri="{FF2B5EF4-FFF2-40B4-BE49-F238E27FC236}">
                <a16:creationId xmlns:a16="http://schemas.microsoft.com/office/drawing/2014/main" id="{7BFE4020-12E6-2BE8-5385-21B05F01D282}"/>
              </a:ext>
            </a:extLst>
          </p:cNvPr>
          <p:cNvPicPr>
            <a:picLocks noChangeAspect="1"/>
          </p:cNvPicPr>
          <p:nvPr/>
        </p:nvPicPr>
        <p:blipFill>
          <a:blip r:embed="rId3"/>
          <a:stretch>
            <a:fillRect/>
          </a:stretch>
        </p:blipFill>
        <p:spPr>
          <a:xfrm>
            <a:off x="8695837" y="5937417"/>
            <a:ext cx="3496163" cy="924054"/>
          </a:xfrm>
          <a:prstGeom prst="rect">
            <a:avLst/>
          </a:prstGeom>
        </p:spPr>
      </p:pic>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09B9B009-A7DB-572B-DDEC-8D6CF87F612C}"/>
              </a:ext>
            </a:extLst>
          </p:cNvPr>
          <p:cNvSpPr>
            <a:spLocks noGrp="1"/>
          </p:cNvSpPr>
          <p:nvPr>
            <p:ph type="title"/>
          </p:nvPr>
        </p:nvSpPr>
        <p:spPr>
          <a:xfrm>
            <a:off x="442639" y="736306"/>
            <a:ext cx="5653361" cy="610863"/>
          </a:xfrm>
        </p:spPr>
        <p:txBody>
          <a:bodyPr>
            <a:normAutofit fontScale="90000"/>
          </a:bodyPr>
          <a:lstStyle/>
          <a:p>
            <a:r>
              <a:rPr lang="en-US">
                <a:solidFill>
                  <a:schemeClr val="accent3">
                    <a:lumMod val="50000"/>
                  </a:schemeClr>
                </a:solidFill>
              </a:rPr>
              <a:t>EEA-Eionet – beyond EU</a:t>
            </a:r>
          </a:p>
        </p:txBody>
      </p:sp>
      <p:sp>
        <p:nvSpPr>
          <p:cNvPr id="24" name="Text Placeholder 3">
            <a:extLst>
              <a:ext uri="{FF2B5EF4-FFF2-40B4-BE49-F238E27FC236}">
                <a16:creationId xmlns:a16="http://schemas.microsoft.com/office/drawing/2014/main" id="{99767FE6-E608-DE81-6894-101F78AE171E}"/>
              </a:ext>
            </a:extLst>
          </p:cNvPr>
          <p:cNvSpPr>
            <a:spLocks noGrp="1"/>
          </p:cNvSpPr>
          <p:nvPr>
            <p:ph type="body" sz="quarter" idx="11"/>
          </p:nvPr>
        </p:nvSpPr>
        <p:spPr>
          <a:xfrm>
            <a:off x="823637" y="2109216"/>
            <a:ext cx="5081862" cy="2899179"/>
          </a:xfrm>
        </p:spPr>
        <p:txBody>
          <a:bodyPr/>
          <a:lstStyle/>
          <a:p>
            <a:pPr marL="342900" indent="-342900">
              <a:buFont typeface="Arial" panose="020B0604020202020204" pitchFamily="34" charset="0"/>
              <a:buChar char="•"/>
            </a:pPr>
            <a:r>
              <a:rPr lang="en-US" sz="2000">
                <a:solidFill>
                  <a:schemeClr val="accent3">
                    <a:lumMod val="50000"/>
                  </a:schemeClr>
                </a:solidFill>
              </a:rPr>
              <a:t>EEA and Eionet Founding Regulation envisages the possibility of membership to non-EU countries with similar environmental objectives under specific agreements concluded between them and the EU.</a:t>
            </a:r>
          </a:p>
          <a:p>
            <a:pPr marL="342900" indent="-342900">
              <a:buFont typeface="Arial" panose="020B0604020202020204" pitchFamily="34" charset="0"/>
              <a:buChar char="•"/>
            </a:pPr>
            <a:r>
              <a:rPr lang="en-US" sz="2000">
                <a:solidFill>
                  <a:schemeClr val="accent3">
                    <a:lumMod val="50000"/>
                  </a:schemeClr>
                </a:solidFill>
              </a:rPr>
              <a:t>Third country membership is only possible for very few EU </a:t>
            </a:r>
            <a:r>
              <a:rPr lang="en-US" sz="2000" err="1">
                <a:solidFill>
                  <a:schemeClr val="accent3">
                    <a:lumMod val="50000"/>
                  </a:schemeClr>
                </a:solidFill>
              </a:rPr>
              <a:t>decentralised</a:t>
            </a:r>
            <a:r>
              <a:rPr lang="en-US" sz="2000">
                <a:solidFill>
                  <a:schemeClr val="accent3">
                    <a:lumMod val="50000"/>
                  </a:schemeClr>
                </a:solidFill>
              </a:rPr>
              <a:t> agencies.</a:t>
            </a:r>
          </a:p>
          <a:p>
            <a:pPr marL="342900" indent="-342900">
              <a:buFont typeface="Arial" panose="020B0604020202020204" pitchFamily="34" charset="0"/>
              <a:buChar char="•"/>
            </a:pPr>
            <a:r>
              <a:rPr lang="en-US" sz="2000">
                <a:solidFill>
                  <a:schemeClr val="accent3">
                    <a:lumMod val="50000"/>
                  </a:schemeClr>
                </a:solidFill>
              </a:rPr>
              <a:t>Currently five non-EU members of the EEA and Eionet: Iceland, Norway, Liechtenstein, Switzerland and Türkiye. </a:t>
            </a:r>
          </a:p>
        </p:txBody>
      </p:sp>
      <p:sp>
        <p:nvSpPr>
          <p:cNvPr id="13" name="Date Placeholder 12">
            <a:extLst>
              <a:ext uri="{FF2B5EF4-FFF2-40B4-BE49-F238E27FC236}">
                <a16:creationId xmlns:a16="http://schemas.microsoft.com/office/drawing/2014/main" id="{3529CA9C-32E3-46C8-719E-7B6BE68628FD}"/>
              </a:ext>
            </a:extLst>
          </p:cNvPr>
          <p:cNvSpPr>
            <a:spLocks noGrp="1"/>
          </p:cNvSpPr>
          <p:nvPr>
            <p:ph type="dt" sz="half" idx="14"/>
          </p:nvPr>
        </p:nvSpPr>
        <p:spPr>
          <a:xfrm>
            <a:off x="3760134" y="6384923"/>
            <a:ext cx="1313180" cy="247651"/>
          </a:xfrm>
        </p:spPr>
        <p:txBody>
          <a:bodyPr anchor="t">
            <a:normAutofit/>
          </a:bodyPr>
          <a:lstStyle/>
          <a:p>
            <a:pPr rtl="0">
              <a:spcAft>
                <a:spcPts val="600"/>
              </a:spcAft>
            </a:pPr>
            <a:r>
              <a:rPr lang="en-US"/>
              <a:t>23 October 2025</a:t>
            </a:r>
            <a:endParaRPr lang="en-GB" noProof="0"/>
          </a:p>
        </p:txBody>
      </p:sp>
      <p:sp>
        <p:nvSpPr>
          <p:cNvPr id="14" name="Footer Placeholder 13">
            <a:extLst>
              <a:ext uri="{FF2B5EF4-FFF2-40B4-BE49-F238E27FC236}">
                <a16:creationId xmlns:a16="http://schemas.microsoft.com/office/drawing/2014/main" id="{C4C9B720-E761-C361-E08A-433103CAD2A6}"/>
              </a:ext>
            </a:extLst>
          </p:cNvPr>
          <p:cNvSpPr>
            <a:spLocks noGrp="1"/>
          </p:cNvSpPr>
          <p:nvPr>
            <p:ph type="ftr" sz="quarter" idx="15"/>
          </p:nvPr>
        </p:nvSpPr>
        <p:spPr>
          <a:xfrm>
            <a:off x="1867238" y="6384923"/>
            <a:ext cx="1497330" cy="247651"/>
          </a:xfrm>
        </p:spPr>
        <p:txBody>
          <a:bodyPr anchor="t">
            <a:normAutofit/>
          </a:bodyPr>
          <a:lstStyle/>
          <a:p>
            <a:pPr rtl="0">
              <a:spcAft>
                <a:spcPts val="600"/>
              </a:spcAft>
            </a:pPr>
            <a:r>
              <a:rPr lang="en-US" b="0"/>
              <a:t>EEA Enlargement</a:t>
            </a:r>
            <a:endParaRPr lang="en-GB" b="0" noProof="0"/>
          </a:p>
        </p:txBody>
      </p:sp>
      <p:sp>
        <p:nvSpPr>
          <p:cNvPr id="15" name="Slide Number Placeholder 14">
            <a:extLst>
              <a:ext uri="{FF2B5EF4-FFF2-40B4-BE49-F238E27FC236}">
                <a16:creationId xmlns:a16="http://schemas.microsoft.com/office/drawing/2014/main" id="{48DAF2BD-1BB5-4141-6E99-B27D6B0CBD15}"/>
              </a:ext>
            </a:extLst>
          </p:cNvPr>
          <p:cNvSpPr>
            <a:spLocks noGrp="1"/>
          </p:cNvSpPr>
          <p:nvPr>
            <p:ph type="sldNum" sz="quarter" idx="16"/>
          </p:nvPr>
        </p:nvSpPr>
        <p:spPr>
          <a:xfrm>
            <a:off x="971550" y="6332220"/>
            <a:ext cx="523240" cy="247651"/>
          </a:xfrm>
        </p:spPr>
        <p:txBody>
          <a:bodyPr anchor="t">
            <a:normAutofit/>
          </a:bodyPr>
          <a:lstStyle/>
          <a:p>
            <a:pPr rtl="0">
              <a:spcAft>
                <a:spcPts val="600"/>
              </a:spcAft>
            </a:pPr>
            <a:fld id="{294A09A9-5501-47C1-A89A-A340965A2BE2}" type="slidenum">
              <a:rPr lang="en-GB" noProof="0" smtClean="0"/>
              <a:pPr rtl="0">
                <a:spcAft>
                  <a:spcPts val="600"/>
                </a:spcAft>
              </a:pPr>
              <a:t>2</a:t>
            </a:fld>
            <a:endParaRPr lang="en-GB" noProof="0"/>
          </a:p>
        </p:txBody>
      </p:sp>
      <p:pic>
        <p:nvPicPr>
          <p:cNvPr id="1026" name="Picture 2" descr="A map of europe with blue and green colors&#10;&#10;AI-generated content may be incorrect.">
            <a:extLst>
              <a:ext uri="{FF2B5EF4-FFF2-40B4-BE49-F238E27FC236}">
                <a16:creationId xmlns:a16="http://schemas.microsoft.com/office/drawing/2014/main" id="{3424061B-CF65-27DD-47A7-36F356038D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6023" y="1045210"/>
            <a:ext cx="5815650" cy="4950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0269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22DF8-59D4-D94D-8ED9-F2F319899DBF}"/>
              </a:ext>
            </a:extLst>
          </p:cNvPr>
          <p:cNvSpPr>
            <a:spLocks noGrp="1"/>
          </p:cNvSpPr>
          <p:nvPr>
            <p:ph type="title"/>
          </p:nvPr>
        </p:nvSpPr>
        <p:spPr>
          <a:xfrm>
            <a:off x="971550" y="771084"/>
            <a:ext cx="7885337" cy="610863"/>
          </a:xfrm>
        </p:spPr>
        <p:txBody>
          <a:bodyPr rtlCol="0">
            <a:noAutofit/>
          </a:bodyPr>
          <a:lstStyle/>
          <a:p>
            <a:pPr rtl="0"/>
            <a:r>
              <a:rPr lang="en-GB" sz="3800" spc="50">
                <a:solidFill>
                  <a:schemeClr val="accent3">
                    <a:lumMod val="50000"/>
                  </a:schemeClr>
                </a:solidFill>
              </a:rPr>
              <a:t>Cooperation status vs Membership</a:t>
            </a:r>
          </a:p>
        </p:txBody>
      </p:sp>
      <p:sp>
        <p:nvSpPr>
          <p:cNvPr id="45" name="Text Placeholder 44">
            <a:extLst>
              <a:ext uri="{FF2B5EF4-FFF2-40B4-BE49-F238E27FC236}">
                <a16:creationId xmlns:a16="http://schemas.microsoft.com/office/drawing/2014/main" id="{803A1E73-C790-447A-974F-B3ADB50149F7}"/>
              </a:ext>
            </a:extLst>
          </p:cNvPr>
          <p:cNvSpPr>
            <a:spLocks noGrp="1"/>
          </p:cNvSpPr>
          <p:nvPr>
            <p:ph type="body" sz="quarter" idx="12"/>
          </p:nvPr>
        </p:nvSpPr>
        <p:spPr/>
        <p:txBody>
          <a:bodyPr rtlCol="0"/>
          <a:lstStyle/>
          <a:p>
            <a:pPr rtl="0"/>
            <a:r>
              <a:rPr lang="en-GB" sz="2000"/>
              <a:t>Cooperating countries (Western Balkans)</a:t>
            </a:r>
          </a:p>
        </p:txBody>
      </p:sp>
      <p:sp>
        <p:nvSpPr>
          <p:cNvPr id="44" name="Text Placeholder 43">
            <a:extLst>
              <a:ext uri="{FF2B5EF4-FFF2-40B4-BE49-F238E27FC236}">
                <a16:creationId xmlns:a16="http://schemas.microsoft.com/office/drawing/2014/main" id="{906E4DF9-127F-4650-8BAA-2521A37885B0}"/>
              </a:ext>
            </a:extLst>
          </p:cNvPr>
          <p:cNvSpPr>
            <a:spLocks noGrp="1"/>
          </p:cNvSpPr>
          <p:nvPr>
            <p:ph type="body" sz="quarter" idx="10"/>
          </p:nvPr>
        </p:nvSpPr>
        <p:spPr>
          <a:xfrm>
            <a:off x="952500" y="2780760"/>
            <a:ext cx="4838700" cy="574318"/>
          </a:xfrm>
        </p:spPr>
        <p:txBody>
          <a:bodyPr rtlCol="0"/>
          <a:lstStyle/>
          <a:p>
            <a:pPr marL="285750" indent="-285750">
              <a:buFont typeface="Arial" panose="020B0604020202020204" pitchFamily="34" charset="0"/>
              <a:buChar char="•"/>
            </a:pPr>
            <a:r>
              <a:rPr lang="en-US" sz="1800">
                <a:solidFill>
                  <a:srgbClr val="002060"/>
                </a:solidFill>
              </a:rPr>
              <a:t>Voluntary, no legal basis</a:t>
            </a:r>
          </a:p>
          <a:p>
            <a:pPr marL="285750" indent="-285750">
              <a:buFont typeface="Arial" panose="020B0604020202020204" pitchFamily="34" charset="0"/>
              <a:buChar char="•"/>
            </a:pPr>
            <a:r>
              <a:rPr lang="en-DK" sz="1800">
                <a:solidFill>
                  <a:srgbClr val="002060"/>
                </a:solidFill>
              </a:rPr>
              <a:t>Focus on technical cooperation</a:t>
            </a:r>
            <a:r>
              <a:rPr lang="en-US" sz="1800">
                <a:solidFill>
                  <a:srgbClr val="002060"/>
                </a:solidFill>
              </a:rPr>
              <a:t> and capacity building in preparation for full membership</a:t>
            </a:r>
            <a:endParaRPr lang="en-DK" sz="1800">
              <a:solidFill>
                <a:srgbClr val="002060"/>
              </a:solidFill>
            </a:endParaRPr>
          </a:p>
          <a:p>
            <a:pPr marL="285750" indent="-285750">
              <a:buFont typeface="Arial" panose="020B0604020202020204" pitchFamily="34" charset="0"/>
              <a:buChar char="•"/>
            </a:pPr>
            <a:r>
              <a:rPr lang="en-US" sz="1800">
                <a:solidFill>
                  <a:srgbClr val="002060"/>
                </a:solidFill>
              </a:rPr>
              <a:t>Participation in identified </a:t>
            </a:r>
            <a:r>
              <a:rPr lang="en-DK" sz="1800">
                <a:solidFill>
                  <a:srgbClr val="002060"/>
                </a:solidFill>
              </a:rPr>
              <a:t>Eionet </a:t>
            </a:r>
            <a:r>
              <a:rPr lang="en-US" sz="1800">
                <a:solidFill>
                  <a:srgbClr val="002060"/>
                </a:solidFill>
              </a:rPr>
              <a:t>activities</a:t>
            </a:r>
            <a:endParaRPr lang="en-DK" sz="1800">
              <a:solidFill>
                <a:srgbClr val="002060"/>
              </a:solidFill>
            </a:endParaRPr>
          </a:p>
          <a:p>
            <a:pPr marL="285750" indent="-285750">
              <a:buFont typeface="Arial" panose="020B0604020202020204" pitchFamily="34" charset="0"/>
              <a:buChar char="•"/>
            </a:pPr>
            <a:r>
              <a:rPr lang="en-DK" sz="1800">
                <a:solidFill>
                  <a:srgbClr val="002060"/>
                </a:solidFill>
              </a:rPr>
              <a:t>Observer in </a:t>
            </a:r>
            <a:r>
              <a:rPr lang="en-US" sz="1800">
                <a:solidFill>
                  <a:srgbClr val="002060"/>
                </a:solidFill>
              </a:rPr>
              <a:t>EEA Management Board</a:t>
            </a:r>
            <a:r>
              <a:rPr lang="en-DK" sz="1800">
                <a:solidFill>
                  <a:srgbClr val="002060"/>
                </a:solidFill>
              </a:rPr>
              <a:t> (</a:t>
            </a:r>
            <a:r>
              <a:rPr lang="en-US" sz="1800">
                <a:solidFill>
                  <a:srgbClr val="002060"/>
                </a:solidFill>
              </a:rPr>
              <a:t>on </a:t>
            </a:r>
            <a:r>
              <a:rPr lang="en-DK" sz="1800">
                <a:solidFill>
                  <a:srgbClr val="002060"/>
                </a:solidFill>
              </a:rPr>
              <a:t>rotation)</a:t>
            </a:r>
          </a:p>
          <a:p>
            <a:pPr marL="285750" indent="-285750">
              <a:buFont typeface="Arial" panose="020B0604020202020204" pitchFamily="34" charset="0"/>
              <a:buChar char="•"/>
            </a:pPr>
            <a:r>
              <a:rPr lang="en-DK" sz="1800">
                <a:solidFill>
                  <a:srgbClr val="002060"/>
                </a:solidFill>
              </a:rPr>
              <a:t>External</a:t>
            </a:r>
            <a:r>
              <a:rPr lang="en-US" sz="1800">
                <a:solidFill>
                  <a:srgbClr val="002060"/>
                </a:solidFill>
              </a:rPr>
              <a:t>/non-core</a:t>
            </a:r>
            <a:r>
              <a:rPr lang="en-DK" sz="1800">
                <a:solidFill>
                  <a:srgbClr val="002060"/>
                </a:solidFill>
              </a:rPr>
              <a:t> funding (</a:t>
            </a:r>
            <a:r>
              <a:rPr lang="en-US" sz="1800">
                <a:solidFill>
                  <a:srgbClr val="002060"/>
                </a:solidFill>
              </a:rPr>
              <a:t>through ear-marked financial instruments</a:t>
            </a:r>
            <a:r>
              <a:rPr lang="en-DK" sz="1800">
                <a:solidFill>
                  <a:srgbClr val="002060"/>
                </a:solidFill>
              </a:rPr>
              <a:t>)</a:t>
            </a:r>
            <a:endParaRPr lang="en-US" sz="1800">
              <a:solidFill>
                <a:srgbClr val="002060"/>
              </a:solidFill>
            </a:endParaRPr>
          </a:p>
          <a:p>
            <a:pPr marL="285750" indent="-285750">
              <a:buFont typeface="Arial" panose="020B0604020202020204" pitchFamily="34" charset="0"/>
              <a:buChar char="•"/>
            </a:pPr>
            <a:r>
              <a:rPr lang="en-US" sz="1800">
                <a:solidFill>
                  <a:srgbClr val="002060"/>
                </a:solidFill>
              </a:rPr>
              <a:t>In some cases, signature of </a:t>
            </a:r>
            <a:r>
              <a:rPr lang="en-DK" sz="1800" err="1">
                <a:solidFill>
                  <a:srgbClr val="002060"/>
                </a:solidFill>
              </a:rPr>
              <a:t>MoUs</a:t>
            </a:r>
            <a:r>
              <a:rPr lang="en-DK" sz="1800">
                <a:solidFill>
                  <a:srgbClr val="002060"/>
                </a:solidFill>
              </a:rPr>
              <a:t> </a:t>
            </a:r>
            <a:r>
              <a:rPr lang="en-US" sz="1800">
                <a:solidFill>
                  <a:srgbClr val="002060"/>
                </a:solidFill>
              </a:rPr>
              <a:t>to support the continuity of engagement</a:t>
            </a:r>
            <a:endParaRPr lang="en-DK" sz="1800">
              <a:solidFill>
                <a:srgbClr val="002060"/>
              </a:solidFill>
            </a:endParaRPr>
          </a:p>
          <a:p>
            <a:pPr marL="285750" indent="-285750">
              <a:buFont typeface="Arial" panose="020B0604020202020204" pitchFamily="34" charset="0"/>
              <a:buChar char="•"/>
            </a:pPr>
            <a:endParaRPr lang="en-US">
              <a:solidFill>
                <a:srgbClr val="002060"/>
              </a:solidFill>
            </a:endParaRPr>
          </a:p>
        </p:txBody>
      </p:sp>
      <p:sp>
        <p:nvSpPr>
          <p:cNvPr id="51" name="Text Placeholder 50">
            <a:extLst>
              <a:ext uri="{FF2B5EF4-FFF2-40B4-BE49-F238E27FC236}">
                <a16:creationId xmlns:a16="http://schemas.microsoft.com/office/drawing/2014/main" id="{D582AC9C-B267-4C04-9E50-051DE433538C}"/>
              </a:ext>
            </a:extLst>
          </p:cNvPr>
          <p:cNvSpPr>
            <a:spLocks noGrp="1"/>
          </p:cNvSpPr>
          <p:nvPr>
            <p:ph type="body" sz="quarter" idx="18"/>
          </p:nvPr>
        </p:nvSpPr>
        <p:spPr>
          <a:xfrm>
            <a:off x="6511407" y="2286000"/>
            <a:ext cx="4838700" cy="315915"/>
          </a:xfrm>
        </p:spPr>
        <p:txBody>
          <a:bodyPr rtlCol="0"/>
          <a:lstStyle/>
          <a:p>
            <a:r>
              <a:rPr lang="en-DK" sz="2000" b="1">
                <a:solidFill>
                  <a:srgbClr val="002060"/>
                </a:solidFill>
              </a:rPr>
              <a:t>Member countries</a:t>
            </a:r>
            <a:r>
              <a:rPr lang="en-US" sz="2000" b="1">
                <a:solidFill>
                  <a:srgbClr val="002060"/>
                </a:solidFill>
              </a:rPr>
              <a:t> (EU, EFTA)</a:t>
            </a:r>
            <a:endParaRPr lang="en-DK" sz="2000" b="1">
              <a:solidFill>
                <a:srgbClr val="002060"/>
              </a:solidFill>
            </a:endParaRPr>
          </a:p>
        </p:txBody>
      </p:sp>
      <p:sp>
        <p:nvSpPr>
          <p:cNvPr id="50" name="Text Placeholder 49">
            <a:extLst>
              <a:ext uri="{FF2B5EF4-FFF2-40B4-BE49-F238E27FC236}">
                <a16:creationId xmlns:a16="http://schemas.microsoft.com/office/drawing/2014/main" id="{C60A09F8-DA84-487F-81AC-337BE4A9F35B}"/>
              </a:ext>
            </a:extLst>
          </p:cNvPr>
          <p:cNvSpPr>
            <a:spLocks noGrp="1"/>
          </p:cNvSpPr>
          <p:nvPr>
            <p:ph type="body" sz="quarter" idx="17"/>
          </p:nvPr>
        </p:nvSpPr>
        <p:spPr>
          <a:xfrm>
            <a:off x="6399647" y="2870518"/>
            <a:ext cx="4838700" cy="574318"/>
          </a:xfrm>
        </p:spPr>
        <p:txBody>
          <a:bodyPr rtlCol="0"/>
          <a:lstStyle/>
          <a:p>
            <a:pPr marL="285750" indent="-285750">
              <a:buFont typeface="Arial" panose="020B0604020202020204" pitchFamily="34" charset="0"/>
              <a:buChar char="•"/>
            </a:pPr>
            <a:r>
              <a:rPr lang="en-DK" sz="1800">
                <a:solidFill>
                  <a:srgbClr val="002060"/>
                </a:solidFill>
              </a:rPr>
              <a:t>Formal status (legal bas</a:t>
            </a:r>
            <a:r>
              <a:rPr lang="en-US" sz="1800">
                <a:solidFill>
                  <a:srgbClr val="002060"/>
                </a:solidFill>
              </a:rPr>
              <a:t>i</a:t>
            </a:r>
            <a:r>
              <a:rPr lang="en-DK" sz="1800">
                <a:solidFill>
                  <a:srgbClr val="002060"/>
                </a:solidFill>
              </a:rPr>
              <a:t>s </a:t>
            </a:r>
            <a:r>
              <a:rPr lang="en-US" sz="1800">
                <a:solidFill>
                  <a:srgbClr val="002060"/>
                </a:solidFill>
              </a:rPr>
              <a:t>A</a:t>
            </a:r>
            <a:r>
              <a:rPr lang="en-DK" sz="1800">
                <a:solidFill>
                  <a:srgbClr val="002060"/>
                </a:solidFill>
              </a:rPr>
              <a:t>rt. 19 of the EEA/Eionet </a:t>
            </a:r>
            <a:r>
              <a:rPr lang="en-US" sz="1800">
                <a:solidFill>
                  <a:srgbClr val="002060"/>
                </a:solidFill>
              </a:rPr>
              <a:t>R</a:t>
            </a:r>
            <a:r>
              <a:rPr lang="en-DK" sz="1800" err="1">
                <a:solidFill>
                  <a:srgbClr val="002060"/>
                </a:solidFill>
              </a:rPr>
              <a:t>egulation</a:t>
            </a:r>
            <a:r>
              <a:rPr lang="en-DK" sz="1800">
                <a:solidFill>
                  <a:srgbClr val="002060"/>
                </a:solidFill>
              </a:rPr>
              <a:t>)</a:t>
            </a:r>
          </a:p>
          <a:p>
            <a:pPr marL="285750" indent="-285750">
              <a:buFont typeface="Arial" panose="020B0604020202020204" pitchFamily="34" charset="0"/>
              <a:buChar char="•"/>
            </a:pPr>
            <a:r>
              <a:rPr lang="en-US" sz="1800">
                <a:solidFill>
                  <a:srgbClr val="002060"/>
                </a:solidFill>
              </a:rPr>
              <a:t>A</a:t>
            </a:r>
            <a:r>
              <a:rPr lang="en-DK" sz="1800" err="1">
                <a:solidFill>
                  <a:srgbClr val="002060"/>
                </a:solidFill>
              </a:rPr>
              <a:t>ll</a:t>
            </a:r>
            <a:r>
              <a:rPr lang="en-DK" sz="1800">
                <a:solidFill>
                  <a:srgbClr val="002060"/>
                </a:solidFill>
              </a:rPr>
              <a:t> aspects </a:t>
            </a:r>
            <a:r>
              <a:rPr lang="en-US" sz="1800">
                <a:solidFill>
                  <a:srgbClr val="002060"/>
                </a:solidFill>
              </a:rPr>
              <a:t>and areas </a:t>
            </a:r>
            <a:r>
              <a:rPr lang="en-DK" sz="1800">
                <a:solidFill>
                  <a:srgbClr val="002060"/>
                </a:solidFill>
              </a:rPr>
              <a:t>of EEA work</a:t>
            </a:r>
            <a:r>
              <a:rPr lang="en-US" sz="1800">
                <a:solidFill>
                  <a:srgbClr val="002060"/>
                </a:solidFill>
              </a:rPr>
              <a:t> covered</a:t>
            </a:r>
            <a:endParaRPr lang="en-DK" sz="1800">
              <a:solidFill>
                <a:srgbClr val="002060"/>
              </a:solidFill>
            </a:endParaRPr>
          </a:p>
          <a:p>
            <a:pPr marL="285750" indent="-285750">
              <a:buFont typeface="Arial" panose="020B0604020202020204" pitchFamily="34" charset="0"/>
              <a:buChar char="•"/>
            </a:pPr>
            <a:r>
              <a:rPr lang="en-DK" sz="1800">
                <a:solidFill>
                  <a:srgbClr val="002060"/>
                </a:solidFill>
              </a:rPr>
              <a:t>Full incorporation</a:t>
            </a:r>
            <a:r>
              <a:rPr lang="en-US" sz="1800">
                <a:solidFill>
                  <a:srgbClr val="002060"/>
                </a:solidFill>
              </a:rPr>
              <a:t> into </a:t>
            </a:r>
            <a:r>
              <a:rPr lang="en-DK" sz="1800">
                <a:solidFill>
                  <a:srgbClr val="002060"/>
                </a:solidFill>
              </a:rPr>
              <a:t>Eionet</a:t>
            </a:r>
            <a:r>
              <a:rPr lang="en-US" sz="1800">
                <a:solidFill>
                  <a:srgbClr val="002060"/>
                </a:solidFill>
              </a:rPr>
              <a:t> structures, including Topic </a:t>
            </a:r>
            <a:r>
              <a:rPr lang="en-US" sz="1800" err="1">
                <a:solidFill>
                  <a:srgbClr val="002060"/>
                </a:solidFill>
              </a:rPr>
              <a:t>Centres</a:t>
            </a:r>
            <a:endParaRPr lang="en-DK" sz="1800">
              <a:solidFill>
                <a:srgbClr val="002060"/>
              </a:solidFill>
            </a:endParaRPr>
          </a:p>
          <a:p>
            <a:pPr marL="285750" indent="-285750">
              <a:buFont typeface="Arial" panose="020B0604020202020204" pitchFamily="34" charset="0"/>
              <a:buChar char="•"/>
            </a:pPr>
            <a:r>
              <a:rPr lang="en-DK" sz="1800">
                <a:solidFill>
                  <a:srgbClr val="002060"/>
                </a:solidFill>
              </a:rPr>
              <a:t>Full </a:t>
            </a:r>
            <a:r>
              <a:rPr lang="en-US" sz="1800">
                <a:solidFill>
                  <a:srgbClr val="002060"/>
                </a:solidFill>
              </a:rPr>
              <a:t>members of the EEA Management Board; without</a:t>
            </a:r>
            <a:r>
              <a:rPr lang="en-DK" sz="1800">
                <a:solidFill>
                  <a:srgbClr val="002060"/>
                </a:solidFill>
              </a:rPr>
              <a:t> voting rights for non-EU countries</a:t>
            </a:r>
          </a:p>
          <a:p>
            <a:pPr marL="285750" indent="-285750">
              <a:buFont typeface="Arial" panose="020B0604020202020204" pitchFamily="34" charset="0"/>
              <a:buChar char="•"/>
            </a:pPr>
            <a:r>
              <a:rPr lang="en-US" sz="1800">
                <a:solidFill>
                  <a:srgbClr val="002060"/>
                </a:solidFill>
              </a:rPr>
              <a:t>All activities covered by EEA’s annual EU subvention/c</a:t>
            </a:r>
            <a:r>
              <a:rPr lang="en-DK" sz="1800">
                <a:solidFill>
                  <a:srgbClr val="002060"/>
                </a:solidFill>
              </a:rPr>
              <a:t>ore-funding</a:t>
            </a:r>
          </a:p>
        </p:txBody>
      </p:sp>
      <p:sp>
        <p:nvSpPr>
          <p:cNvPr id="5" name="Slide Number Placeholder 4">
            <a:extLst>
              <a:ext uri="{FF2B5EF4-FFF2-40B4-BE49-F238E27FC236}">
                <a16:creationId xmlns:a16="http://schemas.microsoft.com/office/drawing/2014/main" id="{AB744071-0CE2-7746-9315-22EC28A0F462}"/>
              </a:ext>
            </a:extLst>
          </p:cNvPr>
          <p:cNvSpPr>
            <a:spLocks noGrp="1"/>
          </p:cNvSpPr>
          <p:nvPr>
            <p:ph type="sldNum" sz="quarter" idx="23"/>
          </p:nvPr>
        </p:nvSpPr>
        <p:spPr>
          <a:xfrm>
            <a:off x="971550" y="6332220"/>
            <a:ext cx="523240" cy="247651"/>
          </a:xfrm>
        </p:spPr>
        <p:txBody>
          <a:bodyPr rtlCol="0"/>
          <a:lstStyle/>
          <a:p>
            <a:pPr rtl="0"/>
            <a:fld id="{294A09A9-5501-47C1-A89A-A340965A2BE2}" type="slidenum">
              <a:rPr lang="en-GB" smtClean="0"/>
              <a:pPr rtl="0"/>
              <a:t>3</a:t>
            </a:fld>
            <a:endParaRPr lang="en-GB"/>
          </a:p>
        </p:txBody>
      </p:sp>
      <p:pic>
        <p:nvPicPr>
          <p:cNvPr id="6" name="Picture 5">
            <a:extLst>
              <a:ext uri="{FF2B5EF4-FFF2-40B4-BE49-F238E27FC236}">
                <a16:creationId xmlns:a16="http://schemas.microsoft.com/office/drawing/2014/main" id="{5AF20DE8-24DC-2967-A125-28B45241C654}"/>
              </a:ext>
            </a:extLst>
          </p:cNvPr>
          <p:cNvPicPr>
            <a:picLocks noChangeAspect="1"/>
          </p:cNvPicPr>
          <p:nvPr/>
        </p:nvPicPr>
        <p:blipFill>
          <a:blip r:embed="rId3"/>
          <a:stretch>
            <a:fillRect/>
          </a:stretch>
        </p:blipFill>
        <p:spPr>
          <a:xfrm>
            <a:off x="8695837" y="5937417"/>
            <a:ext cx="3496163" cy="924054"/>
          </a:xfrm>
          <a:prstGeom prst="rect">
            <a:avLst/>
          </a:prstGeom>
        </p:spPr>
      </p:pic>
      <p:sp>
        <p:nvSpPr>
          <p:cNvPr id="19" name="Footer Placeholder 13">
            <a:extLst>
              <a:ext uri="{FF2B5EF4-FFF2-40B4-BE49-F238E27FC236}">
                <a16:creationId xmlns:a16="http://schemas.microsoft.com/office/drawing/2014/main" id="{7DDE2D45-BA3F-E93C-3CBC-CEFAF8C2DE62}"/>
              </a:ext>
            </a:extLst>
          </p:cNvPr>
          <p:cNvSpPr txBox="1">
            <a:spLocks/>
          </p:cNvSpPr>
          <p:nvPr/>
        </p:nvSpPr>
        <p:spPr>
          <a:xfrm>
            <a:off x="1745318" y="6399444"/>
            <a:ext cx="1497330" cy="247651"/>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sz="1100">
                <a:latin typeface="+mj-lt"/>
              </a:rPr>
              <a:t>EEA</a:t>
            </a:r>
            <a:r>
              <a:rPr lang="en-US"/>
              <a:t> </a:t>
            </a:r>
            <a:r>
              <a:rPr lang="en-US" sz="1100">
                <a:latin typeface="+mj-lt"/>
              </a:rPr>
              <a:t>Enlargement</a:t>
            </a:r>
            <a:endParaRPr lang="en-GB" sz="1100">
              <a:latin typeface="+mj-lt"/>
            </a:endParaRPr>
          </a:p>
        </p:txBody>
      </p:sp>
      <p:sp>
        <p:nvSpPr>
          <p:cNvPr id="20" name="Date Placeholder 12">
            <a:extLst>
              <a:ext uri="{FF2B5EF4-FFF2-40B4-BE49-F238E27FC236}">
                <a16:creationId xmlns:a16="http://schemas.microsoft.com/office/drawing/2014/main" id="{26AA5EEC-7B67-CE8D-AEE6-E5C2540F771D}"/>
              </a:ext>
            </a:extLst>
          </p:cNvPr>
          <p:cNvSpPr txBox="1">
            <a:spLocks/>
          </p:cNvSpPr>
          <p:nvPr/>
        </p:nvSpPr>
        <p:spPr>
          <a:xfrm>
            <a:off x="3242648" y="6456045"/>
            <a:ext cx="1313180" cy="247651"/>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400"/>
              </a:spcBef>
              <a:buFont typeface="Arial" panose="020B0604020202020204" pitchFamily="34" charset="0"/>
              <a:buNone/>
              <a:defRPr sz="1800" b="0" i="0" kern="1200">
                <a:solidFill>
                  <a:schemeClr val="tx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sz="1100">
                <a:solidFill>
                  <a:schemeClr val="bg1"/>
                </a:solidFill>
                <a:latin typeface="+mn-lt"/>
              </a:rPr>
              <a:t>23 October 2025</a:t>
            </a:r>
            <a:endParaRPr lang="en-GB" sz="1100">
              <a:solidFill>
                <a:schemeClr val="bg1"/>
              </a:solidFill>
              <a:latin typeface="+mn-lt"/>
            </a:endParaRPr>
          </a:p>
        </p:txBody>
      </p:sp>
    </p:spTree>
    <p:extLst>
      <p:ext uri="{BB962C8B-B14F-4D97-AF65-F5344CB8AC3E}">
        <p14:creationId xmlns:p14="http://schemas.microsoft.com/office/powerpoint/2010/main" val="643842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2EB37-5E5A-8CB2-FF4C-5AA3504C6F8B}"/>
              </a:ext>
            </a:extLst>
          </p:cNvPr>
          <p:cNvSpPr>
            <a:spLocks noGrp="1"/>
          </p:cNvSpPr>
          <p:nvPr>
            <p:ph type="title"/>
          </p:nvPr>
        </p:nvSpPr>
        <p:spPr>
          <a:xfrm>
            <a:off x="974183" y="879063"/>
            <a:ext cx="6810917" cy="610863"/>
          </a:xfrm>
        </p:spPr>
        <p:txBody>
          <a:bodyPr>
            <a:noAutofit/>
          </a:bodyPr>
          <a:lstStyle/>
          <a:p>
            <a:r>
              <a:rPr lang="en-GB" sz="3500">
                <a:solidFill>
                  <a:schemeClr val="accent3">
                    <a:lumMod val="50000"/>
                  </a:schemeClr>
                </a:solidFill>
              </a:rPr>
              <a:t>Process for becoming an EEA/Eionet cooperating country</a:t>
            </a:r>
            <a:endParaRPr lang="en-US" sz="3500">
              <a:solidFill>
                <a:schemeClr val="accent3">
                  <a:lumMod val="50000"/>
                </a:schemeClr>
              </a:solidFill>
            </a:endParaRPr>
          </a:p>
        </p:txBody>
      </p:sp>
      <p:sp>
        <p:nvSpPr>
          <p:cNvPr id="4" name="Text Placeholder 3">
            <a:extLst>
              <a:ext uri="{FF2B5EF4-FFF2-40B4-BE49-F238E27FC236}">
                <a16:creationId xmlns:a16="http://schemas.microsoft.com/office/drawing/2014/main" id="{BC78C3A1-4A1E-E663-53A5-B7B4504AF09F}"/>
              </a:ext>
            </a:extLst>
          </p:cNvPr>
          <p:cNvSpPr>
            <a:spLocks noGrp="1"/>
          </p:cNvSpPr>
          <p:nvPr>
            <p:ph type="body" sz="quarter" idx="12"/>
          </p:nvPr>
        </p:nvSpPr>
        <p:spPr>
          <a:xfrm>
            <a:off x="891540" y="2245360"/>
            <a:ext cx="4838700" cy="315915"/>
          </a:xfrm>
        </p:spPr>
        <p:txBody>
          <a:bodyPr vert="horz" lIns="91440" tIns="45720" rIns="91440" bIns="45720" rtlCol="0" anchor="t">
            <a:noAutofit/>
          </a:bodyPr>
          <a:lstStyle/>
          <a:p>
            <a:pPr algn="ctr"/>
            <a:r>
              <a:rPr lang="en-US">
                <a:solidFill>
                  <a:schemeClr val="accent1">
                    <a:lumMod val="49000"/>
                  </a:schemeClr>
                </a:solidFill>
                <a:latin typeface="Franklin Gothic Demi"/>
              </a:rPr>
              <a:t>The interested country sends a </a:t>
            </a:r>
            <a:r>
              <a:rPr lang="en-US" b="1">
                <a:solidFill>
                  <a:schemeClr val="accent1">
                    <a:lumMod val="49000"/>
                  </a:schemeClr>
                </a:solidFill>
                <a:latin typeface="Franklin Gothic Demi"/>
              </a:rPr>
              <a:t>formal request to the European Commission</a:t>
            </a:r>
            <a:r>
              <a:rPr lang="en-US">
                <a:solidFill>
                  <a:schemeClr val="accent1">
                    <a:lumMod val="49000"/>
                  </a:schemeClr>
                </a:solidFill>
                <a:latin typeface="Franklin Gothic Demi"/>
              </a:rPr>
              <a:t> asking to become a cooperating country</a:t>
            </a:r>
            <a:endParaRPr lang="en-US">
              <a:solidFill>
                <a:schemeClr val="accent1">
                  <a:lumMod val="49000"/>
                </a:schemeClr>
              </a:solidFill>
            </a:endParaRPr>
          </a:p>
        </p:txBody>
      </p:sp>
      <p:sp>
        <p:nvSpPr>
          <p:cNvPr id="6" name="Text Placeholder 5">
            <a:extLst>
              <a:ext uri="{FF2B5EF4-FFF2-40B4-BE49-F238E27FC236}">
                <a16:creationId xmlns:a16="http://schemas.microsoft.com/office/drawing/2014/main" id="{DE6F49A4-14B6-00EE-D553-69552D298FE2}"/>
              </a:ext>
            </a:extLst>
          </p:cNvPr>
          <p:cNvSpPr>
            <a:spLocks noGrp="1"/>
          </p:cNvSpPr>
          <p:nvPr>
            <p:ph type="body" sz="quarter" idx="14"/>
          </p:nvPr>
        </p:nvSpPr>
        <p:spPr>
          <a:xfrm>
            <a:off x="1329575" y="3978942"/>
            <a:ext cx="4351020" cy="437835"/>
          </a:xfrm>
        </p:spPr>
        <p:txBody>
          <a:bodyPr vert="horz" lIns="91440" tIns="45720" rIns="91440" bIns="45720" rtlCol="0" anchor="t">
            <a:noAutofit/>
          </a:bodyPr>
          <a:lstStyle/>
          <a:p>
            <a:pPr algn="ctr"/>
            <a:r>
              <a:rPr lang="en-US">
                <a:solidFill>
                  <a:schemeClr val="accent1">
                    <a:lumMod val="49000"/>
                  </a:schemeClr>
                </a:solidFill>
              </a:rPr>
              <a:t>Discussions between EEA and EC leading to the allocation of the resources needed to support the onboarding of the country to EEA and Eionet</a:t>
            </a:r>
          </a:p>
        </p:txBody>
      </p:sp>
      <p:sp>
        <p:nvSpPr>
          <p:cNvPr id="8" name="Text Placeholder 7">
            <a:extLst>
              <a:ext uri="{FF2B5EF4-FFF2-40B4-BE49-F238E27FC236}">
                <a16:creationId xmlns:a16="http://schemas.microsoft.com/office/drawing/2014/main" id="{B0C74479-75BF-A779-0C10-0BD90F7C5B02}"/>
              </a:ext>
            </a:extLst>
          </p:cNvPr>
          <p:cNvSpPr>
            <a:spLocks noGrp="1"/>
          </p:cNvSpPr>
          <p:nvPr>
            <p:ph type="body" sz="quarter" idx="16"/>
          </p:nvPr>
        </p:nvSpPr>
        <p:spPr>
          <a:xfrm>
            <a:off x="6093460" y="4718117"/>
            <a:ext cx="4635500" cy="407355"/>
          </a:xfrm>
        </p:spPr>
        <p:txBody>
          <a:bodyPr vert="horz" lIns="91440" tIns="45720" rIns="91440" bIns="45720" rtlCol="0" anchor="t">
            <a:noAutofit/>
          </a:bodyPr>
          <a:lstStyle/>
          <a:p>
            <a:pPr algn="ctr"/>
            <a:r>
              <a:rPr lang="en-US">
                <a:solidFill>
                  <a:schemeClr val="accent1">
                    <a:lumMod val="76000"/>
                  </a:schemeClr>
                </a:solidFill>
              </a:rPr>
              <a:t>Approval of the EEA budget/additional funding by EEA Management Board for cooperation with the country</a:t>
            </a:r>
          </a:p>
        </p:txBody>
      </p:sp>
      <p:sp>
        <p:nvSpPr>
          <p:cNvPr id="12" name="Text Placeholder 11">
            <a:extLst>
              <a:ext uri="{FF2B5EF4-FFF2-40B4-BE49-F238E27FC236}">
                <a16:creationId xmlns:a16="http://schemas.microsoft.com/office/drawing/2014/main" id="{A5DDBE3D-D082-9EE2-AFF9-CE2D9DE7238B}"/>
              </a:ext>
            </a:extLst>
          </p:cNvPr>
          <p:cNvSpPr>
            <a:spLocks noGrp="1"/>
          </p:cNvSpPr>
          <p:nvPr>
            <p:ph type="body" sz="quarter" idx="20"/>
          </p:nvPr>
        </p:nvSpPr>
        <p:spPr>
          <a:xfrm>
            <a:off x="6196447" y="2841022"/>
            <a:ext cx="4838700" cy="315915"/>
          </a:xfrm>
        </p:spPr>
        <p:txBody>
          <a:bodyPr vert="horz" lIns="91440" tIns="45720" rIns="91440" bIns="45720" rtlCol="0" anchor="t">
            <a:noAutofit/>
          </a:bodyPr>
          <a:lstStyle/>
          <a:p>
            <a:pPr algn="ctr"/>
            <a:r>
              <a:rPr lang="en-US">
                <a:solidFill>
                  <a:schemeClr val="accent1">
                    <a:lumMod val="76000"/>
                  </a:schemeClr>
                </a:solidFill>
              </a:rPr>
              <a:t>The EEA Management Board agreement to grant </a:t>
            </a:r>
            <a:r>
              <a:rPr lang="en-US">
                <a:solidFill>
                  <a:schemeClr val="accent1">
                    <a:lumMod val="76000"/>
                  </a:schemeClr>
                </a:solidFill>
                <a:latin typeface="Franklin Gothic Demi"/>
              </a:rPr>
              <a:t>cooperating status to the country seeking to join EEA and Eionet</a:t>
            </a:r>
          </a:p>
        </p:txBody>
      </p:sp>
      <p:sp>
        <p:nvSpPr>
          <p:cNvPr id="13" name="Date Placeholder 12">
            <a:extLst>
              <a:ext uri="{FF2B5EF4-FFF2-40B4-BE49-F238E27FC236}">
                <a16:creationId xmlns:a16="http://schemas.microsoft.com/office/drawing/2014/main" id="{89668306-077C-7032-AD5D-CE31DDD2A1A2}"/>
              </a:ext>
            </a:extLst>
          </p:cNvPr>
          <p:cNvSpPr>
            <a:spLocks noGrp="1"/>
          </p:cNvSpPr>
          <p:nvPr>
            <p:ph type="dt" sz="half" idx="21"/>
          </p:nvPr>
        </p:nvSpPr>
        <p:spPr/>
        <p:txBody>
          <a:bodyPr/>
          <a:lstStyle/>
          <a:p>
            <a:pPr rtl="0"/>
            <a:fld id="{0971D3F5-C297-4F98-9679-48877DEF0EC7}" type="datetime3">
              <a:rPr lang="en-GB" noProof="0" smtClean="0">
                <a:latin typeface="+mn-lt"/>
              </a:rPr>
              <a:t>22 October, 2025</a:t>
            </a:fld>
            <a:endParaRPr lang="en-GB" noProof="0">
              <a:latin typeface="+mn-lt"/>
            </a:endParaRPr>
          </a:p>
        </p:txBody>
      </p:sp>
      <p:sp>
        <p:nvSpPr>
          <p:cNvPr id="14" name="Footer Placeholder 13">
            <a:extLst>
              <a:ext uri="{FF2B5EF4-FFF2-40B4-BE49-F238E27FC236}">
                <a16:creationId xmlns:a16="http://schemas.microsoft.com/office/drawing/2014/main" id="{36D11D6D-4B48-01F1-7736-6D62C31B2EBA}"/>
              </a:ext>
            </a:extLst>
          </p:cNvPr>
          <p:cNvSpPr>
            <a:spLocks noGrp="1"/>
          </p:cNvSpPr>
          <p:nvPr>
            <p:ph type="ftr" sz="quarter" idx="22"/>
          </p:nvPr>
        </p:nvSpPr>
        <p:spPr>
          <a:xfrm>
            <a:off x="1332230" y="6332220"/>
            <a:ext cx="1497330" cy="247651"/>
          </a:xfrm>
        </p:spPr>
        <p:txBody>
          <a:bodyPr/>
          <a:lstStyle/>
          <a:p>
            <a:r>
              <a:rPr lang="en-US"/>
              <a:t>EEA</a:t>
            </a:r>
            <a:r>
              <a:rPr lang="en-US" sz="1400">
                <a:latin typeface="Franklin Gothic Book"/>
              </a:rPr>
              <a:t> </a:t>
            </a:r>
            <a:r>
              <a:rPr lang="en-US"/>
              <a:t>Enlargement</a:t>
            </a:r>
          </a:p>
        </p:txBody>
      </p:sp>
      <p:sp>
        <p:nvSpPr>
          <p:cNvPr id="15" name="Slide Number Placeholder 14">
            <a:extLst>
              <a:ext uri="{FF2B5EF4-FFF2-40B4-BE49-F238E27FC236}">
                <a16:creationId xmlns:a16="http://schemas.microsoft.com/office/drawing/2014/main" id="{3663482E-401E-80DF-3C8D-F7F926D993BB}"/>
              </a:ext>
            </a:extLst>
          </p:cNvPr>
          <p:cNvSpPr>
            <a:spLocks noGrp="1"/>
          </p:cNvSpPr>
          <p:nvPr>
            <p:ph type="sldNum" sz="quarter" idx="23"/>
          </p:nvPr>
        </p:nvSpPr>
        <p:spPr/>
        <p:txBody>
          <a:bodyPr/>
          <a:lstStyle/>
          <a:p>
            <a:pPr rtl="0"/>
            <a:fld id="{294A09A9-5501-47C1-A89A-A340965A2BE2}" type="slidenum">
              <a:rPr lang="en-GB" noProof="0" smtClean="0"/>
              <a:pPr rtl="0"/>
              <a:t>4</a:t>
            </a:fld>
            <a:endParaRPr lang="en-GB" noProof="0"/>
          </a:p>
        </p:txBody>
      </p:sp>
      <p:sp>
        <p:nvSpPr>
          <p:cNvPr id="16" name="Arrow: Right 15">
            <a:extLst>
              <a:ext uri="{FF2B5EF4-FFF2-40B4-BE49-F238E27FC236}">
                <a16:creationId xmlns:a16="http://schemas.microsoft.com/office/drawing/2014/main" id="{2E008CD3-CB09-466F-CD75-54B32B4630E2}"/>
              </a:ext>
            </a:extLst>
          </p:cNvPr>
          <p:cNvSpPr/>
          <p:nvPr/>
        </p:nvSpPr>
        <p:spPr>
          <a:xfrm rot="1500000">
            <a:off x="5549310" y="2707794"/>
            <a:ext cx="773918" cy="2762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ADDCF44D-09E3-B374-213E-356D53400CB1}"/>
              </a:ext>
            </a:extLst>
          </p:cNvPr>
          <p:cNvSpPr/>
          <p:nvPr/>
        </p:nvSpPr>
        <p:spPr>
          <a:xfrm rot="8820000">
            <a:off x="5738681" y="3627658"/>
            <a:ext cx="814558" cy="266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44456A20-04C5-BD20-2D02-98D2DBC221C3}"/>
              </a:ext>
            </a:extLst>
          </p:cNvPr>
          <p:cNvSpPr/>
          <p:nvPr/>
        </p:nvSpPr>
        <p:spPr>
          <a:xfrm rot="1500000">
            <a:off x="5511072" y="4785373"/>
            <a:ext cx="763758" cy="2661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7">
            <a:extLst>
              <a:ext uri="{FF2B5EF4-FFF2-40B4-BE49-F238E27FC236}">
                <a16:creationId xmlns:a16="http://schemas.microsoft.com/office/drawing/2014/main" id="{C76C5FF0-7BF3-6D65-77ED-66D53B23C3E4}"/>
              </a:ext>
            </a:extLst>
          </p:cNvPr>
          <p:cNvSpPr txBox="1">
            <a:spLocks/>
          </p:cNvSpPr>
          <p:nvPr/>
        </p:nvSpPr>
        <p:spPr>
          <a:xfrm>
            <a:off x="6296660" y="5602037"/>
            <a:ext cx="4635500" cy="40735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None/>
              <a:defRPr sz="1800" b="0" i="0" kern="1200" spc="0" baseline="0">
                <a:solidFill>
                  <a:schemeClr val="tx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solidFill>
                  <a:schemeClr val="accent1">
                    <a:lumMod val="76000"/>
                  </a:schemeClr>
                </a:solidFill>
              </a:rPr>
              <a:t>Signature of agreement between EEA and the country in question</a:t>
            </a:r>
          </a:p>
        </p:txBody>
      </p:sp>
    </p:spTree>
    <p:extLst>
      <p:ext uri="{BB962C8B-B14F-4D97-AF65-F5344CB8AC3E}">
        <p14:creationId xmlns:p14="http://schemas.microsoft.com/office/powerpoint/2010/main" val="1539917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4756-A790-C845-A85F-35391529E591}"/>
              </a:ext>
            </a:extLst>
          </p:cNvPr>
          <p:cNvSpPr>
            <a:spLocks noGrp="1"/>
          </p:cNvSpPr>
          <p:nvPr>
            <p:ph type="title"/>
          </p:nvPr>
        </p:nvSpPr>
        <p:spPr>
          <a:xfrm>
            <a:off x="974183" y="879063"/>
            <a:ext cx="5632357" cy="610863"/>
          </a:xfrm>
        </p:spPr>
        <p:txBody>
          <a:bodyPr rtlCol="0">
            <a:noAutofit/>
          </a:bodyPr>
          <a:lstStyle/>
          <a:p>
            <a:r>
              <a:rPr lang="en-US" sz="3600">
                <a:solidFill>
                  <a:schemeClr val="accent3">
                    <a:lumMod val="50000"/>
                  </a:schemeClr>
                </a:solidFill>
              </a:rPr>
              <a:t>P</a:t>
            </a:r>
            <a:r>
              <a:rPr lang="en-GB" sz="3600" err="1">
                <a:solidFill>
                  <a:schemeClr val="accent3">
                    <a:lumMod val="50000"/>
                  </a:schemeClr>
                </a:solidFill>
              </a:rPr>
              <a:t>rocess</a:t>
            </a:r>
            <a:r>
              <a:rPr lang="en-GB" sz="3600">
                <a:solidFill>
                  <a:schemeClr val="accent3">
                    <a:lumMod val="50000"/>
                  </a:schemeClr>
                </a:solidFill>
              </a:rPr>
              <a:t> towards full EEA/Eionet membership</a:t>
            </a:r>
          </a:p>
        </p:txBody>
      </p:sp>
      <p:sp>
        <p:nvSpPr>
          <p:cNvPr id="4" name="Text Placeholder 3">
            <a:extLst>
              <a:ext uri="{FF2B5EF4-FFF2-40B4-BE49-F238E27FC236}">
                <a16:creationId xmlns:a16="http://schemas.microsoft.com/office/drawing/2014/main" id="{C7EC6698-132B-1143-A2A9-00A97D9572D8}"/>
              </a:ext>
            </a:extLst>
          </p:cNvPr>
          <p:cNvSpPr>
            <a:spLocks noGrp="1"/>
          </p:cNvSpPr>
          <p:nvPr>
            <p:ph type="body" sz="quarter" idx="14"/>
          </p:nvPr>
        </p:nvSpPr>
        <p:spPr>
          <a:xfrm>
            <a:off x="964023" y="2122121"/>
            <a:ext cx="2133600" cy="205837"/>
          </a:xfrm>
        </p:spPr>
        <p:txBody>
          <a:bodyPr vert="horz" lIns="0" tIns="0" rIns="0" bIns="0" rtlCol="0" anchor="t">
            <a:noAutofit/>
          </a:bodyPr>
          <a:lstStyle/>
          <a:p>
            <a:r>
              <a:rPr lang="en-GB" sz="1700"/>
              <a:t>01. </a:t>
            </a:r>
            <a:r>
              <a:rPr lang="en-GB" b="1">
                <a:solidFill>
                  <a:schemeClr val="accent1">
                    <a:lumMod val="49000"/>
                  </a:schemeClr>
                </a:solidFill>
              </a:rPr>
              <a:t>EC </a:t>
            </a:r>
            <a:r>
              <a:rPr lang="en-US" b="1">
                <a:solidFill>
                  <a:schemeClr val="accent1">
                    <a:lumMod val="49000"/>
                  </a:schemeClr>
                </a:solidFill>
              </a:rPr>
              <a:t>initiates the process</a:t>
            </a:r>
            <a:r>
              <a:rPr lang="en-US" b="1">
                <a:solidFill>
                  <a:schemeClr val="accent1">
                    <a:lumMod val="75000"/>
                  </a:schemeClr>
                </a:solidFill>
              </a:rPr>
              <a:t> </a:t>
            </a:r>
            <a:r>
              <a:rPr lang="en-US">
                <a:solidFill>
                  <a:schemeClr val="accent1">
                    <a:lumMod val="75000"/>
                  </a:schemeClr>
                </a:solidFill>
              </a:rPr>
              <a:t>and recommends to the Council to authorize negotiations with the third country</a:t>
            </a:r>
            <a:endParaRPr lang="en-GB">
              <a:solidFill>
                <a:schemeClr val="accent1">
                  <a:lumMod val="75000"/>
                </a:schemeClr>
              </a:solidFill>
            </a:endParaRPr>
          </a:p>
        </p:txBody>
      </p:sp>
      <p:sp>
        <p:nvSpPr>
          <p:cNvPr id="6" name="Text Placeholder 5">
            <a:extLst>
              <a:ext uri="{FF2B5EF4-FFF2-40B4-BE49-F238E27FC236}">
                <a16:creationId xmlns:a16="http://schemas.microsoft.com/office/drawing/2014/main" id="{C0015C52-08ED-464E-B7E8-24892D9C1319}"/>
              </a:ext>
            </a:extLst>
          </p:cNvPr>
          <p:cNvSpPr>
            <a:spLocks noGrp="1"/>
          </p:cNvSpPr>
          <p:nvPr>
            <p:ph type="body" sz="quarter" idx="16"/>
          </p:nvPr>
        </p:nvSpPr>
        <p:spPr>
          <a:xfrm>
            <a:off x="3663042" y="2188797"/>
            <a:ext cx="2128157" cy="205837"/>
          </a:xfrm>
        </p:spPr>
        <p:txBody>
          <a:bodyPr vert="horz" lIns="0" tIns="0" rIns="0" bIns="0" rtlCol="0" anchor="t">
            <a:noAutofit/>
          </a:bodyPr>
          <a:lstStyle/>
          <a:p>
            <a:r>
              <a:rPr lang="en-GB"/>
              <a:t>02. </a:t>
            </a:r>
            <a:r>
              <a:rPr lang="en-US" b="1">
                <a:solidFill>
                  <a:schemeClr val="accent1">
                    <a:lumMod val="49000"/>
                  </a:schemeClr>
                </a:solidFill>
              </a:rPr>
              <a:t>Council reviews the request</a:t>
            </a:r>
            <a:r>
              <a:rPr lang="en-US" b="1">
                <a:solidFill>
                  <a:schemeClr val="accent1">
                    <a:lumMod val="75000"/>
                  </a:schemeClr>
                </a:solidFill>
              </a:rPr>
              <a:t> </a:t>
            </a:r>
            <a:r>
              <a:rPr lang="en-US">
                <a:solidFill>
                  <a:schemeClr val="accent1">
                    <a:lumMod val="75000"/>
                  </a:schemeClr>
                </a:solidFill>
              </a:rPr>
              <a:t>and decides to </a:t>
            </a:r>
            <a:r>
              <a:rPr lang="en-US" err="1">
                <a:solidFill>
                  <a:schemeClr val="accent1">
                    <a:lumMod val="75000"/>
                  </a:schemeClr>
                </a:solidFill>
              </a:rPr>
              <a:t>authorise</a:t>
            </a:r>
            <a:r>
              <a:rPr lang="en-US">
                <a:solidFill>
                  <a:schemeClr val="accent1">
                    <a:lumMod val="75000"/>
                  </a:schemeClr>
                </a:solidFill>
              </a:rPr>
              <a:t> the negotiations</a:t>
            </a:r>
            <a:endParaRPr lang="en-GB">
              <a:solidFill>
                <a:schemeClr val="accent1">
                  <a:lumMod val="75000"/>
                </a:schemeClr>
              </a:solidFill>
            </a:endParaRPr>
          </a:p>
        </p:txBody>
      </p:sp>
      <p:sp>
        <p:nvSpPr>
          <p:cNvPr id="8" name="Text Placeholder 7">
            <a:extLst>
              <a:ext uri="{FF2B5EF4-FFF2-40B4-BE49-F238E27FC236}">
                <a16:creationId xmlns:a16="http://schemas.microsoft.com/office/drawing/2014/main" id="{B32B0C1D-C221-7C47-B7D6-77E7BDB41749}"/>
              </a:ext>
            </a:extLst>
          </p:cNvPr>
          <p:cNvSpPr>
            <a:spLocks noGrp="1"/>
          </p:cNvSpPr>
          <p:nvPr>
            <p:ph type="body" sz="quarter" idx="20"/>
          </p:nvPr>
        </p:nvSpPr>
        <p:spPr>
          <a:xfrm>
            <a:off x="952500" y="4522803"/>
            <a:ext cx="2133600" cy="205837"/>
          </a:xfrm>
        </p:spPr>
        <p:txBody>
          <a:bodyPr vert="horz" lIns="0" tIns="0" rIns="0" bIns="0" rtlCol="0" anchor="t">
            <a:noAutofit/>
          </a:bodyPr>
          <a:lstStyle/>
          <a:p>
            <a:r>
              <a:rPr lang="en-GB"/>
              <a:t>03. </a:t>
            </a:r>
            <a:r>
              <a:rPr lang="en-US" b="1">
                <a:solidFill>
                  <a:schemeClr val="accent1">
                    <a:lumMod val="75000"/>
                  </a:schemeClr>
                </a:solidFill>
              </a:rPr>
              <a:t>The </a:t>
            </a:r>
            <a:r>
              <a:rPr lang="en-US" b="1">
                <a:solidFill>
                  <a:schemeClr val="accent1">
                    <a:lumMod val="49000"/>
                  </a:schemeClr>
                </a:solidFill>
              </a:rPr>
              <a:t>negotiations are carried out </a:t>
            </a:r>
            <a:r>
              <a:rPr lang="en-US">
                <a:solidFill>
                  <a:schemeClr val="accent1">
                    <a:lumMod val="75000"/>
                  </a:schemeClr>
                </a:solidFill>
              </a:rPr>
              <a:t>by the European Commission</a:t>
            </a:r>
            <a:endParaRPr lang="en-GB">
              <a:solidFill>
                <a:schemeClr val="accent1">
                  <a:lumMod val="75000"/>
                </a:schemeClr>
              </a:solidFill>
            </a:endParaRPr>
          </a:p>
        </p:txBody>
      </p:sp>
      <p:sp>
        <p:nvSpPr>
          <p:cNvPr id="10" name="Text Placeholder 9">
            <a:extLst>
              <a:ext uri="{FF2B5EF4-FFF2-40B4-BE49-F238E27FC236}">
                <a16:creationId xmlns:a16="http://schemas.microsoft.com/office/drawing/2014/main" id="{69BD3932-D1D0-1045-BD96-8B26F11B8515}"/>
              </a:ext>
            </a:extLst>
          </p:cNvPr>
          <p:cNvSpPr>
            <a:spLocks noGrp="1"/>
          </p:cNvSpPr>
          <p:nvPr>
            <p:ph type="body" sz="quarter" idx="22"/>
          </p:nvPr>
        </p:nvSpPr>
        <p:spPr>
          <a:xfrm>
            <a:off x="3663042" y="4522803"/>
            <a:ext cx="2351678" cy="282877"/>
          </a:xfrm>
        </p:spPr>
        <p:txBody>
          <a:bodyPr vert="horz" lIns="0" tIns="0" rIns="0" bIns="0" rtlCol="0" anchor="t">
            <a:noAutofit/>
          </a:bodyPr>
          <a:lstStyle/>
          <a:p>
            <a:r>
              <a:rPr lang="en-GB"/>
              <a:t>04. </a:t>
            </a:r>
            <a:r>
              <a:rPr lang="en-US">
                <a:solidFill>
                  <a:schemeClr val="accent1">
                    <a:lumMod val="75000"/>
                  </a:schemeClr>
                </a:solidFill>
              </a:rPr>
              <a:t>Based on EC proposal after successful negotiations, </a:t>
            </a:r>
            <a:r>
              <a:rPr lang="en-US" b="1">
                <a:solidFill>
                  <a:schemeClr val="accent1">
                    <a:lumMod val="49000"/>
                  </a:schemeClr>
                </a:solidFill>
              </a:rPr>
              <a:t>the Council decides on the agreement’s signature</a:t>
            </a:r>
            <a:endParaRPr lang="en-GB" b="1">
              <a:solidFill>
                <a:schemeClr val="accent1">
                  <a:lumMod val="49000"/>
                </a:schemeClr>
              </a:solidFill>
            </a:endParaRPr>
          </a:p>
        </p:txBody>
      </p:sp>
      <p:sp>
        <p:nvSpPr>
          <p:cNvPr id="12" name="Text Placeholder 11">
            <a:extLst>
              <a:ext uri="{FF2B5EF4-FFF2-40B4-BE49-F238E27FC236}">
                <a16:creationId xmlns:a16="http://schemas.microsoft.com/office/drawing/2014/main" id="{B115086E-2AC3-4F4D-8F85-104CFA64FECF}"/>
              </a:ext>
            </a:extLst>
          </p:cNvPr>
          <p:cNvSpPr>
            <a:spLocks noGrp="1"/>
          </p:cNvSpPr>
          <p:nvPr>
            <p:ph type="body" sz="quarter" idx="24"/>
          </p:nvPr>
        </p:nvSpPr>
        <p:spPr>
          <a:xfrm>
            <a:off x="6448334" y="4544726"/>
            <a:ext cx="2129245" cy="205837"/>
          </a:xfrm>
        </p:spPr>
        <p:txBody>
          <a:bodyPr vert="horz" lIns="0" tIns="0" rIns="0" bIns="0" rtlCol="0" anchor="t">
            <a:noAutofit/>
          </a:bodyPr>
          <a:lstStyle/>
          <a:p>
            <a:r>
              <a:rPr lang="en-GB"/>
              <a:t>05. </a:t>
            </a:r>
            <a:r>
              <a:rPr lang="en-US">
                <a:solidFill>
                  <a:schemeClr val="accent1">
                    <a:lumMod val="75000"/>
                  </a:schemeClr>
                </a:solidFill>
              </a:rPr>
              <a:t>Following the </a:t>
            </a:r>
            <a:r>
              <a:rPr lang="en-US" b="1">
                <a:solidFill>
                  <a:schemeClr val="accent1">
                    <a:lumMod val="49000"/>
                  </a:schemeClr>
                </a:solidFill>
              </a:rPr>
              <a:t>European Parliament’s approval</a:t>
            </a:r>
            <a:r>
              <a:rPr lang="en-US">
                <a:solidFill>
                  <a:schemeClr val="accent1">
                    <a:lumMod val="75000"/>
                  </a:schemeClr>
                </a:solidFill>
              </a:rPr>
              <a:t>, the agreement is formally concluded</a:t>
            </a:r>
            <a:endParaRPr lang="en-GB">
              <a:solidFill>
                <a:schemeClr val="accent1">
                  <a:lumMod val="75000"/>
                </a:schemeClr>
              </a:solidFill>
            </a:endParaRPr>
          </a:p>
        </p:txBody>
      </p:sp>
      <p:sp>
        <p:nvSpPr>
          <p:cNvPr id="15" name="Slide Number Placeholder 14">
            <a:extLst>
              <a:ext uri="{FF2B5EF4-FFF2-40B4-BE49-F238E27FC236}">
                <a16:creationId xmlns:a16="http://schemas.microsoft.com/office/drawing/2014/main" id="{329469AE-B59A-AA41-9085-106D011808F5}"/>
              </a:ext>
            </a:extLst>
          </p:cNvPr>
          <p:cNvSpPr>
            <a:spLocks noGrp="1"/>
          </p:cNvSpPr>
          <p:nvPr>
            <p:ph type="sldNum" sz="quarter" idx="27"/>
          </p:nvPr>
        </p:nvSpPr>
        <p:spPr>
          <a:xfrm>
            <a:off x="971550" y="6332220"/>
            <a:ext cx="523240" cy="247651"/>
          </a:xfrm>
        </p:spPr>
        <p:txBody>
          <a:bodyPr rtlCol="0"/>
          <a:lstStyle/>
          <a:p>
            <a:pPr rtl="0"/>
            <a:fld id="{294A09A9-5501-47C1-A89A-A340965A2BE2}" type="slidenum">
              <a:rPr lang="en-GB" smtClean="0"/>
              <a:pPr rtl="0"/>
              <a:t>5</a:t>
            </a:fld>
            <a:endParaRPr lang="en-GB"/>
          </a:p>
        </p:txBody>
      </p:sp>
      <p:pic>
        <p:nvPicPr>
          <p:cNvPr id="16" name="Picture 15">
            <a:extLst>
              <a:ext uri="{FF2B5EF4-FFF2-40B4-BE49-F238E27FC236}">
                <a16:creationId xmlns:a16="http://schemas.microsoft.com/office/drawing/2014/main" id="{1873413A-969B-9CB7-03B8-FDB427E89047}"/>
              </a:ext>
            </a:extLst>
          </p:cNvPr>
          <p:cNvPicPr>
            <a:picLocks noChangeAspect="1"/>
          </p:cNvPicPr>
          <p:nvPr/>
        </p:nvPicPr>
        <p:blipFill>
          <a:blip r:embed="rId3"/>
          <a:stretch>
            <a:fillRect/>
          </a:stretch>
        </p:blipFill>
        <p:spPr>
          <a:xfrm>
            <a:off x="8695837" y="5937417"/>
            <a:ext cx="3496163" cy="924054"/>
          </a:xfrm>
          <a:prstGeom prst="rect">
            <a:avLst/>
          </a:prstGeom>
        </p:spPr>
      </p:pic>
      <p:sp>
        <p:nvSpPr>
          <p:cNvPr id="28" name="TextBox 27">
            <a:extLst>
              <a:ext uri="{FF2B5EF4-FFF2-40B4-BE49-F238E27FC236}">
                <a16:creationId xmlns:a16="http://schemas.microsoft.com/office/drawing/2014/main" id="{D0CC8C2E-7074-D31E-35FC-0BBDCBEABB00}"/>
              </a:ext>
            </a:extLst>
          </p:cNvPr>
          <p:cNvSpPr txBox="1"/>
          <p:nvPr/>
        </p:nvSpPr>
        <p:spPr>
          <a:xfrm>
            <a:off x="9011193" y="4274456"/>
            <a:ext cx="2642327" cy="1769715"/>
          </a:xfrm>
          <a:prstGeom prst="rect">
            <a:avLst/>
          </a:prstGeom>
          <a:noFill/>
        </p:spPr>
        <p:txBody>
          <a:bodyPr wrap="square" lIns="91440" tIns="45720" rIns="91440" bIns="45720" rtlCol="0" anchor="t">
            <a:spAutoFit/>
          </a:bodyPr>
          <a:lstStyle/>
          <a:p>
            <a:r>
              <a:rPr lang="en-US" sz="1900" b="1">
                <a:solidFill>
                  <a:schemeClr val="accent3">
                    <a:lumMod val="50000"/>
                  </a:schemeClr>
                </a:solidFill>
              </a:rPr>
              <a:t>→ </a:t>
            </a:r>
            <a:r>
              <a:rPr lang="en-US" i="1">
                <a:solidFill>
                  <a:schemeClr val="accent3">
                    <a:lumMod val="50000"/>
                  </a:schemeClr>
                </a:solidFill>
                <a:effectLst>
                  <a:outerShdw blurRad="38100" dist="38100" dir="2700000" algn="tl">
                    <a:srgbClr val="000000">
                      <a:alpha val="43137"/>
                    </a:srgbClr>
                  </a:outerShdw>
                </a:effectLst>
              </a:rPr>
              <a:t>The procedure is similar to concluding international agreements and could take 3-4 years, depending on various factors.</a:t>
            </a:r>
            <a:endParaRPr lang="en-GB" i="1">
              <a:solidFill>
                <a:schemeClr val="accent3">
                  <a:lumMod val="50000"/>
                </a:schemeClr>
              </a:solidFill>
              <a:effectLst>
                <a:outerShdw blurRad="38100" dist="38100" dir="2700000" algn="tl">
                  <a:srgbClr val="000000">
                    <a:alpha val="43137"/>
                  </a:srgbClr>
                </a:outerShdw>
              </a:effectLst>
            </a:endParaRPr>
          </a:p>
        </p:txBody>
      </p:sp>
      <p:sp>
        <p:nvSpPr>
          <p:cNvPr id="29" name="Footer Placeholder 13">
            <a:extLst>
              <a:ext uri="{FF2B5EF4-FFF2-40B4-BE49-F238E27FC236}">
                <a16:creationId xmlns:a16="http://schemas.microsoft.com/office/drawing/2014/main" id="{BBFC76D2-F896-7970-99A8-98835BFFE9BA}"/>
              </a:ext>
            </a:extLst>
          </p:cNvPr>
          <p:cNvSpPr txBox="1">
            <a:spLocks/>
          </p:cNvSpPr>
          <p:nvPr/>
        </p:nvSpPr>
        <p:spPr>
          <a:xfrm>
            <a:off x="1745318" y="6399444"/>
            <a:ext cx="1497330" cy="247651"/>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sz="1100">
                <a:latin typeface="+mj-lt"/>
              </a:rPr>
              <a:t>EEA</a:t>
            </a:r>
            <a:r>
              <a:rPr lang="en-US"/>
              <a:t> </a:t>
            </a:r>
            <a:r>
              <a:rPr lang="en-US" sz="1100">
                <a:latin typeface="+mj-lt"/>
              </a:rPr>
              <a:t>Enlargement</a:t>
            </a:r>
            <a:endParaRPr lang="en-GB" sz="1100">
              <a:latin typeface="+mj-lt"/>
            </a:endParaRPr>
          </a:p>
        </p:txBody>
      </p:sp>
      <p:sp>
        <p:nvSpPr>
          <p:cNvPr id="31" name="Date Placeholder 12">
            <a:extLst>
              <a:ext uri="{FF2B5EF4-FFF2-40B4-BE49-F238E27FC236}">
                <a16:creationId xmlns:a16="http://schemas.microsoft.com/office/drawing/2014/main" id="{E4D07DD7-EE6E-B60C-7C0C-90A9CF08B327}"/>
              </a:ext>
            </a:extLst>
          </p:cNvPr>
          <p:cNvSpPr txBox="1">
            <a:spLocks/>
          </p:cNvSpPr>
          <p:nvPr/>
        </p:nvSpPr>
        <p:spPr>
          <a:xfrm>
            <a:off x="3242648" y="6456045"/>
            <a:ext cx="1313180" cy="247651"/>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400"/>
              </a:spcBef>
              <a:buFont typeface="Arial" panose="020B0604020202020204" pitchFamily="34" charset="0"/>
              <a:buNone/>
              <a:defRPr sz="1800" b="0" i="0" kern="1200">
                <a:solidFill>
                  <a:schemeClr val="tx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sz="1100">
                <a:solidFill>
                  <a:schemeClr val="bg1"/>
                </a:solidFill>
                <a:latin typeface="+mn-lt"/>
              </a:rPr>
              <a:t>23 October 2025</a:t>
            </a:r>
            <a:endParaRPr lang="en-GB" sz="1100">
              <a:solidFill>
                <a:schemeClr val="bg1"/>
              </a:solidFill>
              <a:latin typeface="+mn-lt"/>
            </a:endParaRPr>
          </a:p>
        </p:txBody>
      </p:sp>
    </p:spTree>
    <p:extLst>
      <p:ext uri="{BB962C8B-B14F-4D97-AF65-F5344CB8AC3E}">
        <p14:creationId xmlns:p14="http://schemas.microsoft.com/office/powerpoint/2010/main" val="289860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48014-C121-60D8-F067-C6FC63BE8C0A}"/>
              </a:ext>
            </a:extLst>
          </p:cNvPr>
          <p:cNvSpPr>
            <a:spLocks noGrp="1"/>
          </p:cNvSpPr>
          <p:nvPr>
            <p:ph type="title"/>
          </p:nvPr>
        </p:nvSpPr>
        <p:spPr>
          <a:xfrm>
            <a:off x="548400" y="449140"/>
            <a:ext cx="4941477" cy="610863"/>
          </a:xfrm>
        </p:spPr>
        <p:txBody>
          <a:bodyPr>
            <a:normAutofit/>
          </a:bodyPr>
          <a:lstStyle/>
          <a:p>
            <a:r>
              <a:rPr lang="en-GB" sz="3800" spc="50">
                <a:solidFill>
                  <a:schemeClr val="accent3">
                    <a:lumMod val="50000"/>
                  </a:schemeClr>
                </a:solidFill>
              </a:rPr>
              <a:t>Eionet core data flows</a:t>
            </a:r>
          </a:p>
        </p:txBody>
      </p:sp>
      <p:sp>
        <p:nvSpPr>
          <p:cNvPr id="6" name="Slide Number Placeholder 5">
            <a:extLst>
              <a:ext uri="{FF2B5EF4-FFF2-40B4-BE49-F238E27FC236}">
                <a16:creationId xmlns:a16="http://schemas.microsoft.com/office/drawing/2014/main" id="{003D9DFB-E0EB-DB6C-2C54-43A9CBFD6C94}"/>
              </a:ext>
            </a:extLst>
          </p:cNvPr>
          <p:cNvSpPr>
            <a:spLocks noGrp="1"/>
          </p:cNvSpPr>
          <p:nvPr>
            <p:ph type="sldNum" sz="quarter" idx="13"/>
          </p:nvPr>
        </p:nvSpPr>
        <p:spPr/>
        <p:txBody>
          <a:bodyPr/>
          <a:lstStyle/>
          <a:p>
            <a:pPr rtl="0"/>
            <a:fld id="{294A09A9-5501-47C1-A89A-A340965A2BE2}" type="slidenum">
              <a:rPr lang="en-GB" noProof="0" smtClean="0"/>
              <a:pPr rtl="0"/>
              <a:t>6</a:t>
            </a:fld>
            <a:endParaRPr lang="en-GB" noProof="0">
              <a:latin typeface="+mn-lt"/>
            </a:endParaRPr>
          </a:p>
        </p:txBody>
      </p:sp>
      <p:pic>
        <p:nvPicPr>
          <p:cNvPr id="10" name="Picture 9">
            <a:extLst>
              <a:ext uri="{FF2B5EF4-FFF2-40B4-BE49-F238E27FC236}">
                <a16:creationId xmlns:a16="http://schemas.microsoft.com/office/drawing/2014/main" id="{58A0209B-01BF-9B66-F45A-6CEE088906E5}"/>
              </a:ext>
            </a:extLst>
          </p:cNvPr>
          <p:cNvPicPr>
            <a:picLocks noChangeAspect="1"/>
          </p:cNvPicPr>
          <p:nvPr/>
        </p:nvPicPr>
        <p:blipFill>
          <a:blip r:embed="rId3"/>
          <a:stretch>
            <a:fillRect/>
          </a:stretch>
        </p:blipFill>
        <p:spPr>
          <a:xfrm>
            <a:off x="8692593" y="6057994"/>
            <a:ext cx="3499407" cy="800006"/>
          </a:xfrm>
          <a:prstGeom prst="rect">
            <a:avLst/>
          </a:prstGeom>
        </p:spPr>
      </p:pic>
      <p:sp>
        <p:nvSpPr>
          <p:cNvPr id="11" name="TextBox 10">
            <a:extLst>
              <a:ext uri="{FF2B5EF4-FFF2-40B4-BE49-F238E27FC236}">
                <a16:creationId xmlns:a16="http://schemas.microsoft.com/office/drawing/2014/main" id="{08327FF3-DE91-FAF8-9428-EABCFD787051}"/>
              </a:ext>
            </a:extLst>
          </p:cNvPr>
          <p:cNvSpPr txBox="1"/>
          <p:nvPr/>
        </p:nvSpPr>
        <p:spPr>
          <a:xfrm>
            <a:off x="6702125" y="988592"/>
            <a:ext cx="5811520" cy="307777"/>
          </a:xfrm>
          <a:prstGeom prst="rect">
            <a:avLst/>
          </a:prstGeom>
          <a:noFill/>
        </p:spPr>
        <p:txBody>
          <a:bodyPr wrap="square" rtlCol="0">
            <a:spAutoFit/>
          </a:bodyPr>
          <a:lstStyle/>
          <a:p>
            <a:r>
              <a:rPr lang="en-US" sz="1400">
                <a:solidFill>
                  <a:schemeClr val="accent3">
                    <a:lumMod val="50000"/>
                  </a:schemeClr>
                </a:solidFill>
              </a:rPr>
              <a:t>Eionet core data flows reporting performance of countries in 2024</a:t>
            </a:r>
          </a:p>
        </p:txBody>
      </p:sp>
      <p:sp>
        <p:nvSpPr>
          <p:cNvPr id="12" name="Text Placeholder 43">
            <a:extLst>
              <a:ext uri="{FF2B5EF4-FFF2-40B4-BE49-F238E27FC236}">
                <a16:creationId xmlns:a16="http://schemas.microsoft.com/office/drawing/2014/main" id="{5B2F8025-49A0-A641-D4A9-32652B37DFB4}"/>
              </a:ext>
            </a:extLst>
          </p:cNvPr>
          <p:cNvSpPr txBox="1">
            <a:spLocks/>
          </p:cNvSpPr>
          <p:nvPr/>
        </p:nvSpPr>
        <p:spPr>
          <a:xfrm>
            <a:off x="858233" y="1682712"/>
            <a:ext cx="4321810" cy="449351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sz="2300">
                <a:solidFill>
                  <a:schemeClr val="accent3">
                    <a:lumMod val="50000"/>
                  </a:schemeClr>
                </a:solidFill>
              </a:rPr>
              <a:t>Annual evaluation of deliveries under the Eionet core data flows, published by the EEA since 2005. </a:t>
            </a:r>
          </a:p>
          <a:p>
            <a:pPr marL="285750" indent="-285750"/>
            <a:r>
              <a:rPr lang="en-US" sz="2300">
                <a:solidFill>
                  <a:schemeClr val="accent3">
                    <a:lumMod val="50000"/>
                  </a:schemeClr>
                </a:solidFill>
              </a:rPr>
              <a:t>The scoring of countries’ reporting performance based on key data flows is considered an important driver, contributing to improved reporting. </a:t>
            </a:r>
          </a:p>
          <a:p>
            <a:pPr marL="285750" indent="-285750"/>
            <a:r>
              <a:rPr lang="en-US" sz="2300">
                <a:solidFill>
                  <a:schemeClr val="accent3">
                    <a:lumMod val="50000"/>
                  </a:schemeClr>
                </a:solidFill>
              </a:rPr>
              <a:t>Three WB cooperating countries in Top 10 (2024 scoring) with two of them - Kosovo* and Serbia - having achieved a data flow score of 100%!</a:t>
            </a:r>
          </a:p>
          <a:p>
            <a:pPr marL="285750" indent="-285750"/>
            <a:endParaRPr lang="en-US"/>
          </a:p>
          <a:p>
            <a:pPr marL="285750" indent="-285750"/>
            <a:endParaRPr lang="en-US">
              <a:solidFill>
                <a:srgbClr val="002060"/>
              </a:solidFill>
            </a:endParaRPr>
          </a:p>
        </p:txBody>
      </p:sp>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DBB59ADF-545E-EAF4-16C5-378CFB2A6DFC}"/>
                  </a:ext>
                </a:extLst>
              </p14:cNvPr>
              <p14:cNvContentPartPr/>
              <p14:nvPr/>
            </p14:nvContentPartPr>
            <p14:xfrm>
              <a:off x="548400" y="1205917"/>
              <a:ext cx="5415480" cy="10080"/>
            </p14:xfrm>
          </p:contentPart>
        </mc:Choice>
        <mc:Fallback xmlns="">
          <p:pic>
            <p:nvPicPr>
              <p:cNvPr id="14" name="Ink 13">
                <a:extLst>
                  <a:ext uri="{FF2B5EF4-FFF2-40B4-BE49-F238E27FC236}">
                    <a16:creationId xmlns:a16="http://schemas.microsoft.com/office/drawing/2014/main" id="{DBB59ADF-545E-EAF4-16C5-378CFB2A6DFC}"/>
                  </a:ext>
                </a:extLst>
              </p:cNvPr>
              <p:cNvPicPr/>
              <p:nvPr/>
            </p:nvPicPr>
            <p:blipFill>
              <a:blip r:embed="rId5"/>
              <a:stretch>
                <a:fillRect/>
              </a:stretch>
            </p:blipFill>
            <p:spPr>
              <a:xfrm>
                <a:off x="518160" y="1175677"/>
                <a:ext cx="5475600" cy="70200"/>
              </a:xfrm>
              <a:prstGeom prst="rect">
                <a:avLst/>
              </a:prstGeom>
            </p:spPr>
          </p:pic>
        </mc:Fallback>
      </mc:AlternateContent>
      <p:sp>
        <p:nvSpPr>
          <p:cNvPr id="15" name="Footer Placeholder 13">
            <a:extLst>
              <a:ext uri="{FF2B5EF4-FFF2-40B4-BE49-F238E27FC236}">
                <a16:creationId xmlns:a16="http://schemas.microsoft.com/office/drawing/2014/main" id="{374D47D3-2466-241F-AF07-ECC089EACD43}"/>
              </a:ext>
            </a:extLst>
          </p:cNvPr>
          <p:cNvSpPr txBox="1">
            <a:spLocks/>
          </p:cNvSpPr>
          <p:nvPr/>
        </p:nvSpPr>
        <p:spPr>
          <a:xfrm>
            <a:off x="1745318" y="6399444"/>
            <a:ext cx="1497330" cy="247651"/>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sz="1100">
                <a:latin typeface="+mj-lt"/>
              </a:rPr>
              <a:t>EEA</a:t>
            </a:r>
            <a:r>
              <a:rPr lang="en-US"/>
              <a:t> </a:t>
            </a:r>
            <a:r>
              <a:rPr lang="en-US" sz="1100">
                <a:latin typeface="+mj-lt"/>
              </a:rPr>
              <a:t>Enlargement</a:t>
            </a:r>
            <a:endParaRPr lang="en-GB" sz="1100">
              <a:latin typeface="+mj-lt"/>
            </a:endParaRPr>
          </a:p>
        </p:txBody>
      </p:sp>
      <p:sp>
        <p:nvSpPr>
          <p:cNvPr id="16" name="Date Placeholder 12">
            <a:extLst>
              <a:ext uri="{FF2B5EF4-FFF2-40B4-BE49-F238E27FC236}">
                <a16:creationId xmlns:a16="http://schemas.microsoft.com/office/drawing/2014/main" id="{991C9A0E-EC9E-FE74-2A61-6C0D6D715278}"/>
              </a:ext>
            </a:extLst>
          </p:cNvPr>
          <p:cNvSpPr txBox="1">
            <a:spLocks/>
          </p:cNvSpPr>
          <p:nvPr/>
        </p:nvSpPr>
        <p:spPr>
          <a:xfrm>
            <a:off x="3242648" y="6456045"/>
            <a:ext cx="1313180" cy="247651"/>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400"/>
              </a:spcBef>
              <a:buFont typeface="Arial" panose="020B0604020202020204" pitchFamily="34" charset="0"/>
              <a:buNone/>
              <a:defRPr sz="1800" b="0" i="0" kern="1200">
                <a:solidFill>
                  <a:schemeClr val="tx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sz="1100">
                <a:solidFill>
                  <a:schemeClr val="bg1"/>
                </a:solidFill>
                <a:latin typeface="+mn-lt"/>
              </a:rPr>
              <a:t>23 October 2025</a:t>
            </a:r>
            <a:endParaRPr lang="en-GB" sz="1100">
              <a:solidFill>
                <a:schemeClr val="bg1"/>
              </a:solidFill>
              <a:latin typeface="+mn-lt"/>
            </a:endParaRPr>
          </a:p>
        </p:txBody>
      </p:sp>
      <p:pic>
        <p:nvPicPr>
          <p:cNvPr id="18" name="Picture 17">
            <a:extLst>
              <a:ext uri="{FF2B5EF4-FFF2-40B4-BE49-F238E27FC236}">
                <a16:creationId xmlns:a16="http://schemas.microsoft.com/office/drawing/2014/main" id="{F6C619D0-D577-85FB-1EB1-678CFE87E1A4}"/>
              </a:ext>
            </a:extLst>
          </p:cNvPr>
          <p:cNvPicPr>
            <a:picLocks noChangeAspect="1"/>
          </p:cNvPicPr>
          <p:nvPr/>
        </p:nvPicPr>
        <p:blipFill>
          <a:blip r:embed="rId6"/>
          <a:stretch>
            <a:fillRect/>
          </a:stretch>
        </p:blipFill>
        <p:spPr>
          <a:xfrm>
            <a:off x="5746749" y="1296369"/>
            <a:ext cx="6291913" cy="4905559"/>
          </a:xfrm>
          <a:prstGeom prst="rect">
            <a:avLst/>
          </a:prstGeom>
        </p:spPr>
      </p:pic>
    </p:spTree>
    <p:extLst>
      <p:ext uri="{BB962C8B-B14F-4D97-AF65-F5344CB8AC3E}">
        <p14:creationId xmlns:p14="http://schemas.microsoft.com/office/powerpoint/2010/main" val="4134773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AB21B5B1-CE6D-317E-C158-DAADAF022D6A}"/>
              </a:ext>
            </a:extLst>
          </p:cNvPr>
          <p:cNvSpPr>
            <a:spLocks noGrp="1"/>
          </p:cNvSpPr>
          <p:nvPr>
            <p:ph type="title"/>
          </p:nvPr>
        </p:nvSpPr>
        <p:spPr>
          <a:xfrm>
            <a:off x="974183" y="879063"/>
            <a:ext cx="4433477" cy="610863"/>
          </a:xfrm>
        </p:spPr>
        <p:txBody>
          <a:bodyPr>
            <a:normAutofit fontScale="90000"/>
          </a:bodyPr>
          <a:lstStyle/>
          <a:p>
            <a:r>
              <a:rPr lang="en-US" sz="3800" spc="50">
                <a:solidFill>
                  <a:schemeClr val="accent3">
                    <a:lumMod val="50000"/>
                  </a:schemeClr>
                </a:solidFill>
              </a:rPr>
              <a:t>Financial aspects of EEA membership</a:t>
            </a:r>
            <a:endParaRPr lang="en-GB" sz="3800" spc="50">
              <a:solidFill>
                <a:schemeClr val="accent3">
                  <a:lumMod val="50000"/>
                </a:schemeClr>
              </a:solidFill>
            </a:endParaRPr>
          </a:p>
        </p:txBody>
      </p:sp>
      <p:sp>
        <p:nvSpPr>
          <p:cNvPr id="39" name="Text Placeholder 38">
            <a:extLst>
              <a:ext uri="{FF2B5EF4-FFF2-40B4-BE49-F238E27FC236}">
                <a16:creationId xmlns:a16="http://schemas.microsoft.com/office/drawing/2014/main" id="{24A43DE0-FAC7-9906-4C57-DF0CEB11DEB9}"/>
              </a:ext>
            </a:extLst>
          </p:cNvPr>
          <p:cNvSpPr>
            <a:spLocks noGrp="1"/>
          </p:cNvSpPr>
          <p:nvPr>
            <p:ph type="body" sz="quarter" idx="11"/>
          </p:nvPr>
        </p:nvSpPr>
        <p:spPr>
          <a:xfrm>
            <a:off x="964023" y="2148290"/>
            <a:ext cx="5824221" cy="3642910"/>
          </a:xfrm>
        </p:spPr>
        <p:txBody>
          <a:bodyPr/>
          <a:lstStyle/>
          <a:p>
            <a:r>
              <a:rPr lang="en-US" sz="2000"/>
              <a:t>Full membership of non-EU countries requires payment of an annual financial contribution to the EEA revenue. </a:t>
            </a:r>
          </a:p>
          <a:p>
            <a:r>
              <a:rPr lang="en-US" sz="2000"/>
              <a:t>No fees to be paid to become a cooperating country. </a:t>
            </a:r>
          </a:p>
          <a:p>
            <a:r>
              <a:rPr lang="en-US" sz="2000"/>
              <a:t>When candidate countries become EU Member States following the accession process, they automatically become EEA full members, and their contribution is directly covered by the EU subvention to the EEA, paid by the EU Budget.</a:t>
            </a:r>
            <a:endParaRPr lang="en-GB" sz="2000"/>
          </a:p>
        </p:txBody>
      </p:sp>
      <p:sp>
        <p:nvSpPr>
          <p:cNvPr id="15" name="Slide Number Placeholder 14">
            <a:extLst>
              <a:ext uri="{FF2B5EF4-FFF2-40B4-BE49-F238E27FC236}">
                <a16:creationId xmlns:a16="http://schemas.microsoft.com/office/drawing/2014/main" id="{DFA9984C-7DFE-B8F7-FEC3-20EE0109B5EC}"/>
              </a:ext>
            </a:extLst>
          </p:cNvPr>
          <p:cNvSpPr>
            <a:spLocks noGrp="1"/>
          </p:cNvSpPr>
          <p:nvPr>
            <p:ph type="sldNum" sz="quarter" idx="16"/>
          </p:nvPr>
        </p:nvSpPr>
        <p:spPr/>
        <p:txBody>
          <a:bodyPr/>
          <a:lstStyle/>
          <a:p>
            <a:pPr rtl="0"/>
            <a:fld id="{294A09A9-5501-47C1-A89A-A340965A2BE2}" type="slidenum">
              <a:rPr lang="en-GB" noProof="0" smtClean="0"/>
              <a:pPr rtl="0"/>
              <a:t>7</a:t>
            </a:fld>
            <a:endParaRPr lang="en-GB" noProof="0"/>
          </a:p>
        </p:txBody>
      </p:sp>
      <p:pic>
        <p:nvPicPr>
          <p:cNvPr id="41" name="Picture 40">
            <a:extLst>
              <a:ext uri="{FF2B5EF4-FFF2-40B4-BE49-F238E27FC236}">
                <a16:creationId xmlns:a16="http://schemas.microsoft.com/office/drawing/2014/main" id="{56496CC5-F533-4347-9E98-2A3AD43B09A1}"/>
              </a:ext>
            </a:extLst>
          </p:cNvPr>
          <p:cNvPicPr>
            <a:picLocks noChangeAspect="1"/>
          </p:cNvPicPr>
          <p:nvPr/>
        </p:nvPicPr>
        <p:blipFill>
          <a:blip r:embed="rId3"/>
          <a:stretch>
            <a:fillRect/>
          </a:stretch>
        </p:blipFill>
        <p:spPr>
          <a:xfrm>
            <a:off x="8692593" y="6057994"/>
            <a:ext cx="3499407" cy="800006"/>
          </a:xfrm>
          <a:prstGeom prst="rect">
            <a:avLst/>
          </a:prstGeom>
        </p:spPr>
      </p:pic>
      <p:pic>
        <p:nvPicPr>
          <p:cNvPr id="53" name="Picture Placeholder 52" descr="Dandelion seeds">
            <a:extLst>
              <a:ext uri="{FF2B5EF4-FFF2-40B4-BE49-F238E27FC236}">
                <a16:creationId xmlns:a16="http://schemas.microsoft.com/office/drawing/2014/main" id="{CAC9EF15-08A3-406D-9236-76A5454D5F8A}"/>
              </a:ext>
            </a:extLst>
          </p:cNvPr>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l="20568" r="20568"/>
          <a:stretch/>
        </p:blipFill>
        <p:spPr>
          <a:xfrm>
            <a:off x="7116518" y="270725"/>
            <a:ext cx="4760522" cy="5390299"/>
          </a:xfrm>
        </p:spPr>
      </p:pic>
      <p:sp>
        <p:nvSpPr>
          <p:cNvPr id="42" name="Footer Placeholder 13">
            <a:extLst>
              <a:ext uri="{FF2B5EF4-FFF2-40B4-BE49-F238E27FC236}">
                <a16:creationId xmlns:a16="http://schemas.microsoft.com/office/drawing/2014/main" id="{E4970386-3A1B-F116-F21E-0B3106C66502}"/>
              </a:ext>
            </a:extLst>
          </p:cNvPr>
          <p:cNvSpPr txBox="1">
            <a:spLocks/>
          </p:cNvSpPr>
          <p:nvPr/>
        </p:nvSpPr>
        <p:spPr>
          <a:xfrm>
            <a:off x="1745318" y="6399444"/>
            <a:ext cx="1497330" cy="247651"/>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sz="1100">
                <a:latin typeface="+mj-lt"/>
              </a:rPr>
              <a:t>EEA</a:t>
            </a:r>
            <a:r>
              <a:rPr lang="en-US"/>
              <a:t> </a:t>
            </a:r>
            <a:r>
              <a:rPr lang="en-US" sz="1100">
                <a:latin typeface="+mj-lt"/>
              </a:rPr>
              <a:t>Enlargement</a:t>
            </a:r>
            <a:endParaRPr lang="en-GB" sz="1100">
              <a:latin typeface="+mj-lt"/>
            </a:endParaRPr>
          </a:p>
        </p:txBody>
      </p:sp>
      <p:sp>
        <p:nvSpPr>
          <p:cNvPr id="43" name="Date Placeholder 12">
            <a:extLst>
              <a:ext uri="{FF2B5EF4-FFF2-40B4-BE49-F238E27FC236}">
                <a16:creationId xmlns:a16="http://schemas.microsoft.com/office/drawing/2014/main" id="{A0C02B8E-93B7-7C57-4134-F8EDA54493D1}"/>
              </a:ext>
            </a:extLst>
          </p:cNvPr>
          <p:cNvSpPr txBox="1">
            <a:spLocks/>
          </p:cNvSpPr>
          <p:nvPr/>
        </p:nvSpPr>
        <p:spPr>
          <a:xfrm>
            <a:off x="3242648" y="6456045"/>
            <a:ext cx="1313180" cy="247651"/>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400"/>
              </a:spcBef>
              <a:buFont typeface="Arial" panose="020B0604020202020204" pitchFamily="34" charset="0"/>
              <a:buNone/>
              <a:defRPr sz="1800" b="0" i="0" kern="1200">
                <a:solidFill>
                  <a:schemeClr val="tx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sz="1100">
                <a:solidFill>
                  <a:schemeClr val="bg1"/>
                </a:solidFill>
                <a:latin typeface="+mn-lt"/>
              </a:rPr>
              <a:t>23 October 2025</a:t>
            </a:r>
            <a:endParaRPr lang="en-GB" sz="1100">
              <a:solidFill>
                <a:schemeClr val="bg1"/>
              </a:solidFill>
              <a:latin typeface="+mn-lt"/>
            </a:endParaRPr>
          </a:p>
        </p:txBody>
      </p:sp>
    </p:spTree>
    <p:extLst>
      <p:ext uri="{BB962C8B-B14F-4D97-AF65-F5344CB8AC3E}">
        <p14:creationId xmlns:p14="http://schemas.microsoft.com/office/powerpoint/2010/main" val="2525089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728DC-195E-4A4E-AEBA-5E0D1DB03B76}"/>
              </a:ext>
            </a:extLst>
          </p:cNvPr>
          <p:cNvSpPr>
            <a:spLocks noGrp="1"/>
          </p:cNvSpPr>
          <p:nvPr>
            <p:ph type="title"/>
          </p:nvPr>
        </p:nvSpPr>
        <p:spPr>
          <a:xfrm>
            <a:off x="1125482" y="2045576"/>
            <a:ext cx="7113022" cy="3289971"/>
          </a:xfrm>
        </p:spPr>
        <p:txBody>
          <a:bodyPr rtlCol="0">
            <a:noAutofit/>
          </a:bodyPr>
          <a:lstStyle/>
          <a:p>
            <a:pPr>
              <a:spcBef>
                <a:spcPts val="1200"/>
              </a:spcBef>
              <a:spcAft>
                <a:spcPts val="1200"/>
              </a:spcAft>
            </a:pPr>
            <a:r>
              <a:rPr lang="en-US" sz="2300" i="1"/>
              <a:t>MB agreed with the principle to grant cooperating status to Ukraine and Moldova conditional to additional financial resources to the EEA.</a:t>
            </a:r>
            <a:br>
              <a:rPr lang="en-US" sz="2300" i="1"/>
            </a:br>
            <a:r>
              <a:rPr lang="en-US" sz="1200" i="1"/>
              <a:t> </a:t>
            </a:r>
            <a:br>
              <a:rPr lang="en-US" sz="2300" i="1"/>
            </a:br>
            <a:r>
              <a:rPr lang="en-US" sz="2300" i="1"/>
              <a:t>A stepwise approach will be needed, starting with a Decision to grant a status of cooperating country to </a:t>
            </a:r>
            <a:br>
              <a:rPr lang="en-US" sz="2300" i="1"/>
            </a:br>
            <a:r>
              <a:rPr lang="en-US" sz="2300" i="1"/>
              <a:t>Moldova (that already has sent a formal request). Given the fact that the official request by Ukraine is still pending, the MB Decision concerning Ukraine will be a second step.</a:t>
            </a:r>
            <a:endParaRPr lang="en-GB" sz="2300" i="1"/>
          </a:p>
        </p:txBody>
      </p:sp>
      <p:sp>
        <p:nvSpPr>
          <p:cNvPr id="3" name="TextBox 2">
            <a:extLst>
              <a:ext uri="{FF2B5EF4-FFF2-40B4-BE49-F238E27FC236}">
                <a16:creationId xmlns:a16="http://schemas.microsoft.com/office/drawing/2014/main" id="{327374C0-8432-ACF2-41EE-B39D7D32F641}"/>
              </a:ext>
            </a:extLst>
          </p:cNvPr>
          <p:cNvSpPr txBox="1"/>
          <p:nvPr/>
        </p:nvSpPr>
        <p:spPr>
          <a:xfrm>
            <a:off x="4466895" y="5461094"/>
            <a:ext cx="4004442" cy="923330"/>
          </a:xfrm>
          <a:prstGeom prst="rect">
            <a:avLst/>
          </a:prstGeom>
          <a:noFill/>
        </p:spPr>
        <p:txBody>
          <a:bodyPr wrap="square" rtlCol="0">
            <a:spAutoFit/>
          </a:bodyPr>
          <a:lstStyle/>
          <a:p>
            <a:r>
              <a:rPr lang="en-US">
                <a:solidFill>
                  <a:schemeClr val="accent3">
                    <a:lumMod val="50000"/>
                  </a:schemeClr>
                </a:solidFill>
              </a:rPr>
              <a:t>Extract from the final Decision List of 104</a:t>
            </a:r>
            <a:r>
              <a:rPr lang="en-US" baseline="30000">
                <a:solidFill>
                  <a:schemeClr val="accent3">
                    <a:lumMod val="50000"/>
                  </a:schemeClr>
                </a:solidFill>
              </a:rPr>
              <a:t>th</a:t>
            </a:r>
            <a:r>
              <a:rPr lang="en-US">
                <a:solidFill>
                  <a:schemeClr val="accent3">
                    <a:lumMod val="50000"/>
                  </a:schemeClr>
                </a:solidFill>
              </a:rPr>
              <a:t> Management Board meeting, held on 20 March 2025</a:t>
            </a:r>
            <a:endParaRPr lang="en-GB">
              <a:solidFill>
                <a:schemeClr val="accent3">
                  <a:lumMod val="50000"/>
                </a:schemeClr>
              </a:solidFill>
            </a:endParaRPr>
          </a:p>
        </p:txBody>
      </p:sp>
      <p:pic>
        <p:nvPicPr>
          <p:cNvPr id="4" name="Picture 3">
            <a:extLst>
              <a:ext uri="{FF2B5EF4-FFF2-40B4-BE49-F238E27FC236}">
                <a16:creationId xmlns:a16="http://schemas.microsoft.com/office/drawing/2014/main" id="{76550698-33FB-17BD-63BF-D13556DE5115}"/>
              </a:ext>
            </a:extLst>
          </p:cNvPr>
          <p:cNvPicPr>
            <a:picLocks noChangeAspect="1"/>
          </p:cNvPicPr>
          <p:nvPr/>
        </p:nvPicPr>
        <p:blipFill>
          <a:blip r:embed="rId3"/>
          <a:stretch>
            <a:fillRect/>
          </a:stretch>
        </p:blipFill>
        <p:spPr>
          <a:xfrm>
            <a:off x="8692593" y="6057994"/>
            <a:ext cx="3499407" cy="800006"/>
          </a:xfrm>
          <a:prstGeom prst="rect">
            <a:avLst/>
          </a:prstGeom>
        </p:spPr>
      </p:pic>
    </p:spTree>
    <p:extLst>
      <p:ext uri="{BB962C8B-B14F-4D97-AF65-F5344CB8AC3E}">
        <p14:creationId xmlns:p14="http://schemas.microsoft.com/office/powerpoint/2010/main" val="4206035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3F689-2E51-BF4F-AE47-7CEB7CC4C52A}"/>
              </a:ext>
            </a:extLst>
          </p:cNvPr>
          <p:cNvSpPr>
            <a:spLocks noGrp="1"/>
          </p:cNvSpPr>
          <p:nvPr>
            <p:ph type="title"/>
          </p:nvPr>
        </p:nvSpPr>
        <p:spPr>
          <a:xfrm>
            <a:off x="952499" y="749256"/>
            <a:ext cx="6383021" cy="610863"/>
          </a:xfrm>
        </p:spPr>
        <p:txBody>
          <a:bodyPr rtlCol="0">
            <a:normAutofit fontScale="90000"/>
          </a:bodyPr>
          <a:lstStyle/>
          <a:p>
            <a:pPr rtl="0"/>
            <a:r>
              <a:rPr lang="en-US" sz="3400" spc="50">
                <a:solidFill>
                  <a:schemeClr val="accent3">
                    <a:lumMod val="50000"/>
                  </a:schemeClr>
                </a:solidFill>
              </a:rPr>
              <a:t>E</a:t>
            </a:r>
            <a:r>
              <a:rPr lang="en-GB" sz="3400" spc="50" err="1">
                <a:solidFill>
                  <a:schemeClr val="accent3">
                    <a:lumMod val="50000"/>
                  </a:schemeClr>
                </a:solidFill>
              </a:rPr>
              <a:t>arlier</a:t>
            </a:r>
            <a:r>
              <a:rPr lang="en-GB" sz="3400" spc="50">
                <a:solidFill>
                  <a:schemeClr val="accent3">
                    <a:lumMod val="50000"/>
                  </a:schemeClr>
                </a:solidFill>
              </a:rPr>
              <a:t> EEA cooperation activities between EEA and Ukraine</a:t>
            </a:r>
          </a:p>
        </p:txBody>
      </p:sp>
      <p:sp>
        <p:nvSpPr>
          <p:cNvPr id="4" name="Text Placeholder 3">
            <a:extLst>
              <a:ext uri="{FF2B5EF4-FFF2-40B4-BE49-F238E27FC236}">
                <a16:creationId xmlns:a16="http://schemas.microsoft.com/office/drawing/2014/main" id="{A17F80A9-6337-524E-AC61-32C5AFEE8E6D}"/>
              </a:ext>
            </a:extLst>
          </p:cNvPr>
          <p:cNvSpPr>
            <a:spLocks noGrp="1"/>
          </p:cNvSpPr>
          <p:nvPr>
            <p:ph type="body" sz="quarter" idx="11"/>
          </p:nvPr>
        </p:nvSpPr>
        <p:spPr>
          <a:xfrm>
            <a:off x="952499" y="2165131"/>
            <a:ext cx="5448301" cy="2919464"/>
          </a:xfrm>
        </p:spPr>
        <p:txBody>
          <a:bodyPr rtlCol="0"/>
          <a:lstStyle/>
          <a:p>
            <a:pPr rtl="0"/>
            <a:r>
              <a:rPr lang="en-GB" sz="2200"/>
              <a:t>EU-funded cooperation with the Eastern Partnership region in the period 2010-2020</a:t>
            </a:r>
          </a:p>
          <a:p>
            <a:pPr rtl="0"/>
            <a:r>
              <a:rPr lang="en-GB" sz="2200"/>
              <a:t>Supporting strengthening of environmental governance in several areas of work, covering environmental &amp; statistical authorities  </a:t>
            </a:r>
          </a:p>
          <a:p>
            <a:pPr rtl="0"/>
            <a:r>
              <a:rPr lang="en-GB" sz="2200"/>
              <a:t>Close partnership with UNECE &amp; UNEP-Europe</a:t>
            </a:r>
          </a:p>
          <a:p>
            <a:pPr rtl="0"/>
            <a:r>
              <a:rPr lang="en-GB" sz="2200"/>
              <a:t>Sustainability of the project outcomes – continue to be relevant for current actions </a:t>
            </a:r>
          </a:p>
          <a:p>
            <a:pPr rtl="0"/>
            <a:endParaRPr lang="en-GB" sz="2200"/>
          </a:p>
          <a:p>
            <a:pPr rtl="0"/>
            <a:endParaRPr lang="en-GB"/>
          </a:p>
        </p:txBody>
      </p:sp>
      <p:sp>
        <p:nvSpPr>
          <p:cNvPr id="7" name="Slide Number Placehold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n-GB" smtClean="0"/>
              <a:pPr rtl="0"/>
              <a:t>9</a:t>
            </a:fld>
            <a:endParaRPr lang="en-GB"/>
          </a:p>
        </p:txBody>
      </p:sp>
      <p:pic>
        <p:nvPicPr>
          <p:cNvPr id="17" name="Picture 16">
            <a:extLst>
              <a:ext uri="{FF2B5EF4-FFF2-40B4-BE49-F238E27FC236}">
                <a16:creationId xmlns:a16="http://schemas.microsoft.com/office/drawing/2014/main" id="{2576EDD6-0E73-25FA-8340-CFB97027333A}"/>
              </a:ext>
            </a:extLst>
          </p:cNvPr>
          <p:cNvPicPr>
            <a:picLocks noChangeAspect="1"/>
          </p:cNvPicPr>
          <p:nvPr/>
        </p:nvPicPr>
        <p:blipFill>
          <a:blip r:embed="rId3"/>
          <a:stretch>
            <a:fillRect/>
          </a:stretch>
        </p:blipFill>
        <p:spPr>
          <a:xfrm>
            <a:off x="8692593" y="6057994"/>
            <a:ext cx="3499407" cy="800006"/>
          </a:xfrm>
          <a:prstGeom prst="rect">
            <a:avLst/>
          </a:prstGeom>
        </p:spPr>
      </p:pic>
      <p:pic>
        <p:nvPicPr>
          <p:cNvPr id="16" name="Picture 15">
            <a:extLst>
              <a:ext uri="{FF2B5EF4-FFF2-40B4-BE49-F238E27FC236}">
                <a16:creationId xmlns:a16="http://schemas.microsoft.com/office/drawing/2014/main" id="{39446001-1115-EF37-1C82-2CAF2816055F}"/>
              </a:ext>
            </a:extLst>
          </p:cNvPr>
          <p:cNvPicPr>
            <a:picLocks noChangeAspect="1"/>
          </p:cNvPicPr>
          <p:nvPr/>
        </p:nvPicPr>
        <p:blipFill>
          <a:blip r:embed="rId4"/>
          <a:stretch>
            <a:fillRect/>
          </a:stretch>
        </p:blipFill>
        <p:spPr>
          <a:xfrm>
            <a:off x="6648890" y="1826752"/>
            <a:ext cx="5543110" cy="3798775"/>
          </a:xfrm>
          <a:prstGeom prst="rect">
            <a:avLst/>
          </a:prstGeom>
        </p:spPr>
      </p:pic>
      <p:sp>
        <p:nvSpPr>
          <p:cNvPr id="18" name="Footer Placeholder 13">
            <a:extLst>
              <a:ext uri="{FF2B5EF4-FFF2-40B4-BE49-F238E27FC236}">
                <a16:creationId xmlns:a16="http://schemas.microsoft.com/office/drawing/2014/main" id="{6FA233A5-B14B-2B35-DD89-06EE8A3F5194}"/>
              </a:ext>
            </a:extLst>
          </p:cNvPr>
          <p:cNvSpPr txBox="1">
            <a:spLocks/>
          </p:cNvSpPr>
          <p:nvPr/>
        </p:nvSpPr>
        <p:spPr>
          <a:xfrm>
            <a:off x="1745318" y="6399444"/>
            <a:ext cx="1497330" cy="247651"/>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sz="1100">
                <a:latin typeface="+mj-lt"/>
              </a:rPr>
              <a:t>EEA</a:t>
            </a:r>
            <a:r>
              <a:rPr lang="en-US"/>
              <a:t> </a:t>
            </a:r>
            <a:r>
              <a:rPr lang="en-US" sz="1100">
                <a:latin typeface="+mj-lt"/>
              </a:rPr>
              <a:t>Enlargement</a:t>
            </a:r>
            <a:endParaRPr lang="en-GB" sz="1100">
              <a:latin typeface="+mj-lt"/>
            </a:endParaRPr>
          </a:p>
        </p:txBody>
      </p:sp>
      <p:sp>
        <p:nvSpPr>
          <p:cNvPr id="19" name="Date Placeholder 12">
            <a:extLst>
              <a:ext uri="{FF2B5EF4-FFF2-40B4-BE49-F238E27FC236}">
                <a16:creationId xmlns:a16="http://schemas.microsoft.com/office/drawing/2014/main" id="{A0D08E66-2B7C-16CC-DF5D-C3880184E514}"/>
              </a:ext>
            </a:extLst>
          </p:cNvPr>
          <p:cNvSpPr txBox="1">
            <a:spLocks/>
          </p:cNvSpPr>
          <p:nvPr/>
        </p:nvSpPr>
        <p:spPr>
          <a:xfrm>
            <a:off x="3242648" y="6456045"/>
            <a:ext cx="1313180" cy="247651"/>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400"/>
              </a:spcBef>
              <a:buFont typeface="Arial" panose="020B0604020202020204" pitchFamily="34" charset="0"/>
              <a:buNone/>
              <a:defRPr sz="1800" b="0" i="0" kern="1200">
                <a:solidFill>
                  <a:schemeClr val="tx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sz="1100">
                <a:solidFill>
                  <a:schemeClr val="bg1"/>
                </a:solidFill>
                <a:latin typeface="+mn-lt"/>
              </a:rPr>
              <a:t>23 October 2025</a:t>
            </a:r>
            <a:endParaRPr lang="en-GB" sz="1100">
              <a:solidFill>
                <a:schemeClr val="bg1"/>
              </a:solidFill>
              <a:latin typeface="+mn-lt"/>
            </a:endParaRPr>
          </a:p>
        </p:txBody>
      </p:sp>
    </p:spTree>
    <p:extLst>
      <p:ext uri="{BB962C8B-B14F-4D97-AF65-F5344CB8AC3E}">
        <p14:creationId xmlns:p14="http://schemas.microsoft.com/office/powerpoint/2010/main" val="391246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20" name="Picture Placeholder 19" descr="Beautiful sunflowers">
            <a:extLst>
              <a:ext uri="{FF2B5EF4-FFF2-40B4-BE49-F238E27FC236}">
                <a16:creationId xmlns:a16="http://schemas.microsoft.com/office/drawing/2014/main" id="{12F007AF-B3B3-4BBC-9990-D46E31738B7C}"/>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0" y="0"/>
            <a:ext cx="12192000" cy="6858000"/>
          </a:xfrm>
        </p:spPr>
      </p:pic>
      <p:cxnSp>
        <p:nvCxnSpPr>
          <p:cNvPr id="6" name="Straight Connector 5">
            <a:extLst>
              <a:ext uri="{FF2B5EF4-FFF2-40B4-BE49-F238E27FC236}">
                <a16:creationId xmlns:a16="http://schemas.microsoft.com/office/drawing/2014/main" id="{4D6EE753-BEBB-4348-896E-73627FDDCF64}"/>
              </a:ext>
              <a:ext uri="{C183D7F6-B498-43B3-948B-1728B52AA6E4}">
                <adec:decorative xmlns:adec="http://schemas.microsoft.com/office/drawing/2017/decorative" val="1"/>
              </a:ext>
            </a:extLst>
          </p:cNvPr>
          <p:cNvCxnSpPr>
            <a:cxnSpLocks/>
          </p:cNvCxnSpPr>
          <p:nvPr/>
        </p:nvCxnSpPr>
        <p:spPr>
          <a:xfrm>
            <a:off x="7194680"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4" name="Title 3">
            <a:extLst>
              <a:ext uri="{FF2B5EF4-FFF2-40B4-BE49-F238E27FC236}">
                <a16:creationId xmlns:a16="http://schemas.microsoft.com/office/drawing/2014/main" id="{7EEF88C5-0266-E054-043F-A2439CD3CC82}"/>
              </a:ext>
            </a:extLst>
          </p:cNvPr>
          <p:cNvSpPr>
            <a:spLocks noGrp="1"/>
          </p:cNvSpPr>
          <p:nvPr>
            <p:ph type="title"/>
          </p:nvPr>
        </p:nvSpPr>
        <p:spPr/>
        <p:txBody>
          <a:bodyPr/>
          <a:lstStyle/>
          <a:p>
            <a:r>
              <a:rPr lang="en-US"/>
              <a:t>Thank you!</a:t>
            </a:r>
            <a:endParaRPr lang="en-GB"/>
          </a:p>
        </p:txBody>
      </p:sp>
      <p:sp>
        <p:nvSpPr>
          <p:cNvPr id="5" name="Text Placeholder 2">
            <a:extLst>
              <a:ext uri="{FF2B5EF4-FFF2-40B4-BE49-F238E27FC236}">
                <a16:creationId xmlns:a16="http://schemas.microsoft.com/office/drawing/2014/main" id="{8495BFF2-24B1-669E-2DFB-432F08FC89B5}"/>
              </a:ext>
            </a:extLst>
          </p:cNvPr>
          <p:cNvSpPr txBox="1">
            <a:spLocks/>
          </p:cNvSpPr>
          <p:nvPr/>
        </p:nvSpPr>
        <p:spPr>
          <a:xfrm>
            <a:off x="428711" y="5329421"/>
            <a:ext cx="4500991" cy="1014297"/>
          </a:xfrm>
          <a:prstGeom prst="rect">
            <a:avLst/>
          </a:prstGeom>
        </p:spPr>
        <p:txBody>
          <a:bodyPr lIns="91440" tIns="45720" rIns="91440" bIns="45720" rtlCol="0" anchor="t"/>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200" b="1">
                <a:solidFill>
                  <a:schemeClr val="tx2"/>
                </a:solidFill>
              </a:rPr>
              <a:t>In case of further questions, please address the EEA </a:t>
            </a:r>
            <a:r>
              <a:rPr lang="en-GB" sz="2200" b="1">
                <a:solidFill>
                  <a:schemeClr val="tx2"/>
                </a:solidFill>
                <a:hlinkClick r:id="rId4">
                  <a:extLst>
                    <a:ext uri="{A12FA001-AC4F-418D-AE19-62706E023703}">
                      <ahyp:hlinkClr xmlns:ahyp="http://schemas.microsoft.com/office/drawing/2018/hyperlinkcolor" val="tx"/>
                    </a:ext>
                  </a:extLst>
                </a:hlinkClick>
              </a:rPr>
              <a:t>Governance</a:t>
            </a:r>
            <a:r>
              <a:rPr lang="en-GB" sz="2200" b="1">
                <a:solidFill>
                  <a:schemeClr val="tx2"/>
                </a:solidFill>
              </a:rPr>
              <a:t> Unit or &lt;Galina.Georgieva@eea.europa.eu&gt;</a:t>
            </a:r>
          </a:p>
        </p:txBody>
      </p:sp>
    </p:spTree>
    <p:extLst>
      <p:ext uri="{BB962C8B-B14F-4D97-AF65-F5344CB8AC3E}">
        <p14:creationId xmlns:p14="http://schemas.microsoft.com/office/powerpoint/2010/main" val="2105465797"/>
      </p:ext>
    </p:extLst>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1_TF78853419_Win32.potx" id="{4B078287-5F8B-4412-8B56-22BABE512007}" vid="{40D3F4AB-D386-4158-AD50-2BEE84BA26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7BA3A2428DB744E821DDFA0A9E10ECC" ma:contentTypeVersion="14" ma:contentTypeDescription="Create a new document." ma:contentTypeScope="" ma:versionID="8bee8df0d26522b659286bbf97a4b010">
  <xsd:schema xmlns:xsd="http://www.w3.org/2001/XMLSchema" xmlns:xs="http://www.w3.org/2001/XMLSchema" xmlns:p="http://schemas.microsoft.com/office/2006/metadata/properties" xmlns:ns2="1403fb54-47f0-4125-8d87-6a6e13582a5f" xmlns:ns3="340712eb-23a5-460f-9036-c6d10688f9a1" targetNamespace="http://schemas.microsoft.com/office/2006/metadata/properties" ma:root="true" ma:fieldsID="2079c50b34cde841e7e7eef08b1850f0" ns2:_="" ns3:_="">
    <xsd:import namespace="1403fb54-47f0-4125-8d87-6a6e13582a5f"/>
    <xsd:import namespace="340712eb-23a5-460f-9036-c6d10688f9a1"/>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03fb54-47f0-4125-8d87-6a6e13582a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de42cbc-566b-46c9-aea5-a71cdcd36d8f" ma:termSetId="09814cd3-568e-fe90-9814-8d621ff8fb84" ma:anchorId="fba54fb3-c3e1-fe81-a776-ca4b69148c4d" ma:open="true" ma:isKeyword="false">
      <xsd:complexType>
        <xsd:sequence>
          <xsd:element ref="pc:Terms" minOccurs="0" maxOccurs="1"/>
        </xsd:sequence>
      </xsd:complex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40712eb-23a5-460f-9036-c6d10688f9a1"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e6286381-c642-4a0c-afc0-c5b6a9882855}" ma:internalName="TaxCatchAll" ma:showField="CatchAllData" ma:web="340712eb-23a5-460f-9036-c6d10688f9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40712eb-23a5-460f-9036-c6d10688f9a1" xsi:nil="true"/>
    <lcf76f155ced4ddcb4097134ff3c332f xmlns="1403fb54-47f0-4125-8d87-6a6e13582a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D20B6E4-879E-4E6C-BDE7-261540CD3765}">
  <ds:schemaRefs>
    <ds:schemaRef ds:uri="http://schemas.microsoft.com/sharepoint/v3/contenttype/forms"/>
  </ds:schemaRefs>
</ds:datastoreItem>
</file>

<file path=customXml/itemProps2.xml><?xml version="1.0" encoding="utf-8"?>
<ds:datastoreItem xmlns:ds="http://schemas.openxmlformats.org/officeDocument/2006/customXml" ds:itemID="{E12A4D9A-0094-4B0B-98D0-A27BFF6636E6}"/>
</file>

<file path=customXml/itemProps3.xml><?xml version="1.0" encoding="utf-8"?>
<ds:datastoreItem xmlns:ds="http://schemas.openxmlformats.org/officeDocument/2006/customXml" ds:itemID="{09EC1AB0-9704-404D-B6D3-819D938AC55B}">
  <ds:schemaRefs>
    <ds:schemaRef ds:uri="16c05727-aa75-4e4a-9b5f-8a80a1165891"/>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{B9E3BE9A-DBEA-4629-964C-0C1B9EBAC83B}tf78853419_win32</Template>
  <Application>Microsoft Office PowerPoint</Application>
  <PresentationFormat>Widescreen</PresentationFormat>
  <Slides>10</Slides>
  <Notes>9</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Theme1</vt:lpstr>
      <vt:lpstr>EEA Enlargement</vt:lpstr>
      <vt:lpstr>EEA-Eionet – beyond EU</vt:lpstr>
      <vt:lpstr>Cooperation status vs Membership</vt:lpstr>
      <vt:lpstr>Process for becoming an EEA/Eionet cooperating country</vt:lpstr>
      <vt:lpstr>Process towards full EEA/Eionet membership</vt:lpstr>
      <vt:lpstr>Eionet core data flows</vt:lpstr>
      <vt:lpstr>Financial aspects of EEA membership</vt:lpstr>
      <vt:lpstr>MB agreed with the principle to grant cooperating status to Ukraine and Moldova conditional to additional financial resources to the EEA.   A stepwise approach will be needed, starting with a Decision to grant a status of cooperating country to  Moldova (that already has sent a formal request). Given the fact that the official request by Ukraine is still pending, the MB Decision concerning Ukraine will be a second step.</vt:lpstr>
      <vt:lpstr>Earlier EEA cooperation activities between EEA and Ukraine</vt:lpstr>
      <vt:lpstr>Thank you!</vt:lpstr>
    </vt:vector>
  </TitlesOfParts>
  <Company>European Environment Agency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Galina H. Georgieva</dc:creator>
  <cp:revision>2</cp:revision>
  <dcterms:created xsi:type="dcterms:W3CDTF">2025-10-21T12:11:50Z</dcterms:created>
  <dcterms:modified xsi:type="dcterms:W3CDTF">2025-10-22T13:47:53Z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0x010100A7BA3A2428DB744E821DDFA0A9E10ECC</vt:lpwstr>
  </property>
</Properties>
</file>