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Masters/slideMaster1.xml" ContentType="application/vnd.openxmlformats-officedocument.presentationml.slideMaster+xml"/>
  <Override PartName="/ppt/notesSlides/notesSlide6.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1.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notesMasterIdLst>
    <p:notesMasterId r:id="rId33"/>
  </p:notesMasterIdLst>
  <p:handoutMasterIdLst>
    <p:handoutMasterId r:id="rId34"/>
  </p:handoutMasterIdLst>
  <p:sldIdLst>
    <p:sldId id="256" r:id="rId2"/>
    <p:sldId id="483" r:id="rId3"/>
    <p:sldId id="459" r:id="rId4"/>
    <p:sldId id="484" r:id="rId5"/>
    <p:sldId id="485" r:id="rId6"/>
    <p:sldId id="474" r:id="rId7"/>
    <p:sldId id="489" r:id="rId8"/>
    <p:sldId id="490" r:id="rId9"/>
    <p:sldId id="367" r:id="rId10"/>
    <p:sldId id="368" r:id="rId11"/>
    <p:sldId id="370" r:id="rId12"/>
    <p:sldId id="418" r:id="rId13"/>
    <p:sldId id="542" r:id="rId14"/>
    <p:sldId id="545" r:id="rId15"/>
    <p:sldId id="543" r:id="rId16"/>
    <p:sldId id="400" r:id="rId17"/>
    <p:sldId id="363" r:id="rId18"/>
    <p:sldId id="416" r:id="rId19"/>
    <p:sldId id="404" r:id="rId20"/>
    <p:sldId id="401" r:id="rId21"/>
    <p:sldId id="403" r:id="rId22"/>
    <p:sldId id="402" r:id="rId23"/>
    <p:sldId id="477" r:id="rId24"/>
    <p:sldId id="478" r:id="rId25"/>
    <p:sldId id="547" r:id="rId26"/>
    <p:sldId id="548" r:id="rId27"/>
    <p:sldId id="549" r:id="rId28"/>
    <p:sldId id="550" r:id="rId29"/>
    <p:sldId id="546" r:id="rId30"/>
    <p:sldId id="350" r:id="rId31"/>
    <p:sldId id="482" r:id="rId32"/>
  </p:sldIdLst>
  <p:sldSz cx="12192000" cy="6858000"/>
  <p:notesSz cx="6805613" cy="9944100"/>
  <p:defaultTextStyle>
    <a:defPPr>
      <a:defRPr lang="en-GB"/>
    </a:defPPr>
    <a:lvl1pPr algn="l" rtl="0" fontAlgn="base">
      <a:spcBef>
        <a:spcPct val="0"/>
      </a:spcBef>
      <a:spcAft>
        <a:spcPct val="0"/>
      </a:spcAft>
      <a:defRPr sz="7600" b="1" kern="1200">
        <a:solidFill>
          <a:srgbClr val="FFD624"/>
        </a:solidFill>
        <a:latin typeface="Verdana" pitchFamily="34" charset="0"/>
        <a:ea typeface="+mn-ea"/>
        <a:cs typeface="+mn-cs"/>
      </a:defRPr>
    </a:lvl1pPr>
    <a:lvl2pPr marL="457200" algn="l" rtl="0" fontAlgn="base">
      <a:spcBef>
        <a:spcPct val="0"/>
      </a:spcBef>
      <a:spcAft>
        <a:spcPct val="0"/>
      </a:spcAft>
      <a:defRPr sz="7600" b="1" kern="1200">
        <a:solidFill>
          <a:srgbClr val="FFD624"/>
        </a:solidFill>
        <a:latin typeface="Verdana" pitchFamily="34" charset="0"/>
        <a:ea typeface="+mn-ea"/>
        <a:cs typeface="+mn-cs"/>
      </a:defRPr>
    </a:lvl2pPr>
    <a:lvl3pPr marL="914400" algn="l" rtl="0" fontAlgn="base">
      <a:spcBef>
        <a:spcPct val="0"/>
      </a:spcBef>
      <a:spcAft>
        <a:spcPct val="0"/>
      </a:spcAft>
      <a:defRPr sz="7600" b="1" kern="1200">
        <a:solidFill>
          <a:srgbClr val="FFD624"/>
        </a:solidFill>
        <a:latin typeface="Verdana" pitchFamily="34" charset="0"/>
        <a:ea typeface="+mn-ea"/>
        <a:cs typeface="+mn-cs"/>
      </a:defRPr>
    </a:lvl3pPr>
    <a:lvl4pPr marL="1371600" algn="l" rtl="0" fontAlgn="base">
      <a:spcBef>
        <a:spcPct val="0"/>
      </a:spcBef>
      <a:spcAft>
        <a:spcPct val="0"/>
      </a:spcAft>
      <a:defRPr sz="7600" b="1" kern="1200">
        <a:solidFill>
          <a:srgbClr val="FFD624"/>
        </a:solidFill>
        <a:latin typeface="Verdana" pitchFamily="34" charset="0"/>
        <a:ea typeface="+mn-ea"/>
        <a:cs typeface="+mn-cs"/>
      </a:defRPr>
    </a:lvl4pPr>
    <a:lvl5pPr marL="1828800" algn="l" rtl="0" fontAlgn="base">
      <a:spcBef>
        <a:spcPct val="0"/>
      </a:spcBef>
      <a:spcAft>
        <a:spcPct val="0"/>
      </a:spcAft>
      <a:defRPr sz="7600" b="1" kern="1200">
        <a:solidFill>
          <a:srgbClr val="FFD624"/>
        </a:solidFill>
        <a:latin typeface="Verdana" pitchFamily="34" charset="0"/>
        <a:ea typeface="+mn-ea"/>
        <a:cs typeface="+mn-cs"/>
      </a:defRPr>
    </a:lvl5pPr>
    <a:lvl6pPr marL="2286000" algn="l" defTabSz="914400" rtl="0" eaLnBrk="1" latinLnBrk="0" hangingPunct="1">
      <a:defRPr sz="7600" b="1" kern="1200">
        <a:solidFill>
          <a:srgbClr val="FFD624"/>
        </a:solidFill>
        <a:latin typeface="Verdana" pitchFamily="34" charset="0"/>
        <a:ea typeface="+mn-ea"/>
        <a:cs typeface="+mn-cs"/>
      </a:defRPr>
    </a:lvl6pPr>
    <a:lvl7pPr marL="2743200" algn="l" defTabSz="914400" rtl="0" eaLnBrk="1" latinLnBrk="0" hangingPunct="1">
      <a:defRPr sz="7600" b="1" kern="1200">
        <a:solidFill>
          <a:srgbClr val="FFD624"/>
        </a:solidFill>
        <a:latin typeface="Verdana" pitchFamily="34" charset="0"/>
        <a:ea typeface="+mn-ea"/>
        <a:cs typeface="+mn-cs"/>
      </a:defRPr>
    </a:lvl7pPr>
    <a:lvl8pPr marL="3200400" algn="l" defTabSz="914400" rtl="0" eaLnBrk="1" latinLnBrk="0" hangingPunct="1">
      <a:defRPr sz="7600" b="1" kern="1200">
        <a:solidFill>
          <a:srgbClr val="FFD624"/>
        </a:solidFill>
        <a:latin typeface="Verdana" pitchFamily="34" charset="0"/>
        <a:ea typeface="+mn-ea"/>
        <a:cs typeface="+mn-cs"/>
      </a:defRPr>
    </a:lvl8pPr>
    <a:lvl9pPr marL="3657600" algn="l" defTabSz="914400" rtl="0" eaLnBrk="1" latinLnBrk="0" hangingPunct="1">
      <a:defRPr sz="7600" b="1" kern="1200">
        <a:solidFill>
          <a:srgbClr val="FFD624"/>
        </a:solidFill>
        <a:latin typeface="Verdana"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31">
          <p15:clr>
            <a:srgbClr val="A4A3A4"/>
          </p15:clr>
        </p15:guide>
        <p15:guide id="2" pos="214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B0"/>
    <a:srgbClr val="0000CC"/>
    <a:srgbClr val="3333FF"/>
    <a:srgbClr val="333399"/>
    <a:srgbClr val="003366"/>
    <a:srgbClr val="660066"/>
    <a:srgbClr val="009900"/>
    <a:srgbClr val="996633"/>
    <a:srgbClr val="006600"/>
    <a:srgbClr val="0F54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533" autoAdjust="0"/>
    <p:restoredTop sz="96472" autoAdjust="0"/>
  </p:normalViewPr>
  <p:slideViewPr>
    <p:cSldViewPr>
      <p:cViewPr varScale="1">
        <p:scale>
          <a:sx n="63" d="100"/>
          <a:sy n="63" d="100"/>
        </p:scale>
        <p:origin x="592" y="56"/>
      </p:cViewPr>
      <p:guideLst>
        <p:guide orient="horz" pos="2160"/>
        <p:guide pos="3840"/>
      </p:guideLst>
    </p:cSldViewPr>
  </p:slideViewPr>
  <p:notesTextViewPr>
    <p:cViewPr>
      <p:scale>
        <a:sx n="3" d="2"/>
        <a:sy n="3" d="2"/>
      </p:scale>
      <p:origin x="0" y="0"/>
    </p:cViewPr>
  </p:notesTextViewPr>
  <p:sorterViewPr>
    <p:cViewPr>
      <p:scale>
        <a:sx n="75" d="100"/>
        <a:sy n="75" d="100"/>
      </p:scale>
      <p:origin x="0" y="-1128"/>
    </p:cViewPr>
  </p:sorterViewPr>
  <p:notesViewPr>
    <p:cSldViewPr>
      <p:cViewPr>
        <p:scale>
          <a:sx n="125" d="100"/>
          <a:sy n="125" d="100"/>
        </p:scale>
        <p:origin x="-2766" y="792"/>
      </p:cViewPr>
      <p:guideLst>
        <p:guide orient="horz" pos="3131"/>
        <p:guide pos="214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1.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bwMode="auto">
          <a:xfrm>
            <a:off x="0" y="0"/>
            <a:ext cx="2949841" cy="497762"/>
          </a:xfrm>
          <a:prstGeom prst="rect">
            <a:avLst/>
          </a:prstGeom>
          <a:noFill/>
          <a:ln w="9525">
            <a:noFill/>
            <a:miter lim="800000"/>
            <a:headEnd/>
            <a:tailEnd/>
          </a:ln>
          <a:effectLst/>
        </p:spPr>
        <p:txBody>
          <a:bodyPr vert="horz" wrap="square" lIns="91566" tIns="45784" rIns="91566" bIns="45784" numCol="1" anchor="t" anchorCtr="0" compatLnSpc="1">
            <a:prstTxWarp prst="textNoShape">
              <a:avLst/>
            </a:prstTxWarp>
          </a:bodyPr>
          <a:lstStyle>
            <a:lvl1pPr>
              <a:defRPr sz="1200" b="0">
                <a:solidFill>
                  <a:schemeClr val="tx1"/>
                </a:solidFill>
                <a:latin typeface="Arial" charset="0"/>
              </a:defRPr>
            </a:lvl1pPr>
          </a:lstStyle>
          <a:p>
            <a:pPr>
              <a:defRPr/>
            </a:pPr>
            <a:endParaRPr lang="en-GB"/>
          </a:p>
        </p:txBody>
      </p:sp>
      <p:sp>
        <p:nvSpPr>
          <p:cNvPr id="37891" name="Rectangle 3"/>
          <p:cNvSpPr>
            <a:spLocks noGrp="1" noChangeArrowheads="1"/>
          </p:cNvSpPr>
          <p:nvPr>
            <p:ph type="dt" sz="quarter" idx="1"/>
          </p:nvPr>
        </p:nvSpPr>
        <p:spPr bwMode="auto">
          <a:xfrm>
            <a:off x="3854184" y="0"/>
            <a:ext cx="2949841" cy="497762"/>
          </a:xfrm>
          <a:prstGeom prst="rect">
            <a:avLst/>
          </a:prstGeom>
          <a:noFill/>
          <a:ln w="9525">
            <a:noFill/>
            <a:miter lim="800000"/>
            <a:headEnd/>
            <a:tailEnd/>
          </a:ln>
          <a:effectLst/>
        </p:spPr>
        <p:txBody>
          <a:bodyPr vert="horz" wrap="square" lIns="91566" tIns="45784" rIns="91566" bIns="45784" numCol="1" anchor="t" anchorCtr="0" compatLnSpc="1">
            <a:prstTxWarp prst="textNoShape">
              <a:avLst/>
            </a:prstTxWarp>
          </a:bodyPr>
          <a:lstStyle>
            <a:lvl1pPr algn="r">
              <a:defRPr sz="1200" b="0">
                <a:solidFill>
                  <a:schemeClr val="tx1"/>
                </a:solidFill>
                <a:latin typeface="Arial" charset="0"/>
              </a:defRPr>
            </a:lvl1pPr>
          </a:lstStyle>
          <a:p>
            <a:pPr>
              <a:defRPr/>
            </a:pPr>
            <a:endParaRPr lang="en-GB"/>
          </a:p>
        </p:txBody>
      </p:sp>
      <p:sp>
        <p:nvSpPr>
          <p:cNvPr id="37892" name="Rectangle 4"/>
          <p:cNvSpPr>
            <a:spLocks noGrp="1" noChangeArrowheads="1"/>
          </p:cNvSpPr>
          <p:nvPr>
            <p:ph type="ftr" sz="quarter" idx="2"/>
          </p:nvPr>
        </p:nvSpPr>
        <p:spPr bwMode="auto">
          <a:xfrm>
            <a:off x="0" y="9444750"/>
            <a:ext cx="2949841" cy="497761"/>
          </a:xfrm>
          <a:prstGeom prst="rect">
            <a:avLst/>
          </a:prstGeom>
          <a:noFill/>
          <a:ln w="9525">
            <a:noFill/>
            <a:miter lim="800000"/>
            <a:headEnd/>
            <a:tailEnd/>
          </a:ln>
          <a:effectLst/>
        </p:spPr>
        <p:txBody>
          <a:bodyPr vert="horz" wrap="square" lIns="91566" tIns="45784" rIns="91566" bIns="45784" numCol="1" anchor="b" anchorCtr="0" compatLnSpc="1">
            <a:prstTxWarp prst="textNoShape">
              <a:avLst/>
            </a:prstTxWarp>
          </a:bodyPr>
          <a:lstStyle>
            <a:lvl1pPr>
              <a:defRPr sz="1200" b="0">
                <a:solidFill>
                  <a:schemeClr val="tx1"/>
                </a:solidFill>
                <a:latin typeface="Arial" charset="0"/>
              </a:defRPr>
            </a:lvl1pPr>
          </a:lstStyle>
          <a:p>
            <a:pPr>
              <a:defRPr/>
            </a:pPr>
            <a:endParaRPr lang="en-GB"/>
          </a:p>
        </p:txBody>
      </p:sp>
      <p:sp>
        <p:nvSpPr>
          <p:cNvPr id="37893" name="Rectangle 5"/>
          <p:cNvSpPr>
            <a:spLocks noGrp="1" noChangeArrowheads="1"/>
          </p:cNvSpPr>
          <p:nvPr>
            <p:ph type="sldNum" sz="quarter" idx="3"/>
          </p:nvPr>
        </p:nvSpPr>
        <p:spPr bwMode="auto">
          <a:xfrm>
            <a:off x="3854184" y="9444750"/>
            <a:ext cx="2949841" cy="497761"/>
          </a:xfrm>
          <a:prstGeom prst="rect">
            <a:avLst/>
          </a:prstGeom>
          <a:noFill/>
          <a:ln w="9525">
            <a:noFill/>
            <a:miter lim="800000"/>
            <a:headEnd/>
            <a:tailEnd/>
          </a:ln>
          <a:effectLst/>
        </p:spPr>
        <p:txBody>
          <a:bodyPr vert="horz" wrap="square" lIns="91566" tIns="45784" rIns="91566" bIns="45784" numCol="1" anchor="b" anchorCtr="0" compatLnSpc="1">
            <a:prstTxWarp prst="textNoShape">
              <a:avLst/>
            </a:prstTxWarp>
          </a:bodyPr>
          <a:lstStyle>
            <a:lvl1pPr algn="r">
              <a:defRPr sz="1200" b="0">
                <a:solidFill>
                  <a:schemeClr val="tx1"/>
                </a:solidFill>
                <a:latin typeface="Arial" charset="0"/>
              </a:defRPr>
            </a:lvl1pPr>
          </a:lstStyle>
          <a:p>
            <a:pPr>
              <a:defRPr/>
            </a:pPr>
            <a:fld id="{5EC7A9CE-B5D3-4830-AA57-DD8049CE9F26}" type="slidenum">
              <a:rPr lang="en-GB"/>
              <a:pPr>
                <a:defRPr/>
              </a:pPr>
              <a:t>‹#›</a:t>
            </a:fld>
            <a:endParaRPr lang="en-GB"/>
          </a:p>
        </p:txBody>
      </p:sp>
    </p:spTree>
    <p:extLst>
      <p:ext uri="{BB962C8B-B14F-4D97-AF65-F5344CB8AC3E}">
        <p14:creationId xmlns:p14="http://schemas.microsoft.com/office/powerpoint/2010/main" val="35367662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49841" cy="497762"/>
          </a:xfrm>
          <a:prstGeom prst="rect">
            <a:avLst/>
          </a:prstGeom>
          <a:noFill/>
          <a:ln w="9525">
            <a:noFill/>
            <a:miter lim="800000"/>
            <a:headEnd/>
            <a:tailEnd/>
          </a:ln>
          <a:effectLst/>
        </p:spPr>
        <p:txBody>
          <a:bodyPr vert="horz" wrap="square" lIns="91566" tIns="45784" rIns="91566" bIns="45784" numCol="1" anchor="t" anchorCtr="0" compatLnSpc="1">
            <a:prstTxWarp prst="textNoShape">
              <a:avLst/>
            </a:prstTxWarp>
          </a:bodyPr>
          <a:lstStyle>
            <a:lvl1pPr>
              <a:defRPr sz="1200" b="0">
                <a:solidFill>
                  <a:schemeClr val="tx1"/>
                </a:solidFill>
                <a:latin typeface="Arial" charset="0"/>
              </a:defRPr>
            </a:lvl1pPr>
          </a:lstStyle>
          <a:p>
            <a:pPr>
              <a:defRPr/>
            </a:pPr>
            <a:endParaRPr lang="en-GB"/>
          </a:p>
        </p:txBody>
      </p:sp>
      <p:sp>
        <p:nvSpPr>
          <p:cNvPr id="36867" name="Rectangle 3"/>
          <p:cNvSpPr>
            <a:spLocks noGrp="1" noChangeArrowheads="1"/>
          </p:cNvSpPr>
          <p:nvPr>
            <p:ph type="dt" idx="1"/>
          </p:nvPr>
        </p:nvSpPr>
        <p:spPr bwMode="auto">
          <a:xfrm>
            <a:off x="3854184" y="0"/>
            <a:ext cx="2949841" cy="497762"/>
          </a:xfrm>
          <a:prstGeom prst="rect">
            <a:avLst/>
          </a:prstGeom>
          <a:noFill/>
          <a:ln w="9525">
            <a:noFill/>
            <a:miter lim="800000"/>
            <a:headEnd/>
            <a:tailEnd/>
          </a:ln>
          <a:effectLst/>
        </p:spPr>
        <p:txBody>
          <a:bodyPr vert="horz" wrap="square" lIns="91566" tIns="45784" rIns="91566" bIns="45784" numCol="1" anchor="t" anchorCtr="0" compatLnSpc="1">
            <a:prstTxWarp prst="textNoShape">
              <a:avLst/>
            </a:prstTxWarp>
          </a:bodyPr>
          <a:lstStyle>
            <a:lvl1pPr algn="r">
              <a:defRPr sz="1200" b="0">
                <a:solidFill>
                  <a:schemeClr val="tx1"/>
                </a:solidFill>
                <a:latin typeface="Arial" charset="0"/>
              </a:defRPr>
            </a:lvl1pPr>
          </a:lstStyle>
          <a:p>
            <a:pPr>
              <a:defRPr/>
            </a:pPr>
            <a:endParaRPr lang="en-GB"/>
          </a:p>
        </p:txBody>
      </p:sp>
      <p:sp>
        <p:nvSpPr>
          <p:cNvPr id="8196" name="Rectangle 4"/>
          <p:cNvSpPr>
            <a:spLocks noGrp="1" noRot="1" noChangeAspect="1" noChangeArrowheads="1" noTextEdit="1"/>
          </p:cNvSpPr>
          <p:nvPr>
            <p:ph type="sldImg" idx="2"/>
          </p:nvPr>
        </p:nvSpPr>
        <p:spPr bwMode="auto">
          <a:xfrm>
            <a:off x="88900" y="746125"/>
            <a:ext cx="6629400" cy="3729038"/>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680245" y="4723170"/>
            <a:ext cx="5445126" cy="4475083"/>
          </a:xfrm>
          <a:prstGeom prst="rect">
            <a:avLst/>
          </a:prstGeom>
          <a:noFill/>
          <a:ln w="9525">
            <a:noFill/>
            <a:miter lim="800000"/>
            <a:headEnd/>
            <a:tailEnd/>
          </a:ln>
          <a:effectLst/>
        </p:spPr>
        <p:txBody>
          <a:bodyPr vert="horz" wrap="square" lIns="91566" tIns="45784" rIns="91566" bIns="45784"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6870" name="Rectangle 6"/>
          <p:cNvSpPr>
            <a:spLocks noGrp="1" noChangeArrowheads="1"/>
          </p:cNvSpPr>
          <p:nvPr>
            <p:ph type="ftr" sz="quarter" idx="4"/>
          </p:nvPr>
        </p:nvSpPr>
        <p:spPr bwMode="auto">
          <a:xfrm>
            <a:off x="0" y="9444750"/>
            <a:ext cx="2949841" cy="497761"/>
          </a:xfrm>
          <a:prstGeom prst="rect">
            <a:avLst/>
          </a:prstGeom>
          <a:noFill/>
          <a:ln w="9525">
            <a:noFill/>
            <a:miter lim="800000"/>
            <a:headEnd/>
            <a:tailEnd/>
          </a:ln>
          <a:effectLst/>
        </p:spPr>
        <p:txBody>
          <a:bodyPr vert="horz" wrap="square" lIns="91566" tIns="45784" rIns="91566" bIns="45784" numCol="1" anchor="b" anchorCtr="0" compatLnSpc="1">
            <a:prstTxWarp prst="textNoShape">
              <a:avLst/>
            </a:prstTxWarp>
          </a:bodyPr>
          <a:lstStyle>
            <a:lvl1pPr>
              <a:defRPr sz="1200" b="0">
                <a:solidFill>
                  <a:schemeClr val="tx1"/>
                </a:solidFill>
                <a:latin typeface="Arial" charset="0"/>
              </a:defRPr>
            </a:lvl1pPr>
          </a:lstStyle>
          <a:p>
            <a:pPr>
              <a:defRPr/>
            </a:pPr>
            <a:endParaRPr lang="en-GB"/>
          </a:p>
        </p:txBody>
      </p:sp>
      <p:sp>
        <p:nvSpPr>
          <p:cNvPr id="36871" name="Rectangle 7"/>
          <p:cNvSpPr>
            <a:spLocks noGrp="1" noChangeArrowheads="1"/>
          </p:cNvSpPr>
          <p:nvPr>
            <p:ph type="sldNum" sz="quarter" idx="5"/>
          </p:nvPr>
        </p:nvSpPr>
        <p:spPr bwMode="auto">
          <a:xfrm>
            <a:off x="3854184" y="9444750"/>
            <a:ext cx="2949841" cy="497761"/>
          </a:xfrm>
          <a:prstGeom prst="rect">
            <a:avLst/>
          </a:prstGeom>
          <a:noFill/>
          <a:ln w="9525">
            <a:noFill/>
            <a:miter lim="800000"/>
            <a:headEnd/>
            <a:tailEnd/>
          </a:ln>
          <a:effectLst/>
        </p:spPr>
        <p:txBody>
          <a:bodyPr vert="horz" wrap="square" lIns="91566" tIns="45784" rIns="91566" bIns="45784" numCol="1" anchor="b" anchorCtr="0" compatLnSpc="1">
            <a:prstTxWarp prst="textNoShape">
              <a:avLst/>
            </a:prstTxWarp>
          </a:bodyPr>
          <a:lstStyle>
            <a:lvl1pPr algn="r">
              <a:defRPr sz="1200" b="0">
                <a:solidFill>
                  <a:schemeClr val="tx1"/>
                </a:solidFill>
                <a:latin typeface="Arial" charset="0"/>
              </a:defRPr>
            </a:lvl1pPr>
          </a:lstStyle>
          <a:p>
            <a:pPr>
              <a:defRPr/>
            </a:pPr>
            <a:fld id="{36441B25-C4D1-47DB-817D-B9C4FC5392FB}" type="slidenum">
              <a:rPr lang="en-GB"/>
              <a:pPr>
                <a:defRPr/>
              </a:pPr>
              <a:t>‹#›</a:t>
            </a:fld>
            <a:endParaRPr lang="en-GB"/>
          </a:p>
        </p:txBody>
      </p:sp>
    </p:spTree>
    <p:extLst>
      <p:ext uri="{BB962C8B-B14F-4D97-AF65-F5344CB8AC3E}">
        <p14:creationId xmlns:p14="http://schemas.microsoft.com/office/powerpoint/2010/main" val="31299238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unsplash.com/@tingeyinjurylawfirm?utm_content=creditCopyText&amp;utm_medium=referral&amp;utm_source=unsplash"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unsplash.com/photos/woman-in-gold-dress-holding-sword-figurine-L4YGuSg0fxs?utm_content=creditCopyText&amp;utm_medium=referral&amp;utm_source=unsplash"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pixabay.com/users/wikimediaimages-1185597/?utm_source=link-attribution&amp;utm_medium=referral&amp;utm_campaign=image&amp;utm_content=835894"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pixabay.com/?utm_source=link-attribution&amp;utm_medium=referral&amp;utm_campaign=image&amp;utm_content=835894"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36441B25-C4D1-47DB-817D-B9C4FC5392FB}" type="slidenum">
              <a:rPr lang="en-GB" smtClean="0"/>
              <a:pPr>
                <a:defRPr/>
              </a:pPr>
              <a:t>2</a:t>
            </a:fld>
            <a:endParaRPr lang="en-GB"/>
          </a:p>
        </p:txBody>
      </p:sp>
    </p:spTree>
    <p:extLst>
      <p:ext uri="{BB962C8B-B14F-4D97-AF65-F5344CB8AC3E}">
        <p14:creationId xmlns:p14="http://schemas.microsoft.com/office/powerpoint/2010/main" val="1155495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by </a:t>
            </a:r>
            <a:r>
              <a:rPr lang="en-US" dirty="0">
                <a:hlinkClick r:id="rId3"/>
              </a:rPr>
              <a:t>Tingey Injury Law Firm</a:t>
            </a:r>
            <a:r>
              <a:rPr lang="en-US" dirty="0"/>
              <a:t> on </a:t>
            </a:r>
            <a:r>
              <a:rPr lang="en-US" dirty="0" err="1">
                <a:hlinkClick r:id="rId4"/>
              </a:rPr>
              <a:t>Unsplash</a:t>
            </a:r>
            <a:r>
              <a:rPr lang="en-US" dirty="0"/>
              <a:t> </a:t>
            </a:r>
            <a:endParaRPr lang="en-GB" dirty="0"/>
          </a:p>
        </p:txBody>
      </p:sp>
      <p:sp>
        <p:nvSpPr>
          <p:cNvPr id="4" name="Slide Number Placeholder 3"/>
          <p:cNvSpPr>
            <a:spLocks noGrp="1"/>
          </p:cNvSpPr>
          <p:nvPr>
            <p:ph type="sldNum" sz="quarter" idx="10"/>
          </p:nvPr>
        </p:nvSpPr>
        <p:spPr/>
        <p:txBody>
          <a:bodyPr/>
          <a:lstStyle/>
          <a:p>
            <a:pPr>
              <a:defRPr/>
            </a:pPr>
            <a:fld id="{36441B25-C4D1-47DB-817D-B9C4FC5392FB}" type="slidenum">
              <a:rPr lang="en-GB" smtClean="0"/>
              <a:pPr>
                <a:defRPr/>
              </a:pPr>
              <a:t>4</a:t>
            </a:fld>
            <a:endParaRPr lang="en-GB"/>
          </a:p>
        </p:txBody>
      </p:sp>
    </p:spTree>
    <p:extLst>
      <p:ext uri="{BB962C8B-B14F-4D97-AF65-F5344CB8AC3E}">
        <p14:creationId xmlns:p14="http://schemas.microsoft.com/office/powerpoint/2010/main" val="1155495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9CF2995-AB43-4B7C-B8CD-9DC7C3692A9C}" type="slidenum">
              <a:rPr lang="en-GB" smtClean="0"/>
              <a:t>6</a:t>
            </a:fld>
            <a:endParaRPr lang="en-GB"/>
          </a:p>
        </p:txBody>
      </p:sp>
    </p:spTree>
    <p:extLst>
      <p:ext uri="{BB962C8B-B14F-4D97-AF65-F5344CB8AC3E}">
        <p14:creationId xmlns:p14="http://schemas.microsoft.com/office/powerpoint/2010/main" val="3582969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36441B25-C4D1-47DB-817D-B9C4FC5392FB}" type="slidenum">
              <a:rPr lang="en-GB" smtClean="0"/>
              <a:pPr>
                <a:defRPr/>
              </a:pPr>
              <a:t>7</a:t>
            </a:fld>
            <a:endParaRPr lang="en-GB"/>
          </a:p>
        </p:txBody>
      </p:sp>
    </p:spTree>
    <p:extLst>
      <p:ext uri="{BB962C8B-B14F-4D97-AF65-F5344CB8AC3E}">
        <p14:creationId xmlns:p14="http://schemas.microsoft.com/office/powerpoint/2010/main" val="309401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charset="0"/>
                <a:ea typeface="+mn-ea"/>
                <a:cs typeface="+mn-cs"/>
              </a:rPr>
              <a:t>Image by </a:t>
            </a:r>
            <a:r>
              <a:rPr lang="en-US" sz="1200" b="0" i="0" u="sng" kern="1200" dirty="0" err="1">
                <a:solidFill>
                  <a:schemeClr val="tx1"/>
                </a:solidFill>
                <a:effectLst/>
                <a:latin typeface="Arial" charset="0"/>
                <a:ea typeface="+mn-ea"/>
                <a:cs typeface="+mn-cs"/>
                <a:hlinkClick r:id="rId3"/>
              </a:rPr>
              <a:t>WikimediaImages</a:t>
            </a:r>
            <a:r>
              <a:rPr lang="en-US" sz="1200" b="0" i="0" kern="1200" dirty="0">
                <a:solidFill>
                  <a:schemeClr val="tx1"/>
                </a:solidFill>
                <a:effectLst/>
                <a:latin typeface="Arial" charset="0"/>
                <a:ea typeface="+mn-ea"/>
                <a:cs typeface="+mn-cs"/>
              </a:rPr>
              <a:t> from </a:t>
            </a:r>
            <a:r>
              <a:rPr lang="en-US" sz="1200" b="0" i="0" u="sng" kern="1200" dirty="0" err="1">
                <a:solidFill>
                  <a:schemeClr val="tx1"/>
                </a:solidFill>
                <a:effectLst/>
                <a:latin typeface="Arial" charset="0"/>
                <a:ea typeface="+mn-ea"/>
                <a:cs typeface="+mn-cs"/>
                <a:hlinkClick r:id="rId4"/>
              </a:rPr>
              <a:t>Pixabay</a:t>
            </a:r>
            <a:r>
              <a:rPr lang="en-US" sz="1200" b="0" i="0" kern="1200" dirty="0">
                <a:solidFill>
                  <a:schemeClr val="tx1"/>
                </a:solidFill>
                <a:effectLst/>
                <a:latin typeface="Arial" charset="0"/>
                <a:ea typeface="+mn-ea"/>
                <a:cs typeface="+mn-cs"/>
              </a:rPr>
              <a:t> </a:t>
            </a:r>
            <a:endParaRPr lang="en-GB" dirty="0"/>
          </a:p>
        </p:txBody>
      </p:sp>
      <p:sp>
        <p:nvSpPr>
          <p:cNvPr id="4" name="Slide Number Placeholder 3"/>
          <p:cNvSpPr>
            <a:spLocks noGrp="1"/>
          </p:cNvSpPr>
          <p:nvPr>
            <p:ph type="sldNum" sz="quarter" idx="10"/>
          </p:nvPr>
        </p:nvSpPr>
        <p:spPr/>
        <p:txBody>
          <a:bodyPr/>
          <a:lstStyle/>
          <a:p>
            <a:pPr>
              <a:defRPr/>
            </a:pPr>
            <a:fld id="{36441B25-C4D1-47DB-817D-B9C4FC5392FB}" type="slidenum">
              <a:rPr lang="en-GB" smtClean="0"/>
              <a:pPr>
                <a:defRPr/>
              </a:pPr>
              <a:t>8</a:t>
            </a:fld>
            <a:endParaRPr lang="en-GB"/>
          </a:p>
        </p:txBody>
      </p:sp>
    </p:spTree>
    <p:extLst>
      <p:ext uri="{BB962C8B-B14F-4D97-AF65-F5344CB8AC3E}">
        <p14:creationId xmlns:p14="http://schemas.microsoft.com/office/powerpoint/2010/main" val="142649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36441B25-C4D1-47DB-817D-B9C4FC5392FB}" type="slidenum">
              <a:rPr lang="en-GB" smtClean="0"/>
              <a:pPr>
                <a:defRPr/>
              </a:pPr>
              <a:t>9</a:t>
            </a:fld>
            <a:endParaRPr lang="en-GB"/>
          </a:p>
        </p:txBody>
      </p:sp>
    </p:spTree>
    <p:extLst>
      <p:ext uri="{BB962C8B-B14F-4D97-AF65-F5344CB8AC3E}">
        <p14:creationId xmlns:p14="http://schemas.microsoft.com/office/powerpoint/2010/main" val="1155495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36441B25-C4D1-47DB-817D-B9C4FC5392FB}" type="slidenum">
              <a:rPr lang="en-GB" smtClean="0"/>
              <a:pPr>
                <a:defRPr/>
              </a:pPr>
              <a:t>10</a:t>
            </a:fld>
            <a:endParaRPr lang="en-GB"/>
          </a:p>
        </p:txBody>
      </p:sp>
    </p:spTree>
    <p:extLst>
      <p:ext uri="{BB962C8B-B14F-4D97-AF65-F5344CB8AC3E}">
        <p14:creationId xmlns:p14="http://schemas.microsoft.com/office/powerpoint/2010/main" val="1155495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36441B25-C4D1-47DB-817D-B9C4FC5392FB}" type="slidenum">
              <a:rPr lang="en-GB" smtClean="0"/>
              <a:pPr>
                <a:defRPr/>
              </a:pPr>
              <a:t>11</a:t>
            </a:fld>
            <a:endParaRPr lang="en-GB"/>
          </a:p>
        </p:txBody>
      </p:sp>
    </p:spTree>
    <p:extLst>
      <p:ext uri="{BB962C8B-B14F-4D97-AF65-F5344CB8AC3E}">
        <p14:creationId xmlns:p14="http://schemas.microsoft.com/office/powerpoint/2010/main" val="1155495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36441B25-C4D1-47DB-817D-B9C4FC5392FB}" type="slidenum">
              <a:rPr lang="en-GB" smtClean="0"/>
              <a:pPr>
                <a:defRPr/>
              </a:pPr>
              <a:t>12</a:t>
            </a:fld>
            <a:endParaRPr lang="en-GB"/>
          </a:p>
        </p:txBody>
      </p:sp>
    </p:spTree>
    <p:extLst>
      <p:ext uri="{BB962C8B-B14F-4D97-AF65-F5344CB8AC3E}">
        <p14:creationId xmlns:p14="http://schemas.microsoft.com/office/powerpoint/2010/main" val="16954082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 capacity is allocated to the fuel with more weight in the mixture</a:t>
            </a:r>
            <a:endParaRPr lang="en-GB" dirty="0"/>
          </a:p>
        </p:txBody>
      </p:sp>
      <p:sp>
        <p:nvSpPr>
          <p:cNvPr id="4" name="Slide Number Placeholder 3"/>
          <p:cNvSpPr>
            <a:spLocks noGrp="1"/>
          </p:cNvSpPr>
          <p:nvPr>
            <p:ph type="sldNum" sz="quarter" idx="10"/>
          </p:nvPr>
        </p:nvSpPr>
        <p:spPr/>
        <p:txBody>
          <a:bodyPr/>
          <a:lstStyle/>
          <a:p>
            <a:pPr>
              <a:defRPr/>
            </a:pPr>
            <a:fld id="{36441B25-C4D1-47DB-817D-B9C4FC5392FB}" type="slidenum">
              <a:rPr lang="en-GB" smtClean="0"/>
              <a:pPr>
                <a:defRPr/>
              </a:pPr>
              <a:t>13</a:t>
            </a:fld>
            <a:endParaRPr lang="en-GB"/>
          </a:p>
        </p:txBody>
      </p:sp>
    </p:spTree>
    <p:extLst>
      <p:ext uri="{BB962C8B-B14F-4D97-AF65-F5344CB8AC3E}">
        <p14:creationId xmlns:p14="http://schemas.microsoft.com/office/powerpoint/2010/main" val="3094015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8FE48-C71D-9ABA-49D9-D721EC68FE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36ABFA-58A4-7291-0A49-A010AD38BD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1C9CF8-0F91-ACF2-39EF-0917DA62AC3C}"/>
              </a:ext>
            </a:extLst>
          </p:cNvPr>
          <p:cNvSpPr>
            <a:spLocks noGrp="1"/>
          </p:cNvSpPr>
          <p:nvPr>
            <p:ph type="body" idx="1"/>
          </p:nvPr>
        </p:nvSpPr>
        <p:spPr/>
        <p:txBody>
          <a:bodyPr/>
          <a:lstStyle/>
          <a:p>
            <a:r>
              <a:rPr lang="en-IE" dirty="0"/>
              <a:t>A, capacity is allocated to the fuel with more weight in the mixture</a:t>
            </a:r>
            <a:endParaRPr lang="en-GB" dirty="0"/>
          </a:p>
        </p:txBody>
      </p:sp>
      <p:sp>
        <p:nvSpPr>
          <p:cNvPr id="4" name="Slide Number Placeholder 3">
            <a:extLst>
              <a:ext uri="{FF2B5EF4-FFF2-40B4-BE49-F238E27FC236}">
                <a16:creationId xmlns:a16="http://schemas.microsoft.com/office/drawing/2014/main" id="{8F07B1FF-A6AA-377C-9C1C-C9B86F7623C9}"/>
              </a:ext>
            </a:extLst>
          </p:cNvPr>
          <p:cNvSpPr>
            <a:spLocks noGrp="1"/>
          </p:cNvSpPr>
          <p:nvPr>
            <p:ph type="sldNum" sz="quarter" idx="10"/>
          </p:nvPr>
        </p:nvSpPr>
        <p:spPr/>
        <p:txBody>
          <a:bodyPr/>
          <a:lstStyle/>
          <a:p>
            <a:pPr>
              <a:defRPr/>
            </a:pPr>
            <a:fld id="{36441B25-C4D1-47DB-817D-B9C4FC5392FB}" type="slidenum">
              <a:rPr lang="en-GB" smtClean="0"/>
              <a:pPr>
                <a:defRPr/>
              </a:pPr>
              <a:t>14</a:t>
            </a:fld>
            <a:endParaRPr lang="en-GB"/>
          </a:p>
        </p:txBody>
      </p:sp>
    </p:spTree>
    <p:extLst>
      <p:ext uri="{BB962C8B-B14F-4D97-AF65-F5344CB8AC3E}">
        <p14:creationId xmlns:p14="http://schemas.microsoft.com/office/powerpoint/2010/main" val="4114132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FB6AE-31C7-C8EA-6455-74DBE1025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639577-F953-DBDB-41CC-222B35BA82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E98CDB-EE40-97E7-CC58-AD24E3892B3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42EC322-4BDC-DDF1-40DA-82B587C7BC4E}"/>
              </a:ext>
            </a:extLst>
          </p:cNvPr>
          <p:cNvSpPr>
            <a:spLocks noGrp="1"/>
          </p:cNvSpPr>
          <p:nvPr>
            <p:ph type="sldNum" sz="quarter" idx="10"/>
          </p:nvPr>
        </p:nvSpPr>
        <p:spPr/>
        <p:txBody>
          <a:bodyPr/>
          <a:lstStyle/>
          <a:p>
            <a:pPr>
              <a:defRPr/>
            </a:pPr>
            <a:fld id="{36441B25-C4D1-47DB-817D-B9C4FC5392FB}" type="slidenum">
              <a:rPr lang="en-GB" smtClean="0"/>
              <a:pPr>
                <a:defRPr/>
              </a:pPr>
              <a:t>15</a:t>
            </a:fld>
            <a:endParaRPr lang="en-GB"/>
          </a:p>
        </p:txBody>
      </p:sp>
    </p:spTree>
    <p:extLst>
      <p:ext uri="{BB962C8B-B14F-4D97-AF65-F5344CB8AC3E}">
        <p14:creationId xmlns:p14="http://schemas.microsoft.com/office/powerpoint/2010/main" val="707632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36441B25-C4D1-47DB-817D-B9C4FC5392FB}" type="slidenum">
              <a:rPr lang="en-GB" smtClean="0"/>
              <a:pPr>
                <a:defRPr/>
              </a:pPr>
              <a:t>16</a:t>
            </a:fld>
            <a:endParaRPr lang="en-GB"/>
          </a:p>
        </p:txBody>
      </p:sp>
    </p:spTree>
    <p:extLst>
      <p:ext uri="{BB962C8B-B14F-4D97-AF65-F5344CB8AC3E}">
        <p14:creationId xmlns:p14="http://schemas.microsoft.com/office/powerpoint/2010/main" val="36598412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36441B25-C4D1-47DB-817D-B9C4FC5392FB}" type="slidenum">
              <a:rPr lang="en-GB" smtClean="0"/>
              <a:pPr>
                <a:defRPr/>
              </a:pPr>
              <a:t>17</a:t>
            </a:fld>
            <a:endParaRPr lang="en-GB"/>
          </a:p>
        </p:txBody>
      </p:sp>
    </p:spTree>
    <p:extLst>
      <p:ext uri="{BB962C8B-B14F-4D97-AF65-F5344CB8AC3E}">
        <p14:creationId xmlns:p14="http://schemas.microsoft.com/office/powerpoint/2010/main" val="11554954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6441B25-C4D1-47DB-817D-B9C4FC5392FB}" type="slidenum">
              <a:rPr lang="en-GB" smtClean="0"/>
              <a:pPr>
                <a:defRPr/>
              </a:pPr>
              <a:t>18</a:t>
            </a:fld>
            <a:endParaRPr lang="en-GB"/>
          </a:p>
        </p:txBody>
      </p:sp>
    </p:spTree>
    <p:extLst>
      <p:ext uri="{BB962C8B-B14F-4D97-AF65-F5344CB8AC3E}">
        <p14:creationId xmlns:p14="http://schemas.microsoft.com/office/powerpoint/2010/main" val="6708432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36441B25-C4D1-47DB-817D-B9C4FC5392FB}" type="slidenum">
              <a:rPr lang="en-GB" smtClean="0"/>
              <a:pPr>
                <a:defRPr/>
              </a:pPr>
              <a:t>19</a:t>
            </a:fld>
            <a:endParaRPr lang="en-GB"/>
          </a:p>
        </p:txBody>
      </p:sp>
    </p:spTree>
    <p:extLst>
      <p:ext uri="{BB962C8B-B14F-4D97-AF65-F5344CB8AC3E}">
        <p14:creationId xmlns:p14="http://schemas.microsoft.com/office/powerpoint/2010/main" val="13787095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36441B25-C4D1-47DB-817D-B9C4FC5392FB}" type="slidenum">
              <a:rPr lang="en-GB" smtClean="0"/>
              <a:pPr>
                <a:defRPr/>
              </a:pPr>
              <a:t>20</a:t>
            </a:fld>
            <a:endParaRPr lang="en-GB"/>
          </a:p>
        </p:txBody>
      </p:sp>
    </p:spTree>
    <p:extLst>
      <p:ext uri="{BB962C8B-B14F-4D97-AF65-F5344CB8AC3E}">
        <p14:creationId xmlns:p14="http://schemas.microsoft.com/office/powerpoint/2010/main" val="32495851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36441B25-C4D1-47DB-817D-B9C4FC5392FB}" type="slidenum">
              <a:rPr lang="en-GB" smtClean="0"/>
              <a:pPr>
                <a:defRPr/>
              </a:pPr>
              <a:t>21</a:t>
            </a:fld>
            <a:endParaRPr lang="en-GB"/>
          </a:p>
        </p:txBody>
      </p:sp>
    </p:spTree>
    <p:extLst>
      <p:ext uri="{BB962C8B-B14F-4D97-AF65-F5344CB8AC3E}">
        <p14:creationId xmlns:p14="http://schemas.microsoft.com/office/powerpoint/2010/main" val="37844225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36441B25-C4D1-47DB-817D-B9C4FC5392FB}" type="slidenum">
              <a:rPr lang="en-GB" smtClean="0"/>
              <a:pPr>
                <a:defRPr/>
              </a:pPr>
              <a:t>22</a:t>
            </a:fld>
            <a:endParaRPr lang="en-GB"/>
          </a:p>
        </p:txBody>
      </p:sp>
    </p:spTree>
    <p:extLst>
      <p:ext uri="{BB962C8B-B14F-4D97-AF65-F5344CB8AC3E}">
        <p14:creationId xmlns:p14="http://schemas.microsoft.com/office/powerpoint/2010/main" val="2609856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B32DA-560E-4E0C-42A5-8FC824AF53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880B56-34FA-9B29-B186-8DB40E1E6F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F3F213-9022-5021-9C22-0764D7853F0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F64F82B-5CA2-D1A1-F9B0-537EC38C1D1D}"/>
              </a:ext>
            </a:extLst>
          </p:cNvPr>
          <p:cNvSpPr>
            <a:spLocks noGrp="1"/>
          </p:cNvSpPr>
          <p:nvPr>
            <p:ph type="sldNum" sz="quarter" idx="10"/>
          </p:nvPr>
        </p:nvSpPr>
        <p:spPr/>
        <p:txBody>
          <a:bodyPr/>
          <a:lstStyle/>
          <a:p>
            <a:pPr>
              <a:defRPr/>
            </a:pPr>
            <a:fld id="{36441B25-C4D1-47DB-817D-B9C4FC5392FB}" type="slidenum">
              <a:rPr lang="en-GB" smtClean="0"/>
              <a:pPr>
                <a:defRPr/>
              </a:pPr>
              <a:t>25</a:t>
            </a:fld>
            <a:endParaRPr lang="en-GB"/>
          </a:p>
        </p:txBody>
      </p:sp>
    </p:spTree>
    <p:extLst>
      <p:ext uri="{BB962C8B-B14F-4D97-AF65-F5344CB8AC3E}">
        <p14:creationId xmlns:p14="http://schemas.microsoft.com/office/powerpoint/2010/main" val="40213542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D4E31-1898-A218-126A-8D926B2301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F969CE-DB6C-47BE-91A0-5860D39D11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2C9700-020F-BFF2-DE91-4BC78B396A5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ED6B07C-ACC6-0DA5-01A9-95B9F8DC5394}"/>
              </a:ext>
            </a:extLst>
          </p:cNvPr>
          <p:cNvSpPr>
            <a:spLocks noGrp="1"/>
          </p:cNvSpPr>
          <p:nvPr>
            <p:ph type="sldNum" sz="quarter" idx="10"/>
          </p:nvPr>
        </p:nvSpPr>
        <p:spPr/>
        <p:txBody>
          <a:bodyPr/>
          <a:lstStyle/>
          <a:p>
            <a:pPr>
              <a:defRPr/>
            </a:pPr>
            <a:fld id="{36441B25-C4D1-47DB-817D-B9C4FC5392FB}" type="slidenum">
              <a:rPr lang="en-GB" smtClean="0"/>
              <a:pPr>
                <a:defRPr/>
              </a:pPr>
              <a:t>28</a:t>
            </a:fld>
            <a:endParaRPr lang="en-GB"/>
          </a:p>
        </p:txBody>
      </p:sp>
    </p:spTree>
    <p:extLst>
      <p:ext uri="{BB962C8B-B14F-4D97-AF65-F5344CB8AC3E}">
        <p14:creationId xmlns:p14="http://schemas.microsoft.com/office/powerpoint/2010/main" val="18147228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6125"/>
            <a:ext cx="6629400" cy="3729038"/>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36441B25-C4D1-47DB-817D-B9C4FC5392FB}" type="slidenum">
              <a:rPr lang="en-GB" smtClean="0"/>
              <a:pPr>
                <a:defRPr/>
              </a:pPr>
              <a:t>30</a:t>
            </a:fld>
            <a:endParaRPr lang="en-GB"/>
          </a:p>
        </p:txBody>
      </p:sp>
    </p:spTree>
    <p:extLst>
      <p:ext uri="{BB962C8B-B14F-4D97-AF65-F5344CB8AC3E}">
        <p14:creationId xmlns:p14="http://schemas.microsoft.com/office/powerpoint/2010/main" val="6194526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4" name="Rectangle 6"/>
          <p:cNvSpPr>
            <a:spLocks noChangeArrowheads="1"/>
          </p:cNvSpPr>
          <p:nvPr userDrawn="1"/>
        </p:nvSpPr>
        <p:spPr bwMode="auto">
          <a:xfrm>
            <a:off x="0" y="1125538"/>
            <a:ext cx="12192000" cy="5732462"/>
          </a:xfrm>
          <a:prstGeom prst="rect">
            <a:avLst/>
          </a:prstGeom>
          <a:solidFill>
            <a:srgbClr val="0F5494"/>
          </a:solidFill>
          <a:ln w="73025" algn="ctr">
            <a:solidFill>
              <a:srgbClr val="0F5494"/>
            </a:solidFill>
            <a:miter lim="800000"/>
            <a:headEnd/>
            <a:tailEnd/>
          </a:ln>
          <a:effectLst>
            <a:outerShdw dist="23000" dir="5400000" rotWithShape="0">
              <a:srgbClr val="000000">
                <a:alpha val="34998"/>
              </a:srgbClr>
            </a:outerShdw>
          </a:effectLst>
        </p:spPr>
        <p:txBody>
          <a:bodyPr anchor="ctr"/>
          <a:lstStyle/>
          <a:p>
            <a:pPr algn="ctr" defTabSz="457200"/>
            <a:endParaRPr lang="en-US" sz="1800" b="0">
              <a:solidFill>
                <a:srgbClr val="FFFFFF"/>
              </a:solidFill>
              <a:cs typeface="Arial" charset="0"/>
            </a:endParaRPr>
          </a:p>
        </p:txBody>
      </p:sp>
      <p:pic>
        <p:nvPicPr>
          <p:cNvPr id="5" name="Picture 6" descr="LOGO CE-EN-quadri.eps"/>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07001" y="309563"/>
            <a:ext cx="2112433" cy="11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userDrawn="1"/>
        </p:nvSpPr>
        <p:spPr>
          <a:xfrm>
            <a:off x="5471931" y="6669484"/>
            <a:ext cx="1248139" cy="215900"/>
          </a:xfrm>
          <a:prstGeom prst="rect">
            <a:avLst/>
          </a:prstGeom>
          <a:solidFill>
            <a:srgbClr val="133176"/>
          </a:solidFill>
          <a:ln>
            <a:solidFill>
              <a:srgbClr val="133176"/>
            </a:solidFill>
          </a:ln>
        </p:spPr>
        <p:style>
          <a:lnRef idx="1">
            <a:schemeClr val="accent1"/>
          </a:lnRef>
          <a:fillRef idx="3">
            <a:schemeClr val="accent1"/>
          </a:fillRef>
          <a:effectRef idx="2">
            <a:schemeClr val="accent1"/>
          </a:effectRef>
          <a:fontRef idx="minor">
            <a:schemeClr val="lt1"/>
          </a:fontRef>
        </p:style>
        <p:txBody>
          <a:bodyPr anchor="ctr"/>
          <a:lstStyle/>
          <a:p>
            <a:pPr algn="ctr" defTabSz="457200" fontAlgn="auto">
              <a:spcBef>
                <a:spcPts val="0"/>
              </a:spcBef>
              <a:spcAft>
                <a:spcPts val="0"/>
              </a:spcAft>
              <a:defRPr/>
            </a:pPr>
            <a:r>
              <a:rPr lang="en-US" sz="1200" b="1" i="0" dirty="0">
                <a:solidFill>
                  <a:srgbClr val="FFFFFF"/>
                </a:solidFill>
              </a:rPr>
              <a:t>Eurostat</a:t>
            </a:r>
          </a:p>
        </p:txBody>
      </p:sp>
      <p:sp>
        <p:nvSpPr>
          <p:cNvPr id="2" name="Title 1"/>
          <p:cNvSpPr>
            <a:spLocks noGrp="1"/>
          </p:cNvSpPr>
          <p:nvPr>
            <p:ph type="title"/>
          </p:nvPr>
        </p:nvSpPr>
        <p:spPr>
          <a:xfrm>
            <a:off x="5519936" y="1700808"/>
            <a:ext cx="6048672" cy="2016224"/>
          </a:xfrm>
        </p:spPr>
        <p:txBody>
          <a:bodyPr/>
          <a:lstStyle>
            <a:lvl1pPr indent="0">
              <a:defRPr sz="4800">
                <a:solidFill>
                  <a:srgbClr val="FFD624"/>
                </a:solidFill>
              </a:defRPr>
            </a:lvl1pPr>
          </a:lstStyle>
          <a:p>
            <a:r>
              <a:rPr lang="en-US"/>
              <a:t>Click to edit Master title style</a:t>
            </a:r>
            <a:endParaRPr lang="en-GB" dirty="0"/>
          </a:p>
        </p:txBody>
      </p:sp>
      <p:sp>
        <p:nvSpPr>
          <p:cNvPr id="3" name="Content Placeholder 2"/>
          <p:cNvSpPr>
            <a:spLocks noGrp="1"/>
          </p:cNvSpPr>
          <p:nvPr>
            <p:ph idx="1"/>
          </p:nvPr>
        </p:nvSpPr>
        <p:spPr>
          <a:xfrm>
            <a:off x="623392" y="3933056"/>
            <a:ext cx="4992555" cy="1872208"/>
          </a:xfrm>
        </p:spPr>
        <p:txBody>
          <a:bodyPr/>
          <a:lstStyle>
            <a:lvl1pPr marL="0" indent="0">
              <a:buNone/>
              <a:defRPr sz="3000" b="1" i="0">
                <a:solidFill>
                  <a:schemeClr val="bg1"/>
                </a:solidFill>
              </a:defRPr>
            </a:lvl1pPr>
            <a:lvl3pPr marL="228600" indent="-228600" algn="l">
              <a:defRPr sz="3000" b="1">
                <a:solidFill>
                  <a:schemeClr val="bg1"/>
                </a:solidFill>
              </a:defRPr>
            </a:lvl3pPr>
          </a:lstStyle>
          <a:p>
            <a:pPr lvl="0"/>
            <a:r>
              <a:rPr lang="en-US"/>
              <a:t>Click to edit Master text styles</a:t>
            </a:r>
          </a:p>
        </p:txBody>
      </p:sp>
      <p:sp>
        <p:nvSpPr>
          <p:cNvPr id="7" name="Rectangle 4"/>
          <p:cNvSpPr>
            <a:spLocks noGrp="1" noChangeArrowheads="1"/>
          </p:cNvSpPr>
          <p:nvPr>
            <p:ph type="dt" sz="half" idx="10"/>
          </p:nvPr>
        </p:nvSpPr>
        <p:spPr/>
        <p:txBody>
          <a:bodyPr/>
          <a:lstStyle>
            <a:lvl1pPr>
              <a:defRPr dirty="0">
                <a:solidFill>
                  <a:schemeClr val="bg1"/>
                </a:solidFill>
              </a:defRPr>
            </a:lvl1pPr>
          </a:lstStyle>
          <a:p>
            <a:pPr>
              <a:defRPr/>
            </a:pPr>
            <a:endParaRPr lang="en-GB">
              <a:solidFill>
                <a:srgbClr val="FFFFFF"/>
              </a:solidFill>
            </a:endParaRPr>
          </a:p>
        </p:txBody>
      </p:sp>
      <p:sp>
        <p:nvSpPr>
          <p:cNvPr id="8" name="Rectangle 5"/>
          <p:cNvSpPr>
            <a:spLocks noGrp="1" noChangeArrowheads="1"/>
          </p:cNvSpPr>
          <p:nvPr>
            <p:ph type="ftr" sz="quarter" idx="11"/>
          </p:nvPr>
        </p:nvSpPr>
        <p:spPr/>
        <p:txBody>
          <a:bodyPr/>
          <a:lstStyle>
            <a:lvl1pPr>
              <a:defRPr smtClean="0">
                <a:solidFill>
                  <a:schemeClr val="bg1"/>
                </a:solidFill>
              </a:defRPr>
            </a:lvl1pPr>
          </a:lstStyle>
          <a:p>
            <a:pPr>
              <a:defRPr/>
            </a:pPr>
            <a:endParaRPr>
              <a:solidFill>
                <a:srgbClr val="FFFFFF"/>
              </a:solidFill>
            </a:endParaRPr>
          </a:p>
        </p:txBody>
      </p:sp>
      <p:sp>
        <p:nvSpPr>
          <p:cNvPr id="9" name="Rectangle 6"/>
          <p:cNvSpPr>
            <a:spLocks noGrp="1" noChangeArrowheads="1"/>
          </p:cNvSpPr>
          <p:nvPr>
            <p:ph type="sldNum" sz="quarter" idx="12"/>
          </p:nvPr>
        </p:nvSpPr>
        <p:spPr/>
        <p:txBody>
          <a:bodyPr/>
          <a:lstStyle>
            <a:lvl1pPr>
              <a:defRPr>
                <a:solidFill>
                  <a:schemeClr val="bg1"/>
                </a:solidFill>
              </a:defRPr>
            </a:lvl1pPr>
          </a:lstStyle>
          <a:p>
            <a:pPr>
              <a:defRPr/>
            </a:pPr>
            <a:fld id="{F0AB6783-A622-483D-9EED-1F5D137ACBE7}" type="slidenum">
              <a:rPr lang="en-GB">
                <a:solidFill>
                  <a:srgbClr val="FFFFFF"/>
                </a:solidFill>
              </a:rPr>
              <a:pPr>
                <a:defRPr/>
              </a:pPr>
              <a:t>‹#›</a:t>
            </a:fld>
            <a:endParaRPr lang="en-GB" dirty="0">
              <a:solidFill>
                <a:srgbClr val="FFFFFF"/>
              </a:solidFill>
            </a:endParaRPr>
          </a:p>
        </p:txBody>
      </p:sp>
    </p:spTree>
    <p:extLst>
      <p:ext uri="{BB962C8B-B14F-4D97-AF65-F5344CB8AC3E}">
        <p14:creationId xmlns:p14="http://schemas.microsoft.com/office/powerpoint/2010/main" val="1572276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17"/>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 r="46547" b="-3985"/>
          <a:stretch/>
        </p:blipFill>
        <p:spPr bwMode="auto">
          <a:xfrm>
            <a:off x="10560495" y="6068026"/>
            <a:ext cx="1392156" cy="6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hasCustomPrompt="1"/>
          </p:nvPr>
        </p:nvSpPr>
        <p:spPr>
          <a:xfrm>
            <a:off x="0" y="116633"/>
            <a:ext cx="12192000" cy="936625"/>
          </a:xfrm>
        </p:spPr>
        <p:txBody>
          <a:bodyPr/>
          <a:lstStyle>
            <a:lvl1pPr algn="ctr">
              <a:defRPr>
                <a:solidFill>
                  <a:srgbClr val="000066"/>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a:t>
            </a:r>
            <a:br>
              <a:rPr lang="en-US" dirty="0"/>
            </a:br>
            <a:r>
              <a:rPr lang="en-US" dirty="0"/>
              <a:t>Master title style</a:t>
            </a:r>
            <a:endParaRPr lang="en-GB" dirty="0"/>
          </a:p>
        </p:txBody>
      </p:sp>
      <p:sp>
        <p:nvSpPr>
          <p:cNvPr id="9" name="Content Placeholder 2"/>
          <p:cNvSpPr>
            <a:spLocks noGrp="1"/>
          </p:cNvSpPr>
          <p:nvPr>
            <p:ph idx="1"/>
          </p:nvPr>
        </p:nvSpPr>
        <p:spPr>
          <a:xfrm>
            <a:off x="239349" y="1146346"/>
            <a:ext cx="11809312" cy="5184576"/>
          </a:xfrm>
        </p:spPr>
        <p:txBody>
          <a:bodyPr/>
          <a:lstStyle>
            <a:lvl1pPr marL="342900" indent="-342900">
              <a:buClr>
                <a:srgbClr val="000066"/>
              </a:buClr>
              <a:buFont typeface="Wingdings" panose="05000000000000000000" pitchFamily="2" charset="2"/>
              <a:buChar char="Ø"/>
              <a:defRPr sz="2800" i="0">
                <a:solidFill>
                  <a:schemeClr val="tx1"/>
                </a:solidFill>
              </a:defRPr>
            </a:lvl1pPr>
            <a:lvl2pPr>
              <a:buClr>
                <a:schemeClr val="tx1"/>
              </a:buClr>
              <a:defRPr sz="2400" b="0" i="1">
                <a:solidFill>
                  <a:srgbClr val="003366"/>
                </a:solidFill>
              </a:defRPr>
            </a:lvl2pPr>
            <a:lvl3pPr marL="1257300" indent="-342900">
              <a:buClr>
                <a:srgbClr val="003366"/>
              </a:buClr>
              <a:buFont typeface="Wingdings" panose="05000000000000000000" pitchFamily="2" charset="2"/>
              <a:buChar char="§"/>
              <a:defRPr sz="2000" b="1">
                <a:solidFill>
                  <a:srgbClr val="003300"/>
                </a:solidFill>
                <a:latin typeface="Verdana" panose="020B0604030504040204" pitchFamily="34" charset="0"/>
                <a:ea typeface="Verdana" panose="020B0604030504040204" pitchFamily="34" charset="0"/>
                <a:cs typeface="Verdana" panose="020B0604030504040204"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10" name="Rectangle 6"/>
          <p:cNvSpPr>
            <a:spLocks noGrp="1" noChangeArrowheads="1"/>
          </p:cNvSpPr>
          <p:nvPr>
            <p:ph type="sldNum" sz="quarter" idx="12"/>
          </p:nvPr>
        </p:nvSpPr>
        <p:spPr>
          <a:xfrm>
            <a:off x="0" y="6426302"/>
            <a:ext cx="1438535" cy="431626"/>
          </a:xfrm>
        </p:spPr>
        <p:txBody>
          <a:bodyPr/>
          <a:lstStyle>
            <a:lvl1pPr algn="ctr">
              <a:defRPr sz="1800" b="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pPr>
              <a:defRPr/>
            </a:pPr>
            <a:fld id="{F0AB6783-A622-483D-9EED-1F5D137ACBE7}" type="slidenum">
              <a:rPr lang="en-GB" smtClean="0">
                <a:solidFill>
                  <a:srgbClr val="000000"/>
                </a:solidFill>
              </a:rPr>
              <a:pPr>
                <a:defRPr/>
              </a:pPr>
              <a:t>‹#›</a:t>
            </a:fld>
            <a:endParaRPr lang="en-GB" dirty="0">
              <a:solidFill>
                <a:srgbClr val="000000"/>
              </a:solidFill>
            </a:endParaRPr>
          </a:p>
        </p:txBody>
      </p:sp>
    </p:spTree>
    <p:extLst>
      <p:ext uri="{BB962C8B-B14F-4D97-AF65-F5344CB8AC3E}">
        <p14:creationId xmlns:p14="http://schemas.microsoft.com/office/powerpoint/2010/main" val="19332079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cover page option 1">
    <p:bg>
      <p:bgPr>
        <a:solidFill>
          <a:srgbClr val="003399"/>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4675400-3E4A-4805-76D4-89E3DBA2294C}"/>
              </a:ext>
            </a:extLst>
          </p:cNvPr>
          <p:cNvSpPr>
            <a:spLocks noGrp="1"/>
          </p:cNvSpPr>
          <p:nvPr>
            <p:ph type="sldNum" sz="quarter" idx="4"/>
          </p:nvPr>
        </p:nvSpPr>
        <p:spPr>
          <a:xfrm>
            <a:off x="838200" y="6317488"/>
            <a:ext cx="2743200" cy="172523"/>
          </a:xfrm>
          <a:prstGeom prst="rect">
            <a:avLst/>
          </a:prstGeom>
          <a:noFill/>
        </p:spPr>
        <p:txBody>
          <a:bodyPr vert="horz" lIns="91440" tIns="45720" rIns="91440" bIns="45720" rtlCol="0" anchor="ctr"/>
          <a:lstStyle>
            <a:lvl1pPr algn="r">
              <a:defRPr sz="900">
                <a:solidFill>
                  <a:schemeClr val="bg1"/>
                </a:solidFill>
                <a:latin typeface="+mn-lt"/>
              </a:defRPr>
            </a:lvl1pPr>
          </a:lstStyle>
          <a:p>
            <a:pPr algn="l"/>
            <a:r>
              <a:rPr lang="fr-BE" dirty="0"/>
              <a:t>DD/MM/YYYY</a:t>
            </a:r>
            <a:endParaRPr lang="en-IE" dirty="0"/>
          </a:p>
        </p:txBody>
      </p:sp>
      <p:sp>
        <p:nvSpPr>
          <p:cNvPr id="4" name="Title 1">
            <a:extLst>
              <a:ext uri="{FF2B5EF4-FFF2-40B4-BE49-F238E27FC236}">
                <a16:creationId xmlns:a16="http://schemas.microsoft.com/office/drawing/2014/main" id="{DB290A50-B43D-A2B6-515F-75425256ACB5}"/>
              </a:ext>
            </a:extLst>
          </p:cNvPr>
          <p:cNvSpPr>
            <a:spLocks noGrp="1"/>
          </p:cNvSpPr>
          <p:nvPr>
            <p:ph type="title" hasCustomPrompt="1"/>
          </p:nvPr>
        </p:nvSpPr>
        <p:spPr>
          <a:xfrm>
            <a:off x="838200" y="3040715"/>
            <a:ext cx="10515600" cy="1020337"/>
          </a:xfrm>
          <a:noFill/>
        </p:spPr>
        <p:txBody>
          <a:bodyPr>
            <a:noAutofit/>
          </a:bodyPr>
          <a:lstStyle>
            <a:lvl1pPr>
              <a:defRPr sz="6600">
                <a:solidFill>
                  <a:schemeClr val="bg1"/>
                </a:solidFill>
              </a:defRPr>
            </a:lvl1pPr>
          </a:lstStyle>
          <a:p>
            <a:r>
              <a:rPr lang="en-US" dirty="0"/>
              <a:t>Click to add a title</a:t>
            </a:r>
            <a:endParaRPr lang="en-IE" dirty="0"/>
          </a:p>
        </p:txBody>
      </p:sp>
      <p:sp>
        <p:nvSpPr>
          <p:cNvPr id="15" name="Content Placeholder 14">
            <a:extLst>
              <a:ext uri="{FF2B5EF4-FFF2-40B4-BE49-F238E27FC236}">
                <a16:creationId xmlns:a16="http://schemas.microsoft.com/office/drawing/2014/main" id="{69D02D42-BA7D-84CC-873F-80F08362B35A}"/>
              </a:ext>
            </a:extLst>
          </p:cNvPr>
          <p:cNvSpPr>
            <a:spLocks noGrp="1"/>
          </p:cNvSpPr>
          <p:nvPr>
            <p:ph sz="quarter" idx="11"/>
          </p:nvPr>
        </p:nvSpPr>
        <p:spPr>
          <a:xfrm>
            <a:off x="838201" y="4219575"/>
            <a:ext cx="4929188" cy="611188"/>
          </a:xfrm>
        </p:spPr>
        <p:txBody>
          <a:bodyPr/>
          <a:lstStyle>
            <a:lvl1pPr marL="0" indent="0">
              <a:buNone/>
              <a:defRPr>
                <a:solidFill>
                  <a:schemeClr val="bg1"/>
                </a:solidFill>
              </a:defRPr>
            </a:lvl1pPr>
          </a:lstStyle>
          <a:p>
            <a:pPr lvl="0"/>
            <a:r>
              <a:rPr lang="en-US"/>
              <a:t>Click to edit Master text styles</a:t>
            </a:r>
          </a:p>
        </p:txBody>
      </p:sp>
      <p:sp>
        <p:nvSpPr>
          <p:cNvPr id="11" name="Content Placeholder 2">
            <a:extLst>
              <a:ext uri="{FF2B5EF4-FFF2-40B4-BE49-F238E27FC236}">
                <a16:creationId xmlns:a16="http://schemas.microsoft.com/office/drawing/2014/main" id="{C600E4EF-7051-9AAC-2C78-0958FBC514BC}"/>
              </a:ext>
            </a:extLst>
          </p:cNvPr>
          <p:cNvSpPr>
            <a:spLocks noGrp="1"/>
          </p:cNvSpPr>
          <p:nvPr>
            <p:ph sz="half" idx="10"/>
          </p:nvPr>
        </p:nvSpPr>
        <p:spPr>
          <a:xfrm>
            <a:off x="838201" y="5243158"/>
            <a:ext cx="3176847" cy="304616"/>
          </a:xfrm>
          <a:solidFill>
            <a:schemeClr val="accent5"/>
          </a:solidFill>
          <a:ln w="12700" cap="rnd">
            <a:noFill/>
            <a:round/>
          </a:ln>
        </p:spPr>
        <p:style>
          <a:lnRef idx="2">
            <a:schemeClr val="accent1"/>
          </a:lnRef>
          <a:fillRef idx="1">
            <a:schemeClr val="lt1"/>
          </a:fillRef>
          <a:effectRef idx="0">
            <a:schemeClr val="accent1"/>
          </a:effectRef>
          <a:fontRef idx="minor">
            <a:schemeClr val="dk1"/>
          </a:fontRef>
        </p:style>
        <p:txBody>
          <a:bodyPr anchor="ctr">
            <a:noAutofit/>
          </a:bodyPr>
          <a:lstStyle>
            <a:lvl1pPr marL="0" indent="0">
              <a:buNone/>
              <a:defRPr sz="1200" b="0" i="1">
                <a:solidFill>
                  <a:schemeClr val="tx2"/>
                </a:solidFill>
              </a:defRPr>
            </a:lvl1pPr>
          </a:lstStyle>
          <a:p>
            <a:pPr lvl="0"/>
            <a:r>
              <a:rPr lang="en-US"/>
              <a:t>Click to edit Master text styles</a:t>
            </a:r>
          </a:p>
        </p:txBody>
      </p:sp>
      <p:pic>
        <p:nvPicPr>
          <p:cNvPr id="3" name="Picture 2" descr="European Commission">
            <a:extLst>
              <a:ext uri="{FF2B5EF4-FFF2-40B4-BE49-F238E27FC236}">
                <a16:creationId xmlns:a16="http://schemas.microsoft.com/office/drawing/2014/main" id="{85D80D5D-B11B-B8B1-1D33-81E7377D5953}"/>
              </a:ext>
              <a:ext uri="{C183D7F6-B498-43B3-948B-1728B52AA6E4}">
                <adec:decorative xmlns:adec="http://schemas.microsoft.com/office/drawing/2017/decorative" val="0"/>
              </a:ext>
            </a:extLst>
          </p:cNvPr>
          <p:cNvPicPr/>
          <p:nvPr userDrawn="1"/>
        </p:nvPicPr>
        <p:blipFill>
          <a:blip r:embed="rId2"/>
          <a:stretch>
            <a:fillRect/>
          </a:stretch>
        </p:blipFill>
        <p:spPr>
          <a:xfrm>
            <a:off x="9463383" y="5738786"/>
            <a:ext cx="2544024" cy="941017"/>
          </a:xfrm>
          <a:prstGeom prst="rect">
            <a:avLst/>
          </a:prstGeom>
          <a:noFill/>
        </p:spPr>
      </p:pic>
    </p:spTree>
    <p:extLst>
      <p:ext uri="{BB962C8B-B14F-4D97-AF65-F5344CB8AC3E}">
        <p14:creationId xmlns:p14="http://schemas.microsoft.com/office/powerpoint/2010/main" val="3991550210"/>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51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body text two columns colured backgroun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ECCFB38-4E5F-126B-A212-3CBD911F9836}"/>
              </a:ext>
            </a:extLst>
          </p:cNvPr>
          <p:cNvSpPr>
            <a:spLocks noGrp="1" noRot="1" noMove="1" noResize="1" noEditPoints="1" noAdjustHandles="1" noChangeArrowheads="1" noChangeShapeType="1"/>
          </p:cNvSpPr>
          <p:nvPr/>
        </p:nvSpPr>
        <p:spPr>
          <a:xfrm>
            <a:off x="0" y="1487978"/>
            <a:ext cx="12192000" cy="5370022"/>
          </a:xfrm>
          <a:prstGeom prst="rect">
            <a:avLst/>
          </a:prstGeom>
          <a:solidFill>
            <a:srgbClr val="000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lstStyle/>
          <a:p>
            <a:r>
              <a:rPr lang="en-US"/>
              <a:t>Click to edit Master title style</a:t>
            </a:r>
            <a:endParaRPr lang="en-IE" dirty="0"/>
          </a:p>
        </p:txBody>
      </p:sp>
      <p:sp>
        <p:nvSpPr>
          <p:cNvPr id="3" name="Content Placeholder 2">
            <a:extLst>
              <a:ext uri="{FF2B5EF4-FFF2-40B4-BE49-F238E27FC236}">
                <a16:creationId xmlns:a16="http://schemas.microsoft.com/office/drawing/2014/main" id="{833F6E74-65E4-088E-A627-F5CBCB9E0FAA}"/>
              </a:ext>
            </a:extLst>
          </p:cNvPr>
          <p:cNvSpPr>
            <a:spLocks noGrp="1"/>
          </p:cNvSpPr>
          <p:nvPr>
            <p:ph sz="half" idx="1"/>
          </p:nvPr>
        </p:nvSpPr>
        <p:spPr>
          <a:xfrm>
            <a:off x="838200" y="2587083"/>
            <a:ext cx="4670502" cy="2899317"/>
          </a:xfrm>
          <a:noFill/>
        </p:spPr>
        <p:txBody>
          <a:bodyPr>
            <a:noAutofit/>
          </a:bodyPr>
          <a:lstStyle>
            <a:lvl1pPr marL="0" indent="0">
              <a:buNone/>
              <a:defRPr sz="2000">
                <a:solidFill>
                  <a:schemeClr val="bg1"/>
                </a:solidFill>
              </a:defRPr>
            </a:lvl1pPr>
          </a:lstStyle>
          <a:p>
            <a:pPr lvl="0"/>
            <a:r>
              <a:rPr lang="en-US"/>
              <a:t>Click to edit Master text styles</a:t>
            </a:r>
          </a:p>
        </p:txBody>
      </p:sp>
      <p:sp>
        <p:nvSpPr>
          <p:cNvPr id="4" name="Content Placeholder 3">
            <a:extLst>
              <a:ext uri="{FF2B5EF4-FFF2-40B4-BE49-F238E27FC236}">
                <a16:creationId xmlns:a16="http://schemas.microsoft.com/office/drawing/2014/main" id="{AE36259F-C7F8-D963-3DFD-92239B4D3FA2}"/>
              </a:ext>
            </a:extLst>
          </p:cNvPr>
          <p:cNvSpPr>
            <a:spLocks noGrp="1"/>
          </p:cNvSpPr>
          <p:nvPr>
            <p:ph sz="half" idx="2"/>
          </p:nvPr>
        </p:nvSpPr>
        <p:spPr>
          <a:xfrm>
            <a:off x="6172200" y="2587083"/>
            <a:ext cx="5181600" cy="2899317"/>
          </a:xfrm>
          <a:noFill/>
        </p:spPr>
        <p:txBody>
          <a:bodyPr>
            <a:noAutofit/>
          </a:bodyPr>
          <a:lstStyle>
            <a:lvl1pPr marL="0" indent="0">
              <a:buNone/>
              <a:defRPr sz="2000">
                <a:solidFill>
                  <a:schemeClr val="bg1"/>
                </a:solidFill>
              </a:defRPr>
            </a:lvl1pPr>
          </a:lstStyle>
          <a:p>
            <a:pPr lvl="0"/>
            <a:r>
              <a:rPr lang="en-US"/>
              <a:t>Click to edit Master text styles</a:t>
            </a:r>
          </a:p>
        </p:txBody>
      </p:sp>
      <p:pic>
        <p:nvPicPr>
          <p:cNvPr id="8" name="Picture 7" descr="A blue flag with yellow stars and stripes&#10;&#10;Description automatically generated">
            <a:extLst>
              <a:ext uri="{FF2B5EF4-FFF2-40B4-BE49-F238E27FC236}">
                <a16:creationId xmlns:a16="http://schemas.microsoft.com/office/drawing/2014/main" id="{02BBC44B-821F-21ED-8464-03E521698175}"/>
              </a:ext>
            </a:extLst>
          </p:cNvPr>
          <p:cNvPicPr>
            <a:picLocks noChangeAspect="1"/>
          </p:cNvPicPr>
          <p:nvPr/>
        </p:nvPicPr>
        <p:blipFill>
          <a:blip r:embed="rId2"/>
          <a:stretch>
            <a:fillRect/>
          </a:stretch>
        </p:blipFill>
        <p:spPr>
          <a:xfrm>
            <a:off x="10725768" y="5901016"/>
            <a:ext cx="1257867" cy="763200"/>
          </a:xfrm>
          <a:prstGeom prst="rect">
            <a:avLst/>
          </a:prstGeom>
        </p:spPr>
      </p:pic>
      <p:pic>
        <p:nvPicPr>
          <p:cNvPr id="9" name="Picture 8" descr="A blue flag with yellow stars and stripes&#10;&#10;Description automatically generated">
            <a:extLst>
              <a:ext uri="{FF2B5EF4-FFF2-40B4-BE49-F238E27FC236}">
                <a16:creationId xmlns:a16="http://schemas.microsoft.com/office/drawing/2014/main" id="{22B46DA4-CDDE-5119-2E5E-AD549E681C9C}"/>
              </a:ext>
            </a:extLst>
          </p:cNvPr>
          <p:cNvPicPr>
            <a:picLocks noChangeAspect="1"/>
          </p:cNvPicPr>
          <p:nvPr userDrawn="1"/>
        </p:nvPicPr>
        <p:blipFill>
          <a:blip r:embed="rId2"/>
          <a:stretch>
            <a:fillRect/>
          </a:stretch>
        </p:blipFill>
        <p:spPr>
          <a:xfrm>
            <a:off x="10725768" y="5901016"/>
            <a:ext cx="1257867" cy="763200"/>
          </a:xfrm>
          <a:prstGeom prst="rect">
            <a:avLst/>
          </a:prstGeom>
        </p:spPr>
      </p:pic>
      <p:sp>
        <p:nvSpPr>
          <p:cNvPr id="5" name="Slide Number Placeholder 5">
            <a:extLst>
              <a:ext uri="{FF2B5EF4-FFF2-40B4-BE49-F238E27FC236}">
                <a16:creationId xmlns:a16="http://schemas.microsoft.com/office/drawing/2014/main" id="{4A321162-C08B-5D98-4E1F-FE50C321D819}"/>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bg1"/>
                </a:solidFill>
                <a:latin typeface="+mn-lt"/>
              </a:defRPr>
            </a:lvl1pPr>
          </a:lstStyle>
          <a:p>
            <a:pPr algn="l"/>
            <a:fld id="{768364BB-9B21-4D29-A19C-C6410F652861}" type="slidenum">
              <a:rPr lang="en-IE" smtClean="0"/>
              <a:pPr algn="l"/>
              <a:t>‹#›</a:t>
            </a:fld>
            <a:endParaRPr lang="en-IE" dirty="0"/>
          </a:p>
        </p:txBody>
      </p:sp>
    </p:spTree>
    <p:extLst>
      <p:ext uri="{BB962C8B-B14F-4D97-AF65-F5344CB8AC3E}">
        <p14:creationId xmlns:p14="http://schemas.microsoft.com/office/powerpoint/2010/main" val="2584875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4" name="Picture Placeholder 2"/>
          <p:cNvSpPr>
            <a:spLocks noGrp="1"/>
          </p:cNvSpPr>
          <p:nvPr>
            <p:ph type="pic" sz="quarter" idx="13"/>
          </p:nvPr>
        </p:nvSpPr>
        <p:spPr>
          <a:xfrm>
            <a:off x="0" y="0"/>
            <a:ext cx="12192000" cy="3429000"/>
          </a:xfrm>
          <a:solidFill>
            <a:schemeClr val="bg2"/>
          </a:solidFill>
        </p:spPr>
        <p:txBody>
          <a:bodyPr/>
          <a:lstStyle/>
          <a:p>
            <a:r>
              <a:rPr lang="en-US"/>
              <a:t>Click icon to add picture</a:t>
            </a:r>
            <a:endParaRPr lang="en-GB"/>
          </a:p>
        </p:txBody>
      </p:sp>
      <p:sp>
        <p:nvSpPr>
          <p:cNvPr id="2" name="Title 1"/>
          <p:cNvSpPr>
            <a:spLocks noGrp="1"/>
          </p:cNvSpPr>
          <p:nvPr>
            <p:ph type="title"/>
          </p:nvPr>
        </p:nvSpPr>
        <p:spPr>
          <a:xfrm>
            <a:off x="838200" y="2646643"/>
            <a:ext cx="10515600" cy="782357"/>
          </a:xfrm>
          <a:solidFill>
            <a:schemeClr val="bg1"/>
          </a:solidFill>
        </p:spPr>
        <p:txBody>
          <a:bodyPr/>
          <a:lstStyle/>
          <a:p>
            <a:r>
              <a:rPr lang="en-US"/>
              <a:t>Click to edit Master title style</a:t>
            </a:r>
            <a:endParaRPr lang="en-GB"/>
          </a:p>
        </p:txBody>
      </p:sp>
      <p:sp>
        <p:nvSpPr>
          <p:cNvPr id="3" name="Slide Number Placeholder 2"/>
          <p:cNvSpPr>
            <a:spLocks noGrp="1"/>
          </p:cNvSpPr>
          <p:nvPr>
            <p:ph type="sldNum" sz="quarter" idx="10"/>
          </p:nvPr>
        </p:nvSpPr>
        <p:spPr/>
        <p:txBody>
          <a:bodyPr/>
          <a:lstStyle/>
          <a:p>
            <a:fld id="{F46C79FD-C571-418B-AB0F-5EE936C85276}" type="slidenum">
              <a:rPr lang="en-GB" smtClean="0"/>
              <a:pPr/>
              <a:t>‹#›</a:t>
            </a:fld>
            <a:endParaRPr lang="en-GB" dirty="0"/>
          </a:p>
        </p:txBody>
      </p:sp>
      <p:sp>
        <p:nvSpPr>
          <p:cNvPr id="6" name="Text Placeholder 5"/>
          <p:cNvSpPr>
            <a:spLocks noGrp="1"/>
          </p:cNvSpPr>
          <p:nvPr>
            <p:ph type="body" sz="quarter" idx="14"/>
          </p:nvPr>
        </p:nvSpPr>
        <p:spPr>
          <a:xfrm>
            <a:off x="838200" y="3630613"/>
            <a:ext cx="10515600" cy="2035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9895235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24417" y="1123951"/>
            <a:ext cx="1097280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t>Lorem ipsum</a:t>
            </a:r>
          </a:p>
        </p:txBody>
      </p:sp>
      <p:sp>
        <p:nvSpPr>
          <p:cNvPr id="1027" name="Rectangle 3"/>
          <p:cNvSpPr>
            <a:spLocks noGrp="1" noChangeArrowheads="1"/>
          </p:cNvSpPr>
          <p:nvPr>
            <p:ph type="body" idx="1"/>
          </p:nvPr>
        </p:nvSpPr>
        <p:spPr bwMode="auto">
          <a:xfrm>
            <a:off x="609600" y="2387600"/>
            <a:ext cx="10972800" cy="363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BE"/>
              <a:t>Et dolor fragum</a:t>
            </a:r>
            <a:endParaRPr lang="en-GB"/>
          </a:p>
          <a:p>
            <a:pPr lvl="1"/>
            <a:r>
              <a:rPr lang="en-GB"/>
              <a:t>Et dolor fragum</a:t>
            </a:r>
          </a:p>
          <a:p>
            <a:pPr lvl="2"/>
            <a:r>
              <a:rPr lang="en-GB"/>
              <a:t>- Et dolor fragum</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dirty="0">
                <a:solidFill>
                  <a:srgbClr val="133176"/>
                </a:solidFill>
                <a:latin typeface="+mj-lt"/>
                <a:cs typeface="+mn-cs"/>
              </a:defRPr>
            </a:lvl1pPr>
          </a:lstStyle>
          <a:p>
            <a:pPr>
              <a:defRPr/>
            </a:pPr>
            <a:endParaRPr lang="en-GB"/>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lang="en-GB" sz="1400" b="0" kern="1200" smtClean="0">
                <a:solidFill>
                  <a:srgbClr val="133176"/>
                </a:solidFill>
                <a:latin typeface="+mj-lt"/>
                <a:ea typeface="+mn-ea"/>
                <a:cs typeface="+mn-cs"/>
              </a:defRPr>
            </a:lvl1pPr>
          </a:lstStyle>
          <a:p>
            <a:pPr>
              <a:defRPr/>
            </a:pPr>
            <a:endParaRPr lang="en-US"/>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smtClean="0">
                <a:solidFill>
                  <a:srgbClr val="133176"/>
                </a:solidFill>
                <a:latin typeface="Arial" charset="0"/>
                <a:cs typeface="+mn-cs"/>
              </a:defRPr>
            </a:lvl1pPr>
          </a:lstStyle>
          <a:p>
            <a:pPr>
              <a:defRPr/>
            </a:pPr>
            <a:fld id="{56CE1182-6072-4C13-A9D0-AB1B6F1BE1F8}" type="slidenum">
              <a:rPr lang="en-GB"/>
              <a:pPr>
                <a:defRPr/>
              </a:pPr>
              <a:t>‹#›</a:t>
            </a:fld>
            <a:endParaRPr lang="en-GB" dirty="0"/>
          </a:p>
        </p:txBody>
      </p:sp>
    </p:spTree>
    <p:extLst>
      <p:ext uri="{BB962C8B-B14F-4D97-AF65-F5344CB8AC3E}">
        <p14:creationId xmlns:p14="http://schemas.microsoft.com/office/powerpoint/2010/main" val="3608172231"/>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Lst>
  <p:hf hdr="0" ftr="0" dt="0"/>
  <p:txStyles>
    <p:titleStyle>
      <a:lvl1pPr marL="358775" indent="-358775" algn="l" rtl="0" eaLnBrk="1" fontAlgn="base" hangingPunct="1">
        <a:spcBef>
          <a:spcPct val="0"/>
        </a:spcBef>
        <a:spcAft>
          <a:spcPct val="0"/>
        </a:spcAft>
        <a:defRPr sz="3000" b="1">
          <a:solidFill>
            <a:srgbClr val="0F5494"/>
          </a:solidFill>
          <a:latin typeface="+mj-lt"/>
          <a:ea typeface="+mj-ea"/>
          <a:cs typeface="+mj-cs"/>
        </a:defRPr>
      </a:lvl1pPr>
      <a:lvl2pPr marL="358775" indent="-358775" algn="l" rtl="0" eaLnBrk="1" fontAlgn="base" hangingPunct="1">
        <a:spcBef>
          <a:spcPct val="0"/>
        </a:spcBef>
        <a:spcAft>
          <a:spcPct val="0"/>
        </a:spcAft>
        <a:defRPr sz="3000" b="1">
          <a:solidFill>
            <a:srgbClr val="0F5494"/>
          </a:solidFill>
          <a:latin typeface="Verdana" pitchFamily="34" charset="0"/>
        </a:defRPr>
      </a:lvl2pPr>
      <a:lvl3pPr marL="358775" indent="-358775" algn="l" rtl="0" eaLnBrk="1" fontAlgn="base" hangingPunct="1">
        <a:spcBef>
          <a:spcPct val="0"/>
        </a:spcBef>
        <a:spcAft>
          <a:spcPct val="0"/>
        </a:spcAft>
        <a:defRPr sz="3000" b="1">
          <a:solidFill>
            <a:srgbClr val="0F5494"/>
          </a:solidFill>
          <a:latin typeface="Verdana" pitchFamily="34" charset="0"/>
        </a:defRPr>
      </a:lvl3pPr>
      <a:lvl4pPr marL="358775" indent="-358775" algn="l" rtl="0" eaLnBrk="1" fontAlgn="base" hangingPunct="1">
        <a:spcBef>
          <a:spcPct val="0"/>
        </a:spcBef>
        <a:spcAft>
          <a:spcPct val="0"/>
        </a:spcAft>
        <a:defRPr sz="3000" b="1">
          <a:solidFill>
            <a:srgbClr val="0F5494"/>
          </a:solidFill>
          <a:latin typeface="Verdana" pitchFamily="34" charset="0"/>
        </a:defRPr>
      </a:lvl4pPr>
      <a:lvl5pPr marL="358775" indent="-358775" algn="l" rtl="0" eaLnBrk="1" fontAlgn="base" hangingPunct="1">
        <a:spcBef>
          <a:spcPct val="0"/>
        </a:spcBef>
        <a:spcAft>
          <a:spcPct val="0"/>
        </a:spcAft>
        <a:defRPr sz="3000" b="1">
          <a:solidFill>
            <a:srgbClr val="0F5494"/>
          </a:solidFill>
          <a:latin typeface="Verdana" pitchFamily="34" charset="0"/>
        </a:defRPr>
      </a:lvl5pPr>
      <a:lvl6pPr marL="815975" algn="l" rtl="0" eaLnBrk="1" fontAlgn="base" hangingPunct="1">
        <a:spcBef>
          <a:spcPct val="0"/>
        </a:spcBef>
        <a:spcAft>
          <a:spcPct val="0"/>
        </a:spcAft>
        <a:defRPr sz="3000" b="1">
          <a:solidFill>
            <a:srgbClr val="0F5494"/>
          </a:solidFill>
          <a:latin typeface="Verdana" pitchFamily="34" charset="0"/>
        </a:defRPr>
      </a:lvl6pPr>
      <a:lvl7pPr marL="1273175" algn="l" rtl="0" eaLnBrk="1" fontAlgn="base" hangingPunct="1">
        <a:spcBef>
          <a:spcPct val="0"/>
        </a:spcBef>
        <a:spcAft>
          <a:spcPct val="0"/>
        </a:spcAft>
        <a:defRPr sz="3000" b="1">
          <a:solidFill>
            <a:srgbClr val="0F5494"/>
          </a:solidFill>
          <a:latin typeface="Verdana" pitchFamily="34" charset="0"/>
        </a:defRPr>
      </a:lvl7pPr>
      <a:lvl8pPr marL="1730375" algn="l" rtl="0" eaLnBrk="1" fontAlgn="base" hangingPunct="1">
        <a:spcBef>
          <a:spcPct val="0"/>
        </a:spcBef>
        <a:spcAft>
          <a:spcPct val="0"/>
        </a:spcAft>
        <a:defRPr sz="3000" b="1">
          <a:solidFill>
            <a:srgbClr val="0F5494"/>
          </a:solidFill>
          <a:latin typeface="Verdana" pitchFamily="34" charset="0"/>
        </a:defRPr>
      </a:lvl8pPr>
      <a:lvl9pPr marL="2187575" algn="l" rtl="0" eaLnBrk="1" fontAlgn="base" hangingPunct="1">
        <a:spcBef>
          <a:spcPct val="0"/>
        </a:spcBef>
        <a:spcAft>
          <a:spcPct val="0"/>
        </a:spcAft>
        <a:defRPr sz="3000" b="1">
          <a:solidFill>
            <a:srgbClr val="0F5494"/>
          </a:solidFill>
          <a:latin typeface="Verdana" pitchFamily="34" charset="0"/>
        </a:defRPr>
      </a:lvl9pPr>
    </p:titleStyle>
    <p:bodyStyle>
      <a:lvl1pPr marL="342900" indent="-342900" algn="l" rtl="0" eaLnBrk="1" fontAlgn="base" hangingPunct="1">
        <a:spcBef>
          <a:spcPct val="20000"/>
        </a:spcBef>
        <a:spcAft>
          <a:spcPct val="0"/>
        </a:spcAft>
        <a:buClr>
          <a:schemeClr val="bg1"/>
        </a:buClr>
        <a:buChar char="•"/>
        <a:defRPr sz="2400" i="1">
          <a:solidFill>
            <a:srgbClr val="0F5494"/>
          </a:solidFill>
          <a:latin typeface="+mn-lt"/>
          <a:ea typeface="+mn-ea"/>
          <a:cs typeface="+mn-cs"/>
        </a:defRPr>
      </a:lvl1pPr>
      <a:lvl2pPr marL="742950" indent="-285750" algn="l" rtl="0" eaLnBrk="1" fontAlgn="base" hangingPunct="1">
        <a:spcBef>
          <a:spcPct val="20000"/>
        </a:spcBef>
        <a:spcAft>
          <a:spcPct val="0"/>
        </a:spcAft>
        <a:buClr>
          <a:srgbClr val="009FBA"/>
        </a:buClr>
        <a:buChar char="•"/>
        <a:defRPr sz="2000" b="1">
          <a:solidFill>
            <a:srgbClr val="0F5494"/>
          </a:solidFill>
          <a:latin typeface="+mn-lt"/>
        </a:defRPr>
      </a:lvl2pPr>
      <a:lvl3pPr marL="1143000" indent="-228600" algn="l" rtl="0" eaLnBrk="1" fontAlgn="base" hangingPunct="1">
        <a:spcBef>
          <a:spcPct val="20000"/>
        </a:spcBef>
        <a:spcAft>
          <a:spcPct val="0"/>
        </a:spcAft>
        <a:defRPr sz="1400">
          <a:solidFill>
            <a:srgbClr val="0F5494"/>
          </a:solidFill>
          <a:latin typeface="+mn-lt"/>
        </a:defRPr>
      </a:lvl3pPr>
      <a:lvl4pPr marL="1600200" indent="-228600" algn="l" rtl="0" eaLnBrk="1" fontAlgn="base" hangingPunct="1">
        <a:spcBef>
          <a:spcPct val="20000"/>
        </a:spcBef>
        <a:spcAft>
          <a:spcPct val="0"/>
        </a:spcAft>
        <a:buChar char="–"/>
        <a:defRPr sz="2000">
          <a:solidFill>
            <a:schemeClr val="tx1"/>
          </a:solidFill>
          <a:latin typeface="Arial" charset="0"/>
        </a:defRPr>
      </a:lvl4pPr>
      <a:lvl5pPr marL="2057400" indent="-228600" algn="l" rtl="0" eaLnBrk="1" fontAlgn="base" hangingPunct="1">
        <a:spcBef>
          <a:spcPct val="20000"/>
        </a:spcBef>
        <a:spcAft>
          <a:spcPct val="0"/>
        </a:spcAft>
        <a:buChar char="»"/>
        <a:defRPr sz="2000">
          <a:solidFill>
            <a:schemeClr val="tx1"/>
          </a:solidFill>
          <a:latin typeface="Arial"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ec.europa.eu/eurostat/web/main/home" TargetMode="External"/><Relationship Id="rId2" Type="http://schemas.openxmlformats.org/officeDocument/2006/relationships/image" Target="../media/image6.jpeg"/><Relationship Id="rId1" Type="http://schemas.openxmlformats.org/officeDocument/2006/relationships/slideLayout" Target="../slideLayouts/slideLayout5.xml"/><Relationship Id="rId4" Type="http://schemas.openxmlformats.org/officeDocument/2006/relationships/hyperlink" Target="https://ec.europa.eu/eurostat/web/european-statistical-system/overview"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eur-lex.europa.eu/LexUriServ/LexUriServ.do?uri=CELEX:32016R1952:EN:NOT"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eur-lex.europa.eu/legal-content/EN/TXT/?uri=OJ:L_202302413" TargetMode="External"/><Relationship Id="rId2" Type="http://schemas.openxmlformats.org/officeDocument/2006/relationships/hyperlink" Target="https://eur-lex.europa.eu/eli/reg/2018/1999/oj/eng#:~:text=This%20Regulation%20sets%20out%20the%20necessary%20legislative%20foundation,and%20its%20Member%20States%2C%20while%20limiting%20administrative%20complexity." TargetMode="External"/><Relationship Id="rId1" Type="http://schemas.openxmlformats.org/officeDocument/2006/relationships/slideLayout" Target="../slideLayouts/slideLayout2.xml"/><Relationship Id="rId6" Type="http://schemas.openxmlformats.org/officeDocument/2006/relationships/hyperlink" Target="https://eur-lex.europa.eu/legal-content/EN/ALL/?uri=CELEX%3A32009L0119" TargetMode="External"/><Relationship Id="rId5" Type="http://schemas.openxmlformats.org/officeDocument/2006/relationships/hyperlink" Target="https://eur-lex.europa.eu/legal-content/EN/TXT/?uri=CELEX:32023R0706" TargetMode="External"/><Relationship Id="rId4" Type="http://schemas.openxmlformats.org/officeDocument/2006/relationships/hyperlink" Target="https://eur-lex.europa.eu/legal-content/EN/TXT/?uri=OJ%3AJOL_2023_231_R_0001&amp;qid=1695186598766"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ec.europa.eu/eurostat/web/energy/overview"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ec.europa.eu/eurostat/web/energy/database"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hyperlink" Target="https://ec.europa.eu/eurostat/cache/infographs/energy_portal/enviz.ht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ec.europa.eu/eurostat/statistics-explained/index.php/Renewable_energy_statistics"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ec.europa.eu/eurostat/web/energy/database/additional-data#Short%20assessment%20of%20renewable%20energy%20sources%20(SHARE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5" name="Title 4">
            <a:extLst>
              <a:ext uri="{FF2B5EF4-FFF2-40B4-BE49-F238E27FC236}">
                <a16:creationId xmlns:a16="http://schemas.microsoft.com/office/drawing/2014/main" id="{C504D590-9922-C06A-407C-2B718394A8D5}"/>
              </a:ext>
            </a:extLst>
          </p:cNvPr>
          <p:cNvSpPr>
            <a:spLocks noGrp="1"/>
          </p:cNvSpPr>
          <p:nvPr>
            <p:ph type="title"/>
          </p:nvPr>
        </p:nvSpPr>
        <p:spPr>
          <a:xfrm>
            <a:off x="407368" y="1628801"/>
            <a:ext cx="11377264" cy="2432252"/>
          </a:xfrm>
        </p:spPr>
        <p:txBody>
          <a:bodyPr/>
          <a:lstStyle/>
          <a:p>
            <a:r>
              <a:rPr lang="en-US" sz="8800" dirty="0">
                <a:latin typeface="Calibri" panose="020F0502020204030204" pitchFamily="34" charset="0"/>
              </a:rPr>
              <a:t>Eurostat and renewable energy statistics</a:t>
            </a:r>
            <a:br>
              <a:rPr lang="en-US" dirty="0">
                <a:latin typeface="Calibri" panose="020F0502020204030204" pitchFamily="34" charset="0"/>
              </a:rPr>
            </a:br>
            <a:br>
              <a:rPr lang="en-US" sz="1800" dirty="0">
                <a:latin typeface="Calibri" panose="020F0502020204030204" pitchFamily="34" charset="0"/>
              </a:rPr>
            </a:br>
            <a:r>
              <a:rPr lang="en-GB" sz="4800" i="1" dirty="0">
                <a:latin typeface="Calibri" panose="020F0502020204030204" pitchFamily="34" charset="0"/>
                <a:ea typeface="Verdana" panose="020B0604030504040204" pitchFamily="34" charset="0"/>
                <a:cs typeface="Verdana" panose="020B0604030504040204" pitchFamily="34" charset="0"/>
              </a:rPr>
              <a:t>Ukraine visit to the EEA </a:t>
            </a:r>
            <a:br>
              <a:rPr lang="en-GB" sz="4800" i="1" dirty="0">
                <a:latin typeface="Calibri" panose="020F0502020204030204" pitchFamily="34" charset="0"/>
                <a:ea typeface="Verdana" panose="020B0604030504040204" pitchFamily="34" charset="0"/>
                <a:cs typeface="Verdana" panose="020B0604030504040204" pitchFamily="34" charset="0"/>
              </a:rPr>
            </a:br>
            <a:r>
              <a:rPr lang="en-GB" sz="3600" i="1" dirty="0">
                <a:latin typeface="Calibri" panose="020F0502020204030204" pitchFamily="34" charset="0"/>
                <a:ea typeface="Verdana" panose="020B0604030504040204" pitchFamily="34" charset="0"/>
                <a:cs typeface="Verdana" panose="020B0604030504040204" pitchFamily="34" charset="0"/>
              </a:rPr>
              <a:t>23 October 2025</a:t>
            </a:r>
            <a:endParaRPr lang="en-IE" dirty="0"/>
          </a:p>
        </p:txBody>
      </p:sp>
      <p:sp>
        <p:nvSpPr>
          <p:cNvPr id="7" name="Content Placeholder 6">
            <a:extLst>
              <a:ext uri="{FF2B5EF4-FFF2-40B4-BE49-F238E27FC236}">
                <a16:creationId xmlns:a16="http://schemas.microsoft.com/office/drawing/2014/main" id="{51456CEF-57DB-B4CE-60F1-7B93F72DA5BA}"/>
              </a:ext>
            </a:extLst>
          </p:cNvPr>
          <p:cNvSpPr>
            <a:spLocks noGrp="1"/>
          </p:cNvSpPr>
          <p:nvPr>
            <p:ph sz="quarter" idx="11"/>
          </p:nvPr>
        </p:nvSpPr>
        <p:spPr>
          <a:xfrm>
            <a:off x="770098" y="5257495"/>
            <a:ext cx="4929188" cy="1059994"/>
          </a:xfrm>
        </p:spPr>
        <p:txBody>
          <a:bodyPr/>
          <a:lstStyle/>
          <a:p>
            <a:r>
              <a:rPr lang="en-GB" dirty="0">
                <a:latin typeface="Calibri" panose="020F0502020204030204" pitchFamily="34" charset="0"/>
                <a:ea typeface="Verdana" panose="020B0604030504040204" pitchFamily="34" charset="0"/>
                <a:cs typeface="Verdana" panose="020B0604030504040204" pitchFamily="34" charset="0"/>
              </a:rPr>
              <a:t>Fernando Díaz Alonso</a:t>
            </a:r>
            <a:endParaRPr lang="en-US" dirty="0">
              <a:latin typeface="Calibri" panose="020F0502020204030204" pitchFamily="34" charset="0"/>
              <a:ea typeface="Verdana" panose="020B0604030504040204" pitchFamily="34" charset="0"/>
              <a:cs typeface="Verdana" panose="020B0604030504040204" pitchFamily="34" charset="0"/>
            </a:endParaRPr>
          </a:p>
          <a:p>
            <a:r>
              <a:rPr lang="sk-SK" sz="2800" dirty="0" err="1">
                <a:latin typeface="Calibri" panose="020F0502020204030204" pitchFamily="34" charset="0"/>
                <a:ea typeface="Verdana" panose="020B0604030504040204" pitchFamily="34" charset="0"/>
                <a:cs typeface="Verdana" panose="020B0604030504040204" pitchFamily="34" charset="0"/>
              </a:rPr>
              <a:t>European</a:t>
            </a:r>
            <a:r>
              <a:rPr lang="sk-SK" sz="2800" dirty="0">
                <a:latin typeface="Calibri" panose="020F0502020204030204" pitchFamily="34" charset="0"/>
                <a:ea typeface="Verdana" panose="020B0604030504040204" pitchFamily="34" charset="0"/>
                <a:cs typeface="Verdana" panose="020B0604030504040204" pitchFamily="34" charset="0"/>
              </a:rPr>
              <a:t> </a:t>
            </a:r>
            <a:r>
              <a:rPr lang="sk-SK" sz="2800" dirty="0" err="1">
                <a:latin typeface="Calibri" panose="020F0502020204030204" pitchFamily="34" charset="0"/>
                <a:ea typeface="Verdana" panose="020B0604030504040204" pitchFamily="34" charset="0"/>
                <a:cs typeface="Verdana" panose="020B0604030504040204" pitchFamily="34" charset="0"/>
              </a:rPr>
              <a:t>Commission</a:t>
            </a:r>
            <a:r>
              <a:rPr lang="sk-SK" sz="2800" dirty="0">
                <a:latin typeface="Calibri" panose="020F0502020204030204" pitchFamily="34" charset="0"/>
                <a:ea typeface="Verdana" panose="020B0604030504040204" pitchFamily="34" charset="0"/>
                <a:cs typeface="Verdana" panose="020B0604030504040204" pitchFamily="34" charset="0"/>
              </a:rPr>
              <a:t> - </a:t>
            </a:r>
            <a:r>
              <a:rPr lang="en-US" sz="2800" dirty="0">
                <a:latin typeface="Calibri" panose="020F0502020204030204" pitchFamily="34" charset="0"/>
                <a:ea typeface="Verdana" panose="020B0604030504040204" pitchFamily="34" charset="0"/>
                <a:cs typeface="Verdana" panose="020B0604030504040204" pitchFamily="34" charset="0"/>
              </a:rPr>
              <a:t>Eurostat</a:t>
            </a:r>
            <a:endParaRPr lang="en-GB" sz="2800" dirty="0">
              <a:latin typeface="Calibri" panose="020F050202020403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238760" y="6344646"/>
            <a:ext cx="2743200" cy="365125"/>
          </a:xfrm>
        </p:spPr>
        <p:txBody>
          <a:bodyPr/>
          <a:lstStyle/>
          <a:p>
            <a:pPr>
              <a:defRPr/>
            </a:pPr>
            <a:fld id="{F0AB6783-A622-483D-9EED-1F5D137ACBE7}" type="slidenum">
              <a:rPr lang="en-GB" smtClean="0">
                <a:solidFill>
                  <a:srgbClr val="000000"/>
                </a:solidFill>
                <a:latin typeface="Calibri" panose="020F0502020204030204" pitchFamily="34" charset="0"/>
              </a:rPr>
              <a:pPr>
                <a:defRPr/>
              </a:pPr>
              <a:t>2</a:t>
            </a:fld>
            <a:endParaRPr lang="en-GB" dirty="0">
              <a:solidFill>
                <a:srgbClr val="000000"/>
              </a:solidFill>
              <a:latin typeface="Calibri" panose="020F0502020204030204" pitchFamily="34" charset="0"/>
            </a:endParaRPr>
          </a:p>
        </p:txBody>
      </p:sp>
      <p:pic>
        <p:nvPicPr>
          <p:cNvPr id="5" name="Picture 4">
            <a:extLst>
              <a:ext uri="{FF2B5EF4-FFF2-40B4-BE49-F238E27FC236}">
                <a16:creationId xmlns:a16="http://schemas.microsoft.com/office/drawing/2014/main" id="{88C62FFA-CD44-27FA-3E8E-2C6B7D5EF8C2}"/>
              </a:ext>
            </a:extLst>
          </p:cNvPr>
          <p:cNvPicPr>
            <a:picLocks noChangeAspect="1"/>
          </p:cNvPicPr>
          <p:nvPr/>
        </p:nvPicPr>
        <p:blipFill>
          <a:blip r:embed="rId3"/>
          <a:srcRect t="3568" b="24726"/>
          <a:stretch/>
        </p:blipFill>
        <p:spPr>
          <a:xfrm>
            <a:off x="0" y="0"/>
            <a:ext cx="12192000" cy="3577229"/>
          </a:xfrm>
          <a:prstGeom prst="rect">
            <a:avLst/>
          </a:prstGeom>
        </p:spPr>
      </p:pic>
      <p:sp>
        <p:nvSpPr>
          <p:cNvPr id="3" name="Content Placeholder 2"/>
          <p:cNvSpPr>
            <a:spLocks noGrp="1"/>
          </p:cNvSpPr>
          <p:nvPr>
            <p:ph idx="1"/>
          </p:nvPr>
        </p:nvSpPr>
        <p:spPr>
          <a:xfrm>
            <a:off x="551384" y="3577229"/>
            <a:ext cx="11233248" cy="2660083"/>
          </a:xfrm>
          <a:solidFill>
            <a:schemeClr val="bg1"/>
          </a:solidFill>
        </p:spPr>
        <p:txBody>
          <a:bodyPr/>
          <a:lstStyle/>
          <a:p>
            <a:pPr marL="0" indent="0">
              <a:spcBef>
                <a:spcPts val="0"/>
              </a:spcBef>
              <a:spcAft>
                <a:spcPts val="0"/>
              </a:spcAft>
              <a:buNone/>
            </a:pPr>
            <a:r>
              <a:rPr lang="en-US" sz="3600" b="1" dirty="0">
                <a:latin typeface="Calibri" panose="020F0502020204030204" pitchFamily="34" charset="0"/>
              </a:rPr>
              <a:t>Energy Union, </a:t>
            </a:r>
            <a:r>
              <a:rPr lang="en-US" sz="3600" b="1" dirty="0" err="1">
                <a:latin typeface="Calibri" panose="020F0502020204030204" pitchFamily="34" charset="0"/>
              </a:rPr>
              <a:t>REPowerEU</a:t>
            </a:r>
            <a:r>
              <a:rPr lang="en-US" sz="3600" b="1" dirty="0">
                <a:latin typeface="Calibri" panose="020F0502020204030204" pitchFamily="34" charset="0"/>
              </a:rPr>
              <a:t>, Clean Industrial Deal</a:t>
            </a:r>
          </a:p>
          <a:p>
            <a:pPr>
              <a:spcBef>
                <a:spcPts val="0"/>
              </a:spcBef>
              <a:spcAft>
                <a:spcPts val="0"/>
              </a:spcAft>
            </a:pPr>
            <a:r>
              <a:rPr lang="en-US" sz="3200" dirty="0">
                <a:latin typeface="Calibri" panose="020F0502020204030204" pitchFamily="34" charset="0"/>
              </a:rPr>
              <a:t>The first climate neutral continent by 2050</a:t>
            </a:r>
          </a:p>
          <a:p>
            <a:pPr>
              <a:spcBef>
                <a:spcPts val="0"/>
              </a:spcBef>
              <a:spcAft>
                <a:spcPts val="0"/>
              </a:spcAft>
            </a:pPr>
            <a:r>
              <a:rPr lang="en-US" sz="3200" dirty="0">
                <a:latin typeface="Calibri" panose="020F0502020204030204" pitchFamily="34" charset="0"/>
              </a:rPr>
              <a:t>Affordable, secure and sustainable energy for Europe</a:t>
            </a:r>
          </a:p>
          <a:p>
            <a:pPr lvl="1">
              <a:spcBef>
                <a:spcPts val="0"/>
              </a:spcBef>
              <a:spcAft>
                <a:spcPts val="0"/>
              </a:spcAft>
              <a:buFont typeface="Arial" panose="020B0604020202020204" pitchFamily="34" charset="0"/>
              <a:buChar char="•"/>
            </a:pPr>
            <a:r>
              <a:rPr lang="en-US" sz="2800" dirty="0">
                <a:solidFill>
                  <a:schemeClr val="tx1"/>
                </a:solidFill>
              </a:rPr>
              <a:t>save energy, produce clean energy and diversify energy supply</a:t>
            </a:r>
          </a:p>
          <a:p>
            <a:pPr lvl="1">
              <a:spcBef>
                <a:spcPts val="0"/>
              </a:spcBef>
              <a:spcAft>
                <a:spcPts val="0"/>
              </a:spcAft>
              <a:buFont typeface="Arial" panose="020B0604020202020204" pitchFamily="34" charset="0"/>
              <a:buChar char="•"/>
            </a:pPr>
            <a:r>
              <a:rPr lang="en-US" sz="3200" dirty="0">
                <a:solidFill>
                  <a:schemeClr val="tx1"/>
                </a:solidFill>
                <a:latin typeface="Calibri" panose="020F0502020204030204" pitchFamily="34" charset="0"/>
              </a:rPr>
              <a:t>High-quality data essential to monitor energy policies </a:t>
            </a:r>
          </a:p>
        </p:txBody>
      </p:sp>
    </p:spTree>
    <p:extLst>
      <p:ext uri="{BB962C8B-B14F-4D97-AF65-F5344CB8AC3E}">
        <p14:creationId xmlns:p14="http://schemas.microsoft.com/office/powerpoint/2010/main" val="942079966"/>
      </p:ext>
    </p:extLst>
  </p:cSld>
  <p:clrMapOvr>
    <a:masterClrMapping/>
  </p:clrMapOvr>
  <mc:AlternateContent xmlns:mc="http://schemas.openxmlformats.org/markup-compatibility/2006" xmlns:p14="http://schemas.microsoft.com/office/powerpoint/2010/main">
    <mc:Choice Requires="p14">
      <p:transition>
        <p14:flythrough/>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blue and yellow background with white text&#10;&#10;Description automatically generated">
            <a:extLst>
              <a:ext uri="{FF2B5EF4-FFF2-40B4-BE49-F238E27FC236}">
                <a16:creationId xmlns:a16="http://schemas.microsoft.com/office/drawing/2014/main" id="{D1BB9676-373A-9571-D015-D90796DC5683}"/>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1"/>
            <a:ext cx="12192000" cy="3535681"/>
          </a:xfrm>
          <a:prstGeom prst="rect">
            <a:avLst/>
          </a:prstGeom>
        </p:spPr>
      </p:pic>
      <p:sp>
        <p:nvSpPr>
          <p:cNvPr id="3" name="Content Placeholder 2"/>
          <p:cNvSpPr>
            <a:spLocks noGrp="1"/>
          </p:cNvSpPr>
          <p:nvPr>
            <p:ph type="body" sz="quarter" idx="14"/>
          </p:nvPr>
        </p:nvSpPr>
        <p:spPr>
          <a:xfrm>
            <a:off x="568960" y="2987040"/>
            <a:ext cx="11155680" cy="2987040"/>
          </a:xfrm>
          <a:solidFill>
            <a:schemeClr val="bg1"/>
          </a:solidFill>
        </p:spPr>
        <p:txBody>
          <a:bodyPr>
            <a:noAutofit/>
          </a:bodyPr>
          <a:lstStyle/>
          <a:p>
            <a:pPr>
              <a:lnSpc>
                <a:spcPct val="114000"/>
              </a:lnSpc>
              <a:spcAft>
                <a:spcPts val="1200"/>
              </a:spcAft>
            </a:pPr>
            <a:r>
              <a:rPr lang="en-US" sz="2600" dirty="0">
                <a:solidFill>
                  <a:schemeClr val="tx1"/>
                </a:solidFill>
                <a:hlinkClick r:id="rId3">
                  <a:extLst>
                    <a:ext uri="{A12FA001-AC4F-418D-AE19-62706E023703}">
                      <ahyp:hlinkClr xmlns:ahyp="http://schemas.microsoft.com/office/drawing/2018/hyperlinkcolor" val="tx"/>
                    </a:ext>
                  </a:extLst>
                </a:hlinkClick>
              </a:rPr>
              <a:t>Eurostat</a:t>
            </a:r>
            <a:r>
              <a:rPr lang="en-US" sz="2600" dirty="0">
                <a:solidFill>
                  <a:schemeClr val="tx1"/>
                </a:solidFill>
              </a:rPr>
              <a:t> is the statistical office of the European Union (EU)</a:t>
            </a:r>
          </a:p>
          <a:p>
            <a:pPr>
              <a:lnSpc>
                <a:spcPct val="114000"/>
              </a:lnSpc>
              <a:spcAft>
                <a:spcPts val="1200"/>
              </a:spcAft>
            </a:pPr>
            <a:r>
              <a:rPr lang="en-US" sz="2600" dirty="0">
                <a:solidFill>
                  <a:schemeClr val="tx1"/>
                </a:solidFill>
              </a:rPr>
              <a:t>Our mission is to provide high-quality statistics and data on Europe</a:t>
            </a:r>
          </a:p>
          <a:p>
            <a:pPr>
              <a:lnSpc>
                <a:spcPct val="114000"/>
              </a:lnSpc>
              <a:spcAft>
                <a:spcPts val="1200"/>
              </a:spcAft>
            </a:pPr>
            <a:r>
              <a:rPr lang="en-US" sz="2600" dirty="0">
                <a:solidFill>
                  <a:schemeClr val="tx1"/>
                </a:solidFill>
              </a:rPr>
              <a:t>Eurostat produces European statistics in partnership with National Statistical Institutes and other national authorities in the EU Member States. This partnership is known as the </a:t>
            </a:r>
            <a:r>
              <a:rPr lang="en-US" sz="2600" u="sng" dirty="0">
                <a:solidFill>
                  <a:schemeClr val="tx1"/>
                </a:solidFill>
                <a:hlinkClick r:id="rId4">
                  <a:extLst>
                    <a:ext uri="{A12FA001-AC4F-418D-AE19-62706E023703}">
                      <ahyp:hlinkClr xmlns:ahyp="http://schemas.microsoft.com/office/drawing/2018/hyperlinkcolor" val="tx"/>
                    </a:ext>
                  </a:extLst>
                </a:hlinkClick>
              </a:rPr>
              <a:t>European Statistical System (ESS)</a:t>
            </a:r>
            <a:endParaRPr lang="en-US" sz="2600" dirty="0">
              <a:solidFill>
                <a:schemeClr val="tx1"/>
              </a:solidFill>
            </a:endParaRPr>
          </a:p>
        </p:txBody>
      </p:sp>
      <p:sp>
        <p:nvSpPr>
          <p:cNvPr id="4" name="Slide Number Placeholder 3" hidden="1"/>
          <p:cNvSpPr>
            <a:spLocks noGrp="1"/>
          </p:cNvSpPr>
          <p:nvPr>
            <p:ph type="sldNum" sz="quarter" idx="4294967295"/>
          </p:nvPr>
        </p:nvSpPr>
        <p:spPr>
          <a:xfrm>
            <a:off x="838200" y="6131286"/>
            <a:ext cx="2743200" cy="365125"/>
          </a:xfrm>
        </p:spPr>
        <p:txBody>
          <a:bodyPr/>
          <a:lstStyle/>
          <a:p>
            <a:pPr>
              <a:spcAft>
                <a:spcPts val="600"/>
              </a:spcAft>
              <a:defRPr/>
            </a:pPr>
            <a:fld id="{F0AB6783-A622-483D-9EED-1F5D137ACBE7}" type="slidenum">
              <a:rPr lang="en-GB" smtClean="0">
                <a:solidFill>
                  <a:srgbClr val="000000"/>
                </a:solidFill>
              </a:rPr>
              <a:pPr>
                <a:spcAft>
                  <a:spcPts val="600"/>
                </a:spcAft>
                <a:defRPr/>
              </a:pPr>
              <a:t>3</a:t>
            </a:fld>
            <a:endParaRPr lang="en-GB">
              <a:solidFill>
                <a:srgbClr val="000000"/>
              </a:solidFill>
            </a:endParaRPr>
          </a:p>
        </p:txBody>
      </p:sp>
    </p:spTree>
    <p:extLst>
      <p:ext uri="{BB962C8B-B14F-4D97-AF65-F5344CB8AC3E}">
        <p14:creationId xmlns:p14="http://schemas.microsoft.com/office/powerpoint/2010/main" val="3343522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tatue of a person holding a sword and scales">
            <a:extLst>
              <a:ext uri="{FF2B5EF4-FFF2-40B4-BE49-F238E27FC236}">
                <a16:creationId xmlns:a16="http://schemas.microsoft.com/office/drawing/2014/main" id="{EFABD090-D3DB-CB7D-A706-D44D154F9FA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200" y="0"/>
            <a:ext cx="4572000" cy="6858000"/>
          </a:xfrm>
          <a:prstGeom prst="rect">
            <a:avLst/>
          </a:prstGeom>
        </p:spPr>
      </p:pic>
      <p:sp>
        <p:nvSpPr>
          <p:cNvPr id="2" name="Title 1"/>
          <p:cNvSpPr>
            <a:spLocks noGrp="1"/>
          </p:cNvSpPr>
          <p:nvPr>
            <p:ph type="title"/>
          </p:nvPr>
        </p:nvSpPr>
        <p:spPr>
          <a:xfrm>
            <a:off x="3322320" y="371491"/>
            <a:ext cx="8534400" cy="853442"/>
          </a:xfrm>
          <a:solidFill>
            <a:schemeClr val="bg1"/>
          </a:solidFill>
        </p:spPr>
        <p:txBody>
          <a:bodyPr/>
          <a:lstStyle/>
          <a:p>
            <a:r>
              <a:rPr lang="en-GB" sz="4800" b="1" dirty="0">
                <a:latin typeface="Calibri" panose="020F0502020204030204" pitchFamily="34" charset="0"/>
              </a:rPr>
              <a:t>Legal basis for energy statistics</a:t>
            </a:r>
          </a:p>
        </p:txBody>
      </p:sp>
      <p:sp>
        <p:nvSpPr>
          <p:cNvPr id="3" name="Content Placeholder 2"/>
          <p:cNvSpPr>
            <a:spLocks noGrp="1"/>
          </p:cNvSpPr>
          <p:nvPr>
            <p:ph idx="1"/>
          </p:nvPr>
        </p:nvSpPr>
        <p:spPr>
          <a:xfrm>
            <a:off x="3322320" y="1215063"/>
            <a:ext cx="8788400" cy="4687898"/>
          </a:xfrm>
          <a:solidFill>
            <a:schemeClr val="bg1"/>
          </a:solidFill>
        </p:spPr>
        <p:txBody>
          <a:bodyPr/>
          <a:lstStyle/>
          <a:p>
            <a:pPr marL="0" indent="0">
              <a:buNone/>
            </a:pPr>
            <a:endParaRPr lang="en-US" sz="3200" b="1" dirty="0">
              <a:solidFill>
                <a:srgbClr val="0F5494"/>
              </a:solidFill>
              <a:latin typeface="Calibri" panose="020F0502020204030204" pitchFamily="34" charset="0"/>
              <a:hlinkClick r:id="" action="ppaction://noaction">
                <a:extLst>
                  <a:ext uri="{A12FA001-AC4F-418D-AE19-62706E023703}">
                    <ahyp:hlinkClr xmlns:ahyp="http://schemas.microsoft.com/office/drawing/2018/hyperlinkcolor" val="tx"/>
                  </a:ext>
                </a:extLst>
              </a:hlinkClick>
            </a:endParaRPr>
          </a:p>
          <a:p>
            <a:pPr marL="0" indent="0">
              <a:buNone/>
            </a:pPr>
            <a:r>
              <a:rPr lang="en-US" sz="3200" b="1" dirty="0">
                <a:solidFill>
                  <a:srgbClr val="0F5494"/>
                </a:solidFill>
                <a:latin typeface="Calibri" panose="020F0502020204030204" pitchFamily="34" charset="0"/>
                <a:hlinkClick r:id="" action="ppaction://noaction">
                  <a:extLst>
                    <a:ext uri="{A12FA001-AC4F-418D-AE19-62706E023703}">
                      <ahyp:hlinkClr xmlns:ahyp="http://schemas.microsoft.com/office/drawing/2018/hyperlinkcolor" val="tx"/>
                    </a:ext>
                  </a:extLst>
                </a:hlinkClick>
              </a:rPr>
              <a:t>Regulation (EC) 1099/2008 </a:t>
            </a:r>
            <a:r>
              <a:rPr lang="en-US" sz="3200" b="1" dirty="0">
                <a:latin typeface="Calibri" panose="020F0502020204030204" pitchFamily="34" charset="0"/>
              </a:rPr>
              <a:t>on energy statistics</a:t>
            </a:r>
          </a:p>
          <a:p>
            <a:pPr marL="0" indent="0">
              <a:buNone/>
            </a:pPr>
            <a:endParaRPr lang="en-US" sz="3200" b="1" dirty="0">
              <a:latin typeface="Calibri" panose="020F0502020204030204" pitchFamily="34" charset="0"/>
            </a:endParaRPr>
          </a:p>
          <a:p>
            <a:pPr marL="0" indent="0">
              <a:buNone/>
            </a:pPr>
            <a:endParaRPr lang="en-US" sz="1200" b="1" dirty="0">
              <a:latin typeface="Calibri" panose="020F0502020204030204" pitchFamily="34" charset="0"/>
            </a:endParaRPr>
          </a:p>
          <a:p>
            <a:pPr marL="0" indent="0">
              <a:buNone/>
            </a:pPr>
            <a:r>
              <a:rPr lang="en-US" sz="3200" b="1" dirty="0">
                <a:latin typeface="Calibri" panose="020F0502020204030204" pitchFamily="34" charset="0"/>
              </a:rPr>
              <a:t>Energy prices </a:t>
            </a:r>
            <a:r>
              <a:rPr lang="en-US" sz="3200" dirty="0">
                <a:latin typeface="Calibri" panose="020F0502020204030204" pitchFamily="34" charset="0"/>
              </a:rPr>
              <a:t>based on</a:t>
            </a:r>
            <a:r>
              <a:rPr lang="en-GB" sz="3200" b="1" dirty="0">
                <a:latin typeface="Calibri" panose="020F0502020204030204" pitchFamily="34" charset="0"/>
              </a:rPr>
              <a:t> </a:t>
            </a:r>
            <a:r>
              <a:rPr lang="en-GB" sz="3200" b="1" dirty="0">
                <a:solidFill>
                  <a:srgbClr val="0F5494"/>
                </a:solidFill>
                <a:latin typeface="Calibri" panose="020F0502020204030204" pitchFamily="34" charset="0"/>
                <a:hlinkClick r:id="rId4">
                  <a:extLst>
                    <a:ext uri="{A12FA001-AC4F-418D-AE19-62706E023703}">
                      <ahyp:hlinkClr xmlns:ahyp="http://schemas.microsoft.com/office/drawing/2018/hyperlinkcolor" val="tx"/>
                    </a:ext>
                  </a:extLst>
                </a:hlinkClick>
              </a:rPr>
              <a:t>Regulation (EU) 2016/1952</a:t>
            </a:r>
            <a:r>
              <a:rPr lang="en-US" sz="3200" b="1" dirty="0">
                <a:solidFill>
                  <a:srgbClr val="0F5494"/>
                </a:solidFill>
                <a:latin typeface="Calibri" panose="020F0502020204030204" pitchFamily="34" charset="0"/>
              </a:rPr>
              <a:t> </a:t>
            </a:r>
            <a:endParaRPr lang="en-GB" sz="3200" b="1" dirty="0">
              <a:latin typeface="Calibri" panose="020F0502020204030204" pitchFamily="34" charset="0"/>
            </a:endParaRPr>
          </a:p>
          <a:p>
            <a:pPr marL="0" indent="0">
              <a:buNone/>
            </a:pPr>
            <a:endParaRPr lang="en-GB" sz="3200" dirty="0">
              <a:latin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F0AB6783-A622-483D-9EED-1F5D137ACBE7}" type="slidenum">
              <a:rPr lang="en-GB" smtClean="0">
                <a:solidFill>
                  <a:srgbClr val="000000"/>
                </a:solidFill>
                <a:latin typeface="Calibri" panose="020F0502020204030204" pitchFamily="34" charset="0"/>
              </a:rPr>
              <a:pPr>
                <a:defRPr/>
              </a:pPr>
              <a:t>4</a:t>
            </a:fld>
            <a:endParaRPr lang="en-GB" dirty="0">
              <a:solidFill>
                <a:srgbClr val="000000"/>
              </a:solidFill>
              <a:latin typeface="Calibri" panose="020F0502020204030204" pitchFamily="34" charset="0"/>
            </a:endParaRPr>
          </a:p>
        </p:txBody>
      </p:sp>
    </p:spTree>
    <p:extLst>
      <p:ext uri="{BB962C8B-B14F-4D97-AF65-F5344CB8AC3E}">
        <p14:creationId xmlns:p14="http://schemas.microsoft.com/office/powerpoint/2010/main" val="3399776822"/>
      </p:ext>
    </p:extLst>
  </p:cSld>
  <p:clrMapOvr>
    <a:masterClrMapping/>
  </p:clrMapOvr>
  <mc:AlternateContent xmlns:mc="http://schemas.openxmlformats.org/markup-compatibility/2006" xmlns:p14="http://schemas.microsoft.com/office/powerpoint/2010/main">
    <mc:Choice Requires="p14">
      <p:transition>
        <p14:flythrough/>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F0AB6783-A622-483D-9EED-1F5D137ACBE7}" type="slidenum">
              <a:rPr lang="en-GB" smtClean="0">
                <a:solidFill>
                  <a:srgbClr val="000000"/>
                </a:solidFill>
              </a:rPr>
              <a:pPr>
                <a:defRPr/>
              </a:pPr>
              <a:t>5</a:t>
            </a:fld>
            <a:endParaRPr lang="en-GB" dirty="0">
              <a:solidFill>
                <a:srgbClr val="000000"/>
              </a:solidFill>
            </a:endParaRPr>
          </a:p>
        </p:txBody>
      </p:sp>
      <p:sp>
        <p:nvSpPr>
          <p:cNvPr id="5" name="Title 1"/>
          <p:cNvSpPr txBox="1">
            <a:spLocks/>
          </p:cNvSpPr>
          <p:nvPr/>
        </p:nvSpPr>
        <p:spPr bwMode="auto">
          <a:xfrm>
            <a:off x="1703512" y="692697"/>
            <a:ext cx="8748464" cy="648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0" numCol="1" rtlCol="0" anchor="b" anchorCtr="0" compatLnSpc="1">
            <a:prstTxWarp prst="textNoShape">
              <a:avLst/>
            </a:prstTxWarp>
            <a:noAutofit/>
          </a:bodyPr>
          <a:lstStyle>
            <a:lvl1pPr marL="358775" indent="-358775" algn="l" rtl="0" eaLnBrk="1" fontAlgn="base" hangingPunct="1">
              <a:spcBef>
                <a:spcPct val="0"/>
              </a:spcBef>
              <a:spcAft>
                <a:spcPct val="0"/>
              </a:spcAft>
              <a:defRPr sz="3000" b="1">
                <a:solidFill>
                  <a:srgbClr val="0F5494"/>
                </a:solidFill>
                <a:latin typeface="+mj-lt"/>
                <a:ea typeface="+mj-ea"/>
                <a:cs typeface="+mj-cs"/>
              </a:defRPr>
            </a:lvl1pPr>
            <a:lvl2pPr marL="358775" indent="-358775" algn="l" rtl="0" eaLnBrk="1" fontAlgn="base" hangingPunct="1">
              <a:spcBef>
                <a:spcPct val="0"/>
              </a:spcBef>
              <a:spcAft>
                <a:spcPct val="0"/>
              </a:spcAft>
              <a:defRPr sz="3000" b="1">
                <a:solidFill>
                  <a:srgbClr val="0F5494"/>
                </a:solidFill>
                <a:latin typeface="Verdana" pitchFamily="34" charset="0"/>
              </a:defRPr>
            </a:lvl2pPr>
            <a:lvl3pPr marL="358775" indent="-358775" algn="l" rtl="0" eaLnBrk="1" fontAlgn="base" hangingPunct="1">
              <a:spcBef>
                <a:spcPct val="0"/>
              </a:spcBef>
              <a:spcAft>
                <a:spcPct val="0"/>
              </a:spcAft>
              <a:defRPr sz="3000" b="1">
                <a:solidFill>
                  <a:srgbClr val="0F5494"/>
                </a:solidFill>
                <a:latin typeface="Verdana" pitchFamily="34" charset="0"/>
              </a:defRPr>
            </a:lvl3pPr>
            <a:lvl4pPr marL="358775" indent="-358775" algn="l" rtl="0" eaLnBrk="1" fontAlgn="base" hangingPunct="1">
              <a:spcBef>
                <a:spcPct val="0"/>
              </a:spcBef>
              <a:spcAft>
                <a:spcPct val="0"/>
              </a:spcAft>
              <a:defRPr sz="3000" b="1">
                <a:solidFill>
                  <a:srgbClr val="0F5494"/>
                </a:solidFill>
                <a:latin typeface="Verdana" pitchFamily="34" charset="0"/>
              </a:defRPr>
            </a:lvl4pPr>
            <a:lvl5pPr marL="358775" indent="-358775" algn="l" rtl="0" eaLnBrk="1" fontAlgn="base" hangingPunct="1">
              <a:spcBef>
                <a:spcPct val="0"/>
              </a:spcBef>
              <a:spcAft>
                <a:spcPct val="0"/>
              </a:spcAft>
              <a:defRPr sz="3000" b="1">
                <a:solidFill>
                  <a:srgbClr val="0F5494"/>
                </a:solidFill>
                <a:latin typeface="Verdana" pitchFamily="34" charset="0"/>
              </a:defRPr>
            </a:lvl5pPr>
            <a:lvl6pPr marL="815975" algn="l" rtl="0" eaLnBrk="1" fontAlgn="base" hangingPunct="1">
              <a:spcBef>
                <a:spcPct val="0"/>
              </a:spcBef>
              <a:spcAft>
                <a:spcPct val="0"/>
              </a:spcAft>
              <a:defRPr sz="3000" b="1">
                <a:solidFill>
                  <a:srgbClr val="0F5494"/>
                </a:solidFill>
                <a:latin typeface="Verdana" pitchFamily="34" charset="0"/>
              </a:defRPr>
            </a:lvl6pPr>
            <a:lvl7pPr marL="1273175" algn="l" rtl="0" eaLnBrk="1" fontAlgn="base" hangingPunct="1">
              <a:spcBef>
                <a:spcPct val="0"/>
              </a:spcBef>
              <a:spcAft>
                <a:spcPct val="0"/>
              </a:spcAft>
              <a:defRPr sz="3000" b="1">
                <a:solidFill>
                  <a:srgbClr val="0F5494"/>
                </a:solidFill>
                <a:latin typeface="Verdana" pitchFamily="34" charset="0"/>
              </a:defRPr>
            </a:lvl7pPr>
            <a:lvl8pPr marL="1730375" algn="l" rtl="0" eaLnBrk="1" fontAlgn="base" hangingPunct="1">
              <a:spcBef>
                <a:spcPct val="0"/>
              </a:spcBef>
              <a:spcAft>
                <a:spcPct val="0"/>
              </a:spcAft>
              <a:defRPr sz="3000" b="1">
                <a:solidFill>
                  <a:srgbClr val="0F5494"/>
                </a:solidFill>
                <a:latin typeface="Verdana" pitchFamily="34" charset="0"/>
              </a:defRPr>
            </a:lvl8pPr>
            <a:lvl9pPr marL="2187575" algn="l" rtl="0" eaLnBrk="1" fontAlgn="base" hangingPunct="1">
              <a:spcBef>
                <a:spcPct val="0"/>
              </a:spcBef>
              <a:spcAft>
                <a:spcPct val="0"/>
              </a:spcAft>
              <a:defRPr sz="3000" b="1">
                <a:solidFill>
                  <a:srgbClr val="0F5494"/>
                </a:solidFill>
                <a:latin typeface="Verdana" pitchFamily="34" charset="0"/>
              </a:defRPr>
            </a:lvl9pPr>
          </a:lstStyle>
          <a:p>
            <a:pPr algn="ctr"/>
            <a:r>
              <a:rPr lang="en-US" sz="3600" kern="0" dirty="0">
                <a:latin typeface="Calibri" panose="020F0502020204030204" pitchFamily="34" charset="0"/>
              </a:rPr>
              <a:t>Other European legal texts with influence on energy data</a:t>
            </a:r>
            <a:endParaRPr lang="en-GB" sz="3600" kern="0" dirty="0">
              <a:latin typeface="Calibri" panose="020F0502020204030204" pitchFamily="34" charset="0"/>
            </a:endParaRPr>
          </a:p>
        </p:txBody>
      </p:sp>
      <p:sp>
        <p:nvSpPr>
          <p:cNvPr id="8" name="Rectangle 7"/>
          <p:cNvSpPr/>
          <p:nvPr/>
        </p:nvSpPr>
        <p:spPr>
          <a:xfrm>
            <a:off x="623392" y="1871578"/>
            <a:ext cx="11377264" cy="4770537"/>
          </a:xfrm>
          <a:prstGeom prst="rect">
            <a:avLst/>
          </a:prstGeom>
        </p:spPr>
        <p:txBody>
          <a:bodyPr wrap="square">
            <a:spAutoFit/>
          </a:bodyPr>
          <a:lstStyle/>
          <a:p>
            <a:pPr marL="457200" indent="-457200">
              <a:buFont typeface="Arial" panose="020B0604020202020204" pitchFamily="34" charset="0"/>
              <a:buChar char="•"/>
            </a:pPr>
            <a:r>
              <a:rPr lang="en-US" sz="2400" b="0" dirty="0">
                <a:solidFill>
                  <a:schemeClr val="tx1"/>
                </a:solidFill>
                <a:latin typeface="Calibri" panose="020F0502020204030204" pitchFamily="34" charset="0"/>
                <a:hlinkClick r:id="rId2">
                  <a:extLst>
                    <a:ext uri="{A12FA001-AC4F-418D-AE19-62706E023703}">
                      <ahyp:hlinkClr xmlns:ahyp="http://schemas.microsoft.com/office/drawing/2018/hyperlinkcolor" val="tx"/>
                    </a:ext>
                  </a:extLst>
                </a:hlinkClick>
              </a:rPr>
              <a:t>Regulation (EU) 2018/1999 </a:t>
            </a:r>
            <a:r>
              <a:rPr lang="en-US" sz="2400" b="0" dirty="0">
                <a:solidFill>
                  <a:schemeClr val="tx1"/>
                </a:solidFill>
                <a:latin typeface="Calibri" panose="020F0502020204030204" pitchFamily="34" charset="0"/>
              </a:rPr>
              <a:t>of the European Parliament and of the Council of 11 December 2018 on the Governance of the Energy Union and Climate Action</a:t>
            </a:r>
          </a:p>
          <a:p>
            <a:endParaRPr lang="en-US" sz="1600" b="0" dirty="0">
              <a:solidFill>
                <a:schemeClr val="tx1"/>
              </a:solidFill>
              <a:latin typeface="Calibri" panose="020F0502020204030204" pitchFamily="34" charset="0"/>
            </a:endParaRPr>
          </a:p>
          <a:p>
            <a:pPr marL="457200" indent="-457200">
              <a:buFont typeface="Arial" panose="020B0604020202020204" pitchFamily="34" charset="0"/>
              <a:buChar char="•"/>
            </a:pPr>
            <a:r>
              <a:rPr lang="en-GB" sz="2400" b="0" dirty="0">
                <a:solidFill>
                  <a:schemeClr val="tx1"/>
                </a:solidFill>
                <a:latin typeface="Calibri" panose="020F0502020204030204" pitchFamily="34" charset="0"/>
                <a:hlinkClick r:id="rId3">
                  <a:extLst>
                    <a:ext uri="{A12FA001-AC4F-418D-AE19-62706E023703}">
                      <ahyp:hlinkClr xmlns:ahyp="http://schemas.microsoft.com/office/drawing/2018/hyperlinkcolor" val="tx"/>
                    </a:ext>
                  </a:extLst>
                </a:hlinkClick>
              </a:rPr>
              <a:t>Directive (EU) 2023/2413 </a:t>
            </a:r>
            <a:r>
              <a:rPr lang="en-GB" sz="2400" b="0" dirty="0">
                <a:solidFill>
                  <a:schemeClr val="tx1"/>
                </a:solidFill>
                <a:latin typeface="Calibri" panose="020F0502020204030204" pitchFamily="34" charset="0"/>
              </a:rPr>
              <a:t>on the promotion of the use of energy from renewable sources (RED III)</a:t>
            </a:r>
          </a:p>
          <a:p>
            <a:endParaRPr lang="en-GB" sz="1600" dirty="0">
              <a:solidFill>
                <a:schemeClr val="tx1"/>
              </a:solidFill>
              <a:latin typeface="Calibri" panose="020F0502020204030204" pitchFamily="34" charset="0"/>
            </a:endParaRPr>
          </a:p>
          <a:p>
            <a:pPr marL="457200" indent="-457200">
              <a:buFont typeface="Arial" panose="020B0604020202020204" pitchFamily="34" charset="0"/>
              <a:buChar char="•"/>
            </a:pPr>
            <a:r>
              <a:rPr lang="en-US" sz="2400" b="0" dirty="0">
                <a:solidFill>
                  <a:schemeClr val="tx1"/>
                </a:solidFill>
                <a:latin typeface="Calibri" panose="020F0502020204030204" pitchFamily="34" charset="0"/>
                <a:hlinkClick r:id="rId4">
                  <a:extLst>
                    <a:ext uri="{A12FA001-AC4F-418D-AE19-62706E023703}">
                      <ahyp:hlinkClr xmlns:ahyp="http://schemas.microsoft.com/office/drawing/2018/hyperlinkcolor" val="tx"/>
                    </a:ext>
                  </a:extLst>
                </a:hlinkClick>
              </a:rPr>
              <a:t>Directive (EU) 2023/1791 </a:t>
            </a:r>
            <a:r>
              <a:rPr lang="en-US" sz="2400" b="0" dirty="0">
                <a:solidFill>
                  <a:schemeClr val="tx1"/>
                </a:solidFill>
                <a:latin typeface="Calibri" panose="020F0502020204030204" pitchFamily="34" charset="0"/>
              </a:rPr>
              <a:t>on energy efficiency</a:t>
            </a:r>
          </a:p>
          <a:p>
            <a:pPr marL="342900" indent="-342900">
              <a:buFont typeface="Arial" panose="020B0604020202020204" pitchFamily="34" charset="0"/>
              <a:buChar char="•"/>
            </a:pPr>
            <a:endParaRPr lang="en-US" sz="1600" b="0" dirty="0">
              <a:solidFill>
                <a:schemeClr val="tx1"/>
              </a:solidFill>
              <a:latin typeface="Calibri" panose="020F0502020204030204" pitchFamily="34" charset="0"/>
            </a:endParaRPr>
          </a:p>
          <a:p>
            <a:pPr marL="457200" indent="-457200">
              <a:buFont typeface="Arial" panose="020B0604020202020204" pitchFamily="34" charset="0"/>
              <a:buChar char="•"/>
            </a:pPr>
            <a:r>
              <a:rPr lang="en-US" sz="2400" b="0" dirty="0">
                <a:solidFill>
                  <a:schemeClr val="tx1"/>
                </a:solidFill>
                <a:latin typeface="Calibri" panose="020F0502020204030204" pitchFamily="34" charset="0"/>
                <a:hlinkClick r:id="rId5">
                  <a:extLst>
                    <a:ext uri="{A12FA001-AC4F-418D-AE19-62706E023703}">
                      <ahyp:hlinkClr xmlns:ahyp="http://schemas.microsoft.com/office/drawing/2018/hyperlinkcolor" val="tx"/>
                    </a:ext>
                  </a:extLst>
                </a:hlinkClick>
              </a:rPr>
              <a:t>Council Regulation (EU) 2023/706 </a:t>
            </a:r>
            <a:r>
              <a:rPr lang="en-US" sz="2400" b="0" dirty="0">
                <a:solidFill>
                  <a:schemeClr val="tx1"/>
                </a:solidFill>
                <a:latin typeface="Calibri" panose="020F0502020204030204" pitchFamily="34" charset="0"/>
              </a:rPr>
              <a:t>amending Regulation (EU) 2022/1369 on gas demand-reduction</a:t>
            </a:r>
          </a:p>
          <a:p>
            <a:pPr marL="457200" indent="-457200">
              <a:buFont typeface="Arial" panose="020B0604020202020204" pitchFamily="34" charset="0"/>
              <a:buChar char="•"/>
            </a:pPr>
            <a:endParaRPr lang="en-US" sz="1600" b="0" dirty="0">
              <a:solidFill>
                <a:schemeClr val="tx1"/>
              </a:solidFill>
              <a:latin typeface="Calibri" panose="020F0502020204030204" pitchFamily="34" charset="0"/>
            </a:endParaRPr>
          </a:p>
          <a:p>
            <a:pPr marL="457200" indent="-457200">
              <a:buFont typeface="Arial" panose="020B0604020202020204" pitchFamily="34" charset="0"/>
              <a:buChar char="•"/>
            </a:pPr>
            <a:r>
              <a:rPr lang="en-US" sz="2400" b="0" dirty="0">
                <a:solidFill>
                  <a:schemeClr val="tx1"/>
                </a:solidFill>
                <a:latin typeface="Calibri" panose="020F0502020204030204" pitchFamily="34" charset="0"/>
                <a:hlinkClick r:id="rId6">
                  <a:extLst>
                    <a:ext uri="{A12FA001-AC4F-418D-AE19-62706E023703}">
                      <ahyp:hlinkClr xmlns:ahyp="http://schemas.microsoft.com/office/drawing/2018/hyperlinkcolor" val="tx"/>
                    </a:ext>
                  </a:extLst>
                </a:hlinkClick>
              </a:rPr>
              <a:t>Council Directive 2009/119/EC </a:t>
            </a:r>
            <a:r>
              <a:rPr lang="en-US" sz="2400" b="0" dirty="0">
                <a:solidFill>
                  <a:schemeClr val="tx1"/>
                </a:solidFill>
                <a:latin typeface="Calibri" panose="020F0502020204030204" pitchFamily="34" charset="0"/>
              </a:rPr>
              <a:t>imposing an obligation on member states to maintain minimum stocks of crude oil and/or petroleum products</a:t>
            </a:r>
          </a:p>
          <a:p>
            <a:pPr marL="457200" indent="-457200">
              <a:buFont typeface="Arial" panose="020B0604020202020204" pitchFamily="34" charset="0"/>
              <a:buChar char="•"/>
            </a:pPr>
            <a:endParaRPr lang="en-US" sz="1600" b="0" dirty="0">
              <a:solidFill>
                <a:schemeClr val="tx1"/>
              </a:solidFill>
              <a:latin typeface="Calibri" panose="020F0502020204030204" pitchFamily="34" charset="0"/>
            </a:endParaRPr>
          </a:p>
        </p:txBody>
      </p:sp>
    </p:spTree>
    <p:extLst>
      <p:ext uri="{BB962C8B-B14F-4D97-AF65-F5344CB8AC3E}">
        <p14:creationId xmlns:p14="http://schemas.microsoft.com/office/powerpoint/2010/main" val="1760666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F50D8-98B9-C9AE-D196-C1BA7CC02105}"/>
              </a:ext>
            </a:extLst>
          </p:cNvPr>
          <p:cNvSpPr>
            <a:spLocks noGrp="1"/>
          </p:cNvSpPr>
          <p:nvPr>
            <p:ph type="title"/>
          </p:nvPr>
        </p:nvSpPr>
        <p:spPr/>
        <p:txBody>
          <a:bodyPr/>
          <a:lstStyle/>
          <a:p>
            <a:r>
              <a:rPr lang="en-IE" dirty="0"/>
              <a:t>Annual data</a:t>
            </a:r>
            <a:endParaRPr lang="en-GB" dirty="0"/>
          </a:p>
        </p:txBody>
      </p:sp>
      <p:sp>
        <p:nvSpPr>
          <p:cNvPr id="3" name="Content Placeholder 2">
            <a:extLst>
              <a:ext uri="{FF2B5EF4-FFF2-40B4-BE49-F238E27FC236}">
                <a16:creationId xmlns:a16="http://schemas.microsoft.com/office/drawing/2014/main" id="{406474FA-E70A-0EED-4F0E-EFC30F2335A2}"/>
              </a:ext>
            </a:extLst>
          </p:cNvPr>
          <p:cNvSpPr>
            <a:spLocks noGrp="1"/>
          </p:cNvSpPr>
          <p:nvPr>
            <p:ph idx="1"/>
          </p:nvPr>
        </p:nvSpPr>
        <p:spPr>
          <a:xfrm>
            <a:off x="838200" y="1053258"/>
            <a:ext cx="10515600" cy="5040038"/>
          </a:xfrm>
        </p:spPr>
        <p:txBody>
          <a:bodyPr/>
          <a:lstStyle/>
          <a:p>
            <a:r>
              <a:rPr lang="en-US" dirty="0"/>
              <a:t>The annual </a:t>
            </a:r>
            <a:r>
              <a:rPr lang="en-US" b="1" dirty="0"/>
              <a:t>Energy Balances </a:t>
            </a:r>
            <a:r>
              <a:rPr lang="en-US" dirty="0"/>
              <a:t>of the Member States and </a:t>
            </a:r>
            <a:r>
              <a:rPr lang="en-US" dirty="0" err="1"/>
              <a:t>EnC</a:t>
            </a:r>
            <a:r>
              <a:rPr lang="en-US" dirty="0"/>
              <a:t> contracting parties and the EU are the key output of this data collection. </a:t>
            </a:r>
          </a:p>
          <a:p>
            <a:r>
              <a:rPr lang="en-US" dirty="0"/>
              <a:t>Together with the SHARES tool, energy balances (used for </a:t>
            </a:r>
            <a:r>
              <a:rPr lang="en-US" b="1" dirty="0"/>
              <a:t>Annex XVI, Table 9</a:t>
            </a:r>
            <a:r>
              <a:rPr lang="en-US" dirty="0"/>
              <a:t>)  provide valuable information on the structure of the energy systems across the EU; allow monitoring of major EU and national energy policies and targets (energy dependency, penetration of renewable energy sources, energy efficiency) while it contributes significantly to assess the carbon dioxide annual emission inventories. </a:t>
            </a:r>
            <a:endParaRPr lang="en-GB" dirty="0"/>
          </a:p>
        </p:txBody>
      </p:sp>
      <p:sp>
        <p:nvSpPr>
          <p:cNvPr id="4" name="Slide Number Placeholder 3">
            <a:extLst>
              <a:ext uri="{FF2B5EF4-FFF2-40B4-BE49-F238E27FC236}">
                <a16:creationId xmlns:a16="http://schemas.microsoft.com/office/drawing/2014/main" id="{A4E38CD2-3991-16E3-56A9-22774A7FB24E}"/>
              </a:ext>
            </a:extLst>
          </p:cNvPr>
          <p:cNvSpPr>
            <a:spLocks noGrp="1"/>
          </p:cNvSpPr>
          <p:nvPr>
            <p:ph type="sldNum" sz="quarter" idx="12"/>
          </p:nvPr>
        </p:nvSpPr>
        <p:spPr/>
        <p:txBody>
          <a:bodyPr/>
          <a:lstStyle/>
          <a:p>
            <a:pPr>
              <a:defRPr/>
            </a:pPr>
            <a:fld id="{F0AB6783-A622-483D-9EED-1F5D137ACBE7}" type="slidenum">
              <a:rPr lang="en-GB" smtClean="0">
                <a:solidFill>
                  <a:srgbClr val="000000"/>
                </a:solidFill>
              </a:rPr>
              <a:pPr>
                <a:defRPr/>
              </a:pPr>
              <a:t>6</a:t>
            </a:fld>
            <a:endParaRPr lang="en-GB" dirty="0">
              <a:solidFill>
                <a:srgbClr val="000000"/>
              </a:solidFill>
            </a:endParaRPr>
          </a:p>
        </p:txBody>
      </p:sp>
    </p:spTree>
    <p:extLst>
      <p:ext uri="{BB962C8B-B14F-4D97-AF65-F5344CB8AC3E}">
        <p14:creationId xmlns:p14="http://schemas.microsoft.com/office/powerpoint/2010/main" val="482295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F0AB6783-A622-483D-9EED-1F5D137ACBE7}" type="slidenum">
              <a:rPr lang="en-GB" smtClean="0">
                <a:solidFill>
                  <a:srgbClr val="000000"/>
                </a:solidFill>
              </a:rPr>
              <a:pPr>
                <a:defRPr/>
              </a:pPr>
              <a:t>7</a:t>
            </a:fld>
            <a:endParaRPr lang="en-GB" dirty="0">
              <a:solidFill>
                <a:srgbClr val="000000"/>
              </a:solidFill>
            </a:endParaRPr>
          </a:p>
        </p:txBody>
      </p:sp>
      <p:sp>
        <p:nvSpPr>
          <p:cNvPr id="3" name="Rectangle 2"/>
          <p:cNvSpPr/>
          <p:nvPr/>
        </p:nvSpPr>
        <p:spPr>
          <a:xfrm>
            <a:off x="1343472" y="361589"/>
            <a:ext cx="4965888" cy="584775"/>
          </a:xfrm>
          <a:prstGeom prst="rect">
            <a:avLst/>
          </a:prstGeom>
        </p:spPr>
        <p:txBody>
          <a:bodyPr wrap="square">
            <a:spAutoFit/>
          </a:bodyPr>
          <a:lstStyle/>
          <a:p>
            <a:r>
              <a:rPr lang="en-GB" sz="3200" dirty="0">
                <a:hlinkClick r:id="rId3"/>
              </a:rPr>
              <a:t>Eurostat’s energy website</a:t>
            </a:r>
            <a:endParaRPr lang="en-GB" sz="3000" dirty="0"/>
          </a:p>
        </p:txBody>
      </p:sp>
      <p:pic>
        <p:nvPicPr>
          <p:cNvPr id="6" name="Picture 5">
            <a:extLst>
              <a:ext uri="{FF2B5EF4-FFF2-40B4-BE49-F238E27FC236}">
                <a16:creationId xmlns:a16="http://schemas.microsoft.com/office/drawing/2014/main" id="{0EB90260-B020-17B9-3F93-2A330654EFE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7600" y="946364"/>
            <a:ext cx="8804524" cy="5686856"/>
          </a:xfrm>
          <a:prstGeom prst="rect">
            <a:avLst/>
          </a:prstGeom>
        </p:spPr>
      </p:pic>
      <p:sp>
        <p:nvSpPr>
          <p:cNvPr id="7" name="Left Brace 6">
            <a:extLst>
              <a:ext uri="{FF2B5EF4-FFF2-40B4-BE49-F238E27FC236}">
                <a16:creationId xmlns:a16="http://schemas.microsoft.com/office/drawing/2014/main" id="{579ACCF7-E6B2-FFB2-4C1B-49EADC2B9C9C}"/>
              </a:ext>
            </a:extLst>
          </p:cNvPr>
          <p:cNvSpPr/>
          <p:nvPr/>
        </p:nvSpPr>
        <p:spPr>
          <a:xfrm>
            <a:off x="2966720" y="3429000"/>
            <a:ext cx="468000" cy="2240280"/>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1890893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5440" y="1456481"/>
            <a:ext cx="10441160" cy="1370901"/>
          </a:xfrm>
        </p:spPr>
        <p:txBody>
          <a:bodyPr/>
          <a:lstStyle/>
          <a:p>
            <a:pPr algn="ctr">
              <a:spcBef>
                <a:spcPts val="0"/>
              </a:spcBef>
              <a:spcAft>
                <a:spcPts val="1200"/>
              </a:spcAft>
            </a:pPr>
            <a:r>
              <a:rPr lang="en-US" sz="6000" b="1" dirty="0">
                <a:latin typeface="Calibri" panose="020F0502020204030204" pitchFamily="34" charset="0"/>
              </a:rPr>
              <a:t>Renewable energy statistics</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0090" y="2811561"/>
            <a:ext cx="5671819" cy="3784167"/>
          </a:xfrm>
          <a:prstGeom prst="rect">
            <a:avLst/>
          </a:prstGeom>
        </p:spPr>
      </p:pic>
    </p:spTree>
    <p:extLst>
      <p:ext uri="{BB962C8B-B14F-4D97-AF65-F5344CB8AC3E}">
        <p14:creationId xmlns:p14="http://schemas.microsoft.com/office/powerpoint/2010/main" val="2736120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384"/>
            <a:ext cx="9144000" cy="936625"/>
          </a:xfrm>
        </p:spPr>
        <p:txBody>
          <a:bodyPr/>
          <a:lstStyle/>
          <a:p>
            <a:r>
              <a:rPr lang="en-GB" sz="4800" b="1" dirty="0">
                <a:latin typeface="Calibri" panose="020F0502020204030204" pitchFamily="34" charset="0"/>
              </a:rPr>
              <a:t>Renewable energy sources</a:t>
            </a:r>
          </a:p>
        </p:txBody>
      </p:sp>
      <p:sp>
        <p:nvSpPr>
          <p:cNvPr id="3" name="Content Placeholder 2"/>
          <p:cNvSpPr>
            <a:spLocks noGrp="1"/>
          </p:cNvSpPr>
          <p:nvPr>
            <p:ph idx="1"/>
          </p:nvPr>
        </p:nvSpPr>
        <p:spPr>
          <a:xfrm>
            <a:off x="1667508" y="1035968"/>
            <a:ext cx="8856984" cy="4392488"/>
          </a:xfrm>
        </p:spPr>
        <p:txBody>
          <a:bodyPr numCol="2"/>
          <a:lstStyle/>
          <a:p>
            <a:r>
              <a:rPr lang="en-US" sz="2800" dirty="0">
                <a:latin typeface="Calibri" panose="020F0502020204030204" pitchFamily="34" charset="0"/>
              </a:rPr>
              <a:t>Hydro</a:t>
            </a:r>
          </a:p>
          <a:p>
            <a:r>
              <a:rPr lang="en-US" sz="2800" dirty="0">
                <a:latin typeface="Calibri" panose="020F0502020204030204" pitchFamily="34" charset="0"/>
              </a:rPr>
              <a:t>Geothermal</a:t>
            </a:r>
          </a:p>
          <a:p>
            <a:r>
              <a:rPr lang="en-US" sz="2800" dirty="0">
                <a:latin typeface="Calibri" panose="020F0502020204030204" pitchFamily="34" charset="0"/>
              </a:rPr>
              <a:t>Solar photovoltaic</a:t>
            </a:r>
          </a:p>
          <a:p>
            <a:r>
              <a:rPr lang="en-US" sz="2800" dirty="0">
                <a:latin typeface="Calibri" panose="020F0502020204030204" pitchFamily="34" charset="0"/>
              </a:rPr>
              <a:t>Solar thermal</a:t>
            </a:r>
          </a:p>
          <a:p>
            <a:r>
              <a:rPr lang="en-US" sz="2800" dirty="0">
                <a:latin typeface="Calibri" panose="020F0502020204030204" pitchFamily="34" charset="0"/>
              </a:rPr>
              <a:t>Ambient heat (heat pumps)</a:t>
            </a:r>
          </a:p>
          <a:p>
            <a:r>
              <a:rPr lang="en-US" sz="2800" dirty="0">
                <a:latin typeface="Calibri" panose="020F0502020204030204" pitchFamily="34" charset="0"/>
              </a:rPr>
              <a:t>Tide, wave and ocean</a:t>
            </a:r>
          </a:p>
          <a:p>
            <a:r>
              <a:rPr lang="en-US" sz="2800" dirty="0">
                <a:latin typeface="Calibri" panose="020F0502020204030204" pitchFamily="34" charset="0"/>
              </a:rPr>
              <a:t>Wind</a:t>
            </a:r>
          </a:p>
          <a:p>
            <a:r>
              <a:rPr lang="en-US" sz="2800" dirty="0">
                <a:latin typeface="Calibri" panose="020F0502020204030204" pitchFamily="34" charset="0"/>
              </a:rPr>
              <a:t>Industrial waste</a:t>
            </a:r>
          </a:p>
          <a:p>
            <a:r>
              <a:rPr lang="en-US" sz="2800" dirty="0">
                <a:latin typeface="Calibri" panose="020F0502020204030204" pitchFamily="34" charset="0"/>
              </a:rPr>
              <a:t>Municipal waste</a:t>
            </a:r>
          </a:p>
          <a:p>
            <a:r>
              <a:rPr lang="en-US" sz="2800" dirty="0">
                <a:latin typeface="Calibri" panose="020F0502020204030204" pitchFamily="34" charset="0"/>
              </a:rPr>
              <a:t>Solid biofuels</a:t>
            </a:r>
          </a:p>
          <a:p>
            <a:r>
              <a:rPr lang="en-US" sz="2800" dirty="0">
                <a:latin typeface="Calibri" panose="020F0502020204030204" pitchFamily="34" charset="0"/>
              </a:rPr>
              <a:t>Biogases</a:t>
            </a:r>
          </a:p>
          <a:p>
            <a:r>
              <a:rPr lang="en-US" sz="2800" dirty="0">
                <a:latin typeface="Calibri" panose="020F0502020204030204" pitchFamily="34" charset="0"/>
              </a:rPr>
              <a:t>Biodiesels</a:t>
            </a:r>
          </a:p>
          <a:p>
            <a:r>
              <a:rPr lang="en-US" sz="2800" dirty="0" err="1">
                <a:latin typeface="Calibri" panose="020F0502020204030204" pitchFamily="34" charset="0"/>
              </a:rPr>
              <a:t>Biogasolines</a:t>
            </a:r>
            <a:endParaRPr lang="en-US" sz="2800" dirty="0">
              <a:latin typeface="Calibri" panose="020F0502020204030204" pitchFamily="34" charset="0"/>
            </a:endParaRPr>
          </a:p>
          <a:p>
            <a:r>
              <a:rPr lang="en-US" sz="2800" dirty="0">
                <a:latin typeface="Calibri" panose="020F0502020204030204" pitchFamily="34" charset="0"/>
              </a:rPr>
              <a:t>Other liquid biofuels</a:t>
            </a:r>
          </a:p>
          <a:p>
            <a:pPr marL="0" indent="0">
              <a:buNone/>
            </a:pPr>
            <a:endParaRPr lang="en-US" sz="2800" u="sng" dirty="0">
              <a:effectLst>
                <a:outerShdw blurRad="38100" dist="38100" dir="2700000" algn="tl">
                  <a:srgbClr val="000000">
                    <a:alpha val="43137"/>
                  </a:srgbClr>
                </a:outerShdw>
              </a:effectLst>
              <a:latin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F0AB6783-A622-483D-9EED-1F5D137ACBE7}" type="slidenum">
              <a:rPr lang="en-GB" smtClean="0">
                <a:solidFill>
                  <a:srgbClr val="000000"/>
                </a:solidFill>
                <a:latin typeface="Calibri" panose="020F0502020204030204" pitchFamily="34" charset="0"/>
              </a:rPr>
              <a:pPr>
                <a:defRPr/>
              </a:pPr>
              <a:t>9</a:t>
            </a:fld>
            <a:endParaRPr lang="en-GB" dirty="0">
              <a:solidFill>
                <a:srgbClr val="000000"/>
              </a:solidFill>
              <a:latin typeface="Calibri" panose="020F0502020204030204" pitchFamily="34" charset="0"/>
            </a:endParaRP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6100" y="4808130"/>
            <a:ext cx="3907532" cy="1943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46036514"/>
      </p:ext>
    </p:extLst>
  </p:cSld>
  <p:clrMapOvr>
    <a:masterClrMapping/>
  </p:clrMapOvr>
  <mc:AlternateContent xmlns:mc="http://schemas.openxmlformats.org/markup-compatibility/2006" xmlns:p14="http://schemas.microsoft.com/office/powerpoint/2010/main">
    <mc:Choice Requires="p14">
      <p:transition>
        <p14:flythrough/>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Picture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15880" y="3535345"/>
            <a:ext cx="5464080" cy="29894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1524000" y="-27384"/>
            <a:ext cx="9144000" cy="936625"/>
          </a:xfrm>
        </p:spPr>
        <p:txBody>
          <a:bodyPr/>
          <a:lstStyle/>
          <a:p>
            <a:r>
              <a:rPr lang="en-GB" sz="4800" dirty="0">
                <a:latin typeface="Calibri" panose="020F0502020204030204" pitchFamily="34" charset="0"/>
              </a:rPr>
              <a:t>General structure: flows</a:t>
            </a:r>
          </a:p>
        </p:txBody>
      </p:sp>
      <p:sp>
        <p:nvSpPr>
          <p:cNvPr id="3" name="Content Placeholder 2"/>
          <p:cNvSpPr>
            <a:spLocks noGrp="1"/>
          </p:cNvSpPr>
          <p:nvPr>
            <p:ph idx="1"/>
          </p:nvPr>
        </p:nvSpPr>
        <p:spPr>
          <a:xfrm>
            <a:off x="767408" y="1052736"/>
            <a:ext cx="9900592" cy="5328592"/>
          </a:xfrm>
        </p:spPr>
        <p:txBody>
          <a:bodyPr numCol="2"/>
          <a:lstStyle/>
          <a:p>
            <a:pPr>
              <a:spcAft>
                <a:spcPts val="600"/>
              </a:spcAft>
            </a:pPr>
            <a:r>
              <a:rPr lang="en-US" sz="2400" dirty="0">
                <a:latin typeface="Calibri" panose="020F0502020204030204" pitchFamily="34" charset="0"/>
              </a:rPr>
              <a:t>Indigenous production</a:t>
            </a:r>
          </a:p>
          <a:p>
            <a:pPr>
              <a:spcAft>
                <a:spcPts val="600"/>
              </a:spcAft>
            </a:pPr>
            <a:r>
              <a:rPr lang="en-US" sz="2400" dirty="0">
                <a:latin typeface="Calibri" panose="020F0502020204030204" pitchFamily="34" charset="0"/>
              </a:rPr>
              <a:t>Imports </a:t>
            </a:r>
          </a:p>
          <a:p>
            <a:pPr>
              <a:spcAft>
                <a:spcPts val="600"/>
              </a:spcAft>
            </a:pPr>
            <a:r>
              <a:rPr lang="en-US" sz="2400" dirty="0">
                <a:latin typeface="Calibri" panose="020F0502020204030204" pitchFamily="34" charset="0"/>
              </a:rPr>
              <a:t>Exports </a:t>
            </a:r>
          </a:p>
          <a:p>
            <a:pPr>
              <a:spcAft>
                <a:spcPts val="600"/>
              </a:spcAft>
            </a:pPr>
            <a:r>
              <a:rPr lang="en-US" sz="2400" dirty="0">
                <a:latin typeface="Calibri" panose="020F0502020204030204" pitchFamily="34" charset="0"/>
              </a:rPr>
              <a:t>Stock changes </a:t>
            </a:r>
          </a:p>
          <a:p>
            <a:pPr>
              <a:spcAft>
                <a:spcPts val="600"/>
              </a:spcAft>
            </a:pPr>
            <a:r>
              <a:rPr lang="en-US" sz="2400" dirty="0">
                <a:latin typeface="Calibri" panose="020F0502020204030204" pitchFamily="34" charset="0"/>
              </a:rPr>
              <a:t>Inland consumption</a:t>
            </a:r>
          </a:p>
          <a:p>
            <a:pPr>
              <a:spcAft>
                <a:spcPts val="600"/>
              </a:spcAft>
            </a:pPr>
            <a:r>
              <a:rPr lang="en-US" sz="2400" dirty="0">
                <a:latin typeface="Calibri" panose="020F0502020204030204" pitchFamily="34" charset="0"/>
              </a:rPr>
              <a:t>Statistical differences</a:t>
            </a:r>
          </a:p>
          <a:p>
            <a:pPr>
              <a:spcAft>
                <a:spcPts val="600"/>
              </a:spcAft>
            </a:pPr>
            <a:r>
              <a:rPr lang="en-US" sz="2400" dirty="0">
                <a:latin typeface="Calibri" panose="020F0502020204030204" pitchFamily="34" charset="0"/>
              </a:rPr>
              <a:t>Transformation sector</a:t>
            </a:r>
          </a:p>
          <a:p>
            <a:pPr>
              <a:spcAft>
                <a:spcPts val="600"/>
              </a:spcAft>
            </a:pPr>
            <a:r>
              <a:rPr lang="en-US" sz="2400" dirty="0">
                <a:latin typeface="Calibri" panose="020F0502020204030204" pitchFamily="34" charset="0"/>
              </a:rPr>
              <a:t>Energy sector</a:t>
            </a:r>
          </a:p>
          <a:p>
            <a:pPr>
              <a:spcAft>
                <a:spcPts val="600"/>
              </a:spcAft>
            </a:pPr>
            <a:r>
              <a:rPr lang="en-US" sz="2400" dirty="0">
                <a:latin typeface="Calibri" panose="020F0502020204030204" pitchFamily="34" charset="0"/>
              </a:rPr>
              <a:t>Distribution losses</a:t>
            </a:r>
          </a:p>
          <a:p>
            <a:pPr>
              <a:spcAft>
                <a:spcPts val="600"/>
              </a:spcAft>
            </a:pPr>
            <a:r>
              <a:rPr lang="en-US" sz="2400" dirty="0">
                <a:latin typeface="Calibri" panose="020F0502020204030204" pitchFamily="34" charset="0"/>
              </a:rPr>
              <a:t>Final energy consumption</a:t>
            </a:r>
          </a:p>
          <a:p>
            <a:pPr>
              <a:spcAft>
                <a:spcPts val="600"/>
              </a:spcAft>
            </a:pPr>
            <a:r>
              <a:rPr lang="en-US" sz="2400" dirty="0">
                <a:latin typeface="Calibri" panose="020F0502020204030204" pitchFamily="34" charset="0"/>
              </a:rPr>
              <a:t>Industry sector</a:t>
            </a:r>
          </a:p>
          <a:p>
            <a:pPr>
              <a:spcAft>
                <a:spcPts val="600"/>
              </a:spcAft>
            </a:pPr>
            <a:r>
              <a:rPr lang="en-US" sz="2400" dirty="0">
                <a:latin typeface="Calibri" panose="020F0502020204030204" pitchFamily="34" charset="0"/>
              </a:rPr>
              <a:t>Transport sector</a:t>
            </a:r>
          </a:p>
          <a:p>
            <a:pPr>
              <a:spcAft>
                <a:spcPts val="600"/>
              </a:spcAft>
            </a:pPr>
            <a:r>
              <a:rPr lang="en-US" sz="2400" dirty="0">
                <a:latin typeface="Calibri" panose="020F0502020204030204" pitchFamily="34" charset="0"/>
              </a:rPr>
              <a:t>Other sectors</a:t>
            </a:r>
          </a:p>
          <a:p>
            <a:pPr lvl="1">
              <a:spcAft>
                <a:spcPts val="600"/>
              </a:spcAft>
            </a:pPr>
            <a:r>
              <a:rPr lang="en-US" sz="2000" dirty="0">
                <a:latin typeface="Calibri" panose="020F0502020204030204" pitchFamily="34" charset="0"/>
              </a:rPr>
              <a:t>Commercial and public services</a:t>
            </a:r>
          </a:p>
          <a:p>
            <a:pPr lvl="1">
              <a:spcAft>
                <a:spcPts val="600"/>
              </a:spcAft>
            </a:pPr>
            <a:r>
              <a:rPr lang="en-US" sz="2000" dirty="0">
                <a:latin typeface="Calibri" panose="020F0502020204030204" pitchFamily="34" charset="0"/>
              </a:rPr>
              <a:t>Residential</a:t>
            </a:r>
          </a:p>
          <a:p>
            <a:pPr lvl="1">
              <a:spcAft>
                <a:spcPts val="600"/>
              </a:spcAft>
            </a:pPr>
            <a:r>
              <a:rPr lang="en-US" sz="2000" dirty="0">
                <a:latin typeface="Calibri" panose="020F0502020204030204" pitchFamily="34" charset="0"/>
              </a:rPr>
              <a:t>(…)</a:t>
            </a:r>
          </a:p>
        </p:txBody>
      </p:sp>
      <p:sp>
        <p:nvSpPr>
          <p:cNvPr id="4" name="Slide Number Placeholder 3"/>
          <p:cNvSpPr>
            <a:spLocks noGrp="1"/>
          </p:cNvSpPr>
          <p:nvPr>
            <p:ph type="sldNum" sz="quarter" idx="12"/>
          </p:nvPr>
        </p:nvSpPr>
        <p:spPr/>
        <p:txBody>
          <a:bodyPr/>
          <a:lstStyle/>
          <a:p>
            <a:pPr>
              <a:defRPr/>
            </a:pPr>
            <a:fld id="{F0AB6783-A622-483D-9EED-1F5D137ACBE7}" type="slidenum">
              <a:rPr lang="en-GB" smtClean="0">
                <a:solidFill>
                  <a:srgbClr val="000000"/>
                </a:solidFill>
                <a:latin typeface="Calibri" panose="020F0502020204030204" pitchFamily="34" charset="0"/>
              </a:rPr>
              <a:pPr>
                <a:defRPr/>
              </a:pPr>
              <a:t>10</a:t>
            </a:fld>
            <a:endParaRPr lang="en-GB" dirty="0">
              <a:solidFill>
                <a:srgbClr val="000000"/>
              </a:solidFill>
              <a:latin typeface="Calibri" panose="020F0502020204030204" pitchFamily="34" charset="0"/>
            </a:endParaRPr>
          </a:p>
        </p:txBody>
      </p:sp>
    </p:spTree>
    <p:extLst>
      <p:ext uri="{BB962C8B-B14F-4D97-AF65-F5344CB8AC3E}">
        <p14:creationId xmlns:p14="http://schemas.microsoft.com/office/powerpoint/2010/main" val="430572898"/>
      </p:ext>
    </p:extLst>
  </p:cSld>
  <p:clrMapOvr>
    <a:masterClrMapping/>
  </p:clrMapOvr>
  <mc:AlternateContent xmlns:mc="http://schemas.openxmlformats.org/markup-compatibility/2006" xmlns:p14="http://schemas.microsoft.com/office/powerpoint/2010/main">
    <mc:Choice Requires="p14">
      <p:transition>
        <p14:flythrough/>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2351" y="559307"/>
            <a:ext cx="10860833" cy="936625"/>
          </a:xfrm>
        </p:spPr>
        <p:txBody>
          <a:bodyPr/>
          <a:lstStyle/>
          <a:p>
            <a:r>
              <a:rPr lang="en-GB" sz="4800" dirty="0">
                <a:latin typeface="Calibri" panose="020F0502020204030204" pitchFamily="34" charset="0"/>
              </a:rPr>
              <a:t>Infrastructure and capacity</a:t>
            </a:r>
          </a:p>
        </p:txBody>
      </p:sp>
      <p:sp>
        <p:nvSpPr>
          <p:cNvPr id="3" name="Content Placeholder 2"/>
          <p:cNvSpPr>
            <a:spLocks noGrp="1"/>
          </p:cNvSpPr>
          <p:nvPr>
            <p:ph idx="1"/>
          </p:nvPr>
        </p:nvSpPr>
        <p:spPr>
          <a:xfrm>
            <a:off x="979715" y="1670378"/>
            <a:ext cx="9347644" cy="2160240"/>
          </a:xfrm>
        </p:spPr>
        <p:txBody>
          <a:bodyPr numCol="1"/>
          <a:lstStyle/>
          <a:p>
            <a:pPr algn="just"/>
            <a:r>
              <a:rPr lang="en-US" sz="2400" b="1" dirty="0">
                <a:latin typeface="+mj-lt"/>
              </a:rPr>
              <a:t>Net maximum electrical capacity </a:t>
            </a:r>
            <a:r>
              <a:rPr lang="en-US" sz="2400" dirty="0">
                <a:latin typeface="+mj-lt"/>
              </a:rPr>
              <a:t>(MW on 31 December) for Hydro, Geothermal, Solar photovoltaic, Solar thermal, Tide, wave and ocean, Wind, Industrial waste, Municipal waste, Solid biofuels, Biogases, Biodiesels, </a:t>
            </a:r>
            <a:r>
              <a:rPr lang="en-US" sz="2400" dirty="0" err="1">
                <a:latin typeface="+mj-lt"/>
              </a:rPr>
              <a:t>Biogasolines</a:t>
            </a:r>
            <a:r>
              <a:rPr lang="en-US" sz="2400" dirty="0">
                <a:latin typeface="+mj-lt"/>
              </a:rPr>
              <a:t>, Other liquid biofuels</a:t>
            </a:r>
          </a:p>
        </p:txBody>
      </p:sp>
      <p:sp>
        <p:nvSpPr>
          <p:cNvPr id="4" name="Slide Number Placeholder 3"/>
          <p:cNvSpPr>
            <a:spLocks noGrp="1"/>
          </p:cNvSpPr>
          <p:nvPr>
            <p:ph type="sldNum" sz="quarter" idx="12"/>
          </p:nvPr>
        </p:nvSpPr>
        <p:spPr/>
        <p:txBody>
          <a:bodyPr/>
          <a:lstStyle/>
          <a:p>
            <a:pPr>
              <a:defRPr/>
            </a:pPr>
            <a:fld id="{F0AB6783-A622-483D-9EED-1F5D137ACBE7}" type="slidenum">
              <a:rPr lang="en-GB" smtClean="0">
                <a:solidFill>
                  <a:srgbClr val="000000"/>
                </a:solidFill>
                <a:latin typeface="Calibri" panose="020F0502020204030204" pitchFamily="34" charset="0"/>
              </a:rPr>
              <a:pPr>
                <a:defRPr/>
              </a:pPr>
              <a:t>11</a:t>
            </a:fld>
            <a:endParaRPr lang="en-GB" dirty="0">
              <a:solidFill>
                <a:srgbClr val="000000"/>
              </a:solidFill>
              <a:latin typeface="Calibri" panose="020F0502020204030204" pitchFamily="34" charset="0"/>
            </a:endParaRPr>
          </a:p>
        </p:txBody>
      </p:sp>
      <p:pic>
        <p:nvPicPr>
          <p:cNvPr id="7169"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00256" y="3830212"/>
            <a:ext cx="2267744" cy="22677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958484" y="4158964"/>
            <a:ext cx="7348533" cy="1938992"/>
          </a:xfrm>
          <a:prstGeom prst="rect">
            <a:avLst/>
          </a:prstGeom>
          <a:noFill/>
        </p:spPr>
        <p:txBody>
          <a:bodyPr wrap="square" rtlCol="0">
            <a:spAutoFit/>
          </a:bodyPr>
          <a:lstStyle/>
          <a:p>
            <a:pPr marL="342900" indent="-342900" algn="just">
              <a:spcBef>
                <a:spcPct val="20000"/>
              </a:spcBef>
              <a:buClr>
                <a:srgbClr val="000066"/>
              </a:buClr>
              <a:buFont typeface="Wingdings" panose="05000000000000000000" pitchFamily="2" charset="2"/>
              <a:buChar char="Ø"/>
            </a:pPr>
            <a:r>
              <a:rPr lang="en-US" sz="2400" b="0" dirty="0">
                <a:solidFill>
                  <a:schemeClr val="tx1"/>
                </a:solidFill>
                <a:latin typeface="+mj-lt"/>
              </a:rPr>
              <a:t>Solar collectors surface (1000 m2) for production of solar thermal heat (glazed and unglazed collectors, flat-plate and vacuum tube with a liquid or air as the energy carrier). </a:t>
            </a:r>
          </a:p>
        </p:txBody>
      </p:sp>
    </p:spTree>
    <p:extLst>
      <p:ext uri="{BB962C8B-B14F-4D97-AF65-F5344CB8AC3E}">
        <p14:creationId xmlns:p14="http://schemas.microsoft.com/office/powerpoint/2010/main" val="1372297983"/>
      </p:ext>
    </p:extLst>
  </p:cSld>
  <p:clrMapOvr>
    <a:masterClrMapping/>
  </p:clrMapOvr>
  <mc:AlternateContent xmlns:mc="http://schemas.openxmlformats.org/markup-compatibility/2006" xmlns:p14="http://schemas.microsoft.com/office/powerpoint/2010/main">
    <mc:Choice Requires="p14">
      <p:transition>
        <p14:flythrough/>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577368"/>
            <a:ext cx="9144000" cy="936625"/>
          </a:xfrm>
        </p:spPr>
        <p:txBody>
          <a:bodyPr/>
          <a:lstStyle/>
          <a:p>
            <a:r>
              <a:rPr lang="en-GB" sz="4800" dirty="0">
                <a:latin typeface="Calibri" panose="020F0502020204030204" pitchFamily="34" charset="0"/>
              </a:rPr>
              <a:t>General structure: infrastructure and capacity tables</a:t>
            </a:r>
          </a:p>
        </p:txBody>
      </p:sp>
      <p:sp>
        <p:nvSpPr>
          <p:cNvPr id="4" name="Slide Number Placeholder 3"/>
          <p:cNvSpPr>
            <a:spLocks noGrp="1"/>
          </p:cNvSpPr>
          <p:nvPr>
            <p:ph type="sldNum" sz="quarter" idx="12"/>
          </p:nvPr>
        </p:nvSpPr>
        <p:spPr/>
        <p:txBody>
          <a:bodyPr/>
          <a:lstStyle/>
          <a:p>
            <a:pPr>
              <a:defRPr/>
            </a:pPr>
            <a:fld id="{F0AB6783-A622-483D-9EED-1F5D137ACBE7}" type="slidenum">
              <a:rPr lang="en-GB" smtClean="0">
                <a:solidFill>
                  <a:srgbClr val="000000"/>
                </a:solidFill>
                <a:latin typeface="Calibri" panose="020F0502020204030204" pitchFamily="34" charset="0"/>
              </a:rPr>
              <a:pPr>
                <a:defRPr/>
              </a:pPr>
              <a:t>12</a:t>
            </a:fld>
            <a:endParaRPr lang="en-GB" dirty="0">
              <a:solidFill>
                <a:srgbClr val="000000"/>
              </a:solidFill>
              <a:latin typeface="Calibri" panose="020F0502020204030204" pitchFamily="34" charset="0"/>
            </a:endParaRPr>
          </a:p>
        </p:txBody>
      </p:sp>
      <p:pic>
        <p:nvPicPr>
          <p:cNvPr id="7169"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3064" y="4150851"/>
            <a:ext cx="2267744" cy="22677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1808420" y="1772817"/>
            <a:ext cx="8680068" cy="3908762"/>
          </a:xfrm>
          <a:prstGeom prst="rect">
            <a:avLst/>
          </a:prstGeom>
          <a:noFill/>
        </p:spPr>
        <p:txBody>
          <a:bodyPr wrap="square" rtlCol="0">
            <a:spAutoFit/>
          </a:bodyPr>
          <a:lstStyle/>
          <a:p>
            <a:pPr marL="342900" indent="-342900" algn="just">
              <a:spcBef>
                <a:spcPct val="20000"/>
              </a:spcBef>
              <a:buClr>
                <a:srgbClr val="000066"/>
              </a:buClr>
              <a:buFont typeface="Wingdings" panose="05000000000000000000" pitchFamily="2" charset="2"/>
              <a:buChar char="Ø"/>
            </a:pPr>
            <a:r>
              <a:rPr lang="en-US" sz="2800" b="0" dirty="0">
                <a:solidFill>
                  <a:schemeClr val="tx1"/>
                </a:solidFill>
                <a:latin typeface="+mj-lt"/>
              </a:rPr>
              <a:t>Liquid biofuels average net calorific value (kJ/kg)</a:t>
            </a:r>
          </a:p>
          <a:p>
            <a:pPr algn="just">
              <a:spcBef>
                <a:spcPct val="20000"/>
              </a:spcBef>
              <a:buClr>
                <a:srgbClr val="000066"/>
              </a:buClr>
            </a:pPr>
            <a:endParaRPr lang="en-US" sz="2800" b="0" dirty="0">
              <a:solidFill>
                <a:schemeClr val="tx1"/>
              </a:solidFill>
              <a:latin typeface="+mj-lt"/>
            </a:endParaRPr>
          </a:p>
          <a:p>
            <a:pPr marL="342900" indent="-342900" algn="just">
              <a:spcBef>
                <a:spcPct val="20000"/>
              </a:spcBef>
              <a:buClr>
                <a:srgbClr val="000066"/>
              </a:buClr>
              <a:buFont typeface="Wingdings" panose="05000000000000000000" pitchFamily="2" charset="2"/>
              <a:buChar char="Ø"/>
            </a:pPr>
            <a:r>
              <a:rPr lang="en-US" sz="2800" b="0" dirty="0">
                <a:solidFill>
                  <a:schemeClr val="tx1"/>
                </a:solidFill>
                <a:latin typeface="+mj-lt"/>
              </a:rPr>
              <a:t>Charcoal average net calorific value (kJ/kg)</a:t>
            </a:r>
          </a:p>
          <a:p>
            <a:pPr marL="342900" indent="-342900" algn="just">
              <a:spcBef>
                <a:spcPct val="20000"/>
              </a:spcBef>
              <a:buClr>
                <a:srgbClr val="000066"/>
              </a:buClr>
              <a:buFont typeface="Wingdings" panose="05000000000000000000" pitchFamily="2" charset="2"/>
              <a:buChar char="Ø"/>
            </a:pPr>
            <a:endParaRPr lang="en-US" sz="2800" b="0" dirty="0">
              <a:solidFill>
                <a:schemeClr val="tx1"/>
              </a:solidFill>
              <a:latin typeface="+mj-lt"/>
            </a:endParaRPr>
          </a:p>
          <a:p>
            <a:pPr marL="342900" indent="-342900" algn="just">
              <a:spcBef>
                <a:spcPct val="20000"/>
              </a:spcBef>
              <a:buClr>
                <a:srgbClr val="000066"/>
              </a:buClr>
              <a:buFont typeface="Wingdings" panose="05000000000000000000" pitchFamily="2" charset="2"/>
              <a:buChar char="Ø"/>
            </a:pPr>
            <a:r>
              <a:rPr lang="en-US" sz="2800" b="0" dirty="0">
                <a:solidFill>
                  <a:schemeClr val="tx1"/>
                </a:solidFill>
                <a:latin typeface="+mj-lt"/>
              </a:rPr>
              <a:t>Liquid biofuels densities (kg/l)</a:t>
            </a:r>
          </a:p>
          <a:p>
            <a:pPr algn="just">
              <a:spcBef>
                <a:spcPct val="20000"/>
              </a:spcBef>
              <a:buClr>
                <a:srgbClr val="000066"/>
              </a:buClr>
            </a:pPr>
            <a:endParaRPr lang="en-US" sz="2800" dirty="0">
              <a:latin typeface="+mj-lt"/>
            </a:endParaRPr>
          </a:p>
          <a:p>
            <a:endParaRPr lang="en-GB" sz="2400" dirty="0" err="1">
              <a:solidFill>
                <a:srgbClr val="0F5494"/>
              </a:solidFill>
            </a:endParaRPr>
          </a:p>
        </p:txBody>
      </p:sp>
    </p:spTree>
    <p:extLst>
      <p:ext uri="{BB962C8B-B14F-4D97-AF65-F5344CB8AC3E}">
        <p14:creationId xmlns:p14="http://schemas.microsoft.com/office/powerpoint/2010/main" val="3598224970"/>
      </p:ext>
    </p:extLst>
  </p:cSld>
  <p:clrMapOvr>
    <a:masterClrMapping/>
  </p:clrMapOvr>
  <mc:AlternateContent xmlns:mc="http://schemas.openxmlformats.org/markup-compatibility/2006" xmlns:p14="http://schemas.microsoft.com/office/powerpoint/2010/main">
    <mc:Choice Requires="p14">
      <p:transition>
        <p14:flythrough/>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376" y="332656"/>
            <a:ext cx="3587755" cy="782357"/>
          </a:xfrm>
        </p:spPr>
        <p:txBody>
          <a:bodyPr/>
          <a:lstStyle/>
          <a:p>
            <a:r>
              <a:rPr lang="en-IE" dirty="0">
                <a:hlinkClick r:id="rId3"/>
              </a:rPr>
              <a:t>Database</a:t>
            </a:r>
            <a:endParaRPr lang="en-GB" dirty="0"/>
          </a:p>
        </p:txBody>
      </p:sp>
      <p:sp>
        <p:nvSpPr>
          <p:cNvPr id="4" name="Slide Number Placeholder 3"/>
          <p:cNvSpPr>
            <a:spLocks noGrp="1"/>
          </p:cNvSpPr>
          <p:nvPr>
            <p:ph type="sldNum" sz="quarter" idx="12"/>
          </p:nvPr>
        </p:nvSpPr>
        <p:spPr/>
        <p:txBody>
          <a:bodyPr/>
          <a:lstStyle/>
          <a:p>
            <a:pPr>
              <a:defRPr/>
            </a:pPr>
            <a:fld id="{F0AB6783-A622-483D-9EED-1F5D137ACBE7}" type="slidenum">
              <a:rPr lang="en-GB" smtClean="0">
                <a:solidFill>
                  <a:srgbClr val="000000"/>
                </a:solidFill>
              </a:rPr>
              <a:pPr>
                <a:defRPr/>
              </a:pPr>
              <a:t>13</a:t>
            </a:fld>
            <a:endParaRPr lang="en-GB" dirty="0">
              <a:solidFill>
                <a:srgbClr val="000000"/>
              </a:solidFill>
            </a:endParaRPr>
          </a:p>
        </p:txBody>
      </p:sp>
      <p:pic>
        <p:nvPicPr>
          <p:cNvPr id="10" name="Picture 9">
            <a:extLst>
              <a:ext uri="{FF2B5EF4-FFF2-40B4-BE49-F238E27FC236}">
                <a16:creationId xmlns:a16="http://schemas.microsoft.com/office/drawing/2014/main" id="{831A7B23-933A-482F-B12D-3029EAF96F13}"/>
              </a:ext>
            </a:extLst>
          </p:cNvPr>
          <p:cNvPicPr>
            <a:picLocks noChangeAspect="1"/>
          </p:cNvPicPr>
          <p:nvPr/>
        </p:nvPicPr>
        <p:blipFill>
          <a:blip r:embed="rId4"/>
          <a:stretch>
            <a:fillRect/>
          </a:stretch>
        </p:blipFill>
        <p:spPr>
          <a:xfrm>
            <a:off x="3459828" y="309272"/>
            <a:ext cx="5732515" cy="6244238"/>
          </a:xfrm>
          <a:prstGeom prst="rect">
            <a:avLst/>
          </a:prstGeom>
        </p:spPr>
      </p:pic>
    </p:spTree>
    <p:extLst>
      <p:ext uri="{BB962C8B-B14F-4D97-AF65-F5344CB8AC3E}">
        <p14:creationId xmlns:p14="http://schemas.microsoft.com/office/powerpoint/2010/main" val="2615927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09A56-9120-5AD0-E03C-7C018E590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41B0F-66E0-D5F2-E59B-544C2B391F8B}"/>
              </a:ext>
            </a:extLst>
          </p:cNvPr>
          <p:cNvSpPr>
            <a:spLocks noGrp="1"/>
          </p:cNvSpPr>
          <p:nvPr>
            <p:ph type="title"/>
          </p:nvPr>
        </p:nvSpPr>
        <p:spPr>
          <a:xfrm>
            <a:off x="924069" y="125610"/>
            <a:ext cx="10515600" cy="782357"/>
          </a:xfrm>
        </p:spPr>
        <p:txBody>
          <a:bodyPr/>
          <a:lstStyle/>
          <a:p>
            <a:r>
              <a:rPr lang="en-IE" dirty="0">
                <a:hlinkClick r:id="rId3"/>
              </a:rPr>
              <a:t>Visualisation tools</a:t>
            </a:r>
            <a:endParaRPr lang="en-GB" dirty="0"/>
          </a:p>
        </p:txBody>
      </p:sp>
      <p:sp>
        <p:nvSpPr>
          <p:cNvPr id="4" name="Slide Number Placeholder 3">
            <a:extLst>
              <a:ext uri="{FF2B5EF4-FFF2-40B4-BE49-F238E27FC236}">
                <a16:creationId xmlns:a16="http://schemas.microsoft.com/office/drawing/2014/main" id="{EFAF7472-0C4D-E450-DE1C-4C30E2CD5CE0}"/>
              </a:ext>
            </a:extLst>
          </p:cNvPr>
          <p:cNvSpPr>
            <a:spLocks noGrp="1"/>
          </p:cNvSpPr>
          <p:nvPr>
            <p:ph type="sldNum" sz="quarter" idx="12"/>
          </p:nvPr>
        </p:nvSpPr>
        <p:spPr/>
        <p:txBody>
          <a:bodyPr/>
          <a:lstStyle/>
          <a:p>
            <a:pPr>
              <a:defRPr/>
            </a:pPr>
            <a:fld id="{F0AB6783-A622-483D-9EED-1F5D137ACBE7}" type="slidenum">
              <a:rPr lang="en-GB" smtClean="0">
                <a:solidFill>
                  <a:srgbClr val="000000"/>
                </a:solidFill>
              </a:rPr>
              <a:pPr>
                <a:defRPr/>
              </a:pPr>
              <a:t>14</a:t>
            </a:fld>
            <a:endParaRPr lang="en-GB" dirty="0">
              <a:solidFill>
                <a:srgbClr val="000000"/>
              </a:solidFill>
            </a:endParaRPr>
          </a:p>
        </p:txBody>
      </p:sp>
      <p:pic>
        <p:nvPicPr>
          <p:cNvPr id="5" name="Picture 4">
            <a:extLst>
              <a:ext uri="{FF2B5EF4-FFF2-40B4-BE49-F238E27FC236}">
                <a16:creationId xmlns:a16="http://schemas.microsoft.com/office/drawing/2014/main" id="{9D2B505F-22C4-B7AB-132B-EC11E6609B53}"/>
              </a:ext>
            </a:extLst>
          </p:cNvPr>
          <p:cNvPicPr>
            <a:picLocks noChangeAspect="1"/>
          </p:cNvPicPr>
          <p:nvPr/>
        </p:nvPicPr>
        <p:blipFill>
          <a:blip r:embed="rId4"/>
          <a:stretch>
            <a:fillRect/>
          </a:stretch>
        </p:blipFill>
        <p:spPr>
          <a:xfrm>
            <a:off x="790671" y="1052736"/>
            <a:ext cx="10648998" cy="5050796"/>
          </a:xfrm>
          <a:prstGeom prst="rect">
            <a:avLst/>
          </a:prstGeom>
        </p:spPr>
      </p:pic>
    </p:spTree>
    <p:extLst>
      <p:ext uri="{BB962C8B-B14F-4D97-AF65-F5344CB8AC3E}">
        <p14:creationId xmlns:p14="http://schemas.microsoft.com/office/powerpoint/2010/main" val="3748362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587E7-4598-D2B7-B7CE-66E762F6E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03940C-EA5F-9D58-D5A0-142A6FE22511}"/>
              </a:ext>
            </a:extLst>
          </p:cNvPr>
          <p:cNvSpPr>
            <a:spLocks noGrp="1"/>
          </p:cNvSpPr>
          <p:nvPr>
            <p:ph type="title"/>
          </p:nvPr>
        </p:nvSpPr>
        <p:spPr>
          <a:xfrm>
            <a:off x="965684" y="2924944"/>
            <a:ext cx="10260632" cy="2016224"/>
          </a:xfrm>
        </p:spPr>
        <p:txBody>
          <a:bodyPr/>
          <a:lstStyle/>
          <a:p>
            <a:pPr algn="ctr">
              <a:spcBef>
                <a:spcPts val="0"/>
              </a:spcBef>
              <a:spcAft>
                <a:spcPts val="1200"/>
              </a:spcAft>
            </a:pPr>
            <a:r>
              <a:rPr lang="en-US" sz="8800" dirty="0">
                <a:latin typeface="Calibri" panose="020F0502020204030204" pitchFamily="34" charset="0"/>
              </a:rPr>
              <a:t>SHARES </a:t>
            </a:r>
            <a:br>
              <a:rPr lang="en-US" sz="6000" dirty="0">
                <a:latin typeface="Calibri" panose="020F0502020204030204" pitchFamily="34" charset="0"/>
              </a:rPr>
            </a:br>
            <a:r>
              <a:rPr lang="en-US" sz="6000" dirty="0">
                <a:latin typeface="Calibri" panose="020F0502020204030204" pitchFamily="34" charset="0"/>
              </a:rPr>
              <a:t>(Short Assessment of Renewable Energy Sources)</a:t>
            </a:r>
            <a:br>
              <a:rPr lang="en-US" sz="6000" dirty="0">
                <a:latin typeface="Calibri" panose="020F0502020204030204" pitchFamily="34" charset="0"/>
              </a:rPr>
            </a:br>
            <a:r>
              <a:rPr lang="en-US" sz="4400" dirty="0">
                <a:latin typeface="Calibri" panose="020F0502020204030204" pitchFamily="34" charset="0"/>
              </a:rPr>
              <a:t>Annex II, tables 1 to 5</a:t>
            </a:r>
            <a:endParaRPr lang="en-US" sz="6000" dirty="0">
              <a:latin typeface="Calibri" panose="020F0502020204030204" pitchFamily="34" charset="0"/>
            </a:endParaRPr>
          </a:p>
        </p:txBody>
      </p:sp>
    </p:spTree>
    <p:extLst>
      <p:ext uri="{BB962C8B-B14F-4D97-AF65-F5344CB8AC3E}">
        <p14:creationId xmlns:p14="http://schemas.microsoft.com/office/powerpoint/2010/main" val="3110371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384"/>
            <a:ext cx="9144000" cy="936625"/>
          </a:xfrm>
        </p:spPr>
        <p:txBody>
          <a:bodyPr/>
          <a:lstStyle/>
          <a:p>
            <a:r>
              <a:rPr lang="en-GB" sz="4800" dirty="0">
                <a:latin typeface="Calibri" panose="020F0502020204030204" pitchFamily="34" charset="0"/>
              </a:rPr>
              <a:t>Introduction</a:t>
            </a:r>
          </a:p>
        </p:txBody>
      </p:sp>
      <p:sp>
        <p:nvSpPr>
          <p:cNvPr id="3" name="Content Placeholder 2"/>
          <p:cNvSpPr>
            <a:spLocks noGrp="1"/>
          </p:cNvSpPr>
          <p:nvPr>
            <p:ph idx="1"/>
          </p:nvPr>
        </p:nvSpPr>
        <p:spPr>
          <a:xfrm>
            <a:off x="479376" y="980728"/>
            <a:ext cx="11017224" cy="4176464"/>
          </a:xfrm>
        </p:spPr>
        <p:txBody>
          <a:bodyPr/>
          <a:lstStyle/>
          <a:p>
            <a:pPr algn="just">
              <a:buFont typeface="Wingdings" panose="05000000000000000000" pitchFamily="2" charset="2"/>
              <a:buChar char="§"/>
            </a:pPr>
            <a:r>
              <a:rPr lang="en-US" sz="3200" dirty="0">
                <a:latin typeface="Calibri" panose="020F0502020204030204" pitchFamily="34" charset="0"/>
              </a:rPr>
              <a:t>Calculation of the share of renewables according to RED</a:t>
            </a:r>
          </a:p>
          <a:p>
            <a:pPr algn="just">
              <a:buFont typeface="Wingdings" panose="05000000000000000000" pitchFamily="2" charset="2"/>
              <a:buChar char="§"/>
            </a:pPr>
            <a:r>
              <a:rPr lang="en-US" sz="3200" dirty="0">
                <a:latin typeface="Calibri" panose="020F0502020204030204" pitchFamily="34" charset="0"/>
              </a:rPr>
              <a:t>SHARES tool does not replace legal obligations in RED II — it only assists in reporting.</a:t>
            </a:r>
          </a:p>
          <a:p>
            <a:pPr algn="just">
              <a:buFont typeface="Wingdings" panose="05000000000000000000" pitchFamily="2" charset="2"/>
              <a:buChar char="§"/>
            </a:pPr>
            <a:r>
              <a:rPr lang="en-US" sz="3200" dirty="0">
                <a:latin typeface="Calibri" panose="020F0502020204030204" pitchFamily="34" charset="0"/>
              </a:rPr>
              <a:t>Member States go through the exact same method during the calculation of the share. </a:t>
            </a:r>
          </a:p>
          <a:p>
            <a:pPr algn="just">
              <a:buFont typeface="Wingdings" panose="05000000000000000000" pitchFamily="2" charset="2"/>
              <a:buChar char="§"/>
            </a:pPr>
            <a:r>
              <a:rPr lang="en-US" sz="3200" dirty="0">
                <a:latin typeface="Calibri" panose="020F0502020204030204" pitchFamily="34" charset="0"/>
              </a:rPr>
              <a:t>Prevents any irregularities from varying parameters and rules used in different calculation methods and ensures </a:t>
            </a:r>
            <a:r>
              <a:rPr lang="en-US" sz="3200" dirty="0" err="1">
                <a:latin typeface="Calibri" panose="020F0502020204030204" pitchFamily="34" charset="0"/>
              </a:rPr>
              <a:t>harmonised</a:t>
            </a:r>
            <a:r>
              <a:rPr lang="en-US" sz="3200" dirty="0">
                <a:latin typeface="Calibri" panose="020F0502020204030204" pitchFamily="34" charset="0"/>
              </a:rPr>
              <a:t> and comparable results for all reporting countries. </a:t>
            </a:r>
          </a:p>
          <a:p>
            <a:pPr algn="just">
              <a:buFont typeface="Wingdings" panose="05000000000000000000" pitchFamily="2" charset="2"/>
              <a:buChar char="§"/>
            </a:pPr>
            <a:r>
              <a:rPr lang="en-US" sz="3200" dirty="0">
                <a:latin typeface="Calibri" panose="020F0502020204030204" pitchFamily="34" charset="0"/>
              </a:rPr>
              <a:t>Using SHARES tool is a more efficient approach than individual estimations/calculations performed by each EU Member State.</a:t>
            </a:r>
          </a:p>
        </p:txBody>
      </p:sp>
      <p:sp>
        <p:nvSpPr>
          <p:cNvPr id="4" name="Slide Number Placeholder 3"/>
          <p:cNvSpPr>
            <a:spLocks noGrp="1"/>
          </p:cNvSpPr>
          <p:nvPr>
            <p:ph type="sldNum" sz="quarter" idx="12"/>
          </p:nvPr>
        </p:nvSpPr>
        <p:spPr/>
        <p:txBody>
          <a:bodyPr/>
          <a:lstStyle/>
          <a:p>
            <a:pPr>
              <a:defRPr/>
            </a:pPr>
            <a:fld id="{F0AB6783-A622-483D-9EED-1F5D137ACBE7}" type="slidenum">
              <a:rPr lang="en-GB" smtClean="0">
                <a:solidFill>
                  <a:srgbClr val="000000"/>
                </a:solidFill>
                <a:latin typeface="Calibri" panose="020F0502020204030204" pitchFamily="34" charset="0"/>
              </a:rPr>
              <a:pPr>
                <a:defRPr/>
              </a:pPr>
              <a:t>16</a:t>
            </a:fld>
            <a:endParaRPr lang="en-GB" dirty="0">
              <a:solidFill>
                <a:srgbClr val="000000"/>
              </a:solidFill>
              <a:latin typeface="Calibri" panose="020F0502020204030204" pitchFamily="34" charset="0"/>
            </a:endParaRPr>
          </a:p>
        </p:txBody>
      </p:sp>
      <p:sp>
        <p:nvSpPr>
          <p:cNvPr id="5" name="AutoShape 2" descr="Afbeeldingsresultaat voor structure"/>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076236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7408" y="908720"/>
            <a:ext cx="10801200" cy="5184576"/>
          </a:xfrm>
        </p:spPr>
        <p:txBody>
          <a:bodyPr/>
          <a:lstStyle/>
          <a:p>
            <a:pPr marL="0" indent="0">
              <a:buNone/>
            </a:pPr>
            <a:endParaRPr lang="en-GB" sz="1400" dirty="0">
              <a:latin typeface="Calibri" panose="020F0502020204030204" pitchFamily="34" charset="0"/>
            </a:endParaRPr>
          </a:p>
          <a:p>
            <a:pPr marL="0" indent="0">
              <a:buNone/>
            </a:pPr>
            <a:r>
              <a:rPr lang="en-GB" dirty="0">
                <a:latin typeface="Calibri" panose="020F0502020204030204" pitchFamily="34" charset="0"/>
              </a:rPr>
              <a:t>Up to reference year 2024, SHARES is based on </a:t>
            </a:r>
            <a:r>
              <a:rPr lang="en-GB" b="1" dirty="0">
                <a:latin typeface="Calibri" panose="020F0502020204030204" pitchFamily="34" charset="0"/>
              </a:rPr>
              <a:t>Directive 2009/28/EC and 2018/2001 (RED I and RED II) on the promotion of the use of energy from renewable sources. </a:t>
            </a:r>
          </a:p>
          <a:p>
            <a:pPr marL="0" indent="0">
              <a:buNone/>
            </a:pPr>
            <a:r>
              <a:rPr lang="en-GB" b="1" dirty="0">
                <a:latin typeface="Calibri" panose="020F0502020204030204" pitchFamily="34" charset="0"/>
              </a:rPr>
              <a:t>This presentation refers to the SHARES tool currently used for reporting, i.e. before RED III.</a:t>
            </a:r>
            <a:endParaRPr lang="en-GB" dirty="0">
              <a:latin typeface="Calibri" panose="020F0502020204030204" pitchFamily="34" charset="0"/>
            </a:endParaRPr>
          </a:p>
          <a:p>
            <a:pPr marL="0" indent="0">
              <a:buNone/>
            </a:pPr>
            <a:endParaRPr lang="en-US" dirty="0">
              <a:latin typeface="Calibri" panose="020F0502020204030204" pitchFamily="34" charset="0"/>
            </a:endParaRPr>
          </a:p>
          <a:p>
            <a:pPr marL="0" indent="0">
              <a:buNone/>
            </a:pPr>
            <a:r>
              <a:rPr lang="en-US" dirty="0">
                <a:latin typeface="Calibri" panose="020F0502020204030204" pitchFamily="34" charset="0"/>
              </a:rPr>
              <a:t>From reference year 2025 onwards, SHARES will be adapted to RED III (Directive 2023/2413).</a:t>
            </a:r>
          </a:p>
          <a:p>
            <a:pPr marL="0" indent="0">
              <a:buNone/>
            </a:pPr>
            <a:endParaRPr lang="en-US" dirty="0">
              <a:latin typeface="Calibri" panose="020F0502020204030204" pitchFamily="34" charset="0"/>
            </a:endParaRPr>
          </a:p>
          <a:p>
            <a:pPr marL="0" indent="0">
              <a:buNone/>
            </a:pPr>
            <a:r>
              <a:rPr lang="en-US" dirty="0">
                <a:latin typeface="Calibri" panose="020F0502020204030204" pitchFamily="34" charset="0"/>
              </a:rPr>
              <a:t>But there is also input from annual questionnaires</a:t>
            </a:r>
          </a:p>
        </p:txBody>
      </p:sp>
      <p:pic>
        <p:nvPicPr>
          <p:cNvPr id="921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6666"/>
          <a:stretch/>
        </p:blipFill>
        <p:spPr bwMode="auto">
          <a:xfrm>
            <a:off x="8472264" y="4830900"/>
            <a:ext cx="1679215" cy="17939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1524000" y="188640"/>
            <a:ext cx="9144000" cy="936625"/>
          </a:xfrm>
        </p:spPr>
        <p:txBody>
          <a:bodyPr/>
          <a:lstStyle/>
          <a:p>
            <a:r>
              <a:rPr lang="en-GB" sz="4800" dirty="0">
                <a:latin typeface="Calibri" panose="020F0502020204030204" pitchFamily="34" charset="0"/>
              </a:rPr>
              <a:t>Legal basis</a:t>
            </a:r>
          </a:p>
        </p:txBody>
      </p:sp>
      <p:sp>
        <p:nvSpPr>
          <p:cNvPr id="4" name="Slide Number Placeholder 3"/>
          <p:cNvSpPr>
            <a:spLocks noGrp="1"/>
          </p:cNvSpPr>
          <p:nvPr>
            <p:ph type="sldNum" sz="quarter" idx="12"/>
          </p:nvPr>
        </p:nvSpPr>
        <p:spPr/>
        <p:txBody>
          <a:bodyPr/>
          <a:lstStyle/>
          <a:p>
            <a:pPr>
              <a:defRPr/>
            </a:pPr>
            <a:fld id="{F0AB6783-A622-483D-9EED-1F5D137ACBE7}" type="slidenum">
              <a:rPr lang="en-GB" smtClean="0">
                <a:solidFill>
                  <a:srgbClr val="000000"/>
                </a:solidFill>
                <a:latin typeface="Calibri" panose="020F0502020204030204" pitchFamily="34" charset="0"/>
              </a:rPr>
              <a:pPr>
                <a:defRPr/>
              </a:pPr>
              <a:t>17</a:t>
            </a:fld>
            <a:endParaRPr lang="en-GB" dirty="0">
              <a:solidFill>
                <a:srgbClr val="000000"/>
              </a:solidFill>
              <a:latin typeface="Calibri" panose="020F0502020204030204" pitchFamily="34" charset="0"/>
            </a:endParaRPr>
          </a:p>
        </p:txBody>
      </p:sp>
    </p:spTree>
    <p:extLst>
      <p:ext uri="{BB962C8B-B14F-4D97-AF65-F5344CB8AC3E}">
        <p14:creationId xmlns:p14="http://schemas.microsoft.com/office/powerpoint/2010/main" val="2654268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F0AB6783-A622-483D-9EED-1F5D137ACBE7}" type="slidenum">
              <a:rPr lang="en-GB" smtClean="0">
                <a:solidFill>
                  <a:srgbClr val="000000"/>
                </a:solidFill>
                <a:latin typeface="Calibri" panose="020F0502020204030204" pitchFamily="34" charset="0"/>
              </a:rPr>
              <a:pPr>
                <a:defRPr/>
              </a:pPr>
              <a:t>18</a:t>
            </a:fld>
            <a:endParaRPr lang="en-GB" dirty="0">
              <a:solidFill>
                <a:srgbClr val="000000"/>
              </a:solidFill>
              <a:latin typeface="Calibri" panose="020F0502020204030204" pitchFamily="34" charset="0"/>
            </a:endParaRPr>
          </a:p>
        </p:txBody>
      </p:sp>
      <p:sp>
        <p:nvSpPr>
          <p:cNvPr id="5" name="Content Placeholder 2"/>
          <p:cNvSpPr>
            <a:spLocks noGrp="1"/>
          </p:cNvSpPr>
          <p:nvPr>
            <p:ph idx="1"/>
          </p:nvPr>
        </p:nvSpPr>
        <p:spPr>
          <a:xfrm>
            <a:off x="1708853" y="548680"/>
            <a:ext cx="8964488" cy="792088"/>
          </a:xfrm>
        </p:spPr>
        <p:txBody>
          <a:bodyPr/>
          <a:lstStyle/>
          <a:p>
            <a:pPr marL="0" indent="0">
              <a:buNone/>
            </a:pPr>
            <a:r>
              <a:rPr lang="en-US" sz="2400" dirty="0">
                <a:latin typeface="Calibri" panose="020F0502020204030204" pitchFamily="34" charset="0"/>
              </a:rPr>
              <a:t>More information in Statistics Explained – </a:t>
            </a:r>
            <a:r>
              <a:rPr lang="en-US" sz="2400" dirty="0">
                <a:latin typeface="Calibri" panose="020F0502020204030204" pitchFamily="34" charset="0"/>
                <a:hlinkClick r:id="rId3"/>
              </a:rPr>
              <a:t>Renewable energy statistics</a:t>
            </a:r>
            <a:r>
              <a:rPr lang="en-US" sz="2400" dirty="0">
                <a:latin typeface="Calibri" panose="020F0502020204030204" pitchFamily="34" charset="0"/>
              </a:rPr>
              <a:t>:</a:t>
            </a:r>
          </a:p>
          <a:p>
            <a:pPr marL="0" indent="0">
              <a:buNone/>
            </a:pPr>
            <a:endParaRPr lang="en-US" dirty="0">
              <a:latin typeface="Calibri" panose="020F0502020204030204" pitchFamily="34" charset="0"/>
              <a:hlinkClick r:id="rId3"/>
            </a:endParaRPr>
          </a:p>
          <a:p>
            <a:pPr marL="0" indent="0">
              <a:buNone/>
            </a:pPr>
            <a:endParaRPr lang="en-US" dirty="0">
              <a:latin typeface="Calibri" panose="020F0502020204030204" pitchFamily="34" charset="0"/>
              <a:hlinkClick r:id="rId3"/>
            </a:endParaRPr>
          </a:p>
          <a:p>
            <a:pPr marL="0" indent="0">
              <a:buNone/>
            </a:pPr>
            <a:endParaRPr lang="en-US" dirty="0">
              <a:latin typeface="Calibri" panose="020F0502020204030204" pitchFamily="34" charset="0"/>
              <a:hlinkClick r:id="rId3"/>
            </a:endParaRPr>
          </a:p>
          <a:p>
            <a:pPr marL="0" indent="0">
              <a:buNone/>
            </a:pPr>
            <a:endParaRPr lang="en-US" dirty="0">
              <a:latin typeface="Calibri" panose="020F0502020204030204" pitchFamily="34" charset="0"/>
              <a:hlinkClick r:id="rId3"/>
            </a:endParaRPr>
          </a:p>
          <a:p>
            <a:pPr marL="0" indent="0">
              <a:buNone/>
            </a:pPr>
            <a:endParaRPr lang="en-US" dirty="0">
              <a:latin typeface="Calibri" panose="020F0502020204030204" pitchFamily="34" charset="0"/>
              <a:hlinkClick r:id="rId3"/>
            </a:endParaRPr>
          </a:p>
          <a:p>
            <a:pPr marL="0" indent="0">
              <a:buNone/>
            </a:pPr>
            <a:endParaRPr lang="en-US" dirty="0">
              <a:latin typeface="Calibri" panose="020F0502020204030204" pitchFamily="34" charset="0"/>
              <a:hlinkClick r:id="rId3"/>
            </a:endParaRPr>
          </a:p>
          <a:p>
            <a:pPr marL="0" indent="0">
              <a:buNone/>
            </a:pPr>
            <a:endParaRPr lang="en-US" dirty="0">
              <a:latin typeface="Calibri" panose="020F0502020204030204" pitchFamily="34" charset="0"/>
              <a:hlinkClick r:id="rId3"/>
            </a:endParaRPr>
          </a:p>
          <a:p>
            <a:pPr marL="0" indent="0">
              <a:buNone/>
            </a:pPr>
            <a:endParaRPr lang="en-US" dirty="0">
              <a:latin typeface="Calibri" panose="020F0502020204030204" pitchFamily="34" charset="0"/>
              <a:hlinkClick r:id="rId3"/>
            </a:endParaRPr>
          </a:p>
          <a:p>
            <a:pPr marL="0" indent="0">
              <a:buNone/>
            </a:pPr>
            <a:endParaRPr lang="en-US" sz="1800" dirty="0">
              <a:latin typeface="Calibri" panose="020F0502020204030204" pitchFamily="34" charset="0"/>
              <a:hlinkClick r:id="rId3"/>
            </a:endParaRPr>
          </a:p>
          <a:p>
            <a:pPr marL="0" indent="0">
              <a:buNone/>
            </a:pPr>
            <a:endParaRPr lang="en-US" sz="1800" dirty="0">
              <a:latin typeface="Calibri" panose="020F0502020204030204" pitchFamily="34" charset="0"/>
              <a:hlinkClick r:id="rId3"/>
            </a:endParaRPr>
          </a:p>
          <a:p>
            <a:pPr marL="0" indent="0">
              <a:buNone/>
            </a:pPr>
            <a:endParaRPr lang="en-US" sz="1100" dirty="0">
              <a:latin typeface="Calibri" panose="020F0502020204030204" pitchFamily="34" charset="0"/>
              <a:hlinkClick r:id="rId3"/>
            </a:endParaRPr>
          </a:p>
        </p:txBody>
      </p:sp>
      <p:pic>
        <p:nvPicPr>
          <p:cNvPr id="3" name="Picture 2">
            <a:extLst>
              <a:ext uri="{FF2B5EF4-FFF2-40B4-BE49-F238E27FC236}">
                <a16:creationId xmlns:a16="http://schemas.microsoft.com/office/drawing/2014/main" id="{32EBEC62-C0B4-4889-47AE-C4B0D0B909ED}"/>
              </a:ext>
            </a:extLst>
          </p:cNvPr>
          <p:cNvPicPr>
            <a:picLocks noChangeAspect="1"/>
          </p:cNvPicPr>
          <p:nvPr/>
        </p:nvPicPr>
        <p:blipFill>
          <a:blip r:embed="rId4"/>
          <a:stretch>
            <a:fillRect/>
          </a:stretch>
        </p:blipFill>
        <p:spPr>
          <a:xfrm>
            <a:off x="1847528" y="1099219"/>
            <a:ext cx="8136904" cy="5435999"/>
          </a:xfrm>
          <a:prstGeom prst="rect">
            <a:avLst/>
          </a:prstGeom>
        </p:spPr>
      </p:pic>
    </p:spTree>
    <p:extLst>
      <p:ext uri="{BB962C8B-B14F-4D97-AF65-F5344CB8AC3E}">
        <p14:creationId xmlns:p14="http://schemas.microsoft.com/office/powerpoint/2010/main" val="1752833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384"/>
            <a:ext cx="9144000" cy="936625"/>
          </a:xfrm>
        </p:spPr>
        <p:txBody>
          <a:bodyPr/>
          <a:lstStyle/>
          <a:p>
            <a:r>
              <a:rPr lang="en-GB" sz="4800" dirty="0">
                <a:latin typeface="Calibri" panose="020F0502020204030204" pitchFamily="34" charset="0"/>
              </a:rPr>
              <a:t>Components</a:t>
            </a:r>
          </a:p>
        </p:txBody>
      </p:sp>
      <p:sp>
        <p:nvSpPr>
          <p:cNvPr id="3" name="Content Placeholder 2"/>
          <p:cNvSpPr>
            <a:spLocks noGrp="1"/>
          </p:cNvSpPr>
          <p:nvPr>
            <p:ph idx="1"/>
          </p:nvPr>
        </p:nvSpPr>
        <p:spPr>
          <a:xfrm>
            <a:off x="407368" y="980728"/>
            <a:ext cx="8064896" cy="5112568"/>
          </a:xfrm>
        </p:spPr>
        <p:txBody>
          <a:bodyPr/>
          <a:lstStyle/>
          <a:p>
            <a:pPr algn="just">
              <a:buFont typeface="Arial" panose="020B0604020202020204" pitchFamily="34" charset="0"/>
              <a:buChar char="•"/>
            </a:pPr>
            <a:r>
              <a:rPr lang="en-US" sz="3600" dirty="0">
                <a:latin typeface="Calibri" panose="020F0502020204030204" pitchFamily="34" charset="0"/>
              </a:rPr>
              <a:t>SHARES offers results on four components:</a:t>
            </a:r>
          </a:p>
          <a:p>
            <a:pPr lvl="1" algn="just">
              <a:buFont typeface="Arial" panose="020B0604020202020204" pitchFamily="34" charset="0"/>
              <a:buChar char="•"/>
            </a:pPr>
            <a:r>
              <a:rPr lang="en-US" sz="3200" dirty="0">
                <a:solidFill>
                  <a:schemeClr val="accent4"/>
                </a:solidFill>
                <a:latin typeface="Calibri" panose="020F0502020204030204" pitchFamily="34" charset="0"/>
              </a:rPr>
              <a:t>RES (%) – overall share of energy from renewable sources</a:t>
            </a:r>
          </a:p>
          <a:p>
            <a:pPr lvl="1" algn="just">
              <a:buFont typeface="Arial" panose="020B0604020202020204" pitchFamily="34" charset="0"/>
              <a:buChar char="•"/>
            </a:pPr>
            <a:r>
              <a:rPr lang="en-US" sz="3200" dirty="0">
                <a:solidFill>
                  <a:schemeClr val="accent4"/>
                </a:solidFill>
                <a:latin typeface="Calibri" panose="020F0502020204030204" pitchFamily="34" charset="0"/>
              </a:rPr>
              <a:t>RES-E (%) – share of energy from renewable sources in electricity</a:t>
            </a:r>
          </a:p>
          <a:p>
            <a:pPr lvl="1" algn="just">
              <a:buFont typeface="Arial" panose="020B0604020202020204" pitchFamily="34" charset="0"/>
              <a:buChar char="•"/>
            </a:pPr>
            <a:r>
              <a:rPr lang="en-US" sz="3200" dirty="0">
                <a:solidFill>
                  <a:schemeClr val="accent4"/>
                </a:solidFill>
                <a:latin typeface="Calibri" panose="020F0502020204030204" pitchFamily="34" charset="0"/>
              </a:rPr>
              <a:t>RES-T (%) – share of energy from renewable sources in transport</a:t>
            </a:r>
          </a:p>
          <a:p>
            <a:pPr lvl="1" algn="just">
              <a:buFont typeface="Arial" panose="020B0604020202020204" pitchFamily="34" charset="0"/>
              <a:buChar char="•"/>
            </a:pPr>
            <a:r>
              <a:rPr lang="en-US" sz="3200" dirty="0">
                <a:solidFill>
                  <a:schemeClr val="accent4"/>
                </a:solidFill>
                <a:latin typeface="Calibri" panose="020F0502020204030204" pitchFamily="34" charset="0"/>
              </a:rPr>
              <a:t>RES-H&amp;C (%) – share of energy from renewable sources in heating and cooling</a:t>
            </a:r>
          </a:p>
        </p:txBody>
      </p:sp>
      <p:sp>
        <p:nvSpPr>
          <p:cNvPr id="4" name="Slide Number Placeholder 3"/>
          <p:cNvSpPr>
            <a:spLocks noGrp="1"/>
          </p:cNvSpPr>
          <p:nvPr>
            <p:ph type="sldNum" sz="quarter" idx="12"/>
          </p:nvPr>
        </p:nvSpPr>
        <p:spPr/>
        <p:txBody>
          <a:bodyPr/>
          <a:lstStyle/>
          <a:p>
            <a:pPr>
              <a:defRPr/>
            </a:pPr>
            <a:fld id="{F0AB6783-A622-483D-9EED-1F5D137ACBE7}" type="slidenum">
              <a:rPr lang="en-GB" smtClean="0">
                <a:solidFill>
                  <a:srgbClr val="000000"/>
                </a:solidFill>
                <a:latin typeface="Calibri" panose="020F0502020204030204" pitchFamily="34" charset="0"/>
              </a:rPr>
              <a:pPr>
                <a:defRPr/>
              </a:pPr>
              <a:t>19</a:t>
            </a:fld>
            <a:endParaRPr lang="en-GB" dirty="0">
              <a:solidFill>
                <a:srgbClr val="000000"/>
              </a:solidFill>
              <a:latin typeface="Calibri" panose="020F0502020204030204" pitchFamily="34" charset="0"/>
            </a:endParaRPr>
          </a:p>
        </p:txBody>
      </p:sp>
      <p:sp>
        <p:nvSpPr>
          <p:cNvPr id="5" name="AutoShape 2" descr="Afbeeldingsresultaat voor structure"/>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7" name="Picture 6"/>
          <p:cNvPicPr>
            <a:picLocks noChangeAspect="1"/>
          </p:cNvPicPr>
          <p:nvPr/>
        </p:nvPicPr>
        <p:blipFill>
          <a:blip r:embed="rId3"/>
          <a:stretch>
            <a:fillRect/>
          </a:stretch>
        </p:blipFill>
        <p:spPr>
          <a:xfrm>
            <a:off x="8760296" y="2060848"/>
            <a:ext cx="2948898" cy="2160240"/>
          </a:xfrm>
          <a:prstGeom prst="rect">
            <a:avLst/>
          </a:prstGeom>
        </p:spPr>
      </p:pic>
    </p:spTree>
    <p:extLst>
      <p:ext uri="{BB962C8B-B14F-4D97-AF65-F5344CB8AC3E}">
        <p14:creationId xmlns:p14="http://schemas.microsoft.com/office/powerpoint/2010/main" val="1219730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384"/>
            <a:ext cx="9144000" cy="936625"/>
          </a:xfrm>
        </p:spPr>
        <p:txBody>
          <a:bodyPr/>
          <a:lstStyle/>
          <a:p>
            <a:r>
              <a:rPr lang="en-GB" sz="4400" dirty="0">
                <a:latin typeface="Calibri" panose="020F0502020204030204" pitchFamily="34" charset="0"/>
              </a:rPr>
              <a:t>Input – annual questionnaires</a:t>
            </a:r>
          </a:p>
        </p:txBody>
      </p:sp>
      <p:sp>
        <p:nvSpPr>
          <p:cNvPr id="3" name="Content Placeholder 2"/>
          <p:cNvSpPr>
            <a:spLocks noGrp="1"/>
          </p:cNvSpPr>
          <p:nvPr>
            <p:ph idx="1"/>
          </p:nvPr>
        </p:nvSpPr>
        <p:spPr>
          <a:xfrm>
            <a:off x="551384" y="980728"/>
            <a:ext cx="10945216" cy="4176464"/>
          </a:xfrm>
        </p:spPr>
        <p:txBody>
          <a:bodyPr/>
          <a:lstStyle/>
          <a:p>
            <a:pPr marL="342900" lvl="1" indent="-342900" algn="just">
              <a:buClr>
                <a:srgbClr val="000066"/>
              </a:buClr>
              <a:buFont typeface="Wingdings" panose="05000000000000000000" pitchFamily="2" charset="2"/>
              <a:buChar char="§"/>
            </a:pPr>
            <a:r>
              <a:rPr lang="en-GB" sz="3200" i="0" dirty="0">
                <a:solidFill>
                  <a:schemeClr val="tx1"/>
                </a:solidFill>
                <a:ea typeface="+mn-ea"/>
                <a:cs typeface="+mn-cs"/>
              </a:rPr>
              <a:t>Based on annual energy statistics under Regulation (EC) No 1099/2008. Five annual energy questionnaires are uploaded into SHARES :</a:t>
            </a:r>
          </a:p>
          <a:p>
            <a:pPr lvl="1" algn="just">
              <a:buFont typeface="Wingdings" panose="05000000000000000000" pitchFamily="2" charset="2"/>
              <a:buChar char="§"/>
            </a:pPr>
            <a:r>
              <a:rPr lang="en-GB" i="0" dirty="0">
                <a:solidFill>
                  <a:schemeClr val="accent4"/>
                </a:solidFill>
              </a:rPr>
              <a:t>Coal (covers solid fossil fuels and manufactured gases)</a:t>
            </a:r>
          </a:p>
          <a:p>
            <a:pPr lvl="1" algn="just">
              <a:buFont typeface="Wingdings" panose="05000000000000000000" pitchFamily="2" charset="2"/>
              <a:buChar char="§"/>
            </a:pPr>
            <a:r>
              <a:rPr lang="en-GB" i="0" dirty="0">
                <a:solidFill>
                  <a:schemeClr val="accent4"/>
                </a:solidFill>
              </a:rPr>
              <a:t>Oil (covers crude oil and derived oil products)</a:t>
            </a:r>
          </a:p>
          <a:p>
            <a:pPr lvl="1" algn="just">
              <a:buFont typeface="Wingdings" panose="05000000000000000000" pitchFamily="2" charset="2"/>
              <a:buChar char="§"/>
            </a:pPr>
            <a:r>
              <a:rPr lang="en-GB" i="0" dirty="0">
                <a:solidFill>
                  <a:schemeClr val="accent4"/>
                </a:solidFill>
              </a:rPr>
              <a:t>Natural gas</a:t>
            </a:r>
          </a:p>
          <a:p>
            <a:pPr lvl="1" algn="just">
              <a:buFont typeface="Wingdings" panose="05000000000000000000" pitchFamily="2" charset="2"/>
              <a:buChar char="§"/>
            </a:pPr>
            <a:r>
              <a:rPr lang="en-GB" i="0" dirty="0">
                <a:solidFill>
                  <a:schemeClr val="accent4"/>
                </a:solidFill>
              </a:rPr>
              <a:t>Electricity &amp; Heat</a:t>
            </a:r>
          </a:p>
          <a:p>
            <a:pPr lvl="1" algn="just">
              <a:buFont typeface="Wingdings" panose="05000000000000000000" pitchFamily="2" charset="2"/>
              <a:buChar char="§"/>
            </a:pPr>
            <a:r>
              <a:rPr lang="en-GB" i="0" dirty="0">
                <a:solidFill>
                  <a:schemeClr val="accent4"/>
                </a:solidFill>
              </a:rPr>
              <a:t>Renewables (also includes renewable and non-renewable wastes)</a:t>
            </a:r>
          </a:p>
          <a:p>
            <a:pPr marL="457200" lvl="1" indent="0" algn="just">
              <a:buNone/>
            </a:pPr>
            <a:r>
              <a:rPr lang="en-GB" i="0" dirty="0">
                <a:solidFill>
                  <a:schemeClr val="accent4"/>
                </a:solidFill>
              </a:rPr>
              <a:t>From reference year 2025 onwards also hydrogen</a:t>
            </a:r>
          </a:p>
          <a:p>
            <a:pPr marL="457200" lvl="1" indent="0" algn="just">
              <a:buNone/>
            </a:pPr>
            <a:endParaRPr lang="en-GB" i="0" dirty="0"/>
          </a:p>
          <a:p>
            <a:pPr algn="just">
              <a:buFont typeface="Wingdings" panose="05000000000000000000" pitchFamily="2" charset="2"/>
              <a:buChar char="§"/>
            </a:pPr>
            <a:endParaRPr lang="en-GB" sz="3200" dirty="0"/>
          </a:p>
        </p:txBody>
      </p:sp>
      <p:sp>
        <p:nvSpPr>
          <p:cNvPr id="4" name="Slide Number Placeholder 3"/>
          <p:cNvSpPr>
            <a:spLocks noGrp="1"/>
          </p:cNvSpPr>
          <p:nvPr>
            <p:ph type="sldNum" sz="quarter" idx="12"/>
          </p:nvPr>
        </p:nvSpPr>
        <p:spPr/>
        <p:txBody>
          <a:bodyPr/>
          <a:lstStyle/>
          <a:p>
            <a:pPr>
              <a:defRPr/>
            </a:pPr>
            <a:fld id="{F0AB6783-A622-483D-9EED-1F5D137ACBE7}" type="slidenum">
              <a:rPr lang="en-GB" smtClean="0">
                <a:solidFill>
                  <a:srgbClr val="000000"/>
                </a:solidFill>
                <a:latin typeface="Calibri" panose="020F0502020204030204" pitchFamily="34" charset="0"/>
              </a:rPr>
              <a:pPr>
                <a:defRPr/>
              </a:pPr>
              <a:t>20</a:t>
            </a:fld>
            <a:endParaRPr lang="en-GB" dirty="0">
              <a:solidFill>
                <a:srgbClr val="000000"/>
              </a:solidFill>
              <a:latin typeface="Calibri" panose="020F0502020204030204" pitchFamily="34" charset="0"/>
            </a:endParaRPr>
          </a:p>
        </p:txBody>
      </p:sp>
      <p:sp>
        <p:nvSpPr>
          <p:cNvPr id="5" name="AutoShape 2" descr="Afbeeldingsresultaat voor structure"/>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9" name="Picture 8"/>
          <p:cNvPicPr>
            <a:picLocks noChangeAspect="1"/>
          </p:cNvPicPr>
          <p:nvPr/>
        </p:nvPicPr>
        <p:blipFill>
          <a:blip r:embed="rId3"/>
          <a:stretch>
            <a:fillRect/>
          </a:stretch>
        </p:blipFill>
        <p:spPr>
          <a:xfrm>
            <a:off x="8832304" y="2996952"/>
            <a:ext cx="2448272" cy="1367282"/>
          </a:xfrm>
          <a:prstGeom prst="rect">
            <a:avLst/>
          </a:prstGeom>
        </p:spPr>
      </p:pic>
    </p:spTree>
    <p:extLst>
      <p:ext uri="{BB962C8B-B14F-4D97-AF65-F5344CB8AC3E}">
        <p14:creationId xmlns:p14="http://schemas.microsoft.com/office/powerpoint/2010/main" val="3022507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9788129" y="2708921"/>
            <a:ext cx="2403871" cy="1944216"/>
          </a:xfrm>
          <a:prstGeom prst="rect">
            <a:avLst/>
          </a:prstGeom>
        </p:spPr>
      </p:pic>
      <p:sp>
        <p:nvSpPr>
          <p:cNvPr id="2" name="Title 1"/>
          <p:cNvSpPr>
            <a:spLocks noGrp="1"/>
          </p:cNvSpPr>
          <p:nvPr>
            <p:ph type="title"/>
          </p:nvPr>
        </p:nvSpPr>
        <p:spPr>
          <a:xfrm>
            <a:off x="1465071" y="326580"/>
            <a:ext cx="9144000" cy="936625"/>
          </a:xfrm>
        </p:spPr>
        <p:txBody>
          <a:bodyPr/>
          <a:lstStyle/>
          <a:p>
            <a:r>
              <a:rPr lang="en-GB" sz="4800" dirty="0">
                <a:latin typeface="Calibri" panose="020F0502020204030204" pitchFamily="34" charset="0"/>
              </a:rPr>
              <a:t>Input – additional data</a:t>
            </a:r>
          </a:p>
        </p:txBody>
      </p:sp>
      <p:sp>
        <p:nvSpPr>
          <p:cNvPr id="3" name="Content Placeholder 2"/>
          <p:cNvSpPr>
            <a:spLocks noGrp="1"/>
          </p:cNvSpPr>
          <p:nvPr>
            <p:ph idx="1"/>
          </p:nvPr>
        </p:nvSpPr>
        <p:spPr>
          <a:xfrm>
            <a:off x="335360" y="980728"/>
            <a:ext cx="11017224" cy="4176464"/>
          </a:xfrm>
        </p:spPr>
        <p:txBody>
          <a:bodyPr/>
          <a:lstStyle/>
          <a:p>
            <a:pPr marL="457200" lvl="1" indent="0" algn="just">
              <a:buNone/>
            </a:pPr>
            <a:endParaRPr lang="en-GB" i="0" dirty="0"/>
          </a:p>
          <a:p>
            <a:pPr algn="just">
              <a:buFont typeface="Wingdings" panose="05000000000000000000" pitchFamily="2" charset="2"/>
              <a:buChar char="§"/>
            </a:pPr>
            <a:r>
              <a:rPr lang="en-GB" sz="3200" dirty="0"/>
              <a:t>Countries to provide additional information that is not covered by Regulation (EC) No 1099/2008: </a:t>
            </a:r>
          </a:p>
          <a:p>
            <a:pPr lvl="1" algn="just">
              <a:buFont typeface="Wingdings" panose="05000000000000000000" pitchFamily="2" charset="2"/>
              <a:buChar char="§"/>
            </a:pPr>
            <a:r>
              <a:rPr lang="en-GB" i="0" dirty="0">
                <a:solidFill>
                  <a:schemeClr val="accent4"/>
                </a:solidFill>
              </a:rPr>
              <a:t>Compliant (sustainable) biofuels, biomass, biomass fuels and bioliquids</a:t>
            </a:r>
          </a:p>
          <a:p>
            <a:pPr lvl="1" algn="just">
              <a:buFont typeface="Wingdings" panose="05000000000000000000" pitchFamily="2" charset="2"/>
              <a:buChar char="§"/>
            </a:pPr>
            <a:r>
              <a:rPr lang="en-GB" i="0" dirty="0">
                <a:solidFill>
                  <a:schemeClr val="accent4"/>
                </a:solidFill>
              </a:rPr>
              <a:t>Heat pumps (to be removed from 2025 onwards)</a:t>
            </a:r>
          </a:p>
          <a:p>
            <a:pPr lvl="1" algn="just">
              <a:buFont typeface="Wingdings" panose="05000000000000000000" pitchFamily="2" charset="2"/>
              <a:buChar char="§"/>
            </a:pPr>
            <a:r>
              <a:rPr lang="en-GB" i="0" dirty="0">
                <a:solidFill>
                  <a:schemeClr val="accent4"/>
                </a:solidFill>
              </a:rPr>
              <a:t>Mixed hydro plants (to be removed from 2025 onwards)</a:t>
            </a:r>
          </a:p>
          <a:p>
            <a:pPr lvl="1" algn="just">
              <a:buFont typeface="Wingdings" panose="05000000000000000000" pitchFamily="2" charset="2"/>
              <a:buChar char="§"/>
            </a:pPr>
            <a:r>
              <a:rPr lang="en-GB" i="0" dirty="0">
                <a:solidFill>
                  <a:schemeClr val="accent4"/>
                </a:solidFill>
              </a:rPr>
              <a:t>Cooperation mechanisms (statistical transfers)</a:t>
            </a:r>
          </a:p>
          <a:p>
            <a:pPr lvl="1" algn="just">
              <a:buFont typeface="Wingdings" panose="05000000000000000000" pitchFamily="2" charset="2"/>
              <a:buChar char="§"/>
            </a:pPr>
            <a:r>
              <a:rPr lang="en-GB" i="0" dirty="0">
                <a:solidFill>
                  <a:schemeClr val="accent4"/>
                </a:solidFill>
              </a:rPr>
              <a:t>Biomethane injected in the grid, imported or exported and/or to be accounted towards a specific sector (e.g. transport) on the basis of the mass-balance system</a:t>
            </a:r>
            <a:endParaRPr lang="en-GB" sz="3200" dirty="0"/>
          </a:p>
          <a:p>
            <a:pPr lvl="1" algn="just">
              <a:buFont typeface="Wingdings" panose="05000000000000000000" pitchFamily="2" charset="2"/>
              <a:buChar char="§"/>
            </a:pPr>
            <a:r>
              <a:rPr lang="en-IE" i="0" dirty="0">
                <a:solidFill>
                  <a:schemeClr val="accent4"/>
                </a:solidFill>
              </a:rPr>
              <a:t>Renewable cooling</a:t>
            </a:r>
            <a:endParaRPr lang="en-GB" i="0" dirty="0">
              <a:solidFill>
                <a:schemeClr val="accent4"/>
              </a:solidFill>
            </a:endParaRPr>
          </a:p>
        </p:txBody>
      </p:sp>
      <p:sp>
        <p:nvSpPr>
          <p:cNvPr id="4" name="Slide Number Placeholder 3"/>
          <p:cNvSpPr>
            <a:spLocks noGrp="1"/>
          </p:cNvSpPr>
          <p:nvPr>
            <p:ph type="sldNum" sz="quarter" idx="12"/>
          </p:nvPr>
        </p:nvSpPr>
        <p:spPr/>
        <p:txBody>
          <a:bodyPr/>
          <a:lstStyle/>
          <a:p>
            <a:pPr>
              <a:defRPr/>
            </a:pPr>
            <a:fld id="{F0AB6783-A622-483D-9EED-1F5D137ACBE7}" type="slidenum">
              <a:rPr lang="en-GB" smtClean="0">
                <a:solidFill>
                  <a:srgbClr val="000000"/>
                </a:solidFill>
                <a:latin typeface="Calibri" panose="020F0502020204030204" pitchFamily="34" charset="0"/>
              </a:rPr>
              <a:pPr>
                <a:defRPr/>
              </a:pPr>
              <a:t>21</a:t>
            </a:fld>
            <a:endParaRPr lang="en-GB" dirty="0">
              <a:solidFill>
                <a:srgbClr val="000000"/>
              </a:solidFill>
              <a:latin typeface="Calibri" panose="020F0502020204030204" pitchFamily="34" charset="0"/>
            </a:endParaRPr>
          </a:p>
        </p:txBody>
      </p:sp>
      <p:sp>
        <p:nvSpPr>
          <p:cNvPr id="5" name="AutoShape 2" descr="Afbeeldingsresultaat voor structure"/>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630825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384"/>
            <a:ext cx="9144000" cy="936625"/>
          </a:xfrm>
        </p:spPr>
        <p:txBody>
          <a:bodyPr/>
          <a:lstStyle/>
          <a:p>
            <a:r>
              <a:rPr lang="en-GB" sz="4800" dirty="0">
                <a:latin typeface="Calibri" panose="020F0502020204030204" pitchFamily="34" charset="0"/>
              </a:rPr>
              <a:t>Introduction – SHARES Manual</a:t>
            </a:r>
          </a:p>
        </p:txBody>
      </p:sp>
      <p:sp>
        <p:nvSpPr>
          <p:cNvPr id="4" name="Slide Number Placeholder 3"/>
          <p:cNvSpPr>
            <a:spLocks noGrp="1"/>
          </p:cNvSpPr>
          <p:nvPr>
            <p:ph type="sldNum" sz="quarter" idx="12"/>
          </p:nvPr>
        </p:nvSpPr>
        <p:spPr/>
        <p:txBody>
          <a:bodyPr/>
          <a:lstStyle/>
          <a:p>
            <a:pPr>
              <a:defRPr/>
            </a:pPr>
            <a:fld id="{F0AB6783-A622-483D-9EED-1F5D137ACBE7}" type="slidenum">
              <a:rPr lang="en-GB" smtClean="0">
                <a:solidFill>
                  <a:srgbClr val="000000"/>
                </a:solidFill>
                <a:latin typeface="Calibri" panose="020F0502020204030204" pitchFamily="34" charset="0"/>
              </a:rPr>
              <a:pPr>
                <a:defRPr/>
              </a:pPr>
              <a:t>22</a:t>
            </a:fld>
            <a:endParaRPr lang="en-GB" dirty="0">
              <a:solidFill>
                <a:srgbClr val="000000"/>
              </a:solidFill>
              <a:latin typeface="Calibri" panose="020F0502020204030204" pitchFamily="34" charset="0"/>
            </a:endParaRPr>
          </a:p>
        </p:txBody>
      </p:sp>
      <p:sp>
        <p:nvSpPr>
          <p:cNvPr id="5" name="AutoShape 2" descr="Afbeeldingsresultaat voor structure"/>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6" name="Picture 5"/>
          <p:cNvPicPr>
            <a:picLocks noChangeAspect="1"/>
          </p:cNvPicPr>
          <p:nvPr/>
        </p:nvPicPr>
        <p:blipFill>
          <a:blip r:embed="rId3"/>
          <a:stretch>
            <a:fillRect/>
          </a:stretch>
        </p:blipFill>
        <p:spPr>
          <a:xfrm>
            <a:off x="3310708" y="1391730"/>
            <a:ext cx="5449589" cy="3504120"/>
          </a:xfrm>
          <a:prstGeom prst="rect">
            <a:avLst/>
          </a:prstGeom>
        </p:spPr>
      </p:pic>
      <p:sp>
        <p:nvSpPr>
          <p:cNvPr id="8" name="TextBox 7">
            <a:extLst>
              <a:ext uri="{FF2B5EF4-FFF2-40B4-BE49-F238E27FC236}">
                <a16:creationId xmlns:a16="http://schemas.microsoft.com/office/drawing/2014/main" id="{36277069-7BD2-9FDC-83D5-149E06B6E35A}"/>
              </a:ext>
            </a:extLst>
          </p:cNvPr>
          <p:cNvSpPr txBox="1"/>
          <p:nvPr/>
        </p:nvSpPr>
        <p:spPr>
          <a:xfrm>
            <a:off x="2310421" y="5060669"/>
            <a:ext cx="7571159" cy="400110"/>
          </a:xfrm>
          <a:prstGeom prst="rect">
            <a:avLst/>
          </a:prstGeom>
          <a:noFill/>
        </p:spPr>
        <p:txBody>
          <a:bodyPr wrap="square">
            <a:spAutoFit/>
          </a:bodyPr>
          <a:lstStyle/>
          <a:p>
            <a:r>
              <a:rPr lang="it-IT" sz="2000" dirty="0" err="1">
                <a:hlinkClick r:id="rId4"/>
              </a:rPr>
              <a:t>Additional</a:t>
            </a:r>
            <a:r>
              <a:rPr lang="it-IT" sz="2000" dirty="0">
                <a:hlinkClick r:id="rId4"/>
              </a:rPr>
              <a:t> data - Energy - Eurostat (europa.eu)</a:t>
            </a:r>
            <a:endParaRPr lang="en-GB" sz="2000" dirty="0"/>
          </a:p>
        </p:txBody>
      </p:sp>
    </p:spTree>
    <p:extLst>
      <p:ext uri="{BB962C8B-B14F-4D97-AF65-F5344CB8AC3E}">
        <p14:creationId xmlns:p14="http://schemas.microsoft.com/office/powerpoint/2010/main" val="4020592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Some reflections</a:t>
            </a:r>
            <a:endParaRPr lang="en-GB" dirty="0"/>
          </a:p>
        </p:txBody>
      </p:sp>
      <p:sp>
        <p:nvSpPr>
          <p:cNvPr id="3" name="Content Placeholder 2"/>
          <p:cNvSpPr>
            <a:spLocks noGrp="1"/>
          </p:cNvSpPr>
          <p:nvPr>
            <p:ph idx="1"/>
          </p:nvPr>
        </p:nvSpPr>
        <p:spPr>
          <a:xfrm>
            <a:off x="191344" y="836712"/>
            <a:ext cx="11737304" cy="5184576"/>
          </a:xfrm>
        </p:spPr>
        <p:txBody>
          <a:bodyPr/>
          <a:lstStyle/>
          <a:p>
            <a:r>
              <a:rPr lang="en-US" sz="3200" dirty="0"/>
              <a:t>The SHARES based on RED:</a:t>
            </a:r>
          </a:p>
          <a:p>
            <a:pPr lvl="1" algn="just"/>
            <a:r>
              <a:rPr lang="en-US" sz="2700" dirty="0"/>
              <a:t>Specific definition of gross final energy consumption that excludes sectors involved in energy transformation (including transformation losses) but includes losses due to transmission and distribution. As such, this is a new aggregate which does not exist in Eurostat's energy balances.</a:t>
            </a:r>
          </a:p>
          <a:p>
            <a:pPr lvl="1" algn="just"/>
            <a:r>
              <a:rPr lang="en-US" sz="2700" dirty="0"/>
              <a:t>Electricity produced from hydro and wind is </a:t>
            </a:r>
            <a:r>
              <a:rPr lang="en-US" sz="2700" dirty="0" err="1"/>
              <a:t>normalised</a:t>
            </a:r>
            <a:r>
              <a:rPr lang="en-US" sz="2700" dirty="0"/>
              <a:t> for annual variations. </a:t>
            </a:r>
          </a:p>
          <a:p>
            <a:pPr lvl="1" algn="just"/>
            <a:r>
              <a:rPr lang="en-US" sz="2700" dirty="0"/>
              <a:t>Use of multipliers for e.g. electricity in road vehicles, </a:t>
            </a:r>
            <a:r>
              <a:rPr lang="en-US" sz="2700" dirty="0" err="1"/>
              <a:t>advacend</a:t>
            </a:r>
            <a:r>
              <a:rPr lang="en-US" sz="2700" dirty="0"/>
              <a:t> biofuels, etc.).</a:t>
            </a:r>
          </a:p>
          <a:p>
            <a:pPr lvl="1" algn="just"/>
            <a:r>
              <a:rPr lang="en-US" sz="2700" dirty="0"/>
              <a:t>Only sustainable biofuels and bioliquids are taken into account.</a:t>
            </a:r>
          </a:p>
        </p:txBody>
      </p:sp>
      <p:sp>
        <p:nvSpPr>
          <p:cNvPr id="4" name="Slide Number Placeholder 3"/>
          <p:cNvSpPr>
            <a:spLocks noGrp="1"/>
          </p:cNvSpPr>
          <p:nvPr>
            <p:ph type="sldNum" sz="quarter" idx="12"/>
          </p:nvPr>
        </p:nvSpPr>
        <p:spPr/>
        <p:txBody>
          <a:bodyPr/>
          <a:lstStyle/>
          <a:p>
            <a:pPr>
              <a:defRPr/>
            </a:pPr>
            <a:fld id="{F0AB6783-A622-483D-9EED-1F5D137ACBE7}" type="slidenum">
              <a:rPr lang="en-GB" smtClean="0">
                <a:solidFill>
                  <a:srgbClr val="000000"/>
                </a:solidFill>
              </a:rPr>
              <a:pPr>
                <a:defRPr/>
              </a:pPr>
              <a:t>23</a:t>
            </a:fld>
            <a:endParaRPr lang="en-GB" dirty="0">
              <a:solidFill>
                <a:srgbClr val="000000"/>
              </a:solidFill>
            </a:endParaRPr>
          </a:p>
        </p:txBody>
      </p:sp>
    </p:spTree>
    <p:extLst>
      <p:ext uri="{BB962C8B-B14F-4D97-AF65-F5344CB8AC3E}">
        <p14:creationId xmlns:p14="http://schemas.microsoft.com/office/powerpoint/2010/main" val="3291849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Some reflections</a:t>
            </a:r>
            <a:endParaRPr lang="en-GB" dirty="0"/>
          </a:p>
        </p:txBody>
      </p:sp>
      <p:sp>
        <p:nvSpPr>
          <p:cNvPr id="3" name="Content Placeholder 2"/>
          <p:cNvSpPr>
            <a:spLocks noGrp="1"/>
          </p:cNvSpPr>
          <p:nvPr>
            <p:ph idx="1"/>
          </p:nvPr>
        </p:nvSpPr>
        <p:spPr>
          <a:xfrm>
            <a:off x="263352" y="1146346"/>
            <a:ext cx="11377264" cy="5184576"/>
          </a:xfrm>
        </p:spPr>
        <p:txBody>
          <a:bodyPr/>
          <a:lstStyle/>
          <a:p>
            <a:r>
              <a:rPr lang="en-US" sz="3200" dirty="0"/>
              <a:t>The SHARES based on RED:</a:t>
            </a:r>
          </a:p>
          <a:p>
            <a:pPr lvl="1"/>
            <a:r>
              <a:rPr lang="en-US" sz="2800" dirty="0"/>
              <a:t>Energy consumption of aviation is capped if the aviation sector is significant in the energy consumption of the country.</a:t>
            </a:r>
          </a:p>
          <a:p>
            <a:pPr lvl="1"/>
            <a:r>
              <a:rPr lang="en-US" sz="2800" dirty="0"/>
              <a:t>Bioliquids and biofuels from food sources are also capped.</a:t>
            </a:r>
          </a:p>
          <a:p>
            <a:pPr lvl="1" algn="just"/>
            <a:r>
              <a:rPr lang="en-US" sz="2800" dirty="0"/>
              <a:t>Statistical transfers of renewable energies between countries and joint projects with countries outside the EU provide for administrative transfer of quantities of renewable energies between countries. This element is not reflected in Eurostat's energy balances.</a:t>
            </a:r>
          </a:p>
          <a:p>
            <a:endParaRPr lang="en-GB" sz="3200" dirty="0"/>
          </a:p>
        </p:txBody>
      </p:sp>
      <p:sp>
        <p:nvSpPr>
          <p:cNvPr id="4" name="Slide Number Placeholder 3"/>
          <p:cNvSpPr>
            <a:spLocks noGrp="1"/>
          </p:cNvSpPr>
          <p:nvPr>
            <p:ph type="sldNum" sz="quarter" idx="12"/>
          </p:nvPr>
        </p:nvSpPr>
        <p:spPr/>
        <p:txBody>
          <a:bodyPr/>
          <a:lstStyle/>
          <a:p>
            <a:pPr>
              <a:defRPr/>
            </a:pPr>
            <a:fld id="{F0AB6783-A622-483D-9EED-1F5D137ACBE7}" type="slidenum">
              <a:rPr lang="en-GB" smtClean="0">
                <a:solidFill>
                  <a:srgbClr val="000000"/>
                </a:solidFill>
              </a:rPr>
              <a:pPr>
                <a:defRPr/>
              </a:pPr>
              <a:t>24</a:t>
            </a:fld>
            <a:endParaRPr lang="en-GB" dirty="0">
              <a:solidFill>
                <a:srgbClr val="000000"/>
              </a:solidFill>
            </a:endParaRPr>
          </a:p>
        </p:txBody>
      </p:sp>
    </p:spTree>
    <p:extLst>
      <p:ext uri="{BB962C8B-B14F-4D97-AF65-F5344CB8AC3E}">
        <p14:creationId xmlns:p14="http://schemas.microsoft.com/office/powerpoint/2010/main" val="27257129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9FDEE-6D9B-D828-1C95-78BB04EE9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477F31-CEB5-7FD4-6026-A6F5BDB46237}"/>
              </a:ext>
            </a:extLst>
          </p:cNvPr>
          <p:cNvSpPr>
            <a:spLocks noGrp="1"/>
          </p:cNvSpPr>
          <p:nvPr>
            <p:ph type="title"/>
          </p:nvPr>
        </p:nvSpPr>
        <p:spPr>
          <a:xfrm>
            <a:off x="965684" y="2924944"/>
            <a:ext cx="10260632" cy="2016224"/>
          </a:xfrm>
        </p:spPr>
        <p:txBody>
          <a:bodyPr/>
          <a:lstStyle/>
          <a:p>
            <a:pPr algn="ctr">
              <a:spcBef>
                <a:spcPts val="0"/>
              </a:spcBef>
              <a:spcAft>
                <a:spcPts val="1200"/>
              </a:spcAft>
            </a:pPr>
            <a:r>
              <a:rPr lang="en-US" sz="8800" dirty="0">
                <a:latin typeface="Calibri" panose="020F0502020204030204" pitchFamily="34" charset="0"/>
              </a:rPr>
              <a:t>Biomass </a:t>
            </a:r>
            <a:br>
              <a:rPr lang="en-US" sz="8800" dirty="0">
                <a:latin typeface="Calibri" panose="020F0502020204030204" pitchFamily="34" charset="0"/>
              </a:rPr>
            </a:br>
            <a:r>
              <a:rPr lang="en-US" sz="4400" dirty="0">
                <a:latin typeface="Calibri" panose="020F0502020204030204" pitchFamily="34" charset="0"/>
              </a:rPr>
              <a:t>Annex II, table 6</a:t>
            </a:r>
            <a:endParaRPr lang="en-US" sz="6000" dirty="0">
              <a:latin typeface="Calibri" panose="020F0502020204030204" pitchFamily="34" charset="0"/>
            </a:endParaRPr>
          </a:p>
        </p:txBody>
      </p:sp>
    </p:spTree>
    <p:extLst>
      <p:ext uri="{BB962C8B-B14F-4D97-AF65-F5344CB8AC3E}">
        <p14:creationId xmlns:p14="http://schemas.microsoft.com/office/powerpoint/2010/main" val="17216205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48F86-9E29-BCD0-D7D0-8DF43A9BB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6E0EB-0C98-7BC1-25F5-B4D0BF557119}"/>
              </a:ext>
            </a:extLst>
          </p:cNvPr>
          <p:cNvSpPr>
            <a:spLocks noGrp="1"/>
          </p:cNvSpPr>
          <p:nvPr>
            <p:ph type="title"/>
          </p:nvPr>
        </p:nvSpPr>
        <p:spPr/>
        <p:txBody>
          <a:bodyPr/>
          <a:lstStyle/>
          <a:p>
            <a:r>
              <a:rPr lang="en-IE" dirty="0"/>
              <a:t>Biomass reporting</a:t>
            </a:r>
            <a:endParaRPr lang="en-GB" dirty="0"/>
          </a:p>
        </p:txBody>
      </p:sp>
      <p:sp>
        <p:nvSpPr>
          <p:cNvPr id="3" name="Content Placeholder 2">
            <a:extLst>
              <a:ext uri="{FF2B5EF4-FFF2-40B4-BE49-F238E27FC236}">
                <a16:creationId xmlns:a16="http://schemas.microsoft.com/office/drawing/2014/main" id="{26F73E19-4AC0-B586-72AD-FE98E0AAF973}"/>
              </a:ext>
            </a:extLst>
          </p:cNvPr>
          <p:cNvSpPr>
            <a:spLocks noGrp="1"/>
          </p:cNvSpPr>
          <p:nvPr>
            <p:ph idx="1"/>
          </p:nvPr>
        </p:nvSpPr>
        <p:spPr>
          <a:xfrm>
            <a:off x="239349" y="1700808"/>
            <a:ext cx="10825203" cy="4630114"/>
          </a:xfrm>
        </p:spPr>
        <p:txBody>
          <a:bodyPr/>
          <a:lstStyle/>
          <a:p>
            <a:r>
              <a:rPr lang="en-US" dirty="0"/>
              <a:t>Collect the solid biomass additional reporting obligations stemming from Annex IX Part 1 (m) of Regulation (EU) 2018/1999 on the Governance of the Energy Union and Climate Action</a:t>
            </a:r>
          </a:p>
          <a:p>
            <a:r>
              <a:rPr lang="en-US" dirty="0"/>
              <a:t>Only solid biomass flows used for meaningful energy purposes (electricity and heat production) should be reported in this questionnaire. </a:t>
            </a:r>
          </a:p>
          <a:p>
            <a:r>
              <a:rPr lang="en-US" dirty="0"/>
              <a:t>Liquid and gaseous biofuels should not be included</a:t>
            </a:r>
          </a:p>
        </p:txBody>
      </p:sp>
      <p:sp>
        <p:nvSpPr>
          <p:cNvPr id="4" name="Slide Number Placeholder 3">
            <a:extLst>
              <a:ext uri="{FF2B5EF4-FFF2-40B4-BE49-F238E27FC236}">
                <a16:creationId xmlns:a16="http://schemas.microsoft.com/office/drawing/2014/main" id="{3593E428-66CB-1CBC-E5D9-D7CB5BAEE9C6}"/>
              </a:ext>
            </a:extLst>
          </p:cNvPr>
          <p:cNvSpPr>
            <a:spLocks noGrp="1"/>
          </p:cNvSpPr>
          <p:nvPr>
            <p:ph type="sldNum" sz="quarter" idx="12"/>
          </p:nvPr>
        </p:nvSpPr>
        <p:spPr/>
        <p:txBody>
          <a:bodyPr/>
          <a:lstStyle/>
          <a:p>
            <a:pPr>
              <a:defRPr/>
            </a:pPr>
            <a:fld id="{F0AB6783-A622-483D-9EED-1F5D137ACBE7}" type="slidenum">
              <a:rPr lang="en-GB" smtClean="0">
                <a:solidFill>
                  <a:srgbClr val="000000"/>
                </a:solidFill>
              </a:rPr>
              <a:pPr>
                <a:defRPr/>
              </a:pPr>
              <a:t>26</a:t>
            </a:fld>
            <a:endParaRPr lang="en-GB" dirty="0">
              <a:solidFill>
                <a:srgbClr val="000000"/>
              </a:solidFill>
            </a:endParaRPr>
          </a:p>
        </p:txBody>
      </p:sp>
    </p:spTree>
    <p:extLst>
      <p:ext uri="{BB962C8B-B14F-4D97-AF65-F5344CB8AC3E}">
        <p14:creationId xmlns:p14="http://schemas.microsoft.com/office/powerpoint/2010/main" val="21827658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A1BC9-34C6-1E45-80F1-85ACCB63AB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B1F957-FC79-FFA7-6B62-5E6094D35491}"/>
              </a:ext>
            </a:extLst>
          </p:cNvPr>
          <p:cNvSpPr>
            <a:spLocks noGrp="1"/>
          </p:cNvSpPr>
          <p:nvPr>
            <p:ph type="title"/>
          </p:nvPr>
        </p:nvSpPr>
        <p:spPr/>
        <p:txBody>
          <a:bodyPr/>
          <a:lstStyle/>
          <a:p>
            <a:r>
              <a:rPr lang="en-IE" dirty="0"/>
              <a:t>Biomass reporting</a:t>
            </a:r>
            <a:endParaRPr lang="en-GB" dirty="0"/>
          </a:p>
        </p:txBody>
      </p:sp>
      <p:sp>
        <p:nvSpPr>
          <p:cNvPr id="4" name="Slide Number Placeholder 3">
            <a:extLst>
              <a:ext uri="{FF2B5EF4-FFF2-40B4-BE49-F238E27FC236}">
                <a16:creationId xmlns:a16="http://schemas.microsoft.com/office/drawing/2014/main" id="{EF129D0F-7CA5-9DB5-1A72-B543FB43DAAF}"/>
              </a:ext>
            </a:extLst>
          </p:cNvPr>
          <p:cNvSpPr>
            <a:spLocks noGrp="1"/>
          </p:cNvSpPr>
          <p:nvPr>
            <p:ph type="sldNum" sz="quarter" idx="12"/>
          </p:nvPr>
        </p:nvSpPr>
        <p:spPr/>
        <p:txBody>
          <a:bodyPr/>
          <a:lstStyle/>
          <a:p>
            <a:pPr>
              <a:defRPr/>
            </a:pPr>
            <a:fld id="{F0AB6783-A622-483D-9EED-1F5D137ACBE7}" type="slidenum">
              <a:rPr lang="en-GB" smtClean="0">
                <a:solidFill>
                  <a:srgbClr val="000000"/>
                </a:solidFill>
              </a:rPr>
              <a:pPr>
                <a:defRPr/>
              </a:pPr>
              <a:t>27</a:t>
            </a:fld>
            <a:endParaRPr lang="en-GB" dirty="0">
              <a:solidFill>
                <a:srgbClr val="000000"/>
              </a:solidFill>
            </a:endParaRPr>
          </a:p>
        </p:txBody>
      </p:sp>
      <p:pic>
        <p:nvPicPr>
          <p:cNvPr id="7" name="Picture 6">
            <a:extLst>
              <a:ext uri="{FF2B5EF4-FFF2-40B4-BE49-F238E27FC236}">
                <a16:creationId xmlns:a16="http://schemas.microsoft.com/office/drawing/2014/main" id="{971164B9-1182-278E-862D-2ADA20235188}"/>
              </a:ext>
            </a:extLst>
          </p:cNvPr>
          <p:cNvPicPr>
            <a:picLocks noChangeAspect="1"/>
          </p:cNvPicPr>
          <p:nvPr/>
        </p:nvPicPr>
        <p:blipFill>
          <a:blip r:embed="rId2"/>
          <a:stretch>
            <a:fillRect/>
          </a:stretch>
        </p:blipFill>
        <p:spPr>
          <a:xfrm>
            <a:off x="2339542" y="871456"/>
            <a:ext cx="7068826" cy="5684463"/>
          </a:xfrm>
          <a:prstGeom prst="rect">
            <a:avLst/>
          </a:prstGeom>
        </p:spPr>
      </p:pic>
    </p:spTree>
    <p:extLst>
      <p:ext uri="{BB962C8B-B14F-4D97-AF65-F5344CB8AC3E}">
        <p14:creationId xmlns:p14="http://schemas.microsoft.com/office/powerpoint/2010/main" val="23889499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44E94-D5CF-5190-E530-C923F5BDF0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8211F-2774-BAAC-E129-8883433D2B41}"/>
              </a:ext>
            </a:extLst>
          </p:cNvPr>
          <p:cNvSpPr>
            <a:spLocks noGrp="1"/>
          </p:cNvSpPr>
          <p:nvPr>
            <p:ph type="title"/>
          </p:nvPr>
        </p:nvSpPr>
        <p:spPr>
          <a:xfrm>
            <a:off x="965684" y="2924944"/>
            <a:ext cx="10260632" cy="2016224"/>
          </a:xfrm>
        </p:spPr>
        <p:txBody>
          <a:bodyPr/>
          <a:lstStyle/>
          <a:p>
            <a:pPr algn="ctr">
              <a:spcBef>
                <a:spcPts val="0"/>
              </a:spcBef>
              <a:spcAft>
                <a:spcPts val="1200"/>
              </a:spcAft>
            </a:pPr>
            <a:r>
              <a:rPr lang="en-US" sz="4400" dirty="0">
                <a:latin typeface="Calibri" panose="020F0502020204030204" pitchFamily="34" charset="0"/>
              </a:rPr>
              <a:t>NECPR reporting – some thoughts</a:t>
            </a:r>
            <a:endParaRPr lang="en-US" sz="6000" dirty="0">
              <a:latin typeface="Calibri" panose="020F0502020204030204" pitchFamily="34" charset="0"/>
            </a:endParaRPr>
          </a:p>
        </p:txBody>
      </p:sp>
    </p:spTree>
    <p:extLst>
      <p:ext uri="{BB962C8B-B14F-4D97-AF65-F5344CB8AC3E}">
        <p14:creationId xmlns:p14="http://schemas.microsoft.com/office/powerpoint/2010/main" val="40198992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6EA72-FB35-7FEC-5571-ECF9DA9722C5}"/>
              </a:ext>
            </a:extLst>
          </p:cNvPr>
          <p:cNvSpPr>
            <a:spLocks noGrp="1"/>
          </p:cNvSpPr>
          <p:nvPr>
            <p:ph type="title"/>
          </p:nvPr>
        </p:nvSpPr>
        <p:spPr/>
        <p:txBody>
          <a:bodyPr/>
          <a:lstStyle/>
          <a:p>
            <a:r>
              <a:rPr lang="en-IE" dirty="0"/>
              <a:t>NECPR reporting</a:t>
            </a:r>
            <a:endParaRPr lang="en-GB" dirty="0"/>
          </a:p>
        </p:txBody>
      </p:sp>
      <p:sp>
        <p:nvSpPr>
          <p:cNvPr id="3" name="Content Placeholder 2">
            <a:extLst>
              <a:ext uri="{FF2B5EF4-FFF2-40B4-BE49-F238E27FC236}">
                <a16:creationId xmlns:a16="http://schemas.microsoft.com/office/drawing/2014/main" id="{2E36E354-D57A-90CE-1E3A-FA34415542C2}"/>
              </a:ext>
            </a:extLst>
          </p:cNvPr>
          <p:cNvSpPr>
            <a:spLocks noGrp="1"/>
          </p:cNvSpPr>
          <p:nvPr>
            <p:ph idx="1"/>
          </p:nvPr>
        </p:nvSpPr>
        <p:spPr>
          <a:xfrm>
            <a:off x="239349" y="1700808"/>
            <a:ext cx="10825203" cy="4630114"/>
          </a:xfrm>
        </p:spPr>
        <p:txBody>
          <a:bodyPr/>
          <a:lstStyle/>
          <a:p>
            <a:pPr>
              <a:spcAft>
                <a:spcPts val="600"/>
              </a:spcAft>
            </a:pPr>
            <a:r>
              <a:rPr lang="en-IE" dirty="0"/>
              <a:t>Based as much as possible on Eurostat’s data</a:t>
            </a:r>
          </a:p>
          <a:p>
            <a:pPr>
              <a:spcAft>
                <a:spcPts val="600"/>
              </a:spcAft>
            </a:pPr>
            <a:r>
              <a:rPr lang="en-IE" dirty="0"/>
              <a:t>When available, using the same structures, definitions and methodology</a:t>
            </a:r>
          </a:p>
          <a:p>
            <a:pPr>
              <a:spcAft>
                <a:spcPts val="600"/>
              </a:spcAft>
            </a:pPr>
            <a:r>
              <a:rPr lang="en-IE" dirty="0"/>
              <a:t>Table structures copied as much as possible to facilitate understanding, limit data errors and additional effort from reporting countries</a:t>
            </a:r>
          </a:p>
          <a:p>
            <a:pPr>
              <a:spcAft>
                <a:spcPts val="600"/>
              </a:spcAft>
            </a:pPr>
            <a:r>
              <a:rPr lang="en-IE" dirty="0"/>
              <a:t>The collaboration between the EEA and Eurostat intends to achieve the above-indicated points</a:t>
            </a:r>
            <a:endParaRPr lang="en-GB" dirty="0"/>
          </a:p>
        </p:txBody>
      </p:sp>
      <p:sp>
        <p:nvSpPr>
          <p:cNvPr id="4" name="Slide Number Placeholder 3">
            <a:extLst>
              <a:ext uri="{FF2B5EF4-FFF2-40B4-BE49-F238E27FC236}">
                <a16:creationId xmlns:a16="http://schemas.microsoft.com/office/drawing/2014/main" id="{F61D6E47-5CF8-AD07-4640-A2230D1C579F}"/>
              </a:ext>
            </a:extLst>
          </p:cNvPr>
          <p:cNvSpPr>
            <a:spLocks noGrp="1"/>
          </p:cNvSpPr>
          <p:nvPr>
            <p:ph type="sldNum" sz="quarter" idx="12"/>
          </p:nvPr>
        </p:nvSpPr>
        <p:spPr/>
        <p:txBody>
          <a:bodyPr/>
          <a:lstStyle/>
          <a:p>
            <a:pPr>
              <a:defRPr/>
            </a:pPr>
            <a:fld id="{F0AB6783-A622-483D-9EED-1F5D137ACBE7}" type="slidenum">
              <a:rPr lang="en-GB" smtClean="0">
                <a:solidFill>
                  <a:srgbClr val="000000"/>
                </a:solidFill>
              </a:rPr>
              <a:pPr>
                <a:defRPr/>
              </a:pPr>
              <a:t>29</a:t>
            </a:fld>
            <a:endParaRPr lang="en-GB" dirty="0">
              <a:solidFill>
                <a:srgbClr val="000000"/>
              </a:solidFill>
            </a:endParaRPr>
          </a:p>
        </p:txBody>
      </p:sp>
    </p:spTree>
    <p:extLst>
      <p:ext uri="{BB962C8B-B14F-4D97-AF65-F5344CB8AC3E}">
        <p14:creationId xmlns:p14="http://schemas.microsoft.com/office/powerpoint/2010/main" val="25590960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F0AB6783-A622-483D-9EED-1F5D137ACBE7}" type="slidenum">
              <a:rPr lang="en-GB" smtClean="0">
                <a:solidFill>
                  <a:srgbClr val="000000"/>
                </a:solidFill>
                <a:latin typeface="Calibri" panose="020F0502020204030204" pitchFamily="34" charset="0"/>
              </a:rPr>
              <a:pPr>
                <a:defRPr/>
              </a:pPr>
              <a:t>30</a:t>
            </a:fld>
            <a:endParaRPr lang="en-GB" dirty="0">
              <a:solidFill>
                <a:srgbClr val="000000"/>
              </a:solidFill>
              <a:latin typeface="Calibri" panose="020F0502020204030204" pitchFamily="34" charset="0"/>
            </a:endParaRPr>
          </a:p>
        </p:txBody>
      </p:sp>
      <p:pic>
        <p:nvPicPr>
          <p:cNvPr id="1032" name="Picture 8" descr="Image result for round table puzz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1625" y="863218"/>
            <a:ext cx="7419975" cy="55626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99B73C5-DA26-AD5C-0595-ACEAE6595103}"/>
              </a:ext>
            </a:extLst>
          </p:cNvPr>
          <p:cNvSpPr>
            <a:spLocks noGrp="1"/>
          </p:cNvSpPr>
          <p:nvPr>
            <p:ph type="title"/>
          </p:nvPr>
        </p:nvSpPr>
        <p:spPr>
          <a:xfrm>
            <a:off x="1524000" y="0"/>
            <a:ext cx="9144000" cy="1340768"/>
          </a:xfrm>
        </p:spPr>
        <p:txBody>
          <a:bodyPr/>
          <a:lstStyle/>
          <a:p>
            <a:pPr marL="0">
              <a:spcBef>
                <a:spcPts val="0"/>
              </a:spcBef>
              <a:spcAft>
                <a:spcPts val="1200"/>
              </a:spcAft>
            </a:pPr>
            <a:r>
              <a:rPr lang="en-US" sz="6000" dirty="0">
                <a:latin typeface="Calibri" panose="020F0502020204030204" pitchFamily="34" charset="0"/>
              </a:rPr>
              <a:t>Questions and conclusions</a:t>
            </a:r>
          </a:p>
        </p:txBody>
      </p:sp>
    </p:spTree>
    <p:extLst>
      <p:ext uri="{BB962C8B-B14F-4D97-AF65-F5344CB8AC3E}">
        <p14:creationId xmlns:p14="http://schemas.microsoft.com/office/powerpoint/2010/main" val="3450012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7A428-1495-5DA4-188C-852FC3240B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AE999A-B933-4B12-E53F-9FA31630FAE9}"/>
              </a:ext>
            </a:extLst>
          </p:cNvPr>
          <p:cNvSpPr>
            <a:spLocks noGrp="1"/>
          </p:cNvSpPr>
          <p:nvPr>
            <p:ph type="title"/>
          </p:nvPr>
        </p:nvSpPr>
        <p:spPr>
          <a:xfrm>
            <a:off x="624417" y="1628799"/>
            <a:ext cx="10972800" cy="4653269"/>
          </a:xfrm>
        </p:spPr>
        <p:txBody>
          <a:bodyPr/>
          <a:lstStyle/>
          <a:p>
            <a:pPr algn="ctr"/>
            <a:r>
              <a:rPr lang="en-US" sz="7200" dirty="0">
                <a:solidFill>
                  <a:schemeClr val="bg1"/>
                </a:solidFill>
                <a:latin typeface="Calibri" panose="020F0502020204030204" pitchFamily="34" charset="0"/>
              </a:rPr>
              <a:t>Thank you for your attention!</a:t>
            </a:r>
            <a:br>
              <a:rPr lang="en-US" sz="7200" dirty="0">
                <a:solidFill>
                  <a:schemeClr val="bg1"/>
                </a:solidFill>
                <a:latin typeface="Calibri" panose="020F0502020204030204" pitchFamily="34" charset="0"/>
              </a:rPr>
            </a:br>
            <a:br>
              <a:rPr lang="en-US" sz="7200" dirty="0">
                <a:solidFill>
                  <a:schemeClr val="bg1"/>
                </a:solidFill>
                <a:latin typeface="Calibri" panose="020F0502020204030204" pitchFamily="34" charset="0"/>
              </a:rPr>
            </a:br>
            <a:r>
              <a:rPr lang="en-US" sz="4000" dirty="0">
                <a:solidFill>
                  <a:schemeClr val="bg1"/>
                </a:solidFill>
                <a:latin typeface="Calibri" panose="020F0502020204030204" pitchFamily="34" charset="0"/>
              </a:rPr>
              <a:t>Fernando.Diaz-Alonso@ec.europa.eu</a:t>
            </a:r>
            <a:br>
              <a:rPr lang="en-US" sz="4000" dirty="0">
                <a:solidFill>
                  <a:schemeClr val="bg1"/>
                </a:solidFill>
                <a:latin typeface="Calibri" panose="020F0502020204030204" pitchFamily="34" charset="0"/>
              </a:rPr>
            </a:br>
            <a:r>
              <a:rPr lang="en-US" sz="4000" dirty="0">
                <a:solidFill>
                  <a:schemeClr val="bg1"/>
                </a:solidFill>
                <a:latin typeface="Calibri" panose="020F0502020204030204" pitchFamily="34" charset="0"/>
              </a:rPr>
              <a:t>http://ec.europa.eu/eurostat</a:t>
            </a:r>
            <a:endParaRPr lang="en-IE" sz="6600" dirty="0">
              <a:solidFill>
                <a:schemeClr val="bg1"/>
              </a:solidFill>
            </a:endParaRPr>
          </a:p>
        </p:txBody>
      </p:sp>
      <p:sp>
        <p:nvSpPr>
          <p:cNvPr id="6" name="Slide Number Placeholder 5">
            <a:extLst>
              <a:ext uri="{FF2B5EF4-FFF2-40B4-BE49-F238E27FC236}">
                <a16:creationId xmlns:a16="http://schemas.microsoft.com/office/drawing/2014/main" id="{D4C52DD8-BA0E-FAC6-EFE7-32F6B6BB7C7E}"/>
              </a:ext>
            </a:extLst>
          </p:cNvPr>
          <p:cNvSpPr>
            <a:spLocks noGrp="1"/>
          </p:cNvSpPr>
          <p:nvPr>
            <p:ph type="sldNum" sz="quarter" idx="4"/>
          </p:nvPr>
        </p:nvSpPr>
        <p:spPr>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solidFill>
                  <a:schemeClr val="bg1"/>
                </a:solidFill>
              </a:rPr>
              <a:pPr algn="l"/>
              <a:t>31</a:t>
            </a:fld>
            <a:endParaRPr lang="en-IE" dirty="0">
              <a:solidFill>
                <a:schemeClr val="bg1"/>
              </a:solidFill>
            </a:endParaRPr>
          </a:p>
        </p:txBody>
      </p:sp>
    </p:spTree>
    <p:extLst>
      <p:ext uri="{BB962C8B-B14F-4D97-AF65-F5344CB8AC3E}">
        <p14:creationId xmlns:p14="http://schemas.microsoft.com/office/powerpoint/2010/main" val="288955040"/>
      </p:ext>
    </p:extLst>
  </p:cSld>
  <p:clrMapOvr>
    <a:masterClrMapping/>
  </p:clrMapOvr>
</p:sld>
</file>

<file path=ppt/theme/theme1.xml><?xml version="1.0" encoding="utf-8"?>
<a:theme xmlns:a="http://schemas.openxmlformats.org/drawingml/2006/main" name="Powerpoint Presentation White">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33176"/>
        </a:solidFill>
        <a:ln>
          <a:solidFill>
            <a:srgbClr val="133176"/>
          </a:solidFill>
        </a:ln>
      </a:spPr>
      <a:bodyPr anchor="ctr"/>
      <a:lstStyle>
        <a:defPPr algn="ctr" defTabSz="457200" fontAlgn="auto">
          <a:spcBef>
            <a:spcPts val="0"/>
          </a:spcBef>
          <a:spcAft>
            <a:spcPts val="0"/>
          </a:spcAft>
          <a:defRPr sz="1800" b="0"/>
        </a:defPPr>
      </a:lstStyle>
      <a:style>
        <a:lnRef idx="1">
          <a:schemeClr val="accent1"/>
        </a:lnRef>
        <a:fillRef idx="3">
          <a:schemeClr val="accent1"/>
        </a:fillRef>
        <a:effectRef idx="2">
          <a:schemeClr val="accent1"/>
        </a:effectRef>
        <a:fontRef idx="minor">
          <a:schemeClr val="lt1"/>
        </a:fontRef>
      </a: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3175" marR="0" indent="0" algn="l" defTabSz="914400" rtl="0" eaLnBrk="1" fontAlgn="base" latinLnBrk="0" hangingPunct="1">
          <a:lnSpc>
            <a:spcPct val="100000"/>
          </a:lnSpc>
          <a:spcBef>
            <a:spcPct val="0"/>
          </a:spcBef>
          <a:spcAft>
            <a:spcPct val="0"/>
          </a:spcAft>
          <a:buClrTx/>
          <a:buSzTx/>
          <a:buFontTx/>
          <a:buNone/>
          <a:tabLst/>
          <a:defRPr kumimoji="0" lang="en-GB" sz="7600" b="1" i="0" u="none" strike="noStrike" cap="none" normalizeH="0" baseline="0" smtClean="0">
            <a:ln>
              <a:noFill/>
            </a:ln>
            <a:solidFill>
              <a:srgbClr val="FFD624"/>
            </a:solidFill>
            <a:effectLst/>
            <a:latin typeface="Verdana" pitchFamily="34" charset="0"/>
          </a:defRPr>
        </a:defPPr>
      </a:lstStyle>
    </a:lnDef>
    <a:txDef>
      <a:spPr>
        <a:noFill/>
      </a:spPr>
      <a:bodyPr wrap="none" rtlCol="0">
        <a:spAutoFit/>
      </a:bodyPr>
      <a:lstStyle>
        <a:defPPr>
          <a:defRPr sz="2400" b="0" dirty="0" err="1" smtClean="0">
            <a:solidFill>
              <a:srgbClr val="0F5494"/>
            </a:solidFill>
          </a:defRPr>
        </a:defPPr>
      </a:lstStyle>
    </a:tx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7BA3A2428DB744E821DDFA0A9E10ECC" ma:contentTypeVersion="14" ma:contentTypeDescription="Create a new document." ma:contentTypeScope="" ma:versionID="8bee8df0d26522b659286bbf97a4b010">
  <xsd:schema xmlns:xsd="http://www.w3.org/2001/XMLSchema" xmlns:xs="http://www.w3.org/2001/XMLSchema" xmlns:p="http://schemas.microsoft.com/office/2006/metadata/properties" xmlns:ns2="1403fb54-47f0-4125-8d87-6a6e13582a5f" xmlns:ns3="340712eb-23a5-460f-9036-c6d10688f9a1" targetNamespace="http://schemas.microsoft.com/office/2006/metadata/properties" ma:root="true" ma:fieldsID="2079c50b34cde841e7e7eef08b1850f0" ns2:_="" ns3:_="">
    <xsd:import namespace="1403fb54-47f0-4125-8d87-6a6e13582a5f"/>
    <xsd:import namespace="340712eb-23a5-460f-9036-c6d10688f9a1"/>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element ref="ns2:lcf76f155ced4ddcb4097134ff3c332f" minOccurs="0"/>
                <xsd:element ref="ns3:TaxCatchAll"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03fb54-47f0-4125-8d87-6a6e13582a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de42cbc-566b-46c9-aea5-a71cdcd36d8f" ma:termSetId="09814cd3-568e-fe90-9814-8d621ff8fb84" ma:anchorId="fba54fb3-c3e1-fe81-a776-ca4b69148c4d" ma:open="true" ma:isKeyword="false">
      <xsd:complexType>
        <xsd:sequence>
          <xsd:element ref="pc:Terms" minOccurs="0" maxOccurs="1"/>
        </xsd:sequence>
      </xsd:complex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40712eb-23a5-460f-9036-c6d10688f9a1"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e6286381-c642-4a0c-afc0-c5b6a9882855}" ma:internalName="TaxCatchAll" ma:showField="CatchAllData" ma:web="340712eb-23a5-460f-9036-c6d10688f9a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40712eb-23a5-460f-9036-c6d10688f9a1" xsi:nil="true"/>
    <lcf76f155ced4ddcb4097134ff3c332f xmlns="1403fb54-47f0-4125-8d87-6a6e13582a5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751B435-8AE8-4267-9587-18AAF088D8FC}"/>
</file>

<file path=customXml/itemProps2.xml><?xml version="1.0" encoding="utf-8"?>
<ds:datastoreItem xmlns:ds="http://schemas.openxmlformats.org/officeDocument/2006/customXml" ds:itemID="{C1AB2D96-5AA2-4BC0-BA40-8484CA3EBF0F}"/>
</file>

<file path=customXml/itemProps3.xml><?xml version="1.0" encoding="utf-8"?>
<ds:datastoreItem xmlns:ds="http://schemas.openxmlformats.org/officeDocument/2006/customXml" ds:itemID="{5A734992-21D2-48DB-A884-C25327F059D4}"/>
</file>

<file path=docProps/app.xml><?xml version="1.0" encoding="utf-8"?>
<Properties xmlns="http://schemas.openxmlformats.org/officeDocument/2006/extended-properties" xmlns:vt="http://schemas.openxmlformats.org/officeDocument/2006/docPropsVTypes">
  <Template/>
  <TotalTime>11549</TotalTime>
  <Words>1379</Words>
  <Application>Microsoft Office PowerPoint</Application>
  <PresentationFormat>Widescreen</PresentationFormat>
  <Paragraphs>202</Paragraphs>
  <Slides>31</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Verdana</vt:lpstr>
      <vt:lpstr>Wingdings</vt:lpstr>
      <vt:lpstr>Powerpoint Presentation White</vt:lpstr>
      <vt:lpstr>Eurostat and renewable energy statistics  Ukraine visit to the EEA  23 October 2025</vt:lpstr>
      <vt:lpstr>PowerPoint Presentation</vt:lpstr>
      <vt:lpstr>PowerPoint Presentation</vt:lpstr>
      <vt:lpstr>Legal basis for energy statistics</vt:lpstr>
      <vt:lpstr>PowerPoint Presentation</vt:lpstr>
      <vt:lpstr>Annual data</vt:lpstr>
      <vt:lpstr>PowerPoint Presentation</vt:lpstr>
      <vt:lpstr>Renewable energy statistics</vt:lpstr>
      <vt:lpstr>Renewable energy sources</vt:lpstr>
      <vt:lpstr>General structure: flows</vt:lpstr>
      <vt:lpstr>Infrastructure and capacity</vt:lpstr>
      <vt:lpstr>General structure: infrastructure and capacity tables</vt:lpstr>
      <vt:lpstr>Database</vt:lpstr>
      <vt:lpstr>Visualisation tools</vt:lpstr>
      <vt:lpstr>SHARES  (Short Assessment of Renewable Energy Sources) Annex II, tables 1 to 5</vt:lpstr>
      <vt:lpstr>Introduction</vt:lpstr>
      <vt:lpstr>Legal basis</vt:lpstr>
      <vt:lpstr>PowerPoint Presentation</vt:lpstr>
      <vt:lpstr>Components</vt:lpstr>
      <vt:lpstr>Input – annual questionnaires</vt:lpstr>
      <vt:lpstr>Input – additional data</vt:lpstr>
      <vt:lpstr>Introduction – SHARES Manual</vt:lpstr>
      <vt:lpstr>Some reflections</vt:lpstr>
      <vt:lpstr>Some reflections</vt:lpstr>
      <vt:lpstr>Biomass  Annex II, table 6</vt:lpstr>
      <vt:lpstr>Biomass reporting</vt:lpstr>
      <vt:lpstr>Biomass reporting</vt:lpstr>
      <vt:lpstr>NECPR reporting – some thoughts</vt:lpstr>
      <vt:lpstr>NECPR reporting</vt:lpstr>
      <vt:lpstr>Questions and conclusions</vt:lpstr>
      <vt:lpstr>Thank you for your attention!  Fernando.Diaz-Alonso@ec.europa.eu http://ec.europa.eu/eurostat</vt:lpstr>
    </vt:vector>
  </TitlesOfParts>
  <Manager>Gita.BERGERE@ec.europa.eu</Manager>
  <Company>European Commission - Eurostat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 questionnaires validation</dc:title>
  <dc:subject>ESTP training</dc:subject>
  <dc:creator>Fernando.DIAZ-ALONSO@ec.europa.eu</dc:creator>
  <cp:keywords>ESTP training</cp:keywords>
  <cp:lastModifiedBy>DIAZ ALONSO Fernando (ESTAT)</cp:lastModifiedBy>
  <cp:revision>584</cp:revision>
  <cp:lastPrinted>2018-04-03T09:17:54Z</cp:lastPrinted>
  <dcterms:created xsi:type="dcterms:W3CDTF">2011-10-28T10:25:18Z</dcterms:created>
  <dcterms:modified xsi:type="dcterms:W3CDTF">2025-10-21T14:19:18Z</dcterms:modified>
  <cp:category>ESTP training</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d9ddd1-4d20-43f6-abfa-fc3c07406f94_Enabled">
    <vt:lpwstr>true</vt:lpwstr>
  </property>
  <property fmtid="{D5CDD505-2E9C-101B-9397-08002B2CF9AE}" pid="3" name="MSIP_Label_6bd9ddd1-4d20-43f6-abfa-fc3c07406f94_SetDate">
    <vt:lpwstr>2023-10-06T08:59:18Z</vt:lpwstr>
  </property>
  <property fmtid="{D5CDD505-2E9C-101B-9397-08002B2CF9AE}" pid="4" name="MSIP_Label_6bd9ddd1-4d20-43f6-abfa-fc3c07406f94_Method">
    <vt:lpwstr>Standard</vt:lpwstr>
  </property>
  <property fmtid="{D5CDD505-2E9C-101B-9397-08002B2CF9AE}" pid="5" name="MSIP_Label_6bd9ddd1-4d20-43f6-abfa-fc3c07406f94_Name">
    <vt:lpwstr>Commission Use</vt:lpwstr>
  </property>
  <property fmtid="{D5CDD505-2E9C-101B-9397-08002B2CF9AE}" pid="6" name="MSIP_Label_6bd9ddd1-4d20-43f6-abfa-fc3c07406f94_SiteId">
    <vt:lpwstr>b24c8b06-522c-46fe-9080-70926f8dddb1</vt:lpwstr>
  </property>
  <property fmtid="{D5CDD505-2E9C-101B-9397-08002B2CF9AE}" pid="7" name="MSIP_Label_6bd9ddd1-4d20-43f6-abfa-fc3c07406f94_ActionId">
    <vt:lpwstr>7cc54069-bf60-4bef-b20c-4ac29a5f7cb7</vt:lpwstr>
  </property>
  <property fmtid="{D5CDD505-2E9C-101B-9397-08002B2CF9AE}" pid="8" name="MSIP_Label_6bd9ddd1-4d20-43f6-abfa-fc3c07406f94_ContentBits">
    <vt:lpwstr>0</vt:lpwstr>
  </property>
  <property fmtid="{D5CDD505-2E9C-101B-9397-08002B2CF9AE}" pid="9" name="ContentTypeId">
    <vt:lpwstr>0x010100A7BA3A2428DB744E821DDFA0A9E10ECC</vt:lpwstr>
  </property>
</Properties>
</file>