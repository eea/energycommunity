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4"/>
    <p:sldMasterId id="2147483675" r:id="rId5"/>
    <p:sldMasterId id="2147483677" r:id="rId6"/>
    <p:sldMasterId id="2147483679" r:id="rId7"/>
  </p:sldMasterIdLst>
  <p:notesMasterIdLst>
    <p:notesMasterId r:id="rId28"/>
  </p:notesMasterIdLst>
  <p:sldIdLst>
    <p:sldId id="2147475017" r:id="rId8"/>
    <p:sldId id="1772" r:id="rId9"/>
    <p:sldId id="2147474750" r:id="rId10"/>
    <p:sldId id="1902" r:id="rId11"/>
    <p:sldId id="271" r:id="rId12"/>
    <p:sldId id="1932" r:id="rId13"/>
    <p:sldId id="1874" r:id="rId14"/>
    <p:sldId id="2054" r:id="rId15"/>
    <p:sldId id="1910" r:id="rId16"/>
    <p:sldId id="1830" r:id="rId17"/>
    <p:sldId id="1917" r:id="rId18"/>
    <p:sldId id="2147473181" r:id="rId19"/>
    <p:sldId id="1905" r:id="rId20"/>
    <p:sldId id="1931" r:id="rId21"/>
    <p:sldId id="1911" r:id="rId22"/>
    <p:sldId id="1923" r:id="rId23"/>
    <p:sldId id="1904" r:id="rId24"/>
    <p:sldId id="499" r:id="rId25"/>
    <p:sldId id="1927" r:id="rId26"/>
    <p:sldId id="1909" r:id="rId27"/>
  </p:sldIdLst>
  <p:sldSz cx="12192000" cy="6858000"/>
  <p:notesSz cx="6735763" cy="9866313"/>
  <p:embeddedFontLs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Raleway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hAfTG+zL/5x5gbJxuUkIKZDe4Im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A414BF-87DF-57C5-4BB4-064C9FEA8BA8}" name="Hans-Martin Füssel" initials="HMF" userId="S::Martin.Fuessel@eea.europa.eu::f304d999-9824-49f5-a2c7-e097d61959f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CC0000"/>
    <a:srgbClr val="45818E"/>
    <a:srgbClr val="003052"/>
    <a:srgbClr val="93A8B5"/>
    <a:srgbClr val="B09F9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814" autoAdjust="0"/>
  </p:normalViewPr>
  <p:slideViewPr>
    <p:cSldViewPr snapToGrid="0">
      <p:cViewPr varScale="1">
        <p:scale>
          <a:sx n="119" d="100"/>
          <a:sy n="119" d="100"/>
        </p:scale>
        <p:origin x="408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font" Target="fonts/font6.fntdata"/><Relationship Id="rId76" Type="http://customschemas.google.com/relationships/presentationmetadata" Target="metadata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4.fntdata"/><Relationship Id="rId79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3.fntdata"/><Relationship Id="rId78" Type="http://schemas.openxmlformats.org/officeDocument/2006/relationships/viewProps" Target="viewProps.xml"/><Relationship Id="rId8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77" Type="http://schemas.openxmlformats.org/officeDocument/2006/relationships/presProps" Target="presProps.xml"/><Relationship Id="rId8" Type="http://schemas.openxmlformats.org/officeDocument/2006/relationships/slide" Target="slides/slide1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8831" cy="49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5373" y="0"/>
            <a:ext cx="2918831" cy="49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/>
              <a:t>In my presentation, I would like to address various aspects of the first European Climate Risk Assessment, which I coordinated from 2022 to early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3C1E0F3-6303-49CF-BDEA-1EB167D66472}" type="slidenum">
              <a:rPr kumimoji="0" lang="en-DK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n-DK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3995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83294-E9FF-4F24-AF23-19B98F36DF0D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46175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088802d63_0_1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63650"/>
            <a:ext cx="6083300" cy="34210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088802d63_0_1631:notes"/>
          <p:cNvSpPr txBox="1">
            <a:spLocks noGrp="1"/>
          </p:cNvSpPr>
          <p:nvPr>
            <p:ph type="body" idx="1"/>
          </p:nvPr>
        </p:nvSpPr>
        <p:spPr>
          <a:xfrm>
            <a:off x="697589" y="4875111"/>
            <a:ext cx="5580704" cy="398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400" b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Let me start by presenting key results of EUCRA published in spring 2024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READ</a:t>
            </a:r>
            <a:endParaRPr lang="en-GB" sz="1400" b="1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39" name="Google Shape;139;g14088802d63_0_1631:notes"/>
          <p:cNvSpPr txBox="1">
            <a:spLocks noGrp="1"/>
          </p:cNvSpPr>
          <p:nvPr>
            <p:ph type="sldNum" idx="12"/>
          </p:nvPr>
        </p:nvSpPr>
        <p:spPr>
          <a:xfrm>
            <a:off x="3951385" y="9621838"/>
            <a:ext cx="3022882" cy="508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117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088802d6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14088802d63_0_8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context we live in in Europe</a:t>
            </a:r>
            <a:endParaRPr/>
          </a:p>
        </p:txBody>
      </p:sp>
      <p:sp>
        <p:nvSpPr>
          <p:cNvPr id="53" name="Google Shape;53;g14088802d63_0_8:notes"/>
          <p:cNvSpPr txBox="1">
            <a:spLocks noGrp="1"/>
          </p:cNvSpPr>
          <p:nvPr>
            <p:ph type="sldNum" idx="12"/>
          </p:nvPr>
        </p:nvSpPr>
        <p:spPr>
          <a:xfrm>
            <a:off x="3815373" y="9371285"/>
            <a:ext cx="2918831" cy="49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4394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088802d6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14088802d63_0_8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context we live in in Europe</a:t>
            </a:r>
          </a:p>
        </p:txBody>
      </p:sp>
      <p:sp>
        <p:nvSpPr>
          <p:cNvPr id="53" name="Google Shape;53;g14088802d63_0_8:notes"/>
          <p:cNvSpPr txBox="1">
            <a:spLocks noGrp="1"/>
          </p:cNvSpPr>
          <p:nvPr>
            <p:ph type="sldNum" idx="12"/>
          </p:nvPr>
        </p:nvSpPr>
        <p:spPr>
          <a:xfrm>
            <a:off x="3815373" y="9371285"/>
            <a:ext cx="2918831" cy="49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3226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088802d63_0_1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63650"/>
            <a:ext cx="6083300" cy="34210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088802d63_0_1631:notes"/>
          <p:cNvSpPr txBox="1">
            <a:spLocks noGrp="1"/>
          </p:cNvSpPr>
          <p:nvPr>
            <p:ph type="body" idx="1"/>
          </p:nvPr>
        </p:nvSpPr>
        <p:spPr>
          <a:xfrm>
            <a:off x="697589" y="4875111"/>
            <a:ext cx="5580704" cy="398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Climate change is the new reality</a:t>
            </a:r>
          </a:p>
        </p:txBody>
      </p:sp>
      <p:sp>
        <p:nvSpPr>
          <p:cNvPr id="139" name="Google Shape;139;g14088802d63_0_1631:notes"/>
          <p:cNvSpPr txBox="1">
            <a:spLocks noGrp="1"/>
          </p:cNvSpPr>
          <p:nvPr>
            <p:ph type="sldNum" idx="12"/>
          </p:nvPr>
        </p:nvSpPr>
        <p:spPr>
          <a:xfrm>
            <a:off x="3951385" y="9621838"/>
            <a:ext cx="3022882" cy="508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1881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effectLst/>
                <a:latin typeface="Raleway"/>
                <a:ea typeface="ヒラギノ角ゴ Pro W3"/>
                <a:cs typeface="Times New Roman"/>
              </a:rPr>
              <a:t>This slide shows changes in key climate risk drivers for four European macro-regions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effectLst/>
                <a:latin typeface="Raleway"/>
                <a:ea typeface="ヒラギノ角ゴ Pro W3"/>
                <a:cs typeface="Times New Roman"/>
              </a:rPr>
              <a:t>Note that EEA’s Europe extends beyond the EU – from Iceland to </a:t>
            </a:r>
            <a:r>
              <a:rPr lang="en-US" sz="1200" dirty="0" err="1">
                <a:effectLst/>
                <a:latin typeface="Raleway"/>
                <a:ea typeface="ヒラギノ角ゴ Pro W3"/>
                <a:cs typeface="Times New Roman"/>
              </a:rPr>
              <a:t>Turkiye</a:t>
            </a:r>
            <a:endParaRPr lang="en-US" sz="1200" dirty="0">
              <a:effectLst/>
              <a:latin typeface="Raleway"/>
              <a:ea typeface="ヒラギノ角ゴ Pro W3"/>
              <a:cs typeface="Times New Roman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effectLst/>
                <a:latin typeface="Raleway"/>
                <a:ea typeface="ヒラギノ角ゴ Pro W3"/>
                <a:cs typeface="Times New Roman"/>
              </a:rPr>
              <a:t>READ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8426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09574" y="4748163"/>
            <a:ext cx="5916613" cy="4165101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400" b="0" dirty="0">
                <a:latin typeface="Raleway" pitchFamily="2" charset="0"/>
              </a:rPr>
              <a:t>EUCRA presents its risk assessment in two formats: 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2060"/>
                </a:solidFill>
                <a:latin typeface="Raleway" pitchFamily="2" charset="0"/>
              </a:rPr>
              <a:t>EUCRA thematic factsheets: </a:t>
            </a:r>
            <a:br>
              <a:rPr lang="en-US" sz="1400" b="0" dirty="0">
                <a:solidFill>
                  <a:srgbClr val="002060"/>
                </a:solidFill>
                <a:latin typeface="Raleway" pitchFamily="2" charset="0"/>
              </a:rPr>
            </a:br>
            <a:r>
              <a:rPr lang="en-US" sz="1400" b="0" dirty="0">
                <a:solidFill>
                  <a:srgbClr val="002060"/>
                </a:solidFill>
                <a:latin typeface="Raleway" pitchFamily="2" charset="0"/>
              </a:rPr>
              <a:t>Compilation of key impacts and risks and related risks drivers for selected systems and sectors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6974"/>
                </a:solidFill>
                <a:latin typeface="Raleway" pitchFamily="2" charset="0"/>
              </a:rPr>
              <a:t>EUCRA risk storylines: </a:t>
            </a:r>
            <a:br>
              <a:rPr lang="en-US" sz="1400" b="0" dirty="0">
                <a:solidFill>
                  <a:srgbClr val="006974"/>
                </a:solidFill>
                <a:latin typeface="Raleway" pitchFamily="2" charset="0"/>
              </a:rPr>
            </a:br>
            <a:r>
              <a:rPr lang="en-US" sz="1400" b="0" dirty="0">
                <a:solidFill>
                  <a:srgbClr val="006974"/>
                </a:solidFill>
                <a:latin typeface="Raleway" pitchFamily="2" charset="0"/>
              </a:rPr>
              <a:t>Key compound risks and risk pathways across systems and sectors that could trigger new or exacerbate pre-existing crises and emergencies with relevance for the EU</a:t>
            </a:r>
            <a:endParaRPr lang="en-DK" sz="1400" b="0" dirty="0">
              <a:solidFill>
                <a:srgbClr val="006974"/>
              </a:solidFill>
              <a:latin typeface="Raleway" pitchFamily="2" charset="0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EUCRA synthesizing chapters:  </a:t>
            </a:r>
            <a:br>
              <a:rPr lang="en-US" sz="1400" b="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</a:br>
            <a:r>
              <a:rPr lang="en-US" sz="1400" b="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Synthesis of findings from the thematic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factsheets and risk storylines</a:t>
            </a:r>
            <a:endParaRPr lang="en-DK" sz="1400" dirty="0">
              <a:solidFill>
                <a:schemeClr val="accent1">
                  <a:lumMod val="50000"/>
                </a:schemeClr>
              </a:solidFill>
              <a:latin typeface="Raleway" pitchFamily="2" charset="0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Raleway" pitchFamily="2" charset="0"/>
              </a:rPr>
              <a:t>Most chapters have direct links to the UN Sustainable Development Goals.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Raleway" pitchFamily="2" charset="0"/>
              </a:rPr>
              <a:t>While the introduction of risk storylines was intended to account for complex, systemic or emerging risks, in the end not all of them fully achieved this goal.</a:t>
            </a:r>
            <a:r>
              <a:rPr lang="en-GB" sz="1400" dirty="0">
                <a:latin typeface="Raleway" pitchFamily="2" charset="0"/>
              </a:rPr>
              <a:t>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5756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five risk clusters are interconnected.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5961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088802d63_0_1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01800" y="1717675"/>
            <a:ext cx="8251825" cy="4641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088802d63_0_1631:notes"/>
          <p:cNvSpPr txBox="1">
            <a:spLocks noGrp="1"/>
          </p:cNvSpPr>
          <p:nvPr>
            <p:ph type="body" idx="1"/>
          </p:nvPr>
        </p:nvSpPr>
        <p:spPr>
          <a:xfrm>
            <a:off x="484889" y="6618110"/>
            <a:ext cx="3879105" cy="541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 structured risk evaluation in EUCRA has the following objectives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Support the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identification of priorities for EU policy action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;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Improve the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comparability of the risk evaluation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 across storylines and factsheets; 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Ensure the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legitimacy of the risk evaluation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0"/>
                <a:ea typeface="+mn-ea"/>
                <a:cs typeface="Calibri" panose="020F0502020204030204" pitchFamily="34" charset="0"/>
              </a:rPr>
              <a:t> through independent review.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4088802d63_0_1631:notes"/>
          <p:cNvSpPr txBox="1">
            <a:spLocks noGrp="1"/>
          </p:cNvSpPr>
          <p:nvPr>
            <p:ph type="sldNum" idx="12"/>
          </p:nvPr>
        </p:nvSpPr>
        <p:spPr>
          <a:xfrm>
            <a:off x="2746579" y="13061933"/>
            <a:ext cx="2101182" cy="689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558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systematic risk assessment process has identified and assessed 36 major climate risks for Europe, grouped into five broad clusters: </a:t>
            </a:r>
            <a:b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ecosystems, food, health, infrastructure, and economy and finance</a:t>
            </a: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Depending on their nature, each of these risks alone has the potential to cause significant environmental degradation, economic damage, social emergencies and political turbulences; their combined effects are even more impactful. </a:t>
            </a:r>
          </a:p>
          <a:p>
            <a:pPr marL="5143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Almost all the selected major risks can reach critical or even catastrophic levels during this century, in particular under a high warming scenario.</a:t>
            </a:r>
            <a:endParaRPr lang="en-DK" sz="1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than half (21 out of the 36) major climate risks for Europe identified in this report need more action now</a:t>
            </a:r>
            <a:r>
              <a:rPr lang="en-GB" sz="1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with eight of them being particularly urgent.</a:t>
            </a:r>
            <a:r>
              <a:rPr lang="en-GB" sz="1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Urgent action is needed for risks from all policy clusters, indicating that policies need to increase in ambition, scope and implementation. </a:t>
            </a:r>
          </a:p>
          <a:p>
            <a:pPr marL="5143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2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third of these risks need further investigation, including more research, better monitoring or a review of the policy framework.</a:t>
            </a:r>
            <a:endParaRPr lang="en-DK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DK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22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urgency to act for each climate risk is determined </a:t>
            </a:r>
            <a:b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risk characteristics </a:t>
            </a:r>
            <a:b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well as the policy context, </a:t>
            </a:r>
            <a:b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considering explicitly the time dimension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largest number of urgent risks are in the ecosystems and health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all clusters include risks that require urgent action now.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3262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risk assessment on the previous slide with two major climate risks for the energy sector </a:t>
            </a:r>
            <a:b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 based on a more complex assessment of pathways along which climate change can impact various elements of the energy system, that is:</a:t>
            </a:r>
          </a:p>
          <a:p>
            <a:pPr marL="9715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Production and generation</a:t>
            </a:r>
          </a:p>
          <a:p>
            <a:pPr marL="9715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Transport, transmission and distribution</a:t>
            </a:r>
          </a:p>
          <a:p>
            <a:pPr marL="9715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Demand</a:t>
            </a: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aggregation of information from many impact pathways to two major climate risks (in red) </a:t>
            </a:r>
            <a:b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reflects the need to keep the total number of major risks in EUCRA manageable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9268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Risks to the energy system are covered primarily in the Infrastructure cluster</a:t>
            </a: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Extreme weather events are posing increasing risks to the built environment and infrastructure in Europe, as well as the services they provide. </a:t>
            </a: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events can disrupt essential services, including energy supply, water supply and transport networks.</a:t>
            </a: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Pluvial and fluvial flooding are already creating substantial risks for the built environment and population across Europe, as evidenced by various highly destructive floods in recent years. </a:t>
            </a:r>
            <a:endParaRPr lang="en-GB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2857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effectLst/>
                <a:ea typeface="Calibri" panose="020F0502020204030204" pitchFamily="34" charset="0"/>
              </a:rPr>
              <a:t>Coastal </a:t>
            </a:r>
            <a:r>
              <a:rPr lang="en-GB" sz="1200" b="0" i="0" u="none" strike="noStrike" cap="none" dirty="0">
                <a:solidFill>
                  <a:schemeClr val="dk1"/>
                </a:solidFill>
                <a:effectLst/>
                <a:ea typeface="Calibri" panose="020F0502020204030204" pitchFamily="34" charset="0"/>
                <a:sym typeface="Calibri"/>
              </a:rPr>
              <a:t>flood</a:t>
            </a:r>
            <a:r>
              <a:rPr lang="en-GB" sz="1200" dirty="0">
                <a:effectLst/>
                <a:ea typeface="Calibri" panose="020F0502020204030204" pitchFamily="34" charset="0"/>
              </a:rPr>
              <a:t> risks have been successfully managed in Europe overall,</a:t>
            </a:r>
            <a:r>
              <a:rPr lang="en-GB" sz="1200" dirty="0">
                <a:ea typeface="Calibri" panose="020F0502020204030204" pitchFamily="34" charset="0"/>
              </a:rPr>
              <a:t> no substantial losses in the last 50 years,</a:t>
            </a:r>
            <a:r>
              <a:rPr lang="en-GB" sz="1200" dirty="0">
                <a:effectLst/>
                <a:ea typeface="Calibri" panose="020F0502020204030204" pitchFamily="34" charset="0"/>
              </a:rPr>
              <a:t> but the accelerating pace of sea-level rise and the exponential increase in flooding risks resulting require more action now.</a:t>
            </a:r>
            <a:r>
              <a:rPr lang="en-GB" sz="1200" dirty="0">
                <a:ea typeface="Calibri" panose="020F0502020204030204" pitchFamily="34" charset="0"/>
              </a:rPr>
              <a:t> </a:t>
            </a:r>
            <a:endParaRPr lang="en-GB" sz="1200" dirty="0">
              <a:effectLst/>
              <a:ea typeface="Calibri" panose="020F0502020204030204" pitchFamily="34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European energy system is exposed to multiple climate risks, with southern Europe affected most strongly.</a:t>
            </a: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Combined heat and drought, and coastal and inland flooding, are identified as major risks for the energy system, but storms, wildfires, and gradual temperature changes are relevant as well.</a:t>
            </a: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ANIMATION</a:t>
            </a:r>
            <a:endParaRPr lang="en-GB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GB" sz="12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priorities for policy action include conducting assessments and implementing measures to enhance the resilience of critical infrastructure on a systems level, and incorporating climate projections into the Eurocodes.</a:t>
            </a:r>
            <a:endParaRPr lang="en-GB" sz="12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Increasing resilience to climate change needs to be an essential part of EU climate and energy policies. </a:t>
            </a:r>
          </a:p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security of supply in southern Europe during prolonged droughts and heat waves is key. </a:t>
            </a:r>
            <a:endParaRPr lang="en-GB" sz="12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5012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8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1379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GB" sz="18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6475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7924-68EF-A344-4516-36B673E9F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171B0-477D-AB5D-152A-A8FE17418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393C0-5D9D-2304-7A43-775210322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EEA provides further relevant information on the transformation of the European energy system: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 EUCRA technical report (currently available as draft only)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The European Climate Adaptation Portal, Climate-ADAPT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 report about adaptation challenges and opportunities for the European energy system (from 2019; one of the last ones that was printed)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CCB0D-4BDA-5789-A59C-97ACD247C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83294-E9FF-4F24-AF23-19B98F36DF0D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91187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2913" y="669925"/>
            <a:ext cx="5919787" cy="3330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noProof="0" dirty="0"/>
              <a:t>The 2019 EEA report provides more detailed information about climate impacts and adaptation needs and opportunities for the European energy system.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noProof="0" dirty="0"/>
              <a:t>The policy context has evolved whereas the scientific assessment is still essentially valid.</a:t>
            </a:r>
          </a:p>
          <a:p>
            <a:pPr marL="0" indent="0">
              <a:spcBef>
                <a:spcPts val="600"/>
              </a:spcBef>
              <a:buFont typeface="+mj-lt"/>
              <a:buNone/>
            </a:pPr>
            <a:endParaRPr lang="en-GB" b="1" noProof="0" dirty="0"/>
          </a:p>
          <a:p>
            <a:pPr marL="228563" indent="-228563">
              <a:spcBef>
                <a:spcPts val="600"/>
              </a:spcBef>
              <a:buFont typeface="+mj-lt"/>
              <a:buAutoNum type="arabicPeriod"/>
            </a:pPr>
            <a:r>
              <a:rPr lang="en-GB" noProof="0" dirty="0"/>
              <a:t>All components of the energy system are vulnerable to climate change and/or extreme weather events.</a:t>
            </a:r>
          </a:p>
          <a:p>
            <a:pPr marL="228563" indent="-228563">
              <a:spcBef>
                <a:spcPts val="600"/>
              </a:spcBef>
              <a:buFont typeface="+mj-lt"/>
              <a:buAutoNum type="arabicPeriod"/>
            </a:pPr>
            <a:r>
              <a:rPr lang="en-GB" noProof="0" dirty="0"/>
              <a:t>Climate change impacts – and related adaptation needs - differ across regions and energy sector components.</a:t>
            </a:r>
          </a:p>
          <a:p>
            <a:pPr marL="228563" indent="-228563">
              <a:spcBef>
                <a:spcPts val="600"/>
              </a:spcBef>
              <a:buFont typeface="+mj-lt"/>
              <a:buAutoNum type="arabicPeriod"/>
            </a:pPr>
            <a:r>
              <a:rPr lang="en-GB" noProof="0" dirty="0"/>
              <a:t>Climate change is projected to have adverse as well as beneficial impacts on the energy system in northern Europe. </a:t>
            </a:r>
            <a:br>
              <a:rPr lang="en-GB" noProof="0" dirty="0"/>
            </a:br>
            <a:r>
              <a:rPr lang="en-GB" noProof="0" dirty="0"/>
              <a:t>In contrast, impacts are overwhelmingly adverse in southern Europe.</a:t>
            </a:r>
          </a:p>
          <a:p>
            <a:pPr>
              <a:spcBef>
                <a:spcPts val="600"/>
              </a:spcBef>
            </a:pPr>
            <a:endParaRPr lang="en-GB" noProof="0" dirty="0"/>
          </a:p>
          <a:p>
            <a:pPr>
              <a:spcBef>
                <a:spcPts val="600"/>
              </a:spcBef>
            </a:pPr>
            <a:r>
              <a:rPr lang="en-GB" noProof="0" dirty="0"/>
              <a:t>The development of clean energy strategies needs to address these impacts:</a:t>
            </a:r>
          </a:p>
          <a:p>
            <a:pPr marL="228563" indent="-228563">
              <a:spcBef>
                <a:spcPts val="600"/>
              </a:spcBef>
              <a:buFont typeface="+mj-lt"/>
              <a:buAutoNum type="arabicPeriod"/>
            </a:pPr>
            <a:r>
              <a:rPr lang="en-GB" noProof="0" dirty="0"/>
              <a:t>For example, hydropower strategies in southern Europe need to consider the risk of decreasing water </a:t>
            </a:r>
            <a:r>
              <a:rPr lang="en-GB" noProof="0" dirty="0" err="1"/>
              <a:t>avaiability</a:t>
            </a:r>
            <a:r>
              <a:rPr lang="en-GB" noProof="0" dirty="0"/>
              <a:t>.</a:t>
            </a:r>
          </a:p>
          <a:p>
            <a:pPr marL="228563" indent="-228563">
              <a:spcBef>
                <a:spcPts val="600"/>
              </a:spcBef>
              <a:buFont typeface="+mj-lt"/>
              <a:buAutoNum type="arabicPeriod"/>
            </a:pPr>
            <a:r>
              <a:rPr lang="en-GB" noProof="0" dirty="0"/>
              <a:t>Similarly, expansion strategies for electricity grids should assess whether current design standards are still sufficient in a world with more extreme heatwaves and, potentially, stronger storms.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201BC-94E4-4101-962D-54511777D22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563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2913" y="669925"/>
            <a:ext cx="5919787" cy="3330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None/>
              <a:tabLst/>
              <a:defRPr/>
            </a:pPr>
            <a:r>
              <a:rPr lang="en-GB" b="1" noProof="0" dirty="0"/>
              <a:t>In particular, the 2019 EEA report provides more regional detail regarding climate impacts and adaptation needs for the European energy </a:t>
            </a:r>
            <a:r>
              <a:rPr lang="en-GB" b="1" noProof="0"/>
              <a:t>system.</a:t>
            </a:r>
            <a:endParaRPr lang="en-GB" b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201BC-94E4-4101-962D-54511777D22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1012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658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">
            <a:extLst>
              <a:ext uri="{FF2B5EF4-FFF2-40B4-BE49-F238E27FC236}">
                <a16:creationId xmlns:a16="http://schemas.microsoft.com/office/drawing/2014/main" id="{33E6BE15-809C-50BE-F22A-20351128FA48}"/>
              </a:ext>
            </a:extLst>
          </p:cNvPr>
          <p:cNvCxnSpPr/>
          <p:nvPr userDrawn="1"/>
        </p:nvCxnSpPr>
        <p:spPr>
          <a:xfrm>
            <a:off x="0" y="756000"/>
            <a:ext cx="12192000" cy="24938"/>
          </a:xfrm>
          <a:prstGeom prst="line">
            <a:avLst/>
          </a:prstGeom>
          <a:ln w="114300">
            <a:solidFill>
              <a:srgbClr val="113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93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">
            <a:extLst>
              <a:ext uri="{FF2B5EF4-FFF2-40B4-BE49-F238E27FC236}">
                <a16:creationId xmlns:a16="http://schemas.microsoft.com/office/drawing/2014/main" id="{33E6BE15-809C-50BE-F22A-20351128FA48}"/>
              </a:ext>
            </a:extLst>
          </p:cNvPr>
          <p:cNvCxnSpPr/>
          <p:nvPr userDrawn="1"/>
        </p:nvCxnSpPr>
        <p:spPr>
          <a:xfrm>
            <a:off x="0" y="756000"/>
            <a:ext cx="12192000" cy="24938"/>
          </a:xfrm>
          <a:prstGeom prst="line">
            <a:avLst/>
          </a:prstGeom>
          <a:ln w="114300">
            <a:solidFill>
              <a:srgbClr val="113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70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31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97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gativ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A9E58F-F0E4-446A-9BDE-731A333E6E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B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11EA8EF-487D-6216-06F9-0827FE4541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575" y="6026833"/>
            <a:ext cx="2715774" cy="54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7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85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7"/>
          <p:cNvCxnSpPr/>
          <p:nvPr/>
        </p:nvCxnSpPr>
        <p:spPr>
          <a:xfrm>
            <a:off x="0" y="756000"/>
            <a:ext cx="12192000" cy="24938"/>
          </a:xfrm>
          <a:prstGeom prst="straightConnector1">
            <a:avLst/>
          </a:prstGeom>
          <a:noFill/>
          <a:ln w="114300" cap="flat" cmpd="sng">
            <a:solidFill>
              <a:srgbClr val="113A6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48515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_image_Synthes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68000" y="36000"/>
            <a:ext cx="11246369" cy="676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lang="en-US"/>
              <a:t>Slide 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8313" y="1431925"/>
            <a:ext cx="11245850" cy="3759200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2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598488" y="6250565"/>
            <a:ext cx="3683000" cy="27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>
                <a:solidFill>
                  <a:srgbClr val="006654"/>
                </a:solidFill>
              </a:defRPr>
            </a:lvl2pPr>
            <a:lvl3pPr>
              <a:defRPr sz="1000">
                <a:solidFill>
                  <a:srgbClr val="006654"/>
                </a:solidFill>
              </a:defRPr>
            </a:lvl3pPr>
            <a:lvl4pPr>
              <a:defRPr sz="1000">
                <a:solidFill>
                  <a:srgbClr val="006654"/>
                </a:solidFill>
              </a:defRPr>
            </a:lvl4pPr>
            <a:lvl5pPr>
              <a:defRPr sz="1000">
                <a:solidFill>
                  <a:srgbClr val="006654"/>
                </a:solidFill>
              </a:defRPr>
            </a:lvl5pPr>
          </a:lstStyle>
          <a:p>
            <a:pPr lvl="0"/>
            <a:r>
              <a:rPr lang="en-US"/>
              <a:t>Source reference for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201917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_image_Synthes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68000" y="36000"/>
            <a:ext cx="11246369" cy="676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lang="en-US"/>
              <a:t>Slide 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8313" y="1431925"/>
            <a:ext cx="11245850" cy="3576680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2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598488" y="6250565"/>
            <a:ext cx="3683000" cy="27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>
                <a:solidFill>
                  <a:srgbClr val="006654"/>
                </a:solidFill>
              </a:defRPr>
            </a:lvl2pPr>
            <a:lvl3pPr>
              <a:defRPr sz="1000">
                <a:solidFill>
                  <a:srgbClr val="006654"/>
                </a:solidFill>
              </a:defRPr>
            </a:lvl3pPr>
            <a:lvl4pPr>
              <a:defRPr sz="1000">
                <a:solidFill>
                  <a:srgbClr val="006654"/>
                </a:solidFill>
              </a:defRPr>
            </a:lvl4pPr>
            <a:lvl5pPr>
              <a:defRPr sz="1000">
                <a:solidFill>
                  <a:srgbClr val="006654"/>
                </a:solidFill>
              </a:defRPr>
            </a:lvl5pPr>
          </a:lstStyle>
          <a:p>
            <a:pPr lvl="0"/>
            <a:r>
              <a:rPr lang="en-US"/>
              <a:t>Source reference for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99662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B39DE-0440-778E-126E-F4377D84C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A4FEE-8A7E-04D1-8B06-92060C9A3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CFCA8-CE4A-2788-9133-0BD5AE4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F3AE0-F247-FD9D-A551-22E5E335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416E9-A81C-379D-B884-0BC6E2BF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2297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138C-0B26-CA10-A921-08256FFE7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EEFDF-1429-8321-5A72-1991C8A9C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A19FA-8285-0BA3-7D1C-2C2AFB00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E73F4-63C2-6BDB-4364-03FF166A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7B67B-D29D-A8A6-14EC-530D9FD4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98451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AE9F-A7ED-C6A9-7231-43E4FB81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045EB-C8FC-21C8-4C3A-ED005EBAF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4840-A952-EA42-FF1A-E7EC9C6B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8AB17-D069-902D-114D-7043A516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5FB20-A4D5-251A-75DB-31E5642C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14457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74F9-33C9-61F5-F5C4-0D10D067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CF390-9D15-0B4A-C2AA-9B8BA9707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7B616-A32C-A47F-1938-41B70000B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A2B13-7C1A-6EB9-4799-B6C92461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84235-E820-E6D9-F5BA-3F0E66978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197C2-9499-4538-EA48-4431D45D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902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40D1-E526-9FA8-09CD-FA508A17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152A8-57A1-0F80-AE59-4E33C45FD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E224A-CC7A-0837-F322-021962D53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8A60A-18DC-C133-847D-8636B0691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53E61-C567-A4CB-7391-331D447AA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737D9-90CA-FCC6-4D6C-B6425DC2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9720F-A78B-F856-BD49-3A24165E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9FF39-F991-F173-F3EB-D4FFDD3C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35506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CF56-A1FA-4585-27B5-5A9F2FD8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3E217-FA7C-ECD7-D75D-B2FB959B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4469D-B159-C9C4-79FA-EA300715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614B1-D6FF-4F69-9BD8-6098A6FA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62755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AEA01-8ADC-9275-F4AE-DFE947874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46577-2A8E-822C-A1D6-BE956517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0E779-2F2D-8FDF-1C73-E6CEAC2D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7557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07E0-C78F-8E32-353B-CA82DD19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E3712-BB2A-5396-F8B2-674AD52A0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BB7B2-2695-91AB-5F2D-662BB7391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2F9C5-419F-D24B-D5E1-2B9A78D4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3AC10-AC71-A9A6-3606-61D6F45E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B5954-9FE4-F4AB-313C-A4CCB604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40577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0A57-9858-D3E2-6EC2-5B2460C1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0AA67-6B97-E1C6-B07A-67BF630D1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243FF-BA13-D4CF-9ACA-D79CF3A63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4461C-F24E-E5CA-2D09-FBCD5F90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3026-69B1-830F-54AE-32F32F0A8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544CC-ABBA-0802-B7B7-144508FE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72308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0D0D-8B7C-AD18-DDCB-9909438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8D01A-CD68-8DCC-3669-CEF37DFC3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3B589-E42E-4BC1-9F32-D462B9C2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12CC3-7F21-04EC-CC8B-CFC650FF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4496-CC00-4322-F9FF-0EF3960A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60432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FDDE9-C00B-88FD-CFA4-B063DFB5A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C812E-5253-0CF6-BDCB-5CC9EABCA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D3FF4-2D3F-093F-E2C1-29541350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0A87B-7E0C-E7D6-A185-ED5E167E8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B570B-6E88-B726-5BC6-0411A3FA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2536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">
            <a:extLst>
              <a:ext uri="{FF2B5EF4-FFF2-40B4-BE49-F238E27FC236}">
                <a16:creationId xmlns:a16="http://schemas.microsoft.com/office/drawing/2014/main" id="{33E6BE15-809C-50BE-F22A-20351128FA48}"/>
              </a:ext>
            </a:extLst>
          </p:cNvPr>
          <p:cNvCxnSpPr/>
          <p:nvPr userDrawn="1"/>
        </p:nvCxnSpPr>
        <p:spPr>
          <a:xfrm>
            <a:off x="0" y="756000"/>
            <a:ext cx="12192000" cy="24938"/>
          </a:xfrm>
          <a:prstGeom prst="line">
            <a:avLst/>
          </a:prstGeom>
          <a:ln w="114300">
            <a:solidFill>
              <a:srgbClr val="113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480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930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key message_image_Synthes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68001" y="36001"/>
            <a:ext cx="11246369" cy="676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2774" indent="0">
              <a:buNone/>
              <a:defRPr/>
            </a:lvl2pPr>
            <a:lvl3pPr marL="1125547" indent="0">
              <a:buNone/>
              <a:defRPr/>
            </a:lvl3pPr>
            <a:lvl4pPr marL="1688320" indent="0">
              <a:buNone/>
              <a:defRPr/>
            </a:lvl4pPr>
            <a:lvl5pPr marL="2251094" indent="0">
              <a:buNone/>
              <a:defRPr/>
            </a:lvl5pPr>
          </a:lstStyle>
          <a:p>
            <a:pPr lvl="0"/>
            <a:r>
              <a:rPr lang="en-US"/>
              <a:t>Slide 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8313" y="1431925"/>
            <a:ext cx="11245850" cy="3759200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201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598488" y="6250566"/>
            <a:ext cx="3683000" cy="27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>
                <a:solidFill>
                  <a:srgbClr val="006654"/>
                </a:solidFill>
              </a:defRPr>
            </a:lvl2pPr>
            <a:lvl3pPr>
              <a:defRPr sz="1000">
                <a:solidFill>
                  <a:srgbClr val="006654"/>
                </a:solidFill>
              </a:defRPr>
            </a:lvl3pPr>
            <a:lvl4pPr>
              <a:defRPr sz="1000">
                <a:solidFill>
                  <a:srgbClr val="006654"/>
                </a:solidFill>
              </a:defRPr>
            </a:lvl4pPr>
            <a:lvl5pPr>
              <a:defRPr sz="1000">
                <a:solidFill>
                  <a:srgbClr val="006654"/>
                </a:solidFill>
              </a:defRPr>
            </a:lvl5pPr>
          </a:lstStyle>
          <a:p>
            <a:pPr lvl="0"/>
            <a:r>
              <a:rPr lang="en-US"/>
              <a:t>Source reference for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277524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A58BEAE0-5809-3FDC-C020-CFD3A62C080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605" y="6085449"/>
            <a:ext cx="2715774" cy="54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hlinkClick r:id="rId3" action="ppaction://hlinksldjump"/>
          </p:cNvPr>
          <p:cNvSpPr/>
          <p:nvPr userDrawn="1"/>
        </p:nvSpPr>
        <p:spPr>
          <a:xfrm>
            <a:off x="2344619" y="152400"/>
            <a:ext cx="885743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sp>
        <p:nvSpPr>
          <p:cNvPr id="25" name="Rectangle 24"/>
          <p:cNvSpPr/>
          <p:nvPr userDrawn="1"/>
        </p:nvSpPr>
        <p:spPr>
          <a:xfrm>
            <a:off x="0" y="5"/>
            <a:ext cx="12192000" cy="778149"/>
          </a:xfrm>
          <a:prstGeom prst="rect">
            <a:avLst/>
          </a:prstGeom>
          <a:solidFill>
            <a:srgbClr val="00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836" y="6068649"/>
            <a:ext cx="2647882" cy="57744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920" y="5971610"/>
            <a:ext cx="1928813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6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1125472" rtl="0" eaLnBrk="1" latinLnBrk="0" hangingPunct="1">
        <a:spcBef>
          <a:spcPct val="0"/>
        </a:spcBef>
        <a:buNone/>
        <a:defRPr sz="5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2051" indent="-422051" algn="l" defTabSz="1125472" rtl="0" eaLnBrk="1" latinLnBrk="0" hangingPunct="1">
        <a:spcBef>
          <a:spcPct val="20000"/>
        </a:spcBef>
        <a:buFont typeface="Arial" pitchFamily="34" charset="0"/>
        <a:buChar char="•"/>
        <a:defRPr sz="3939" kern="1200">
          <a:solidFill>
            <a:schemeClr val="tx1"/>
          </a:solidFill>
          <a:latin typeface="+mn-lt"/>
          <a:ea typeface="+mn-ea"/>
          <a:cs typeface="+mn-cs"/>
        </a:defRPr>
      </a:lvl1pPr>
      <a:lvl2pPr marL="914446" indent="-351710" algn="l" defTabSz="1125472" rtl="0" eaLnBrk="1" latinLnBrk="0" hangingPunct="1">
        <a:spcBef>
          <a:spcPct val="20000"/>
        </a:spcBef>
        <a:buFont typeface="Arial" pitchFamily="34" charset="0"/>
        <a:buChar char="–"/>
        <a:defRPr sz="3446" kern="1200">
          <a:solidFill>
            <a:schemeClr val="tx1"/>
          </a:solidFill>
          <a:latin typeface="+mn-lt"/>
          <a:ea typeface="+mn-ea"/>
          <a:cs typeface="+mn-cs"/>
        </a:defRPr>
      </a:lvl2pPr>
      <a:lvl3pPr marL="140683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1969575" indent="-281368" algn="l" defTabSz="1125472" rtl="0" eaLnBrk="1" latinLnBrk="0" hangingPunct="1">
        <a:spcBef>
          <a:spcPct val="20000"/>
        </a:spcBef>
        <a:buFont typeface="Arial" pitchFamily="34" charset="0"/>
        <a:buChar char="–"/>
        <a:defRPr sz="2462" kern="1200">
          <a:solidFill>
            <a:schemeClr val="tx1"/>
          </a:solidFill>
          <a:latin typeface="+mn-lt"/>
          <a:ea typeface="+mn-ea"/>
          <a:cs typeface="+mn-cs"/>
        </a:defRPr>
      </a:lvl4pPr>
      <a:lvl5pPr marL="2532312" indent="-281368" algn="l" defTabSz="1125472" rtl="0" eaLnBrk="1" latinLnBrk="0" hangingPunct="1">
        <a:spcBef>
          <a:spcPct val="20000"/>
        </a:spcBef>
        <a:buFont typeface="Arial" pitchFamily="34" charset="0"/>
        <a:buChar char="»"/>
        <a:defRPr sz="2462" kern="1200">
          <a:solidFill>
            <a:schemeClr val="tx1"/>
          </a:solidFill>
          <a:latin typeface="+mn-lt"/>
          <a:ea typeface="+mn-ea"/>
          <a:cs typeface="+mn-cs"/>
        </a:defRPr>
      </a:lvl5pPr>
      <a:lvl6pPr marL="3095047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783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51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254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3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72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20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944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79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415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151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886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hlinkClick r:id="rId3" action="ppaction://hlinksldjump"/>
          </p:cNvPr>
          <p:cNvSpPr/>
          <p:nvPr userDrawn="1"/>
        </p:nvSpPr>
        <p:spPr>
          <a:xfrm>
            <a:off x="2344619" y="152400"/>
            <a:ext cx="885743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sp>
        <p:nvSpPr>
          <p:cNvPr id="25" name="Rectangle 24"/>
          <p:cNvSpPr/>
          <p:nvPr userDrawn="1"/>
        </p:nvSpPr>
        <p:spPr>
          <a:xfrm>
            <a:off x="0" y="5"/>
            <a:ext cx="12192000" cy="778149"/>
          </a:xfrm>
          <a:prstGeom prst="rect">
            <a:avLst/>
          </a:prstGeom>
          <a:solidFill>
            <a:srgbClr val="00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836" y="6068649"/>
            <a:ext cx="2647882" cy="57744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905" y="5047900"/>
            <a:ext cx="1928813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0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1125472" rtl="0" eaLnBrk="1" latinLnBrk="0" hangingPunct="1">
        <a:spcBef>
          <a:spcPct val="0"/>
        </a:spcBef>
        <a:buNone/>
        <a:defRPr sz="5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2051" indent="-422051" algn="l" defTabSz="1125472" rtl="0" eaLnBrk="1" latinLnBrk="0" hangingPunct="1">
        <a:spcBef>
          <a:spcPct val="20000"/>
        </a:spcBef>
        <a:buFont typeface="Arial" pitchFamily="34" charset="0"/>
        <a:buChar char="•"/>
        <a:defRPr sz="3939" kern="1200">
          <a:solidFill>
            <a:schemeClr val="tx1"/>
          </a:solidFill>
          <a:latin typeface="+mn-lt"/>
          <a:ea typeface="+mn-ea"/>
          <a:cs typeface="+mn-cs"/>
        </a:defRPr>
      </a:lvl1pPr>
      <a:lvl2pPr marL="914446" indent="-351710" algn="l" defTabSz="1125472" rtl="0" eaLnBrk="1" latinLnBrk="0" hangingPunct="1">
        <a:spcBef>
          <a:spcPct val="20000"/>
        </a:spcBef>
        <a:buFont typeface="Arial" pitchFamily="34" charset="0"/>
        <a:buChar char="–"/>
        <a:defRPr sz="3446" kern="1200">
          <a:solidFill>
            <a:schemeClr val="tx1"/>
          </a:solidFill>
          <a:latin typeface="+mn-lt"/>
          <a:ea typeface="+mn-ea"/>
          <a:cs typeface="+mn-cs"/>
        </a:defRPr>
      </a:lvl2pPr>
      <a:lvl3pPr marL="140683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1969575" indent="-281368" algn="l" defTabSz="1125472" rtl="0" eaLnBrk="1" latinLnBrk="0" hangingPunct="1">
        <a:spcBef>
          <a:spcPct val="20000"/>
        </a:spcBef>
        <a:buFont typeface="Arial" pitchFamily="34" charset="0"/>
        <a:buChar char="–"/>
        <a:defRPr sz="2462" kern="1200">
          <a:solidFill>
            <a:schemeClr val="tx1"/>
          </a:solidFill>
          <a:latin typeface="+mn-lt"/>
          <a:ea typeface="+mn-ea"/>
          <a:cs typeface="+mn-cs"/>
        </a:defRPr>
      </a:lvl4pPr>
      <a:lvl5pPr marL="2532312" indent="-281368" algn="l" defTabSz="1125472" rtl="0" eaLnBrk="1" latinLnBrk="0" hangingPunct="1">
        <a:spcBef>
          <a:spcPct val="20000"/>
        </a:spcBef>
        <a:buFont typeface="Arial" pitchFamily="34" charset="0"/>
        <a:buChar char="»"/>
        <a:defRPr sz="2462" kern="1200">
          <a:solidFill>
            <a:schemeClr val="tx1"/>
          </a:solidFill>
          <a:latin typeface="+mn-lt"/>
          <a:ea typeface="+mn-ea"/>
          <a:cs typeface="+mn-cs"/>
        </a:defRPr>
      </a:lvl5pPr>
      <a:lvl6pPr marL="3095047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783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51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254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3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72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20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944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79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415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151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886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347FC-3741-BEED-D642-8539D00A4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EA717-89DF-80AA-ABB1-FFD49689A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DB610-52DD-3346-CE27-27C0DD70E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B40D4-2FDD-4081-8AA4-D46052F005E6}" type="datetimeFigureOut">
              <a:rPr lang="en-DK" smtClean="0"/>
              <a:t>10/22/2025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E598E-2FF6-2DAE-B8E5-8563164D6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98A46-272D-3A79-68F7-DF9862035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DC305-C5C5-421C-B2F8-BCE8380EB0E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5862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hyperlink" Target="https://climate-adapt.eea.europa.e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hyperlink" Target="https://www.eea.europa.eu/en/topics/in-depth/climate-change-impacts-risks-and-adaptation" TargetMode="External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a.europa.eu/publications/european-climate-risk-assessm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hyperlink" Target="https://climate-adapt.eea.europa.eu/en/knowledge/tools/case-study-explorer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hyperlink" Target="http://www.eea.europa.eu/publications/adaptation-in-energy-system" TargetMode="Externa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hyperlink" Target="mailto:EUCRA@eea.europa.eu" TargetMode="External"/><Relationship Id="rId4" Type="http://schemas.openxmlformats.org/officeDocument/2006/relationships/hyperlink" Target="https://climate-adapt.eea.europa.eu/en/euc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ighthouse crashing over a wall&#10;&#10;Description automatically generated">
            <a:extLst>
              <a:ext uri="{FF2B5EF4-FFF2-40B4-BE49-F238E27FC236}">
                <a16:creationId xmlns:a16="http://schemas.microsoft.com/office/drawing/2014/main" id="{2A4C89F3-E8C1-9A03-816A-94878B120B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9" b="4915"/>
          <a:stretch/>
        </p:blipFill>
        <p:spPr>
          <a:xfrm>
            <a:off x="0" y="0"/>
            <a:ext cx="12250314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85B2A0-EC20-BC95-2142-85682C257127}"/>
              </a:ext>
            </a:extLst>
          </p:cNvPr>
          <p:cNvSpPr txBox="1"/>
          <p:nvPr/>
        </p:nvSpPr>
        <p:spPr>
          <a:xfrm>
            <a:off x="0" y="6627168"/>
            <a:ext cx="28783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900">
                <a:solidFill>
                  <a:schemeClr val="bg1"/>
                </a:solidFill>
                <a:latin typeface="+mn-lt"/>
              </a:rPr>
              <a:t>© António Tedim, Well with Nature EEA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13AC66-3C35-92A9-B04B-39F4AEB6E6C2}"/>
              </a:ext>
            </a:extLst>
          </p:cNvPr>
          <p:cNvSpPr txBox="1">
            <a:spLocks/>
          </p:cNvSpPr>
          <p:nvPr/>
        </p:nvSpPr>
        <p:spPr>
          <a:xfrm>
            <a:off x="5463016" y="2375620"/>
            <a:ext cx="6501978" cy="2807815"/>
          </a:xfrm>
          <a:prstGeom prst="rect">
            <a:avLst/>
          </a:prstGeom>
        </p:spPr>
        <p:txBody>
          <a:bodyPr vert="horz" lIns="165905" tIns="82953" rIns="165905" bIns="82953" rtlCol="0" anchor="b">
            <a:noAutofit/>
          </a:bodyPr>
          <a:lstStyle>
            <a:lvl1pPr algn="l" defTabSz="5040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2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504017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452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54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 pitchFamily="2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D0DCD7-444C-32A7-6B60-9E1FF6998295}"/>
              </a:ext>
            </a:extLst>
          </p:cNvPr>
          <p:cNvSpPr/>
          <p:nvPr/>
        </p:nvSpPr>
        <p:spPr>
          <a:xfrm>
            <a:off x="0" y="-10961"/>
            <a:ext cx="12191999" cy="1400146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5878" tIns="82916" rIns="165878" bIns="82916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6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lt"/>
                <a:cs typeface="Calibri"/>
                <a:sym typeface="Arial"/>
              </a:rPr>
              <a:t>Climate risks for energy security: </a:t>
            </a:r>
            <a:b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lt"/>
                <a:cs typeface="Calibri"/>
                <a:sym typeface="Arial"/>
              </a:rPr>
            </a:b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lt"/>
                <a:cs typeface="Calibri"/>
                <a:sym typeface="Arial"/>
              </a:rPr>
              <a:t>Findings of the first European Climate Risk Assessment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n-lt"/>
              <a:cs typeface="Calibri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4855D-17EB-FC31-8828-A40C5A57C93B}"/>
              </a:ext>
            </a:extLst>
          </p:cNvPr>
          <p:cNvSpPr/>
          <p:nvPr/>
        </p:nvSpPr>
        <p:spPr>
          <a:xfrm>
            <a:off x="-2" y="4428000"/>
            <a:ext cx="7965829" cy="1936800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5878" tIns="82916" rIns="165878" bIns="82916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600"/>
              <a:buFont typeface="Arial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  <a:sym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600"/>
              <a:buFont typeface="Arial"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+mn-lt"/>
                <a:ea typeface="Raleway"/>
                <a:cs typeface="Raleway"/>
                <a:sym typeface="Raleway"/>
              </a:rPr>
              <a:t>Technical Exchange Visit – Ukraine to the EEA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600"/>
              <a:buFont typeface="Arial"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+mn-lt"/>
                <a:ea typeface="Raleway"/>
                <a:cs typeface="Raleway"/>
                <a:sym typeface="Raleway"/>
              </a:rPr>
              <a:t>22 October 2025</a:t>
            </a:r>
            <a:endParaRPr lang="en-US" sz="24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Raleway"/>
              <a:cs typeface="Raleway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600"/>
              <a:buFont typeface="Arial"/>
              <a:buNone/>
              <a:tabLst/>
              <a:defRPr/>
            </a:pPr>
            <a:endParaRPr lang="en-US" sz="1800" b="1" dirty="0">
              <a:solidFill>
                <a:prstClr val="white"/>
              </a:solidFill>
              <a:latin typeface="+mn-lt"/>
              <a:ea typeface="Raleway"/>
              <a:cs typeface="Raleway"/>
              <a:sym typeface="Raleway"/>
            </a:endParaRPr>
          </a:p>
          <a:p>
            <a:pPr>
              <a:buClr>
                <a:prstClr val="black"/>
              </a:buClr>
              <a:buSzPts val="1600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Raleway"/>
                <a:cs typeface="Raleway"/>
                <a:sym typeface="Raleway"/>
              </a:rPr>
              <a:t>Dr. Hans-Martin Füssel</a:t>
            </a:r>
            <a:r>
              <a:rPr lang="en-US" sz="2400" b="1" dirty="0">
                <a:solidFill>
                  <a:prstClr val="white"/>
                </a:solidFill>
                <a:latin typeface="+mn-lt"/>
                <a:ea typeface="Raleway"/>
                <a:cs typeface="Raleway"/>
                <a:sym typeface="Raleway"/>
              </a:rPr>
              <a:t> 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Raleway"/>
                <a:cs typeface="Raleway"/>
                <a:sym typeface="Raleway"/>
              </a:rPr>
              <a:t> (EUCRA coordinator &amp; </a:t>
            </a:r>
            <a:b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Raleway"/>
                <a:cs typeface="Raleway"/>
                <a:sym typeface="Raleway"/>
              </a:rPr>
            </a:b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Raleway"/>
                <a:cs typeface="Raleway"/>
                <a:sym typeface="Raleway"/>
              </a:rPr>
              <a:t>Expert – Climate change risks and adaptation, EEA)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600"/>
              <a:buFont typeface="Arial"/>
              <a:buNone/>
              <a:tabLst/>
              <a:defRPr/>
            </a:pPr>
            <a:endParaRPr kumimoji="0" lang="en-DK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  <a:sym typeface="Arial"/>
            </a:endParaRPr>
          </a:p>
        </p:txBody>
      </p:sp>
      <p:pic>
        <p:nvPicPr>
          <p:cNvPr id="3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8D006EC-2CBD-6CE4-EEE6-B48A97D0D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148" y="5861644"/>
            <a:ext cx="3789337" cy="765523"/>
          </a:xfrm>
          <a:prstGeom prst="rect">
            <a:avLst/>
          </a:prstGeom>
        </p:spPr>
      </p:pic>
      <p:pic>
        <p:nvPicPr>
          <p:cNvPr id="11" name="Picture 10" descr="A logo with stars and letters&#10;&#10;AI-generated content may be incorrect.">
            <a:extLst>
              <a:ext uri="{FF2B5EF4-FFF2-40B4-BE49-F238E27FC236}">
                <a16:creationId xmlns:a16="http://schemas.microsoft.com/office/drawing/2014/main" id="{4A97F320-4E01-E2D7-91C9-38C71A613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692" y="4428000"/>
            <a:ext cx="3687793" cy="166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3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C6A997-7CDD-FB36-EBB7-7C154FE90219}"/>
              </a:ext>
            </a:extLst>
          </p:cNvPr>
          <p:cNvSpPr txBox="1"/>
          <p:nvPr/>
        </p:nvSpPr>
        <p:spPr>
          <a:xfrm>
            <a:off x="-1772" y="27223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Aptos" panose="020B0004020202020204" pitchFamily="34" charset="0"/>
              </a:rPr>
              <a:t>The EEA’s work on climate change adaptation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9BDBE8-9FA7-2280-384A-85B3DB91B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754" y="1041681"/>
            <a:ext cx="2121972" cy="2048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BCD1AE-071F-3D2E-DF7A-C610D3CDC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393" y="3299983"/>
            <a:ext cx="2121972" cy="23787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A56A95-7BE9-437B-CF5F-4C679837A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734" y="1030998"/>
            <a:ext cx="2121972" cy="20460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4F66FB-30EC-3C28-01E9-60EBBB369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694" y="1018395"/>
            <a:ext cx="2341164" cy="21054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1594E7-F0A8-3638-22A5-BC21FC89E3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7902" y="3299983"/>
            <a:ext cx="2121972" cy="23787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B2941BD-6AFA-2C0F-D614-44DF80173E6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54"/>
          <a:stretch/>
        </p:blipFill>
        <p:spPr>
          <a:xfrm>
            <a:off x="5999851" y="1030998"/>
            <a:ext cx="2111698" cy="2092852"/>
          </a:xfrm>
          <a:prstGeom prst="rect">
            <a:avLst/>
          </a:prstGeom>
          <a:ln>
            <a:solidFill>
              <a:srgbClr val="009999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1FDCFB-14C9-A1C2-FCBE-AFE65FC4E7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6412" y="3304837"/>
            <a:ext cx="2118577" cy="23739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C894D3-93B8-D47D-A3A4-DFDBC888C2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694" y="3304837"/>
            <a:ext cx="2341164" cy="2373918"/>
          </a:xfrm>
          <a:prstGeom prst="rect">
            <a:avLst/>
          </a:prstGeom>
          <a:ln>
            <a:solidFill>
              <a:srgbClr val="009999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080A1AF-BE8A-FD9A-898C-0D0196D2E044}"/>
              </a:ext>
            </a:extLst>
          </p:cNvPr>
          <p:cNvSpPr txBox="1"/>
          <p:nvPr/>
        </p:nvSpPr>
        <p:spPr>
          <a:xfrm>
            <a:off x="1370754" y="5924046"/>
            <a:ext cx="6097772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latin typeface="Aptos" panose="020B0004020202020204" pitchFamily="34" charset="0"/>
                <a:hlinkClick r:id="rId11"/>
              </a:rPr>
              <a:t>Climate change impacts, risks and adaptation</a:t>
            </a:r>
            <a:endParaRPr lang="en-US" sz="1600" dirty="0">
              <a:latin typeface="Aptos" panose="020B00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GB" sz="1600" dirty="0">
                <a:latin typeface="Aptos" panose="020B0004020202020204" pitchFamily="34" charset="0"/>
                <a:hlinkClick r:id="rId12"/>
              </a:rPr>
              <a:t>Climate-ADAPT</a:t>
            </a: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355AB2-50C4-4674-7251-0DCA229E350C}"/>
              </a:ext>
            </a:extLst>
          </p:cNvPr>
          <p:cNvSpPr/>
          <p:nvPr/>
        </p:nvSpPr>
        <p:spPr>
          <a:xfrm>
            <a:off x="1195754" y="923193"/>
            <a:ext cx="2486980" cy="22006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038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088802d63_0_1631"/>
          <p:cNvSpPr txBox="1"/>
          <p:nvPr/>
        </p:nvSpPr>
        <p:spPr>
          <a:xfrm>
            <a:off x="444362" y="159622"/>
            <a:ext cx="64576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2060"/>
                </a:solidFill>
                <a:latin typeface="Raleway"/>
                <a:ea typeface="+mn-lt"/>
                <a:cs typeface="+mn-lt"/>
                <a:sym typeface="Raleway"/>
              </a:rPr>
              <a:t>Europe is not sufficiently prepared </a:t>
            </a:r>
            <a:br>
              <a:rPr lang="en-US" sz="2800" b="1">
                <a:solidFill>
                  <a:srgbClr val="002060"/>
                </a:solidFill>
                <a:latin typeface="Raleway"/>
                <a:ea typeface="+mn-lt"/>
                <a:cs typeface="+mn-lt"/>
                <a:sym typeface="Raleway"/>
              </a:rPr>
            </a:br>
            <a:r>
              <a:rPr lang="en-US" sz="2800" b="1">
                <a:solidFill>
                  <a:srgbClr val="002060"/>
                </a:solidFill>
                <a:latin typeface="Raleway"/>
                <a:ea typeface="+mn-lt"/>
                <a:cs typeface="+mn-lt"/>
                <a:sym typeface="Raleway"/>
              </a:rPr>
              <a:t>for rapidly growing climate risks</a:t>
            </a:r>
            <a:endParaRPr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/>
              <a:ea typeface="Raleway"/>
              <a:cs typeface="Raleway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E21855-AC51-0E16-8B22-680B7A82F2CF}"/>
              </a:ext>
            </a:extLst>
          </p:cNvPr>
          <p:cNvSpPr txBox="1"/>
          <p:nvPr/>
        </p:nvSpPr>
        <p:spPr>
          <a:xfrm>
            <a:off x="444362" y="1809464"/>
            <a:ext cx="4665398" cy="12441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DK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sellaDiTesto 1">
            <a:extLst>
              <a:ext uri="{FF2B5EF4-FFF2-40B4-BE49-F238E27FC236}">
                <a16:creationId xmlns:a16="http://schemas.microsoft.com/office/drawing/2014/main" id="{04878953-FA5C-8731-DE48-479DA5A5BE17}"/>
              </a:ext>
            </a:extLst>
          </p:cNvPr>
          <p:cNvSpPr txBox="1"/>
          <p:nvPr/>
        </p:nvSpPr>
        <p:spPr>
          <a:xfrm>
            <a:off x="6622741" y="1058462"/>
            <a:ext cx="545003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1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CB8E5-E5A3-74D3-91DA-F337BD2BD67A}"/>
              </a:ext>
            </a:extLst>
          </p:cNvPr>
          <p:cNvSpPr txBox="1"/>
          <p:nvPr/>
        </p:nvSpPr>
        <p:spPr>
          <a:xfrm>
            <a:off x="444362" y="1229529"/>
            <a:ext cx="6861313" cy="47705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Raleway"/>
                <a:cs typeface="Calibri"/>
              </a:rPr>
              <a:t>Europe is the </a:t>
            </a:r>
            <a:r>
              <a:rPr lang="en-GB" sz="2400" b="1" dirty="0">
                <a:solidFill>
                  <a:schemeClr val="tx1"/>
                </a:solidFill>
                <a:latin typeface="Raleway"/>
                <a:cs typeface="Calibri"/>
              </a:rPr>
              <a:t>fastest warming </a:t>
            </a:r>
            <a:r>
              <a:rPr lang="en-GB" sz="2400" dirty="0">
                <a:solidFill>
                  <a:schemeClr val="tx1"/>
                </a:solidFill>
                <a:latin typeface="Raleway"/>
                <a:cs typeface="Calibri"/>
              </a:rPr>
              <a:t>continent. </a:t>
            </a:r>
            <a:endParaRPr lang="en-US" sz="2400" dirty="0">
              <a:solidFill>
                <a:schemeClr val="tx1"/>
              </a:solidFill>
              <a:latin typeface="Raleway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Raleway"/>
                <a:ea typeface="Calibri" panose="020F0502020204030204" pitchFamily="34" charset="0"/>
                <a:cs typeface="Calibri Light"/>
              </a:rPr>
              <a:t>Climate risks are </a:t>
            </a:r>
            <a:r>
              <a:rPr lang="en-GB" sz="2400" b="1" dirty="0">
                <a:solidFill>
                  <a:schemeClr val="tx1"/>
                </a:solidFill>
                <a:latin typeface="Raleway"/>
                <a:ea typeface="Calibri" panose="020F0502020204030204" pitchFamily="34" charset="0"/>
                <a:cs typeface="Calibri Light"/>
              </a:rPr>
              <a:t>growing rapidly </a:t>
            </a:r>
            <a:r>
              <a:rPr lang="en-GB" sz="2400" dirty="0">
                <a:solidFill>
                  <a:schemeClr val="tx1"/>
                </a:solidFill>
                <a:latin typeface="Raleway"/>
                <a:ea typeface="Calibri" panose="020F0502020204030204" pitchFamily="34" charset="0"/>
                <a:cs typeface="Calibri Light"/>
              </a:rPr>
              <a:t>as we approach 1.5 degrees global warming. </a:t>
            </a:r>
            <a:endParaRPr lang="en-US" sz="2400" dirty="0">
              <a:solidFill>
                <a:schemeClr val="tx1"/>
              </a:solidFill>
              <a:latin typeface="Raleway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Raleway"/>
                <a:cs typeface="Calibri"/>
              </a:rPr>
              <a:t>Climate change </a:t>
            </a:r>
            <a:r>
              <a:rPr lang="en-GB" sz="2400" b="1" dirty="0">
                <a:solidFill>
                  <a:schemeClr val="tx1"/>
                </a:solidFill>
                <a:latin typeface="Raleway"/>
                <a:cs typeface="Calibri"/>
              </a:rPr>
              <a:t>threatens</a:t>
            </a:r>
            <a:r>
              <a:rPr lang="en-GB" sz="2400" dirty="0">
                <a:solidFill>
                  <a:schemeClr val="tx1"/>
                </a:solidFill>
                <a:latin typeface="Raleway"/>
                <a:cs typeface="Calibri"/>
              </a:rPr>
              <a:t> our ecosystems, water resources, food and energy security, health, infrastructure, and financial stability.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Raleway"/>
                <a:cs typeface="Calibri"/>
              </a:rPr>
              <a:t>Southern Europe </a:t>
            </a:r>
            <a:r>
              <a:rPr lang="en-GB" sz="2400" dirty="0">
                <a:solidFill>
                  <a:schemeClr val="tx1"/>
                </a:solidFill>
                <a:latin typeface="Raleway"/>
                <a:cs typeface="Calibri"/>
              </a:rPr>
              <a:t>is a hotspot region for multiple climate risks, in particular those caused by extreme heat and droughts.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Raleway"/>
                <a:cs typeface="Calibri"/>
              </a:rPr>
              <a:t>Low-lying coastal regions </a:t>
            </a:r>
            <a:r>
              <a:rPr lang="en-GB" sz="2400" dirty="0">
                <a:solidFill>
                  <a:schemeClr val="tx1"/>
                </a:solidFill>
                <a:latin typeface="Raleway"/>
                <a:cs typeface="Calibri"/>
              </a:rPr>
              <a:t>and</a:t>
            </a:r>
            <a:r>
              <a:rPr lang="en-GB" sz="2400" b="1" dirty="0">
                <a:solidFill>
                  <a:schemeClr val="tx1"/>
                </a:solidFill>
                <a:latin typeface="Raleway"/>
                <a:cs typeface="Calibri"/>
              </a:rPr>
              <a:t> EU Outermost Regions </a:t>
            </a:r>
            <a:r>
              <a:rPr lang="en-GB" sz="2400" dirty="0">
                <a:solidFill>
                  <a:schemeClr val="tx1"/>
                </a:solidFill>
                <a:latin typeface="Raleway"/>
                <a:cs typeface="Calibri"/>
              </a:rPr>
              <a:t>are further hotspots.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C6663-E5D3-B718-2482-DC813D4610B5}"/>
              </a:ext>
            </a:extLst>
          </p:cNvPr>
          <p:cNvSpPr txBox="1"/>
          <p:nvPr/>
        </p:nvSpPr>
        <p:spPr>
          <a:xfrm>
            <a:off x="669833" y="6288302"/>
            <a:ext cx="6309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hlinkClick r:id="rId3"/>
              </a:rPr>
              <a:t>eea.europa.eu/publications/</a:t>
            </a:r>
            <a:r>
              <a:rPr lang="en-GB" sz="1600" dirty="0" err="1">
                <a:hlinkClick r:id="rId3"/>
              </a:rPr>
              <a:t>european</a:t>
            </a:r>
            <a:r>
              <a:rPr lang="en-GB" sz="1600" dirty="0">
                <a:hlinkClick r:id="rId3"/>
              </a:rPr>
              <a:t>-climate-risk-assessment</a:t>
            </a:r>
            <a:r>
              <a:rPr lang="en-GB" sz="1600" dirty="0"/>
              <a:t> </a:t>
            </a:r>
          </a:p>
        </p:txBody>
      </p:sp>
      <p:pic>
        <p:nvPicPr>
          <p:cNvPr id="3" name="Picture 2" descr="A lighthouse crashing over a wall&#10;&#10;Description automatically generated">
            <a:extLst>
              <a:ext uri="{FF2B5EF4-FFF2-40B4-BE49-F238E27FC236}">
                <a16:creationId xmlns:a16="http://schemas.microsoft.com/office/drawing/2014/main" id="{7EF3DD91-2DC3-7729-2A86-816A69D0E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431" y="274831"/>
            <a:ext cx="4036891" cy="571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3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03"/>
    </mc:Choice>
    <mc:Fallback xmlns="">
      <p:transition spd="slow" advTm="412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4088802d63_0_8"/>
          <p:cNvSpPr txBox="1"/>
          <p:nvPr/>
        </p:nvSpPr>
        <p:spPr>
          <a:xfrm>
            <a:off x="125906" y="210401"/>
            <a:ext cx="1194018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2060"/>
                </a:solidFill>
                <a:latin typeface="Raleway"/>
                <a:ea typeface="Raleway"/>
                <a:cs typeface="Raleway"/>
                <a:sym typeface="Raleway"/>
              </a:rPr>
              <a:t>Forging a climate-resilient Europe – the new EU Strategy on Adaptation to Climate Change, 24 February 2021</a:t>
            </a:r>
            <a:endParaRPr sz="3200" b="1">
              <a:solidFill>
                <a:srgbClr val="00206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074" name="Picture 2" descr="EC presents strategy on climate adaptation • Water News Europe">
            <a:extLst>
              <a:ext uri="{FF2B5EF4-FFF2-40B4-BE49-F238E27FC236}">
                <a16:creationId xmlns:a16="http://schemas.microsoft.com/office/drawing/2014/main" id="{6583967C-9CD1-6678-ABD7-AE60EDD1B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579"/>
            <a:ext cx="6915472" cy="366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290325-CCE4-0E56-9506-F16A44502CFA}"/>
              </a:ext>
            </a:extLst>
          </p:cNvPr>
          <p:cNvSpPr txBox="1"/>
          <p:nvPr/>
        </p:nvSpPr>
        <p:spPr>
          <a:xfrm>
            <a:off x="2763748" y="2887682"/>
            <a:ext cx="9428252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>
                <a:solidFill>
                  <a:srgbClr val="002060"/>
                </a:solidFill>
                <a:latin typeface="Raleway"/>
              </a:rPr>
              <a:t>Launch of a </a:t>
            </a:r>
            <a:r>
              <a:rPr lang="en-US" sz="2800" b="1">
                <a:solidFill>
                  <a:srgbClr val="002060"/>
                </a:solidFill>
                <a:latin typeface="Raleway"/>
              </a:rPr>
              <a:t>European climate and health observatory </a:t>
            </a:r>
            <a:r>
              <a:rPr lang="en-US" sz="2800">
                <a:solidFill>
                  <a:srgbClr val="002060"/>
                </a:solidFill>
                <a:latin typeface="Raleway"/>
              </a:rPr>
              <a:t>under the European Climate Adaptation Platform Climate-ADAPT.</a:t>
            </a:r>
          </a:p>
          <a:p>
            <a:endParaRPr lang="en-US" sz="2800">
              <a:solidFill>
                <a:srgbClr val="002060"/>
              </a:solidFill>
              <a:latin typeface="Raleway"/>
            </a:endParaRPr>
          </a:p>
          <a:p>
            <a:r>
              <a:rPr lang="en-US" sz="2800">
                <a:solidFill>
                  <a:srgbClr val="002060"/>
                </a:solidFill>
                <a:latin typeface="Raleway" pitchFamily="2" charset="0"/>
              </a:rPr>
              <a:t>The Commission will draw up </a:t>
            </a:r>
            <a:r>
              <a:rPr lang="en-US" sz="2800" b="1">
                <a:solidFill>
                  <a:srgbClr val="002060"/>
                </a:solidFill>
                <a:latin typeface="Raleway" pitchFamily="2" charset="0"/>
              </a:rPr>
              <a:t>an EU-wide climate risk assessment</a:t>
            </a:r>
            <a:r>
              <a:rPr lang="en-US" sz="2800">
                <a:solidFill>
                  <a:srgbClr val="002060"/>
                </a:solidFill>
                <a:latin typeface="Raleway" pitchFamily="2" charset="0"/>
              </a:rPr>
              <a:t>. This assessment will pay special attention to health threats, ecosystem vulnerabilities, critical infrastructures, TEN-E projects of common interest and TEN-T corridors and networks</a:t>
            </a:r>
            <a:endParaRPr lang="en-DK" sz="2800">
              <a:solidFill>
                <a:schemeClr val="tx2">
                  <a:lumMod val="50000"/>
                </a:schemeClr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1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4088802d63_0_8"/>
          <p:cNvSpPr txBox="1"/>
          <p:nvPr/>
        </p:nvSpPr>
        <p:spPr>
          <a:xfrm>
            <a:off x="71301" y="107659"/>
            <a:ext cx="11984575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2060"/>
                </a:solidFill>
                <a:latin typeface="Raleway"/>
                <a:ea typeface="Raleway"/>
                <a:cs typeface="Raleway"/>
                <a:sym typeface="Raleway"/>
              </a:rPr>
              <a:t>European Parliament resolution, 15 September 2022</a:t>
            </a:r>
            <a:endParaRPr sz="3200" b="1">
              <a:solidFill>
                <a:srgbClr val="00206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" name="Google Shape;56;g14088802d63_0_8"/>
          <p:cNvSpPr txBox="1"/>
          <p:nvPr/>
        </p:nvSpPr>
        <p:spPr>
          <a:xfrm>
            <a:off x="3474050" y="1277400"/>
            <a:ext cx="8113200" cy="430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“Calls on the Commission to </a:t>
            </a:r>
            <a:r>
              <a:rPr lang="en-US" sz="28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urgently draw up a comprehensive EU-wide climate risk assessment</a:t>
            </a:r>
            <a:r>
              <a:rPr lang="en-US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paying special attention to risks of droughts, forest fires, health threats, ecosystem vulnerabilities and the effect on critical infrastructure and network hotspots in order to guide and </a:t>
            </a:r>
            <a:r>
              <a:rPr lang="en-US" sz="2800" err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prioritise</a:t>
            </a:r>
            <a:r>
              <a:rPr lang="en-US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short-, medium- and long-term adaptation and resilience efforts”</a:t>
            </a:r>
            <a:endParaRPr lang="en-GB" sz="2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7" name="Google Shape;57;g14088802d63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96" y="1277400"/>
            <a:ext cx="3138831" cy="22774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9301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56CFB22-DAB4-8BAF-E469-AA5DBB0DB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38" y="672838"/>
            <a:ext cx="12072062" cy="556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F8067A-99F8-3E5C-9749-32914394AA72}"/>
              </a:ext>
            </a:extLst>
          </p:cNvPr>
          <p:cNvSpPr txBox="1"/>
          <p:nvPr/>
        </p:nvSpPr>
        <p:spPr>
          <a:xfrm>
            <a:off x="295125" y="116908"/>
            <a:ext cx="1114526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+mn-lt"/>
                <a:cs typeface="Calibri" panose="020F0502020204030204"/>
                <a:sym typeface="Raleway"/>
              </a:rPr>
              <a:t>We are already living in an unprecedentedly warm world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/>
              <a:ea typeface="Raleway"/>
              <a:cs typeface="Raleway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B8AC5-EA13-FDAC-4CD2-EE70CD21561A}"/>
              </a:ext>
            </a:extLst>
          </p:cNvPr>
          <p:cNvSpPr txBox="1"/>
          <p:nvPr/>
        </p:nvSpPr>
        <p:spPr>
          <a:xfrm>
            <a:off x="6274677" y="1366752"/>
            <a:ext cx="5917323" cy="394723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Tx/>
              <a:tabLst/>
              <a:defRPr/>
            </a:pPr>
            <a:endParaRPr kumimoji="0" lang="en-GB" sz="1050" b="0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aleway"/>
              <a:ea typeface="Calibri" panose="020F0502020204030204" pitchFamily="34" charset="0"/>
              <a:cs typeface="Calibri Light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Calibri Light"/>
                <a:sym typeface="Arial"/>
              </a:rPr>
              <a:t>2024 was by far the warmest </a:t>
            </a: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Calibri Light"/>
                <a:sym typeface="Arial"/>
              </a:rPr>
              <a:t>year </a:t>
            </a:r>
            <a:b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Calibri Light"/>
                <a:sym typeface="Arial"/>
              </a:rPr>
            </a:b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Calibri Light"/>
                <a:sym typeface="Arial"/>
              </a:rPr>
              <a:t>on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Calibri Light"/>
                <a:sym typeface="Arial"/>
              </a:rPr>
              <a:t>record globally, followed by 2023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Calibri Light"/>
                <a:sym typeface="Arial"/>
              </a:rPr>
              <a:t>Both years were likely the warmest years </a:t>
            </a:r>
            <a:r>
              <a:rPr lang="en-GB" sz="2400" dirty="0">
                <a:solidFill>
                  <a:srgbClr val="4472C4">
                    <a:lumMod val="50000"/>
                  </a:srgbClr>
                </a:solidFill>
                <a:latin typeface="Raleway"/>
                <a:ea typeface="Calibri" panose="020F0502020204030204" pitchFamily="34" charset="0"/>
                <a:cs typeface="Calibri Light"/>
              </a:rPr>
              <a:t>during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Calibri Light"/>
                <a:sym typeface="Arial"/>
              </a:rPr>
              <a:t> the last 120 000 years, and possibly the last 3 million years.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aleway"/>
                <a:cs typeface="Calibri"/>
                <a:sym typeface="Arial"/>
              </a:rPr>
              <a:t>The summer 2024 was the warmest summer globally and in Europe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aleway"/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469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15DAC6-935E-2BCB-64CC-9A04D340BFED}"/>
              </a:ext>
            </a:extLst>
          </p:cNvPr>
          <p:cNvSpPr txBox="1"/>
          <p:nvPr/>
        </p:nvSpPr>
        <p:spPr>
          <a:xfrm>
            <a:off x="295125" y="116908"/>
            <a:ext cx="991140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US" sz="2800" b="1" kern="0">
                <a:solidFill>
                  <a:srgbClr val="002060"/>
                </a:solidFill>
                <a:latin typeface="Raleway"/>
                <a:ea typeface="+mn-lt"/>
                <a:cs typeface="+mn-lt"/>
                <a:sym typeface="Raleway"/>
              </a:rPr>
              <a:t>Climatic </a:t>
            </a:r>
            <a:r>
              <a:rPr lang="en-US" sz="2800" b="1">
                <a:solidFill>
                  <a:srgbClr val="002060"/>
                </a:solidFill>
                <a:latin typeface="Raleway"/>
                <a:ea typeface="+mn-lt"/>
                <a:cs typeface="+mn-lt"/>
                <a:sym typeface="Raleway"/>
              </a:rPr>
              <a:t>risk</a:t>
            </a:r>
            <a:r>
              <a:rPr lang="en-US" sz="2800" b="1" kern="0">
                <a:solidFill>
                  <a:srgbClr val="002060"/>
                </a:solidFill>
                <a:latin typeface="Raleway"/>
                <a:ea typeface="+mn-lt"/>
                <a:cs typeface="+mn-lt"/>
                <a:sym typeface="Raleway"/>
              </a:rPr>
              <a:t> drivers are accelerating in all regions</a:t>
            </a:r>
            <a:endParaRPr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/>
              <a:ea typeface="Raleway"/>
              <a:cs typeface="Raleway"/>
            </a:endParaRPr>
          </a:p>
        </p:txBody>
      </p:sp>
      <p:pic>
        <p:nvPicPr>
          <p:cNvPr id="9" name="Picture 8" descr="A map of europe with different colored continents&#10;&#10;Description automatically generated">
            <a:extLst>
              <a:ext uri="{FF2B5EF4-FFF2-40B4-BE49-F238E27FC236}">
                <a16:creationId xmlns:a16="http://schemas.microsoft.com/office/drawing/2014/main" id="{328BCAAE-A2B3-67F0-62C1-E76E0DE14E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0"/>
          <a:stretch/>
        </p:blipFill>
        <p:spPr bwMode="auto">
          <a:xfrm>
            <a:off x="496014" y="849932"/>
            <a:ext cx="6301394" cy="563410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asellaDiTesto 1">
            <a:extLst>
              <a:ext uri="{FF2B5EF4-FFF2-40B4-BE49-F238E27FC236}">
                <a16:creationId xmlns:a16="http://schemas.microsoft.com/office/drawing/2014/main" id="{1EAD3F4E-5182-C38E-B672-872C8108A19F}"/>
              </a:ext>
            </a:extLst>
          </p:cNvPr>
          <p:cNvSpPr txBox="1"/>
          <p:nvPr/>
        </p:nvSpPr>
        <p:spPr>
          <a:xfrm>
            <a:off x="7282229" y="849932"/>
            <a:ext cx="4314825" cy="41042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  <a:t>Heatwaves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  <a:t> are getting worse.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 </a:t>
            </a:r>
            <a:endParaRPr lang="en-US" sz="2000">
              <a:solidFill>
                <a:schemeClr val="accent1">
                  <a:lumMod val="50000"/>
                </a:schemeClr>
              </a:solidFill>
              <a:effectLst/>
              <a:latin typeface="Raleway" pitchFamily="2" charset="0"/>
              <a:ea typeface="ヒラギノ角ゴ Pro W3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  <a:t>Rain patterns 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  <a:t>are changing, </a:t>
            </a:r>
            <a:br>
              <a:rPr lang="en-US" sz="2000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</a:br>
            <a:r>
              <a:rPr lang="en-US" sz="2000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  <a:t>with both downpours and dry spells increasing in magnitude.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 </a:t>
            </a:r>
            <a:endParaRPr lang="en-US" sz="2000">
              <a:solidFill>
                <a:schemeClr val="accent1">
                  <a:lumMod val="50000"/>
                </a:schemeClr>
              </a:solidFill>
              <a:effectLst/>
              <a:latin typeface="Raleway" pitchFamily="2" charset="0"/>
              <a:ea typeface="ヒラギノ角ゴ Pro W3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S</a:t>
            </a:r>
            <a:r>
              <a:rPr lang="en-US" sz="2000" b="1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  <a:t>ea level rise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effectLst/>
                <a:latin typeface="Raleway"/>
                <a:ea typeface="ヒラギノ角ゴ Pro W3"/>
                <a:cs typeface="Times New Roman"/>
              </a:rPr>
              <a:t> is accelerating and threatening coastal regions.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 </a:t>
            </a:r>
            <a:endParaRPr lang="en-US" sz="2000">
              <a:solidFill>
                <a:schemeClr val="accent1">
                  <a:lumMod val="50000"/>
                </a:schemeClr>
              </a:solidFill>
              <a:effectLst/>
              <a:latin typeface="Raleway" pitchFamily="2" charset="0"/>
              <a:ea typeface="ヒラギノ角ゴ Pro W3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Hotspot regions 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for multiple climate risks:</a:t>
            </a:r>
          </a:p>
          <a:p>
            <a:pPr marL="576000" lvl="5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Southern Europe </a:t>
            </a:r>
          </a:p>
          <a:p>
            <a:pPr marL="576000" lvl="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Low-lying coastal regions</a:t>
            </a:r>
          </a:p>
          <a:p>
            <a:pPr marL="576000" lvl="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Raleway"/>
                <a:ea typeface="ヒラギノ角ゴ Pro W3"/>
                <a:cs typeface="Times New Roman"/>
              </a:rPr>
              <a:t>EU outermost regions</a:t>
            </a:r>
          </a:p>
        </p:txBody>
      </p:sp>
    </p:spTree>
    <p:extLst>
      <p:ext uri="{BB962C8B-B14F-4D97-AF65-F5344CB8AC3E}">
        <p14:creationId xmlns:p14="http://schemas.microsoft.com/office/powerpoint/2010/main" val="265641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157DCB54-7A83-B760-83D8-6298DD3A22F0}"/>
              </a:ext>
            </a:extLst>
          </p:cNvPr>
          <p:cNvGraphicFramePr>
            <a:graphicFrameLocks noGrp="1"/>
          </p:cNvGraphicFramePr>
          <p:nvPr/>
        </p:nvGraphicFramePr>
        <p:xfrm>
          <a:off x="0" y="703766"/>
          <a:ext cx="12192000" cy="12322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59540133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64748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595709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41176174"/>
                    </a:ext>
                  </a:extLst>
                </a:gridCol>
              </a:tblGrid>
              <a:tr h="619708"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Terrestrial &amp; freshwater ecosystems</a:t>
                      </a:r>
                      <a:endParaRPr lang="en-GB" sz="1600"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Marine &amp; coastal </a:t>
                      </a:r>
                      <a:b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ecosystems</a:t>
                      </a:r>
                      <a:endParaRPr lang="en-GB" sz="1600"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Water security</a:t>
                      </a: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Food production &amp; </a:t>
                      </a:r>
                      <a:b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food security</a:t>
                      </a:r>
                      <a:endParaRPr lang="en-GB" sz="1600"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102045"/>
                  </a:ext>
                </a:extLst>
              </a:tr>
              <a:tr h="61250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Human health </a:t>
                      </a:r>
                      <a:endParaRPr lang="en-GB" sz="1600" dirty="0"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Energy</a:t>
                      </a:r>
                      <a:endParaRPr lang="en-GB" sz="1600" dirty="0"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Built environment</a:t>
                      </a:r>
                      <a:endParaRPr lang="en-GB" sz="1600"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EU outermost regions</a:t>
                      </a:r>
                      <a:endParaRPr lang="en-GB" sz="1600" dirty="0"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20456"/>
                  </a:ext>
                </a:extLst>
              </a:tr>
            </a:tbl>
          </a:graphicData>
        </a:graphic>
      </p:graphicFrame>
      <p:graphicFrame>
        <p:nvGraphicFramePr>
          <p:cNvPr id="27" name="Table 12">
            <a:extLst>
              <a:ext uri="{FF2B5EF4-FFF2-40B4-BE49-F238E27FC236}">
                <a16:creationId xmlns:a16="http://schemas.microsoft.com/office/drawing/2014/main" id="{8B71E7C2-5DDA-E31A-2DD1-44FF7BBDF417}"/>
              </a:ext>
            </a:extLst>
          </p:cNvPr>
          <p:cNvGraphicFramePr>
            <a:graphicFrameLocks noGrp="1"/>
          </p:cNvGraphicFramePr>
          <p:nvPr/>
        </p:nvGraphicFramePr>
        <p:xfrm>
          <a:off x="-4011" y="2812529"/>
          <a:ext cx="12187989" cy="13220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1436">
                  <a:extLst>
                    <a:ext uri="{9D8B030D-6E8A-4147-A177-3AD203B41FA5}">
                      <a16:colId xmlns:a16="http://schemas.microsoft.com/office/drawing/2014/main" val="595401331"/>
                    </a:ext>
                  </a:extLst>
                </a:gridCol>
                <a:gridCol w="2991436">
                  <a:extLst>
                    <a:ext uri="{9D8B030D-6E8A-4147-A177-3AD203B41FA5}">
                      <a16:colId xmlns:a16="http://schemas.microsoft.com/office/drawing/2014/main" val="126474846"/>
                    </a:ext>
                  </a:extLst>
                </a:gridCol>
                <a:gridCol w="2991436">
                  <a:extLst>
                    <a:ext uri="{9D8B030D-6E8A-4147-A177-3AD203B41FA5}">
                      <a16:colId xmlns:a16="http://schemas.microsoft.com/office/drawing/2014/main" val="3859570995"/>
                    </a:ext>
                  </a:extLst>
                </a:gridCol>
                <a:gridCol w="3213681">
                  <a:extLst>
                    <a:ext uri="{9D8B030D-6E8A-4147-A177-3AD203B41FA5}">
                      <a16:colId xmlns:a16="http://schemas.microsoft.com/office/drawing/2014/main" val="3641176174"/>
                    </a:ext>
                  </a:extLst>
                </a:gridCol>
              </a:tblGrid>
              <a:tr h="627236"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Extreme heat and </a:t>
                      </a:r>
                      <a:b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prolonged drought</a:t>
                      </a:r>
                      <a:endParaRPr lang="en-GB" sz="1600"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Large-scale flooding</a:t>
                      </a:r>
                      <a:endParaRPr lang="en-GB" sz="160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Infectious diseases</a:t>
                      </a:r>
                      <a:endParaRPr lang="en-US" sz="160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Forest disturbances and </a:t>
                      </a:r>
                      <a:b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carbon sinks</a:t>
                      </a:r>
                      <a:endParaRPr lang="en-GB" sz="160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102045"/>
                  </a:ext>
                </a:extLst>
              </a:tr>
              <a:tr h="694801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Major disruption of </a:t>
                      </a:r>
                      <a:b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critical infrastructure</a:t>
                      </a: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Disruption of international supply chains</a:t>
                      </a:r>
                      <a:endParaRPr lang="en-GB" sz="160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Stability of financial markets </a:t>
                      </a:r>
                      <a:b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and public finances</a:t>
                      </a:r>
                      <a:endParaRPr lang="en-GB" sz="160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0204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8CC51A6-AA4E-DC3C-2AA6-DB2525C545C8}"/>
              </a:ext>
            </a:extLst>
          </p:cNvPr>
          <p:cNvSpPr txBox="1"/>
          <p:nvPr/>
        </p:nvSpPr>
        <p:spPr>
          <a:xfrm>
            <a:off x="93250" y="193952"/>
            <a:ext cx="119458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02060"/>
                </a:solidFill>
                <a:latin typeface="Raleway" pitchFamily="2" charset="0"/>
              </a:rPr>
              <a:t>EUCRA thematic factsheets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C796D-30F6-208A-FF69-9B6CC18E9591}"/>
              </a:ext>
            </a:extLst>
          </p:cNvPr>
          <p:cNvSpPr txBox="1"/>
          <p:nvPr/>
        </p:nvSpPr>
        <p:spPr>
          <a:xfrm>
            <a:off x="93250" y="2255303"/>
            <a:ext cx="119259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06974"/>
                </a:solidFill>
                <a:latin typeface="Raleway" pitchFamily="2" charset="0"/>
              </a:rPr>
              <a:t>EUCRA risk storylines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3DA8C0-6DA9-4C01-0771-0A0B2F201BE9}"/>
              </a:ext>
            </a:extLst>
          </p:cNvPr>
          <p:cNvGraphicFramePr>
            <a:graphicFrameLocks noGrp="1"/>
          </p:cNvGraphicFramePr>
          <p:nvPr/>
        </p:nvGraphicFramePr>
        <p:xfrm>
          <a:off x="-8022" y="4930883"/>
          <a:ext cx="12192000" cy="619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6871157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7792100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0215544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0391615"/>
                    </a:ext>
                  </a:extLst>
                </a:gridCol>
              </a:tblGrid>
              <a:tr h="619708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ヒラギノ角ゴ Pro W3"/>
                          <a:cs typeface="Times New Roman" panose="02020603050405020304" pitchFamily="18" charset="0"/>
                        </a:rPr>
                        <a:t>Major climate risks </a:t>
                      </a:r>
                      <a:b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ヒラギノ角ゴ Pro W3"/>
                          <a:cs typeface="Times New Roman" panose="02020603050405020304" pitchFamily="18" charset="0"/>
                        </a:rPr>
                      </a:b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ヒラギノ角ゴ Pro W3"/>
                          <a:cs typeface="Times New Roman" panose="02020603050405020304" pitchFamily="18" charset="0"/>
                        </a:rPr>
                        <a:t>for Europe  </a:t>
                      </a:r>
                      <a:endParaRPr lang="en-DK" sz="16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ヒラギノ角ゴ Pro W3"/>
                          <a:cs typeface="Times New Roman" panose="02020603050405020304" pitchFamily="18" charset="0"/>
                        </a:rPr>
                        <a:t>Social justice </a:t>
                      </a:r>
                      <a:b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ヒラギノ角ゴ Pro W3"/>
                          <a:cs typeface="Times New Roman" panose="02020603050405020304" pitchFamily="18" charset="0"/>
                        </a:rPr>
                      </a:b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ヒラギノ角ゴ Pro W3"/>
                          <a:cs typeface="Times New Roman" panose="02020603050405020304" pitchFamily="18" charset="0"/>
                        </a:rPr>
                        <a:t>and cohesion</a:t>
                      </a:r>
                      <a:endParaRPr lang="en-DK" sz="16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EU adaptation policies </a:t>
                      </a:r>
                      <a:b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and risk ownership</a:t>
                      </a:r>
                      <a:endParaRPr lang="en-GB" sz="16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Priorities </a:t>
                      </a:r>
                      <a:b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600" b="1">
                          <a:solidFill>
                            <a:schemeClr val="bg1"/>
                          </a:solidFill>
                          <a:latin typeface="+mn-lt"/>
                        </a:rPr>
                        <a:t>for action</a:t>
                      </a:r>
                      <a:endParaRPr lang="en-DK" sz="16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 anchorCtr="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851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D3D685-21EE-9779-3118-9C1AE14495DE}"/>
              </a:ext>
            </a:extLst>
          </p:cNvPr>
          <p:cNvSpPr txBox="1"/>
          <p:nvPr/>
        </p:nvSpPr>
        <p:spPr>
          <a:xfrm>
            <a:off x="93250" y="4433410"/>
            <a:ext cx="611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  <a:latin typeface="Raleway" pitchFamily="2" charset="0"/>
              </a:rPr>
              <a:t>EUCRA synthesizing chapters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B383B2-0156-53D8-05A2-21922AF37B1E}"/>
              </a:ext>
            </a:extLst>
          </p:cNvPr>
          <p:cNvGrpSpPr/>
          <p:nvPr/>
        </p:nvGrpSpPr>
        <p:grpSpPr>
          <a:xfrm>
            <a:off x="8022" y="677373"/>
            <a:ext cx="9770378" cy="5592347"/>
            <a:chOff x="8022" y="688406"/>
            <a:chExt cx="9770378" cy="5592347"/>
          </a:xfrm>
        </p:grpSpPr>
        <p:pic>
          <p:nvPicPr>
            <p:cNvPr id="8" name="Picture 7" descr="A white bowl with steam and text&#10;&#10;Description automatically generated">
              <a:extLst>
                <a:ext uri="{FF2B5EF4-FFF2-40B4-BE49-F238E27FC236}">
                  <a16:creationId xmlns:a16="http://schemas.microsoft.com/office/drawing/2014/main" id="{FFDDD958-BDE8-B3E8-03F5-42822F24C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>
              <a:off x="9159397" y="688406"/>
              <a:ext cx="619003" cy="619003"/>
            </a:xfrm>
            <a:prstGeom prst="rect">
              <a:avLst/>
            </a:prstGeom>
          </p:spPr>
        </p:pic>
        <p:pic>
          <p:nvPicPr>
            <p:cNvPr id="9" name="Picture 8" descr="A green square with white text and a heart and pulse&#10;&#10;Description automatically generated">
              <a:extLst>
                <a:ext uri="{FF2B5EF4-FFF2-40B4-BE49-F238E27FC236}">
                  <a16:creationId xmlns:a16="http://schemas.microsoft.com/office/drawing/2014/main" id="{3E4562A6-0978-7229-9758-8A9808D3C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</a:blip>
            <a:stretch>
              <a:fillRect/>
            </a:stretch>
          </p:blipFill>
          <p:spPr>
            <a:xfrm>
              <a:off x="30879" y="1330800"/>
              <a:ext cx="594752" cy="594752"/>
            </a:xfrm>
            <a:prstGeom prst="rect">
              <a:avLst/>
            </a:prstGeom>
          </p:spPr>
        </p:pic>
        <p:pic>
          <p:nvPicPr>
            <p:cNvPr id="10" name="Picture 9" descr="A blue background with a white sign and a drop of water&#10;&#10;Description automatically generated">
              <a:extLst>
                <a:ext uri="{FF2B5EF4-FFF2-40B4-BE49-F238E27FC236}">
                  <a16:creationId xmlns:a16="http://schemas.microsoft.com/office/drawing/2014/main" id="{EBFE8032-D648-2E9B-CAB7-34A5AECC4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5000"/>
            </a:blip>
            <a:stretch>
              <a:fillRect/>
            </a:stretch>
          </p:blipFill>
          <p:spPr>
            <a:xfrm>
              <a:off x="6115878" y="700867"/>
              <a:ext cx="619003" cy="619003"/>
            </a:xfrm>
            <a:prstGeom prst="rect">
              <a:avLst/>
            </a:prstGeom>
          </p:spPr>
        </p:pic>
        <p:pic>
          <p:nvPicPr>
            <p:cNvPr id="11" name="Picture 10" descr="A yellow sign with a light and text&#10;&#10;Description automatically generated">
              <a:extLst>
                <a:ext uri="{FF2B5EF4-FFF2-40B4-BE49-F238E27FC236}">
                  <a16:creationId xmlns:a16="http://schemas.microsoft.com/office/drawing/2014/main" id="{9B5D7275-1BF8-8EBF-7E9F-167F6CDFA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5000"/>
            </a:blip>
            <a:stretch>
              <a:fillRect/>
            </a:stretch>
          </p:blipFill>
          <p:spPr>
            <a:xfrm>
              <a:off x="3066164" y="1320996"/>
              <a:ext cx="609181" cy="609181"/>
            </a:xfrm>
            <a:prstGeom prst="rect">
              <a:avLst/>
            </a:prstGeom>
          </p:spPr>
        </p:pic>
        <p:pic>
          <p:nvPicPr>
            <p:cNvPr id="12" name="Picture 11" descr="A red background with white text and a graph&#10;&#10;Description automatically generated">
              <a:extLst>
                <a:ext uri="{FF2B5EF4-FFF2-40B4-BE49-F238E27FC236}">
                  <a16:creationId xmlns:a16="http://schemas.microsoft.com/office/drawing/2014/main" id="{D9DAB4F4-AD83-E493-C806-5D460BD4C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5000"/>
            </a:blip>
            <a:stretch>
              <a:fillRect/>
            </a:stretch>
          </p:blipFill>
          <p:spPr>
            <a:xfrm>
              <a:off x="6016707" y="3467119"/>
              <a:ext cx="644122" cy="644122"/>
            </a:xfrm>
            <a:prstGeom prst="rect">
              <a:avLst/>
            </a:prstGeom>
          </p:spPr>
        </p:pic>
        <p:pic>
          <p:nvPicPr>
            <p:cNvPr id="13" name="Picture 12" descr="A logo on an orange background&#10;&#10;Description automatically generated">
              <a:extLst>
                <a:ext uri="{FF2B5EF4-FFF2-40B4-BE49-F238E27FC236}">
                  <a16:creationId xmlns:a16="http://schemas.microsoft.com/office/drawing/2014/main" id="{9A73A23E-0CE5-2DFC-6CA2-CCB02CA64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5000"/>
            </a:blip>
            <a:stretch>
              <a:fillRect/>
            </a:stretch>
          </p:blipFill>
          <p:spPr>
            <a:xfrm>
              <a:off x="8022" y="3467119"/>
              <a:ext cx="644122" cy="644122"/>
            </a:xfrm>
            <a:prstGeom prst="rect">
              <a:avLst/>
            </a:prstGeom>
          </p:spPr>
        </p:pic>
        <p:pic>
          <p:nvPicPr>
            <p:cNvPr id="14" name="Picture 13" descr="A white and orange sign with buildings and text&#10;&#10;Description automatically generated">
              <a:extLst>
                <a:ext uri="{FF2B5EF4-FFF2-40B4-BE49-F238E27FC236}">
                  <a16:creationId xmlns:a16="http://schemas.microsoft.com/office/drawing/2014/main" id="{A92AE3DA-858A-F8A9-0D13-F5FB4C638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5000"/>
            </a:blip>
            <a:stretch>
              <a:fillRect/>
            </a:stretch>
          </p:blipFill>
          <p:spPr>
            <a:xfrm>
              <a:off x="6125699" y="1314577"/>
              <a:ext cx="609181" cy="609181"/>
            </a:xfrm>
            <a:prstGeom prst="rect">
              <a:avLst/>
            </a:prstGeom>
          </p:spPr>
        </p:pic>
        <p:pic>
          <p:nvPicPr>
            <p:cNvPr id="15" name="Picture 14" descr="A blue sign with white text and a fish and waves&#10;&#10;Description automatically generated">
              <a:extLst>
                <a:ext uri="{FF2B5EF4-FFF2-40B4-BE49-F238E27FC236}">
                  <a16:creationId xmlns:a16="http://schemas.microsoft.com/office/drawing/2014/main" id="{2A449ED8-379A-0DD8-1503-3FF07D5D4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5000"/>
            </a:blip>
            <a:stretch>
              <a:fillRect/>
            </a:stretch>
          </p:blipFill>
          <p:spPr>
            <a:xfrm>
              <a:off x="3066164" y="700867"/>
              <a:ext cx="619003" cy="619003"/>
            </a:xfrm>
            <a:prstGeom prst="rect">
              <a:avLst/>
            </a:prstGeom>
          </p:spPr>
        </p:pic>
        <p:pic>
          <p:nvPicPr>
            <p:cNvPr id="16" name="Picture 15" descr="A green sign with white text and a tree and birds&#10;&#10;Description automatically generated">
              <a:extLst>
                <a:ext uri="{FF2B5EF4-FFF2-40B4-BE49-F238E27FC236}">
                  <a16:creationId xmlns:a16="http://schemas.microsoft.com/office/drawing/2014/main" id="{3211AB7E-FBAA-8DAD-3658-1316A84B5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75000"/>
            </a:blip>
            <a:stretch>
              <a:fillRect/>
            </a:stretch>
          </p:blipFill>
          <p:spPr>
            <a:xfrm>
              <a:off x="30879" y="712658"/>
              <a:ext cx="594752" cy="594752"/>
            </a:xfrm>
            <a:prstGeom prst="rect">
              <a:avLst/>
            </a:prstGeom>
          </p:spPr>
        </p:pic>
        <p:pic>
          <p:nvPicPr>
            <p:cNvPr id="17" name="Picture 16" descr="A green and white sign with a planet earth in the middle&#10;&#10;Description automatically generated">
              <a:extLst>
                <a:ext uri="{FF2B5EF4-FFF2-40B4-BE49-F238E27FC236}">
                  <a16:creationId xmlns:a16="http://schemas.microsoft.com/office/drawing/2014/main" id="{98E4E217-4EE0-6ABC-C50E-DD5E5043F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75000"/>
            </a:blip>
            <a:stretch>
              <a:fillRect/>
            </a:stretch>
          </p:blipFill>
          <p:spPr>
            <a:xfrm>
              <a:off x="9007183" y="2812529"/>
              <a:ext cx="599231" cy="599231"/>
            </a:xfrm>
            <a:prstGeom prst="rect">
              <a:avLst/>
            </a:prstGeom>
          </p:spPr>
        </p:pic>
        <p:pic>
          <p:nvPicPr>
            <p:cNvPr id="18" name="Picture 17" descr="A pink background with white text and white arrows&#10;&#10;Description automatically generated">
              <a:extLst>
                <a:ext uri="{FF2B5EF4-FFF2-40B4-BE49-F238E27FC236}">
                  <a16:creationId xmlns:a16="http://schemas.microsoft.com/office/drawing/2014/main" id="{BA49DFB6-D467-762C-E248-5D4C3B259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28687" y="5616565"/>
              <a:ext cx="664188" cy="664188"/>
            </a:xfrm>
            <a:prstGeom prst="rect">
              <a:avLst/>
            </a:prstGeom>
          </p:spPr>
        </p:pic>
        <p:pic>
          <p:nvPicPr>
            <p:cNvPr id="19" name="Picture 18" descr="A red sign with white text and symbols&#10;&#10;Description automatically generated">
              <a:extLst>
                <a:ext uri="{FF2B5EF4-FFF2-40B4-BE49-F238E27FC236}">
                  <a16:creationId xmlns:a16="http://schemas.microsoft.com/office/drawing/2014/main" id="{A4F005F2-F95E-F9D4-5BCA-6460D6942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50917" y="5647954"/>
              <a:ext cx="632799" cy="632799"/>
            </a:xfrm>
            <a:prstGeom prst="rect">
              <a:avLst/>
            </a:prstGeom>
          </p:spPr>
        </p:pic>
        <p:pic>
          <p:nvPicPr>
            <p:cNvPr id="20" name="Picture 19" descr="A red sign with white people and text&#10;&#10;Description automatically generated">
              <a:extLst>
                <a:ext uri="{FF2B5EF4-FFF2-40B4-BE49-F238E27FC236}">
                  <a16:creationId xmlns:a16="http://schemas.microsoft.com/office/drawing/2014/main" id="{3E260339-AAAE-65C2-A4BC-A5BFE88B3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3217075" y="5647953"/>
              <a:ext cx="632798" cy="632798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6242ED95-F22F-DA31-4F19-7924B5F42478}"/>
              </a:ext>
            </a:extLst>
          </p:cNvPr>
          <p:cNvSpPr/>
          <p:nvPr/>
        </p:nvSpPr>
        <p:spPr>
          <a:xfrm>
            <a:off x="3675345" y="1314431"/>
            <a:ext cx="1890186" cy="5864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1204A2-3B23-728B-A167-3E6A190CA4CE}"/>
              </a:ext>
            </a:extLst>
          </p:cNvPr>
          <p:cNvGrpSpPr/>
          <p:nvPr/>
        </p:nvGrpSpPr>
        <p:grpSpPr>
          <a:xfrm>
            <a:off x="370188" y="701625"/>
            <a:ext cx="8194293" cy="3430696"/>
            <a:chOff x="370188" y="701625"/>
            <a:chExt cx="8194293" cy="343069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89257A3-3BA2-902E-72A6-8EA8896DDEF6}"/>
                </a:ext>
              </a:extLst>
            </p:cNvPr>
            <p:cNvSpPr/>
            <p:nvPr/>
          </p:nvSpPr>
          <p:spPr>
            <a:xfrm>
              <a:off x="3332459" y="2875668"/>
              <a:ext cx="2422121" cy="58649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BB48AD1-D584-C2B3-59BB-9F374626893B}"/>
                </a:ext>
              </a:extLst>
            </p:cNvPr>
            <p:cNvSpPr/>
            <p:nvPr/>
          </p:nvSpPr>
          <p:spPr>
            <a:xfrm>
              <a:off x="370188" y="3488199"/>
              <a:ext cx="2422121" cy="64412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E382F9C-E6B9-23D8-B281-B960C8F0499B}"/>
                </a:ext>
              </a:extLst>
            </p:cNvPr>
            <p:cNvSpPr/>
            <p:nvPr/>
          </p:nvSpPr>
          <p:spPr>
            <a:xfrm>
              <a:off x="6730621" y="701625"/>
              <a:ext cx="1797917" cy="58649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E63A81B-9015-8AFC-3A74-1B4ADCB6A62A}"/>
                </a:ext>
              </a:extLst>
            </p:cNvPr>
            <p:cNvSpPr/>
            <p:nvPr/>
          </p:nvSpPr>
          <p:spPr>
            <a:xfrm>
              <a:off x="6766564" y="1309963"/>
              <a:ext cx="1797917" cy="58649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4C528FA-2804-47A9-4D09-E30F5E6EC542}"/>
                </a:ext>
              </a:extLst>
            </p:cNvPr>
            <p:cNvSpPr/>
            <p:nvPr/>
          </p:nvSpPr>
          <p:spPr>
            <a:xfrm>
              <a:off x="370188" y="2818045"/>
              <a:ext cx="2422121" cy="64412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38766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2C7EF6-868C-C308-027C-704324AB231C}"/>
              </a:ext>
            </a:extLst>
          </p:cNvPr>
          <p:cNvSpPr txBox="1"/>
          <p:nvPr/>
        </p:nvSpPr>
        <p:spPr>
          <a:xfrm>
            <a:off x="380454" y="199400"/>
            <a:ext cx="6002110" cy="1038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+mj-ea"/>
                <a:cs typeface="Arial"/>
                <a:sym typeface="Arial"/>
              </a:rPr>
              <a:t>Climate risks can cascade </a:t>
            </a:r>
            <a:b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+mj-ea"/>
                <a:cs typeface="Arial"/>
                <a:sym typeface="Arial"/>
              </a:rPr>
            </a:b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+mj-ea"/>
                <a:cs typeface="Arial"/>
                <a:sym typeface="Arial"/>
              </a:rPr>
              <a:t>from one system to another</a:t>
            </a:r>
          </a:p>
        </p:txBody>
      </p:sp>
      <p:pic>
        <p:nvPicPr>
          <p:cNvPr id="2" name="Picture 1" descr="A diagram of a diagram&#10;&#10;Description automatically generated">
            <a:extLst>
              <a:ext uri="{FF2B5EF4-FFF2-40B4-BE49-F238E27FC236}">
                <a16:creationId xmlns:a16="http://schemas.microsoft.com/office/drawing/2014/main" id="{F837A309-E5AF-FE44-C212-5F80B4B888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2" b="-848"/>
          <a:stretch/>
        </p:blipFill>
        <p:spPr bwMode="auto">
          <a:xfrm>
            <a:off x="7241943" y="103414"/>
            <a:ext cx="4765140" cy="6651171"/>
          </a:xfrm>
          <a:prstGeom prst="rect">
            <a:avLst/>
          </a:prstGeom>
          <a:noFill/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FAAF99-6099-D18E-1516-87F06A6BF8D8}"/>
              </a:ext>
            </a:extLst>
          </p:cNvPr>
          <p:cNvSpPr txBox="1"/>
          <p:nvPr/>
        </p:nvSpPr>
        <p:spPr>
          <a:xfrm>
            <a:off x="293774" y="1433874"/>
            <a:ext cx="7273118" cy="5224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Climate risks are determined by 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climate-related hazards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(heatwaves, floods, etc.), 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non-climatic risk drivers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 (land use, etc.) as well as 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how prepared we are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.</a:t>
            </a:r>
          </a:p>
          <a:p>
            <a:pPr marL="28575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Climate change is a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risk multiplier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that can 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</a:b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exacerbate existing risks and crises.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/>
              <a:ea typeface="+mn-ea"/>
              <a:cs typeface="Calibri"/>
              <a:sym typeface="Arial"/>
            </a:endParaRPr>
          </a:p>
          <a:p>
            <a:pPr marL="28575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Cascading climate risks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can lead to system-wide challenges affecting whole societies, with 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</a:b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vulnerable social groups most affected.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/>
              <a:ea typeface="+mn-ea"/>
              <a:cs typeface="Calibri"/>
              <a:sym typeface="Arial"/>
            </a:endParaRPr>
          </a:p>
          <a:p>
            <a:pPr marL="28575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For example, a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mega-drought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/>
                <a:ea typeface="+mn-ea"/>
                <a:cs typeface="Arial"/>
                <a:sym typeface="Arial"/>
              </a:rPr>
              <a:t>can lead to water scarcity, widespread crop losses, forest fires, poor air quality, disruptions of energy and transportation infrastructure, and threats to financial markets and stability.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788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088802d63_0_1631"/>
          <p:cNvSpPr txBox="1"/>
          <p:nvPr/>
        </p:nvSpPr>
        <p:spPr>
          <a:xfrm>
            <a:off x="300460" y="113954"/>
            <a:ext cx="1196574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Raleway"/>
                <a:cs typeface="Raleway"/>
                <a:sym typeface="Raleway"/>
              </a:rPr>
              <a:t>EUCRA: Structured risk evaluation</a:t>
            </a:r>
            <a:endParaRPr kumimoji="0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Picture 4" descr="A diagram of a process&#10;&#10;Description automatically generated">
            <a:extLst>
              <a:ext uri="{FF2B5EF4-FFF2-40B4-BE49-F238E27FC236}">
                <a16:creationId xmlns:a16="http://schemas.microsoft.com/office/drawing/2014/main" id="{D93D6944-2DB8-955B-0221-181760750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590" y="991297"/>
            <a:ext cx="7420707" cy="575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5635C525-1D7B-E22B-91AE-305162FE15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34" t="27128" r="40099" b="59026"/>
          <a:stretch/>
        </p:blipFill>
        <p:spPr>
          <a:xfrm>
            <a:off x="7834611" y="2183183"/>
            <a:ext cx="3125489" cy="3048000"/>
          </a:xfrm>
          <a:prstGeom prst="ellipse">
            <a:avLst/>
          </a:prstGeom>
        </p:spPr>
      </p:pic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5EE183F2-A9AB-883F-5765-4605308493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704"/>
          <a:stretch/>
        </p:blipFill>
        <p:spPr>
          <a:xfrm>
            <a:off x="165100" y="111980"/>
            <a:ext cx="7696200" cy="6634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6431321-39E8-59C4-B888-0A3378B43D6B}"/>
              </a:ext>
            </a:extLst>
          </p:cNvPr>
          <p:cNvSpPr/>
          <p:nvPr/>
        </p:nvSpPr>
        <p:spPr>
          <a:xfrm>
            <a:off x="3263900" y="3111500"/>
            <a:ext cx="1498600" cy="142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55CB5B-7DC3-5C77-7F4F-1F30C372F6C3}"/>
              </a:ext>
            </a:extLst>
          </p:cNvPr>
          <p:cNvSpPr/>
          <p:nvPr/>
        </p:nvSpPr>
        <p:spPr>
          <a:xfrm>
            <a:off x="241738" y="462455"/>
            <a:ext cx="4403834" cy="252248"/>
          </a:xfrm>
          <a:prstGeom prst="rect">
            <a:avLst/>
          </a:prstGeom>
          <a:solidFill>
            <a:srgbClr val="0030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E6AB2-51D1-A0BC-EBD6-91E2BBC9665D}"/>
              </a:ext>
            </a:extLst>
          </p:cNvPr>
          <p:cNvSpPr txBox="1"/>
          <p:nvPr/>
        </p:nvSpPr>
        <p:spPr>
          <a:xfrm>
            <a:off x="8240901" y="449802"/>
            <a:ext cx="3708583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Arial"/>
                <a:sym typeface="Arial"/>
              </a:rPr>
              <a:t>Urgent action </a:t>
            </a:r>
            <a:b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Arial"/>
                <a:sym typeface="Arial"/>
              </a:rPr>
            </a:b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Arial"/>
                <a:sym typeface="Arial"/>
              </a:rPr>
              <a:t>is needed in all five risk clusters</a:t>
            </a:r>
            <a:endParaRPr kumimoji="0" lang="en-DK" sz="2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aleway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85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AD6751-A696-B00B-AF95-92ECBE7DE5D2}"/>
              </a:ext>
            </a:extLst>
          </p:cNvPr>
          <p:cNvSpPr txBox="1"/>
          <p:nvPr/>
        </p:nvSpPr>
        <p:spPr>
          <a:xfrm>
            <a:off x="391879" y="278417"/>
            <a:ext cx="1155760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aleway"/>
                <a:ea typeface="Calibri" panose="020F0502020204030204" pitchFamily="34" charset="0"/>
                <a:cs typeface="Arial"/>
                <a:sym typeface="Arial"/>
              </a:rPr>
              <a:t>Key findings of EUCRA’s structured risk assessment</a:t>
            </a:r>
            <a:endParaRPr kumimoji="0" lang="en-DK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aleway" pitchFamily="2" charset="0"/>
              <a:cs typeface="Arial"/>
              <a:sym typeface="Arial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4F1A231-3DF6-7236-3AF7-7FBA4E892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11" y="1151793"/>
            <a:ext cx="5819491" cy="5405038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BA9E98E-A07E-03C8-B52F-531FF75E5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333" y="1112692"/>
            <a:ext cx="5923151" cy="492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1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B4B544-B259-35AD-7DFA-000E27584F25}"/>
              </a:ext>
            </a:extLst>
          </p:cNvPr>
          <p:cNvSpPr txBox="1"/>
          <p:nvPr/>
        </p:nvSpPr>
        <p:spPr>
          <a:xfrm>
            <a:off x="436180" y="203727"/>
            <a:ext cx="1014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effectLst/>
                <a:latin typeface="Raleway" pitchFamily="2" charset="0"/>
                <a:ea typeface="ヒラギノ角ゴ Pro W3"/>
                <a:cs typeface="Times New Roman" panose="02020603050405020304" pitchFamily="18" charset="0"/>
              </a:rPr>
              <a:t>Climate change impact chain for the energy system</a:t>
            </a:r>
          </a:p>
        </p:txBody>
      </p:sp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31454A33-6D90-DB7A-BBE0-2269AFC84B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95"/>
          <a:stretch/>
        </p:blipFill>
        <p:spPr>
          <a:xfrm>
            <a:off x="950228" y="768214"/>
            <a:ext cx="8905949" cy="588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4F7A5F-E8AB-2632-D8E5-CC4BBEE6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961" y="158052"/>
            <a:ext cx="6773646" cy="1250912"/>
          </a:xfrm>
          <a:prstGeom prst="rect">
            <a:avLst/>
          </a:prstGeo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9A921041-0E96-A3A3-813D-69C96EE2F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157" y="1567544"/>
            <a:ext cx="9730115" cy="4707652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89E39598-8899-F187-FB9F-8CF2E0933769}"/>
              </a:ext>
            </a:extLst>
          </p:cNvPr>
          <p:cNvSpPr/>
          <p:nvPr/>
        </p:nvSpPr>
        <p:spPr>
          <a:xfrm>
            <a:off x="252919" y="3268495"/>
            <a:ext cx="654996" cy="214008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E2C1485-B5F9-1473-73DD-C92AFA24DCFF}"/>
              </a:ext>
            </a:extLst>
          </p:cNvPr>
          <p:cNvSpPr/>
          <p:nvPr/>
        </p:nvSpPr>
        <p:spPr>
          <a:xfrm>
            <a:off x="252919" y="3557082"/>
            <a:ext cx="654996" cy="214008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88A107D-97BA-DF86-A6E6-74AA532A66F2}"/>
              </a:ext>
            </a:extLst>
          </p:cNvPr>
          <p:cNvSpPr/>
          <p:nvPr/>
        </p:nvSpPr>
        <p:spPr>
          <a:xfrm>
            <a:off x="252919" y="3814366"/>
            <a:ext cx="654996" cy="214008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46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B4B544-B259-35AD-7DFA-000E27584F25}"/>
              </a:ext>
            </a:extLst>
          </p:cNvPr>
          <p:cNvSpPr txBox="1"/>
          <p:nvPr/>
        </p:nvSpPr>
        <p:spPr>
          <a:xfrm>
            <a:off x="486767" y="150973"/>
            <a:ext cx="11348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GB" sz="3200" b="1" dirty="0">
                <a:solidFill>
                  <a:srgbClr val="44546A"/>
                </a:solidFill>
                <a:effectLst/>
                <a:latin typeface="Raleway" pitchFamily="2" charset="0"/>
                <a:ea typeface="ヒラギノ角ゴ Pro W3"/>
                <a:cs typeface="Times New Roman" panose="02020603050405020304" pitchFamily="18" charset="0"/>
              </a:rPr>
              <a:t>Energy security: major climate risks and risk pathways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BA5BE-DE2C-D726-18FA-6E6E823BB678}"/>
              </a:ext>
            </a:extLst>
          </p:cNvPr>
          <p:cNvSpPr txBox="1"/>
          <p:nvPr/>
        </p:nvSpPr>
        <p:spPr>
          <a:xfrm>
            <a:off x="428016" y="816477"/>
            <a:ext cx="11466383" cy="5497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Climate change intensifies risks to European energy systems </a:t>
            </a: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through </a:t>
            </a:r>
          </a:p>
          <a:p>
            <a:pPr marL="720000" lvl="3" indent="-342900">
              <a:lnSpc>
                <a:spcPct val="110000"/>
              </a:lnSpc>
              <a:spcAft>
                <a:spcPts val="200"/>
              </a:spcAft>
              <a:buFont typeface="Raleway" pitchFamily="2" charset="0"/>
              <a:buChar char="‒"/>
            </a:pP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increased cooling demand, </a:t>
            </a:r>
          </a:p>
          <a:p>
            <a:pPr marL="720000" lvl="3" indent="-342900">
              <a:lnSpc>
                <a:spcPct val="110000"/>
              </a:lnSpc>
              <a:spcAft>
                <a:spcPts val="200"/>
              </a:spcAft>
              <a:buFont typeface="Raleway" pitchFamily="2" charset="0"/>
              <a:buChar char="‒"/>
            </a:pP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regional reductions in hydropower potential, </a:t>
            </a:r>
            <a:endParaRPr lang="en-GB" sz="2200" dirty="0">
              <a:latin typeface="Raleway" pitchFamily="2" charset="0"/>
            </a:endParaRPr>
          </a:p>
          <a:p>
            <a:pPr marL="720000" lvl="3" indent="-342900">
              <a:lnSpc>
                <a:spcPct val="110000"/>
              </a:lnSpc>
              <a:spcAft>
                <a:spcPts val="200"/>
              </a:spcAft>
              <a:buFont typeface="Raleway" pitchFamily="2" charset="0"/>
              <a:buChar char="‒"/>
            </a:pP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reduced efficiency of thermal power plants and electricity transmission, and</a:t>
            </a:r>
            <a:endParaRPr lang="en-GB" sz="2200" dirty="0">
              <a:latin typeface="Raleway" pitchFamily="2" charset="0"/>
            </a:endParaRPr>
          </a:p>
          <a:p>
            <a:pPr marL="720000" lvl="3" indent="-342900">
              <a:lnSpc>
                <a:spcPct val="110000"/>
              </a:lnSpc>
              <a:spcAft>
                <a:spcPts val="200"/>
              </a:spcAft>
              <a:buFont typeface="Raleway" pitchFamily="2" charset="0"/>
              <a:buChar char="‒"/>
            </a:pP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impacts of extreme weather events on energy infrastructure </a:t>
            </a:r>
            <a:b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</a:b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(</a:t>
            </a:r>
            <a:r>
              <a:rPr lang="en-GB" sz="2200" dirty="0">
                <a:latin typeface="Raleway" pitchFamily="2" charset="0"/>
              </a:rPr>
              <a:t>c</a:t>
            </a: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oastal and inland floods, storms, and wildfires).</a:t>
            </a: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Southern Europe faces the largest risks to its energy security.</a:t>
            </a: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 </a:t>
            </a:r>
            <a:b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</a:b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Prolonged droughts affecting electricity supply in combination with heatwaves affecting peak electricity demand can lead to power cuts.</a:t>
            </a: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dirty="0">
                <a:latin typeface="Raleway" pitchFamily="2" charset="0"/>
              </a:rPr>
              <a:t>A stable and affordable energy supply is central for a modern society. </a:t>
            </a:r>
            <a:br>
              <a:rPr lang="en-GB" sz="2200" b="1" dirty="0">
                <a:latin typeface="Raleway" pitchFamily="2" charset="0"/>
              </a:rPr>
            </a:br>
            <a:r>
              <a:rPr lang="en-GB" sz="2200" dirty="0">
                <a:latin typeface="Raleway" pitchFamily="2" charset="0"/>
              </a:rPr>
              <a:t>Risks to energy supply can cascade to all societal sectors and activities, </a:t>
            </a:r>
            <a:br>
              <a:rPr lang="en-GB" sz="2200" dirty="0">
                <a:latin typeface="Raleway" pitchFamily="2" charset="0"/>
              </a:rPr>
            </a:br>
            <a:r>
              <a:rPr lang="en-GB" sz="2200" dirty="0">
                <a:latin typeface="Raleway" pitchFamily="2" charset="0"/>
              </a:rPr>
              <a:t>threatening security, economic well-being, and human health. </a:t>
            </a:r>
            <a:endParaRPr lang="en-GB" sz="2200" b="1" dirty="0">
              <a:latin typeface="Raleway" pitchFamily="2" charset="0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The role of electricity is increasing in a decarbonized energy system.</a:t>
            </a:r>
          </a:p>
        </p:txBody>
      </p:sp>
    </p:spTree>
    <p:extLst>
      <p:ext uri="{BB962C8B-B14F-4D97-AF65-F5344CB8AC3E}">
        <p14:creationId xmlns:p14="http://schemas.microsoft.com/office/powerpoint/2010/main" val="307145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B4B544-B259-35AD-7DFA-000E27584F25}"/>
              </a:ext>
            </a:extLst>
          </p:cNvPr>
          <p:cNvSpPr txBox="1"/>
          <p:nvPr/>
        </p:nvSpPr>
        <p:spPr>
          <a:xfrm>
            <a:off x="503149" y="168558"/>
            <a:ext cx="11348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GB" sz="3200" b="1" dirty="0">
                <a:solidFill>
                  <a:srgbClr val="44546A"/>
                </a:solidFill>
                <a:effectLst/>
                <a:latin typeface="Raleway" pitchFamily="2" charset="0"/>
                <a:ea typeface="ヒラギノ角ゴ Pro W3"/>
                <a:cs typeface="Times New Roman" panose="02020603050405020304" pitchFamily="18" charset="0"/>
              </a:rPr>
              <a:t>Energy security: EU policy priorities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BA5BE-DE2C-D726-18FA-6E6E823BB678}"/>
              </a:ext>
            </a:extLst>
          </p:cNvPr>
          <p:cNvSpPr txBox="1"/>
          <p:nvPr/>
        </p:nvSpPr>
        <p:spPr>
          <a:xfrm>
            <a:off x="503149" y="874454"/>
            <a:ext cx="11248913" cy="5151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The </a:t>
            </a:r>
            <a:r>
              <a:rPr lang="en-GB" sz="2200" b="1" dirty="0">
                <a:latin typeface="Raleway" pitchFamily="2" charset="0"/>
              </a:rPr>
              <a:t>transformation of the European energy system must integrate mitigation and adaptation considerations. </a:t>
            </a:r>
            <a:r>
              <a:rPr lang="en-GB" sz="2200" dirty="0">
                <a:latin typeface="Raleway" pitchFamily="2" charset="0"/>
              </a:rPr>
              <a:t>European and national d</a:t>
            </a: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ecarbonisation strategies must consider climate change during the long lifetime of energy infrastructure. </a:t>
            </a: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latin typeface="Raleway" pitchFamily="2" charset="0"/>
              </a:rPr>
              <a:t>The </a:t>
            </a:r>
            <a:r>
              <a:rPr lang="en-GB" sz="2200" b="1" dirty="0">
                <a:latin typeface="Raleway" pitchFamily="2" charset="0"/>
              </a:rPr>
              <a:t>updated NECPs 2021-2030 </a:t>
            </a:r>
            <a:r>
              <a:rPr lang="en-GB" sz="2200" dirty="0">
                <a:latin typeface="Raleway" pitchFamily="2" charset="0"/>
              </a:rPr>
              <a:t>provide a near-term opportunity for doing so.</a:t>
            </a:r>
            <a:endParaRPr lang="en-GB" sz="2200" i="0" u="none" strike="noStrike" baseline="0" dirty="0">
              <a:solidFill>
                <a:srgbClr val="000000"/>
              </a:solidFill>
              <a:latin typeface="Raleway" pitchFamily="2" charset="0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Enhancing energy system resilience requires </a:t>
            </a:r>
            <a:r>
              <a:rPr lang="en-GB" sz="2200" b="1" dirty="0">
                <a:latin typeface="Raleway" pitchFamily="2" charset="0"/>
              </a:rPr>
              <a:t>detailed risk assessments, </a:t>
            </a:r>
            <a: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infrastructure maintenance, and technological innovations. </a:t>
            </a: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Improving energy efficiency and demand-side management can further increase energy security.</a:t>
            </a: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latin typeface="Raleway" pitchFamily="2" charset="0"/>
              </a:rPr>
              <a:t>National implementation of the </a:t>
            </a:r>
            <a:r>
              <a:rPr lang="en-US" sz="2200" b="1" dirty="0">
                <a:latin typeface="Raleway" pitchFamily="2" charset="0"/>
              </a:rPr>
              <a:t>Regulation on Risk-preparedness in the Electricity Sector</a:t>
            </a:r>
            <a:r>
              <a:rPr lang="en-US" sz="2200" dirty="0">
                <a:latin typeface="Raleway" pitchFamily="2" charset="0"/>
              </a:rPr>
              <a:t> and the </a:t>
            </a:r>
            <a:r>
              <a:rPr lang="en-GB" sz="2200" b="1" dirty="0">
                <a:latin typeface="Raleway" pitchFamily="2" charset="0"/>
              </a:rPr>
              <a:t>Critical Entities Resilience Directive </a:t>
            </a:r>
            <a:r>
              <a:rPr lang="en-GB" sz="2200" dirty="0">
                <a:latin typeface="Raleway" pitchFamily="2" charset="0"/>
              </a:rPr>
              <a:t>needs to ensure comprehensive consideration of current and future climate risks.</a:t>
            </a:r>
            <a:endParaRPr lang="en-GB" sz="2200" i="0" u="none" strike="noStrike" baseline="0" dirty="0">
              <a:solidFill>
                <a:srgbClr val="000000"/>
              </a:solidFill>
              <a:latin typeface="Raleway" pitchFamily="2" charset="0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Social justice considerations are essential in energy adaptation planning, </a:t>
            </a:r>
            <a:br>
              <a:rPr lang="en-GB" sz="2200" b="1" i="0" u="none" strike="noStrike" baseline="0" dirty="0">
                <a:solidFill>
                  <a:srgbClr val="000000"/>
                </a:solidFill>
                <a:latin typeface="Raleway" pitchFamily="2" charset="0"/>
              </a:rPr>
            </a:br>
            <a:r>
              <a:rPr lang="en-GB" sz="2200" i="0" u="none" strike="noStrike" baseline="0" dirty="0">
                <a:solidFill>
                  <a:srgbClr val="000000"/>
                </a:solidFill>
                <a:latin typeface="Raleway" pitchFamily="2" charset="0"/>
              </a:rPr>
              <a:t>ensuring equitable access to resources and addressing energy poverty.</a:t>
            </a:r>
          </a:p>
        </p:txBody>
      </p:sp>
    </p:spTree>
    <p:extLst>
      <p:ext uri="{BB962C8B-B14F-4D97-AF65-F5344CB8AC3E}">
        <p14:creationId xmlns:p14="http://schemas.microsoft.com/office/powerpoint/2010/main" val="3068231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FEE5-2854-7D9D-CC67-A9ED2A89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FF174-1F37-FAA0-8C72-1C0ED2DF6482}"/>
              </a:ext>
            </a:extLst>
          </p:cNvPr>
          <p:cNvSpPr txBox="1"/>
          <p:nvPr/>
        </p:nvSpPr>
        <p:spPr>
          <a:xfrm>
            <a:off x="258593" y="108399"/>
            <a:ext cx="11695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3200" b="1">
                <a:solidFill>
                  <a:srgbClr val="113A60"/>
                </a:solidFill>
              </a:rPr>
              <a:t>Further EEA resources on climate adaptation and energy </a:t>
            </a:r>
            <a:endParaRPr lang="en-GB" sz="3200" b="1">
              <a:solidFill>
                <a:srgbClr val="FF000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A7A633-D285-A2E6-4653-C84047C0BE7D}"/>
              </a:ext>
            </a:extLst>
          </p:cNvPr>
          <p:cNvGrpSpPr/>
          <p:nvPr/>
        </p:nvGrpSpPr>
        <p:grpSpPr>
          <a:xfrm>
            <a:off x="126205" y="942180"/>
            <a:ext cx="3116917" cy="5139967"/>
            <a:chOff x="5519163" y="1282571"/>
            <a:chExt cx="3116917" cy="51399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DA67D8-B495-3B9E-85D2-8D720C8C1E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232" r="35726"/>
            <a:stretch/>
          </p:blipFill>
          <p:spPr>
            <a:xfrm>
              <a:off x="5519163" y="1282571"/>
              <a:ext cx="3116917" cy="449285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D16D74-F873-F15B-007B-ED85821E9E2D}"/>
                </a:ext>
              </a:extLst>
            </p:cNvPr>
            <p:cNvSpPr txBox="1"/>
            <p:nvPr/>
          </p:nvSpPr>
          <p:spPr>
            <a:xfrm>
              <a:off x="5519163" y="6083984"/>
              <a:ext cx="29630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>
                  <a:solidFill>
                    <a:schemeClr val="accent1">
                      <a:lumMod val="50000"/>
                    </a:schemeClr>
                  </a:solidFill>
                  <a:latin typeface="Raleway" pitchFamily="2" charset="0"/>
                </a:rPr>
                <a:t>Draft (available on request)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AB069C-41DA-40D1-1212-A9719B96570C}"/>
              </a:ext>
            </a:extLst>
          </p:cNvPr>
          <p:cNvGrpSpPr/>
          <p:nvPr/>
        </p:nvGrpSpPr>
        <p:grpSpPr>
          <a:xfrm>
            <a:off x="8482830" y="942180"/>
            <a:ext cx="3397390" cy="5157514"/>
            <a:chOff x="8787448" y="1294212"/>
            <a:chExt cx="3166428" cy="5157514"/>
          </a:xfrm>
        </p:grpSpPr>
        <p:pic>
          <p:nvPicPr>
            <p:cNvPr id="7" name="Content Placeholder 3">
              <a:extLst>
                <a:ext uri="{FF2B5EF4-FFF2-40B4-BE49-F238E27FC236}">
                  <a16:creationId xmlns:a16="http://schemas.microsoft.com/office/drawing/2014/main" id="{BE5A172B-75C0-EE8D-640C-2DF3F5500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448" y="1294212"/>
              <a:ext cx="3166428" cy="447535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DFB321-93E4-BC5E-04F2-062A7088FA84}"/>
                </a:ext>
              </a:extLst>
            </p:cNvPr>
            <p:cNvSpPr/>
            <p:nvPr/>
          </p:nvSpPr>
          <p:spPr>
            <a:xfrm>
              <a:off x="8787448" y="5928506"/>
              <a:ext cx="278924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spcBef>
                  <a:spcPts val="1200"/>
                </a:spcBef>
                <a:defRPr/>
              </a:pPr>
              <a:r>
                <a:rPr lang="de-DE">
                  <a:latin typeface="Raleway" pitchFamily="2" charset="0"/>
                  <a:hlinkClick r:id="rId5"/>
                </a:rPr>
                <a:t>eea.europa.eu/</a:t>
              </a:r>
              <a:r>
                <a:rPr lang="de-DE" err="1">
                  <a:latin typeface="Raleway" pitchFamily="2" charset="0"/>
                  <a:hlinkClick r:id="rId5"/>
                </a:rPr>
                <a:t>publications</a:t>
              </a:r>
              <a:r>
                <a:rPr lang="de-DE">
                  <a:latin typeface="Raleway" pitchFamily="2" charset="0"/>
                  <a:hlinkClick r:id="rId5"/>
                </a:rPr>
                <a:t>/</a:t>
              </a:r>
              <a:br>
                <a:rPr lang="de-DE">
                  <a:latin typeface="Raleway" pitchFamily="2" charset="0"/>
                  <a:hlinkClick r:id="rId5"/>
                </a:rPr>
              </a:br>
              <a:r>
                <a:rPr lang="de-DE" err="1">
                  <a:latin typeface="Raleway" pitchFamily="2" charset="0"/>
                  <a:hlinkClick r:id="rId5"/>
                </a:rPr>
                <a:t>adaptation</a:t>
              </a:r>
              <a:r>
                <a:rPr lang="de-DE">
                  <a:latin typeface="Raleway" pitchFamily="2" charset="0"/>
                  <a:hlinkClick r:id="rId5"/>
                </a:rPr>
                <a:t>-in-</a:t>
              </a:r>
              <a:r>
                <a:rPr lang="de-DE" err="1">
                  <a:latin typeface="Raleway" pitchFamily="2" charset="0"/>
                  <a:hlinkClick r:id="rId5"/>
                </a:rPr>
                <a:t>energy</a:t>
              </a:r>
              <a:r>
                <a:rPr lang="de-DE">
                  <a:latin typeface="Raleway" pitchFamily="2" charset="0"/>
                  <a:hlinkClick r:id="rId5"/>
                </a:rPr>
                <a:t>-system</a:t>
              </a:r>
              <a:r>
                <a:rPr lang="de-DE">
                  <a:latin typeface="Raleway" pitchFamily="2" charset="0"/>
                </a:rPr>
                <a:t>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9CED7A-B0BC-4EC9-018C-1A8DCB2DC4EB}"/>
              </a:ext>
            </a:extLst>
          </p:cNvPr>
          <p:cNvGrpSpPr/>
          <p:nvPr/>
        </p:nvGrpSpPr>
        <p:grpSpPr>
          <a:xfrm>
            <a:off x="3442580" y="942180"/>
            <a:ext cx="4735703" cy="5151455"/>
            <a:chOff x="149201" y="1155751"/>
            <a:chExt cx="4929633" cy="55167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E74ABAE-5E3A-25D9-D8D1-B8C7BCCBF7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985" t="5756" r="2906"/>
            <a:stretch/>
          </p:blipFill>
          <p:spPr>
            <a:xfrm>
              <a:off x="258593" y="1155751"/>
              <a:ext cx="4820241" cy="479272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A88E80-B997-760C-030A-76A5CB19FA36}"/>
                </a:ext>
              </a:extLst>
            </p:cNvPr>
            <p:cNvSpPr txBox="1"/>
            <p:nvPr/>
          </p:nvSpPr>
          <p:spPr>
            <a:xfrm>
              <a:off x="149201" y="6112189"/>
              <a:ext cx="4024731" cy="560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>
                  <a:latin typeface="Raleway" pitchFamily="2" charset="0"/>
                  <a:hlinkClick r:id="rId7"/>
                </a:rPr>
                <a:t>climate-adapt.eea.europa.eu/</a:t>
              </a:r>
              <a:r>
                <a:rPr lang="en-GB" err="1">
                  <a:latin typeface="Raleway" pitchFamily="2" charset="0"/>
                  <a:hlinkClick r:id="rId7"/>
                </a:rPr>
                <a:t>en</a:t>
              </a:r>
              <a:r>
                <a:rPr lang="en-GB">
                  <a:latin typeface="Raleway" pitchFamily="2" charset="0"/>
                  <a:hlinkClick r:id="rId7"/>
                </a:rPr>
                <a:t>/</a:t>
              </a:r>
              <a:br>
                <a:rPr lang="en-GB">
                  <a:latin typeface="Raleway" pitchFamily="2" charset="0"/>
                  <a:hlinkClick r:id="rId7"/>
                </a:rPr>
              </a:br>
              <a:r>
                <a:rPr lang="en-GB">
                  <a:latin typeface="Raleway" pitchFamily="2" charset="0"/>
                  <a:hlinkClick r:id="rId7"/>
                </a:rPr>
                <a:t>knowledge/tools/case-study-explorer</a:t>
              </a:r>
              <a:r>
                <a:rPr lang="en-GB">
                  <a:latin typeface="Raleway" pitchFamily="2" charset="0"/>
                </a:rPr>
                <a:t>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E4A9D6E-2B75-F9F4-08BC-7BBCDD8514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86" t="34897" b="35093"/>
            <a:stretch/>
          </p:blipFill>
          <p:spPr>
            <a:xfrm>
              <a:off x="1988287" y="3409945"/>
              <a:ext cx="2009553" cy="66985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BD87B2-6335-F757-A84D-C0E84402D2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884" b="71207"/>
            <a:stretch/>
          </p:blipFill>
          <p:spPr>
            <a:xfrm>
              <a:off x="258593" y="3847529"/>
              <a:ext cx="1729695" cy="60824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60CC66A-FE09-C91C-0FFD-19BFA01D7A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660" r="70884"/>
            <a:stretch/>
          </p:blipFill>
          <p:spPr>
            <a:xfrm>
              <a:off x="258593" y="4955634"/>
              <a:ext cx="1729695" cy="6197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2397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73075" y="93392"/>
            <a:ext cx="11245850" cy="6762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Key climate risk drivers for the energy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9EB3B7-1392-E384-9D67-8CE9E4CC86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61" y="1026542"/>
            <a:ext cx="7566391" cy="573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81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241738" y="170649"/>
            <a:ext cx="11245850" cy="6762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Climate change impacts on the energy system by region</a:t>
            </a:r>
            <a:endParaRPr lang="en-GB" b="1" dirty="0">
              <a:solidFill>
                <a:schemeClr val="accent1">
                  <a:lumMod val="50000"/>
                </a:schemeClr>
              </a:solidFill>
              <a:latin typeface="Raleway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7326313" y="1435100"/>
            <a:ext cx="4865687" cy="35226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All components of the energy system are vulnerable to climate change and/or extreme weather events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Impacts differ across regions and energy sector components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Southern European regions </a:t>
            </a:r>
            <a:br>
              <a:rPr lang="de-DE" sz="24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</a:b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are most adversely affected </a:t>
            </a:r>
            <a:endParaRPr lang="en-GB" sz="2400" dirty="0">
              <a:solidFill>
                <a:schemeClr val="accent1">
                  <a:lumMod val="50000"/>
                </a:schemeClr>
              </a:solidFill>
              <a:latin typeface="Raleway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846924"/>
            <a:ext cx="6295651" cy="595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28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iver with houses and buildings&#10;&#10;Description automatically generated with medium confidence">
            <a:extLst>
              <a:ext uri="{FF2B5EF4-FFF2-40B4-BE49-F238E27FC236}">
                <a16:creationId xmlns:a16="http://schemas.microsoft.com/office/drawing/2014/main" id="{2FABCFF1-3F0C-5F51-8243-CBB3E6224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" b="13408"/>
          <a:stretch/>
        </p:blipFill>
        <p:spPr>
          <a:xfrm>
            <a:off x="1" y="0"/>
            <a:ext cx="1221066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4AC16F-2A92-8462-5976-05F1D3C2A92B}"/>
              </a:ext>
            </a:extLst>
          </p:cNvPr>
          <p:cNvSpPr txBox="1"/>
          <p:nvPr/>
        </p:nvSpPr>
        <p:spPr>
          <a:xfrm>
            <a:off x="79659" y="6529446"/>
            <a:ext cx="25610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>
                <a:solidFill>
                  <a:schemeClr val="bg1"/>
                </a:solidFill>
                <a:effectLst/>
              </a:rPr>
              <a:t>©Christopher </a:t>
            </a:r>
            <a:r>
              <a:rPr lang="en-US" sz="900">
                <a:solidFill>
                  <a:schemeClr val="bg1"/>
                </a:solidFill>
              </a:rPr>
              <a:t>Furlong </a:t>
            </a:r>
            <a:r>
              <a:rPr lang="en-US" sz="900" b="0" i="0">
                <a:solidFill>
                  <a:schemeClr val="bg1"/>
                </a:solidFill>
                <a:effectLst/>
              </a:rPr>
              <a:t>via Getty Images</a:t>
            </a:r>
            <a:endParaRPr lang="en-DK" sz="9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A81EE-BE43-0E7E-6C33-82C0893B6DE8}"/>
              </a:ext>
            </a:extLst>
          </p:cNvPr>
          <p:cNvSpPr/>
          <p:nvPr/>
        </p:nvSpPr>
        <p:spPr>
          <a:xfrm>
            <a:off x="4777507" y="3859823"/>
            <a:ext cx="2469930" cy="57988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5878" tIns="82916" rIns="165878" bIns="82916" anchor="ctr" anchorCtr="0">
            <a:noAutofit/>
          </a:bodyPr>
          <a:lstStyle/>
          <a:p>
            <a:pPr lvl="0" algn="r">
              <a:buClr>
                <a:prstClr val="black"/>
              </a:buClr>
              <a:buSzPts val="1600"/>
              <a:defRPr/>
            </a:pPr>
            <a:r>
              <a:rPr lang="az-Cyrl-AZ" sz="3600" b="1" dirty="0">
                <a:solidFill>
                  <a:srgbClr val="FFFFFF"/>
                </a:solidFill>
                <a:latin typeface="Calibri" panose="020F0502020204030204"/>
                <a:cs typeface="Calibri"/>
              </a:rPr>
              <a:t>Дякую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BF850-B410-D5AD-AC43-C18D88C3199D}"/>
              </a:ext>
            </a:extLst>
          </p:cNvPr>
          <p:cNvSpPr txBox="1"/>
          <p:nvPr/>
        </p:nvSpPr>
        <p:spPr>
          <a:xfrm>
            <a:off x="5950039" y="5044424"/>
            <a:ext cx="5909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Raleway" pitchFamily="2" charset="0"/>
              </a:rPr>
              <a:t>For more information</a:t>
            </a:r>
            <a:r>
              <a:rPr lang="en-US" sz="2000" dirty="0">
                <a:solidFill>
                  <a:schemeClr val="bg1"/>
                </a:solidFill>
                <a:latin typeface="Raleway" pitchFamily="2" charset="0"/>
              </a:rPr>
              <a:t>: </a:t>
            </a:r>
          </a:p>
          <a:p>
            <a:pPr algn="r"/>
            <a:r>
              <a:rPr lang="en-DK" sz="2000" u="sng" dirty="0">
                <a:solidFill>
                  <a:schemeClr val="bg1"/>
                </a:solidFill>
                <a:effectLst/>
                <a:latin typeface="Raleway" pitchFamily="2" charset="0"/>
                <a:ea typeface="Aptos" panose="020B0004020202020204" pitchFamily="34" charset="0"/>
                <a:cs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climate-adapt.eea.europa.eu/</a:t>
            </a:r>
            <a:r>
              <a:rPr lang="en-DK" sz="2000" u="sng" dirty="0" err="1">
                <a:solidFill>
                  <a:schemeClr val="bg1"/>
                </a:solidFill>
                <a:effectLst/>
                <a:latin typeface="Raleway" pitchFamily="2" charset="0"/>
                <a:ea typeface="Aptos" panose="020B0004020202020204" pitchFamily="34" charset="0"/>
                <a:cs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</a:t>
            </a:r>
            <a:r>
              <a:rPr lang="en-DK" sz="2000" u="sng" dirty="0">
                <a:solidFill>
                  <a:schemeClr val="bg1"/>
                </a:solidFill>
                <a:effectLst/>
                <a:latin typeface="Raleway" pitchFamily="2" charset="0"/>
                <a:ea typeface="Aptos" panose="020B0004020202020204" pitchFamily="34" charset="0"/>
                <a:cs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DK" sz="2000" u="sng" dirty="0" err="1">
                <a:solidFill>
                  <a:schemeClr val="bg1"/>
                </a:solidFill>
                <a:effectLst/>
                <a:latin typeface="Raleway" pitchFamily="2" charset="0"/>
                <a:ea typeface="Aptos" panose="020B0004020202020204" pitchFamily="34" charset="0"/>
                <a:cs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eucra</a:t>
            </a:r>
            <a:endParaRPr lang="en-DK" sz="2000" dirty="0">
              <a:solidFill>
                <a:schemeClr val="bg1"/>
              </a:solidFill>
              <a:effectLst/>
              <a:latin typeface="Raleway" pitchFamily="2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DK" sz="2000" dirty="0">
                <a:effectLst/>
                <a:latin typeface="Raleway" pitchFamily="2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 marL="0" indent="0" algn="r">
              <a:buFont typeface="Arial"/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2" charset="0"/>
              </a:rPr>
              <a:t>Contact us:</a:t>
            </a:r>
          </a:p>
          <a:p>
            <a:pPr marL="0" indent="0" algn="r"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EUCRA@eea.europa.eu</a:t>
            </a:r>
            <a:endParaRPr lang="en-US" sz="2000" dirty="0">
              <a:solidFill>
                <a:schemeClr val="bg1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47343"/>
      </p:ext>
    </p:extLst>
  </p:cSld>
  <p:clrMapOvr>
    <a:masterClrMapping/>
  </p:clrMapOvr>
</p:sld>
</file>

<file path=ppt/theme/theme1.xml><?xml version="1.0" encoding="utf-8"?>
<a:theme xmlns:a="http://schemas.openxmlformats.org/drawingml/2006/main" name="1_EEA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A Presentation template.pptx" id="{D521B88E-B58B-4F39-8847-7353260950D0}" vid="{357EEEB6-B632-4163-B62E-7B55518D7C5A}"/>
    </a:ext>
  </a:extLst>
</a:theme>
</file>

<file path=ppt/theme/theme2.xml><?xml version="1.0" encoding="utf-8"?>
<a:theme xmlns:a="http://schemas.openxmlformats.org/drawingml/2006/main" name="17_Sect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niversary template 2_16x9_white background" id="{390F8B98-37CF-4885-81C2-37CA4D56A3C9}" vid="{5C15DE70-880C-47DF-AFA9-0AEB9C67210D}"/>
    </a:ext>
  </a:extLst>
</a:theme>
</file>

<file path=ppt/theme/theme3.xml><?xml version="1.0" encoding="utf-8"?>
<a:theme xmlns:a="http://schemas.openxmlformats.org/drawingml/2006/main" name="16_Sect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niversary template 2_16x9_white background" id="{390F8B98-37CF-4885-81C2-37CA4D56A3C9}" vid="{5C15DE70-880C-47DF-AFA9-0AEB9C67210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BA3A2428DB744E821DDFA0A9E10ECC" ma:contentTypeVersion="14" ma:contentTypeDescription="Create a new document." ma:contentTypeScope="" ma:versionID="8bee8df0d26522b659286bbf97a4b010">
  <xsd:schema xmlns:xsd="http://www.w3.org/2001/XMLSchema" xmlns:xs="http://www.w3.org/2001/XMLSchema" xmlns:p="http://schemas.microsoft.com/office/2006/metadata/properties" xmlns:ns2="1403fb54-47f0-4125-8d87-6a6e13582a5f" xmlns:ns3="340712eb-23a5-460f-9036-c6d10688f9a1" targetNamespace="http://schemas.microsoft.com/office/2006/metadata/properties" ma:root="true" ma:fieldsID="2079c50b34cde841e7e7eef08b1850f0" ns2:_="" ns3:_="">
    <xsd:import namespace="1403fb54-47f0-4125-8d87-6a6e13582a5f"/>
    <xsd:import namespace="340712eb-23a5-460f-9036-c6d10688f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3fb54-47f0-4125-8d87-6a6e13582a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de42cbc-566b-46c9-aea5-a71cdcd36d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0712eb-23a5-460f-9036-c6d10688f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e6286381-c642-4a0c-afc0-c5b6a9882855}" ma:internalName="TaxCatchAll" ma:showField="CatchAllData" ma:web="340712eb-23a5-460f-9036-c6d10688f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40712eb-23a5-460f-9036-c6d10688f9a1">
      <UserInfo>
        <DisplayName>SharingLinks.d12166b1-f35e-4b57-a57a-680f30886336.OrganizationView.cd9b60c6-dfcb-4d7f-a54c-16a36a6ccb97</DisplayName>
        <AccountId>149</AccountId>
        <AccountType/>
      </UserInfo>
      <UserInfo>
        <DisplayName>Julie Berckmans</DisplayName>
        <AccountId>31</AccountId>
        <AccountType/>
      </UserInfo>
      <UserInfo>
        <DisplayName>Hans-Martin Füssel</DisplayName>
        <AccountId>10</AccountId>
        <AccountType/>
      </UserInfo>
      <UserInfo>
        <DisplayName>Marianne Dons Tychsen</DisplayName>
        <AccountId>49</AccountId>
        <AccountType/>
      </UserInfo>
      <UserInfo>
        <DisplayName>Blaz Kurnik</DisplayName>
        <AccountId>6</AccountId>
        <AccountType/>
      </UserInfo>
      <UserInfo>
        <DisplayName>Said El Khadraoui</DisplayName>
        <AccountId>101</AccountId>
        <AccountType/>
      </UserInfo>
      <UserInfo>
        <DisplayName>EUCRA</DisplayName>
        <AccountId>345</AccountId>
        <AccountType/>
      </UserInfo>
    </SharedWithUsers>
    <MediaLengthInSeconds xmlns="1403fb54-47f0-4125-8d87-6a6e13582a5f" xsi:nil="true"/>
    <lcf76f155ced4ddcb4097134ff3c332f xmlns="1403fb54-47f0-4125-8d87-6a6e13582a5f">
      <Terms xmlns="http://schemas.microsoft.com/office/infopath/2007/PartnerControls"/>
    </lcf76f155ced4ddcb4097134ff3c332f>
    <TaxCatchAll xmlns="340712eb-23a5-460f-9036-c6d10688f9a1" xsi:nil="true"/>
  </documentManagement>
</p:properties>
</file>

<file path=customXml/itemProps1.xml><?xml version="1.0" encoding="utf-8"?>
<ds:datastoreItem xmlns:ds="http://schemas.openxmlformats.org/officeDocument/2006/customXml" ds:itemID="{0ADF9211-0778-40A1-835E-F649F17A50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7D09F-E3AA-4ED6-84E3-072FD074FAEA}"/>
</file>

<file path=customXml/itemProps3.xml><?xml version="1.0" encoding="utf-8"?>
<ds:datastoreItem xmlns:ds="http://schemas.openxmlformats.org/officeDocument/2006/customXml" ds:itemID="{AF1BCAAF-2554-4FA2-8920-D0EEF51D5EF3}">
  <ds:schemaRefs>
    <ds:schemaRef ds:uri="22d6874e-4bf7-47d2-8e26-866ade8c5ba2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262fee03-af28-4ea9-b9b9-f9427ba6121e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2113</Words>
  <Application>Microsoft Office PowerPoint</Application>
  <PresentationFormat>Widescreen</PresentationFormat>
  <Paragraphs>189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1_EEA THEME</vt:lpstr>
      <vt:lpstr>17_Sections</vt:lpstr>
      <vt:lpstr>16_Sections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Berckmans</dc:creator>
  <cp:lastModifiedBy>Hans-Martin Füssel</cp:lastModifiedBy>
  <cp:revision>3</cp:revision>
  <cp:lastPrinted>2022-10-03T12:15:33Z</cp:lastPrinted>
  <dcterms:created xsi:type="dcterms:W3CDTF">2022-09-28T09:52:33Z</dcterms:created>
  <dcterms:modified xsi:type="dcterms:W3CDTF">2025-10-22T13:54:57Z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  <property fmtid="{D5CDD505-2E9C-101B-9397-08002B2CF9AE}" pid="9" name="ContentTypeId">
    <vt:lpwstr>0x010100A7BA3A2428DB744E821DDFA0A9E10ECC</vt:lpwstr>
  </property>
</Properties>
</file>