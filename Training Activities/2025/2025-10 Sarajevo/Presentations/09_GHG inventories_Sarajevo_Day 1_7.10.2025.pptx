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9"/>
  </p:notesMasterIdLst>
  <p:handoutMasterIdLst>
    <p:handoutMasterId r:id="rId20"/>
  </p:handoutMasterIdLst>
  <p:sldIdLst>
    <p:sldId id="1857" r:id="rId5"/>
    <p:sldId id="677" r:id="rId6"/>
    <p:sldId id="669" r:id="rId7"/>
    <p:sldId id="703" r:id="rId8"/>
    <p:sldId id="679" r:id="rId9"/>
    <p:sldId id="1853" r:id="rId10"/>
    <p:sldId id="1854" r:id="rId11"/>
    <p:sldId id="681" r:id="rId12"/>
    <p:sldId id="683" r:id="rId13"/>
    <p:sldId id="1896" r:id="rId14"/>
    <p:sldId id="1933" r:id="rId15"/>
    <p:sldId id="1932" r:id="rId16"/>
    <p:sldId id="1934" r:id="rId17"/>
    <p:sldId id="256" r:id="rId18"/>
  </p:sldIdLst>
  <p:sldSz cx="12192000" cy="6858000"/>
  <p:notesSz cx="6735763" cy="9866313"/>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77FE94-A37D-06C8-E90E-2FAFD9F560E7}" name="Per Wretlind" initials="PW" userId="S::per.wretlind@eea.europa.eu::bcb024af-6ead-48e3-9a4b-cde6c6f63c4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nne vandenBerg" initials="Hv" lastIdx="4" clrIdx="0">
    <p:extLst>
      <p:ext uri="{19B8F6BF-5375-455C-9EA6-DF929625EA0E}">
        <p15:presenceInfo xmlns:p15="http://schemas.microsoft.com/office/powerpoint/2012/main" userId="S::hanne.vandenberg@eea.europa.eu::4eb9402f-06b4-4ecd-a433-80479f9f6507" providerId="AD"/>
      </p:ext>
    </p:extLst>
  </p:cmAuthor>
  <p:cmAuthor id="2" name="Magdalena Jozwicka" initials="MJ" lastIdx="10" clrIdx="1">
    <p:extLst>
      <p:ext uri="{19B8F6BF-5375-455C-9EA6-DF929625EA0E}">
        <p15:presenceInfo xmlns:p15="http://schemas.microsoft.com/office/powerpoint/2012/main" userId="S::Magdalena.Jozwicka@eea.europa.eu::8bf71567-66a3-47b6-8981-f1d6e913cb65" providerId="AD"/>
      </p:ext>
    </p:extLst>
  </p:cmAuthor>
  <p:cmAuthor id="3" name="Ricardo Fernandez" initials="RF" lastIdx="2" clrIdx="2">
    <p:extLst>
      <p:ext uri="{19B8F6BF-5375-455C-9EA6-DF929625EA0E}">
        <p15:presenceInfo xmlns:p15="http://schemas.microsoft.com/office/powerpoint/2012/main" userId="S::ricardo.fernandez@eea.europa.eu::c125dc13-d778-4744-8c30-11675d1aac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469"/>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7C63FE-9B0B-2FE8-5ED0-1B59F40CDE0B}" v="2" dt="2025-03-27T09:15:45.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484" autoAdjust="0"/>
  </p:normalViewPr>
  <p:slideViewPr>
    <p:cSldViewPr snapToGrid="0">
      <p:cViewPr varScale="1">
        <p:scale>
          <a:sx n="53" d="100"/>
          <a:sy n="53" d="100"/>
        </p:scale>
        <p:origin x="115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84384E-A6D5-4654-B109-3293B2908EFA}"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DK"/>
        </a:p>
      </dgm:t>
    </dgm:pt>
    <dgm:pt modelId="{47ACEB5B-8000-46C2-8A9D-262DCC37A087}">
      <dgm:prSet phldrT="[Text]" phldr="0"/>
      <dgm:spPr/>
      <dgm:t>
        <a:bodyPr/>
        <a:lstStyle/>
        <a:p>
          <a:pPr rtl="0"/>
          <a:r>
            <a:rPr lang="en-US" dirty="0">
              <a:latin typeface="Open Sans Semibold"/>
            </a:rPr>
            <a:t>15 Jan          Draft </a:t>
          </a:r>
          <a:r>
            <a:rPr lang="en-US" dirty="0">
              <a:latin typeface="Open Sans Semibold"/>
              <a:ea typeface="Open Sans"/>
              <a:cs typeface="Open Sans"/>
            </a:rPr>
            <a:t>submission</a:t>
          </a:r>
          <a:r>
            <a:rPr lang="en-US" dirty="0">
              <a:latin typeface="Open Sans Semibold"/>
            </a:rPr>
            <a:t> GHG Inventories </a:t>
          </a:r>
        </a:p>
        <a:p>
          <a:pPr rtl="0"/>
          <a:r>
            <a:rPr lang="en-US" dirty="0">
              <a:latin typeface="Open Sans Semibold"/>
            </a:rPr>
            <a:t>X-2</a:t>
          </a:r>
        </a:p>
      </dgm:t>
    </dgm:pt>
    <dgm:pt modelId="{72EFAE83-E8AB-4CAA-B0DC-7D9719E4BCB0}" type="parTrans" cxnId="{7FD5A385-892E-4DE9-9A91-8F262D98C7F5}">
      <dgm:prSet/>
      <dgm:spPr/>
      <dgm:t>
        <a:bodyPr/>
        <a:lstStyle/>
        <a:p>
          <a:endParaRPr lang="en-DK"/>
        </a:p>
      </dgm:t>
    </dgm:pt>
    <dgm:pt modelId="{B51E9A78-39E5-4485-BE82-5FDDACE489E1}" type="sibTrans" cxnId="{7FD5A385-892E-4DE9-9A91-8F262D98C7F5}">
      <dgm:prSet/>
      <dgm:spPr/>
      <dgm:t>
        <a:bodyPr/>
        <a:lstStyle/>
        <a:p>
          <a:endParaRPr lang="en-DK"/>
        </a:p>
      </dgm:t>
    </dgm:pt>
    <dgm:pt modelId="{FD269A4F-8F04-46B5-B23C-1C61E73AF44D}">
      <dgm:prSet phldrT="[Text]" phldr="0"/>
      <dgm:spPr/>
      <dgm:t>
        <a:bodyPr/>
        <a:lstStyle/>
        <a:p>
          <a:pPr rtl="0"/>
          <a:r>
            <a:rPr lang="en-US" dirty="0">
              <a:latin typeface="Open Sans Semibold"/>
            </a:rPr>
            <a:t>15 March    Final submission GHG Inventories</a:t>
          </a:r>
        </a:p>
        <a:p>
          <a:pPr rtl="0"/>
          <a:r>
            <a:rPr lang="en-US" dirty="0">
              <a:latin typeface="Open Sans Semibold"/>
            </a:rPr>
            <a:t>X-2</a:t>
          </a:r>
        </a:p>
      </dgm:t>
    </dgm:pt>
    <dgm:pt modelId="{FF6113AB-92A6-44E6-B3A1-D3D031F59E03}" type="parTrans" cxnId="{22FC9DE7-37F7-4944-A6C5-CB4A6F7AF219}">
      <dgm:prSet/>
      <dgm:spPr/>
      <dgm:t>
        <a:bodyPr/>
        <a:lstStyle/>
        <a:p>
          <a:endParaRPr lang="en-DK"/>
        </a:p>
      </dgm:t>
    </dgm:pt>
    <dgm:pt modelId="{50D3F016-8A05-4BC5-894C-09B0B38707C3}" type="sibTrans" cxnId="{22FC9DE7-37F7-4944-A6C5-CB4A6F7AF219}">
      <dgm:prSet/>
      <dgm:spPr/>
      <dgm:t>
        <a:bodyPr/>
        <a:lstStyle/>
        <a:p>
          <a:endParaRPr lang="en-DK"/>
        </a:p>
      </dgm:t>
    </dgm:pt>
    <dgm:pt modelId="{CB88AC2D-A443-4E42-A59D-6B1C7417CA15}">
      <dgm:prSet phldrT="[Text]" phldr="0"/>
      <dgm:spPr/>
      <dgm:t>
        <a:bodyPr/>
        <a:lstStyle/>
        <a:p>
          <a:pPr rtl="0"/>
          <a:r>
            <a:rPr lang="en-US" dirty="0">
              <a:latin typeface="Open Sans Semibold"/>
            </a:rPr>
            <a:t>31 July  Approximated GHG Inventories</a:t>
          </a:r>
        </a:p>
        <a:p>
          <a:pPr rtl="0"/>
          <a:r>
            <a:rPr lang="en-US" dirty="0">
              <a:latin typeface="Open Sans Semibold"/>
            </a:rPr>
            <a:t>X-1 </a:t>
          </a:r>
        </a:p>
      </dgm:t>
    </dgm:pt>
    <dgm:pt modelId="{07B7C2C6-EE4A-4E82-87F6-63E4349D1834}" type="parTrans" cxnId="{FF44BC4D-6BBF-4E6C-8DD2-C153406CC451}">
      <dgm:prSet/>
      <dgm:spPr/>
      <dgm:t>
        <a:bodyPr/>
        <a:lstStyle/>
        <a:p>
          <a:endParaRPr lang="en-DK"/>
        </a:p>
      </dgm:t>
    </dgm:pt>
    <dgm:pt modelId="{0B2FA483-2E86-4C24-B34C-AF79C47DC84D}" type="sibTrans" cxnId="{FF44BC4D-6BBF-4E6C-8DD2-C153406CC451}">
      <dgm:prSet/>
      <dgm:spPr/>
      <dgm:t>
        <a:bodyPr/>
        <a:lstStyle/>
        <a:p>
          <a:endParaRPr lang="en-DK"/>
        </a:p>
      </dgm:t>
    </dgm:pt>
    <dgm:pt modelId="{CD68A410-F6FA-4A33-B2E2-A9CCDC064C78}" type="pres">
      <dgm:prSet presAssocID="{1D84384E-A6D5-4654-B109-3293B2908EFA}" presName="Name0" presStyleCnt="0">
        <dgm:presLayoutVars>
          <dgm:dir/>
          <dgm:resizeHandles val="exact"/>
        </dgm:presLayoutVars>
      </dgm:prSet>
      <dgm:spPr/>
    </dgm:pt>
    <dgm:pt modelId="{B9C2EC90-7648-4227-A48D-2226AE5E5BEF}" type="pres">
      <dgm:prSet presAssocID="{47ACEB5B-8000-46C2-8A9D-262DCC37A087}" presName="parTxOnly" presStyleLbl="node1" presStyleIdx="0" presStyleCnt="3">
        <dgm:presLayoutVars>
          <dgm:bulletEnabled val="1"/>
        </dgm:presLayoutVars>
      </dgm:prSet>
      <dgm:spPr/>
    </dgm:pt>
    <dgm:pt modelId="{375FD824-BC8B-4750-80E6-43F52B29480E}" type="pres">
      <dgm:prSet presAssocID="{B51E9A78-39E5-4485-BE82-5FDDACE489E1}" presName="parSpace" presStyleCnt="0"/>
      <dgm:spPr/>
    </dgm:pt>
    <dgm:pt modelId="{29DAAD2D-B6A7-4850-B647-1012180AAA4D}" type="pres">
      <dgm:prSet presAssocID="{FD269A4F-8F04-46B5-B23C-1C61E73AF44D}" presName="parTxOnly" presStyleLbl="node1" presStyleIdx="1" presStyleCnt="3">
        <dgm:presLayoutVars>
          <dgm:bulletEnabled val="1"/>
        </dgm:presLayoutVars>
      </dgm:prSet>
      <dgm:spPr/>
    </dgm:pt>
    <dgm:pt modelId="{B9CAC221-9928-40FE-AED9-2295769DA890}" type="pres">
      <dgm:prSet presAssocID="{50D3F016-8A05-4BC5-894C-09B0B38707C3}" presName="parSpace" presStyleCnt="0"/>
      <dgm:spPr/>
    </dgm:pt>
    <dgm:pt modelId="{3101E589-7610-46FF-9A85-4773CF52ACBA}" type="pres">
      <dgm:prSet presAssocID="{CB88AC2D-A443-4E42-A59D-6B1C7417CA15}" presName="parTxOnly" presStyleLbl="node1" presStyleIdx="2" presStyleCnt="3">
        <dgm:presLayoutVars>
          <dgm:bulletEnabled val="1"/>
        </dgm:presLayoutVars>
      </dgm:prSet>
      <dgm:spPr/>
    </dgm:pt>
  </dgm:ptLst>
  <dgm:cxnLst>
    <dgm:cxn modelId="{956FE53C-6267-4792-9BA8-DF4FF9D43498}" type="presOf" srcId="{FD269A4F-8F04-46B5-B23C-1C61E73AF44D}" destId="{29DAAD2D-B6A7-4850-B647-1012180AAA4D}" srcOrd="0" destOrd="0" presId="urn:microsoft.com/office/officeart/2005/8/layout/hChevron3"/>
    <dgm:cxn modelId="{393E355C-BD51-4EFF-B357-34AF43C377E0}" type="presOf" srcId="{47ACEB5B-8000-46C2-8A9D-262DCC37A087}" destId="{B9C2EC90-7648-4227-A48D-2226AE5E5BEF}" srcOrd="0" destOrd="0" presId="urn:microsoft.com/office/officeart/2005/8/layout/hChevron3"/>
    <dgm:cxn modelId="{FF44BC4D-6BBF-4E6C-8DD2-C153406CC451}" srcId="{1D84384E-A6D5-4654-B109-3293B2908EFA}" destId="{CB88AC2D-A443-4E42-A59D-6B1C7417CA15}" srcOrd="2" destOrd="0" parTransId="{07B7C2C6-EE4A-4E82-87F6-63E4349D1834}" sibTransId="{0B2FA483-2E86-4C24-B34C-AF79C47DC84D}"/>
    <dgm:cxn modelId="{7FD5A385-892E-4DE9-9A91-8F262D98C7F5}" srcId="{1D84384E-A6D5-4654-B109-3293B2908EFA}" destId="{47ACEB5B-8000-46C2-8A9D-262DCC37A087}" srcOrd="0" destOrd="0" parTransId="{72EFAE83-E8AB-4CAA-B0DC-7D9719E4BCB0}" sibTransId="{B51E9A78-39E5-4485-BE82-5FDDACE489E1}"/>
    <dgm:cxn modelId="{E49EB29D-242E-4447-8355-4EEA3C23D60C}" type="presOf" srcId="{1D84384E-A6D5-4654-B109-3293B2908EFA}" destId="{CD68A410-F6FA-4A33-B2E2-A9CCDC064C78}" srcOrd="0" destOrd="0" presId="urn:microsoft.com/office/officeart/2005/8/layout/hChevron3"/>
    <dgm:cxn modelId="{7F4C97D3-972A-4974-A584-A48DD4FFC6A7}" type="presOf" srcId="{CB88AC2D-A443-4E42-A59D-6B1C7417CA15}" destId="{3101E589-7610-46FF-9A85-4773CF52ACBA}" srcOrd="0" destOrd="0" presId="urn:microsoft.com/office/officeart/2005/8/layout/hChevron3"/>
    <dgm:cxn modelId="{22FC9DE7-37F7-4944-A6C5-CB4A6F7AF219}" srcId="{1D84384E-A6D5-4654-B109-3293B2908EFA}" destId="{FD269A4F-8F04-46B5-B23C-1C61E73AF44D}" srcOrd="1" destOrd="0" parTransId="{FF6113AB-92A6-44E6-B3A1-D3D031F59E03}" sibTransId="{50D3F016-8A05-4BC5-894C-09B0B38707C3}"/>
    <dgm:cxn modelId="{4BC0AF2F-2957-46CD-BB0C-59D2AC93954A}" type="presParOf" srcId="{CD68A410-F6FA-4A33-B2E2-A9CCDC064C78}" destId="{B9C2EC90-7648-4227-A48D-2226AE5E5BEF}" srcOrd="0" destOrd="0" presId="urn:microsoft.com/office/officeart/2005/8/layout/hChevron3"/>
    <dgm:cxn modelId="{CADDC05D-B0F3-4979-BCC1-5F2CD52C6AEE}" type="presParOf" srcId="{CD68A410-F6FA-4A33-B2E2-A9CCDC064C78}" destId="{375FD824-BC8B-4750-80E6-43F52B29480E}" srcOrd="1" destOrd="0" presId="urn:microsoft.com/office/officeart/2005/8/layout/hChevron3"/>
    <dgm:cxn modelId="{502E615D-8FD7-4C8D-94DB-0DFAE42B15B3}" type="presParOf" srcId="{CD68A410-F6FA-4A33-B2E2-A9CCDC064C78}" destId="{29DAAD2D-B6A7-4850-B647-1012180AAA4D}" srcOrd="2" destOrd="0" presId="urn:microsoft.com/office/officeart/2005/8/layout/hChevron3"/>
    <dgm:cxn modelId="{E7F6A83A-2EDE-480C-B07F-4ECB8C4CC31F}" type="presParOf" srcId="{CD68A410-F6FA-4A33-B2E2-A9CCDC064C78}" destId="{B9CAC221-9928-40FE-AED9-2295769DA890}" srcOrd="3" destOrd="0" presId="urn:microsoft.com/office/officeart/2005/8/layout/hChevron3"/>
    <dgm:cxn modelId="{6C97B824-8B76-4B15-B984-5B0C24C5D2FA}" type="presParOf" srcId="{CD68A410-F6FA-4A33-B2E2-A9CCDC064C78}" destId="{3101E589-7610-46FF-9A85-4773CF52ACBA}"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C2EC90-7648-4227-A48D-2226AE5E5BEF}">
      <dsp:nvSpPr>
        <dsp:cNvPr id="0" name=""/>
        <dsp:cNvSpPr/>
      </dsp:nvSpPr>
      <dsp:spPr>
        <a:xfrm>
          <a:off x="4305" y="554726"/>
          <a:ext cx="3764819" cy="1505927"/>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Open Sans Semibold"/>
            </a:rPr>
            <a:t>15 Jan          Draft </a:t>
          </a:r>
          <a:r>
            <a:rPr lang="en-US" sz="2000" kern="1200" dirty="0">
              <a:latin typeface="Open Sans Semibold"/>
              <a:ea typeface="Open Sans"/>
              <a:cs typeface="Open Sans"/>
            </a:rPr>
            <a:t>submission</a:t>
          </a:r>
          <a:r>
            <a:rPr lang="en-US" sz="2000" kern="1200" dirty="0">
              <a:latin typeface="Open Sans Semibold"/>
            </a:rPr>
            <a:t> GHG Inventories </a:t>
          </a:r>
        </a:p>
        <a:p>
          <a:pPr marL="0" lvl="0" indent="0" algn="ctr" defTabSz="889000" rtl="0">
            <a:lnSpc>
              <a:spcPct val="90000"/>
            </a:lnSpc>
            <a:spcBef>
              <a:spcPct val="0"/>
            </a:spcBef>
            <a:spcAft>
              <a:spcPct val="35000"/>
            </a:spcAft>
            <a:buNone/>
          </a:pPr>
          <a:r>
            <a:rPr lang="en-US" sz="2000" kern="1200" dirty="0">
              <a:latin typeface="Open Sans Semibold"/>
            </a:rPr>
            <a:t>X-2</a:t>
          </a:r>
        </a:p>
      </dsp:txBody>
      <dsp:txXfrm>
        <a:off x="4305" y="554726"/>
        <a:ext cx="3388337" cy="1505927"/>
      </dsp:txXfrm>
    </dsp:sp>
    <dsp:sp modelId="{29DAAD2D-B6A7-4850-B647-1012180AAA4D}">
      <dsp:nvSpPr>
        <dsp:cNvPr id="0" name=""/>
        <dsp:cNvSpPr/>
      </dsp:nvSpPr>
      <dsp:spPr>
        <a:xfrm>
          <a:off x="3016161" y="554726"/>
          <a:ext cx="3764819" cy="150592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Open Sans Semibold"/>
            </a:rPr>
            <a:t>15 March    Final submission GHG Inventories</a:t>
          </a:r>
        </a:p>
        <a:p>
          <a:pPr marL="0" lvl="0" indent="0" algn="ctr" defTabSz="889000" rtl="0">
            <a:lnSpc>
              <a:spcPct val="90000"/>
            </a:lnSpc>
            <a:spcBef>
              <a:spcPct val="0"/>
            </a:spcBef>
            <a:spcAft>
              <a:spcPct val="35000"/>
            </a:spcAft>
            <a:buNone/>
          </a:pPr>
          <a:r>
            <a:rPr lang="en-US" sz="2000" kern="1200" dirty="0">
              <a:latin typeface="Open Sans Semibold"/>
            </a:rPr>
            <a:t>X-2</a:t>
          </a:r>
        </a:p>
      </dsp:txBody>
      <dsp:txXfrm>
        <a:off x="3769125" y="554726"/>
        <a:ext cx="2258892" cy="1505927"/>
      </dsp:txXfrm>
    </dsp:sp>
    <dsp:sp modelId="{3101E589-7610-46FF-9A85-4773CF52ACBA}">
      <dsp:nvSpPr>
        <dsp:cNvPr id="0" name=""/>
        <dsp:cNvSpPr/>
      </dsp:nvSpPr>
      <dsp:spPr>
        <a:xfrm>
          <a:off x="6028016" y="554726"/>
          <a:ext cx="3764819" cy="150592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rtl="0">
            <a:lnSpc>
              <a:spcPct val="90000"/>
            </a:lnSpc>
            <a:spcBef>
              <a:spcPct val="0"/>
            </a:spcBef>
            <a:spcAft>
              <a:spcPct val="35000"/>
            </a:spcAft>
            <a:buNone/>
          </a:pPr>
          <a:r>
            <a:rPr lang="en-US" sz="2000" kern="1200" dirty="0">
              <a:latin typeface="Open Sans Semibold"/>
            </a:rPr>
            <a:t>31 July  Approximated GHG Inventories</a:t>
          </a:r>
        </a:p>
        <a:p>
          <a:pPr marL="0" lvl="0" indent="0" algn="ctr" defTabSz="889000" rtl="0">
            <a:lnSpc>
              <a:spcPct val="90000"/>
            </a:lnSpc>
            <a:spcBef>
              <a:spcPct val="0"/>
            </a:spcBef>
            <a:spcAft>
              <a:spcPct val="35000"/>
            </a:spcAft>
            <a:buNone/>
          </a:pPr>
          <a:r>
            <a:rPr lang="en-US" sz="2000" kern="1200" dirty="0">
              <a:latin typeface="Open Sans Semibold"/>
            </a:rPr>
            <a:t>X-1 </a:t>
          </a:r>
        </a:p>
      </dsp:txBody>
      <dsp:txXfrm>
        <a:off x="6780980" y="554726"/>
        <a:ext cx="2258892" cy="150592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439901-594C-2DF1-433E-F1C94395AA87}"/>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en-DK"/>
          </a:p>
        </p:txBody>
      </p:sp>
      <p:sp>
        <p:nvSpPr>
          <p:cNvPr id="3" name="Date Placeholder 2">
            <a:extLst>
              <a:ext uri="{FF2B5EF4-FFF2-40B4-BE49-F238E27FC236}">
                <a16:creationId xmlns:a16="http://schemas.microsoft.com/office/drawing/2014/main" id="{0960E6C7-0912-5354-1F72-AA88B6B51DCA}"/>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00BB28E3-8809-4391-8FBD-208370B27BAA}" type="datetimeFigureOut">
              <a:rPr lang="en-DK" smtClean="0"/>
              <a:t>07/10/2025</a:t>
            </a:fld>
            <a:endParaRPr lang="en-DK"/>
          </a:p>
        </p:txBody>
      </p:sp>
      <p:sp>
        <p:nvSpPr>
          <p:cNvPr id="4" name="Footer Placeholder 3">
            <a:extLst>
              <a:ext uri="{FF2B5EF4-FFF2-40B4-BE49-F238E27FC236}">
                <a16:creationId xmlns:a16="http://schemas.microsoft.com/office/drawing/2014/main" id="{B33347AE-5C52-CA9F-74A9-8D611EC0AF22}"/>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lang="en-DK"/>
          </a:p>
        </p:txBody>
      </p:sp>
      <p:sp>
        <p:nvSpPr>
          <p:cNvPr id="5" name="Slide Number Placeholder 4">
            <a:extLst>
              <a:ext uri="{FF2B5EF4-FFF2-40B4-BE49-F238E27FC236}">
                <a16:creationId xmlns:a16="http://schemas.microsoft.com/office/drawing/2014/main" id="{0A360B91-D81D-24F3-AB9D-03320B2AEDC1}"/>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49F6AC55-C335-48C1-9AC7-1A11216DA34A}" type="slidenum">
              <a:rPr lang="en-DK" smtClean="0"/>
              <a:t>‹#›</a:t>
            </a:fld>
            <a:endParaRPr lang="en-DK"/>
          </a:p>
        </p:txBody>
      </p:sp>
    </p:spTree>
    <p:extLst>
      <p:ext uri="{BB962C8B-B14F-4D97-AF65-F5344CB8AC3E}">
        <p14:creationId xmlns:p14="http://schemas.microsoft.com/office/powerpoint/2010/main" val="1520716456"/>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B4CE30D7-4F97-4A7B-9E95-E67B04A8770B}" type="datetimeFigureOut">
              <a:rPr lang="en-DK" smtClean="0"/>
              <a:t>07/10/2025</a:t>
            </a:fld>
            <a:endParaRPr lang="en-DK"/>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C0E124E4-842E-4883-BD15-BC4948E62055}" type="slidenum">
              <a:rPr lang="en-DK" smtClean="0"/>
              <a:t>‹#›</a:t>
            </a:fld>
            <a:endParaRPr lang="en-DK"/>
          </a:p>
        </p:txBody>
      </p:sp>
    </p:spTree>
    <p:extLst>
      <p:ext uri="{BB962C8B-B14F-4D97-AF65-F5344CB8AC3E}">
        <p14:creationId xmlns:p14="http://schemas.microsoft.com/office/powerpoint/2010/main" val="1976644165"/>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OPENING SLIDE – dark background and white logo</a:t>
            </a:r>
            <a:br>
              <a:rPr lang="en-GB" dirty="0"/>
            </a:br>
            <a:br>
              <a:rPr lang="en-GB" dirty="0"/>
            </a:br>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1</a:t>
            </a:fld>
            <a:endParaRPr lang="en-DK"/>
          </a:p>
        </p:txBody>
      </p:sp>
      <p:sp>
        <p:nvSpPr>
          <p:cNvPr id="5" name="Footer Placeholder 4">
            <a:extLst>
              <a:ext uri="{FF2B5EF4-FFF2-40B4-BE49-F238E27FC236}">
                <a16:creationId xmlns:a16="http://schemas.microsoft.com/office/drawing/2014/main" id="{4B1A178F-F78B-90FC-9346-61BE05A26A53}"/>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6D4E37DB-2D92-7AF1-9564-ADE6393F4069}"/>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1028448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 Gov Reg – </a:t>
            </a:r>
            <a:r>
              <a:rPr lang="en-US" b="0" dirty="0"/>
              <a:t>art 26 which is on annual reporting, art 37 which is energy community and the national inventory systems and the art 38 inventory review.</a:t>
            </a:r>
          </a:p>
          <a:p>
            <a:r>
              <a:rPr lang="en-US" b="1" dirty="0"/>
              <a:t>2. Implementing Regulation (EU) 2020/1208</a:t>
            </a:r>
          </a:p>
          <a:p>
            <a:pPr>
              <a:buFont typeface="Arial" panose="020B0604020202020204" pitchFamily="34" charset="0"/>
              <a:buChar char="•"/>
            </a:pPr>
            <a:r>
              <a:rPr lang="en-US" dirty="0"/>
              <a:t>Focuses on the </a:t>
            </a:r>
            <a:r>
              <a:rPr lang="en-US" b="1" dirty="0"/>
              <a:t>structure, format, and submission process</a:t>
            </a:r>
            <a:r>
              <a:rPr lang="en-US" dirty="0"/>
              <a:t> for GHG inventory reports.</a:t>
            </a:r>
          </a:p>
          <a:p>
            <a:pPr>
              <a:buFont typeface="Arial" panose="020B0604020202020204" pitchFamily="34" charset="0"/>
              <a:buChar char="•"/>
            </a:pPr>
            <a:r>
              <a:rPr lang="en-US" dirty="0"/>
              <a:t>Ensures a standardized approach for:</a:t>
            </a:r>
          </a:p>
          <a:p>
            <a:pPr marL="742950" lvl="1" indent="-285750">
              <a:buFont typeface="Arial" panose="020B0604020202020204" pitchFamily="34" charset="0"/>
              <a:buChar char="•"/>
            </a:pPr>
            <a:r>
              <a:rPr lang="en-US" dirty="0"/>
              <a:t>Data submission from Contracting Parties</a:t>
            </a:r>
          </a:p>
          <a:p>
            <a:pPr marL="742950" lvl="1" indent="-285750">
              <a:buFont typeface="Arial" panose="020B0604020202020204" pitchFamily="34" charset="0"/>
              <a:buChar char="•"/>
            </a:pPr>
            <a:r>
              <a:rPr lang="en-US" dirty="0"/>
              <a:t>Format requirements for reporting GHG emissions and removals.</a:t>
            </a:r>
          </a:p>
          <a:p>
            <a:pPr>
              <a:buFont typeface="Arial" panose="020B0604020202020204" pitchFamily="34" charset="0"/>
              <a:buChar char="•"/>
            </a:pPr>
            <a:r>
              <a:rPr lang="en-US" dirty="0"/>
              <a:t>Facilitates </a:t>
            </a:r>
            <a:r>
              <a:rPr lang="en-US" b="1" dirty="0"/>
              <a:t>transparency and comparability</a:t>
            </a:r>
            <a:r>
              <a:rPr lang="en-US" dirty="0"/>
              <a:t> in GHG inventories across the Energy Community Inventories</a:t>
            </a:r>
          </a:p>
          <a:p>
            <a:r>
              <a:rPr lang="en-US" b="1" dirty="0"/>
              <a:t>3. Delegated Regulation (EU) 2020/1044</a:t>
            </a:r>
          </a:p>
          <a:p>
            <a:pPr>
              <a:buFont typeface="Arial" panose="020B0604020202020204" pitchFamily="34" charset="0"/>
              <a:buChar char="•"/>
            </a:pPr>
            <a:r>
              <a:rPr lang="en-US" dirty="0"/>
              <a:t>Defines the use of </a:t>
            </a:r>
            <a:r>
              <a:rPr lang="en-US" b="1" dirty="0"/>
              <a:t>Global Warming Potentials (GWP)</a:t>
            </a:r>
            <a:r>
              <a:rPr lang="en-US" dirty="0"/>
              <a:t> based on the </a:t>
            </a:r>
            <a:r>
              <a:rPr lang="en-US" b="1" dirty="0"/>
              <a:t>IPCC</a:t>
            </a:r>
            <a:r>
              <a:rPr lang="en-US" dirty="0"/>
              <a:t> guidelines.</a:t>
            </a:r>
          </a:p>
          <a:p>
            <a:pPr>
              <a:buFont typeface="Arial" panose="020B0604020202020204" pitchFamily="34" charset="0"/>
              <a:buChar char="•"/>
            </a:pPr>
            <a:r>
              <a:rPr lang="en-US" dirty="0"/>
              <a:t>Provides </a:t>
            </a:r>
            <a:r>
              <a:rPr lang="en-US" b="1" dirty="0"/>
              <a:t>inventory guidelines</a:t>
            </a:r>
            <a:r>
              <a:rPr lang="en-US" dirty="0"/>
              <a:t> for estimating and reporting GHG emissions.</a:t>
            </a:r>
          </a:p>
          <a:p>
            <a:pPr>
              <a:buFont typeface="Arial" panose="020B0604020202020204" pitchFamily="34" charset="0"/>
              <a:buChar char="•"/>
            </a:pPr>
            <a:r>
              <a:rPr lang="en-US" dirty="0"/>
              <a:t>Establishes the </a:t>
            </a:r>
            <a:r>
              <a:rPr lang="en-US" b="1" dirty="0"/>
              <a:t>Union Inventory System</a:t>
            </a:r>
            <a:r>
              <a:rPr lang="en-US" dirty="0"/>
              <a:t> to harmonize Contracting Parties reports and maintain consistency with international reporting obligations under the Paris Agreement.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95E0502E-BC02-7EB0-69B6-B1DDCE141F74}"/>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4065681B-1C9D-6CDC-B972-61B77276E99D}"/>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4037610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mn-lt"/>
              </a:rPr>
              <a:t>This article highlights the consistency between EU GHG reporting and international reporting.  </a:t>
            </a:r>
          </a:p>
          <a:p>
            <a:r>
              <a:rPr lang="en-US" sz="1000">
                <a:latin typeface="+mn-lt"/>
              </a:rPr>
              <a:t>Consistency with the IPCC GHG Inventory Guidelines and GWP (AR5) </a:t>
            </a:r>
          </a:p>
          <a:p>
            <a:r>
              <a:rPr lang="en-US" sz="1000">
                <a:latin typeface="+mn-lt"/>
              </a:rPr>
              <a:t>Methodological Guidance – this aligns with the methodologies prescribed by the IPCC for estimating GHG emissions and removals</a:t>
            </a:r>
          </a:p>
          <a:p>
            <a:r>
              <a:rPr lang="en-US" sz="1000">
                <a:latin typeface="+mn-lt"/>
              </a:rPr>
              <a:t>The Delegated Act to the Gov Reg – Art 2 provide guidelines for the GHG Inventories and Art 3 Expands on the methodological and reporting requirements</a:t>
            </a:r>
          </a:p>
          <a:p>
            <a:endParaRPr lang="en-US" sz="100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B69509E4-F0D1-0AA1-7CDE-0D9E18E57A86}"/>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D7000C5B-8F50-A2FC-2DDF-50234FD45271}"/>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999903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a:latin typeface="+mn-lt"/>
              </a:rPr>
              <a:t>Decision 18/CMA.1 – deals with modalities, procedures and guidelines for the transparency framework</a:t>
            </a:r>
            <a:r>
              <a:rPr lang="de-DE" sz="900">
                <a:latin typeface="+mn-lt"/>
              </a:rPr>
              <a:t> for action. Supports the Paris Agreement.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D4236A3C-18BA-FB98-2DC0-5B9BA7017DE8}"/>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65C2CE65-3C02-6742-64FF-4C7A3EE3ECA2}"/>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726829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00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16E23841-51D0-B76F-5C8C-81D76DC33850}"/>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396E18A1-1158-906D-8835-54A2CF5960CD}"/>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791389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year by 15</a:t>
            </a:r>
            <a:r>
              <a:rPr lang="en-US" baseline="30000"/>
              <a:t>th</a:t>
            </a:r>
            <a:r>
              <a:rPr lang="en-US"/>
              <a:t> January from 2025 submission of  Preliminary estimates of the GHG Inventories (tables and short descriptions)</a:t>
            </a:r>
          </a:p>
          <a:p>
            <a:r>
              <a:rPr lang="en-US"/>
              <a:t>Every year, by 15th March 2025, CPs submit the final greenhouse gas inventory and up-to-date national inventory report.</a:t>
            </a:r>
            <a:endParaRPr lang="en-DK"/>
          </a:p>
        </p:txBody>
      </p:sp>
      <p:sp>
        <p:nvSpPr>
          <p:cNvPr id="4" name="Slide Number Placeholder 3"/>
          <p:cNvSpPr>
            <a:spLocks noGrp="1"/>
          </p:cNvSpPr>
          <p:nvPr>
            <p:ph type="sldNum" sz="quarter" idx="5"/>
          </p:nvPr>
        </p:nvSpPr>
        <p:spPr/>
        <p:txBody>
          <a:bodyPr/>
          <a:lstStyle/>
          <a:p>
            <a:fld id="{C0E124E4-842E-4883-BD15-BC4948E62055}" type="slidenum">
              <a:rPr lang="en-DK" smtClean="0"/>
              <a:t>6</a:t>
            </a:fld>
            <a:endParaRPr lang="en-DK"/>
          </a:p>
        </p:txBody>
      </p:sp>
      <p:sp>
        <p:nvSpPr>
          <p:cNvPr id="5" name="Footer Placeholder 4">
            <a:extLst>
              <a:ext uri="{FF2B5EF4-FFF2-40B4-BE49-F238E27FC236}">
                <a16:creationId xmlns:a16="http://schemas.microsoft.com/office/drawing/2014/main" id="{99037020-385F-9676-4195-FC4DDB923FD6}"/>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53DF3BC9-607A-12F8-6FCD-AFCB96B31796}"/>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1914272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For Repotnet2: </a:t>
            </a:r>
            <a:r>
              <a:rPr lang="en-US" err="1">
                <a:cs typeface="Calibri"/>
              </a:rPr>
              <a:t>eionet</a:t>
            </a:r>
            <a:r>
              <a:rPr lang="en-US">
                <a:cs typeface="Calibri"/>
              </a:rPr>
              <a:t> login is required. The National Focal Point (NFP) can coordinate and assist</a:t>
            </a:r>
          </a:p>
          <a:p>
            <a:r>
              <a:rPr lang="en-US">
                <a:cs typeface="Calibri"/>
              </a:rPr>
              <a:t>For Reportnet3: Lead Reporter will have the rights to assign other reporters </a:t>
            </a:r>
          </a:p>
        </p:txBody>
      </p:sp>
      <p:sp>
        <p:nvSpPr>
          <p:cNvPr id="4" name="Slide Number Placeholder 3"/>
          <p:cNvSpPr>
            <a:spLocks noGrp="1"/>
          </p:cNvSpPr>
          <p:nvPr>
            <p:ph type="sldNum" sz="quarter" idx="5"/>
          </p:nvPr>
        </p:nvSpPr>
        <p:spPr/>
        <p:txBody>
          <a:bodyPr/>
          <a:lstStyle/>
          <a:p>
            <a:fld id="{C0E124E4-842E-4883-BD15-BC4948E62055}" type="slidenum">
              <a:rPr lang="en-DK" smtClean="0"/>
              <a:t>7</a:t>
            </a:fld>
            <a:endParaRPr lang="en-DK"/>
          </a:p>
        </p:txBody>
      </p:sp>
      <p:sp>
        <p:nvSpPr>
          <p:cNvPr id="5" name="Footer Placeholder 4">
            <a:extLst>
              <a:ext uri="{FF2B5EF4-FFF2-40B4-BE49-F238E27FC236}">
                <a16:creationId xmlns:a16="http://schemas.microsoft.com/office/drawing/2014/main" id="{8AB03A8F-1048-B9B6-E469-392737AC4EB9}"/>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2A50DE9D-F461-4ACA-9B70-E56305562B1C}"/>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1951255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sz="100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C3E0008C-08CA-EC55-4D4E-906478B5C1A9}"/>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090FD682-69A5-C7AC-686C-7ED97DDD3506}"/>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2145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mn-lt"/>
              </a:rPr>
              <a:t>By 1 Jan 2023 countries should have established the National Inventory System  - purpose is to</a:t>
            </a:r>
            <a:r>
              <a:rPr lang="en-US" sz="1200"/>
              <a:t> ensure that GHG inventories meet the TACCC principles (</a:t>
            </a:r>
            <a:r>
              <a:rPr lang="en-US" sz="1200" b="1"/>
              <a:t>Transparency, Accuracy, Consistency, Comparability, and Completeness</a:t>
            </a:r>
            <a:r>
              <a:rPr lang="en-US" sz="1200"/>
              <a:t>).</a:t>
            </a:r>
          </a:p>
          <a:p>
            <a:r>
              <a:rPr lang="en-US" sz="1200">
                <a:latin typeface="+mn-lt"/>
              </a:rPr>
              <a:t>The relevant national authorities must have access to the necessary data and information to 1) prepare the ghg Inventory and 2) to ensure accurate reporting of the GHG emissions.</a:t>
            </a:r>
          </a:p>
          <a:p>
            <a:r>
              <a:rPr lang="en-US" sz="1200">
                <a:latin typeface="+mn-lt"/>
              </a:rPr>
              <a:t>NIS </a:t>
            </a:r>
            <a:endParaRPr lang="en-US" sz="100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1445BEDB-EEEC-BB7C-8C82-D68E372DD047}"/>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C19394E2-9711-E667-A5C6-0083CFE69DD7}"/>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961594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EEA, with its ETC are responsible for the implementation of QA/QC checks for the Energy Community inventory</a:t>
            </a:r>
          </a:p>
          <a:p>
            <a:r>
              <a:rPr lang="en-US"/>
              <a:t>The communication and exchange of information, among CPs and EEA is done via an online platform.</a:t>
            </a:r>
            <a:endParaRPr lang="en-DK"/>
          </a:p>
        </p:txBody>
      </p:sp>
      <p:sp>
        <p:nvSpPr>
          <p:cNvPr id="4" name="Slide Number Placeholder 3"/>
          <p:cNvSpPr>
            <a:spLocks noGrp="1"/>
          </p:cNvSpPr>
          <p:nvPr>
            <p:ph type="sldNum" sz="quarter" idx="5"/>
          </p:nvPr>
        </p:nvSpPr>
        <p:spPr/>
        <p:txBody>
          <a:bodyPr/>
          <a:lstStyle/>
          <a:p>
            <a:fld id="{C0E124E4-842E-4883-BD15-BC4948E62055}" type="slidenum">
              <a:rPr lang="en-DK" smtClean="0"/>
              <a:t>10</a:t>
            </a:fld>
            <a:endParaRPr lang="en-DK"/>
          </a:p>
        </p:txBody>
      </p:sp>
      <p:sp>
        <p:nvSpPr>
          <p:cNvPr id="5" name="Footer Placeholder 4">
            <a:extLst>
              <a:ext uri="{FF2B5EF4-FFF2-40B4-BE49-F238E27FC236}">
                <a16:creationId xmlns:a16="http://schemas.microsoft.com/office/drawing/2014/main" id="{EB16F3EB-9AE3-0C78-2569-5DCE05F96924}"/>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9C059C66-A4BD-4476-F076-72870B3263EB}"/>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2329296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C0E124E4-842E-4883-BD15-BC4948E62055}" type="slidenum">
              <a:rPr lang="en-DK" smtClean="0"/>
              <a:t>12</a:t>
            </a:fld>
            <a:endParaRPr lang="en-DK"/>
          </a:p>
        </p:txBody>
      </p:sp>
      <p:sp>
        <p:nvSpPr>
          <p:cNvPr id="5" name="Footer Placeholder 4">
            <a:extLst>
              <a:ext uri="{FF2B5EF4-FFF2-40B4-BE49-F238E27FC236}">
                <a16:creationId xmlns:a16="http://schemas.microsoft.com/office/drawing/2014/main" id="{B7E3E216-D47B-5573-72AF-D392AD866113}"/>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6070172E-7C3C-438B-8305-76D014F8C0F1}"/>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489227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Component Part 1 – </a:t>
            </a:r>
            <a:r>
              <a:rPr lang="en-US" dirty="0" err="1"/>
              <a:t>Citepa</a:t>
            </a:r>
            <a:r>
              <a:rPr lang="en-US" dirty="0"/>
              <a:t> supported in doing training and capacity buildings in webinars, trainings in-country visits and remote support to the Contracting Parties. Example : supporting CPs in filling up the Annexes, in </a:t>
            </a:r>
            <a:r>
              <a:rPr lang="en-US" dirty="0" err="1"/>
              <a:t>Crt</a:t>
            </a:r>
            <a:r>
              <a:rPr lang="en-US" dirty="0"/>
              <a:t> tables and also supporting in compiling the NID. </a:t>
            </a:r>
          </a:p>
          <a:p>
            <a:endParaRPr lang="en-US" dirty="0"/>
          </a:p>
          <a:p>
            <a:r>
              <a:rPr lang="en-US" dirty="0"/>
              <a:t>For Part 2 – we will continue the support. We sent out the questionnaire and requested some experience in compiling the Inventory, what challenges they are finding and what support they think they will need. We also had email requests from CP in specific sectors.  </a:t>
            </a:r>
            <a:endParaRPr lang="en-DK" dirty="0"/>
          </a:p>
        </p:txBody>
      </p:sp>
      <p:sp>
        <p:nvSpPr>
          <p:cNvPr id="4" name="Slide Number Placeholder 3"/>
          <p:cNvSpPr>
            <a:spLocks noGrp="1"/>
          </p:cNvSpPr>
          <p:nvPr>
            <p:ph type="sldNum" sz="quarter" idx="5"/>
          </p:nvPr>
        </p:nvSpPr>
        <p:spPr/>
        <p:txBody>
          <a:bodyPr/>
          <a:lstStyle/>
          <a:p>
            <a:fld id="{C0E124E4-842E-4883-BD15-BC4948E62055}" type="slidenum">
              <a:rPr lang="en-DK" smtClean="0"/>
              <a:t>13</a:t>
            </a:fld>
            <a:endParaRPr lang="en-DK"/>
          </a:p>
        </p:txBody>
      </p:sp>
      <p:sp>
        <p:nvSpPr>
          <p:cNvPr id="5" name="Footer Placeholder 4">
            <a:extLst>
              <a:ext uri="{FF2B5EF4-FFF2-40B4-BE49-F238E27FC236}">
                <a16:creationId xmlns:a16="http://schemas.microsoft.com/office/drawing/2014/main" id="{E1F7FC39-8272-2CE2-A545-A34CD896C905}"/>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219450DA-F68C-F4C1-AD26-8769CB848985}"/>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1013460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14</a:t>
            </a:fld>
            <a:endParaRPr lang="en-DK"/>
          </a:p>
        </p:txBody>
      </p:sp>
      <p:sp>
        <p:nvSpPr>
          <p:cNvPr id="5" name="Footer Placeholder 4">
            <a:extLst>
              <a:ext uri="{FF2B5EF4-FFF2-40B4-BE49-F238E27FC236}">
                <a16:creationId xmlns:a16="http://schemas.microsoft.com/office/drawing/2014/main" id="{A6299EED-D8B0-F1E3-549C-169628D76FEF}"/>
              </a:ext>
            </a:extLst>
          </p:cNvPr>
          <p:cNvSpPr>
            <a:spLocks noGrp="1"/>
          </p:cNvSpPr>
          <p:nvPr>
            <p:ph type="ftr" sz="quarter" idx="4"/>
          </p:nvPr>
        </p:nvSpPr>
        <p:spPr/>
        <p:txBody>
          <a:bodyPr/>
          <a:lstStyle/>
          <a:p>
            <a:endParaRPr lang="en-DK"/>
          </a:p>
        </p:txBody>
      </p:sp>
      <p:sp>
        <p:nvSpPr>
          <p:cNvPr id="6" name="Header Placeholder 5">
            <a:extLst>
              <a:ext uri="{FF2B5EF4-FFF2-40B4-BE49-F238E27FC236}">
                <a16:creationId xmlns:a16="http://schemas.microsoft.com/office/drawing/2014/main" id="{22B60852-69F0-A08F-DE14-F6432070C377}"/>
              </a:ext>
            </a:extLst>
          </p:cNvPr>
          <p:cNvSpPr>
            <a:spLocks noGrp="1"/>
          </p:cNvSpPr>
          <p:nvPr>
            <p:ph type="hdr" sz="quarter"/>
          </p:nvPr>
        </p:nvSpPr>
        <p:spPr/>
        <p:txBody>
          <a:bodyPr/>
          <a:lstStyle/>
          <a:p>
            <a:endParaRPr lang="en-DK"/>
          </a:p>
        </p:txBody>
      </p:sp>
    </p:spTree>
    <p:extLst>
      <p:ext uri="{BB962C8B-B14F-4D97-AF65-F5344CB8AC3E}">
        <p14:creationId xmlns:p14="http://schemas.microsoft.com/office/powerpoint/2010/main" val="1530189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aphs_European Briefing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11228" y="2036618"/>
            <a:ext cx="8870319" cy="3956858"/>
          </a:xfrm>
          <a:prstGeom prst="rect">
            <a:avLst/>
          </a:prstGeom>
        </p:spPr>
        <p:txBody>
          <a:bodyPr/>
          <a:lstStyle>
            <a:lvl1pPr>
              <a:defRPr sz="4000">
                <a:solidFill>
                  <a:schemeClr val="bg1"/>
                </a:solidFill>
                <a:latin typeface="Calibri" panose="020F0502020204030204" pitchFamily="34" charset="0"/>
                <a:cs typeface="Calibri" panose="020F0502020204030204" pitchFamily="34" charset="0"/>
              </a:defRPr>
            </a:lvl1pPr>
            <a:lvl2pPr>
              <a:defRPr sz="3600">
                <a:solidFill>
                  <a:schemeClr val="bg1"/>
                </a:solidFill>
                <a:latin typeface="Calibri" panose="020F0502020204030204" pitchFamily="34" charset="0"/>
                <a:cs typeface="Calibri" panose="020F0502020204030204" pitchFamily="34" charset="0"/>
              </a:defRPr>
            </a:lvl2pPr>
            <a:lvl3pPr>
              <a:defRPr sz="3200">
                <a:solidFill>
                  <a:schemeClr val="bg1"/>
                </a:solidFill>
                <a:latin typeface="Calibri" panose="020F0502020204030204" pitchFamily="34" charset="0"/>
                <a:cs typeface="Calibri" panose="020F0502020204030204" pitchFamily="34" charset="0"/>
              </a:defRPr>
            </a:lvl3pPr>
            <a:lvl4pPr>
              <a:defRPr sz="2800">
                <a:solidFill>
                  <a:schemeClr val="bg1"/>
                </a:solidFill>
                <a:latin typeface="Calibri" panose="020F0502020204030204" pitchFamily="34" charset="0"/>
                <a:cs typeface="Calibri" panose="020F0502020204030204" pitchFamily="34" charset="0"/>
              </a:defRPr>
            </a:lvl4pPr>
            <a:lvl5pPr>
              <a:defRPr sz="2800">
                <a:solidFill>
                  <a:schemeClr val="bg1"/>
                </a:solidFill>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p:cNvSpPr>
            <a:spLocks noGrp="1"/>
          </p:cNvSpPr>
          <p:nvPr>
            <p:ph type="body" sz="quarter" idx="11" hasCustomPrompt="1"/>
          </p:nvPr>
        </p:nvSpPr>
        <p:spPr>
          <a:xfrm>
            <a:off x="2711227" y="224416"/>
            <a:ext cx="8870319" cy="1279264"/>
          </a:xfrm>
          <a:prstGeom prst="rect">
            <a:avLst/>
          </a:prstGeom>
        </p:spPr>
        <p:txBody>
          <a:bodyPr/>
          <a:lstStyle>
            <a:lvl1pPr marL="0" indent="0">
              <a:buNone/>
              <a:defRPr sz="4000" b="1" baseline="0">
                <a:solidFill>
                  <a:schemeClr val="bg1"/>
                </a:solidFill>
                <a:latin typeface="Calibri" panose="020F0502020204030204" pitchFamily="34" charset="0"/>
                <a:cs typeface="Calibri" panose="020F0502020204030204" pitchFamily="34" charset="0"/>
              </a:defRPr>
            </a:lvl1pPr>
            <a:lvl2pPr marL="562751" indent="0">
              <a:buNone/>
              <a:defRPr b="1"/>
            </a:lvl2pPr>
          </a:lstStyle>
          <a:p>
            <a:pPr lvl="0"/>
            <a:r>
              <a:rPr lang="en-US"/>
              <a:t>Slide title goes here</a:t>
            </a:r>
            <a:br>
              <a:rPr lang="en-US"/>
            </a:br>
            <a:r>
              <a:rPr lang="en-US"/>
              <a:t>Max two lines</a:t>
            </a:r>
          </a:p>
        </p:txBody>
      </p:sp>
    </p:spTree>
    <p:extLst>
      <p:ext uri="{BB962C8B-B14F-4D97-AF65-F5344CB8AC3E}">
        <p14:creationId xmlns:p14="http://schemas.microsoft.com/office/powerpoint/2010/main" val="259157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509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690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09804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3A60"/>
        </a:solidFill>
        <a:effectLst/>
      </p:bgPr>
    </p:bg>
    <p:spTree>
      <p:nvGrpSpPr>
        <p:cNvPr id="1" name=""/>
        <p:cNvGrpSpPr/>
        <p:nvPr/>
      </p:nvGrpSpPr>
      <p:grpSpPr>
        <a:xfrm>
          <a:off x="0" y="0"/>
          <a:ext cx="0" cy="0"/>
          <a:chOff x="0" y="0"/>
          <a:chExt cx="0" cy="0"/>
        </a:xfrm>
      </p:grpSpPr>
      <p:cxnSp>
        <p:nvCxnSpPr>
          <p:cNvPr id="7" name="Straight Connector 7"/>
          <p:cNvCxnSpPr/>
          <p:nvPr userDrawn="1"/>
        </p:nvCxnSpPr>
        <p:spPr>
          <a:xfrm>
            <a:off x="0" y="1703276"/>
            <a:ext cx="12192000" cy="24938"/>
          </a:xfrm>
          <a:prstGeom prst="line">
            <a:avLst/>
          </a:prstGeom>
          <a:ln w="1143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Logo_H_White.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684000" y="6228000"/>
            <a:ext cx="2160000" cy="400230"/>
          </a:xfrm>
          <a:prstGeom prst="rect">
            <a:avLst/>
          </a:prstGeom>
        </p:spPr>
      </p:pic>
    </p:spTree>
    <p:extLst>
      <p:ext uri="{BB962C8B-B14F-4D97-AF65-F5344CB8AC3E}">
        <p14:creationId xmlns:p14="http://schemas.microsoft.com/office/powerpoint/2010/main" val="36495638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2" r:id="rId3"/>
    <p:sldLayoutId id="2147483683" r:id="rId4"/>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hdr="0" ftr="0" dt="0"/>
  <p:txStyles>
    <p:titleStyle>
      <a:lvl1pPr algn="ctr" defTabSz="1125500" rtl="0" eaLnBrk="1" latinLnBrk="0" hangingPunct="1">
        <a:spcBef>
          <a:spcPct val="0"/>
        </a:spcBef>
        <a:buNone/>
        <a:defRPr sz="5417" kern="1200">
          <a:solidFill>
            <a:schemeClr val="tx1"/>
          </a:solidFill>
          <a:latin typeface="+mj-lt"/>
          <a:ea typeface="+mj-ea"/>
          <a:cs typeface="+mj-cs"/>
        </a:defRPr>
      </a:lvl1pPr>
    </p:titleStyle>
    <p:bodyStyle>
      <a:lvl1pPr marL="422061" indent="-422061" algn="l" defTabSz="1125500" rtl="0" eaLnBrk="1" latinLnBrk="0" hangingPunct="1">
        <a:spcBef>
          <a:spcPct val="20000"/>
        </a:spcBef>
        <a:buFont typeface="Arial" pitchFamily="34" charset="0"/>
        <a:buChar char="•"/>
        <a:defRPr sz="3939" kern="1200">
          <a:solidFill>
            <a:schemeClr val="tx1"/>
          </a:solidFill>
          <a:latin typeface="+mn-lt"/>
          <a:ea typeface="+mn-ea"/>
          <a:cs typeface="+mn-cs"/>
        </a:defRPr>
      </a:lvl1pPr>
      <a:lvl2pPr marL="914468" indent="-351718" algn="l" defTabSz="1125500"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75" indent="-281376" algn="l" defTabSz="1125500"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62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76"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12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87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62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374"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en-US"/>
      </a:defPPr>
      <a:lvl1pPr marL="0" algn="l" defTabSz="1125500" rtl="0" eaLnBrk="1" latinLnBrk="0" hangingPunct="1">
        <a:defRPr sz="2215" kern="1200">
          <a:solidFill>
            <a:schemeClr val="tx1"/>
          </a:solidFill>
          <a:latin typeface="+mn-lt"/>
          <a:ea typeface="+mn-ea"/>
          <a:cs typeface="+mn-cs"/>
        </a:defRPr>
      </a:lvl1pPr>
      <a:lvl2pPr marL="562751" algn="l" defTabSz="1125500" rtl="0" eaLnBrk="1" latinLnBrk="0" hangingPunct="1">
        <a:defRPr sz="2215" kern="1200">
          <a:solidFill>
            <a:schemeClr val="tx1"/>
          </a:solidFill>
          <a:latin typeface="+mn-lt"/>
          <a:ea typeface="+mn-ea"/>
          <a:cs typeface="+mn-cs"/>
        </a:defRPr>
      </a:lvl2pPr>
      <a:lvl3pPr marL="1125500" algn="l" defTabSz="1125500" rtl="0" eaLnBrk="1" latinLnBrk="0" hangingPunct="1">
        <a:defRPr sz="2215" kern="1200">
          <a:solidFill>
            <a:schemeClr val="tx1"/>
          </a:solidFill>
          <a:latin typeface="+mn-lt"/>
          <a:ea typeface="+mn-ea"/>
          <a:cs typeface="+mn-cs"/>
        </a:defRPr>
      </a:lvl3pPr>
      <a:lvl4pPr marL="1688249" algn="l" defTabSz="1125500" rtl="0" eaLnBrk="1" latinLnBrk="0" hangingPunct="1">
        <a:defRPr sz="2215" kern="1200">
          <a:solidFill>
            <a:schemeClr val="tx1"/>
          </a:solidFill>
          <a:latin typeface="+mn-lt"/>
          <a:ea typeface="+mn-ea"/>
          <a:cs typeface="+mn-cs"/>
        </a:defRPr>
      </a:lvl4pPr>
      <a:lvl5pPr marL="2251000" algn="l" defTabSz="1125500" rtl="0" eaLnBrk="1" latinLnBrk="0" hangingPunct="1">
        <a:defRPr sz="2215" kern="1200">
          <a:solidFill>
            <a:schemeClr val="tx1"/>
          </a:solidFill>
          <a:latin typeface="+mn-lt"/>
          <a:ea typeface="+mn-ea"/>
          <a:cs typeface="+mn-cs"/>
        </a:defRPr>
      </a:lvl5pPr>
      <a:lvl6pPr marL="2813749" algn="l" defTabSz="1125500" rtl="0" eaLnBrk="1" latinLnBrk="0" hangingPunct="1">
        <a:defRPr sz="2215" kern="1200">
          <a:solidFill>
            <a:schemeClr val="tx1"/>
          </a:solidFill>
          <a:latin typeface="+mn-lt"/>
          <a:ea typeface="+mn-ea"/>
          <a:cs typeface="+mn-cs"/>
        </a:defRPr>
      </a:lvl6pPr>
      <a:lvl7pPr marL="3376499" algn="l" defTabSz="1125500" rtl="0" eaLnBrk="1" latinLnBrk="0" hangingPunct="1">
        <a:defRPr sz="2215" kern="1200">
          <a:solidFill>
            <a:schemeClr val="tx1"/>
          </a:solidFill>
          <a:latin typeface="+mn-lt"/>
          <a:ea typeface="+mn-ea"/>
          <a:cs typeface="+mn-cs"/>
        </a:defRPr>
      </a:lvl7pPr>
      <a:lvl8pPr marL="3939249" algn="l" defTabSz="1125500" rtl="0" eaLnBrk="1" latinLnBrk="0" hangingPunct="1">
        <a:defRPr sz="2215" kern="1200">
          <a:solidFill>
            <a:schemeClr val="tx1"/>
          </a:solidFill>
          <a:latin typeface="+mn-lt"/>
          <a:ea typeface="+mn-ea"/>
          <a:cs typeface="+mn-cs"/>
        </a:defRPr>
      </a:lvl8pPr>
      <a:lvl9pPr marL="4501998" algn="l" defTabSz="1125500" rtl="0" eaLnBrk="1" latinLnBrk="0" hangingPunct="1">
        <a:defRPr sz="2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cdr.eionet.europa.eu/"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hyperlink" Target="https://reportnet.europa.eu/" TargetMode="Externa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mailto:Louise.Attard@eea.europa.e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people walking through a field of flowers&#10;&#10;Description automatically generated with medium confidence">
            <a:extLst>
              <a:ext uri="{FF2B5EF4-FFF2-40B4-BE49-F238E27FC236}">
                <a16:creationId xmlns:a16="http://schemas.microsoft.com/office/drawing/2014/main" id="{B8DC2190-9393-7DB6-7816-561668BC63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4200"/>
            <a:ext cx="12471918" cy="8314612"/>
          </a:xfrm>
          <a:prstGeom prst="rect">
            <a:avLst/>
          </a:prstGeom>
        </p:spPr>
      </p:pic>
      <p:pic>
        <p:nvPicPr>
          <p:cNvPr id="3" name="Picture 4" descr="Text&#10;&#10;Description automatically generated">
            <a:extLst>
              <a:ext uri="{FF2B5EF4-FFF2-40B4-BE49-F238E27FC236}">
                <a16:creationId xmlns:a16="http://schemas.microsoft.com/office/drawing/2014/main" id="{334FF02B-C746-0A01-4D28-BABD8D71AD18}"/>
              </a:ext>
            </a:extLst>
          </p:cNvPr>
          <p:cNvPicPr>
            <a:picLocks noChangeAspect="1"/>
          </p:cNvPicPr>
          <p:nvPr/>
        </p:nvPicPr>
        <p:blipFill>
          <a:blip r:embed="rId4"/>
          <a:stretch>
            <a:fillRect/>
          </a:stretch>
        </p:blipFill>
        <p:spPr>
          <a:xfrm>
            <a:off x="6867484" y="5965103"/>
            <a:ext cx="5324516" cy="1105309"/>
          </a:xfrm>
          <a:prstGeom prst="rect">
            <a:avLst/>
          </a:prstGeom>
        </p:spPr>
      </p:pic>
      <p:sp>
        <p:nvSpPr>
          <p:cNvPr id="7" name="TextBox 6">
            <a:extLst>
              <a:ext uri="{FF2B5EF4-FFF2-40B4-BE49-F238E27FC236}">
                <a16:creationId xmlns:a16="http://schemas.microsoft.com/office/drawing/2014/main" id="{1A15D289-46A1-213F-F8A2-C12340234F15}"/>
              </a:ext>
            </a:extLst>
          </p:cNvPr>
          <p:cNvSpPr txBox="1"/>
          <p:nvPr/>
        </p:nvSpPr>
        <p:spPr>
          <a:xfrm rot="16200000">
            <a:off x="-2015968" y="3210172"/>
            <a:ext cx="4454013" cy="215444"/>
          </a:xfrm>
          <a:prstGeom prst="rect">
            <a:avLst/>
          </a:prstGeom>
          <a:noFill/>
        </p:spPr>
        <p:txBody>
          <a:bodyPr wrap="square" rtlCol="0">
            <a:spAutoFit/>
          </a:bodyPr>
          <a:lstStyle/>
          <a:p>
            <a:r>
              <a:rPr lang="en-GB" sz="800">
                <a:solidFill>
                  <a:schemeClr val="bg1"/>
                </a:solidFill>
                <a:latin typeface="Calibri" panose="020F0502020204030204"/>
              </a:rPr>
              <a:t>© Ani </a:t>
            </a:r>
            <a:r>
              <a:rPr lang="en-GB" sz="800" err="1">
                <a:solidFill>
                  <a:schemeClr val="bg1"/>
                </a:solidFill>
                <a:latin typeface="Calibri" panose="020F0502020204030204"/>
              </a:rPr>
              <a:t>Yordanova</a:t>
            </a:r>
            <a:r>
              <a:rPr lang="en-GB" sz="800">
                <a:solidFill>
                  <a:schemeClr val="bg1"/>
                </a:solidFill>
                <a:latin typeface="Calibri" panose="020F0502020204030204"/>
              </a:rPr>
              <a:t>, REDISCOVER Nature/EEA</a:t>
            </a:r>
            <a:endParaRPr lang="en-DK" sz="800">
              <a:solidFill>
                <a:schemeClr val="bg1"/>
              </a:solidFill>
              <a:latin typeface="Calibri" panose="020F0502020204030204"/>
            </a:endParaRPr>
          </a:p>
        </p:txBody>
      </p:sp>
      <p:sp>
        <p:nvSpPr>
          <p:cNvPr id="9" name="TextBox 8">
            <a:extLst>
              <a:ext uri="{FF2B5EF4-FFF2-40B4-BE49-F238E27FC236}">
                <a16:creationId xmlns:a16="http://schemas.microsoft.com/office/drawing/2014/main" id="{11D8B543-4224-2E08-DBBE-11D43AD09EBF}"/>
              </a:ext>
            </a:extLst>
          </p:cNvPr>
          <p:cNvSpPr txBox="1"/>
          <p:nvPr/>
        </p:nvSpPr>
        <p:spPr>
          <a:xfrm>
            <a:off x="318654" y="166254"/>
            <a:ext cx="11887199" cy="36471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en-US" sz="3300" b="1">
              <a:solidFill>
                <a:srgbClr val="FFFFFF"/>
              </a:solidFill>
              <a:latin typeface="Open Sans Semibold"/>
              <a:cs typeface="Segoe UI"/>
            </a:endParaRPr>
          </a:p>
          <a:p>
            <a:pPr algn="ctr"/>
            <a:endParaRPr lang="en-US" sz="3300" b="1">
              <a:solidFill>
                <a:srgbClr val="FFFFFF"/>
              </a:solidFill>
              <a:latin typeface="Open Sans Semibold"/>
              <a:cs typeface="Segoe UI"/>
            </a:endParaRPr>
          </a:p>
          <a:p>
            <a:pPr algn="ctr"/>
            <a:r>
              <a:rPr lang="en-US" sz="3300" b="1">
                <a:solidFill>
                  <a:srgbClr val="FFFFFF"/>
                </a:solidFill>
                <a:latin typeface="Open Sans Semibold"/>
                <a:cs typeface="Segoe UI"/>
              </a:rPr>
              <a:t>Reporting of GHG inventories under the EU Governance Regulation, adapted to the Energy Community </a:t>
            </a:r>
            <a:r>
              <a:rPr lang="en-US" sz="3300">
                <a:latin typeface="Open Sans Semibold"/>
                <a:cs typeface="Segoe UI"/>
              </a:rPr>
              <a:t>​</a:t>
            </a:r>
            <a:endParaRPr lang="en-US"/>
          </a:p>
          <a:p>
            <a:pPr algn="ctr"/>
            <a:endParaRPr lang="en-US" sz="3300">
              <a:solidFill>
                <a:srgbClr val="113A60"/>
              </a:solidFill>
              <a:latin typeface="Open Sans Semibold"/>
              <a:cs typeface="Segoe UI"/>
            </a:endParaRPr>
          </a:p>
          <a:p>
            <a:pPr algn="ctr"/>
            <a:r>
              <a:rPr lang="en-US" sz="3300" b="1">
                <a:solidFill>
                  <a:srgbClr val="FFFFFF"/>
                </a:solidFill>
                <a:latin typeface="Open Sans Semibold"/>
                <a:cs typeface="Segoe UI"/>
              </a:rPr>
              <a:t>- links to the reporting under Paris Agreement-</a:t>
            </a:r>
            <a:endParaRPr lang="en-US" sz="3300" b="1">
              <a:solidFill>
                <a:srgbClr val="FFFFFF"/>
              </a:solidFill>
              <a:latin typeface="Open Sans Semibold"/>
              <a:ea typeface="Open Sans Semibold"/>
              <a:cs typeface="Segoe UI"/>
            </a:endParaRPr>
          </a:p>
        </p:txBody>
      </p:sp>
      <p:sp>
        <p:nvSpPr>
          <p:cNvPr id="2" name="TextBox 1">
            <a:extLst>
              <a:ext uri="{FF2B5EF4-FFF2-40B4-BE49-F238E27FC236}">
                <a16:creationId xmlns:a16="http://schemas.microsoft.com/office/drawing/2014/main" id="{12CE5337-B4FF-1756-DBF3-24160AA8E47F}"/>
              </a:ext>
            </a:extLst>
          </p:cNvPr>
          <p:cNvSpPr txBox="1"/>
          <p:nvPr/>
        </p:nvSpPr>
        <p:spPr>
          <a:xfrm>
            <a:off x="742415" y="5764587"/>
            <a:ext cx="4447894" cy="1031051"/>
          </a:xfrm>
          <a:prstGeom prst="rect">
            <a:avLst/>
          </a:prstGeom>
          <a:noFill/>
        </p:spPr>
        <p:txBody>
          <a:bodyPr wrap="square" rtlCol="0">
            <a:spAutoFit/>
          </a:bodyPr>
          <a:lstStyle/>
          <a:p>
            <a:r>
              <a:rPr lang="en-US" sz="2500" b="1" dirty="0">
                <a:solidFill>
                  <a:schemeClr val="bg1"/>
                </a:solidFill>
              </a:rPr>
              <a:t>Louise Attard</a:t>
            </a:r>
          </a:p>
          <a:p>
            <a:r>
              <a:rPr lang="en-US" b="1" dirty="0">
                <a:solidFill>
                  <a:schemeClr val="bg1"/>
                </a:solidFill>
              </a:rPr>
              <a:t>Bosnia and Herzegovina </a:t>
            </a:r>
          </a:p>
          <a:p>
            <a:r>
              <a:rPr lang="en-US" b="1" dirty="0">
                <a:solidFill>
                  <a:schemeClr val="bg1"/>
                </a:solidFill>
              </a:rPr>
              <a:t>October 2025</a:t>
            </a:r>
            <a:endParaRPr lang="en-DK" b="1" dirty="0">
              <a:solidFill>
                <a:schemeClr val="bg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64252" y="2025583"/>
            <a:ext cx="8076183" cy="4496476"/>
          </a:xfrm>
        </p:spPr>
        <p:txBody>
          <a:bodyPr lIns="91440" tIns="45720" rIns="91440" bIns="45720" anchor="t"/>
          <a:lstStyle/>
          <a:p>
            <a:pPr lvl="1">
              <a:spcBef>
                <a:spcPts val="1800"/>
              </a:spcBef>
              <a:buFont typeface="Wingdings" panose="05000000000000000000" pitchFamily="2" charset="2"/>
              <a:buChar char="§"/>
            </a:pPr>
            <a:r>
              <a:rPr lang="en-US" sz="2500" b="0" i="0">
                <a:effectLst/>
              </a:rPr>
              <a:t>Decision of the Ministerial Council of th</a:t>
            </a:r>
            <a:r>
              <a:rPr lang="en-US" sz="2500"/>
              <a:t>e Energy Community </a:t>
            </a:r>
            <a:r>
              <a:rPr lang="en-US" sz="2500">
                <a:solidFill>
                  <a:srgbClr val="FFC000"/>
                </a:solidFill>
              </a:rPr>
              <a:t>[</a:t>
            </a:r>
            <a:r>
              <a:rPr lang="en-US" sz="2500" b="0" i="0">
                <a:solidFill>
                  <a:srgbClr val="FFC000"/>
                </a:solidFill>
                <a:effectLst/>
              </a:rPr>
              <a:t>D/2021/14/</a:t>
            </a:r>
            <a:r>
              <a:rPr lang="en-US" sz="2500" b="0" i="0" err="1">
                <a:solidFill>
                  <a:srgbClr val="FFC000"/>
                </a:solidFill>
                <a:effectLst/>
              </a:rPr>
              <a:t>MC_EnC</a:t>
            </a:r>
            <a:r>
              <a:rPr lang="en-US" sz="2500" b="0" i="0">
                <a:solidFill>
                  <a:srgbClr val="FFC000"/>
                </a:solidFill>
                <a:effectLst/>
              </a:rPr>
              <a:t> ] </a:t>
            </a:r>
            <a:r>
              <a:rPr lang="en-US" sz="2500" b="0" i="0">
                <a:effectLst/>
              </a:rPr>
              <a:t>adapted from:</a:t>
            </a:r>
          </a:p>
          <a:p>
            <a:pPr lvl="2">
              <a:spcBef>
                <a:spcPts val="1800"/>
              </a:spcBef>
            </a:pPr>
            <a:r>
              <a:rPr lang="en-US" sz="2500" b="0" i="0">
                <a:effectLst/>
              </a:rPr>
              <a:t>Regulation (EU) 2018/1999: Governance of the Energy Union and climate action</a:t>
            </a:r>
            <a:endParaRPr lang="en-US" sz="2500">
              <a:solidFill>
                <a:schemeClr val="tx1">
                  <a:lumMod val="20000"/>
                  <a:lumOff val="80000"/>
                </a:schemeClr>
              </a:solidFill>
            </a:endParaRPr>
          </a:p>
          <a:p>
            <a:pPr lvl="2">
              <a:spcBef>
                <a:spcPts val="1800"/>
              </a:spcBef>
            </a:pPr>
            <a:r>
              <a:rPr lang="en-US" sz="2500" b="0" i="0">
                <a:effectLst/>
              </a:rPr>
              <a:t>Implementing Regulation (EU) 2020/1208: Structure, format and submission process</a:t>
            </a:r>
          </a:p>
          <a:p>
            <a:pPr lvl="2">
              <a:spcBef>
                <a:spcPts val="1800"/>
              </a:spcBef>
            </a:pPr>
            <a:r>
              <a:rPr lang="en-US" sz="2500" b="0" i="0">
                <a:effectLst/>
              </a:rPr>
              <a:t>Delegated Regulation (EU) 2020/1044: GWP, inventory guidelines and Union inventory system</a:t>
            </a:r>
          </a:p>
          <a:p>
            <a:pPr lvl="1">
              <a:spcBef>
                <a:spcPts val="1800"/>
              </a:spcBef>
              <a:buFont typeface="Wingdings" panose="05000000000000000000" pitchFamily="2" charset="2"/>
              <a:buChar char="§"/>
            </a:pPr>
            <a:endParaRPr lang="en-US" sz="2500" b="0" i="0">
              <a:effectLst/>
            </a:endParaRPr>
          </a:p>
        </p:txBody>
      </p:sp>
      <p:sp>
        <p:nvSpPr>
          <p:cNvPr id="3" name="Text Placeholder 2"/>
          <p:cNvSpPr>
            <a:spLocks noGrp="1"/>
          </p:cNvSpPr>
          <p:nvPr>
            <p:ph type="body" sz="quarter" idx="11"/>
          </p:nvPr>
        </p:nvSpPr>
        <p:spPr>
          <a:xfrm>
            <a:off x="724286" y="223154"/>
            <a:ext cx="10490764" cy="1300845"/>
          </a:xfrm>
        </p:spPr>
        <p:txBody>
          <a:bodyPr lIns="91440" tIns="45720" rIns="91440" bIns="45720" anchor="t"/>
          <a:lstStyle/>
          <a:p>
            <a:r>
              <a:rPr lang="en-GB">
                <a:solidFill>
                  <a:schemeClr val="tx1">
                    <a:lumMod val="20000"/>
                    <a:lumOff val="80000"/>
                  </a:schemeClr>
                </a:solidFill>
                <a:latin typeface="Calibri"/>
                <a:cs typeface="Calibri"/>
              </a:rPr>
              <a:t>Legal requirements for national GHG inventories and inventory systems</a:t>
            </a:r>
            <a:endParaRPr lang="en-GB">
              <a:solidFill>
                <a:schemeClr val="tx1">
                  <a:lumMod val="20000"/>
                  <a:lumOff val="80000"/>
                </a:schemeClr>
              </a:solidFill>
            </a:endParaRPr>
          </a:p>
        </p:txBody>
      </p:sp>
      <p:pic>
        <p:nvPicPr>
          <p:cNvPr id="7" name="Picture 6">
            <a:extLst>
              <a:ext uri="{FF2B5EF4-FFF2-40B4-BE49-F238E27FC236}">
                <a16:creationId xmlns:a16="http://schemas.microsoft.com/office/drawing/2014/main" id="{0C1E17E3-BAC0-6157-7627-3751A6144436}"/>
              </a:ext>
            </a:extLst>
          </p:cNvPr>
          <p:cNvPicPr>
            <a:picLocks noChangeAspect="1"/>
          </p:cNvPicPr>
          <p:nvPr/>
        </p:nvPicPr>
        <p:blipFill>
          <a:blip r:embed="rId3"/>
          <a:stretch>
            <a:fillRect/>
          </a:stretch>
        </p:blipFill>
        <p:spPr>
          <a:xfrm>
            <a:off x="8769927" y="3011200"/>
            <a:ext cx="2638380" cy="2525242"/>
          </a:xfrm>
          <a:prstGeom prst="rect">
            <a:avLst/>
          </a:prstGeom>
        </p:spPr>
      </p:pic>
    </p:spTree>
    <p:extLst>
      <p:ext uri="{BB962C8B-B14F-4D97-AF65-F5344CB8AC3E}">
        <p14:creationId xmlns:p14="http://schemas.microsoft.com/office/powerpoint/2010/main" val="713602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1113" y="1882863"/>
            <a:ext cx="6483927" cy="4431681"/>
          </a:xfrm>
        </p:spPr>
        <p:txBody>
          <a:bodyPr lIns="91440" tIns="45720" rIns="91440" bIns="45720" anchor="t"/>
          <a:lstStyle/>
          <a:p>
            <a:pPr marL="421640" indent="-421640">
              <a:spcBef>
                <a:spcPts val="1800"/>
              </a:spcBef>
              <a:buFont typeface="Wingdings" panose="05000000000000000000" pitchFamily="2" charset="2"/>
              <a:buChar char="§"/>
            </a:pPr>
            <a:r>
              <a:rPr lang="en-US" sz="2500" b="1" i="0">
                <a:effectLst/>
                <a:latin typeface="Calibri"/>
                <a:cs typeface="Calibri"/>
              </a:rPr>
              <a:t>Consistency with international reporting requirements under the Paris Agreement</a:t>
            </a:r>
            <a:endParaRPr lang="en-US">
              <a:latin typeface="Calibri"/>
              <a:cs typeface="Calibri"/>
            </a:endParaRPr>
          </a:p>
          <a:p>
            <a:pPr marL="914400" lvl="1" indent="-351155">
              <a:spcBef>
                <a:spcPts val="1800"/>
              </a:spcBef>
              <a:buFont typeface="Wingdings" panose="05000000000000000000" pitchFamily="2" charset="2"/>
              <a:buChar char="ü"/>
            </a:pPr>
            <a:r>
              <a:rPr lang="en-US" sz="2500">
                <a:latin typeface="Calibri"/>
                <a:cs typeface="Calibri"/>
              </a:rPr>
              <a:t>Same GHG inventory guidelines</a:t>
            </a:r>
          </a:p>
          <a:p>
            <a:pPr marL="914400" lvl="1" indent="-351155">
              <a:spcBef>
                <a:spcPts val="1800"/>
              </a:spcBef>
              <a:buFont typeface="Wingdings" panose="05000000000000000000" pitchFamily="2" charset="2"/>
              <a:buChar char="ü"/>
            </a:pPr>
            <a:r>
              <a:rPr lang="en-US" sz="2500">
                <a:latin typeface="Calibri"/>
                <a:cs typeface="Calibri"/>
              </a:rPr>
              <a:t>Same IPCC global warming potentials (AR5)</a:t>
            </a:r>
            <a:endParaRPr lang="en-US" sz="2500"/>
          </a:p>
          <a:p>
            <a:pPr marL="914400" lvl="1" indent="-351155">
              <a:spcBef>
                <a:spcPts val="1800"/>
              </a:spcBef>
              <a:buFont typeface="Wingdings" panose="05000000000000000000" pitchFamily="2" charset="2"/>
              <a:buChar char="ü"/>
            </a:pPr>
            <a:r>
              <a:rPr lang="en-US" sz="2500">
                <a:latin typeface="Calibri"/>
                <a:cs typeface="Calibri"/>
              </a:rPr>
              <a:t>Same methodological guidance to estimate emissions and removals</a:t>
            </a:r>
          </a:p>
          <a:p>
            <a:pPr marL="457200" lvl="1" indent="-457200">
              <a:spcBef>
                <a:spcPts val="1800"/>
              </a:spcBef>
              <a:buFont typeface="Wingdings" panose="05000000000000000000" pitchFamily="2" charset="2"/>
              <a:buChar char="§"/>
            </a:pPr>
            <a:r>
              <a:rPr lang="en-US" sz="2500" b="1">
                <a:latin typeface="Calibri"/>
                <a:cs typeface="Calibri"/>
              </a:rPr>
              <a:t>The Delegated Act to the Governance Regulation is explicit in articles 2 and 3</a:t>
            </a:r>
            <a:endParaRPr lang="en-US" sz="2500">
              <a:latin typeface="Calibri"/>
              <a:cs typeface="Calibri"/>
            </a:endParaRPr>
          </a:p>
        </p:txBody>
      </p:sp>
      <p:sp>
        <p:nvSpPr>
          <p:cNvPr id="3" name="Text Placeholder 2"/>
          <p:cNvSpPr>
            <a:spLocks noGrp="1"/>
          </p:cNvSpPr>
          <p:nvPr>
            <p:ph type="body" sz="quarter" idx="11"/>
          </p:nvPr>
        </p:nvSpPr>
        <p:spPr>
          <a:xfrm>
            <a:off x="166255" y="274894"/>
            <a:ext cx="12192000" cy="1420588"/>
          </a:xfrm>
        </p:spPr>
        <p:txBody>
          <a:bodyPr lIns="91440" tIns="45720" rIns="91440" bIns="45720" anchor="t"/>
          <a:lstStyle/>
          <a:p>
            <a:r>
              <a:rPr lang="en-GB">
                <a:solidFill>
                  <a:schemeClr val="tx1">
                    <a:lumMod val="20000"/>
                    <a:lumOff val="80000"/>
                  </a:schemeClr>
                </a:solidFill>
                <a:latin typeface="Calibri"/>
                <a:cs typeface="Calibri"/>
              </a:rPr>
              <a:t>GHG inventory reporting under Article 26 of the EU Governance Regulation and links to the Paris Agreement</a:t>
            </a:r>
            <a:endParaRPr lang="en-GB">
              <a:solidFill>
                <a:schemeClr val="tx1">
                  <a:lumMod val="20000"/>
                  <a:lumOff val="80000"/>
                </a:schemeClr>
              </a:solidFill>
            </a:endParaRPr>
          </a:p>
        </p:txBody>
      </p:sp>
      <p:pic>
        <p:nvPicPr>
          <p:cNvPr id="6" name="Picture 5">
            <a:extLst>
              <a:ext uri="{FF2B5EF4-FFF2-40B4-BE49-F238E27FC236}">
                <a16:creationId xmlns:a16="http://schemas.microsoft.com/office/drawing/2014/main" id="{5D77A4D0-E721-EF41-5454-6B983736E9B2}"/>
              </a:ext>
            </a:extLst>
          </p:cNvPr>
          <p:cNvPicPr>
            <a:picLocks noChangeAspect="1"/>
          </p:cNvPicPr>
          <p:nvPr/>
        </p:nvPicPr>
        <p:blipFill>
          <a:blip r:embed="rId3"/>
          <a:stretch>
            <a:fillRect/>
          </a:stretch>
        </p:blipFill>
        <p:spPr>
          <a:xfrm>
            <a:off x="7402533" y="2136889"/>
            <a:ext cx="3691447" cy="3735923"/>
          </a:xfrm>
          <a:prstGeom prst="rect">
            <a:avLst/>
          </a:prstGeom>
        </p:spPr>
      </p:pic>
    </p:spTree>
    <p:extLst>
      <p:ext uri="{BB962C8B-B14F-4D97-AF65-F5344CB8AC3E}">
        <p14:creationId xmlns:p14="http://schemas.microsoft.com/office/powerpoint/2010/main" val="239261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24691" y="1963562"/>
            <a:ext cx="5555673" cy="4512801"/>
          </a:xfrm>
        </p:spPr>
        <p:txBody>
          <a:bodyPr lIns="91440" tIns="45720" rIns="91440" bIns="45720" anchor="t"/>
          <a:lstStyle/>
          <a:p>
            <a:pPr marL="514350" lvl="2" indent="-514350">
              <a:lnSpc>
                <a:spcPct val="110000"/>
              </a:lnSpc>
              <a:spcBef>
                <a:spcPts val="300"/>
              </a:spcBef>
              <a:buFont typeface="Wingdings" panose="05000000000000000000" pitchFamily="2" charset="2"/>
              <a:buChar char="§"/>
            </a:pPr>
            <a:r>
              <a:rPr lang="de-DE" sz="2500"/>
              <a:t>What to report: Decision 18/CMA.1 (MPGs, Katowice)</a:t>
            </a:r>
          </a:p>
          <a:p>
            <a:pPr marL="514350" lvl="2" indent="-514350">
              <a:lnSpc>
                <a:spcPct val="110000"/>
              </a:lnSpc>
              <a:spcBef>
                <a:spcPts val="600"/>
              </a:spcBef>
              <a:buFont typeface="Wingdings" panose="05000000000000000000" pitchFamily="2" charset="2"/>
              <a:buChar char="§"/>
            </a:pPr>
            <a:r>
              <a:rPr lang="de-DE" sz="2500"/>
              <a:t>How to report: </a:t>
            </a:r>
          </a:p>
          <a:p>
            <a:pPr marL="822325" lvl="2" indent="-309563">
              <a:lnSpc>
                <a:spcPct val="110000"/>
              </a:lnSpc>
              <a:spcBef>
                <a:spcPts val="300"/>
              </a:spcBef>
              <a:buFont typeface="Calibri" panose="020F0502020204030204" pitchFamily="34" charset="0"/>
              <a:buChar char="-"/>
            </a:pPr>
            <a:r>
              <a:rPr lang="de-DE" sz="2500"/>
              <a:t>Common reporting tables (CRTs) &amp; UNFCCC reporting tool - 5/CMA.3 </a:t>
            </a:r>
          </a:p>
          <a:p>
            <a:pPr marL="822325" lvl="2" indent="-309563">
              <a:lnSpc>
                <a:spcPct val="110000"/>
              </a:lnSpc>
              <a:spcBef>
                <a:spcPts val="300"/>
              </a:spcBef>
              <a:buFont typeface="Calibri" panose="020F0502020204030204" pitchFamily="34" charset="0"/>
              <a:buChar char="-"/>
            </a:pPr>
            <a:r>
              <a:rPr lang="de-DE" sz="2500"/>
              <a:t>National inventory document (NID) - 5/CMA.3</a:t>
            </a:r>
          </a:p>
          <a:p>
            <a:pPr marL="511175" lvl="2" indent="-511175">
              <a:lnSpc>
                <a:spcPct val="110000"/>
              </a:lnSpc>
              <a:spcBef>
                <a:spcPts val="600"/>
              </a:spcBef>
              <a:buFont typeface="Wingdings" panose="05000000000000000000" pitchFamily="2" charset="2"/>
              <a:buChar char="§"/>
            </a:pPr>
            <a:r>
              <a:rPr lang="de-DE" sz="2500"/>
              <a:t>How to estimate emissions and removals: IPCC 2006 Guidelines and its 2019 refinement – 5/CMA.3</a:t>
            </a:r>
          </a:p>
          <a:p>
            <a:pPr>
              <a:spcBef>
                <a:spcPts val="300"/>
              </a:spcBef>
              <a:buFont typeface="Wingdings" panose="05000000000000000000" pitchFamily="2" charset="2"/>
              <a:buChar char="§"/>
            </a:pPr>
            <a:endParaRPr lang="en-US" sz="2500"/>
          </a:p>
        </p:txBody>
      </p:sp>
      <p:sp>
        <p:nvSpPr>
          <p:cNvPr id="3" name="Text Placeholder 2"/>
          <p:cNvSpPr>
            <a:spLocks noGrp="1"/>
          </p:cNvSpPr>
          <p:nvPr>
            <p:ph type="body" sz="quarter" idx="11"/>
          </p:nvPr>
        </p:nvSpPr>
        <p:spPr>
          <a:xfrm>
            <a:off x="0" y="170622"/>
            <a:ext cx="12519593" cy="1420588"/>
          </a:xfrm>
        </p:spPr>
        <p:txBody>
          <a:bodyPr lIns="91440" tIns="45720" rIns="91440" bIns="45720" anchor="t"/>
          <a:lstStyle/>
          <a:p>
            <a:r>
              <a:rPr lang="en-US" sz="3900">
                <a:solidFill>
                  <a:schemeClr val="tx1">
                    <a:lumMod val="20000"/>
                    <a:lumOff val="80000"/>
                  </a:schemeClr>
                </a:solidFill>
                <a:latin typeface="Calibri"/>
                <a:cs typeface="Calibri"/>
              </a:rPr>
              <a:t>GHG inventory reporting: main documents and tools to be aware of, and to be use (</a:t>
            </a:r>
            <a:r>
              <a:rPr lang="en-US" sz="3900" err="1">
                <a:solidFill>
                  <a:schemeClr val="tx1">
                    <a:lumMod val="20000"/>
                    <a:lumOff val="80000"/>
                  </a:schemeClr>
                </a:solidFill>
                <a:latin typeface="Calibri"/>
                <a:cs typeface="Calibri"/>
              </a:rPr>
              <a:t>Gov.Reg</a:t>
            </a:r>
            <a:r>
              <a:rPr lang="en-US" sz="3900">
                <a:solidFill>
                  <a:schemeClr val="tx1">
                    <a:lumMod val="20000"/>
                    <a:lumOff val="80000"/>
                  </a:schemeClr>
                </a:solidFill>
                <a:latin typeface="Calibri"/>
                <a:cs typeface="Calibri"/>
              </a:rPr>
              <a:t> &amp; Paris Agreement)</a:t>
            </a:r>
            <a:endParaRPr lang="en-GB" sz="3900">
              <a:solidFill>
                <a:schemeClr val="tx1">
                  <a:lumMod val="20000"/>
                  <a:lumOff val="80000"/>
                </a:schemeClr>
              </a:solidFill>
            </a:endParaRPr>
          </a:p>
        </p:txBody>
      </p:sp>
      <p:pic>
        <p:nvPicPr>
          <p:cNvPr id="8" name="Picture 2" descr="Nations agree on Paris Agreement rulebook, fail on climate ambition –  Euractiv">
            <a:extLst>
              <a:ext uri="{FF2B5EF4-FFF2-40B4-BE49-F238E27FC236}">
                <a16:creationId xmlns:a16="http://schemas.microsoft.com/office/drawing/2014/main" id="{17DC48A1-8D61-F56D-04F1-EA982BE0B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903" y="1917876"/>
            <a:ext cx="2525493" cy="1420589"/>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1687DBE4-4ED0-C9C0-3F9A-AF7053F5B496}"/>
              </a:ext>
            </a:extLst>
          </p:cNvPr>
          <p:cNvGrpSpPr/>
          <p:nvPr/>
        </p:nvGrpSpPr>
        <p:grpSpPr>
          <a:xfrm>
            <a:off x="6787643" y="4093626"/>
            <a:ext cx="1480563" cy="1892663"/>
            <a:chOff x="9149086" y="1277858"/>
            <a:chExt cx="3025329" cy="5420665"/>
          </a:xfrm>
        </p:grpSpPr>
        <p:pic>
          <p:nvPicPr>
            <p:cNvPr id="10" name="Picture 9">
              <a:extLst>
                <a:ext uri="{FF2B5EF4-FFF2-40B4-BE49-F238E27FC236}">
                  <a16:creationId xmlns:a16="http://schemas.microsoft.com/office/drawing/2014/main" id="{13529FA1-2F3E-ABDE-9F70-B5DDB65FFCF3}"/>
                </a:ext>
              </a:extLst>
            </p:cNvPr>
            <p:cNvPicPr>
              <a:picLocks noChangeAspect="1"/>
            </p:cNvPicPr>
            <p:nvPr/>
          </p:nvPicPr>
          <p:blipFill>
            <a:blip r:embed="rId4"/>
            <a:stretch>
              <a:fillRect/>
            </a:stretch>
          </p:blipFill>
          <p:spPr>
            <a:xfrm>
              <a:off x="9149086" y="2369486"/>
              <a:ext cx="1457528" cy="1743318"/>
            </a:xfrm>
            <a:prstGeom prst="rect">
              <a:avLst/>
            </a:prstGeom>
          </p:spPr>
        </p:pic>
        <p:pic>
          <p:nvPicPr>
            <p:cNvPr id="11" name="Picture 10">
              <a:extLst>
                <a:ext uri="{FF2B5EF4-FFF2-40B4-BE49-F238E27FC236}">
                  <a16:creationId xmlns:a16="http://schemas.microsoft.com/office/drawing/2014/main" id="{5AA43F5E-4DA5-E2FA-90F6-46941B5EB8D1}"/>
                </a:ext>
              </a:extLst>
            </p:cNvPr>
            <p:cNvPicPr>
              <a:picLocks noChangeAspect="1"/>
            </p:cNvPicPr>
            <p:nvPr/>
          </p:nvPicPr>
          <p:blipFill>
            <a:blip r:embed="rId5"/>
            <a:stretch>
              <a:fillRect/>
            </a:stretch>
          </p:blipFill>
          <p:spPr>
            <a:xfrm>
              <a:off x="10678606" y="1277858"/>
              <a:ext cx="1419423" cy="1714739"/>
            </a:xfrm>
            <a:prstGeom prst="rect">
              <a:avLst/>
            </a:prstGeom>
          </p:spPr>
        </p:pic>
        <p:pic>
          <p:nvPicPr>
            <p:cNvPr id="12" name="Picture 11">
              <a:extLst>
                <a:ext uri="{FF2B5EF4-FFF2-40B4-BE49-F238E27FC236}">
                  <a16:creationId xmlns:a16="http://schemas.microsoft.com/office/drawing/2014/main" id="{298B7197-AB7A-F487-3277-A03CE3CFF39C}"/>
                </a:ext>
              </a:extLst>
            </p:cNvPr>
            <p:cNvPicPr>
              <a:picLocks noChangeAspect="1"/>
            </p:cNvPicPr>
            <p:nvPr/>
          </p:nvPicPr>
          <p:blipFill>
            <a:blip r:embed="rId6"/>
            <a:stretch>
              <a:fillRect/>
            </a:stretch>
          </p:blipFill>
          <p:spPr>
            <a:xfrm>
              <a:off x="10716887" y="3121294"/>
              <a:ext cx="1457528" cy="1752845"/>
            </a:xfrm>
            <a:prstGeom prst="rect">
              <a:avLst/>
            </a:prstGeom>
          </p:spPr>
        </p:pic>
        <p:pic>
          <p:nvPicPr>
            <p:cNvPr id="13" name="Picture 12">
              <a:extLst>
                <a:ext uri="{FF2B5EF4-FFF2-40B4-BE49-F238E27FC236}">
                  <a16:creationId xmlns:a16="http://schemas.microsoft.com/office/drawing/2014/main" id="{AF2A6327-0DA7-72E5-F4E4-CB838495EDC9}"/>
                </a:ext>
              </a:extLst>
            </p:cNvPr>
            <p:cNvPicPr>
              <a:picLocks noChangeAspect="1"/>
            </p:cNvPicPr>
            <p:nvPr/>
          </p:nvPicPr>
          <p:blipFill>
            <a:blip r:embed="rId7"/>
            <a:stretch>
              <a:fillRect/>
            </a:stretch>
          </p:blipFill>
          <p:spPr>
            <a:xfrm>
              <a:off x="9210038" y="4447601"/>
              <a:ext cx="1457528" cy="1733792"/>
            </a:xfrm>
            <a:prstGeom prst="rect">
              <a:avLst/>
            </a:prstGeom>
          </p:spPr>
        </p:pic>
        <p:pic>
          <p:nvPicPr>
            <p:cNvPr id="14" name="Picture 13">
              <a:extLst>
                <a:ext uri="{FF2B5EF4-FFF2-40B4-BE49-F238E27FC236}">
                  <a16:creationId xmlns:a16="http://schemas.microsoft.com/office/drawing/2014/main" id="{905FF264-A4F8-DE28-5500-3E51960DAFD1}"/>
                </a:ext>
              </a:extLst>
            </p:cNvPr>
            <p:cNvPicPr>
              <a:picLocks noChangeAspect="1"/>
            </p:cNvPicPr>
            <p:nvPr/>
          </p:nvPicPr>
          <p:blipFill>
            <a:blip r:embed="rId8"/>
            <a:stretch>
              <a:fillRect/>
            </a:stretch>
          </p:blipFill>
          <p:spPr>
            <a:xfrm>
              <a:off x="10726413" y="5002836"/>
              <a:ext cx="1438476" cy="1695687"/>
            </a:xfrm>
            <a:prstGeom prst="rect">
              <a:avLst/>
            </a:prstGeom>
          </p:spPr>
        </p:pic>
      </p:grpSp>
      <p:pic>
        <p:nvPicPr>
          <p:cNvPr id="15" name="Picture 14">
            <a:extLst>
              <a:ext uri="{FF2B5EF4-FFF2-40B4-BE49-F238E27FC236}">
                <a16:creationId xmlns:a16="http://schemas.microsoft.com/office/drawing/2014/main" id="{BA594598-D8DB-5457-AEE7-48B4282767A4}"/>
              </a:ext>
            </a:extLst>
          </p:cNvPr>
          <p:cNvPicPr>
            <a:picLocks noChangeAspect="1"/>
          </p:cNvPicPr>
          <p:nvPr/>
        </p:nvPicPr>
        <p:blipFill>
          <a:blip r:embed="rId9"/>
          <a:stretch>
            <a:fillRect/>
          </a:stretch>
        </p:blipFill>
        <p:spPr>
          <a:xfrm>
            <a:off x="8445016" y="3064435"/>
            <a:ext cx="3524859" cy="2058383"/>
          </a:xfrm>
          <a:prstGeom prst="rect">
            <a:avLst/>
          </a:prstGeom>
        </p:spPr>
      </p:pic>
    </p:spTree>
    <p:extLst>
      <p:ext uri="{BB962C8B-B14F-4D97-AF65-F5344CB8AC3E}">
        <p14:creationId xmlns:p14="http://schemas.microsoft.com/office/powerpoint/2010/main" val="2755316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24285" y="1961217"/>
            <a:ext cx="9181716" cy="4355963"/>
          </a:xfrm>
        </p:spPr>
        <p:txBody>
          <a:bodyPr lIns="91440" tIns="45720" rIns="91440" bIns="45720" anchor="t"/>
          <a:lstStyle/>
          <a:p>
            <a:pPr marL="421640" indent="-421640">
              <a:spcBef>
                <a:spcPts val="1800"/>
              </a:spcBef>
              <a:buFont typeface="Wingdings" panose="05000000000000000000" pitchFamily="2" charset="2"/>
              <a:buChar char="§"/>
            </a:pPr>
            <a:r>
              <a:rPr lang="en-US" sz="2500" b="0" i="0" dirty="0">
                <a:effectLst/>
                <a:latin typeface="Calibri"/>
                <a:cs typeface="Calibri"/>
              </a:rPr>
              <a:t>EU Governance submission deadlines: 15/01 (draft inventories) 15/03 (final inventories)</a:t>
            </a:r>
            <a:r>
              <a:rPr lang="en-US" sz="2500" dirty="0">
                <a:latin typeface="Calibri"/>
                <a:cs typeface="Calibri"/>
              </a:rPr>
              <a:t> 31/07 (Approximated Greenhouse Gas Inventories)</a:t>
            </a:r>
            <a:endParaRPr lang="en-US" dirty="0">
              <a:latin typeface="Calibri"/>
              <a:cs typeface="Calibri"/>
            </a:endParaRPr>
          </a:p>
          <a:p>
            <a:pPr marL="421640" indent="-421640">
              <a:spcBef>
                <a:spcPts val="1800"/>
              </a:spcBef>
              <a:buFont typeface="Wingdings" panose="05000000000000000000" pitchFamily="2" charset="2"/>
              <a:buChar char="§"/>
            </a:pPr>
            <a:r>
              <a:rPr lang="en-US" sz="2500" dirty="0">
                <a:latin typeface="Calibri"/>
                <a:cs typeface="Calibri"/>
              </a:rPr>
              <a:t>EEA carries out QA/QC initial checks on draft inventory submissions between 15/01 and 28/02</a:t>
            </a:r>
            <a:endParaRPr lang="en-US" sz="2500" b="0" i="0" dirty="0">
              <a:effectLst/>
              <a:latin typeface="Calibri"/>
              <a:cs typeface="Calibri"/>
            </a:endParaRPr>
          </a:p>
          <a:p>
            <a:pPr marL="421640" indent="-421640">
              <a:spcBef>
                <a:spcPts val="1800"/>
              </a:spcBef>
              <a:buFont typeface="Wingdings" panose="05000000000000000000" pitchFamily="2" charset="2"/>
              <a:buChar char="§"/>
            </a:pPr>
            <a:r>
              <a:rPr lang="en-US" sz="2500" dirty="0">
                <a:latin typeface="Calibri"/>
                <a:cs typeface="Calibri"/>
              </a:rPr>
              <a:t>Frequency Energy Community: Annual (Biennial under the PA)</a:t>
            </a:r>
          </a:p>
          <a:p>
            <a:pPr marL="421640" indent="-421640">
              <a:spcBef>
                <a:spcPts val="3000"/>
              </a:spcBef>
              <a:buFont typeface="Wingdings" panose="05000000000000000000" pitchFamily="2" charset="2"/>
              <a:buChar char="§"/>
            </a:pPr>
            <a:r>
              <a:rPr lang="en-US" sz="2500" dirty="0">
                <a:latin typeface="Calibri"/>
                <a:cs typeface="Calibri"/>
              </a:rPr>
              <a:t>MPGs:</a:t>
            </a:r>
          </a:p>
          <a:p>
            <a:pPr marL="421640" indent="-421640">
              <a:spcBef>
                <a:spcPts val="1800"/>
              </a:spcBef>
              <a:buFont typeface="Wingdings" panose="05000000000000000000" pitchFamily="2" charset="2"/>
              <a:buChar char="§"/>
            </a:pPr>
            <a:endParaRPr lang="en-US" sz="2500" dirty="0"/>
          </a:p>
        </p:txBody>
      </p:sp>
      <p:sp>
        <p:nvSpPr>
          <p:cNvPr id="3" name="Text Placeholder 2"/>
          <p:cNvSpPr>
            <a:spLocks noGrp="1"/>
          </p:cNvSpPr>
          <p:nvPr>
            <p:ph type="body" sz="quarter" idx="11"/>
          </p:nvPr>
        </p:nvSpPr>
        <p:spPr>
          <a:xfrm>
            <a:off x="724285" y="180601"/>
            <a:ext cx="10761133" cy="1420588"/>
          </a:xfrm>
        </p:spPr>
        <p:txBody>
          <a:bodyPr lIns="91440" tIns="45720" rIns="91440" bIns="45720" anchor="t"/>
          <a:lstStyle/>
          <a:p>
            <a:r>
              <a:rPr lang="en-GB">
                <a:solidFill>
                  <a:schemeClr val="tx1">
                    <a:lumMod val="20000"/>
                    <a:lumOff val="80000"/>
                  </a:schemeClr>
                </a:solidFill>
                <a:latin typeface="Calibri"/>
                <a:cs typeface="Calibri"/>
              </a:rPr>
              <a:t>Timelines for reporting under the EU Governance Regulation and the Paris Agreement</a:t>
            </a:r>
            <a:endParaRPr lang="en-GB">
              <a:solidFill>
                <a:schemeClr val="tx1">
                  <a:lumMod val="20000"/>
                  <a:lumOff val="80000"/>
                </a:schemeClr>
              </a:solidFill>
            </a:endParaRPr>
          </a:p>
        </p:txBody>
      </p:sp>
      <p:pic>
        <p:nvPicPr>
          <p:cNvPr id="7" name="Picture 6">
            <a:extLst>
              <a:ext uri="{FF2B5EF4-FFF2-40B4-BE49-F238E27FC236}">
                <a16:creationId xmlns:a16="http://schemas.microsoft.com/office/drawing/2014/main" id="{4E3C86A8-B2BE-251F-4B16-EE803D6F58A4}"/>
              </a:ext>
            </a:extLst>
          </p:cNvPr>
          <p:cNvPicPr>
            <a:picLocks noChangeAspect="1"/>
          </p:cNvPicPr>
          <p:nvPr/>
        </p:nvPicPr>
        <p:blipFill>
          <a:blip r:embed="rId3"/>
          <a:stretch>
            <a:fillRect/>
          </a:stretch>
        </p:blipFill>
        <p:spPr>
          <a:xfrm>
            <a:off x="2285999" y="4775124"/>
            <a:ext cx="9739746" cy="1181839"/>
          </a:xfrm>
          <a:prstGeom prst="rect">
            <a:avLst/>
          </a:prstGeom>
        </p:spPr>
      </p:pic>
    </p:spTree>
    <p:extLst>
      <p:ext uri="{BB962C8B-B14F-4D97-AF65-F5344CB8AC3E}">
        <p14:creationId xmlns:p14="http://schemas.microsoft.com/office/powerpoint/2010/main" val="15364130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3F1D3E-C232-E3F6-3089-38E07E05293C}"/>
              </a:ext>
            </a:extLst>
          </p:cNvPr>
          <p:cNvSpPr>
            <a:spLocks noGrp="1"/>
          </p:cNvSpPr>
          <p:nvPr>
            <p:ph type="body" sz="quarter" idx="11"/>
          </p:nvPr>
        </p:nvSpPr>
        <p:spPr>
          <a:xfrm>
            <a:off x="1344465" y="732416"/>
            <a:ext cx="8870319" cy="577740"/>
          </a:xfrm>
        </p:spPr>
        <p:txBody>
          <a:bodyPr lIns="91440" tIns="45720" rIns="91440" bIns="45720" anchor="t"/>
          <a:lstStyle/>
          <a:p>
            <a:r>
              <a:rPr lang="en-US">
                <a:latin typeface="Calibri"/>
                <a:ea typeface="Calibri"/>
                <a:cs typeface="Calibri"/>
              </a:rPr>
              <a:t>Timeline as regards  GHG inventories</a:t>
            </a:r>
            <a:endParaRPr lang="en-US"/>
          </a:p>
        </p:txBody>
      </p:sp>
      <p:graphicFrame>
        <p:nvGraphicFramePr>
          <p:cNvPr id="4" name="Diagram 3">
            <a:extLst>
              <a:ext uri="{FF2B5EF4-FFF2-40B4-BE49-F238E27FC236}">
                <a16:creationId xmlns:a16="http://schemas.microsoft.com/office/drawing/2014/main" id="{E92FC1C8-86E1-C326-240D-0D8EE9A21DE7}"/>
              </a:ext>
            </a:extLst>
          </p:cNvPr>
          <p:cNvGraphicFramePr/>
          <p:nvPr>
            <p:extLst>
              <p:ext uri="{D42A27DB-BD31-4B8C-83A1-F6EECF244321}">
                <p14:modId xmlns:p14="http://schemas.microsoft.com/office/powerpoint/2010/main" val="2044748013"/>
              </p:ext>
            </p:extLst>
          </p:nvPr>
        </p:nvGraphicFramePr>
        <p:xfrm>
          <a:off x="1344465" y="1868129"/>
          <a:ext cx="9797142" cy="26153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0917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4613E4-1C28-288C-05D7-56EF5967DC97}"/>
              </a:ext>
            </a:extLst>
          </p:cNvPr>
          <p:cNvSpPr>
            <a:spLocks noGrp="1"/>
          </p:cNvSpPr>
          <p:nvPr>
            <p:ph type="body" sz="quarter" idx="10"/>
          </p:nvPr>
        </p:nvSpPr>
        <p:spPr>
          <a:xfrm>
            <a:off x="640151" y="2075695"/>
            <a:ext cx="5581345" cy="3956858"/>
          </a:xfrm>
        </p:spPr>
        <p:txBody>
          <a:bodyPr lIns="91440" tIns="45720" rIns="91440" bIns="45720" anchor="t"/>
          <a:lstStyle/>
          <a:p>
            <a:pPr marL="421640" indent="-421640"/>
            <a:r>
              <a:rPr lang="en-US" sz="2400">
                <a:latin typeface="Calibri"/>
                <a:ea typeface="Calibri" panose="020F0502020204030204" pitchFamily="34" charset="0"/>
                <a:cs typeface="Calibri"/>
              </a:rPr>
              <a:t>GHG inventories - Reportnet2</a:t>
            </a:r>
          </a:p>
          <a:p>
            <a:pPr marL="421640" indent="-421640"/>
            <a:r>
              <a:rPr lang="en-US" sz="2400">
                <a:solidFill>
                  <a:schemeClr val="bg1">
                    <a:lumMod val="95000"/>
                  </a:schemeClr>
                </a:solidFill>
                <a:latin typeface="Calibri"/>
                <a:cs typeface="Calibri"/>
                <a:hlinkClick r:id="rId3">
                  <a:extLst>
                    <a:ext uri="{A12FA001-AC4F-418D-AE19-62706E023703}">
                      <ahyp:hlinkClr xmlns:ahyp="http://schemas.microsoft.com/office/drawing/2018/hyperlinkcolor" val="tx"/>
                    </a:ext>
                  </a:extLst>
                </a:hlinkClick>
              </a:rPr>
              <a:t>Link: CDR (europa.eu)</a:t>
            </a:r>
            <a:endParaRPr lang="en-US" sz="2400">
              <a:solidFill>
                <a:schemeClr val="bg1">
                  <a:lumMod val="95000"/>
                </a:schemeClr>
              </a:solidFill>
              <a:latin typeface="Calibri"/>
              <a:cs typeface="Calibri"/>
            </a:endParaRPr>
          </a:p>
        </p:txBody>
      </p:sp>
      <p:sp>
        <p:nvSpPr>
          <p:cNvPr id="3" name="Text Placeholder 2">
            <a:extLst>
              <a:ext uri="{FF2B5EF4-FFF2-40B4-BE49-F238E27FC236}">
                <a16:creationId xmlns:a16="http://schemas.microsoft.com/office/drawing/2014/main" id="{4EE1C201-A50D-1A02-8AAB-A62BBB393D05}"/>
              </a:ext>
            </a:extLst>
          </p:cNvPr>
          <p:cNvSpPr>
            <a:spLocks noGrp="1"/>
          </p:cNvSpPr>
          <p:nvPr>
            <p:ph type="body" sz="quarter" idx="11"/>
          </p:nvPr>
        </p:nvSpPr>
        <p:spPr>
          <a:xfrm>
            <a:off x="849770" y="355045"/>
            <a:ext cx="5241748" cy="1085741"/>
          </a:xfrm>
        </p:spPr>
        <p:txBody>
          <a:bodyPr lIns="91440" tIns="45720" rIns="91440" bIns="45720" anchor="t"/>
          <a:lstStyle/>
          <a:p>
            <a:r>
              <a:rPr lang="en-US">
                <a:solidFill>
                  <a:schemeClr val="tx1">
                    <a:lumMod val="20000"/>
                    <a:lumOff val="80000"/>
                  </a:schemeClr>
                </a:solidFill>
                <a:latin typeface="Calibri"/>
                <a:cs typeface="Calibri"/>
              </a:rPr>
              <a:t>Reporting Platforms</a:t>
            </a:r>
          </a:p>
        </p:txBody>
      </p:sp>
      <p:pic>
        <p:nvPicPr>
          <p:cNvPr id="4" name="Picture 3" descr="A screenshot of a computer&#10;&#10;Description automatically generated">
            <a:extLst>
              <a:ext uri="{FF2B5EF4-FFF2-40B4-BE49-F238E27FC236}">
                <a16:creationId xmlns:a16="http://schemas.microsoft.com/office/drawing/2014/main" id="{325F965B-BC8E-1638-640E-AE30CDC6EB18}"/>
              </a:ext>
            </a:extLst>
          </p:cNvPr>
          <p:cNvPicPr>
            <a:picLocks noChangeAspect="1"/>
          </p:cNvPicPr>
          <p:nvPr/>
        </p:nvPicPr>
        <p:blipFill>
          <a:blip r:embed="rId4"/>
          <a:stretch>
            <a:fillRect/>
          </a:stretch>
        </p:blipFill>
        <p:spPr>
          <a:xfrm>
            <a:off x="87802" y="2918273"/>
            <a:ext cx="5920399" cy="3313967"/>
          </a:xfrm>
          <a:prstGeom prst="rect">
            <a:avLst/>
          </a:prstGeom>
        </p:spPr>
      </p:pic>
      <p:sp>
        <p:nvSpPr>
          <p:cNvPr id="6" name="Text Placeholder 1">
            <a:extLst>
              <a:ext uri="{FF2B5EF4-FFF2-40B4-BE49-F238E27FC236}">
                <a16:creationId xmlns:a16="http://schemas.microsoft.com/office/drawing/2014/main" id="{B5524579-271D-C92E-EAEC-F4E5D28143B4}"/>
              </a:ext>
            </a:extLst>
          </p:cNvPr>
          <p:cNvSpPr txBox="1">
            <a:spLocks/>
          </p:cNvSpPr>
          <p:nvPr/>
        </p:nvSpPr>
        <p:spPr>
          <a:xfrm>
            <a:off x="5872551" y="2078299"/>
            <a:ext cx="6239140" cy="3950346"/>
          </a:xfrm>
          <a:prstGeom prst="rect">
            <a:avLst/>
          </a:prstGeom>
        </p:spPr>
        <p:txBody>
          <a:bodyPr lIns="91440" tIns="45720" rIns="91440" bIns="45720" anchor="t"/>
          <a:lstStyle>
            <a:lvl1pPr marL="422061" indent="-422061" algn="l" defTabSz="1125500" rtl="0" eaLnBrk="1" latinLnBrk="0" hangingPunct="1">
              <a:spcBef>
                <a:spcPct val="20000"/>
              </a:spcBef>
              <a:buFont typeface="Arial" pitchFamily="34" charset="0"/>
              <a:buChar char="•"/>
              <a:defRPr sz="4000" kern="1200">
                <a:solidFill>
                  <a:schemeClr val="bg1"/>
                </a:solidFill>
                <a:latin typeface="Calibri" panose="020F0502020204030204" pitchFamily="34" charset="0"/>
                <a:ea typeface="+mn-ea"/>
                <a:cs typeface="Calibri" panose="020F0502020204030204" pitchFamily="34" charset="0"/>
              </a:defRPr>
            </a:lvl1pPr>
            <a:lvl2pPr marL="914468" indent="-351718" algn="l" defTabSz="1125500" rtl="0" eaLnBrk="1" latinLnBrk="0" hangingPunct="1">
              <a:spcBef>
                <a:spcPct val="20000"/>
              </a:spcBef>
              <a:buFont typeface="Arial" pitchFamily="34" charset="0"/>
              <a:buChar char="–"/>
              <a:defRPr sz="3600" kern="1200">
                <a:solidFill>
                  <a:schemeClr val="bg1"/>
                </a:solidFill>
                <a:latin typeface="Calibri" panose="020F0502020204030204" pitchFamily="34" charset="0"/>
                <a:ea typeface="+mn-ea"/>
                <a:cs typeface="Calibri" panose="020F0502020204030204" pitchFamily="34" charset="0"/>
              </a:defRPr>
            </a:lvl2pPr>
            <a:lvl3pPr marL="1406875" indent="-281376" algn="l" defTabSz="1125500" rtl="0" eaLnBrk="1" latinLnBrk="0" hangingPunct="1">
              <a:spcBef>
                <a:spcPct val="20000"/>
              </a:spcBef>
              <a:buFont typeface="Arial" pitchFamily="34" charset="0"/>
              <a:buChar char="•"/>
              <a:defRPr sz="3200" kern="1200">
                <a:solidFill>
                  <a:schemeClr val="bg1"/>
                </a:solidFill>
                <a:latin typeface="Calibri" panose="020F0502020204030204" pitchFamily="34" charset="0"/>
                <a:ea typeface="+mn-ea"/>
                <a:cs typeface="Calibri" panose="020F0502020204030204" pitchFamily="34" charset="0"/>
              </a:defRPr>
            </a:lvl3pPr>
            <a:lvl4pPr marL="1969625" indent="-281376" algn="l" defTabSz="1125500" rtl="0" eaLnBrk="1" latinLnBrk="0" hangingPunct="1">
              <a:spcBef>
                <a:spcPct val="20000"/>
              </a:spcBef>
              <a:buFont typeface="Arial" pitchFamily="34" charset="0"/>
              <a:buChar char="–"/>
              <a:defRPr sz="2800" kern="1200">
                <a:solidFill>
                  <a:schemeClr val="bg1"/>
                </a:solidFill>
                <a:latin typeface="Calibri" panose="020F0502020204030204" pitchFamily="34" charset="0"/>
                <a:ea typeface="+mn-ea"/>
                <a:cs typeface="Calibri" panose="020F0502020204030204" pitchFamily="34" charset="0"/>
              </a:defRPr>
            </a:lvl4pPr>
            <a:lvl5pPr marL="2532376" indent="-281376" algn="l" defTabSz="1125500" rtl="0" eaLnBrk="1" latinLnBrk="0" hangingPunct="1">
              <a:spcBef>
                <a:spcPct val="20000"/>
              </a:spcBef>
              <a:buFont typeface="Arial" pitchFamily="34" charset="0"/>
              <a:buChar char="»"/>
              <a:defRPr sz="2800" kern="1200">
                <a:solidFill>
                  <a:schemeClr val="bg1"/>
                </a:solidFill>
                <a:latin typeface="Calibri" panose="020F0502020204030204" pitchFamily="34" charset="0"/>
                <a:ea typeface="+mn-ea"/>
                <a:cs typeface="Calibri" panose="020F0502020204030204" pitchFamily="34" charset="0"/>
              </a:defRPr>
            </a:lvl5pPr>
            <a:lvl6pPr marL="309512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87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625"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374" indent="-281376" algn="l" defTabSz="1125500"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421640" indent="-421640"/>
            <a:r>
              <a:rPr lang="en-US" sz="2400">
                <a:latin typeface="Calibri"/>
                <a:ea typeface="Calibri" panose="020F0502020204030204" pitchFamily="34" charset="0"/>
                <a:cs typeface="Calibri"/>
              </a:rPr>
              <a:t>Approximated GHG inventories - Reportnet3</a:t>
            </a:r>
          </a:p>
          <a:p>
            <a:pPr marL="421640" indent="-421640"/>
            <a:r>
              <a:rPr lang="en-US" sz="2400">
                <a:solidFill>
                  <a:schemeClr val="bg1">
                    <a:lumMod val="95000"/>
                  </a:schemeClr>
                </a:solidFill>
                <a:latin typeface="Calibri"/>
                <a:ea typeface="Calibri" panose="020F0502020204030204" pitchFamily="34" charset="0"/>
                <a:cs typeface="Calibri"/>
                <a:hlinkClick r:id="rId5">
                  <a:extLst>
                    <a:ext uri="{A12FA001-AC4F-418D-AE19-62706E023703}">
                      <ahyp:hlinkClr xmlns:ahyp="http://schemas.microsoft.com/office/drawing/2018/hyperlinkcolor" val="tx"/>
                    </a:ext>
                  </a:extLst>
                </a:hlinkClick>
              </a:rPr>
              <a:t>Link: </a:t>
            </a:r>
            <a:r>
              <a:rPr lang="en-US" sz="2400" err="1">
                <a:solidFill>
                  <a:schemeClr val="bg1">
                    <a:lumMod val="95000"/>
                  </a:schemeClr>
                </a:solidFill>
                <a:latin typeface="Calibri"/>
                <a:ea typeface="Calibri" panose="020F0502020204030204" pitchFamily="34" charset="0"/>
                <a:cs typeface="Calibri"/>
                <a:hlinkClick r:id="rId5">
                  <a:extLst>
                    <a:ext uri="{A12FA001-AC4F-418D-AE19-62706E023703}">
                      <ahyp:hlinkClr xmlns:ahyp="http://schemas.microsoft.com/office/drawing/2018/hyperlinkcolor" val="tx"/>
                    </a:ext>
                  </a:extLst>
                </a:hlinkClick>
              </a:rPr>
              <a:t>Reportnet</a:t>
            </a:r>
            <a:r>
              <a:rPr lang="en-US" sz="2400">
                <a:solidFill>
                  <a:schemeClr val="bg1">
                    <a:lumMod val="95000"/>
                  </a:schemeClr>
                </a:solidFill>
                <a:latin typeface="Calibri"/>
                <a:ea typeface="Calibri" panose="020F0502020204030204" pitchFamily="34" charset="0"/>
                <a:cs typeface="Calibri"/>
                <a:hlinkClick r:id="rId5">
                  <a:extLst>
                    <a:ext uri="{A12FA001-AC4F-418D-AE19-62706E023703}">
                      <ahyp:hlinkClr xmlns:ahyp="http://schemas.microsoft.com/office/drawing/2018/hyperlinkcolor" val="tx"/>
                    </a:ext>
                  </a:extLst>
                </a:hlinkClick>
              </a:rPr>
              <a:t> 3 (europa.eu)</a:t>
            </a:r>
            <a:endParaRPr lang="en-US" sz="2400">
              <a:solidFill>
                <a:schemeClr val="bg1">
                  <a:lumMod val="95000"/>
                </a:schemeClr>
              </a:solidFill>
              <a:latin typeface="Calibri"/>
              <a:ea typeface="Calibri" panose="020F0502020204030204" pitchFamily="34" charset="0"/>
              <a:cs typeface="Calibri"/>
            </a:endParaRPr>
          </a:p>
        </p:txBody>
      </p:sp>
      <p:pic>
        <p:nvPicPr>
          <p:cNvPr id="8" name="Picture 7" descr="A blue background with text and a blue structure&#10;&#10;Description automatically generated">
            <a:extLst>
              <a:ext uri="{FF2B5EF4-FFF2-40B4-BE49-F238E27FC236}">
                <a16:creationId xmlns:a16="http://schemas.microsoft.com/office/drawing/2014/main" id="{F2BD7EAB-82E5-0889-B861-BA60AD76E79B}"/>
              </a:ext>
            </a:extLst>
          </p:cNvPr>
          <p:cNvPicPr>
            <a:picLocks noChangeAspect="1"/>
          </p:cNvPicPr>
          <p:nvPr/>
        </p:nvPicPr>
        <p:blipFill>
          <a:blip r:embed="rId6"/>
          <a:stretch>
            <a:fillRect/>
          </a:stretch>
        </p:blipFill>
        <p:spPr>
          <a:xfrm>
            <a:off x="6164547" y="3018123"/>
            <a:ext cx="5776548" cy="3107756"/>
          </a:xfrm>
          <a:prstGeom prst="rect">
            <a:avLst/>
          </a:prstGeom>
        </p:spPr>
      </p:pic>
    </p:spTree>
    <p:extLst>
      <p:ext uri="{BB962C8B-B14F-4D97-AF65-F5344CB8AC3E}">
        <p14:creationId xmlns:p14="http://schemas.microsoft.com/office/powerpoint/2010/main" val="9842544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56128" y="1997556"/>
            <a:ext cx="3846539" cy="3138302"/>
          </a:xfrm>
        </p:spPr>
        <p:txBody>
          <a:bodyPr lIns="91440" tIns="45720" rIns="91440" bIns="45720" anchor="t"/>
          <a:lstStyle/>
          <a:p>
            <a:pPr marL="421640" indent="-421640">
              <a:spcBef>
                <a:spcPts val="1800"/>
              </a:spcBef>
              <a:buFont typeface="Wingdings" panose="05000000000000000000" pitchFamily="2" charset="2"/>
              <a:buChar char="§"/>
            </a:pPr>
            <a:r>
              <a:rPr lang="en-US" sz="2500" b="0" i="0" dirty="0">
                <a:effectLst/>
                <a:latin typeface="Calibri"/>
                <a:cs typeface="Calibri"/>
              </a:rPr>
              <a:t>Annexes facilitate the QA/QC of submissions to the EU and the preparation of the Energy Community inventory</a:t>
            </a:r>
            <a:endParaRPr lang="en-US" dirty="0">
              <a:latin typeface="Calibri"/>
              <a:cs typeface="Calibri"/>
            </a:endParaRPr>
          </a:p>
          <a:p>
            <a:pPr marL="421640" indent="-421640">
              <a:spcBef>
                <a:spcPts val="1800"/>
              </a:spcBef>
              <a:buFont typeface="Wingdings" panose="05000000000000000000" pitchFamily="2" charset="2"/>
              <a:buChar char="§"/>
            </a:pPr>
            <a:r>
              <a:rPr lang="en-US" sz="2500" dirty="0">
                <a:latin typeface="Calibri"/>
                <a:cs typeface="Calibri"/>
              </a:rPr>
              <a:t>Types of submission: separate, part of NID</a:t>
            </a:r>
          </a:p>
          <a:p>
            <a:pPr marL="421640" indent="-421640">
              <a:spcBef>
                <a:spcPts val="1800"/>
              </a:spcBef>
              <a:buFont typeface="Wingdings" panose="05000000000000000000" pitchFamily="2" charset="2"/>
              <a:buChar char="§"/>
            </a:pPr>
            <a:r>
              <a:rPr lang="en-US" sz="2500" dirty="0">
                <a:latin typeface="Calibri"/>
                <a:cs typeface="Calibri"/>
              </a:rPr>
              <a:t> Templates of Annexes will be provided by EEA </a:t>
            </a:r>
            <a:endParaRPr lang="en-US" sz="2500" dirty="0"/>
          </a:p>
          <a:p>
            <a:pPr marL="421640" indent="-421640">
              <a:spcBef>
                <a:spcPts val="1800"/>
              </a:spcBef>
              <a:buFont typeface="Wingdings" panose="05000000000000000000" pitchFamily="2" charset="2"/>
              <a:buChar char="§"/>
            </a:pPr>
            <a:endParaRPr lang="en-US" sz="2500" dirty="0"/>
          </a:p>
        </p:txBody>
      </p:sp>
      <p:sp>
        <p:nvSpPr>
          <p:cNvPr id="3" name="Text Placeholder 2"/>
          <p:cNvSpPr>
            <a:spLocks noGrp="1"/>
          </p:cNvSpPr>
          <p:nvPr>
            <p:ph type="body" sz="quarter" idx="11"/>
          </p:nvPr>
        </p:nvSpPr>
        <p:spPr>
          <a:xfrm>
            <a:off x="724286" y="277583"/>
            <a:ext cx="10956085" cy="1420588"/>
          </a:xfrm>
        </p:spPr>
        <p:txBody>
          <a:bodyPr lIns="91440" tIns="45720" rIns="91440" bIns="45720" anchor="t"/>
          <a:lstStyle/>
          <a:p>
            <a:r>
              <a:rPr lang="en-GB">
                <a:solidFill>
                  <a:schemeClr val="tx1">
                    <a:lumMod val="20000"/>
                    <a:lumOff val="80000"/>
                  </a:schemeClr>
                </a:solidFill>
                <a:latin typeface="Calibri"/>
                <a:cs typeface="Calibri"/>
              </a:rPr>
              <a:t>Additional reporting: GHG inventory Annexes (Implementing Regulation) </a:t>
            </a:r>
            <a:endParaRPr lang="en-GB">
              <a:solidFill>
                <a:schemeClr val="tx1">
                  <a:lumMod val="20000"/>
                  <a:lumOff val="80000"/>
                </a:schemeClr>
              </a:solidFill>
            </a:endParaRPr>
          </a:p>
        </p:txBody>
      </p:sp>
      <p:sp>
        <p:nvSpPr>
          <p:cNvPr id="7" name="TextBox 6">
            <a:extLst>
              <a:ext uri="{FF2B5EF4-FFF2-40B4-BE49-F238E27FC236}">
                <a16:creationId xmlns:a16="http://schemas.microsoft.com/office/drawing/2014/main" id="{E7262BD9-EAE6-41FE-86AF-E9CBB2E43415}"/>
              </a:ext>
            </a:extLst>
          </p:cNvPr>
          <p:cNvSpPr txBox="1"/>
          <p:nvPr/>
        </p:nvSpPr>
        <p:spPr>
          <a:xfrm>
            <a:off x="4370614" y="1990340"/>
            <a:ext cx="7614558" cy="4329390"/>
          </a:xfrm>
          <a:prstGeom prst="rect">
            <a:avLst/>
          </a:prstGeom>
          <a:noFill/>
        </p:spPr>
        <p:txBody>
          <a:bodyPr wrap="square">
            <a:spAutoFit/>
          </a:bodyPr>
          <a:lstStyle/>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reasons for recalculations (art.9)</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implementation of review recommendations (art.10)</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methodological descriptions (art.11)</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uncertainty analysis (art.12.1)</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assessment of completeness (art.12.2)</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reporting on indicators (art.13)</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consistency with ‘EC information’  (art.14 on EU ETS, </a:t>
            </a:r>
            <a:r>
              <a:rPr lang="en-US" sz="2200">
                <a:solidFill>
                  <a:srgbClr val="FFC000"/>
                </a:solidFill>
                <a:latin typeface="Calibri" panose="020F0502020204030204" pitchFamily="34" charset="0"/>
                <a:cs typeface="Calibri" panose="020F0502020204030204" pitchFamily="34" charset="0"/>
              </a:rPr>
              <a:t>adapted</a:t>
            </a:r>
            <a:r>
              <a:rPr lang="en-US" sz="2200">
                <a:solidFill>
                  <a:schemeClr val="bg1"/>
                </a:solidFill>
                <a:latin typeface="Calibri" panose="020F0502020204030204" pitchFamily="34" charset="0"/>
                <a:cs typeface="Calibri" panose="020F0502020204030204" pitchFamily="34" charset="0"/>
              </a:rPr>
              <a:t>) </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consistency with air pollutants (art.15 </a:t>
            </a:r>
            <a:r>
              <a:rPr lang="en-US" sz="2200">
                <a:solidFill>
                  <a:srgbClr val="FFC000"/>
                </a:solidFill>
                <a:latin typeface="Calibri" panose="020F0502020204030204" pitchFamily="34" charset="0"/>
                <a:cs typeface="Calibri" panose="020F0502020204030204" pitchFamily="34" charset="0"/>
              </a:rPr>
              <a:t>deleted</a:t>
            </a:r>
            <a:r>
              <a:rPr lang="en-US" sz="2200">
                <a:solidFill>
                  <a:schemeClr val="bg1"/>
                </a:solidFill>
                <a:latin typeface="Calibri" panose="020F0502020204030204" pitchFamily="34" charset="0"/>
                <a:cs typeface="Calibri" panose="020F0502020204030204" pitchFamily="34" charset="0"/>
              </a:rPr>
              <a:t>) </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consistency with fluorinated gases (art.16)</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consistency with energy statistics (art.17)</a:t>
            </a:r>
          </a:p>
          <a:p>
            <a:pPr>
              <a:spcBef>
                <a:spcPts val="400"/>
              </a:spcBef>
              <a:buFont typeface="Wingdings" panose="05000000000000000000" pitchFamily="2" charset="2"/>
              <a:buChar char="§"/>
            </a:pPr>
            <a:r>
              <a:rPr lang="en-US" sz="2200">
                <a:solidFill>
                  <a:schemeClr val="bg1"/>
                </a:solidFill>
                <a:latin typeface="Calibri" panose="020F0502020204030204" pitchFamily="34" charset="0"/>
                <a:cs typeface="Calibri" panose="020F0502020204030204" pitchFamily="34" charset="0"/>
              </a:rPr>
              <a:t> changes to national systems and registries (art.18)</a:t>
            </a:r>
          </a:p>
        </p:txBody>
      </p:sp>
      <p:sp>
        <p:nvSpPr>
          <p:cNvPr id="8" name="Left Brace 7">
            <a:extLst>
              <a:ext uri="{FF2B5EF4-FFF2-40B4-BE49-F238E27FC236}">
                <a16:creationId xmlns:a16="http://schemas.microsoft.com/office/drawing/2014/main" id="{81109666-0AE2-4FB9-BAEF-527DCEC34F99}"/>
              </a:ext>
            </a:extLst>
          </p:cNvPr>
          <p:cNvSpPr/>
          <p:nvPr/>
        </p:nvSpPr>
        <p:spPr>
          <a:xfrm>
            <a:off x="3939012" y="2122126"/>
            <a:ext cx="440870" cy="4071257"/>
          </a:xfrm>
          <a:prstGeom prst="leftBrace">
            <a:avLst>
              <a:gd name="adj1" fmla="val 5864"/>
              <a:gd name="adj2" fmla="val 79237"/>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a-DK"/>
          </a:p>
        </p:txBody>
      </p:sp>
    </p:spTree>
    <p:extLst>
      <p:ext uri="{BB962C8B-B14F-4D97-AF65-F5344CB8AC3E}">
        <p14:creationId xmlns:p14="http://schemas.microsoft.com/office/powerpoint/2010/main" val="1721150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24286" y="2083942"/>
            <a:ext cx="10331641" cy="4496475"/>
          </a:xfrm>
        </p:spPr>
        <p:txBody>
          <a:bodyPr lIns="91440" tIns="45720" rIns="91440" bIns="45720" anchor="t"/>
          <a:lstStyle/>
          <a:p>
            <a:pPr>
              <a:spcBef>
                <a:spcPts val="1800"/>
              </a:spcBef>
              <a:buFont typeface="Wingdings" panose="05000000000000000000" pitchFamily="2" charset="2"/>
              <a:buChar char="§"/>
            </a:pPr>
            <a:r>
              <a:rPr lang="en-US" sz="2500"/>
              <a:t>Broadly consistent with MPGs but focus on establishment and not reporting</a:t>
            </a:r>
          </a:p>
          <a:p>
            <a:pPr lvl="1">
              <a:spcBef>
                <a:spcPts val="1800"/>
              </a:spcBef>
              <a:buFont typeface="Wingdings" panose="05000000000000000000" pitchFamily="2" charset="2"/>
              <a:buChar char="§"/>
            </a:pPr>
            <a:r>
              <a:rPr lang="en-US" sz="2400"/>
              <a:t>By 1/1/2023, establish, operate and continuously improve NIS to estimate emissions and removals to ensure the TACCC of the GHG inventory </a:t>
            </a:r>
          </a:p>
          <a:p>
            <a:pPr lvl="1">
              <a:spcBef>
                <a:spcPts val="1800"/>
              </a:spcBef>
              <a:buFont typeface="Wingdings" panose="05000000000000000000" pitchFamily="2" charset="2"/>
              <a:buChar char="§"/>
            </a:pPr>
            <a:r>
              <a:rPr lang="en-US" sz="2400"/>
              <a:t>Ensure that the national competent inventory authorities have access to the necessary information to prepare and report the GHG inventory  </a:t>
            </a:r>
          </a:p>
          <a:p>
            <a:pPr lvl="1">
              <a:spcBef>
                <a:spcPts val="1800"/>
              </a:spcBef>
              <a:buFont typeface="Wingdings" panose="05000000000000000000" pitchFamily="2" charset="2"/>
              <a:buChar char="§"/>
            </a:pPr>
            <a:r>
              <a:rPr lang="en-US" sz="2400"/>
              <a:t>Ensure sufficient capacity for the timely performance of GHG inventory functions, including data collection and the technical competence of staff involved</a:t>
            </a:r>
          </a:p>
        </p:txBody>
      </p:sp>
      <p:sp>
        <p:nvSpPr>
          <p:cNvPr id="3" name="Text Placeholder 2"/>
          <p:cNvSpPr>
            <a:spLocks noGrp="1"/>
          </p:cNvSpPr>
          <p:nvPr>
            <p:ph type="body" sz="quarter" idx="11"/>
          </p:nvPr>
        </p:nvSpPr>
        <p:spPr>
          <a:xfrm>
            <a:off x="576888" y="277583"/>
            <a:ext cx="11038223" cy="1420588"/>
          </a:xfrm>
        </p:spPr>
        <p:txBody>
          <a:bodyPr lIns="91440" tIns="45720" rIns="91440" bIns="45720" anchor="t"/>
          <a:lstStyle/>
          <a:p>
            <a:r>
              <a:rPr lang="en-GB">
                <a:solidFill>
                  <a:schemeClr val="tx1">
                    <a:lumMod val="20000"/>
                    <a:lumOff val="80000"/>
                  </a:schemeClr>
                </a:solidFill>
                <a:latin typeface="Calibri"/>
                <a:cs typeface="Calibri"/>
              </a:rPr>
              <a:t>National inventory systems (NIS) under article 37 of the Adapted EU Governance Regulation</a:t>
            </a:r>
            <a:endParaRPr lang="en-GB">
              <a:solidFill>
                <a:schemeClr val="tx1">
                  <a:lumMod val="20000"/>
                  <a:lumOff val="80000"/>
                </a:schemeClr>
              </a:solidFill>
            </a:endParaRPr>
          </a:p>
        </p:txBody>
      </p:sp>
    </p:spTree>
    <p:extLst>
      <p:ext uri="{BB962C8B-B14F-4D97-AF65-F5344CB8AC3E}">
        <p14:creationId xmlns:p14="http://schemas.microsoft.com/office/powerpoint/2010/main" val="1529869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B319400-2ACC-FCC6-2297-6246FFFB1DD4}"/>
              </a:ext>
            </a:extLst>
          </p:cNvPr>
          <p:cNvSpPr>
            <a:spLocks noGrp="1"/>
          </p:cNvSpPr>
          <p:nvPr>
            <p:ph idx="1"/>
          </p:nvPr>
        </p:nvSpPr>
        <p:spPr>
          <a:xfrm>
            <a:off x="838200" y="1825625"/>
            <a:ext cx="10515600" cy="4351338"/>
          </a:xfrm>
        </p:spPr>
        <p:txBody>
          <a:bodyPr vert="horz" lIns="91440" tIns="45720" rIns="91440" bIns="45720" rtlCol="0" anchor="t">
            <a:normAutofit/>
          </a:bodyPr>
          <a:lstStyle/>
          <a:p>
            <a:pPr marL="0" indent="0">
              <a:lnSpc>
                <a:spcPct val="100000"/>
              </a:lnSpc>
              <a:spcBef>
                <a:spcPts val="0"/>
              </a:spcBef>
              <a:buNone/>
            </a:pPr>
            <a:endParaRPr lang="en-US" b="1">
              <a:solidFill>
                <a:srgbClr val="000000"/>
              </a:solidFill>
              <a:latin typeface="Calibri"/>
              <a:ea typeface="Calibri"/>
              <a:cs typeface="Calibri"/>
            </a:endParaRPr>
          </a:p>
          <a:p>
            <a:pPr marL="0" indent="0">
              <a:lnSpc>
                <a:spcPct val="100000"/>
              </a:lnSpc>
              <a:spcBef>
                <a:spcPts val="0"/>
              </a:spcBef>
              <a:buNone/>
            </a:pPr>
            <a:endParaRPr lang="en-US" sz="2000"/>
          </a:p>
        </p:txBody>
      </p:sp>
      <p:sp>
        <p:nvSpPr>
          <p:cNvPr id="5" name="TextBox 2">
            <a:extLst>
              <a:ext uri="{FF2B5EF4-FFF2-40B4-BE49-F238E27FC236}">
                <a16:creationId xmlns:a16="http://schemas.microsoft.com/office/drawing/2014/main" id="{0C00D4E4-FE7B-405E-B4DC-3AD372A61E62}"/>
              </a:ext>
            </a:extLst>
          </p:cNvPr>
          <p:cNvSpPr txBox="1"/>
          <p:nvPr/>
        </p:nvSpPr>
        <p:spPr>
          <a:xfrm>
            <a:off x="167398" y="465444"/>
            <a:ext cx="11889651" cy="49244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chemeClr val="bg1"/>
                </a:solidFill>
                <a:latin typeface="Calibri Light"/>
                <a:ea typeface="Calibri Light"/>
                <a:cs typeface="Calibri"/>
              </a:rPr>
              <a:t>EMISSION REVIEW TOOL (EMRT) for GHG inventories</a:t>
            </a:r>
          </a:p>
        </p:txBody>
      </p:sp>
      <p:pic>
        <p:nvPicPr>
          <p:cNvPr id="2" name="Picture 1" descr="A screenshot of a computer&#10;&#10;Description automatically generated">
            <a:extLst>
              <a:ext uri="{FF2B5EF4-FFF2-40B4-BE49-F238E27FC236}">
                <a16:creationId xmlns:a16="http://schemas.microsoft.com/office/drawing/2014/main" id="{B930155F-8C2C-41FF-0813-FC1AAC5EDB94}"/>
              </a:ext>
            </a:extLst>
          </p:cNvPr>
          <p:cNvPicPr>
            <a:picLocks noChangeAspect="1"/>
          </p:cNvPicPr>
          <p:nvPr/>
        </p:nvPicPr>
        <p:blipFill>
          <a:blip r:embed="rId3"/>
          <a:stretch>
            <a:fillRect/>
          </a:stretch>
        </p:blipFill>
        <p:spPr>
          <a:xfrm>
            <a:off x="0" y="1825625"/>
            <a:ext cx="12192000" cy="4464515"/>
          </a:xfrm>
          <a:prstGeom prst="rect">
            <a:avLst/>
          </a:prstGeom>
        </p:spPr>
      </p:pic>
    </p:spTree>
    <p:extLst>
      <p:ext uri="{BB962C8B-B14F-4D97-AF65-F5344CB8AC3E}">
        <p14:creationId xmlns:p14="http://schemas.microsoft.com/office/powerpoint/2010/main" val="1704399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A76F13E1-4A45-0512-4FC6-AF3A5B9BB9B6}"/>
              </a:ext>
            </a:extLst>
          </p:cNvPr>
          <p:cNvPicPr>
            <a:picLocks noChangeAspect="1"/>
          </p:cNvPicPr>
          <p:nvPr/>
        </p:nvPicPr>
        <p:blipFill>
          <a:blip r:embed="rId2"/>
          <a:stretch>
            <a:fillRect/>
          </a:stretch>
        </p:blipFill>
        <p:spPr>
          <a:xfrm>
            <a:off x="0" y="929807"/>
            <a:ext cx="12192000" cy="5794312"/>
          </a:xfrm>
          <a:prstGeom prst="rect">
            <a:avLst/>
          </a:prstGeom>
        </p:spPr>
      </p:pic>
      <p:sp>
        <p:nvSpPr>
          <p:cNvPr id="6" name="TextBox 2">
            <a:extLst>
              <a:ext uri="{FF2B5EF4-FFF2-40B4-BE49-F238E27FC236}">
                <a16:creationId xmlns:a16="http://schemas.microsoft.com/office/drawing/2014/main" id="{AEAC7E8D-FB27-60FD-7A62-447E9F3764E7}"/>
              </a:ext>
            </a:extLst>
          </p:cNvPr>
          <p:cNvSpPr txBox="1"/>
          <p:nvPr/>
        </p:nvSpPr>
        <p:spPr>
          <a:xfrm>
            <a:off x="146803" y="290390"/>
            <a:ext cx="11889651" cy="49244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chemeClr val="bg1"/>
                </a:solidFill>
                <a:latin typeface="Calibri Light"/>
                <a:ea typeface="Calibri Light"/>
                <a:cs typeface="Calibri"/>
              </a:rPr>
              <a:t>EMISSIONS REVIEW TOOL (EMRT) for GHG inventories</a:t>
            </a:r>
          </a:p>
        </p:txBody>
      </p:sp>
    </p:spTree>
    <p:extLst>
      <p:ext uri="{BB962C8B-B14F-4D97-AF65-F5344CB8AC3E}">
        <p14:creationId xmlns:p14="http://schemas.microsoft.com/office/powerpoint/2010/main" val="3262137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B6EC1F03-4B0D-242B-2C74-FB33D9E12512}"/>
              </a:ext>
            </a:extLst>
          </p:cNvPr>
          <p:cNvSpPr txBox="1"/>
          <p:nvPr/>
        </p:nvSpPr>
        <p:spPr>
          <a:xfrm>
            <a:off x="299478" y="191124"/>
            <a:ext cx="11889651" cy="49244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chemeClr val="bg1"/>
                </a:solidFill>
                <a:latin typeface="Calibri Light"/>
                <a:ea typeface="+mj-ea"/>
                <a:cs typeface="Calibri"/>
              </a:rPr>
              <a:t>Timeline for QA/QC of the GHGI submissions by the CPs under the Energy Community</a:t>
            </a:r>
            <a:endParaRPr lang="en-US" sz="2600" b="1">
              <a:solidFill>
                <a:schemeClr val="bg1"/>
              </a:solidFill>
              <a:latin typeface="Calibri Light"/>
              <a:ea typeface="Calibri Light"/>
              <a:cs typeface="Calibri"/>
            </a:endParaRPr>
          </a:p>
        </p:txBody>
      </p:sp>
      <p:grpSp>
        <p:nvGrpSpPr>
          <p:cNvPr id="3" name="Group 2">
            <a:extLst>
              <a:ext uri="{FF2B5EF4-FFF2-40B4-BE49-F238E27FC236}">
                <a16:creationId xmlns:a16="http://schemas.microsoft.com/office/drawing/2014/main" id="{4F710D17-101E-9796-03C6-1FD110D276F2}"/>
              </a:ext>
            </a:extLst>
          </p:cNvPr>
          <p:cNvGrpSpPr/>
          <p:nvPr/>
        </p:nvGrpSpPr>
        <p:grpSpPr>
          <a:xfrm>
            <a:off x="2141508" y="994287"/>
            <a:ext cx="8394758" cy="5674497"/>
            <a:chOff x="1963781" y="1030416"/>
            <a:chExt cx="8394758" cy="5674497"/>
          </a:xfrm>
        </p:grpSpPr>
        <p:sp>
          <p:nvSpPr>
            <p:cNvPr id="2" name="Rectangle 1">
              <a:extLst>
                <a:ext uri="{FF2B5EF4-FFF2-40B4-BE49-F238E27FC236}">
                  <a16:creationId xmlns:a16="http://schemas.microsoft.com/office/drawing/2014/main" id="{FED64B3C-6908-02F8-2B8C-6486CE3F465B}"/>
                </a:ext>
              </a:extLst>
            </p:cNvPr>
            <p:cNvSpPr/>
            <p:nvPr/>
          </p:nvSpPr>
          <p:spPr>
            <a:xfrm>
              <a:off x="1963781" y="1036098"/>
              <a:ext cx="8394758" cy="5066892"/>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595194A-987F-C866-1475-2789FFDFE86C}"/>
                </a:ext>
              </a:extLst>
            </p:cNvPr>
            <p:cNvSpPr txBox="1"/>
            <p:nvPr/>
          </p:nvSpPr>
          <p:spPr>
            <a:xfrm>
              <a:off x="8945468" y="1217140"/>
              <a:ext cx="1410729" cy="646331"/>
            </a:xfrm>
            <a:prstGeom prst="rect">
              <a:avLst/>
            </a:prstGeom>
            <a:solidFill>
              <a:schemeClr val="accent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EEA</a:t>
              </a:r>
            </a:p>
            <a:p>
              <a:pPr algn="ctr"/>
              <a:endParaRPr lang="en-US"/>
            </a:p>
          </p:txBody>
        </p:sp>
        <p:sp>
          <p:nvSpPr>
            <p:cNvPr id="7" name="TextBox 6">
              <a:extLst>
                <a:ext uri="{FF2B5EF4-FFF2-40B4-BE49-F238E27FC236}">
                  <a16:creationId xmlns:a16="http://schemas.microsoft.com/office/drawing/2014/main" id="{8DD00741-41F6-382A-82A8-7AD1C6AF2659}"/>
                </a:ext>
              </a:extLst>
            </p:cNvPr>
            <p:cNvSpPr txBox="1"/>
            <p:nvPr/>
          </p:nvSpPr>
          <p:spPr>
            <a:xfrm>
              <a:off x="1965548" y="1217140"/>
              <a:ext cx="1410729" cy="646331"/>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CPs</a:t>
              </a:r>
              <a:endParaRPr lang="en-US"/>
            </a:p>
            <a:p>
              <a:pPr algn="ctr"/>
              <a:endParaRPr lang="en-US"/>
            </a:p>
          </p:txBody>
        </p:sp>
        <p:sp>
          <p:nvSpPr>
            <p:cNvPr id="8" name="Arrow: Right 7">
              <a:extLst>
                <a:ext uri="{FF2B5EF4-FFF2-40B4-BE49-F238E27FC236}">
                  <a16:creationId xmlns:a16="http://schemas.microsoft.com/office/drawing/2014/main" id="{8F9BAF9A-2950-9F05-1387-1486DE262332}"/>
                </a:ext>
              </a:extLst>
            </p:cNvPr>
            <p:cNvSpPr/>
            <p:nvPr/>
          </p:nvSpPr>
          <p:spPr>
            <a:xfrm>
              <a:off x="3667348" y="1302677"/>
              <a:ext cx="4777945" cy="492073"/>
            </a:xfrm>
            <a:prstGeom prst="rightArrow">
              <a:avLst/>
            </a:prstGeom>
            <a:solidFill>
              <a:srgbClr val="EAF1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accent1"/>
                  </a:solidFill>
                </a:rPr>
                <a:t>15 January submissions</a:t>
              </a:r>
            </a:p>
          </p:txBody>
        </p:sp>
        <p:sp>
          <p:nvSpPr>
            <p:cNvPr id="9" name="TextBox 8">
              <a:extLst>
                <a:ext uri="{FF2B5EF4-FFF2-40B4-BE49-F238E27FC236}">
                  <a16:creationId xmlns:a16="http://schemas.microsoft.com/office/drawing/2014/main" id="{19DBB484-384E-059F-475B-11C5883338E0}"/>
                </a:ext>
              </a:extLst>
            </p:cNvPr>
            <p:cNvSpPr txBox="1"/>
            <p:nvPr/>
          </p:nvSpPr>
          <p:spPr>
            <a:xfrm>
              <a:off x="4382255" y="1030416"/>
              <a:ext cx="3444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QAQC from 15/01 to 27/2</a:t>
              </a:r>
              <a:endParaRPr lang="en-US">
                <a:solidFill>
                  <a:schemeClr val="bg1"/>
                </a:solidFill>
              </a:endParaRPr>
            </a:p>
          </p:txBody>
        </p:sp>
        <p:sp>
          <p:nvSpPr>
            <p:cNvPr id="10" name="TextBox 9">
              <a:extLst>
                <a:ext uri="{FF2B5EF4-FFF2-40B4-BE49-F238E27FC236}">
                  <a16:creationId xmlns:a16="http://schemas.microsoft.com/office/drawing/2014/main" id="{4A9525FA-90D6-9BE4-E368-0E172399222D}"/>
                </a:ext>
              </a:extLst>
            </p:cNvPr>
            <p:cNvSpPr txBox="1"/>
            <p:nvPr/>
          </p:nvSpPr>
          <p:spPr>
            <a:xfrm>
              <a:off x="8935308" y="2172042"/>
              <a:ext cx="1410729" cy="646331"/>
            </a:xfrm>
            <a:prstGeom prst="rect">
              <a:avLst/>
            </a:prstGeom>
            <a:solidFill>
              <a:schemeClr val="accent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EEA</a:t>
              </a:r>
            </a:p>
            <a:p>
              <a:pPr algn="ctr"/>
              <a:endParaRPr lang="en-US"/>
            </a:p>
          </p:txBody>
        </p:sp>
        <p:sp>
          <p:nvSpPr>
            <p:cNvPr id="12" name="TextBox 11">
              <a:extLst>
                <a:ext uri="{FF2B5EF4-FFF2-40B4-BE49-F238E27FC236}">
                  <a16:creationId xmlns:a16="http://schemas.microsoft.com/office/drawing/2014/main" id="{84C1FCC1-D3BE-239F-0348-0DA8F6CABE33}"/>
                </a:ext>
              </a:extLst>
            </p:cNvPr>
            <p:cNvSpPr txBox="1"/>
            <p:nvPr/>
          </p:nvSpPr>
          <p:spPr>
            <a:xfrm>
              <a:off x="1975845" y="2172040"/>
              <a:ext cx="1410729" cy="646331"/>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CPs</a:t>
              </a:r>
            </a:p>
            <a:p>
              <a:pPr algn="ctr"/>
              <a:endParaRPr lang="en-US"/>
            </a:p>
          </p:txBody>
        </p:sp>
        <p:sp>
          <p:nvSpPr>
            <p:cNvPr id="14" name="Arrow: Right 13">
              <a:extLst>
                <a:ext uri="{FF2B5EF4-FFF2-40B4-BE49-F238E27FC236}">
                  <a16:creationId xmlns:a16="http://schemas.microsoft.com/office/drawing/2014/main" id="{3AA8E566-1511-0132-00D8-90F5240F0269}"/>
                </a:ext>
              </a:extLst>
            </p:cNvPr>
            <p:cNvSpPr/>
            <p:nvPr/>
          </p:nvSpPr>
          <p:spPr>
            <a:xfrm rot="10800000">
              <a:off x="3664463" y="2236847"/>
              <a:ext cx="4777945" cy="492073"/>
            </a:xfrm>
            <a:prstGeom prst="rightArrow">
              <a:avLst/>
            </a:prstGeom>
            <a:solidFill>
              <a:srgbClr val="EAF1DE"/>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accent1"/>
                </a:solidFill>
              </a:endParaRPr>
            </a:p>
          </p:txBody>
        </p:sp>
        <p:sp>
          <p:nvSpPr>
            <p:cNvPr id="15" name="TextBox 14">
              <a:extLst>
                <a:ext uri="{FF2B5EF4-FFF2-40B4-BE49-F238E27FC236}">
                  <a16:creationId xmlns:a16="http://schemas.microsoft.com/office/drawing/2014/main" id="{27836B5B-3CAE-A476-52E4-221B068BC26C}"/>
                </a:ext>
              </a:extLst>
            </p:cNvPr>
            <p:cNvSpPr txBox="1"/>
            <p:nvPr/>
          </p:nvSpPr>
          <p:spPr>
            <a:xfrm>
              <a:off x="3952377" y="2308708"/>
              <a:ext cx="45720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accent1"/>
                  </a:solidFill>
                </a:rPr>
                <a:t>Observations uploaded into the EMRT</a:t>
              </a:r>
            </a:p>
          </p:txBody>
        </p:sp>
        <p:sp>
          <p:nvSpPr>
            <p:cNvPr id="16" name="TextBox 15">
              <a:extLst>
                <a:ext uri="{FF2B5EF4-FFF2-40B4-BE49-F238E27FC236}">
                  <a16:creationId xmlns:a16="http://schemas.microsoft.com/office/drawing/2014/main" id="{709EA034-F956-C19B-536E-18F1A7682E50}"/>
                </a:ext>
              </a:extLst>
            </p:cNvPr>
            <p:cNvSpPr txBox="1"/>
            <p:nvPr/>
          </p:nvSpPr>
          <p:spPr>
            <a:xfrm>
              <a:off x="1975845" y="3124608"/>
              <a:ext cx="1410729" cy="646331"/>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CPs</a:t>
              </a:r>
            </a:p>
            <a:p>
              <a:pPr algn="ctr"/>
              <a:endParaRPr lang="en-US"/>
            </a:p>
          </p:txBody>
        </p:sp>
        <p:sp>
          <p:nvSpPr>
            <p:cNvPr id="18" name="TextBox 17">
              <a:extLst>
                <a:ext uri="{FF2B5EF4-FFF2-40B4-BE49-F238E27FC236}">
                  <a16:creationId xmlns:a16="http://schemas.microsoft.com/office/drawing/2014/main" id="{A49D4A50-65B4-B609-AB10-FF3324C96BC3}"/>
                </a:ext>
              </a:extLst>
            </p:cNvPr>
            <p:cNvSpPr txBox="1"/>
            <p:nvPr/>
          </p:nvSpPr>
          <p:spPr>
            <a:xfrm>
              <a:off x="8945605" y="3205889"/>
              <a:ext cx="1410729" cy="646331"/>
            </a:xfrm>
            <a:prstGeom prst="rect">
              <a:avLst/>
            </a:prstGeom>
            <a:solidFill>
              <a:schemeClr val="accent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EEA</a:t>
              </a:r>
            </a:p>
            <a:p>
              <a:pPr algn="ctr"/>
              <a:endParaRPr lang="en-US"/>
            </a:p>
          </p:txBody>
        </p:sp>
        <p:sp>
          <p:nvSpPr>
            <p:cNvPr id="19" name="Arrow: Right 18">
              <a:extLst>
                <a:ext uri="{FF2B5EF4-FFF2-40B4-BE49-F238E27FC236}">
                  <a16:creationId xmlns:a16="http://schemas.microsoft.com/office/drawing/2014/main" id="{B61A2607-0393-766D-559F-4B89D33257EE}"/>
                </a:ext>
              </a:extLst>
            </p:cNvPr>
            <p:cNvSpPr/>
            <p:nvPr/>
          </p:nvSpPr>
          <p:spPr>
            <a:xfrm>
              <a:off x="3705652" y="3283189"/>
              <a:ext cx="4777945" cy="492073"/>
            </a:xfrm>
            <a:prstGeom prst="rightArrow">
              <a:avLst/>
            </a:prstGeom>
            <a:solidFill>
              <a:srgbClr val="EAF1DE"/>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accent1"/>
                  </a:solidFill>
                </a:rPr>
                <a:t>Responses to observations into the EMRT</a:t>
              </a:r>
            </a:p>
          </p:txBody>
        </p:sp>
        <p:sp>
          <p:nvSpPr>
            <p:cNvPr id="21" name="TextBox 20">
              <a:extLst>
                <a:ext uri="{FF2B5EF4-FFF2-40B4-BE49-F238E27FC236}">
                  <a16:creationId xmlns:a16="http://schemas.microsoft.com/office/drawing/2014/main" id="{6C067C18-545D-7B42-026C-E76AE72E2966}"/>
                </a:ext>
              </a:extLst>
            </p:cNvPr>
            <p:cNvSpPr txBox="1"/>
            <p:nvPr/>
          </p:nvSpPr>
          <p:spPr>
            <a:xfrm>
              <a:off x="5438483" y="1973099"/>
              <a:ext cx="12496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By 28/02</a:t>
              </a:r>
            </a:p>
          </p:txBody>
        </p:sp>
        <p:sp>
          <p:nvSpPr>
            <p:cNvPr id="22" name="TextBox 21">
              <a:extLst>
                <a:ext uri="{FF2B5EF4-FFF2-40B4-BE49-F238E27FC236}">
                  <a16:creationId xmlns:a16="http://schemas.microsoft.com/office/drawing/2014/main" id="{98D3159D-32E1-1876-EA07-A42FA0A7DED1}"/>
                </a:ext>
              </a:extLst>
            </p:cNvPr>
            <p:cNvSpPr txBox="1"/>
            <p:nvPr/>
          </p:nvSpPr>
          <p:spPr>
            <a:xfrm>
              <a:off x="4516258" y="3020265"/>
              <a:ext cx="3444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From 28/02 to 15/03</a:t>
              </a:r>
            </a:p>
          </p:txBody>
        </p:sp>
        <p:sp>
          <p:nvSpPr>
            <p:cNvPr id="23" name="TextBox 22">
              <a:extLst>
                <a:ext uri="{FF2B5EF4-FFF2-40B4-BE49-F238E27FC236}">
                  <a16:creationId xmlns:a16="http://schemas.microsoft.com/office/drawing/2014/main" id="{9A00D002-4CE7-4190-17B4-1E0F115B8C17}"/>
                </a:ext>
              </a:extLst>
            </p:cNvPr>
            <p:cNvSpPr txBox="1"/>
            <p:nvPr/>
          </p:nvSpPr>
          <p:spPr>
            <a:xfrm>
              <a:off x="8945605" y="4181249"/>
              <a:ext cx="1410729" cy="646331"/>
            </a:xfrm>
            <a:prstGeom prst="rect">
              <a:avLst/>
            </a:prstGeom>
            <a:solidFill>
              <a:schemeClr val="accent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EEA</a:t>
              </a:r>
            </a:p>
            <a:p>
              <a:pPr algn="ctr"/>
              <a:endParaRPr lang="en-US"/>
            </a:p>
          </p:txBody>
        </p:sp>
        <p:sp>
          <p:nvSpPr>
            <p:cNvPr id="24" name="TextBox 23">
              <a:extLst>
                <a:ext uri="{FF2B5EF4-FFF2-40B4-BE49-F238E27FC236}">
                  <a16:creationId xmlns:a16="http://schemas.microsoft.com/office/drawing/2014/main" id="{6CF156B4-FA79-F095-E9BA-0BAE13A381A1}"/>
                </a:ext>
              </a:extLst>
            </p:cNvPr>
            <p:cNvSpPr txBox="1"/>
            <p:nvPr/>
          </p:nvSpPr>
          <p:spPr>
            <a:xfrm>
              <a:off x="1975845" y="4181249"/>
              <a:ext cx="1410729" cy="646331"/>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CPs</a:t>
              </a:r>
            </a:p>
            <a:p>
              <a:pPr algn="ctr"/>
              <a:endParaRPr lang="en-US"/>
            </a:p>
          </p:txBody>
        </p:sp>
        <p:sp>
          <p:nvSpPr>
            <p:cNvPr id="26" name="Arrow: Right 25">
              <a:extLst>
                <a:ext uri="{FF2B5EF4-FFF2-40B4-BE49-F238E27FC236}">
                  <a16:creationId xmlns:a16="http://schemas.microsoft.com/office/drawing/2014/main" id="{03CD5B45-CAD9-3FDB-75C4-74994BE3684C}"/>
                </a:ext>
              </a:extLst>
            </p:cNvPr>
            <p:cNvSpPr/>
            <p:nvPr/>
          </p:nvSpPr>
          <p:spPr>
            <a:xfrm rot="10800000">
              <a:off x="3797915" y="4337770"/>
              <a:ext cx="4672112" cy="492073"/>
            </a:xfrm>
            <a:prstGeom prst="rightArrow">
              <a:avLst/>
            </a:prstGeom>
            <a:solidFill>
              <a:srgbClr val="EAF1DE"/>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chemeClr val="accent1"/>
                </a:solidFill>
              </a:endParaRPr>
            </a:p>
          </p:txBody>
        </p:sp>
        <p:sp>
          <p:nvSpPr>
            <p:cNvPr id="27" name="TextBox 26">
              <a:extLst>
                <a:ext uri="{FF2B5EF4-FFF2-40B4-BE49-F238E27FC236}">
                  <a16:creationId xmlns:a16="http://schemas.microsoft.com/office/drawing/2014/main" id="{32C49DB1-0269-AEB6-E70E-53CE4CFF14E4}"/>
                </a:ext>
              </a:extLst>
            </p:cNvPr>
            <p:cNvSpPr txBox="1"/>
            <p:nvPr/>
          </p:nvSpPr>
          <p:spPr>
            <a:xfrm>
              <a:off x="4216948" y="4395709"/>
              <a:ext cx="39091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1"/>
                  </a:solidFill>
                </a:rPr>
                <a:t>EEA follows up on CPs' responses</a:t>
              </a:r>
            </a:p>
          </p:txBody>
        </p:sp>
        <p:sp>
          <p:nvSpPr>
            <p:cNvPr id="28" name="TextBox 27">
              <a:extLst>
                <a:ext uri="{FF2B5EF4-FFF2-40B4-BE49-F238E27FC236}">
                  <a16:creationId xmlns:a16="http://schemas.microsoft.com/office/drawing/2014/main" id="{101B6449-C48D-C7BD-5E39-46CF47D91594}"/>
                </a:ext>
              </a:extLst>
            </p:cNvPr>
            <p:cNvSpPr txBox="1"/>
            <p:nvPr/>
          </p:nvSpPr>
          <p:spPr>
            <a:xfrm>
              <a:off x="4525388" y="4139718"/>
              <a:ext cx="3444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From 15/03 to 28/03</a:t>
              </a:r>
            </a:p>
          </p:txBody>
        </p:sp>
        <p:sp>
          <p:nvSpPr>
            <p:cNvPr id="29" name="TextBox 28">
              <a:extLst>
                <a:ext uri="{FF2B5EF4-FFF2-40B4-BE49-F238E27FC236}">
                  <a16:creationId xmlns:a16="http://schemas.microsoft.com/office/drawing/2014/main" id="{9F35020E-8F1F-CFD8-C82D-FBDB7A03BB01}"/>
                </a:ext>
              </a:extLst>
            </p:cNvPr>
            <p:cNvSpPr txBox="1"/>
            <p:nvPr/>
          </p:nvSpPr>
          <p:spPr>
            <a:xfrm>
              <a:off x="1965685" y="5146449"/>
              <a:ext cx="1410729" cy="646331"/>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CPs</a:t>
              </a:r>
            </a:p>
            <a:p>
              <a:pPr algn="ctr"/>
              <a:endParaRPr lang="en-US"/>
            </a:p>
          </p:txBody>
        </p:sp>
        <p:sp>
          <p:nvSpPr>
            <p:cNvPr id="30" name="TextBox 29">
              <a:extLst>
                <a:ext uri="{FF2B5EF4-FFF2-40B4-BE49-F238E27FC236}">
                  <a16:creationId xmlns:a16="http://schemas.microsoft.com/office/drawing/2014/main" id="{9BAD3762-D24E-37DC-5625-255DA0EADB17}"/>
                </a:ext>
              </a:extLst>
            </p:cNvPr>
            <p:cNvSpPr txBox="1"/>
            <p:nvPr/>
          </p:nvSpPr>
          <p:spPr>
            <a:xfrm>
              <a:off x="8935445" y="5227728"/>
              <a:ext cx="1410729" cy="646331"/>
            </a:xfrm>
            <a:prstGeom prst="rect">
              <a:avLst/>
            </a:prstGeom>
            <a:solidFill>
              <a:schemeClr val="accent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EEA</a:t>
              </a:r>
            </a:p>
            <a:p>
              <a:pPr algn="ctr"/>
              <a:endParaRPr lang="en-US"/>
            </a:p>
          </p:txBody>
        </p:sp>
        <p:sp>
          <p:nvSpPr>
            <p:cNvPr id="31" name="Arrow: Right 30">
              <a:extLst>
                <a:ext uri="{FF2B5EF4-FFF2-40B4-BE49-F238E27FC236}">
                  <a16:creationId xmlns:a16="http://schemas.microsoft.com/office/drawing/2014/main" id="{F081DCE7-519D-088D-FA68-1BB6C62BA2E4}"/>
                </a:ext>
              </a:extLst>
            </p:cNvPr>
            <p:cNvSpPr/>
            <p:nvPr/>
          </p:nvSpPr>
          <p:spPr>
            <a:xfrm>
              <a:off x="3757276" y="5150570"/>
              <a:ext cx="4777945" cy="492073"/>
            </a:xfrm>
            <a:prstGeom prst="rightArrow">
              <a:avLst/>
            </a:prstGeom>
            <a:solidFill>
              <a:srgbClr val="EAF1DE"/>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accent1"/>
                  </a:solidFill>
                </a:rPr>
                <a:t> Responses to follow up observations</a:t>
              </a:r>
            </a:p>
          </p:txBody>
        </p:sp>
        <p:sp>
          <p:nvSpPr>
            <p:cNvPr id="32" name="TextBox 31">
              <a:extLst>
                <a:ext uri="{FF2B5EF4-FFF2-40B4-BE49-F238E27FC236}">
                  <a16:creationId xmlns:a16="http://schemas.microsoft.com/office/drawing/2014/main" id="{C4B32CB3-32E0-51C3-D46A-FD6AF60B7863}"/>
                </a:ext>
              </a:extLst>
            </p:cNvPr>
            <p:cNvSpPr txBox="1"/>
            <p:nvPr/>
          </p:nvSpPr>
          <p:spPr>
            <a:xfrm>
              <a:off x="4567880" y="4959725"/>
              <a:ext cx="34442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Arial"/>
                  <a:cs typeface="Arial"/>
                </a:rPr>
                <a:t>From 30/03 to 07/04</a:t>
              </a:r>
            </a:p>
          </p:txBody>
        </p:sp>
        <p:sp>
          <p:nvSpPr>
            <p:cNvPr id="33" name="Rectangle: Top Corners Rounded 32">
              <a:extLst>
                <a:ext uri="{FF2B5EF4-FFF2-40B4-BE49-F238E27FC236}">
                  <a16:creationId xmlns:a16="http://schemas.microsoft.com/office/drawing/2014/main" id="{E645607A-8320-D137-1548-D2B3E4CBED99}"/>
                </a:ext>
              </a:extLst>
            </p:cNvPr>
            <p:cNvSpPr/>
            <p:nvPr/>
          </p:nvSpPr>
          <p:spPr>
            <a:xfrm>
              <a:off x="3757552" y="6222176"/>
              <a:ext cx="1266430" cy="482737"/>
            </a:xfrm>
            <a:prstGeom prst="round2Same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Resolved</a:t>
              </a:r>
            </a:p>
          </p:txBody>
        </p:sp>
        <p:sp>
          <p:nvSpPr>
            <p:cNvPr id="35" name="Rectangle: Top Corners Rounded 34">
              <a:extLst>
                <a:ext uri="{FF2B5EF4-FFF2-40B4-BE49-F238E27FC236}">
                  <a16:creationId xmlns:a16="http://schemas.microsoft.com/office/drawing/2014/main" id="{269F180A-2DBC-2941-09ED-C373A348B140}"/>
                </a:ext>
              </a:extLst>
            </p:cNvPr>
            <p:cNvSpPr/>
            <p:nvPr/>
          </p:nvSpPr>
          <p:spPr>
            <a:xfrm>
              <a:off x="5291711" y="6222176"/>
              <a:ext cx="1296910" cy="482737"/>
            </a:xfrm>
            <a:prstGeom prst="round2Same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Partially</a:t>
              </a:r>
            </a:p>
            <a:p>
              <a:pPr algn="ctr"/>
              <a:r>
                <a:rPr lang="en-US"/>
                <a:t>Resolved</a:t>
              </a:r>
            </a:p>
          </p:txBody>
        </p:sp>
        <p:sp>
          <p:nvSpPr>
            <p:cNvPr id="36" name="Rectangle: Top Corners Rounded 35">
              <a:extLst>
                <a:ext uri="{FF2B5EF4-FFF2-40B4-BE49-F238E27FC236}">
                  <a16:creationId xmlns:a16="http://schemas.microsoft.com/office/drawing/2014/main" id="{D96786E3-DE5A-28A0-A545-A71FB274D83E}"/>
                </a:ext>
              </a:extLst>
            </p:cNvPr>
            <p:cNvSpPr/>
            <p:nvPr/>
          </p:nvSpPr>
          <p:spPr>
            <a:xfrm>
              <a:off x="6785230" y="6222176"/>
              <a:ext cx="1408670" cy="482737"/>
            </a:xfrm>
            <a:prstGeom prst="round2Same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Unresolved</a:t>
              </a:r>
            </a:p>
          </p:txBody>
        </p:sp>
        <p:sp>
          <p:nvSpPr>
            <p:cNvPr id="37" name="TextBox 36">
              <a:extLst>
                <a:ext uri="{FF2B5EF4-FFF2-40B4-BE49-F238E27FC236}">
                  <a16:creationId xmlns:a16="http://schemas.microsoft.com/office/drawing/2014/main" id="{960B8A10-F138-93D2-D2A4-A933CBF0055C}"/>
                </a:ext>
              </a:extLst>
            </p:cNvPr>
            <p:cNvSpPr txBox="1"/>
            <p:nvPr/>
          </p:nvSpPr>
          <p:spPr>
            <a:xfrm>
              <a:off x="4514472" y="5678615"/>
              <a:ext cx="3257927" cy="369332"/>
            </a:xfrm>
            <a:prstGeom prst="rect">
              <a:avLst/>
            </a:prstGeom>
            <a:solidFill>
              <a:schemeClr val="accent2">
                <a:lumMod val="60000"/>
                <a:lumOff val="40000"/>
              </a:schemeClr>
            </a:solidFill>
            <a:ln>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33333"/>
                  </a:solidFill>
                  <a:latin typeface="Arial"/>
                  <a:cs typeface="Arial"/>
                </a:rPr>
                <a:t>Final conclusions by 20/04 </a:t>
              </a:r>
              <a:endParaRPr lang="en-US"/>
            </a:p>
          </p:txBody>
        </p:sp>
      </p:grpSp>
    </p:spTree>
    <p:extLst>
      <p:ext uri="{BB962C8B-B14F-4D97-AF65-F5344CB8AC3E}">
        <p14:creationId xmlns:p14="http://schemas.microsoft.com/office/powerpoint/2010/main" val="2268102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99035-F304-E0F2-A24A-5F54B169ABBC}"/>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13D3AAB1-30A3-449F-FC74-5F69C022DFF3}"/>
              </a:ext>
            </a:extLst>
          </p:cNvPr>
          <p:cNvSpPr txBox="1"/>
          <p:nvPr/>
        </p:nvSpPr>
        <p:spPr>
          <a:xfrm>
            <a:off x="302349" y="191124"/>
            <a:ext cx="11889651" cy="129266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dirty="0">
                <a:solidFill>
                  <a:schemeClr val="bg1"/>
                </a:solidFill>
                <a:latin typeface="Calibri Light"/>
                <a:ea typeface="+mj-ea"/>
                <a:cs typeface="Calibri"/>
              </a:rPr>
              <a:t>EEA support towards the Energy Community Contracting Parties  with the Implementation of the reporting requirements of the regulation 2018/1999 The Energy Union Governance Regulation.</a:t>
            </a:r>
            <a:endParaRPr lang="en-US" sz="2600" b="1" dirty="0">
              <a:solidFill>
                <a:schemeClr val="bg1"/>
              </a:solidFill>
              <a:latin typeface="Calibri Light"/>
              <a:ea typeface="Calibri Light"/>
              <a:cs typeface="Calibri"/>
            </a:endParaRPr>
          </a:p>
        </p:txBody>
      </p:sp>
      <p:sp>
        <p:nvSpPr>
          <p:cNvPr id="4" name="TextBox 3">
            <a:extLst>
              <a:ext uri="{FF2B5EF4-FFF2-40B4-BE49-F238E27FC236}">
                <a16:creationId xmlns:a16="http://schemas.microsoft.com/office/drawing/2014/main" id="{27DA8A69-DC1C-784E-EA0D-57680BEACFB3}"/>
              </a:ext>
            </a:extLst>
          </p:cNvPr>
          <p:cNvSpPr txBox="1"/>
          <p:nvPr/>
        </p:nvSpPr>
        <p:spPr>
          <a:xfrm>
            <a:off x="1215189" y="2418347"/>
            <a:ext cx="9300411" cy="2585323"/>
          </a:xfrm>
          <a:prstGeom prst="rect">
            <a:avLst/>
          </a:prstGeom>
          <a:noFill/>
        </p:spPr>
        <p:txBody>
          <a:bodyPr wrap="square" rtlCol="0">
            <a:spAutoFit/>
          </a:bodyPr>
          <a:lstStyle/>
          <a:p>
            <a:r>
              <a:rPr lang="en-US" sz="2400" dirty="0">
                <a:solidFill>
                  <a:schemeClr val="bg1"/>
                </a:solidFill>
              </a:rPr>
              <a:t>GHG Inventory Component Part 1 – Started in Oct 2024- end of September 2025</a:t>
            </a:r>
          </a:p>
          <a:p>
            <a:endParaRPr lang="en-US" sz="2400" dirty="0">
              <a:solidFill>
                <a:schemeClr val="bg1"/>
              </a:solidFill>
            </a:endParaRPr>
          </a:p>
          <a:p>
            <a:endParaRPr lang="en-US" sz="2400" dirty="0">
              <a:solidFill>
                <a:schemeClr val="bg1"/>
              </a:solidFill>
            </a:endParaRPr>
          </a:p>
          <a:p>
            <a:r>
              <a:rPr lang="en-US" sz="2400" dirty="0">
                <a:solidFill>
                  <a:schemeClr val="bg1"/>
                </a:solidFill>
              </a:rPr>
              <a:t>GHG Inventory Component Part 2 – 1</a:t>
            </a:r>
            <a:r>
              <a:rPr lang="en-US" sz="2400" baseline="30000" dirty="0">
                <a:solidFill>
                  <a:schemeClr val="bg1"/>
                </a:solidFill>
              </a:rPr>
              <a:t>st</a:t>
            </a:r>
            <a:r>
              <a:rPr lang="en-US" sz="2400" dirty="0">
                <a:solidFill>
                  <a:schemeClr val="bg1"/>
                </a:solidFill>
              </a:rPr>
              <a:t> October – end of December 2025</a:t>
            </a:r>
          </a:p>
          <a:p>
            <a:r>
              <a:rPr lang="en-US" dirty="0">
                <a:solidFill>
                  <a:schemeClr val="bg1"/>
                </a:solidFill>
              </a:rPr>
              <a:t> </a:t>
            </a:r>
            <a:endParaRPr lang="en-DK" dirty="0">
              <a:solidFill>
                <a:schemeClr val="bg1"/>
              </a:solidFill>
            </a:endParaRPr>
          </a:p>
        </p:txBody>
      </p:sp>
    </p:spTree>
    <p:extLst>
      <p:ext uri="{BB962C8B-B14F-4D97-AF65-F5344CB8AC3E}">
        <p14:creationId xmlns:p14="http://schemas.microsoft.com/office/powerpoint/2010/main" val="1126539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 butterfly on a plant&#10;&#10;Description automatically generated with medium confidence">
            <a:extLst>
              <a:ext uri="{FF2B5EF4-FFF2-40B4-BE49-F238E27FC236}">
                <a16:creationId xmlns:a16="http://schemas.microsoft.com/office/drawing/2014/main" id="{D8C05B40-025C-ACC5-C348-6C21A213C3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0" y="0"/>
            <a:ext cx="12192000" cy="71044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541E78A-2289-4EF7-A49D-B93FEF19D767}"/>
              </a:ext>
            </a:extLst>
          </p:cNvPr>
          <p:cNvSpPr txBox="1"/>
          <p:nvPr/>
        </p:nvSpPr>
        <p:spPr>
          <a:xfrm rot="-5400000">
            <a:off x="-896353" y="5191996"/>
            <a:ext cx="2536723" cy="215444"/>
          </a:xfrm>
          <a:prstGeom prst="rect">
            <a:avLst/>
          </a:prstGeom>
          <a:noFill/>
        </p:spPr>
        <p:txBody>
          <a:bodyPr wrap="square" rtlCol="0">
            <a:spAutoFit/>
          </a:bodyPr>
          <a:lstStyle/>
          <a:p>
            <a:r>
              <a:rPr lang="en-US" sz="800">
                <a:solidFill>
                  <a:schemeClr val="bg1"/>
                </a:solidFill>
              </a:rPr>
              <a:t>© Dominika Hrašková, REDISCOVER Nature/EEA</a:t>
            </a:r>
            <a:endParaRPr lang="en-DK" sz="800">
              <a:solidFill>
                <a:schemeClr val="bg1"/>
              </a:solidFill>
            </a:endParaRPr>
          </a:p>
        </p:txBody>
      </p:sp>
      <p:sp>
        <p:nvSpPr>
          <p:cNvPr id="3" name="TextBox 2">
            <a:extLst>
              <a:ext uri="{FF2B5EF4-FFF2-40B4-BE49-F238E27FC236}">
                <a16:creationId xmlns:a16="http://schemas.microsoft.com/office/drawing/2014/main" id="{FDD99ECD-6A7C-4A78-BE9B-E919716CEEDC}"/>
              </a:ext>
            </a:extLst>
          </p:cNvPr>
          <p:cNvSpPr txBox="1"/>
          <p:nvPr/>
        </p:nvSpPr>
        <p:spPr>
          <a:xfrm>
            <a:off x="56147" y="4661081"/>
            <a:ext cx="12079706" cy="1277273"/>
          </a:xfrm>
          <a:prstGeom prst="rect">
            <a:avLst/>
          </a:prstGeom>
          <a:solidFill>
            <a:srgbClr val="316300">
              <a:alpha val="16000"/>
            </a:srgbClr>
          </a:solidFill>
        </p:spPr>
        <p:txBody>
          <a:bodyPr wrap="square" lIns="91440" tIns="45720" rIns="91440" bIns="45720" rtlCol="0" anchor="t">
            <a:spAutoFit/>
          </a:bodyPr>
          <a:lstStyle>
            <a:defPPr>
              <a:defRPr lang="en-US"/>
            </a:defPPr>
            <a:lvl1pPr algn="r">
              <a:defRPr sz="3600" b="1">
                <a:solidFill>
                  <a:schemeClr val="bg1"/>
                </a:solidFill>
              </a:defRPr>
            </a:lvl1pPr>
          </a:lstStyle>
          <a:p>
            <a:pPr>
              <a:spcBef>
                <a:spcPts val="600"/>
              </a:spcBef>
            </a:pPr>
            <a:r>
              <a:rPr lang="en-GB" sz="2400">
                <a:ea typeface="+mn-lt"/>
                <a:cs typeface="+mn-lt"/>
                <a:hlinkClick r:id="rId4">
                  <a:extLst>
                    <a:ext uri="{A12FA001-AC4F-418D-AE19-62706E023703}">
                      <ahyp:hlinkClr xmlns:ahyp="http://schemas.microsoft.com/office/drawing/2018/hyperlinkcolor" val="tx"/>
                    </a:ext>
                  </a:extLst>
                </a:hlinkClick>
              </a:rPr>
              <a:t>Louise.Attard@eea.europa.eu</a:t>
            </a:r>
            <a:endParaRPr lang="en-GB" sz="2400">
              <a:ea typeface="+mn-lt"/>
              <a:cs typeface="+mn-lt"/>
            </a:endParaRPr>
          </a:p>
          <a:p>
            <a:pPr>
              <a:spcBef>
                <a:spcPts val="600"/>
              </a:spcBef>
            </a:pPr>
            <a:r>
              <a:rPr lang="en-GB" sz="2400">
                <a:latin typeface="Calibri"/>
                <a:cs typeface="Calibri"/>
              </a:rPr>
              <a:t>European Environment Agency</a:t>
            </a:r>
            <a:endParaRPr lang="en-GB" sz="2400">
              <a:latin typeface="Calibri"/>
              <a:ea typeface="Calibri"/>
              <a:cs typeface="Calibri"/>
            </a:endParaRPr>
          </a:p>
          <a:p>
            <a:endParaRPr lang="en-DK" sz="2400"/>
          </a:p>
        </p:txBody>
      </p:sp>
      <p:sp>
        <p:nvSpPr>
          <p:cNvPr id="4" name="TextBox 3">
            <a:extLst>
              <a:ext uri="{FF2B5EF4-FFF2-40B4-BE49-F238E27FC236}">
                <a16:creationId xmlns:a16="http://schemas.microsoft.com/office/drawing/2014/main" id="{F6736D67-ACC9-A22F-CF6B-85091689BB06}"/>
              </a:ext>
            </a:extLst>
          </p:cNvPr>
          <p:cNvSpPr txBox="1"/>
          <p:nvPr/>
        </p:nvSpPr>
        <p:spPr>
          <a:xfrm>
            <a:off x="7949865" y="2197838"/>
            <a:ext cx="3648577" cy="677108"/>
          </a:xfrm>
          <a:prstGeom prst="rect">
            <a:avLst/>
          </a:prstGeom>
          <a:noFill/>
        </p:spPr>
        <p:txBody>
          <a:bodyPr wrap="square">
            <a:spAutoFit/>
          </a:bodyPr>
          <a:lstStyle/>
          <a:p>
            <a:pPr>
              <a:spcBef>
                <a:spcPts val="600"/>
              </a:spcBef>
            </a:pPr>
            <a:r>
              <a:rPr lang="en-GB" sz="3800" b="1">
                <a:solidFill>
                  <a:schemeClr val="bg1"/>
                </a:solidFill>
              </a:rPr>
              <a:t>Thank you!</a:t>
            </a:r>
          </a:p>
        </p:txBody>
      </p:sp>
    </p:spTree>
    <p:extLst>
      <p:ext uri="{BB962C8B-B14F-4D97-AF65-F5344CB8AC3E}">
        <p14:creationId xmlns:p14="http://schemas.microsoft.com/office/powerpoint/2010/main" val="3209547502"/>
      </p:ext>
    </p:extLst>
  </p:cSld>
  <p:clrMapOvr>
    <a:masterClrMapping/>
  </p:clrMapOvr>
</p:sld>
</file>

<file path=ppt/theme/theme1.xml><?xml version="1.0" encoding="utf-8"?>
<a:theme xmlns:a="http://schemas.openxmlformats.org/drawingml/2006/main" name="19_Sections">
  <a:themeElements>
    <a:clrScheme name="Personnalisée 3">
      <a:dk1>
        <a:srgbClr val="113A6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pen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1" id="{9ECA10B4-0905-4DA5-9676-4B43889D43D7}" vid="{05B487F7-92E3-4DC6-A0B1-54123BD127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E05AF5-CFE3-4E91-A4BB-E1C1825FE7C6}">
  <ds:schemaRefs>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340712eb-23a5-460f-9036-c6d10688f9a1"/>
    <ds:schemaRef ds:uri="1403fb54-47f0-4125-8d87-6a6e13582a5f"/>
  </ds:schemaRefs>
</ds:datastoreItem>
</file>

<file path=customXml/itemProps2.xml><?xml version="1.0" encoding="utf-8"?>
<ds:datastoreItem xmlns:ds="http://schemas.openxmlformats.org/officeDocument/2006/customXml" ds:itemID="{E5ED00CC-8554-4353-984B-237ACEEA0975}"/>
</file>

<file path=customXml/itemProps3.xml><?xml version="1.0" encoding="utf-8"?>
<ds:datastoreItem xmlns:ds="http://schemas.openxmlformats.org/officeDocument/2006/customXml" ds:itemID="{9608A4A5-B205-4A67-A6F4-5C34BEB9D8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148</TotalTime>
  <Words>1344</Words>
  <Application>Microsoft Office PowerPoint</Application>
  <PresentationFormat>Widescreen</PresentationFormat>
  <Paragraphs>143</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Calibri</vt:lpstr>
      <vt:lpstr>Calibri Light</vt:lpstr>
      <vt:lpstr>Open Sans Semibold</vt:lpstr>
      <vt:lpstr>Wingdings</vt:lpstr>
      <vt:lpstr>19_Sections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Magdalena Jozwicka</dc:creator>
  <cp:lastModifiedBy>Louise Attard</cp:lastModifiedBy>
  <cp:revision>11</cp:revision>
  <cp:lastPrinted>2024-05-16T19:51:00Z</cp:lastPrinted>
  <dcterms:created xsi:type="dcterms:W3CDTF">2021-06-23T06:04:03Z</dcterms:created>
  <dcterms:modified xsi:type="dcterms:W3CDTF">2025-10-07T08:37:03Z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187600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