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20_BA4D6395.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1.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0"/>
  </p:notesMasterIdLst>
  <p:sldIdLst>
    <p:sldId id="1992" r:id="rId5"/>
    <p:sldId id="1810" r:id="rId6"/>
    <p:sldId id="1993" r:id="rId7"/>
    <p:sldId id="2043" r:id="rId8"/>
    <p:sldId id="1668" r:id="rId9"/>
    <p:sldId id="1650" r:id="rId10"/>
    <p:sldId id="1732" r:id="rId11"/>
    <p:sldId id="2007" r:id="rId12"/>
    <p:sldId id="1813" r:id="rId13"/>
    <p:sldId id="2008" r:id="rId14"/>
    <p:sldId id="2009" r:id="rId15"/>
    <p:sldId id="2010" r:id="rId16"/>
    <p:sldId id="2026" r:id="rId17"/>
    <p:sldId id="2011" r:id="rId18"/>
    <p:sldId id="1977" r:id="rId19"/>
    <p:sldId id="1784" r:id="rId20"/>
    <p:sldId id="2015" r:id="rId21"/>
    <p:sldId id="1822" r:id="rId22"/>
    <p:sldId id="1982" r:id="rId23"/>
    <p:sldId id="1790" r:id="rId24"/>
    <p:sldId id="1785" r:id="rId25"/>
    <p:sldId id="2016" r:id="rId26"/>
    <p:sldId id="2046" r:id="rId27"/>
    <p:sldId id="1787" r:id="rId28"/>
    <p:sldId id="2044" r:id="rId29"/>
    <p:sldId id="1821" r:id="rId30"/>
    <p:sldId id="1824" r:id="rId31"/>
    <p:sldId id="1820" r:id="rId32"/>
    <p:sldId id="2017" r:id="rId33"/>
    <p:sldId id="2018" r:id="rId34"/>
    <p:sldId id="2019" r:id="rId35"/>
    <p:sldId id="2020" r:id="rId36"/>
    <p:sldId id="1961" r:id="rId37"/>
    <p:sldId id="1962" r:id="rId38"/>
    <p:sldId id="1854" r:id="rId39"/>
    <p:sldId id="1800" r:id="rId40"/>
    <p:sldId id="1772" r:id="rId41"/>
    <p:sldId id="1798" r:id="rId42"/>
    <p:sldId id="1799" r:id="rId43"/>
    <p:sldId id="2045" r:id="rId44"/>
    <p:sldId id="1845" r:id="rId45"/>
    <p:sldId id="1963" r:id="rId46"/>
    <p:sldId id="1964" r:id="rId47"/>
    <p:sldId id="1965" r:id="rId48"/>
    <p:sldId id="1876" r:id="rId49"/>
    <p:sldId id="1926" r:id="rId50"/>
    <p:sldId id="1927" r:id="rId51"/>
    <p:sldId id="1928" r:id="rId52"/>
    <p:sldId id="1929" r:id="rId53"/>
    <p:sldId id="1985" r:id="rId54"/>
    <p:sldId id="1937" r:id="rId55"/>
    <p:sldId id="1940" r:id="rId56"/>
    <p:sldId id="2025" r:id="rId57"/>
    <p:sldId id="2041" r:id="rId58"/>
    <p:sldId id="1795" r:id="rId59"/>
    <p:sldId id="2023" r:id="rId60"/>
    <p:sldId id="1809" r:id="rId61"/>
    <p:sldId id="256" r:id="rId62"/>
    <p:sldId id="1894" r:id="rId63"/>
    <p:sldId id="1919" r:id="rId64"/>
    <p:sldId id="1988" r:id="rId65"/>
    <p:sldId id="1989" r:id="rId66"/>
    <p:sldId id="1986" r:id="rId67"/>
    <p:sldId id="1987" r:id="rId68"/>
    <p:sldId id="1990" r:id="rId69"/>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051016-E140-B8FD-76CD-D074E4D14C64}" name="Aneliya Nikolova" initials="AN" userId="S::aneliya.nikolova@eea.europa.eu::5ff52142-1b9c-430d-b975-3d80c1b68938" providerId="AD"/>
  <p188:author id="{6F018823-1834-2C18-11F0-6F8E01AD1C51}" name="Marta Giulia Baldi" initials="MB" userId="S::Marta.Baldi@eea.europa.eu::6dc62c41-b90b-4b5d-9f07-096888b693de" providerId="AD"/>
  <p188:author id="{3E69E473-1978-4CC8-21F7-F90683C2593E}" name="Marta Giulia Baldi" initials="MB" userId="S::marta.baldi@eea.europa.eu::6dc62c41-b90b-4b5d-9f07-096888b693de" providerId="AD"/>
  <p188:author id="{9FE818CC-EC46-FDD7-8082-D70BFC352BF6}" name="Per Wretlind" initials="" userId="S::Per.Wretlind@eea.europa.eu::bcb024af-6ead-48e3-9a4b-cde6c6f63c4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16300"/>
    <a:srgbClr val="908669"/>
    <a:srgbClr val="6D6DC0"/>
    <a:srgbClr val="FFC000"/>
    <a:srgbClr val="3B7D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9E5EA8-5849-F681-C6BC-109CFA4D0EF8}" v="1" dt="2025-10-09T08:54:55.040"/>
    <p1510:client id="{8B816373-CFF6-CD1C-F0CB-2B572B810C84}" v="2" dt="2025-10-07T14:33:22.236"/>
    <p1510:client id="{B3109843-AD9A-07C0-B8D2-6016137A678D}" v="282" dt="2025-10-07T13:59:16.453"/>
    <p1510:client id="{C22B74B1-17EF-72DC-6FC4-72F67718C964}" v="16" dt="2025-10-09T06:50:48.0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66" autoAdjust="0"/>
    <p:restoredTop sz="93290" autoAdjust="0"/>
  </p:normalViewPr>
  <p:slideViewPr>
    <p:cSldViewPr snapToGrid="0">
      <p:cViewPr varScale="1">
        <p:scale>
          <a:sx n="82" d="100"/>
          <a:sy n="82" d="100"/>
        </p:scale>
        <p:origin x="-84" y="8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a Giulia Baldi" userId="S::marta.baldi@eea.europa.eu::6dc62c41-b90b-4b5d-9f07-096888b693de" providerId="AD" clId="Web-{8B816373-CFF6-CD1C-F0CB-2B572B810C84}"/>
    <pc:docChg chg="mod">
      <pc:chgData name="Marta Giulia Baldi" userId="S::marta.baldi@eea.europa.eu::6dc62c41-b90b-4b5d-9f07-096888b693de" providerId="AD" clId="Web-{8B816373-CFF6-CD1C-F0CB-2B572B810C84}" dt="2025-10-07T14:33:22.236" v="0"/>
      <pc:docMkLst>
        <pc:docMk/>
      </pc:docMkLst>
    </pc:docChg>
  </pc:docChgLst>
  <pc:docChgLst>
    <pc:chgData name="Aneliya Nikolova" userId="S::aneliya.nikolova@eea.europa.eu::5ff52142-1b9c-430d-b975-3d80c1b68938" providerId="AD" clId="Web-{5F9E5EA8-5849-F681-C6BC-109CFA4D0EF8}"/>
    <pc:docChg chg="modSld">
      <pc:chgData name="Aneliya Nikolova" userId="S::aneliya.nikolova@eea.europa.eu::5ff52142-1b9c-430d-b975-3d80c1b68938" providerId="AD" clId="Web-{5F9E5EA8-5849-F681-C6BC-109CFA4D0EF8}" dt="2025-10-09T08:54:55.040" v="0"/>
      <pc:docMkLst>
        <pc:docMk/>
      </pc:docMkLst>
      <pc:sldChg chg="mod modShow">
        <pc:chgData name="Aneliya Nikolova" userId="S::aneliya.nikolova@eea.europa.eu::5ff52142-1b9c-430d-b975-3d80c1b68938" providerId="AD" clId="Web-{5F9E5EA8-5849-F681-C6BC-109CFA4D0EF8}" dt="2025-10-09T08:54:55.040" v="0"/>
        <pc:sldMkLst>
          <pc:docMk/>
          <pc:sldMk cId="644217776" sldId="1993"/>
        </pc:sldMkLst>
      </pc:sldChg>
    </pc:docChg>
  </pc:docChgLst>
  <pc:docChgLst>
    <pc:chgData name="Aneliya Nikolova" userId="S::aneliya.nikolova@eea.europa.eu::5ff52142-1b9c-430d-b975-3d80c1b68938" providerId="AD" clId="Web-{C22B74B1-17EF-72DC-6FC4-72F67718C964}"/>
    <pc:docChg chg="modSld">
      <pc:chgData name="Aneliya Nikolova" userId="S::aneliya.nikolova@eea.europa.eu::5ff52142-1b9c-430d-b975-3d80c1b68938" providerId="AD" clId="Web-{C22B74B1-17EF-72DC-6FC4-72F67718C964}" dt="2025-10-09T06:50:48.047" v="14"/>
      <pc:docMkLst>
        <pc:docMk/>
      </pc:docMkLst>
      <pc:sldChg chg="mod modShow">
        <pc:chgData name="Aneliya Nikolova" userId="S::aneliya.nikolova@eea.europa.eu::5ff52142-1b9c-430d-b975-3d80c1b68938" providerId="AD" clId="Web-{C22B74B1-17EF-72DC-6FC4-72F67718C964}" dt="2025-10-09T06:49:15.157" v="0"/>
        <pc:sldMkLst>
          <pc:docMk/>
          <pc:sldMk cId="566942422" sldId="1787"/>
        </pc:sldMkLst>
      </pc:sldChg>
      <pc:sldChg chg="mod modShow">
        <pc:chgData name="Aneliya Nikolova" userId="S::aneliya.nikolova@eea.europa.eu::5ff52142-1b9c-430d-b975-3d80c1b68938" providerId="AD" clId="Web-{C22B74B1-17EF-72DC-6FC4-72F67718C964}" dt="2025-10-09T06:50:31.013" v="12"/>
        <pc:sldMkLst>
          <pc:docMk/>
          <pc:sldMk cId="3188239985" sldId="1798"/>
        </pc:sldMkLst>
      </pc:sldChg>
      <pc:sldChg chg="mod modShow">
        <pc:chgData name="Aneliya Nikolova" userId="S::aneliya.nikolova@eea.europa.eu::5ff52142-1b9c-430d-b975-3d80c1b68938" providerId="AD" clId="Web-{C22B74B1-17EF-72DC-6FC4-72F67718C964}" dt="2025-10-09T06:50:34.389" v="13"/>
        <pc:sldMkLst>
          <pc:docMk/>
          <pc:sldMk cId="322708229" sldId="1799"/>
        </pc:sldMkLst>
      </pc:sldChg>
      <pc:sldChg chg="mod modShow">
        <pc:chgData name="Aneliya Nikolova" userId="S::aneliya.nikolova@eea.europa.eu::5ff52142-1b9c-430d-b975-3d80c1b68938" providerId="AD" clId="Web-{C22B74B1-17EF-72DC-6FC4-72F67718C964}" dt="2025-10-09T06:49:43.428" v="4"/>
        <pc:sldMkLst>
          <pc:docMk/>
          <pc:sldMk cId="775600191" sldId="1820"/>
        </pc:sldMkLst>
      </pc:sldChg>
      <pc:sldChg chg="mod modShow">
        <pc:chgData name="Aneliya Nikolova" userId="S::aneliya.nikolova@eea.europa.eu::5ff52142-1b9c-430d-b975-3d80c1b68938" providerId="AD" clId="Web-{C22B74B1-17EF-72DC-6FC4-72F67718C964}" dt="2025-10-09T06:49:36.114" v="3"/>
        <pc:sldMkLst>
          <pc:docMk/>
          <pc:sldMk cId="1299377937" sldId="1821"/>
        </pc:sldMkLst>
      </pc:sldChg>
      <pc:sldChg chg="mod modShow">
        <pc:chgData name="Aneliya Nikolova" userId="S::aneliya.nikolova@eea.europa.eu::5ff52142-1b9c-430d-b975-3d80c1b68938" providerId="AD" clId="Web-{C22B74B1-17EF-72DC-6FC4-72F67718C964}" dt="2025-10-09T06:49:35.942" v="1"/>
        <pc:sldMkLst>
          <pc:docMk/>
          <pc:sldMk cId="3125633941" sldId="1824"/>
        </pc:sldMkLst>
      </pc:sldChg>
      <pc:sldChg chg="mod modShow">
        <pc:chgData name="Aneliya Nikolova" userId="S::aneliya.nikolova@eea.europa.eu::5ff52142-1b9c-430d-b975-3d80c1b68938" providerId="AD" clId="Web-{C22B74B1-17EF-72DC-6FC4-72F67718C964}" dt="2025-10-09T06:50:48.047" v="14"/>
        <pc:sldMkLst>
          <pc:docMk/>
          <pc:sldMk cId="1276767966" sldId="1845"/>
        </pc:sldMkLst>
      </pc:sldChg>
      <pc:sldChg chg="mod modShow">
        <pc:chgData name="Aneliya Nikolova" userId="S::aneliya.nikolova@eea.europa.eu::5ff52142-1b9c-430d-b975-3d80c1b68938" providerId="AD" clId="Web-{C22B74B1-17EF-72DC-6FC4-72F67718C964}" dt="2025-10-09T06:50:19.730" v="11"/>
        <pc:sldMkLst>
          <pc:docMk/>
          <pc:sldMk cId="2156722923" sldId="1854"/>
        </pc:sldMkLst>
      </pc:sldChg>
      <pc:sldChg chg="mod modShow">
        <pc:chgData name="Aneliya Nikolova" userId="S::aneliya.nikolova@eea.europa.eu::5ff52142-1b9c-430d-b975-3d80c1b68938" providerId="AD" clId="Web-{C22B74B1-17EF-72DC-6FC4-72F67718C964}" dt="2025-10-09T06:49:55.789" v="9"/>
        <pc:sldMkLst>
          <pc:docMk/>
          <pc:sldMk cId="1691066861" sldId="1961"/>
        </pc:sldMkLst>
      </pc:sldChg>
      <pc:sldChg chg="mod modShow">
        <pc:chgData name="Aneliya Nikolova" userId="S::aneliya.nikolova@eea.europa.eu::5ff52142-1b9c-430d-b975-3d80c1b68938" providerId="AD" clId="Web-{C22B74B1-17EF-72DC-6FC4-72F67718C964}" dt="2025-10-09T06:50:19.699" v="10"/>
        <pc:sldMkLst>
          <pc:docMk/>
          <pc:sldMk cId="1036417373" sldId="1962"/>
        </pc:sldMkLst>
      </pc:sldChg>
      <pc:sldChg chg="mod modShow">
        <pc:chgData name="Aneliya Nikolova" userId="S::aneliya.nikolova@eea.europa.eu::5ff52142-1b9c-430d-b975-3d80c1b68938" providerId="AD" clId="Web-{C22B74B1-17EF-72DC-6FC4-72F67718C964}" dt="2025-10-09T06:49:43.443" v="5"/>
        <pc:sldMkLst>
          <pc:docMk/>
          <pc:sldMk cId="3943695830" sldId="2017"/>
        </pc:sldMkLst>
      </pc:sldChg>
      <pc:sldChg chg="mod modShow">
        <pc:chgData name="Aneliya Nikolova" userId="S::aneliya.nikolova@eea.europa.eu::5ff52142-1b9c-430d-b975-3d80c1b68938" providerId="AD" clId="Web-{C22B74B1-17EF-72DC-6FC4-72F67718C964}" dt="2025-10-09T06:49:55.731" v="8"/>
        <pc:sldMkLst>
          <pc:docMk/>
          <pc:sldMk cId="3765195755" sldId="2018"/>
        </pc:sldMkLst>
      </pc:sldChg>
      <pc:sldChg chg="mod modShow">
        <pc:chgData name="Aneliya Nikolova" userId="S::aneliya.nikolova@eea.europa.eu::5ff52142-1b9c-430d-b975-3d80c1b68938" providerId="AD" clId="Web-{C22B74B1-17EF-72DC-6FC4-72F67718C964}" dt="2025-10-09T06:49:55.617" v="6"/>
        <pc:sldMkLst>
          <pc:docMk/>
          <pc:sldMk cId="4046752784" sldId="2019"/>
        </pc:sldMkLst>
      </pc:sldChg>
      <pc:sldChg chg="mod modShow">
        <pc:chgData name="Aneliya Nikolova" userId="S::aneliya.nikolova@eea.europa.eu::5ff52142-1b9c-430d-b975-3d80c1b68938" providerId="AD" clId="Web-{C22B74B1-17EF-72DC-6FC4-72F67718C964}" dt="2025-10-09T06:49:55.711" v="7"/>
        <pc:sldMkLst>
          <pc:docMk/>
          <pc:sldMk cId="3171049455" sldId="2020"/>
        </pc:sldMkLst>
      </pc:sldChg>
      <pc:sldChg chg="mod modShow">
        <pc:chgData name="Aneliya Nikolova" userId="S::aneliya.nikolova@eea.europa.eu::5ff52142-1b9c-430d-b975-3d80c1b68938" providerId="AD" clId="Web-{C22B74B1-17EF-72DC-6FC4-72F67718C964}" dt="2025-10-09T06:49:36.020" v="2"/>
        <pc:sldMkLst>
          <pc:docMk/>
          <pc:sldMk cId="1490673814" sldId="2044"/>
        </pc:sldMkLst>
      </pc:sldChg>
    </pc:docChg>
  </pc:docChgLst>
  <pc:docChgLst>
    <pc:chgData name="Aneliya Nikolova" userId="S::aneliya.nikolova@eea.europa.eu::5ff52142-1b9c-430d-b975-3d80c1b68938" providerId="AD" clId="Web-{B3109843-AD9A-07C0-B8D2-6016137A678D}"/>
    <pc:docChg chg="mod addSld delSld modSld">
      <pc:chgData name="Aneliya Nikolova" userId="S::aneliya.nikolova@eea.europa.eu::5ff52142-1b9c-430d-b975-3d80c1b68938" providerId="AD" clId="Web-{B3109843-AD9A-07C0-B8D2-6016137A678D}" dt="2025-10-07T13:59:16.453" v="144"/>
      <pc:docMkLst>
        <pc:docMk/>
      </pc:docMkLst>
      <pc:sldChg chg="modSp">
        <pc:chgData name="Aneliya Nikolova" userId="S::aneliya.nikolova@eea.europa.eu::5ff52142-1b9c-430d-b975-3d80c1b68938" providerId="AD" clId="Web-{B3109843-AD9A-07C0-B8D2-6016137A678D}" dt="2025-10-07T13:57:10.547" v="140" actId="20577"/>
        <pc:sldMkLst>
          <pc:docMk/>
          <pc:sldMk cId="3209547502" sldId="256"/>
        </pc:sldMkLst>
        <pc:spChg chg="mod">
          <ac:chgData name="Aneliya Nikolova" userId="S::aneliya.nikolova@eea.europa.eu::5ff52142-1b9c-430d-b975-3d80c1b68938" providerId="AD" clId="Web-{B3109843-AD9A-07C0-B8D2-6016137A678D}" dt="2025-10-07T13:57:10.547" v="140" actId="20577"/>
          <ac:spMkLst>
            <pc:docMk/>
            <pc:sldMk cId="3209547502" sldId="256"/>
            <ac:spMk id="3" creationId="{FDD99ECD-6A7C-4A78-BE9B-E919716CEEDC}"/>
          </ac:spMkLst>
        </pc:spChg>
      </pc:sldChg>
      <pc:sldChg chg="modSp">
        <pc:chgData name="Aneliya Nikolova" userId="S::aneliya.nikolova@eea.europa.eu::5ff52142-1b9c-430d-b975-3d80c1b68938" providerId="AD" clId="Web-{B3109843-AD9A-07C0-B8D2-6016137A678D}" dt="2025-10-07T13:37:56.500" v="69" actId="20577"/>
        <pc:sldMkLst>
          <pc:docMk/>
          <pc:sldMk cId="1981490874" sldId="1992"/>
        </pc:sldMkLst>
        <pc:spChg chg="mod">
          <ac:chgData name="Aneliya Nikolova" userId="S::aneliya.nikolova@eea.europa.eu::5ff52142-1b9c-430d-b975-3d80c1b68938" providerId="AD" clId="Web-{B3109843-AD9A-07C0-B8D2-6016137A678D}" dt="2025-10-07T13:37:49.015" v="67" actId="20577"/>
          <ac:spMkLst>
            <pc:docMk/>
            <pc:sldMk cId="1981490874" sldId="1992"/>
            <ac:spMk id="2" creationId="{37CF1089-2AD9-9C4A-B3EB-70E8CA0DC400}"/>
          </ac:spMkLst>
        </pc:spChg>
        <pc:spChg chg="mod">
          <ac:chgData name="Aneliya Nikolova" userId="S::aneliya.nikolova@eea.europa.eu::5ff52142-1b9c-430d-b975-3d80c1b68938" providerId="AD" clId="Web-{B3109843-AD9A-07C0-B8D2-6016137A678D}" dt="2025-10-07T13:37:56.500" v="69" actId="20577"/>
          <ac:spMkLst>
            <pc:docMk/>
            <pc:sldMk cId="1981490874" sldId="1992"/>
            <ac:spMk id="8" creationId="{F96ECC34-C9C5-86CF-6D14-957EDDF105AD}"/>
          </ac:spMkLst>
        </pc:spChg>
      </pc:sldChg>
    </pc:docChg>
  </pc:docChgLst>
</pc:chgInfo>
</file>

<file path=ppt/comments/modernComment_720_BA4D6395.xml><?xml version="1.0" encoding="utf-8"?>
<p188:cmLst xmlns:a="http://schemas.openxmlformats.org/drawingml/2006/main" xmlns:r="http://schemas.openxmlformats.org/officeDocument/2006/relationships" xmlns:p188="http://schemas.microsoft.com/office/powerpoint/2018/8/main">
  <p188:cm id="{43791CC7-93A7-480B-9476-F81D817BF058}" authorId="{E2051016-E140-B8FD-76CD-D074E4D14C64}" status="resolved" created="2025-10-07T13:59:00.358" startDate="2025-10-07T13:59:16.453" dueDate="2025-10-07T13:59:16.453" assignedTo="{9FE818CC-EC46-FDD7-8082-D70BFC352BF6}" complete="100000" title="@Per Wretlind">
    <pc:sldMkLst xmlns:pc="http://schemas.microsoft.com/office/powerpoint/2013/main/command">
      <pc:docMk/>
      <pc:sldMk cId="3125633941" sldId="1824"/>
    </pc:sldMkLst>
    <p188:replyLst>
      <p188:reply id="{867472CC-D87F-4521-979C-2449BCE05D74}" authorId="{E2051016-E140-B8FD-76CD-D074E4D14C64}" created="2025-10-07T13:59:16.453">
        <p188:txBody>
          <a:bodyPr/>
          <a:lstStyle/>
          <a:p>
            <a:r>
              <a:rPr lang="en-US"/>
              <a:t>[@Per Wretlind] </a:t>
            </a:r>
          </a:p>
        </p188:txBody>
      </p188:reply>
      <p188:reply id="{5424AB13-C788-42C6-9689-BE165FB0783A}" authorId="{3E69E473-1978-4CC8-21F7-F90683C2593E}" created="2025-10-07T14:33:22.236">
        <p188:txBody>
          <a:bodyPr/>
          <a:lstStyle/>
          <a:p>
            <a:r>
              <a:rPr lang="en-US"/>
              <a:t>sure, you can repeat how to import and so unhide those slides </a:t>
            </a:r>
          </a:p>
        </p188:txBody>
      </p188:reply>
    </p188:replyLst>
    <p188:txBody>
      <a:bodyPr/>
      <a:lstStyle/>
      <a:p>
        <a:r>
          <a:rPr lang="en-US"/>
          <a:t>Should we unhide these? I think it's important to show how to upload the data.</a:t>
        </a:r>
      </a:p>
    </p188:txBody>
    <p188:extLst>
      <p:ext xmlns:p="http://schemas.openxmlformats.org/presentationml/2006/main" uri="{5BB2D875-25FF-4072-B9AC-8F64D62656EB}">
        <p228:taskDetails xmlns:p228="http://schemas.microsoft.com/office/powerpoint/2022/08/main">
          <p228:history>
            <p228:event time="2025-10-07T13:59:16.453" id="{C2DDD688-3F61-4B84-A36F-5EB168D728FD}">
              <p228:atrbtn authorId="{E2051016-E140-B8FD-76CD-D074E4D14C64}"/>
              <p228:anchr>
                <p228:comment id="{867472CC-D87F-4521-979C-2449BCE05D74}"/>
              </p228:anchr>
              <p228:add/>
            </p228:event>
            <p228:event time="2025-10-07T13:59:16.453" id="{7E6AC457-B389-44E3-8C6E-B0093A0D3574}">
              <p228:atrbtn authorId="{E2051016-E140-B8FD-76CD-D074E4D14C64}"/>
              <p228:anchr>
                <p228:comment id="{867472CC-D87F-4521-979C-2449BCE05D74}"/>
              </p228:anchr>
              <p228:asgn authorId="{9FE818CC-EC46-FDD7-8082-D70BFC352BF6}"/>
            </p228:event>
            <p228:event time="2025-10-07T13:59:16.453" id="{4568CC36-68B2-4248-AA3F-D53A5B335520}">
              <p228:atrbtn authorId="{E2051016-E140-B8FD-76CD-D074E4D14C64}"/>
              <p228:anchr>
                <p228:comment id="{867472CC-D87F-4521-979C-2449BCE05D74}"/>
              </p228:anchr>
              <p228:date stDt="2025-10-07T13:59:16.453" endDt="2025-10-07T13:59:16.453"/>
            </p228:event>
            <p228:event time="2025-10-07T13:59:16.453" id="{E22EA3C5-F2AB-46AF-8229-36B5CE5D46F4}">
              <p228:atrbtn authorId="{E2051016-E140-B8FD-76CD-D074E4D14C64}"/>
              <p228:anchr>
                <p228:comment id="{867472CC-D87F-4521-979C-2449BCE05D74}"/>
              </p228:anchr>
              <p228:title val="@Per Wretlind"/>
            </p228:event>
            <p228:event time="2025-10-09T06:49:07.046" id="{6F288001-1060-4BE4-9278-E4D2F08ADC0B}">
              <p228:atrbtn authorId="{E2051016-E140-B8FD-76CD-D074E4D14C64}"/>
              <p228:anchr>
                <p228:comment id="{00000000-0000-0000-0000-000000000000}"/>
              </p228:anchr>
              <p228:pcntCmplt val="100000"/>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6B3C6-A3F5-4537-BA96-AA3EDD514642}" type="datetimeFigureOut">
              <a:rPr lang="en-DK" smtClean="0"/>
              <a:t>10/09/2025</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BC6E5-9301-43B9-A908-14619FC78ED8}" type="slidenum">
              <a:rPr lang="en-DK" smtClean="0"/>
              <a:t>‹#›</a:t>
            </a:fld>
            <a:endParaRPr lang="en-DK"/>
          </a:p>
        </p:txBody>
      </p:sp>
    </p:spTree>
    <p:extLst>
      <p:ext uri="{BB962C8B-B14F-4D97-AF65-F5344CB8AC3E}">
        <p14:creationId xmlns:p14="http://schemas.microsoft.com/office/powerpoint/2010/main" val="348620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couple of points I want to draw attention to before we begin.“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Thank you so much for all the engagement, commitment, and feedback yesterday. I was impressed by your skills.“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I already start to work to </a:t>
            </a:r>
            <a:r>
              <a:rPr lang="en-US" dirty="0" err="1"/>
              <a:t>identilfy</a:t>
            </a:r>
            <a:r>
              <a:rPr lang="en-US" dirty="0"/>
              <a:t> M fields where you may not have data, and so reduce the level of error </a:t>
            </a:r>
            <a:r>
              <a:rPr lang="en-US" dirty="0" err="1"/>
              <a:t>accordinlty</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said that,  X-1 data…only in annex 17 table 2 and 5 the data </a:t>
            </a:r>
            <a:r>
              <a:rPr lang="en-US" dirty="0" err="1"/>
              <a:t>requirimet</a:t>
            </a:r>
            <a:r>
              <a:rPr lang="en-US" dirty="0"/>
              <a:t> it is not mandatory </a:t>
            </a: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1</a:t>
            </a:fld>
            <a:endParaRPr lang="en-DK"/>
          </a:p>
        </p:txBody>
      </p:sp>
    </p:spTree>
    <p:extLst>
      <p:ext uri="{BB962C8B-B14F-4D97-AF65-F5344CB8AC3E}">
        <p14:creationId xmlns:p14="http://schemas.microsoft.com/office/powerpoint/2010/main" val="958146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a:t>Rodrigo PEREZ</a:t>
            </a:r>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4</a:t>
            </a:fld>
            <a:endParaRPr lang="en-DK"/>
          </a:p>
        </p:txBody>
      </p:sp>
    </p:spTree>
    <p:extLst>
      <p:ext uri="{BB962C8B-B14F-4D97-AF65-F5344CB8AC3E}">
        <p14:creationId xmlns:p14="http://schemas.microsoft.com/office/powerpoint/2010/main" val="1066741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70783294-E9FF-4F24-AF23-19B98F36DF0D}" type="slidenum">
              <a:rPr lang="en-DK" smtClean="0"/>
              <a:t>5</a:t>
            </a:fld>
            <a:endParaRPr lang="en-DK"/>
          </a:p>
        </p:txBody>
      </p:sp>
    </p:spTree>
    <p:extLst>
      <p:ext uri="{BB962C8B-B14F-4D97-AF65-F5344CB8AC3E}">
        <p14:creationId xmlns:p14="http://schemas.microsoft.com/office/powerpoint/2010/main" val="2903090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245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2387F-A759-2A3D-CC70-21FE9B899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456C6-EE86-8B5A-9387-F3FCBC90A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A18EE1-1C02-A05B-D598-DAA8F41B2E29}"/>
              </a:ext>
            </a:extLst>
          </p:cNvPr>
          <p:cNvSpPr>
            <a:spLocks noGrp="1"/>
          </p:cNvSpPr>
          <p:nvPr>
            <p:ph type="body" idx="1"/>
          </p:nvPr>
        </p:nvSpPr>
        <p:spPr/>
        <p:txBody>
          <a:bodyPr/>
          <a:lstStyle/>
          <a:p>
            <a:endParaRPr lang="en-DK"/>
          </a:p>
        </p:txBody>
      </p:sp>
      <p:sp>
        <p:nvSpPr>
          <p:cNvPr id="4" name="Slide Number Placeholder 3">
            <a:extLst>
              <a:ext uri="{FF2B5EF4-FFF2-40B4-BE49-F238E27FC236}">
                <a16:creationId xmlns:a16="http://schemas.microsoft.com/office/drawing/2014/main" id="{1EADAB0F-1576-3C4F-17F6-3C0E310A5E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8222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70783294-E9FF-4F24-AF23-19B98F36DF0D}" type="slidenum">
              <a:rPr lang="en-DK" smtClean="0"/>
              <a:t>17</a:t>
            </a:fld>
            <a:endParaRPr lang="en-DK"/>
          </a:p>
        </p:txBody>
      </p:sp>
    </p:spTree>
    <p:extLst>
      <p:ext uri="{BB962C8B-B14F-4D97-AF65-F5344CB8AC3E}">
        <p14:creationId xmlns:p14="http://schemas.microsoft.com/office/powerpoint/2010/main" val="3256076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r>
              <a:rPr lang="en-US" b="1" dirty="0"/>
              <a:t>) Annual emission allocation </a:t>
            </a:r>
            <a:r>
              <a:rPr lang="en-US" dirty="0"/>
              <a:t>pursuant to Article 4(3) of Regulation (EU) 2018/842 of the European Parliament and of the Council of 30 May 2018 on binding annual greenhouse gas emission reductions by Member States from 2021 to 2030 contributing to climate action to meet commitments under the Paris Agreement and amending Regulation (EU) No 525/2013 (OJ L 156, 19.6.2018, p. 26), adjusted in accordance with Article 10 of that Regulation, or any subsequent annual GHG emissions targets in this regard. </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19</a:t>
            </a:fld>
            <a:endParaRPr lang="en-DK"/>
          </a:p>
        </p:txBody>
      </p:sp>
    </p:spTree>
    <p:extLst>
      <p:ext uri="{BB962C8B-B14F-4D97-AF65-F5344CB8AC3E}">
        <p14:creationId xmlns:p14="http://schemas.microsoft.com/office/powerpoint/2010/main" val="499694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ADF14-48EF-56DC-39DC-BF0086DA3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B8230-E217-5B91-8A82-380F54758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D18D4-DE49-8110-DAAD-5C1D7C2E30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Aptos" panose="020B0004020202020204" pitchFamily="34" charset="0"/>
                <a:ea typeface="Aptos" panose="020B0004020202020204" pitchFamily="34" charset="0"/>
                <a:cs typeface="Aptos" panose="020B0004020202020204" pitchFamily="34" charset="0"/>
              </a:rPr>
              <a:t>these are all very subjective to the reporting obligation and field you talk about:</a:t>
            </a:r>
          </a:p>
          <a:p>
            <a:r>
              <a:rPr lang="en-GB" sz="1200" b="1" dirty="0">
                <a:effectLst/>
                <a:latin typeface="Aptos" panose="020B0004020202020204" pitchFamily="34" charset="0"/>
                <a:ea typeface="Aptos" panose="020B0004020202020204" pitchFamily="34" charset="0"/>
                <a:cs typeface="Aptos" panose="020B0004020202020204" pitchFamily="34" charset="0"/>
              </a:rPr>
              <a:t>M – Mandatory </a:t>
            </a:r>
            <a:r>
              <a:rPr lang="en-GB" sz="1200" dirty="0">
                <a:effectLst/>
                <a:latin typeface="Aptos" panose="020B0004020202020204" pitchFamily="34" charset="0"/>
                <a:ea typeface="Aptos" panose="020B0004020202020204" pitchFamily="34" charset="0"/>
                <a:cs typeface="Aptos" panose="020B0004020202020204" pitchFamily="34" charset="0"/>
              </a:rPr>
              <a:t>– Required to report to fulfil reporting obligation.</a:t>
            </a:r>
            <a:endParaRPr lang="en-DK" sz="1400" dirty="0">
              <a:effectLst/>
              <a:latin typeface="Aptos" panose="020B0004020202020204" pitchFamily="34" charset="0"/>
              <a:ea typeface="Aptos" panose="020B0004020202020204" pitchFamily="34" charset="0"/>
              <a:cs typeface="Aptos" panose="020B0004020202020204" pitchFamily="34" charset="0"/>
            </a:endParaRPr>
          </a:p>
          <a:p>
            <a:r>
              <a:rPr lang="en-GB" sz="1200" b="1" dirty="0" err="1">
                <a:effectLst/>
                <a:latin typeface="Aptos" panose="020B0004020202020204" pitchFamily="34" charset="0"/>
                <a:ea typeface="Aptos" panose="020B0004020202020204" pitchFamily="34" charset="0"/>
                <a:cs typeface="Aptos" panose="020B0004020202020204" pitchFamily="34" charset="0"/>
              </a:rPr>
              <a:t>Miap</a:t>
            </a:r>
            <a:r>
              <a:rPr lang="en-GB" sz="1200" b="1" dirty="0">
                <a:effectLst/>
                <a:latin typeface="Aptos" panose="020B0004020202020204" pitchFamily="34" charset="0"/>
                <a:ea typeface="Aptos" panose="020B0004020202020204" pitchFamily="34" charset="0"/>
                <a:cs typeface="Aptos" panose="020B0004020202020204" pitchFamily="34" charset="0"/>
              </a:rPr>
              <a:t> – Mandatory if applicable </a:t>
            </a:r>
            <a:r>
              <a:rPr lang="en-GB" sz="1200" dirty="0">
                <a:effectLst/>
                <a:latin typeface="Aptos" panose="020B0004020202020204" pitchFamily="34" charset="0"/>
                <a:ea typeface="Aptos" panose="020B0004020202020204" pitchFamily="34" charset="0"/>
                <a:cs typeface="Aptos" panose="020B0004020202020204" pitchFamily="34" charset="0"/>
              </a:rPr>
              <a:t>– Required to report to fulfil reporting obligation if the activity of reporting is happening in the reporting entity.</a:t>
            </a:r>
            <a:endParaRPr lang="en-DK" sz="1400" dirty="0">
              <a:effectLst/>
              <a:latin typeface="Aptos" panose="020B0004020202020204" pitchFamily="34" charset="0"/>
              <a:ea typeface="Aptos" panose="020B0004020202020204" pitchFamily="34" charset="0"/>
              <a:cs typeface="Aptos" panose="020B0004020202020204" pitchFamily="34" charset="0"/>
            </a:endParaRPr>
          </a:p>
          <a:p>
            <a:r>
              <a:rPr lang="en-GB" sz="1200" b="1" dirty="0" err="1">
                <a:effectLst/>
                <a:latin typeface="Aptos" panose="020B0004020202020204" pitchFamily="34" charset="0"/>
                <a:ea typeface="Aptos" panose="020B0004020202020204" pitchFamily="34" charset="0"/>
                <a:cs typeface="Aptos" panose="020B0004020202020204" pitchFamily="34" charset="0"/>
              </a:rPr>
              <a:t>Miav</a:t>
            </a:r>
            <a:r>
              <a:rPr lang="en-GB" sz="1200" b="1" dirty="0">
                <a:effectLst/>
                <a:latin typeface="Aptos" panose="020B0004020202020204" pitchFamily="34" charset="0"/>
                <a:ea typeface="Aptos" panose="020B0004020202020204" pitchFamily="34" charset="0"/>
                <a:cs typeface="Aptos" panose="020B0004020202020204" pitchFamily="34" charset="0"/>
              </a:rPr>
              <a:t> – Mandatory if available </a:t>
            </a:r>
            <a:r>
              <a:rPr lang="en-GB" sz="1200" dirty="0">
                <a:effectLst/>
                <a:latin typeface="Aptos" panose="020B0004020202020204" pitchFamily="34" charset="0"/>
                <a:ea typeface="Aptos" panose="020B0004020202020204" pitchFamily="34" charset="0"/>
                <a:cs typeface="Aptos" panose="020B0004020202020204" pitchFamily="34" charset="0"/>
              </a:rPr>
              <a:t>– Required to report to fulfil reporting obligation if the data is </a:t>
            </a:r>
            <a:r>
              <a:rPr lang="en-GB" sz="1200" dirty="0" err="1">
                <a:effectLst/>
                <a:latin typeface="Aptos" panose="020B0004020202020204" pitchFamily="34" charset="0"/>
                <a:ea typeface="Aptos" panose="020B0004020202020204" pitchFamily="34" charset="0"/>
                <a:cs typeface="Aptos" panose="020B0004020202020204" pitchFamily="34" charset="0"/>
              </a:rPr>
              <a:t>avaialble</a:t>
            </a:r>
            <a:r>
              <a:rPr lang="en-GB" sz="1200" dirty="0">
                <a:effectLst/>
                <a:latin typeface="Aptos" panose="020B0004020202020204" pitchFamily="34" charset="0"/>
                <a:ea typeface="Aptos" panose="020B0004020202020204" pitchFamily="34" charset="0"/>
                <a:cs typeface="Aptos" panose="020B0004020202020204" pitchFamily="34" charset="0"/>
              </a:rPr>
              <a:t> for reporting.</a:t>
            </a:r>
            <a:endParaRPr lang="en-DK" sz="1400" dirty="0">
              <a:effectLst/>
              <a:latin typeface="Aptos" panose="020B0004020202020204" pitchFamily="34" charset="0"/>
              <a:ea typeface="Aptos" panose="020B0004020202020204" pitchFamily="34" charset="0"/>
              <a:cs typeface="Aptos" panose="020B0004020202020204" pitchFamily="34" charset="0"/>
            </a:endParaRPr>
          </a:p>
          <a:p>
            <a:r>
              <a:rPr lang="en-GB" sz="1200" b="1" dirty="0">
                <a:effectLst/>
                <a:latin typeface="Aptos" panose="020B0004020202020204" pitchFamily="34" charset="0"/>
                <a:ea typeface="Aptos" panose="020B0004020202020204" pitchFamily="34" charset="0"/>
                <a:cs typeface="Aptos" panose="020B0004020202020204" pitchFamily="34" charset="0"/>
              </a:rPr>
              <a:t>V – Voluntary </a:t>
            </a:r>
            <a:r>
              <a:rPr lang="en-GB" sz="1200" dirty="0">
                <a:effectLst/>
                <a:latin typeface="Aptos" panose="020B0004020202020204" pitchFamily="34" charset="0"/>
                <a:ea typeface="Aptos" panose="020B0004020202020204" pitchFamily="34" charset="0"/>
                <a:cs typeface="Aptos" panose="020B0004020202020204" pitchFamily="34" charset="0"/>
              </a:rPr>
              <a:t>– Not required to report, however can provide further details on the reporting information if applicable and </a:t>
            </a:r>
            <a:r>
              <a:rPr lang="en-GB" sz="1200" dirty="0" err="1">
                <a:effectLst/>
                <a:latin typeface="Aptos" panose="020B0004020202020204" pitchFamily="34" charset="0"/>
                <a:ea typeface="Aptos" panose="020B0004020202020204" pitchFamily="34" charset="0"/>
                <a:cs typeface="Aptos" panose="020B0004020202020204" pitchFamily="34" charset="0"/>
              </a:rPr>
              <a:t>avaialble</a:t>
            </a:r>
            <a:r>
              <a:rPr lang="en-GB" sz="1200" dirty="0">
                <a:effectLst/>
                <a:latin typeface="Aptos" panose="020B0004020202020204" pitchFamily="34" charset="0"/>
                <a:ea typeface="Aptos" panose="020B0004020202020204" pitchFamily="34" charset="0"/>
                <a:cs typeface="Aptos" panose="020B0004020202020204" pitchFamily="34" charset="0"/>
              </a:rPr>
              <a:t> by the reporting entity.</a:t>
            </a:r>
            <a:endParaRPr lang="en-DK" sz="1400" dirty="0">
              <a:effectLst/>
              <a:latin typeface="Aptos" panose="020B0004020202020204" pitchFamily="34" charset="0"/>
              <a:ea typeface="Aptos" panose="020B0004020202020204" pitchFamily="34" charset="0"/>
              <a:cs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7EACC44-6405-D25E-CF37-B77DB860A4D1}"/>
              </a:ext>
            </a:extLst>
          </p:cNvPr>
          <p:cNvSpPr>
            <a:spLocks noGrp="1"/>
          </p:cNvSpPr>
          <p:nvPr>
            <p:ph type="sldNum" sz="quarter" idx="5"/>
          </p:nvPr>
        </p:nvSpPr>
        <p:spPr/>
        <p:txBody>
          <a:bodyPr/>
          <a:lstStyle/>
          <a:p>
            <a:fld id="{E81BC6E5-9301-43B9-A908-14619FC78ED8}" type="slidenum">
              <a:rPr lang="en-DK" smtClean="0"/>
              <a:t>23</a:t>
            </a:fld>
            <a:endParaRPr lang="en-DK"/>
          </a:p>
        </p:txBody>
      </p:sp>
    </p:spTree>
    <p:extLst>
      <p:ext uri="{BB962C8B-B14F-4D97-AF65-F5344CB8AC3E}">
        <p14:creationId xmlns:p14="http://schemas.microsoft.com/office/powerpoint/2010/main" val="3366427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effectLst/>
                <a:latin typeface="Aptos" panose="020B0004020202020204" pitchFamily="34" charset="0"/>
                <a:ea typeface="Aptos" panose="020B0004020202020204" pitchFamily="34" charset="0"/>
                <a:cs typeface="Aptos" panose="020B0004020202020204" pitchFamily="34" charset="0"/>
              </a:rPr>
              <a:t>these are all very subjective to the reporting obligation and field you talk about:</a:t>
            </a:r>
          </a:p>
          <a:p>
            <a:r>
              <a:rPr lang="en-GB" sz="1200" b="1" dirty="0">
                <a:effectLst/>
                <a:latin typeface="Aptos" panose="020B0004020202020204" pitchFamily="34" charset="0"/>
                <a:ea typeface="Aptos" panose="020B0004020202020204" pitchFamily="34" charset="0"/>
                <a:cs typeface="Aptos" panose="020B0004020202020204" pitchFamily="34" charset="0"/>
              </a:rPr>
              <a:t>M – Mandatory </a:t>
            </a:r>
            <a:r>
              <a:rPr lang="en-GB" sz="1200" dirty="0">
                <a:effectLst/>
                <a:latin typeface="Aptos" panose="020B0004020202020204" pitchFamily="34" charset="0"/>
                <a:ea typeface="Aptos" panose="020B0004020202020204" pitchFamily="34" charset="0"/>
                <a:cs typeface="Aptos" panose="020B0004020202020204" pitchFamily="34" charset="0"/>
              </a:rPr>
              <a:t>– Required to report to fulfil reporting obligation.</a:t>
            </a:r>
            <a:endParaRPr lang="en-DK" sz="1400" dirty="0">
              <a:effectLst/>
              <a:latin typeface="Aptos" panose="020B0004020202020204" pitchFamily="34" charset="0"/>
              <a:ea typeface="Aptos" panose="020B0004020202020204" pitchFamily="34" charset="0"/>
              <a:cs typeface="Aptos" panose="020B0004020202020204" pitchFamily="34" charset="0"/>
            </a:endParaRPr>
          </a:p>
          <a:p>
            <a:r>
              <a:rPr lang="en-GB" sz="1200" b="1" dirty="0" err="1">
                <a:effectLst/>
                <a:latin typeface="Aptos" panose="020B0004020202020204" pitchFamily="34" charset="0"/>
                <a:ea typeface="Aptos" panose="020B0004020202020204" pitchFamily="34" charset="0"/>
                <a:cs typeface="Aptos" panose="020B0004020202020204" pitchFamily="34" charset="0"/>
              </a:rPr>
              <a:t>Miap</a:t>
            </a:r>
            <a:r>
              <a:rPr lang="en-GB" sz="1200" b="1" dirty="0">
                <a:effectLst/>
                <a:latin typeface="Aptos" panose="020B0004020202020204" pitchFamily="34" charset="0"/>
                <a:ea typeface="Aptos" panose="020B0004020202020204" pitchFamily="34" charset="0"/>
                <a:cs typeface="Aptos" panose="020B0004020202020204" pitchFamily="34" charset="0"/>
              </a:rPr>
              <a:t> – Mandatory if applicable </a:t>
            </a:r>
            <a:r>
              <a:rPr lang="en-GB" sz="1200" dirty="0">
                <a:effectLst/>
                <a:latin typeface="Aptos" panose="020B0004020202020204" pitchFamily="34" charset="0"/>
                <a:ea typeface="Aptos" panose="020B0004020202020204" pitchFamily="34" charset="0"/>
                <a:cs typeface="Aptos" panose="020B0004020202020204" pitchFamily="34" charset="0"/>
              </a:rPr>
              <a:t>– Required to report to fulfil reporting obligation if the activity of reporting is happening in the reporting entity.</a:t>
            </a:r>
            <a:endParaRPr lang="en-DK" sz="1400" dirty="0">
              <a:effectLst/>
              <a:latin typeface="Aptos" panose="020B0004020202020204" pitchFamily="34" charset="0"/>
              <a:ea typeface="Aptos" panose="020B0004020202020204" pitchFamily="34" charset="0"/>
              <a:cs typeface="Aptos" panose="020B0004020202020204" pitchFamily="34" charset="0"/>
            </a:endParaRPr>
          </a:p>
          <a:p>
            <a:r>
              <a:rPr lang="en-GB" sz="1200" b="1" dirty="0" err="1">
                <a:effectLst/>
                <a:latin typeface="Aptos" panose="020B0004020202020204" pitchFamily="34" charset="0"/>
                <a:ea typeface="Aptos" panose="020B0004020202020204" pitchFamily="34" charset="0"/>
                <a:cs typeface="Aptos" panose="020B0004020202020204" pitchFamily="34" charset="0"/>
              </a:rPr>
              <a:t>Miav</a:t>
            </a:r>
            <a:r>
              <a:rPr lang="en-GB" sz="1200" b="1" dirty="0">
                <a:effectLst/>
                <a:latin typeface="Aptos" panose="020B0004020202020204" pitchFamily="34" charset="0"/>
                <a:ea typeface="Aptos" panose="020B0004020202020204" pitchFamily="34" charset="0"/>
                <a:cs typeface="Aptos" panose="020B0004020202020204" pitchFamily="34" charset="0"/>
              </a:rPr>
              <a:t> – Mandatory if available </a:t>
            </a:r>
            <a:r>
              <a:rPr lang="en-GB" sz="1200" dirty="0">
                <a:effectLst/>
                <a:latin typeface="Aptos" panose="020B0004020202020204" pitchFamily="34" charset="0"/>
                <a:ea typeface="Aptos" panose="020B0004020202020204" pitchFamily="34" charset="0"/>
                <a:cs typeface="Aptos" panose="020B0004020202020204" pitchFamily="34" charset="0"/>
              </a:rPr>
              <a:t>– Required to report to fulfil reporting obligation if the data is </a:t>
            </a:r>
            <a:r>
              <a:rPr lang="en-GB" sz="1200" dirty="0" err="1">
                <a:effectLst/>
                <a:latin typeface="Aptos" panose="020B0004020202020204" pitchFamily="34" charset="0"/>
                <a:ea typeface="Aptos" panose="020B0004020202020204" pitchFamily="34" charset="0"/>
                <a:cs typeface="Aptos" panose="020B0004020202020204" pitchFamily="34" charset="0"/>
              </a:rPr>
              <a:t>avaialble</a:t>
            </a:r>
            <a:r>
              <a:rPr lang="en-GB" sz="1200" dirty="0">
                <a:effectLst/>
                <a:latin typeface="Aptos" panose="020B0004020202020204" pitchFamily="34" charset="0"/>
                <a:ea typeface="Aptos" panose="020B0004020202020204" pitchFamily="34" charset="0"/>
                <a:cs typeface="Aptos" panose="020B0004020202020204" pitchFamily="34" charset="0"/>
              </a:rPr>
              <a:t> for reporting.</a:t>
            </a:r>
            <a:endParaRPr lang="en-DK" sz="1400" dirty="0">
              <a:effectLst/>
              <a:latin typeface="Aptos" panose="020B0004020202020204" pitchFamily="34" charset="0"/>
              <a:ea typeface="Aptos" panose="020B0004020202020204" pitchFamily="34" charset="0"/>
              <a:cs typeface="Aptos" panose="020B0004020202020204" pitchFamily="34" charset="0"/>
            </a:endParaRPr>
          </a:p>
          <a:p>
            <a:r>
              <a:rPr lang="en-GB" sz="1200" b="1" dirty="0">
                <a:effectLst/>
                <a:latin typeface="Aptos" panose="020B0004020202020204" pitchFamily="34" charset="0"/>
                <a:ea typeface="Aptos" panose="020B0004020202020204" pitchFamily="34" charset="0"/>
                <a:cs typeface="Aptos" panose="020B0004020202020204" pitchFamily="34" charset="0"/>
              </a:rPr>
              <a:t>V – Voluntary </a:t>
            </a:r>
            <a:r>
              <a:rPr lang="en-GB" sz="1200" dirty="0">
                <a:effectLst/>
                <a:latin typeface="Aptos" panose="020B0004020202020204" pitchFamily="34" charset="0"/>
                <a:ea typeface="Aptos" panose="020B0004020202020204" pitchFamily="34" charset="0"/>
                <a:cs typeface="Aptos" panose="020B0004020202020204" pitchFamily="34" charset="0"/>
              </a:rPr>
              <a:t>– Not required to report, however can provide further details on the reporting information if applicable and </a:t>
            </a:r>
            <a:r>
              <a:rPr lang="en-GB" sz="1200" dirty="0" err="1">
                <a:effectLst/>
                <a:latin typeface="Aptos" panose="020B0004020202020204" pitchFamily="34" charset="0"/>
                <a:ea typeface="Aptos" panose="020B0004020202020204" pitchFamily="34" charset="0"/>
                <a:cs typeface="Aptos" panose="020B0004020202020204" pitchFamily="34" charset="0"/>
              </a:rPr>
              <a:t>avaialble</a:t>
            </a:r>
            <a:r>
              <a:rPr lang="en-GB" sz="1200" dirty="0">
                <a:effectLst/>
                <a:latin typeface="Aptos" panose="020B0004020202020204" pitchFamily="34" charset="0"/>
                <a:ea typeface="Aptos" panose="020B0004020202020204" pitchFamily="34" charset="0"/>
                <a:cs typeface="Aptos" panose="020B0004020202020204" pitchFamily="34" charset="0"/>
              </a:rPr>
              <a:t> by the reporting entity.</a:t>
            </a:r>
            <a:endParaRPr lang="en-DK" sz="1400" dirty="0">
              <a:effectLst/>
              <a:latin typeface="Aptos" panose="020B0004020202020204" pitchFamily="34" charset="0"/>
              <a:ea typeface="Aptos" panose="020B0004020202020204" pitchFamily="34" charset="0"/>
              <a:cs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81BC6E5-9301-43B9-A908-14619FC78ED8}" type="slidenum">
              <a:rPr lang="en-DK" smtClean="0"/>
              <a:t>35</a:t>
            </a:fld>
            <a:endParaRPr lang="en-DK"/>
          </a:p>
        </p:txBody>
      </p:sp>
    </p:spTree>
    <p:extLst>
      <p:ext uri="{BB962C8B-B14F-4D97-AF65-F5344CB8AC3E}">
        <p14:creationId xmlns:p14="http://schemas.microsoft.com/office/powerpoint/2010/main" val="1213070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40</a:t>
            </a:fld>
            <a:endParaRPr lang="en-DK"/>
          </a:p>
        </p:txBody>
      </p:sp>
    </p:spTree>
    <p:extLst>
      <p:ext uri="{BB962C8B-B14F-4D97-AF65-F5344CB8AC3E}">
        <p14:creationId xmlns:p14="http://schemas.microsoft.com/office/powerpoint/2010/main" val="3056581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41</a:t>
            </a:fld>
            <a:endParaRPr lang="en-DK"/>
          </a:p>
        </p:txBody>
      </p:sp>
    </p:spTree>
    <p:extLst>
      <p:ext uri="{BB962C8B-B14F-4D97-AF65-F5344CB8AC3E}">
        <p14:creationId xmlns:p14="http://schemas.microsoft.com/office/powerpoint/2010/main" val="3406928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GB"/>
              <a:t>NECPR – Progress to targets (GHG)</a:t>
            </a:r>
            <a:endParaRPr lang="es-ES"/>
          </a:p>
        </p:txBody>
      </p:sp>
      <p:sp>
        <p:nvSpPr>
          <p:cNvPr id="4" name="Marcador de número de diapositiva 3"/>
          <p:cNvSpPr>
            <a:spLocks noGrp="1"/>
          </p:cNvSpPr>
          <p:nvPr>
            <p:ph type="sldNum" sz="quarter" idx="5"/>
          </p:nvPr>
        </p:nvSpPr>
        <p:spPr/>
        <p:txBody>
          <a:bodyPr/>
          <a:lstStyle/>
          <a:p>
            <a:fld id="{70783294-E9FF-4F24-AF23-19B98F36DF0D}" type="slidenum">
              <a:rPr lang="en-DK" smtClean="0"/>
              <a:t>44</a:t>
            </a:fld>
            <a:endParaRPr lang="en-DK"/>
          </a:p>
        </p:txBody>
      </p:sp>
    </p:spTree>
    <p:extLst>
      <p:ext uri="{BB962C8B-B14F-4D97-AF65-F5344CB8AC3E}">
        <p14:creationId xmlns:p14="http://schemas.microsoft.com/office/powerpoint/2010/main" val="3876863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approach I’ve taken so far in this presentation is to outline what is reported, rather than what needs to be reported (according to legislation).</a:t>
            </a: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45</a:t>
            </a:fld>
            <a:endParaRPr lang="en-DK"/>
          </a:p>
        </p:txBody>
      </p:sp>
    </p:spTree>
    <p:extLst>
      <p:ext uri="{BB962C8B-B14F-4D97-AF65-F5344CB8AC3E}">
        <p14:creationId xmlns:p14="http://schemas.microsoft.com/office/powerpoint/2010/main" val="1692602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Annual Emission Allocation data - it is data prepared by our ETC for a task we undertook for the Commission to monitor effort sharing emission allocations per MS.</a:t>
            </a:r>
          </a:p>
          <a:p>
            <a:r>
              <a:rPr lang="en-US" dirty="0"/>
              <a:t>Again ESR doesn't exist for Energy Community, so less sure how relevant it is for them. But I can't remember what is in table 2 of Annex I for Energy Community - I seem to remember there is some info that is not necessary or relevant for CPs.</a:t>
            </a:r>
            <a:endParaRPr lang="LID4096" dirty="0"/>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46</a:t>
            </a:fld>
            <a:endParaRPr lang="en-DK"/>
          </a:p>
        </p:txBody>
      </p:sp>
    </p:spTree>
    <p:extLst>
      <p:ext uri="{BB962C8B-B14F-4D97-AF65-F5344CB8AC3E}">
        <p14:creationId xmlns:p14="http://schemas.microsoft.com/office/powerpoint/2010/main" val="1705251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emission from controlled sources , Indirect emission scope 2: electricity generation or the electricity used, indirect emission scope 3 from value chain .</a:t>
            </a:r>
          </a:p>
          <a:p>
            <a:endParaRPr lang="en-US" dirty="0"/>
          </a:p>
          <a:p>
            <a:r>
              <a:rPr lang="en-US" dirty="0"/>
              <a:t>If national total GHG emissions target for 2030, 2040 or 2050 is in place, and/or climate-neutrality objective,  CPs should add </a:t>
            </a:r>
            <a:r>
              <a:rPr lang="en-US" u="sng" dirty="0"/>
              <a:t>the total estimated removals for the target year respectively </a:t>
            </a:r>
            <a:r>
              <a:rPr lang="en-US" dirty="0"/>
              <a:t>in ktCO2e. In the context of carbon removal certification framework, ‘carbon removal’ means either the storage of atmospheric or biogenic carbon within geological carbon pools, biogenic carbon pools, long-lasting products and materials, and the marine environment, or the reduction of carbon release from a biogenic carbon pool to the atmosphere. </a:t>
            </a:r>
          </a:p>
          <a:p>
            <a:r>
              <a:rPr lang="en-US" u="sng" dirty="0"/>
              <a:t>3 kinds of removals are distinguished: • permanent carbon storage (geological removals); • carbon storage products (</a:t>
            </a:r>
            <a:r>
              <a:rPr lang="en-US" u="sng" dirty="0" err="1"/>
              <a:t>ie</a:t>
            </a:r>
            <a:r>
              <a:rPr lang="en-US" u="sng" dirty="0"/>
              <a:t> product-based removals); and, • carbon farming (i.e. land-based removals). </a:t>
            </a:r>
          </a:p>
        </p:txBody>
      </p:sp>
      <p:sp>
        <p:nvSpPr>
          <p:cNvPr id="4" name="Slide Number Placeholder 3"/>
          <p:cNvSpPr>
            <a:spLocks noGrp="1"/>
          </p:cNvSpPr>
          <p:nvPr>
            <p:ph type="sldNum" sz="quarter" idx="5"/>
          </p:nvPr>
        </p:nvSpPr>
        <p:spPr/>
        <p:txBody>
          <a:bodyPr/>
          <a:lstStyle/>
          <a:p>
            <a:fld id="{E81BC6E5-9301-43B9-A908-14619FC78ED8}" type="slidenum">
              <a:rPr lang="en-DK" smtClean="0"/>
              <a:t>47</a:t>
            </a:fld>
            <a:endParaRPr lang="en-DK"/>
          </a:p>
        </p:txBody>
      </p:sp>
    </p:spTree>
    <p:extLst>
      <p:ext uri="{BB962C8B-B14F-4D97-AF65-F5344CB8AC3E}">
        <p14:creationId xmlns:p14="http://schemas.microsoft.com/office/powerpoint/2010/main" val="21747502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emission from controlled sources Indirect emission scope 2: electricity generation or the electricity used, indirect emission scope 3 from value chain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dirty="0">
                <a:solidFill>
                  <a:schemeClr val="bg1">
                    <a:lumMod val="50000"/>
                  </a:schemeClr>
                </a:solidFill>
              </a:rPr>
              <a:t> and in line with its long-term strategy reported under Article 15 of Regulation (EU) 2018/1999.</a:t>
            </a:r>
          </a:p>
          <a:p>
            <a:endParaRPr lang="en-US" dirty="0"/>
          </a:p>
        </p:txBody>
      </p:sp>
      <p:sp>
        <p:nvSpPr>
          <p:cNvPr id="4" name="Slide Number Placeholder 3"/>
          <p:cNvSpPr>
            <a:spLocks noGrp="1"/>
          </p:cNvSpPr>
          <p:nvPr>
            <p:ph type="sldNum" sz="quarter" idx="5"/>
          </p:nvPr>
        </p:nvSpPr>
        <p:spPr/>
        <p:txBody>
          <a:bodyPr/>
          <a:lstStyle/>
          <a:p>
            <a:fld id="{E81BC6E5-9301-43B9-A908-14619FC78ED8}" type="slidenum">
              <a:rPr lang="en-DK" smtClean="0"/>
              <a:t>48</a:t>
            </a:fld>
            <a:endParaRPr lang="en-DK"/>
          </a:p>
        </p:txBody>
      </p:sp>
    </p:spTree>
    <p:extLst>
      <p:ext uri="{BB962C8B-B14F-4D97-AF65-F5344CB8AC3E}">
        <p14:creationId xmlns:p14="http://schemas.microsoft.com/office/powerpoint/2010/main" val="3995461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0" i="0" dirty="0">
                <a:solidFill>
                  <a:srgbClr val="000000"/>
                </a:solidFill>
                <a:effectLst/>
                <a:latin typeface="Cambria" panose="02040503050406030204" pitchFamily="18" charset="0"/>
              </a:rPr>
              <a:t>Information according to which Global Warming Potential values the GHG emissions shall be reported. GHG inventory data</a:t>
            </a:r>
          </a:p>
          <a:p>
            <a:r>
              <a:rPr lang="en-US" sz="1800" b="0" i="0" dirty="0">
                <a:solidFill>
                  <a:srgbClr val="000000"/>
                </a:solidFill>
                <a:effectLst/>
                <a:latin typeface="Cambria" panose="02040503050406030204" pitchFamily="18" charset="0"/>
              </a:rPr>
              <a:t>GWP AR 5 = Global Warming Potential values from the IPCC’s 5th Assessment Report. </a:t>
            </a:r>
          </a:p>
          <a:p>
            <a:endParaRPr lang="en-US" sz="1800" b="0" i="0" dirty="0">
              <a:solidFill>
                <a:srgbClr val="000000"/>
              </a:solidFill>
              <a:effectLst/>
              <a:latin typeface="Cambria" panose="02040503050406030204" pitchFamily="18" charset="0"/>
            </a:endParaRPr>
          </a:p>
          <a:p>
            <a:r>
              <a:rPr lang="it-IT" sz="2800" dirty="0"/>
              <a:t>'with additional measures' (WAM)</a:t>
            </a:r>
            <a:endParaRPr lang="en-US" sz="1800" b="0" i="0" dirty="0">
              <a:solidFill>
                <a:srgbClr val="000000"/>
              </a:solidFill>
              <a:effectLst/>
              <a:latin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dirty="0"/>
              <a:t>'with existing measures’ (WEM)</a:t>
            </a:r>
            <a:endParaRPr lang="en-US" sz="1200" b="0" i="0" dirty="0">
              <a:solidFill>
                <a:srgbClr val="000000"/>
              </a:solidFill>
              <a:effectLst/>
              <a:latin typeface="Cambria" panose="02040503050406030204" pitchFamily="18" charset="0"/>
            </a:endParaRPr>
          </a:p>
          <a:p>
            <a:endParaRPr lang="en-US" sz="1800" b="0" i="0" dirty="0">
              <a:solidFill>
                <a:srgbClr val="000000"/>
              </a:solidFill>
              <a:effectLst/>
              <a:latin typeface="Cambria" panose="02040503050406030204" pitchFamily="18" charset="0"/>
            </a:endParaRPr>
          </a:p>
          <a:p>
            <a:endParaRPr lang="en-US" sz="1800" b="0" i="0" dirty="0">
              <a:solidFill>
                <a:srgbClr val="000000"/>
              </a:solidFill>
              <a:effectLst/>
              <a:latin typeface="Cambria" panose="02040503050406030204" pitchFamily="18" charset="0"/>
            </a:endParaRP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49</a:t>
            </a:fld>
            <a:endParaRPr lang="en-DK"/>
          </a:p>
        </p:txBody>
      </p:sp>
    </p:spTree>
    <p:extLst>
      <p:ext uri="{BB962C8B-B14F-4D97-AF65-F5344CB8AC3E}">
        <p14:creationId xmlns:p14="http://schemas.microsoft.com/office/powerpoint/2010/main" val="647671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years are defined as follows: </a:t>
            </a:r>
          </a:p>
          <a:p>
            <a:r>
              <a:rPr lang="en-US" sz="1200" b="1" dirty="0"/>
              <a:t>– t</a:t>
            </a:r>
            <a:r>
              <a:rPr lang="en-US" sz="1200" dirty="0"/>
              <a:t> = the first future year ending with 0 or 5 immediately following the reporting year; therefore, the years for reporting as mentioned in the template will be t, t+5 and t+10. For instance – 2025, 2030 and 2035 </a:t>
            </a:r>
          </a:p>
          <a:p>
            <a:r>
              <a:rPr lang="en-US" sz="1200" dirty="0"/>
              <a:t>– X = reporting year; therefore, the years for reporting as mentioned in the template will be X-3 and X-2, for instance the historic reporting years for a submission in 2025 will be 2023 and 2022. Please note that X-3 will be voluntary for those CPs submitting their first progress updates in 2023.</a:t>
            </a: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50</a:t>
            </a:fld>
            <a:endParaRPr lang="en-DK"/>
          </a:p>
        </p:txBody>
      </p:sp>
    </p:spTree>
    <p:extLst>
      <p:ext uri="{BB962C8B-B14F-4D97-AF65-F5344CB8AC3E}">
        <p14:creationId xmlns:p14="http://schemas.microsoft.com/office/powerpoint/2010/main" val="40513373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table is for the CPs to ensure a comprehensive, robust and comparable report of all other national targets and objectives set by the CPs in their current NECPs.</a:t>
            </a:r>
          </a:p>
          <a:p>
            <a:r>
              <a:rPr lang="en-US" dirty="0"/>
              <a:t>These are on top of the those required under EU regulation. Those other national target and objectives should be in line with the objective of the Union to achieve a balance between </a:t>
            </a:r>
          </a:p>
          <a:p>
            <a:r>
              <a:rPr lang="en-US" dirty="0"/>
              <a:t>anthropogenic GHG emissions by sources and removals by sinks as early as possible and achieve negative emissions thereafter. </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51</a:t>
            </a:fld>
            <a:endParaRPr lang="en-DK"/>
          </a:p>
        </p:txBody>
      </p:sp>
    </p:spTree>
    <p:extLst>
      <p:ext uri="{BB962C8B-B14F-4D97-AF65-F5344CB8AC3E}">
        <p14:creationId xmlns:p14="http://schemas.microsoft.com/office/powerpoint/2010/main" val="15538685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years are defined as follows: </a:t>
            </a:r>
          </a:p>
          <a:p>
            <a:r>
              <a:rPr lang="en-US" sz="1200" b="1" dirty="0"/>
              <a:t>– t</a:t>
            </a:r>
            <a:r>
              <a:rPr lang="en-US" sz="1200" dirty="0"/>
              <a:t> = the first future year ending with 0 or 5 immediately following the reporting year; therefore, the years for reporting as mentioned in the template will be t, t+5 and t+10. For instance – 2025, 2030 and 2035 </a:t>
            </a:r>
          </a:p>
          <a:p>
            <a:r>
              <a:rPr lang="en-US" sz="1200" dirty="0"/>
              <a:t>– X = reporting year; therefore, the years for reporting as mentioned in the template will be X-3 and X-2, for instance the historic reporting years for a submission in 2025 will be 2023 and 2022. Please note that X-3 will be voluntary for those CPs submitting their first progress updates in 2023.</a:t>
            </a: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52</a:t>
            </a:fld>
            <a:endParaRPr lang="en-DK"/>
          </a:p>
        </p:txBody>
      </p:sp>
    </p:spTree>
    <p:extLst>
      <p:ext uri="{BB962C8B-B14F-4D97-AF65-F5344CB8AC3E}">
        <p14:creationId xmlns:p14="http://schemas.microsoft.com/office/powerpoint/2010/main" val="3820369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56</a:t>
            </a:fld>
            <a:endParaRPr lang="en-DK"/>
          </a:p>
        </p:txBody>
      </p:sp>
    </p:spTree>
    <p:extLst>
      <p:ext uri="{BB962C8B-B14F-4D97-AF65-F5344CB8AC3E}">
        <p14:creationId xmlns:p14="http://schemas.microsoft.com/office/powerpoint/2010/main" val="2640931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Closing slide: you may want to use the same image as in the opening slide and thank your listeners. </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58</a:t>
            </a:fld>
            <a:endParaRPr lang="en-DK"/>
          </a:p>
        </p:txBody>
      </p:sp>
    </p:spTree>
    <p:extLst>
      <p:ext uri="{BB962C8B-B14F-4D97-AF65-F5344CB8AC3E}">
        <p14:creationId xmlns:p14="http://schemas.microsoft.com/office/powerpoint/2010/main" val="1530189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emission from controlled sources Indirect emission scope 2: electricity generation or the electricity used, indirect emission scope 3 from value chain .</a:t>
            </a:r>
          </a:p>
          <a:p>
            <a:endParaRPr lang="en-US" dirty="0"/>
          </a:p>
          <a:p>
            <a:r>
              <a:rPr lang="en-US" dirty="0"/>
              <a:t>Check 2 focuses on the accuracy and completeness of CPs (MS) reports on net carbon removals, including both natural and technical sinks. If a national GHG emissions target for 2030, 2040, or 2050 is in place, MS must report the estimated removals for those years in Table 1 (in ktCO2e). In cases where a climate-neutrality target exists, removals for the climate-neutrality year should also be reported. </a:t>
            </a:r>
          </a:p>
          <a:p>
            <a:endParaRPr lang="en-US" dirty="0"/>
          </a:p>
          <a:p>
            <a:r>
              <a:rPr lang="en-US" dirty="0"/>
              <a:t>Automatic checks verify the presence of numerical data, while manual checks ensure the data is consistent with national targets and that supporting information is provided. If data is missing or incorrect, the European Topic Centre on Climate Mitigation (ETC/CM) will provide feedback to the MS and request clarification, especially if no data has been submitted.</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60</a:t>
            </a:fld>
            <a:endParaRPr lang="en-DK"/>
          </a:p>
        </p:txBody>
      </p:sp>
    </p:spTree>
    <p:extLst>
      <p:ext uri="{BB962C8B-B14F-4D97-AF65-F5344CB8AC3E}">
        <p14:creationId xmlns:p14="http://schemas.microsoft.com/office/powerpoint/2010/main" val="2541694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If you have any issues with the platform, questions, or would like to request any form of assistance from us, please do not hesitate to contact us. We will be happy to support you. I am sharing our emails here on this slide. You can reach out to me if you have any questions regarding reporting on climate adaptation, and you can reach out to my colleague Marc if you have any technical issues.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65</a:t>
            </a:fld>
            <a:endParaRPr lang="en-DK"/>
          </a:p>
        </p:txBody>
      </p:sp>
    </p:spTree>
    <p:extLst>
      <p:ext uri="{BB962C8B-B14F-4D97-AF65-F5344CB8AC3E}">
        <p14:creationId xmlns:p14="http://schemas.microsoft.com/office/powerpoint/2010/main" val="4191349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62DD0-C5DC-88A2-8DD6-BA0FF7F23E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F7170ECA-95A9-F96E-E451-5254D5A1E9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80FCFEB9-5D2A-126A-7FDB-82B033E4F4FA}"/>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16349648-3547-E4D7-A86E-A374DA45A98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604172E3-CAB0-8838-D225-F2275F2D0A04}"/>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244937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84BE-BF78-E688-2ADE-976D17113B71}"/>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3366D5A3-1B7F-420A-AFD5-3CBB324A85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C68C310F-C70E-D8A3-2D2A-818D34128FCB}"/>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9F02C333-E84B-6B06-A054-7713E26E02EA}"/>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8A16DF8-2601-7934-0A30-001684A569A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6302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5106-A24B-8D43-28F2-03B7D02D22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041F93D2-B2A6-DABC-6B2E-809A8EDD99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1CD7AB-B6EB-573C-0F38-C85171B6D5C3}"/>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21E90584-4652-0A9E-14B8-9EDD0018DD4D}"/>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948C05A-CE98-3517-CC06-8F41AD00A21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938838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3BCF-D6D3-034C-D858-790B8405412E}"/>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B6B0ACCB-AB5D-3F5C-1029-82DCD53309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6FBDE309-68A2-F95D-996D-7994991972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02F97CA6-DA7A-014D-8EC1-7E4C4491110F}"/>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36FB7E1D-0AEF-0AF5-918B-DC0BF858DB26}"/>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09E5BF64-0071-370B-4095-F7AADD06A73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4173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B3CD7-8C5E-55F6-5B9D-044CEEF08182}"/>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C229BD58-E342-E82A-47AB-B5BB21088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0E5085-8F9D-63E5-2971-AB6B9DB81D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02C513AD-10A2-D41F-2653-BE68AB722A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98C68D-B2FB-5B1D-A44B-D1ED2D69D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A32F890A-1DD5-FD31-737E-45F287229A69}"/>
              </a:ext>
            </a:extLst>
          </p:cNvPr>
          <p:cNvSpPr>
            <a:spLocks noGrp="1"/>
          </p:cNvSpPr>
          <p:nvPr>
            <p:ph type="dt" sz="half" idx="10"/>
          </p:nvPr>
        </p:nvSpPr>
        <p:spPr/>
        <p:txBody>
          <a:bodyPr/>
          <a:lstStyle/>
          <a:p>
            <a:endParaRPr lang="en-DK"/>
          </a:p>
        </p:txBody>
      </p:sp>
      <p:sp>
        <p:nvSpPr>
          <p:cNvPr id="8" name="Footer Placeholder 7">
            <a:extLst>
              <a:ext uri="{FF2B5EF4-FFF2-40B4-BE49-F238E27FC236}">
                <a16:creationId xmlns:a16="http://schemas.microsoft.com/office/drawing/2014/main" id="{915FBE75-074B-8C4F-044A-AAADE1E523CF}"/>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FA8E1DE9-148C-585A-EB49-6397C95AD1A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98682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D930-0A4F-EBBE-73CF-B0EDA15160AD}"/>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EAD1E07D-308F-9879-B709-3123A28C67B1}"/>
              </a:ext>
            </a:extLst>
          </p:cNvPr>
          <p:cNvSpPr>
            <a:spLocks noGrp="1"/>
          </p:cNvSpPr>
          <p:nvPr>
            <p:ph type="dt" sz="half" idx="10"/>
          </p:nvPr>
        </p:nvSpPr>
        <p:spPr/>
        <p:txBody>
          <a:bodyPr/>
          <a:lstStyle/>
          <a:p>
            <a:endParaRPr lang="en-DK"/>
          </a:p>
        </p:txBody>
      </p:sp>
      <p:sp>
        <p:nvSpPr>
          <p:cNvPr id="4" name="Footer Placeholder 3">
            <a:extLst>
              <a:ext uri="{FF2B5EF4-FFF2-40B4-BE49-F238E27FC236}">
                <a16:creationId xmlns:a16="http://schemas.microsoft.com/office/drawing/2014/main" id="{59EBEFA7-FC3B-64F8-96AA-626865748973}"/>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71212795-682B-7938-FE47-679AFD2B1EBF}"/>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09766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D9487-B30E-7D18-2DFB-D100FD28B97E}"/>
              </a:ext>
            </a:extLst>
          </p:cNvPr>
          <p:cNvSpPr>
            <a:spLocks noGrp="1"/>
          </p:cNvSpPr>
          <p:nvPr>
            <p:ph type="dt" sz="half" idx="10"/>
          </p:nvPr>
        </p:nvSpPr>
        <p:spPr/>
        <p:txBody>
          <a:bodyPr/>
          <a:lstStyle/>
          <a:p>
            <a:endParaRPr lang="en-DK"/>
          </a:p>
        </p:txBody>
      </p:sp>
      <p:sp>
        <p:nvSpPr>
          <p:cNvPr id="3" name="Footer Placeholder 2">
            <a:extLst>
              <a:ext uri="{FF2B5EF4-FFF2-40B4-BE49-F238E27FC236}">
                <a16:creationId xmlns:a16="http://schemas.microsoft.com/office/drawing/2014/main" id="{EA6E9AD3-C86D-BD60-91F4-742654C19C7C}"/>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235E71EF-A352-E7AA-CED6-88CCC78B9B09}"/>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35296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43841-BFD5-2BB8-7ED7-73C6530AC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75CA06AF-411A-677F-A5AD-D420B48011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2FB69A09-87A4-54F7-24DD-9D4AF7C89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864E5-595F-27B7-9FF6-169C48C8A692}"/>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FBB46663-CEC3-0C08-C8D2-8ECE4D1E9D8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BB29CED0-AD28-7067-F54B-8019EF035183}"/>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66070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16CA-A3FA-914B-3AC4-7907E487EC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6DF6CA86-E853-3A23-E029-FBEA520257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8EDE6E34-CCCB-44F1-740A-5270712E9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E489F9-3489-F20C-347E-900CB7510691}"/>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B2A5D9C3-3DD0-7C49-7C68-3ED4C6FBC6E7}"/>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33B25455-DB6C-FB3F-323F-42C0B2114B9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94567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0178-9067-A5F1-B47F-62C9B0C74319}"/>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4AF1BF6-F4C2-12AE-D62E-8EC6821B37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093217D2-7AC3-94EF-D8DF-67D4BDB77261}"/>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E58EF233-BAA0-CEDD-4DED-BC4815E9F194}"/>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D339179-A308-372A-A01B-AF2503F8CC9E}"/>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677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9A0DDD-306D-6CE0-B0BC-95EE8088C9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D5B83538-0317-1D9A-219D-2119A747CA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57DAAF87-0994-7BB5-56D7-BAA35FDD5FEE}"/>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D4CD6CE6-7FDF-78C8-EA4B-649ACA6A8BD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5167D42-A120-46AE-DA9E-1CF86B16893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38790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egative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A9E58F-F0E4-446A-9BDE-731A333E6E3D}"/>
              </a:ext>
            </a:extLst>
          </p:cNvPr>
          <p:cNvSpPr/>
          <p:nvPr userDrawn="1"/>
        </p:nvSpPr>
        <p:spPr>
          <a:xfrm>
            <a:off x="0" y="0"/>
            <a:ext cx="12192000" cy="6858000"/>
          </a:xfrm>
          <a:prstGeom prst="rect">
            <a:avLst/>
          </a:prstGeom>
          <a:solidFill>
            <a:srgbClr val="004B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3" name="Picture 2" descr="Text&#10;&#10;Description automatically generated">
            <a:extLst>
              <a:ext uri="{FF2B5EF4-FFF2-40B4-BE49-F238E27FC236}">
                <a16:creationId xmlns:a16="http://schemas.microsoft.com/office/drawing/2014/main" id="{EECD597F-8AA8-4E51-9146-C063CEB955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10754" y="6019900"/>
            <a:ext cx="3057655" cy="576000"/>
          </a:xfrm>
          <a:prstGeom prst="rect">
            <a:avLst/>
          </a:prstGeom>
        </p:spPr>
      </p:pic>
    </p:spTree>
    <p:extLst>
      <p:ext uri="{BB962C8B-B14F-4D97-AF65-F5344CB8AC3E}">
        <p14:creationId xmlns:p14="http://schemas.microsoft.com/office/powerpoint/2010/main" val="997975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90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19045066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650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38F2D-64B1-7DE0-E06A-0255EA106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474BF234-12BB-9872-048D-91979AFAA6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B926C628-0371-0724-8D39-BDE1C629EE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DK"/>
          </a:p>
        </p:txBody>
      </p:sp>
      <p:sp>
        <p:nvSpPr>
          <p:cNvPr id="5" name="Footer Placeholder 4">
            <a:extLst>
              <a:ext uri="{FF2B5EF4-FFF2-40B4-BE49-F238E27FC236}">
                <a16:creationId xmlns:a16="http://schemas.microsoft.com/office/drawing/2014/main" id="{A967519F-7B8F-E46E-B9CE-5D13BB2CE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9577E2C1-F5A2-7F5C-70C0-3D1AB52B0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424DB6-78F0-4ADD-B66A-AFD80B81666A}" type="slidenum">
              <a:rPr lang="en-DK" smtClean="0"/>
              <a:t>‹#›</a:t>
            </a:fld>
            <a:endParaRPr lang="en-DK"/>
          </a:p>
        </p:txBody>
      </p:sp>
    </p:spTree>
    <p:extLst>
      <p:ext uri="{BB962C8B-B14F-4D97-AF65-F5344CB8AC3E}">
        <p14:creationId xmlns:p14="http://schemas.microsoft.com/office/powerpoint/2010/main" val="3725570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www.eionet.europa.eu/reportnet/docs/prod/howto_login_reportnet3" TargetMode="External"/><Relationship Id="rId2" Type="http://schemas.openxmlformats.org/officeDocument/2006/relationships/image" Target="../media/image13.png"/><Relationship Id="rId1" Type="http://schemas.openxmlformats.org/officeDocument/2006/relationships/slideLayout" Target="../slideLayouts/slideLayout13.xml"/><Relationship Id="rId6" Type="http://schemas.openxmlformats.org/officeDocument/2006/relationships/hyperlink" Target="https://www.eionet.europa.eu/reportnet/docs/prod/mfa-for-eu-login.pdf/" TargetMode="External"/><Relationship Id="rId5" Type="http://schemas.openxmlformats.org/officeDocument/2006/relationships/image" Target="../media/image15.sv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3.png"/><Relationship Id="rId11" Type="http://schemas.openxmlformats.org/officeDocument/2006/relationships/image" Target="../media/image38.svg"/><Relationship Id="rId5" Type="http://schemas.openxmlformats.org/officeDocument/2006/relationships/image" Target="../media/image32.sv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svg"/></Relationships>
</file>

<file path=ppt/slides/_rels/slide1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 Id="rId9" Type="http://schemas.openxmlformats.org/officeDocument/2006/relationships/image" Target="../media/image46.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12.xml"/><Relationship Id="rId5" Type="http://schemas.openxmlformats.org/officeDocument/2006/relationships/image" Target="../media/image56.sv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microsoft.com/office/2018/10/relationships/comments" Target="../comments/modernComment_720_BA4D639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62.svg"/><Relationship Id="rId7" Type="http://schemas.openxmlformats.org/officeDocument/2006/relationships/image" Target="../media/image66.svg"/><Relationship Id="rId2"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svg"/><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12.xml"/><Relationship Id="rId5" Type="http://schemas.openxmlformats.org/officeDocument/2006/relationships/image" Target="../media/image56.sv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73.svg"/><Relationship Id="rId7" Type="http://schemas.openxmlformats.org/officeDocument/2006/relationships/image" Target="../media/image77.svg"/><Relationship Id="rId2" Type="http://schemas.openxmlformats.org/officeDocument/2006/relationships/image" Target="../media/image72.png"/><Relationship Id="rId1" Type="http://schemas.openxmlformats.org/officeDocument/2006/relationships/slideLayout" Target="../slideLayouts/slideLayout13.xml"/><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78.png"/><Relationship Id="rId1" Type="http://schemas.openxmlformats.org/officeDocument/2006/relationships/slideLayout" Target="../slideLayouts/slideLayout13.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85.png"/><Relationship Id="rId4" Type="http://schemas.openxmlformats.org/officeDocument/2006/relationships/image" Target="../media/image84.png"/></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image" Target="../media/image87.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3.xml"/><Relationship Id="rId4" Type="http://schemas.openxmlformats.org/officeDocument/2006/relationships/image" Target="../media/image91.png"/></Relationships>
</file>

<file path=ppt/slides/_rels/slide4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93.sv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101.svg"/><Relationship Id="rId7" Type="http://schemas.openxmlformats.org/officeDocument/2006/relationships/image" Target="../media/image103.svg"/><Relationship Id="rId2" Type="http://schemas.openxmlformats.org/officeDocument/2006/relationships/image" Target="../media/image100.png"/><Relationship Id="rId1" Type="http://schemas.openxmlformats.org/officeDocument/2006/relationships/slideLayout" Target="../slideLayouts/slideLayout13.xml"/><Relationship Id="rId6" Type="http://schemas.openxmlformats.org/officeDocument/2006/relationships/image" Target="../media/image102.png"/><Relationship Id="rId5" Type="http://schemas.openxmlformats.org/officeDocument/2006/relationships/image" Target="../media/image11.svg"/><Relationship Id="rId10" Type="http://schemas.openxmlformats.org/officeDocument/2006/relationships/image" Target="../media/image106.jpeg"/><Relationship Id="rId4" Type="http://schemas.openxmlformats.org/officeDocument/2006/relationships/image" Target="../media/image10.png"/><Relationship Id="rId9" Type="http://schemas.openxmlformats.org/officeDocument/2006/relationships/image" Target="../media/image105.sv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hyperlink" Target="mailto:govreg@eea.europa.eu" TargetMode="External"/><Relationship Id="rId1" Type="http://schemas.openxmlformats.org/officeDocument/2006/relationships/slideLayout" Target="../slideLayouts/slideLayout13.xml"/><Relationship Id="rId4" Type="http://schemas.openxmlformats.org/officeDocument/2006/relationships/image" Target="../media/image108.svg"/></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mailto:aneliya.nikolova@eea.europa.eu" TargetMode="External"/><Relationship Id="rId5" Type="http://schemas.openxmlformats.org/officeDocument/2006/relationships/hyperlink" Target="mailto:per.wretlind@eea.europa.eu" TargetMode="External"/><Relationship Id="rId4" Type="http://schemas.openxmlformats.org/officeDocument/2006/relationships/hyperlink" Target="mailto:magdalena.jozwicka@eea.europa.eu" TargetMode="External"/></Relationships>
</file>

<file path=ppt/slides/_rels/slide5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1.svg"/><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114.svg"/><Relationship Id="rId2" Type="http://schemas.openxmlformats.org/officeDocument/2006/relationships/image" Target="../media/image113.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11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erson playing hopscotch">
            <a:extLst>
              <a:ext uri="{FF2B5EF4-FFF2-40B4-BE49-F238E27FC236}">
                <a16:creationId xmlns:a16="http://schemas.microsoft.com/office/drawing/2014/main" id="{4FF8DADB-2704-493C-1EFC-F0B8CEE23CEA}"/>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15633"/>
          <a:stretch/>
        </p:blipFill>
        <p:spPr>
          <a:xfrm>
            <a:off x="0" y="0"/>
            <a:ext cx="12192000" cy="6858000"/>
          </a:xfrm>
          <a:prstGeom prst="rect">
            <a:avLst/>
          </a:prstGeom>
        </p:spPr>
      </p:pic>
      <p:sp>
        <p:nvSpPr>
          <p:cNvPr id="5" name="Text Placeholder 3">
            <a:extLst>
              <a:ext uri="{FF2B5EF4-FFF2-40B4-BE49-F238E27FC236}">
                <a16:creationId xmlns:a16="http://schemas.microsoft.com/office/drawing/2014/main" id="{793595B9-DB62-B8FC-1A47-8E588A3810B9}"/>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endParaRPr lang="en-GB" sz="1400"/>
          </a:p>
        </p:txBody>
      </p:sp>
      <p:pic>
        <p:nvPicPr>
          <p:cNvPr id="6" name="Picture 4" descr="Text&#10;&#10;Description automatically generated">
            <a:extLst>
              <a:ext uri="{FF2B5EF4-FFF2-40B4-BE49-F238E27FC236}">
                <a16:creationId xmlns:a16="http://schemas.microsoft.com/office/drawing/2014/main" id="{4A56B853-524A-A71B-C24E-880A57633606}"/>
              </a:ext>
            </a:extLst>
          </p:cNvPr>
          <p:cNvPicPr>
            <a:picLocks noChangeAspect="1"/>
          </p:cNvPicPr>
          <p:nvPr/>
        </p:nvPicPr>
        <p:blipFill>
          <a:blip r:embed="rId4"/>
          <a:stretch>
            <a:fillRect/>
          </a:stretch>
        </p:blipFill>
        <p:spPr>
          <a:xfrm>
            <a:off x="9635478" y="6257780"/>
            <a:ext cx="2484335" cy="468000"/>
          </a:xfrm>
          <a:prstGeom prst="rect">
            <a:avLst/>
          </a:prstGeom>
        </p:spPr>
      </p:pic>
      <p:sp>
        <p:nvSpPr>
          <p:cNvPr id="7" name="TextBox 6">
            <a:extLst>
              <a:ext uri="{FF2B5EF4-FFF2-40B4-BE49-F238E27FC236}">
                <a16:creationId xmlns:a16="http://schemas.microsoft.com/office/drawing/2014/main" id="{8DE23F50-A075-9D5E-847E-4CFD887D9067}"/>
              </a:ext>
            </a:extLst>
          </p:cNvPr>
          <p:cNvSpPr txBox="1"/>
          <p:nvPr/>
        </p:nvSpPr>
        <p:spPr>
          <a:xfrm>
            <a:off x="1" y="892455"/>
            <a:ext cx="12191999" cy="1754326"/>
          </a:xfrm>
          <a:prstGeom prst="rect">
            <a:avLst/>
          </a:prstGeom>
          <a:solidFill>
            <a:schemeClr val="accent3">
              <a:lumMod val="50000"/>
              <a:alpha val="44000"/>
            </a:schemeClr>
          </a:solidFill>
        </p:spPr>
        <p:txBody>
          <a:bodyPr wrap="square" rtlCol="0">
            <a:spAutoFit/>
          </a:bodyPr>
          <a:lstStyle/>
          <a:p>
            <a:pPr algn="r"/>
            <a:r>
              <a:rPr lang="en-US" sz="3600" dirty="0"/>
              <a:t>Training on Integrated progress report</a:t>
            </a:r>
          </a:p>
          <a:p>
            <a:pPr algn="r"/>
            <a:r>
              <a:rPr lang="en-US" sz="3600" dirty="0">
                <a:solidFill>
                  <a:srgbClr val="FFFFFF"/>
                </a:solidFill>
                <a:latin typeface="Calibri"/>
              </a:rPr>
              <a:t>Progress towards objectives, targets and contributions - </a:t>
            </a:r>
          </a:p>
          <a:p>
            <a:pPr algn="r"/>
            <a:r>
              <a:rPr lang="en-US" sz="3600" dirty="0">
                <a:solidFill>
                  <a:srgbClr val="FFFFFF"/>
                </a:solidFill>
                <a:latin typeface="Calibri"/>
              </a:rPr>
              <a:t>Greenhouse gas emissions and removals ANNEX I</a:t>
            </a:r>
            <a:endParaRPr lang="da-DK" sz="3600" b="1" dirty="0">
              <a:solidFill>
                <a:schemeClr val="bg1"/>
              </a:solidFill>
            </a:endParaRPr>
          </a:p>
        </p:txBody>
      </p:sp>
      <p:sp>
        <p:nvSpPr>
          <p:cNvPr id="8" name="TextBox 7">
            <a:extLst>
              <a:ext uri="{FF2B5EF4-FFF2-40B4-BE49-F238E27FC236}">
                <a16:creationId xmlns:a16="http://schemas.microsoft.com/office/drawing/2014/main" id="{F96ECC34-C9C5-86CF-6D14-957EDDF105AD}"/>
              </a:ext>
            </a:extLst>
          </p:cNvPr>
          <p:cNvSpPr txBox="1"/>
          <p:nvPr/>
        </p:nvSpPr>
        <p:spPr>
          <a:xfrm>
            <a:off x="6681534" y="4592833"/>
            <a:ext cx="5510466" cy="1015663"/>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i="1" dirty="0">
                <a:solidFill>
                  <a:schemeClr val="bg1"/>
                </a:solidFill>
              </a:rPr>
              <a:t>Prepared by Ph.D. Marta Giulia Baldi</a:t>
            </a:r>
            <a:endParaRPr lang="en-US" sz="2000" i="1">
              <a:solidFill>
                <a:schemeClr val="bg1"/>
              </a:solidFill>
              <a:ea typeface="Calibri"/>
              <a:cs typeface="Calibri"/>
            </a:endParaRPr>
          </a:p>
          <a:p>
            <a:pPr algn="r"/>
            <a:r>
              <a:rPr lang="en-US" sz="2000" i="1" dirty="0">
                <a:solidFill>
                  <a:schemeClr val="bg1"/>
                </a:solidFill>
              </a:rPr>
              <a:t>Presented by Per Wretlind and Aneliya Nikolova</a:t>
            </a:r>
            <a:r>
              <a:rPr lang="en-US" sz="2000" b="1" i="1" dirty="0">
                <a:solidFill>
                  <a:schemeClr val="bg1"/>
                </a:solidFill>
              </a:rPr>
              <a:t> </a:t>
            </a:r>
            <a:br>
              <a:rPr lang="en-SE" sz="2000" b="1" i="1" dirty="0"/>
            </a:br>
            <a:r>
              <a:rPr lang="en-SE" sz="2000" b="1" i="1" dirty="0">
                <a:solidFill>
                  <a:schemeClr val="bg1"/>
                </a:solidFill>
              </a:rPr>
              <a:t>European Environment Agency</a:t>
            </a:r>
            <a:endParaRPr lang="en-US" sz="2000" b="1" i="1">
              <a:solidFill>
                <a:schemeClr val="bg1"/>
              </a:solidFill>
              <a:ea typeface="Calibri"/>
              <a:cs typeface="Calibri"/>
            </a:endParaRPr>
          </a:p>
        </p:txBody>
      </p:sp>
      <p:sp>
        <p:nvSpPr>
          <p:cNvPr id="2" name="TextBox 1">
            <a:extLst>
              <a:ext uri="{FF2B5EF4-FFF2-40B4-BE49-F238E27FC236}">
                <a16:creationId xmlns:a16="http://schemas.microsoft.com/office/drawing/2014/main" id="{37CF1089-2AD9-9C4A-B3EB-70E8CA0DC400}"/>
              </a:ext>
            </a:extLst>
          </p:cNvPr>
          <p:cNvSpPr txBox="1"/>
          <p:nvPr/>
        </p:nvSpPr>
        <p:spPr>
          <a:xfrm>
            <a:off x="6681534" y="5725450"/>
            <a:ext cx="5510465" cy="400110"/>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dirty="0">
                <a:solidFill>
                  <a:schemeClr val="bg1"/>
                </a:solidFill>
              </a:rPr>
              <a:t>9 October 2025 | Sarajevo</a:t>
            </a:r>
          </a:p>
        </p:txBody>
      </p:sp>
    </p:spTree>
    <p:extLst>
      <p:ext uri="{BB962C8B-B14F-4D97-AF65-F5344CB8AC3E}">
        <p14:creationId xmlns:p14="http://schemas.microsoft.com/office/powerpoint/2010/main" val="19814908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Content Placeholder 9">
            <a:extLst>
              <a:ext uri="{FF2B5EF4-FFF2-40B4-BE49-F238E27FC236}">
                <a16:creationId xmlns:a16="http://schemas.microsoft.com/office/drawing/2014/main" id="{114494A3-76A5-D106-05F6-5DAC7858349E}"/>
              </a:ext>
            </a:extLst>
          </p:cNvPr>
          <p:cNvPicPr>
            <a:picLocks noChangeAspect="1"/>
          </p:cNvPicPr>
          <p:nvPr/>
        </p:nvPicPr>
        <p:blipFill>
          <a:blip r:embed="rId2"/>
          <a:stretch>
            <a:fillRect/>
          </a:stretch>
        </p:blipFill>
        <p:spPr>
          <a:xfrm>
            <a:off x="5685578" y="1575378"/>
            <a:ext cx="5703042" cy="2739349"/>
          </a:xfrm>
          <a:prstGeom prst="rect">
            <a:avLst/>
          </a:prstGeom>
          <a:noFill/>
        </p:spPr>
      </p:pic>
      <p:sp>
        <p:nvSpPr>
          <p:cNvPr id="3" name="Rectangle: Rounded Corners 5">
            <a:extLst>
              <a:ext uri="{FF2B5EF4-FFF2-40B4-BE49-F238E27FC236}">
                <a16:creationId xmlns:a16="http://schemas.microsoft.com/office/drawing/2014/main" id="{A92D05D3-D9AD-4E6A-CAC2-04952645F4AD}"/>
              </a:ext>
            </a:extLst>
          </p:cNvPr>
          <p:cNvSpPr/>
          <p:nvPr/>
        </p:nvSpPr>
        <p:spPr>
          <a:xfrm>
            <a:off x="709739" y="1201065"/>
            <a:ext cx="4588771" cy="4505999"/>
          </a:xfrm>
          <a:prstGeom prst="round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Content Placeholder 4">
            <a:extLst>
              <a:ext uri="{FF2B5EF4-FFF2-40B4-BE49-F238E27FC236}">
                <a16:creationId xmlns:a16="http://schemas.microsoft.com/office/drawing/2014/main" id="{D4FA2CF8-C15F-74A3-3012-C2010CD4F06D}"/>
              </a:ext>
            </a:extLst>
          </p:cNvPr>
          <p:cNvSpPr txBox="1">
            <a:spLocks/>
          </p:cNvSpPr>
          <p:nvPr/>
        </p:nvSpPr>
        <p:spPr bwMode="auto">
          <a:xfrm>
            <a:off x="958198" y="1709599"/>
            <a:ext cx="4152422" cy="4183201"/>
          </a:xfrm>
          <a:prstGeom prst="rect">
            <a:avLst/>
          </a:prstGeom>
          <a:noFill/>
          <a:ln w="9525">
            <a:noFill/>
            <a:miter lim="800000"/>
            <a:headEnd/>
            <a:tailEnd/>
          </a:ln>
          <a:effectLst/>
        </p:spPr>
        <p:txBody>
          <a:bodyPr vert="horz" wrap="square" lIns="0" tIns="0" rIns="0" bIns="0" numCol="1" anchor="t" anchorCtr="0" compatLnSpc="1">
            <a:prstTxWarp prst="textNoShape">
              <a:avLst/>
            </a:prstTxWarp>
            <a:normAutofit fontScale="92500" lnSpcReduction="20000"/>
          </a:bodyPr>
          <a:lstStyle>
            <a:lvl1pPr marL="251950" indent="-251950" algn="l" defTabSz="457098" rtl="0" eaLnBrk="1" fontAlgn="base" hangingPunct="1">
              <a:lnSpc>
                <a:spcPct val="100000"/>
              </a:lnSpc>
              <a:spcBef>
                <a:spcPct val="0"/>
              </a:spcBef>
              <a:spcAft>
                <a:spcPts val="1200"/>
              </a:spcAft>
              <a:buFont typeface="Verdana" pitchFamily="34" charset="0"/>
              <a:buChar char="•"/>
              <a:defRPr kern="1200" spc="-50" baseline="0">
                <a:solidFill>
                  <a:schemeClr val="tx1"/>
                </a:solidFill>
                <a:latin typeface="Verdana"/>
                <a:ea typeface="Verdana" pitchFamily="34" charset="0"/>
                <a:cs typeface="Verdana" pitchFamily="34" charset="0"/>
              </a:defRPr>
            </a:lvl1pPr>
            <a:lvl2pPr marL="647870" indent="-251950" algn="l" defTabSz="457098" rtl="0" eaLnBrk="1" fontAlgn="base" hangingPunct="1">
              <a:lnSpc>
                <a:spcPct val="100000"/>
              </a:lnSpc>
              <a:spcBef>
                <a:spcPct val="0"/>
              </a:spcBef>
              <a:spcAft>
                <a:spcPts val="1200"/>
              </a:spcAft>
              <a:buFont typeface="Verdana" pitchFamily="34" charset="0"/>
              <a:buChar char="•"/>
              <a:defRPr sz="1600" kern="1200" spc="-50" baseline="0">
                <a:solidFill>
                  <a:schemeClr val="tx1"/>
                </a:solidFill>
                <a:latin typeface="Verdana"/>
                <a:ea typeface="Verdana" pitchFamily="34" charset="0"/>
                <a:cs typeface="+mn-cs"/>
              </a:defRPr>
            </a:lvl2pPr>
            <a:lvl3pPr marL="979004" indent="-251950" algn="l" defTabSz="457098" rtl="0" eaLnBrk="1" fontAlgn="base" hangingPunct="1">
              <a:lnSpc>
                <a:spcPct val="100000"/>
              </a:lnSpc>
              <a:spcBef>
                <a:spcPct val="0"/>
              </a:spcBef>
              <a:spcAft>
                <a:spcPts val="1200"/>
              </a:spcAft>
              <a:buFont typeface="Verdana" pitchFamily="34" charset="0"/>
              <a:buChar char="•"/>
              <a:defRPr sz="1400" kern="1200" spc="-50" baseline="0">
                <a:solidFill>
                  <a:schemeClr val="tx1"/>
                </a:solidFill>
                <a:latin typeface="Verdana"/>
                <a:ea typeface="Verdana" pitchFamily="34" charset="0"/>
                <a:cs typeface="+mn-cs"/>
              </a:defRPr>
            </a:lvl3pPr>
            <a:lvl4pPr marL="0" indent="0" algn="l" defTabSz="457098" rtl="0" eaLnBrk="1" fontAlgn="base" hangingPunct="1">
              <a:lnSpc>
                <a:spcPct val="100000"/>
              </a:lnSpc>
              <a:spcBef>
                <a:spcPct val="0"/>
              </a:spcBef>
              <a:spcAft>
                <a:spcPts val="1200"/>
              </a:spcAft>
              <a:buFont typeface="Arial" panose="020B0604020202020204" pitchFamily="34" charset="0"/>
              <a:buChar char="​"/>
              <a:defRPr sz="1800" kern="1200" spc="-50" baseline="0">
                <a:solidFill>
                  <a:schemeClr val="tx1"/>
                </a:solidFill>
                <a:latin typeface="Verdana"/>
                <a:ea typeface="Verdana" pitchFamily="34" charset="0"/>
                <a:cs typeface="+mn-cs"/>
              </a:defRPr>
            </a:lvl4pPr>
            <a:lvl5pPr marL="0" indent="0" algn="l" defTabSz="457098" rtl="0" eaLnBrk="1" fontAlgn="base" hangingPunct="1">
              <a:lnSpc>
                <a:spcPct val="80000"/>
              </a:lnSpc>
              <a:spcBef>
                <a:spcPct val="0"/>
              </a:spcBef>
              <a:spcAft>
                <a:spcPts val="1200"/>
              </a:spcAft>
              <a:buFont typeface="Arial" panose="020B0604020202020204" pitchFamily="34" charset="0"/>
              <a:buChar char="​"/>
              <a:defRPr sz="4799" b="1" kern="1200" cap="all" spc="-100" baseline="0">
                <a:solidFill>
                  <a:schemeClr val="tx1"/>
                </a:solidFill>
                <a:latin typeface="Verdana"/>
                <a:ea typeface="Verdana" pitchFamily="34" charset="0"/>
                <a:cs typeface="+mn-cs"/>
              </a:defRPr>
            </a:lvl5pPr>
            <a:lvl6pPr marL="0" indent="0" algn="l" defTabSz="457098" rtl="0" eaLnBrk="1" latinLnBrk="0" hangingPunct="1">
              <a:spcBef>
                <a:spcPts val="0"/>
              </a:spcBef>
              <a:spcAft>
                <a:spcPts val="600"/>
              </a:spcAft>
              <a:buClr>
                <a:schemeClr val="tx2"/>
              </a:buClr>
              <a:buFont typeface="Arial" panose="020B0604020202020204" pitchFamily="34" charset="0"/>
              <a:buChar char="​"/>
              <a:defRPr sz="1800" b="1" kern="1200" cap="all" spc="-50" baseline="0">
                <a:solidFill>
                  <a:schemeClr val="tx2"/>
                </a:solidFill>
                <a:latin typeface="+mn-lt"/>
                <a:ea typeface="+mn-ea"/>
                <a:cs typeface="+mn-cs"/>
              </a:defRPr>
            </a:lvl6pPr>
            <a:lvl7pPr marL="0" indent="0" algn="l" defTabSz="457098" rtl="0" eaLnBrk="1" latinLnBrk="0" hangingPunct="1">
              <a:spcBef>
                <a:spcPts val="0"/>
              </a:spcBef>
              <a:spcAft>
                <a:spcPts val="1200"/>
              </a:spcAft>
              <a:buFont typeface="Arial" panose="020B0604020202020204" pitchFamily="34" charset="0"/>
              <a:buChar char="​"/>
              <a:defRPr sz="1800" i="0" kern="1200" spc="-50">
                <a:solidFill>
                  <a:schemeClr val="bg2"/>
                </a:solidFill>
                <a:latin typeface="+mn-lt"/>
                <a:ea typeface="+mn-ea"/>
                <a:cs typeface="+mn-cs"/>
              </a:defRPr>
            </a:lvl7pPr>
            <a:lvl8pPr marL="647870" indent="-251950" algn="l" defTabSz="457098" rtl="0" eaLnBrk="1" latinLnBrk="0" hangingPunct="1">
              <a:spcBef>
                <a:spcPts val="0"/>
              </a:spcBef>
              <a:spcAft>
                <a:spcPts val="1200"/>
              </a:spcAft>
              <a:buClr>
                <a:schemeClr val="bg2"/>
              </a:buClr>
              <a:buFont typeface="+mj-lt"/>
              <a:buAutoNum type="arabicPeriod"/>
              <a:defRPr sz="1600" kern="1200" spc="-50">
                <a:solidFill>
                  <a:schemeClr val="tx1"/>
                </a:solidFill>
                <a:latin typeface="+mn-lt"/>
                <a:ea typeface="+mn-ea"/>
                <a:cs typeface="+mn-cs"/>
              </a:defRPr>
            </a:lvl8pPr>
            <a:lvl9pPr marL="647870" indent="-251950" algn="l" defTabSz="457098" rtl="0" eaLnBrk="1" latinLnBrk="0" hangingPunct="1">
              <a:spcBef>
                <a:spcPts val="0"/>
              </a:spcBef>
              <a:spcAft>
                <a:spcPts val="1200"/>
              </a:spcAft>
              <a:buClr>
                <a:schemeClr val="bg2"/>
              </a:buClr>
              <a:buFont typeface="+mj-lt"/>
              <a:buAutoNum type="alphaUcPeriod"/>
              <a:defRPr sz="1600" kern="1200" spc="-50">
                <a:solidFill>
                  <a:schemeClr val="tx1"/>
                </a:solidFill>
                <a:latin typeface="+mn-lt"/>
                <a:ea typeface="+mn-ea"/>
                <a:cs typeface="+mn-cs"/>
              </a:defRPr>
            </a:lvl9pPr>
          </a:lstStyle>
          <a:p>
            <a:pPr marL="342900" indent="-342900">
              <a:buFont typeface="+mj-lt"/>
              <a:buAutoNum type="arabicPeriod"/>
            </a:pPr>
            <a:r>
              <a:rPr lang="it-IT" b="1" err="1">
                <a:solidFill>
                  <a:schemeClr val="accent5"/>
                </a:solidFill>
              </a:rPr>
              <a:t>Please</a:t>
            </a:r>
            <a:r>
              <a:rPr lang="it-IT" b="1">
                <a:solidFill>
                  <a:schemeClr val="accent5"/>
                </a:solidFill>
              </a:rPr>
              <a:t> mute </a:t>
            </a:r>
            <a:r>
              <a:rPr lang="it-IT" err="1"/>
              <a:t>your</a:t>
            </a:r>
            <a:r>
              <a:rPr lang="it-IT"/>
              <a:t> </a:t>
            </a:r>
            <a:r>
              <a:rPr lang="it-IT" err="1"/>
              <a:t>microphone</a:t>
            </a:r>
            <a:r>
              <a:rPr lang="it-IT"/>
              <a:t> </a:t>
            </a:r>
            <a:r>
              <a:rPr lang="it-IT" err="1"/>
              <a:t>when</a:t>
            </a:r>
            <a:r>
              <a:rPr lang="it-IT"/>
              <a:t> </a:t>
            </a:r>
            <a:r>
              <a:rPr lang="it-IT" err="1"/>
              <a:t>joining</a:t>
            </a:r>
            <a:r>
              <a:rPr lang="it-IT"/>
              <a:t> the call.</a:t>
            </a:r>
          </a:p>
          <a:p>
            <a:pPr marL="342900" indent="-342900">
              <a:buFont typeface="+mj-lt"/>
              <a:buAutoNum type="arabicPeriod"/>
            </a:pPr>
            <a:r>
              <a:rPr lang="it-IT" err="1"/>
              <a:t>Please</a:t>
            </a:r>
            <a:r>
              <a:rPr lang="it-IT"/>
              <a:t> indicate </a:t>
            </a:r>
            <a:r>
              <a:rPr lang="it-IT" err="1"/>
              <a:t>your</a:t>
            </a:r>
            <a:r>
              <a:rPr lang="it-IT"/>
              <a:t> </a:t>
            </a:r>
            <a:r>
              <a:rPr lang="it-IT" err="1"/>
              <a:t>intention</a:t>
            </a:r>
            <a:r>
              <a:rPr lang="it-IT"/>
              <a:t> to </a:t>
            </a:r>
            <a:r>
              <a:rPr lang="it-IT" err="1"/>
              <a:t>speak</a:t>
            </a:r>
            <a:r>
              <a:rPr lang="it-IT"/>
              <a:t> by </a:t>
            </a:r>
            <a:r>
              <a:rPr lang="it-IT" b="1" err="1">
                <a:solidFill>
                  <a:schemeClr val="accent5"/>
                </a:solidFill>
              </a:rPr>
              <a:t>raising</a:t>
            </a:r>
            <a:r>
              <a:rPr lang="it-IT" b="1">
                <a:solidFill>
                  <a:schemeClr val="accent5"/>
                </a:solidFill>
              </a:rPr>
              <a:t> </a:t>
            </a:r>
            <a:r>
              <a:rPr lang="it-IT" b="1" err="1">
                <a:solidFill>
                  <a:schemeClr val="accent5"/>
                </a:solidFill>
              </a:rPr>
              <a:t>your</a:t>
            </a:r>
            <a:r>
              <a:rPr lang="it-IT" b="1">
                <a:solidFill>
                  <a:schemeClr val="accent5"/>
                </a:solidFill>
              </a:rPr>
              <a:t> hand </a:t>
            </a:r>
            <a:r>
              <a:rPr lang="it-IT"/>
              <a:t>or </a:t>
            </a:r>
            <a:r>
              <a:rPr lang="it-IT" err="1"/>
              <a:t>sending</a:t>
            </a:r>
            <a:r>
              <a:rPr lang="it-IT"/>
              <a:t> a </a:t>
            </a:r>
            <a:r>
              <a:rPr lang="it-IT" b="1" err="1">
                <a:solidFill>
                  <a:schemeClr val="accent5"/>
                </a:solidFill>
              </a:rPr>
              <a:t>message</a:t>
            </a:r>
            <a:r>
              <a:rPr lang="it-IT" b="1">
                <a:solidFill>
                  <a:schemeClr val="accent5"/>
                </a:solidFill>
              </a:rPr>
              <a:t> in the chat</a:t>
            </a:r>
            <a:r>
              <a:rPr lang="it-IT"/>
              <a:t>, </a:t>
            </a:r>
            <a:r>
              <a:rPr lang="it-IT" err="1"/>
              <a:t>specifying</a:t>
            </a:r>
            <a:r>
              <a:rPr lang="it-IT"/>
              <a:t> </a:t>
            </a:r>
            <a:r>
              <a:rPr lang="it-IT" err="1"/>
              <a:t>your</a:t>
            </a:r>
            <a:r>
              <a:rPr lang="it-IT"/>
              <a:t> name and </a:t>
            </a:r>
            <a:r>
              <a:rPr lang="it-IT" err="1"/>
              <a:t>organisation</a:t>
            </a:r>
            <a:r>
              <a:rPr lang="it-IT"/>
              <a:t>. </a:t>
            </a:r>
          </a:p>
          <a:p>
            <a:pPr marL="342900" indent="-342900">
              <a:buFont typeface="+mj-lt"/>
              <a:buAutoNum type="arabicPeriod"/>
            </a:pPr>
            <a:r>
              <a:rPr lang="it-IT" err="1"/>
              <a:t>Please</a:t>
            </a:r>
            <a:r>
              <a:rPr lang="it-IT"/>
              <a:t> </a:t>
            </a:r>
            <a:r>
              <a:rPr lang="it-IT" err="1"/>
              <a:t>only</a:t>
            </a:r>
            <a:r>
              <a:rPr lang="it-IT"/>
              <a:t> </a:t>
            </a:r>
            <a:r>
              <a:rPr lang="it-IT" b="1" err="1">
                <a:solidFill>
                  <a:schemeClr val="accent5"/>
                </a:solidFill>
              </a:rPr>
              <a:t>unmute</a:t>
            </a:r>
            <a:r>
              <a:rPr lang="it-IT"/>
              <a:t> </a:t>
            </a:r>
            <a:r>
              <a:rPr lang="it-IT" err="1"/>
              <a:t>your</a:t>
            </a:r>
            <a:r>
              <a:rPr lang="it-IT"/>
              <a:t> </a:t>
            </a:r>
            <a:r>
              <a:rPr lang="it-IT" err="1"/>
              <a:t>microphone</a:t>
            </a:r>
            <a:r>
              <a:rPr lang="it-IT"/>
              <a:t> </a:t>
            </a:r>
            <a:r>
              <a:rPr lang="it-IT" err="1"/>
              <a:t>when</a:t>
            </a:r>
            <a:r>
              <a:rPr lang="it-IT"/>
              <a:t> </a:t>
            </a:r>
            <a:r>
              <a:rPr lang="it-IT" err="1"/>
              <a:t>you</a:t>
            </a:r>
            <a:r>
              <a:rPr lang="it-IT"/>
              <a:t> are </a:t>
            </a:r>
            <a:r>
              <a:rPr lang="it-IT" err="1"/>
              <a:t>given</a:t>
            </a:r>
            <a:r>
              <a:rPr lang="it-IT"/>
              <a:t> the </a:t>
            </a:r>
            <a:r>
              <a:rPr lang="it-IT" err="1"/>
              <a:t>opportunity</a:t>
            </a:r>
            <a:r>
              <a:rPr lang="it-IT"/>
              <a:t> to </a:t>
            </a:r>
            <a:r>
              <a:rPr lang="it-IT" err="1"/>
              <a:t>speak</a:t>
            </a:r>
            <a:r>
              <a:rPr lang="it-IT"/>
              <a:t>.</a:t>
            </a:r>
          </a:p>
          <a:p>
            <a:pPr marL="342900" indent="-342900">
              <a:buFont typeface="+mj-lt"/>
              <a:buAutoNum type="arabicPeriod"/>
            </a:pPr>
            <a:r>
              <a:rPr lang="it-IT" err="1"/>
              <a:t>Please</a:t>
            </a:r>
            <a:r>
              <a:rPr lang="it-IT"/>
              <a:t> </a:t>
            </a:r>
            <a:r>
              <a:rPr lang="it-IT" err="1"/>
              <a:t>remember</a:t>
            </a:r>
            <a:r>
              <a:rPr lang="it-IT"/>
              <a:t> to </a:t>
            </a:r>
            <a:r>
              <a:rPr lang="it-IT" b="1" err="1">
                <a:solidFill>
                  <a:schemeClr val="accent5"/>
                </a:solidFill>
              </a:rPr>
              <a:t>lower</a:t>
            </a:r>
            <a:r>
              <a:rPr lang="it-IT" b="1">
                <a:solidFill>
                  <a:schemeClr val="accent5"/>
                </a:solidFill>
              </a:rPr>
              <a:t> </a:t>
            </a:r>
            <a:r>
              <a:rPr lang="it-IT" b="1" err="1">
                <a:solidFill>
                  <a:schemeClr val="accent5"/>
                </a:solidFill>
              </a:rPr>
              <a:t>your</a:t>
            </a:r>
            <a:r>
              <a:rPr lang="it-IT" b="1">
                <a:solidFill>
                  <a:schemeClr val="accent5"/>
                </a:solidFill>
              </a:rPr>
              <a:t> hand</a:t>
            </a:r>
            <a:r>
              <a:rPr lang="it-IT">
                <a:solidFill>
                  <a:schemeClr val="accent5"/>
                </a:solidFill>
              </a:rPr>
              <a:t> </a:t>
            </a:r>
            <a:r>
              <a:rPr lang="it-IT"/>
              <a:t>after </a:t>
            </a:r>
            <a:r>
              <a:rPr lang="it-IT" err="1"/>
              <a:t>speaking</a:t>
            </a:r>
            <a:r>
              <a:rPr lang="it-IT"/>
              <a:t>, by </a:t>
            </a:r>
            <a:r>
              <a:rPr lang="it-IT" err="1"/>
              <a:t>clicking</a:t>
            </a:r>
            <a:r>
              <a:rPr lang="it-IT"/>
              <a:t> </a:t>
            </a:r>
            <a:r>
              <a:rPr lang="it-IT" err="1"/>
              <a:t>again</a:t>
            </a:r>
            <a:r>
              <a:rPr lang="it-IT"/>
              <a:t> on the hand symbol. </a:t>
            </a:r>
          </a:p>
          <a:p>
            <a:pPr marL="342900" indent="-342900">
              <a:buFont typeface="+mj-lt"/>
              <a:buAutoNum type="arabicPeriod"/>
            </a:pPr>
            <a:r>
              <a:rPr lang="it-IT" err="1">
                <a:solidFill>
                  <a:schemeClr val="tx1"/>
                </a:solidFill>
              </a:rPr>
              <a:t>Please</a:t>
            </a:r>
            <a:r>
              <a:rPr lang="it-IT">
                <a:solidFill>
                  <a:schemeClr val="tx1"/>
                </a:solidFill>
              </a:rPr>
              <a:t> </a:t>
            </a:r>
            <a:r>
              <a:rPr lang="it-IT" err="1">
                <a:solidFill>
                  <a:schemeClr val="tx1"/>
                </a:solidFill>
              </a:rPr>
              <a:t>feel</a:t>
            </a:r>
            <a:r>
              <a:rPr lang="it-IT">
                <a:solidFill>
                  <a:schemeClr val="tx1"/>
                </a:solidFill>
              </a:rPr>
              <a:t> free to </a:t>
            </a:r>
            <a:r>
              <a:rPr lang="it-IT" b="1" err="1">
                <a:solidFill>
                  <a:schemeClr val="accent5"/>
                </a:solidFill>
              </a:rPr>
              <a:t>ask</a:t>
            </a:r>
            <a:r>
              <a:rPr lang="it-IT" b="1">
                <a:solidFill>
                  <a:schemeClr val="accent5"/>
                </a:solidFill>
              </a:rPr>
              <a:t> </a:t>
            </a:r>
            <a:r>
              <a:rPr lang="it-IT" b="1" err="1">
                <a:solidFill>
                  <a:schemeClr val="accent5"/>
                </a:solidFill>
              </a:rPr>
              <a:t>questions</a:t>
            </a:r>
            <a:r>
              <a:rPr lang="it-IT" b="1">
                <a:solidFill>
                  <a:schemeClr val="accent5"/>
                </a:solidFill>
              </a:rPr>
              <a:t> </a:t>
            </a:r>
            <a:r>
              <a:rPr lang="it-IT" err="1">
                <a:solidFill>
                  <a:schemeClr val="tx1"/>
                </a:solidFill>
              </a:rPr>
              <a:t>all</a:t>
            </a:r>
            <a:r>
              <a:rPr lang="it-IT">
                <a:solidFill>
                  <a:schemeClr val="tx1"/>
                </a:solidFill>
              </a:rPr>
              <a:t> </a:t>
            </a:r>
            <a:r>
              <a:rPr lang="it-IT" err="1">
                <a:solidFill>
                  <a:schemeClr val="tx1"/>
                </a:solidFill>
              </a:rPr>
              <a:t>along</a:t>
            </a:r>
            <a:r>
              <a:rPr lang="it-IT">
                <a:solidFill>
                  <a:schemeClr val="tx1"/>
                </a:solidFill>
              </a:rPr>
              <a:t> the meeting.</a:t>
            </a:r>
            <a:endParaRPr lang="it-IT"/>
          </a:p>
          <a:p>
            <a:pPr marL="342900" indent="-342900">
              <a:buFont typeface="+mj-lt"/>
              <a:buAutoNum type="arabicPeriod"/>
            </a:pPr>
            <a:endParaRPr lang="en-GB"/>
          </a:p>
        </p:txBody>
      </p:sp>
      <p:sp>
        <p:nvSpPr>
          <p:cNvPr id="5" name="Rectangle: Rounded Corners 5">
            <a:extLst>
              <a:ext uri="{FF2B5EF4-FFF2-40B4-BE49-F238E27FC236}">
                <a16:creationId xmlns:a16="http://schemas.microsoft.com/office/drawing/2014/main" id="{04F7509E-A07A-CC2B-AD00-B0702FA30850}"/>
              </a:ext>
            </a:extLst>
          </p:cNvPr>
          <p:cNvSpPr/>
          <p:nvPr/>
        </p:nvSpPr>
        <p:spPr>
          <a:xfrm>
            <a:off x="6096000" y="5073444"/>
            <a:ext cx="5083100" cy="633620"/>
          </a:xfrm>
          <a:prstGeom prst="round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it-IT">
                <a:solidFill>
                  <a:schemeClr val="tx1"/>
                </a:solidFill>
              </a:rPr>
              <a:t>The meeting </a:t>
            </a:r>
            <a:r>
              <a:rPr lang="it-IT" b="1" spc="-50">
                <a:solidFill>
                  <a:schemeClr val="accent5"/>
                </a:solidFill>
                <a:latin typeface="Verdana"/>
                <a:ea typeface="Verdana"/>
              </a:rPr>
              <a:t>WILL</a:t>
            </a:r>
            <a:r>
              <a:rPr lang="it-IT">
                <a:solidFill>
                  <a:schemeClr val="tx1"/>
                </a:solidFill>
              </a:rPr>
              <a:t> be </a:t>
            </a:r>
            <a:r>
              <a:rPr lang="it-IT" err="1">
                <a:solidFill>
                  <a:schemeClr val="tx1"/>
                </a:solidFill>
              </a:rPr>
              <a:t>recorded</a:t>
            </a:r>
            <a:endParaRPr lang="en-GB" b="1" u="sng">
              <a:solidFill>
                <a:schemeClr val="tx1"/>
              </a:solidFill>
            </a:endParaRPr>
          </a:p>
        </p:txBody>
      </p:sp>
      <p:sp>
        <p:nvSpPr>
          <p:cNvPr id="7" name="Text Placeholder 1">
            <a:extLst>
              <a:ext uri="{FF2B5EF4-FFF2-40B4-BE49-F238E27FC236}">
                <a16:creationId xmlns:a16="http://schemas.microsoft.com/office/drawing/2014/main" id="{4A5F962C-928C-800A-D25A-11A277AD8D0E}"/>
              </a:ext>
            </a:extLst>
          </p:cNvPr>
          <p:cNvSpPr txBox="1">
            <a:spLocks/>
          </p:cNvSpPr>
          <p:nvPr/>
        </p:nvSpPr>
        <p:spPr>
          <a:xfrm>
            <a:off x="704088"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err="1"/>
              <a:t>Welcome</a:t>
            </a:r>
            <a:r>
              <a:rPr lang="fr-FR"/>
              <a:t>! How to </a:t>
            </a:r>
            <a:r>
              <a:rPr lang="fr-FR" err="1"/>
              <a:t>participate</a:t>
            </a:r>
            <a:r>
              <a:rPr lang="fr-FR"/>
              <a:t> online:</a:t>
            </a:r>
            <a:endParaRPr lang="en-GB"/>
          </a:p>
        </p:txBody>
      </p:sp>
    </p:spTree>
    <p:extLst>
      <p:ext uri="{BB962C8B-B14F-4D97-AF65-F5344CB8AC3E}">
        <p14:creationId xmlns:p14="http://schemas.microsoft.com/office/powerpoint/2010/main" val="3683664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950A20-1F90-65FC-089F-6FAAE676DD0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74CE04E-3E6C-62F8-6B04-387A3F03ABB4}"/>
              </a:ext>
            </a:extLst>
          </p:cNvPr>
          <p:cNvSpPr txBox="1">
            <a:spLocks/>
          </p:cNvSpPr>
          <p:nvPr/>
        </p:nvSpPr>
        <p:spPr>
          <a:xfrm>
            <a:off x="500863" y="8476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a:t>Agenda</a:t>
            </a:r>
            <a:endParaRPr lang="en-GB"/>
          </a:p>
        </p:txBody>
      </p:sp>
      <p:sp>
        <p:nvSpPr>
          <p:cNvPr id="4" name="TextBox 3">
            <a:extLst>
              <a:ext uri="{FF2B5EF4-FFF2-40B4-BE49-F238E27FC236}">
                <a16:creationId xmlns:a16="http://schemas.microsoft.com/office/drawing/2014/main" id="{0FC7927F-BF13-C101-F8DB-1D10A0FCDB5E}"/>
              </a:ext>
            </a:extLst>
          </p:cNvPr>
          <p:cNvSpPr txBox="1"/>
          <p:nvPr/>
        </p:nvSpPr>
        <p:spPr>
          <a:xfrm>
            <a:off x="1143120" y="1634126"/>
            <a:ext cx="11424307" cy="4744396"/>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200" dirty="0"/>
              <a:t>Introduction &amp; RP3 -  EEA</a:t>
            </a:r>
          </a:p>
          <a:p>
            <a:endParaRPr lang="en-GB" sz="2200" dirty="0"/>
          </a:p>
          <a:p>
            <a:r>
              <a:rPr lang="en-GB" sz="2200" dirty="0"/>
              <a:t>Thematic aspects of reporting - NECPR Annex I - EEA</a:t>
            </a:r>
          </a:p>
          <a:p>
            <a:pPr lvl="1"/>
            <a:r>
              <a:rPr lang="en-GB" sz="2200" b="0" dirty="0"/>
              <a:t>Q&amp;A </a:t>
            </a:r>
          </a:p>
          <a:p>
            <a:pPr lvl="1"/>
            <a:endParaRPr lang="en-GB" sz="2200" b="0" dirty="0"/>
          </a:p>
          <a:p>
            <a:r>
              <a:rPr lang="en-GB" sz="2200" dirty="0"/>
              <a:t>Reportnet 3 - Annex I </a:t>
            </a:r>
          </a:p>
          <a:p>
            <a:pPr lvl="1"/>
            <a:r>
              <a:rPr lang="en-GB" sz="2200" b="0" dirty="0"/>
              <a:t>Q&amp;A</a:t>
            </a:r>
          </a:p>
          <a:p>
            <a:endParaRPr lang="en-GB" sz="2200" dirty="0"/>
          </a:p>
          <a:p>
            <a:r>
              <a:rPr lang="en-GB" sz="2200" dirty="0"/>
              <a:t>MS example (2023 data) &amp; Export example</a:t>
            </a:r>
          </a:p>
          <a:p>
            <a:pPr lvl="1"/>
            <a:r>
              <a:rPr lang="en-GB" sz="2200" dirty="0"/>
              <a:t>Q&amp;A</a:t>
            </a:r>
          </a:p>
        </p:txBody>
      </p:sp>
    </p:spTree>
    <p:extLst>
      <p:ext uri="{BB962C8B-B14F-4D97-AF65-F5344CB8AC3E}">
        <p14:creationId xmlns:p14="http://schemas.microsoft.com/office/powerpoint/2010/main" val="644217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9A36-EBA6-B280-5B2D-E0B4FF6E29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BEF9EF-3BCB-B6A0-1F53-09427CF8B916}"/>
              </a:ext>
            </a:extLst>
          </p:cNvPr>
          <p:cNvSpPr txBox="1"/>
          <p:nvPr/>
        </p:nvSpPr>
        <p:spPr>
          <a:xfrm>
            <a:off x="2659071" y="3429000"/>
            <a:ext cx="6873868" cy="830997"/>
          </a:xfrm>
          <a:prstGeom prst="rect">
            <a:avLst/>
          </a:prstGeom>
          <a:noFill/>
        </p:spPr>
        <p:txBody>
          <a:bodyPr wrap="none" rtlCol="0">
            <a:spAutoFit/>
          </a:bodyPr>
          <a:lstStyle/>
          <a:p>
            <a:pPr algn="ctr"/>
            <a:r>
              <a:rPr lang="en-US" sz="2400" b="1" dirty="0">
                <a:solidFill>
                  <a:schemeClr val="bg1"/>
                </a:solidFill>
              </a:rPr>
              <a:t>National Energy and Climate Progress Reporting</a:t>
            </a:r>
          </a:p>
          <a:p>
            <a:pPr algn="ctr"/>
            <a:r>
              <a:rPr lang="en-GB" sz="2400" b="1" dirty="0">
                <a:solidFill>
                  <a:schemeClr val="bg1"/>
                </a:solidFill>
              </a:rPr>
              <a:t> </a:t>
            </a:r>
            <a:r>
              <a:rPr lang="en-GB" b="1" i="1" dirty="0">
                <a:solidFill>
                  <a:schemeClr val="bg1"/>
                </a:solidFill>
              </a:rPr>
              <a:t>Context</a:t>
            </a:r>
          </a:p>
        </p:txBody>
      </p:sp>
      <p:pic>
        <p:nvPicPr>
          <p:cNvPr id="5" name="Graphic 4" descr="Door Open with solid fill">
            <a:extLst>
              <a:ext uri="{FF2B5EF4-FFF2-40B4-BE49-F238E27FC236}">
                <a16:creationId xmlns:a16="http://schemas.microsoft.com/office/drawing/2014/main" id="{6DB8942D-3190-BB96-7A69-6B9A9E8150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spTree>
    <p:extLst>
      <p:ext uri="{BB962C8B-B14F-4D97-AF65-F5344CB8AC3E}">
        <p14:creationId xmlns:p14="http://schemas.microsoft.com/office/powerpoint/2010/main" val="90600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0E14E01-CE70-4529-921B-AF8CEA6D63CD}"/>
              </a:ext>
            </a:extLst>
          </p:cNvPr>
          <p:cNvSpPr txBox="1"/>
          <p:nvPr/>
        </p:nvSpPr>
        <p:spPr>
          <a:xfrm>
            <a:off x="103746" y="88288"/>
            <a:ext cx="12088253" cy="584775"/>
          </a:xfrm>
          <a:prstGeom prst="rect">
            <a:avLst/>
          </a:prstGeom>
          <a:noFill/>
        </p:spPr>
        <p:txBody>
          <a:bodyPr wrap="square" rtlCol="0">
            <a:spAutoFit/>
          </a:bodyPr>
          <a:lstStyle/>
          <a:p>
            <a:r>
              <a:rPr lang="en-GB" sz="3200" b="1" dirty="0">
                <a:solidFill>
                  <a:srgbClr val="002060"/>
                </a:solidFill>
                <a:latin typeface="Calibri" panose="020F0502020204030204"/>
              </a:rPr>
              <a:t>The Adapted Governance Regulation: </a:t>
            </a:r>
            <a:r>
              <a:rPr lang="en-GB" sz="3200" dirty="0">
                <a:solidFill>
                  <a:srgbClr val="002060"/>
                </a:solidFill>
                <a:latin typeface="Calibri" panose="020F0502020204030204"/>
              </a:rPr>
              <a:t>planning &amp; reporting</a:t>
            </a:r>
            <a:endParaRPr lang="en-DK" sz="3200" dirty="0">
              <a:solidFill>
                <a:srgbClr val="002060"/>
              </a:solidFill>
              <a:latin typeface="Calibri" panose="020F0502020204030204"/>
            </a:endParaRPr>
          </a:p>
        </p:txBody>
      </p:sp>
      <p:sp>
        <p:nvSpPr>
          <p:cNvPr id="20" name="TextBox 19">
            <a:extLst>
              <a:ext uri="{FF2B5EF4-FFF2-40B4-BE49-F238E27FC236}">
                <a16:creationId xmlns:a16="http://schemas.microsoft.com/office/drawing/2014/main" id="{15D1C6FB-A66C-B430-0693-DFC447FD2A2E}"/>
              </a:ext>
            </a:extLst>
          </p:cNvPr>
          <p:cNvSpPr txBox="1"/>
          <p:nvPr/>
        </p:nvSpPr>
        <p:spPr>
          <a:xfrm>
            <a:off x="1345732" y="3348574"/>
            <a:ext cx="4468254" cy="1938992"/>
          </a:xfrm>
          <a:prstGeom prst="rect">
            <a:avLst/>
          </a:prstGeom>
          <a:noFill/>
        </p:spPr>
        <p:txBody>
          <a:bodyPr wrap="square" rtlCol="0">
            <a:spAutoFit/>
          </a:bodyPr>
          <a:lstStyle/>
          <a:p>
            <a:pPr algn="ctr"/>
            <a:r>
              <a:rPr lang="en-GB" sz="2400" i="1" dirty="0"/>
              <a:t>National Energy and Climate Plans</a:t>
            </a:r>
          </a:p>
          <a:p>
            <a:pPr algn="ctr"/>
            <a:r>
              <a:rPr lang="en-GB" sz="2400" b="1" i="1" dirty="0">
                <a:solidFill>
                  <a:schemeClr val="accent1"/>
                </a:solidFill>
              </a:rPr>
              <a:t>(NECP)</a:t>
            </a:r>
          </a:p>
          <a:p>
            <a:pPr algn="ctr"/>
            <a:r>
              <a:rPr lang="en-GB" sz="2400" dirty="0">
                <a:solidFill>
                  <a:schemeClr val="accent1"/>
                </a:solidFill>
              </a:rPr>
              <a:t>2018/9 &amp; 2023/4 (+10yr)</a:t>
            </a:r>
          </a:p>
          <a:p>
            <a:pPr algn="ctr"/>
            <a:r>
              <a:rPr lang="en-GB" sz="2400" dirty="0">
                <a:solidFill>
                  <a:schemeClr val="accent1"/>
                </a:solidFill>
              </a:rPr>
              <a:t>(………….+5 yr)</a:t>
            </a:r>
          </a:p>
        </p:txBody>
      </p:sp>
      <p:sp>
        <p:nvSpPr>
          <p:cNvPr id="2" name="TextBox 1">
            <a:extLst>
              <a:ext uri="{FF2B5EF4-FFF2-40B4-BE49-F238E27FC236}">
                <a16:creationId xmlns:a16="http://schemas.microsoft.com/office/drawing/2014/main" id="{3FACE587-274D-DD47-FB88-C2FFC91EEE33}"/>
              </a:ext>
            </a:extLst>
          </p:cNvPr>
          <p:cNvSpPr txBox="1"/>
          <p:nvPr/>
        </p:nvSpPr>
        <p:spPr>
          <a:xfrm>
            <a:off x="838330" y="6192137"/>
            <a:ext cx="5644109" cy="338554"/>
          </a:xfrm>
          <a:prstGeom prst="rect">
            <a:avLst/>
          </a:prstGeom>
          <a:noFill/>
        </p:spPr>
        <p:txBody>
          <a:bodyPr wrap="none" rtlCol="0">
            <a:spAutoFit/>
          </a:bodyPr>
          <a:lstStyle/>
          <a:p>
            <a:r>
              <a:rPr lang="en-US" sz="1600" dirty="0"/>
              <a:t>Adapted Governance Regulation 2018/1999: Article 3, 9, 14, 17</a:t>
            </a:r>
            <a:endParaRPr lang="LID4096" sz="1600" dirty="0"/>
          </a:p>
        </p:txBody>
      </p:sp>
      <p:pic>
        <p:nvPicPr>
          <p:cNvPr id="4" name="Graphic 3" descr="Clipboard Partially Checked with solid fill">
            <a:extLst>
              <a:ext uri="{FF2B5EF4-FFF2-40B4-BE49-F238E27FC236}">
                <a16:creationId xmlns:a16="http://schemas.microsoft.com/office/drawing/2014/main" id="{064B5A0F-DD7A-151F-9AEC-A9EF17AFB8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3094" y="1996133"/>
            <a:ext cx="1298584" cy="1298584"/>
          </a:xfrm>
          <a:prstGeom prst="rect">
            <a:avLst/>
          </a:prstGeom>
        </p:spPr>
      </p:pic>
      <p:pic>
        <p:nvPicPr>
          <p:cNvPr id="6" name="Graphic 5" descr="Playbook with solid fill">
            <a:extLst>
              <a:ext uri="{FF2B5EF4-FFF2-40B4-BE49-F238E27FC236}">
                <a16:creationId xmlns:a16="http://schemas.microsoft.com/office/drawing/2014/main" id="{25D9C1E6-811F-85FF-5A51-9504D3CB12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0322" y="2049990"/>
            <a:ext cx="1298584" cy="1298584"/>
          </a:xfrm>
          <a:prstGeom prst="rect">
            <a:avLst/>
          </a:prstGeom>
        </p:spPr>
      </p:pic>
      <p:sp>
        <p:nvSpPr>
          <p:cNvPr id="7" name="TextBox 6">
            <a:extLst>
              <a:ext uri="{FF2B5EF4-FFF2-40B4-BE49-F238E27FC236}">
                <a16:creationId xmlns:a16="http://schemas.microsoft.com/office/drawing/2014/main" id="{08CAF7A7-0962-A543-2025-0EA1C48ABF17}"/>
              </a:ext>
            </a:extLst>
          </p:cNvPr>
          <p:cNvSpPr txBox="1"/>
          <p:nvPr/>
        </p:nvSpPr>
        <p:spPr>
          <a:xfrm>
            <a:off x="6247634" y="3372206"/>
            <a:ext cx="4991496" cy="1569660"/>
          </a:xfrm>
          <a:prstGeom prst="rect">
            <a:avLst/>
          </a:prstGeom>
          <a:noFill/>
        </p:spPr>
        <p:txBody>
          <a:bodyPr wrap="square" rtlCol="0">
            <a:spAutoFit/>
          </a:bodyPr>
          <a:lstStyle/>
          <a:p>
            <a:pPr algn="ctr"/>
            <a:r>
              <a:rPr lang="en-GB" sz="2400" i="1" dirty="0"/>
              <a:t>National Energy and Climate Progress Reports</a:t>
            </a:r>
          </a:p>
          <a:p>
            <a:pPr algn="ctr"/>
            <a:r>
              <a:rPr lang="en-GB" sz="2400" b="1" i="1" dirty="0">
                <a:solidFill>
                  <a:schemeClr val="accent2"/>
                </a:solidFill>
              </a:rPr>
              <a:t>(NECPR)</a:t>
            </a:r>
          </a:p>
          <a:p>
            <a:pPr algn="ctr"/>
            <a:r>
              <a:rPr lang="en-GB" sz="2400" dirty="0">
                <a:solidFill>
                  <a:schemeClr val="accent2"/>
                </a:solidFill>
              </a:rPr>
              <a:t>15 Mar. 2025 (+2yrs)</a:t>
            </a:r>
          </a:p>
        </p:txBody>
      </p:sp>
      <p:pic>
        <p:nvPicPr>
          <p:cNvPr id="9" name="Graphic 8" descr="Research with solid fill">
            <a:extLst>
              <a:ext uri="{FF2B5EF4-FFF2-40B4-BE49-F238E27FC236}">
                <a16:creationId xmlns:a16="http://schemas.microsoft.com/office/drawing/2014/main" id="{A76E5EF0-6151-E8D3-227B-FF85B3D72C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20139" y="1538933"/>
            <a:ext cx="914400" cy="914400"/>
          </a:xfrm>
          <a:prstGeom prst="rect">
            <a:avLst/>
          </a:prstGeom>
        </p:spPr>
      </p:pic>
      <p:sp>
        <p:nvSpPr>
          <p:cNvPr id="10" name="Arrow: Curved Left 9">
            <a:extLst>
              <a:ext uri="{FF2B5EF4-FFF2-40B4-BE49-F238E27FC236}">
                <a16:creationId xmlns:a16="http://schemas.microsoft.com/office/drawing/2014/main" id="{83DD22BE-949D-BF97-88F5-05C70286F11B}"/>
              </a:ext>
            </a:extLst>
          </p:cNvPr>
          <p:cNvSpPr/>
          <p:nvPr/>
        </p:nvSpPr>
        <p:spPr>
          <a:xfrm rot="16200000" flipV="1">
            <a:off x="5290745" y="396937"/>
            <a:ext cx="865870" cy="2401376"/>
          </a:xfrm>
          <a:prstGeom prst="curvedLeftArrow">
            <a:avLst>
              <a:gd name="adj1" fmla="val 12574"/>
              <a:gd name="adj2" fmla="val 45224"/>
              <a:gd name="adj3" fmla="val 2500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solidFill>
                <a:schemeClr val="tx1"/>
              </a:solidFill>
            </a:endParaRPr>
          </a:p>
        </p:txBody>
      </p:sp>
    </p:spTree>
    <p:extLst>
      <p:ext uri="{BB962C8B-B14F-4D97-AF65-F5344CB8AC3E}">
        <p14:creationId xmlns:p14="http://schemas.microsoft.com/office/powerpoint/2010/main" val="218335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Placeholder 1">
            <a:extLst>
              <a:ext uri="{FF2B5EF4-FFF2-40B4-BE49-F238E27FC236}">
                <a16:creationId xmlns:a16="http://schemas.microsoft.com/office/drawing/2014/main" id="{E65CE029-7A10-7408-973F-BFF687A6F96E}"/>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Dataflows in Reportnet 3: what are we focusing on today?</a:t>
            </a:r>
          </a:p>
        </p:txBody>
      </p:sp>
      <p:sp>
        <p:nvSpPr>
          <p:cNvPr id="2" name="TextBox 1">
            <a:extLst>
              <a:ext uri="{FF2B5EF4-FFF2-40B4-BE49-F238E27FC236}">
                <a16:creationId xmlns:a16="http://schemas.microsoft.com/office/drawing/2014/main" id="{B53A1235-AED4-51B6-D805-0389A32C7AE9}"/>
              </a:ext>
            </a:extLst>
          </p:cNvPr>
          <p:cNvSpPr txBox="1"/>
          <p:nvPr/>
        </p:nvSpPr>
        <p:spPr>
          <a:xfrm>
            <a:off x="500863" y="1220469"/>
            <a:ext cx="11424307" cy="961416"/>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800"/>
              <a:t>Many dataflows to be reported under the Governance Regulation 2018/1999 in Reportnet 3:</a:t>
            </a:r>
          </a:p>
        </p:txBody>
      </p:sp>
      <p:sp>
        <p:nvSpPr>
          <p:cNvPr id="13" name="TextBox 12">
            <a:extLst>
              <a:ext uri="{FF2B5EF4-FFF2-40B4-BE49-F238E27FC236}">
                <a16:creationId xmlns:a16="http://schemas.microsoft.com/office/drawing/2014/main" id="{46B643A8-FFB8-136B-2DE0-3140E5894FC7}"/>
              </a:ext>
            </a:extLst>
          </p:cNvPr>
          <p:cNvSpPr txBox="1"/>
          <p:nvPr/>
        </p:nvSpPr>
        <p:spPr>
          <a:xfrm>
            <a:off x="500863" y="6416504"/>
            <a:ext cx="7423314" cy="307777"/>
          </a:xfrm>
          <a:prstGeom prst="rect">
            <a:avLst/>
          </a:prstGeom>
          <a:noFill/>
        </p:spPr>
        <p:txBody>
          <a:bodyPr wrap="none" rtlCol="0">
            <a:spAutoFit/>
          </a:bodyPr>
          <a:lstStyle/>
          <a:p>
            <a:r>
              <a:rPr lang="en-GB" sz="1400"/>
              <a:t>* This dataflow is aligned with NECPR but is voluntarily provided under the European Climate Law</a:t>
            </a:r>
            <a:endParaRPr lang="LID4096" sz="1400">
              <a:highlight>
                <a:srgbClr val="FFFF00"/>
              </a:highlight>
            </a:endParaRPr>
          </a:p>
        </p:txBody>
      </p:sp>
      <p:sp>
        <p:nvSpPr>
          <p:cNvPr id="12" name="Rectangle 11">
            <a:extLst>
              <a:ext uri="{FF2B5EF4-FFF2-40B4-BE49-F238E27FC236}">
                <a16:creationId xmlns:a16="http://schemas.microsoft.com/office/drawing/2014/main" id="{CFEB907A-6F3B-4232-E394-3F6C9EF2983D}"/>
              </a:ext>
            </a:extLst>
          </p:cNvPr>
          <p:cNvSpPr/>
          <p:nvPr/>
        </p:nvSpPr>
        <p:spPr>
          <a:xfrm>
            <a:off x="582341" y="2381062"/>
            <a:ext cx="2477727" cy="9144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Progress to targets (GHG)</a:t>
            </a:r>
            <a:endParaRPr lang="LID4096"/>
          </a:p>
        </p:txBody>
      </p:sp>
      <p:sp>
        <p:nvSpPr>
          <p:cNvPr id="14" name="Rectangle 13">
            <a:extLst>
              <a:ext uri="{FF2B5EF4-FFF2-40B4-BE49-F238E27FC236}">
                <a16:creationId xmlns:a16="http://schemas.microsoft.com/office/drawing/2014/main" id="{2F68FDA7-C77E-5E8A-EB9B-02CCAF9BF0CD}"/>
              </a:ext>
            </a:extLst>
          </p:cNvPr>
          <p:cNvSpPr/>
          <p:nvPr/>
        </p:nvSpPr>
        <p:spPr>
          <a:xfrm>
            <a:off x="3342139" y="2381062"/>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Progress to targets (RES)</a:t>
            </a:r>
            <a:endParaRPr lang="LID4096"/>
          </a:p>
        </p:txBody>
      </p:sp>
      <p:sp>
        <p:nvSpPr>
          <p:cNvPr id="15" name="Rectangle 14">
            <a:extLst>
              <a:ext uri="{FF2B5EF4-FFF2-40B4-BE49-F238E27FC236}">
                <a16:creationId xmlns:a16="http://schemas.microsoft.com/office/drawing/2014/main" id="{A92EAAE5-6F78-94D8-02DD-56BA53972D3A}"/>
              </a:ext>
            </a:extLst>
          </p:cNvPr>
          <p:cNvSpPr/>
          <p:nvPr/>
        </p:nvSpPr>
        <p:spPr>
          <a:xfrm>
            <a:off x="6096000" y="2381062"/>
            <a:ext cx="2477727"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Progress to targets (EE)</a:t>
            </a:r>
            <a:endParaRPr lang="LID4096" dirty="0"/>
          </a:p>
        </p:txBody>
      </p:sp>
      <p:sp>
        <p:nvSpPr>
          <p:cNvPr id="16" name="Rectangle 15">
            <a:extLst>
              <a:ext uri="{FF2B5EF4-FFF2-40B4-BE49-F238E27FC236}">
                <a16:creationId xmlns:a16="http://schemas.microsoft.com/office/drawing/2014/main" id="{EA5210E1-AD11-85A7-DC37-F3BC984FD1CB}"/>
              </a:ext>
            </a:extLst>
          </p:cNvPr>
          <p:cNvSpPr/>
          <p:nvPr/>
        </p:nvSpPr>
        <p:spPr>
          <a:xfrm>
            <a:off x="8861735" y="2381065"/>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Adaptation (Article 17)</a:t>
            </a:r>
            <a:endParaRPr lang="LID4096"/>
          </a:p>
        </p:txBody>
      </p:sp>
      <p:sp>
        <p:nvSpPr>
          <p:cNvPr id="17" name="Rectangle 16">
            <a:extLst>
              <a:ext uri="{FF2B5EF4-FFF2-40B4-BE49-F238E27FC236}">
                <a16:creationId xmlns:a16="http://schemas.microsoft.com/office/drawing/2014/main" id="{7EAB9FD6-9E82-C902-C81F-3DAB6A8B2CD8}"/>
              </a:ext>
            </a:extLst>
          </p:cNvPr>
          <p:cNvSpPr/>
          <p:nvPr/>
        </p:nvSpPr>
        <p:spPr>
          <a:xfrm>
            <a:off x="6096000" y="3490111"/>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Integrated National Policies and Measures (PaMs)</a:t>
            </a:r>
            <a:endParaRPr lang="LID4096" dirty="0"/>
          </a:p>
        </p:txBody>
      </p:sp>
      <p:sp>
        <p:nvSpPr>
          <p:cNvPr id="18" name="Rectangle 17">
            <a:extLst>
              <a:ext uri="{FF2B5EF4-FFF2-40B4-BE49-F238E27FC236}">
                <a16:creationId xmlns:a16="http://schemas.microsoft.com/office/drawing/2014/main" id="{95999E66-BC62-3DF2-02C7-62EC104D21BC}"/>
              </a:ext>
            </a:extLst>
          </p:cNvPr>
          <p:cNvSpPr/>
          <p:nvPr/>
        </p:nvSpPr>
        <p:spPr>
          <a:xfrm>
            <a:off x="582341"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GHG projections</a:t>
            </a:r>
            <a:endParaRPr lang="LID4096"/>
          </a:p>
        </p:txBody>
      </p:sp>
      <p:sp>
        <p:nvSpPr>
          <p:cNvPr id="19" name="Rectangle 18">
            <a:extLst>
              <a:ext uri="{FF2B5EF4-FFF2-40B4-BE49-F238E27FC236}">
                <a16:creationId xmlns:a16="http://schemas.microsoft.com/office/drawing/2014/main" id="{30CA8AB9-4D2C-E696-E810-D3AF609A2485}"/>
              </a:ext>
            </a:extLst>
          </p:cNvPr>
          <p:cNvSpPr/>
          <p:nvPr/>
        </p:nvSpPr>
        <p:spPr>
          <a:xfrm>
            <a:off x="3336204"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Adaptation planning and strategies (Article 19)</a:t>
            </a:r>
            <a:endParaRPr lang="LID4096"/>
          </a:p>
        </p:txBody>
      </p:sp>
      <p:sp>
        <p:nvSpPr>
          <p:cNvPr id="20" name="Rectangle 19">
            <a:extLst>
              <a:ext uri="{FF2B5EF4-FFF2-40B4-BE49-F238E27FC236}">
                <a16:creationId xmlns:a16="http://schemas.microsoft.com/office/drawing/2014/main" id="{689C95FC-E8D3-F048-BFA8-0531502193B7}"/>
              </a:ext>
            </a:extLst>
          </p:cNvPr>
          <p:cNvSpPr/>
          <p:nvPr/>
        </p:nvSpPr>
        <p:spPr>
          <a:xfrm>
            <a:off x="6096002"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European Climate Law Recommendations (*)</a:t>
            </a:r>
            <a:endParaRPr lang="LID4096" dirty="0"/>
          </a:p>
        </p:txBody>
      </p:sp>
      <p:sp>
        <p:nvSpPr>
          <p:cNvPr id="21" name="Rectangle 20">
            <a:extLst>
              <a:ext uri="{FF2B5EF4-FFF2-40B4-BE49-F238E27FC236}">
                <a16:creationId xmlns:a16="http://schemas.microsoft.com/office/drawing/2014/main" id="{7A13273E-5F10-5BD4-3C37-F1235BB95515}"/>
              </a:ext>
            </a:extLst>
          </p:cNvPr>
          <p:cNvSpPr/>
          <p:nvPr/>
        </p:nvSpPr>
        <p:spPr>
          <a:xfrm>
            <a:off x="8855797" y="3490111"/>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systems for reporting on PaMs and projections</a:t>
            </a:r>
            <a:endParaRPr lang="LID4096"/>
          </a:p>
        </p:txBody>
      </p:sp>
      <p:sp>
        <p:nvSpPr>
          <p:cNvPr id="22" name="Rectangle 21">
            <a:extLst>
              <a:ext uri="{FF2B5EF4-FFF2-40B4-BE49-F238E27FC236}">
                <a16:creationId xmlns:a16="http://schemas.microsoft.com/office/drawing/2014/main" id="{50044627-511F-CF30-9687-F9DF30882D2B}"/>
              </a:ext>
            </a:extLst>
          </p:cNvPr>
          <p:cNvSpPr/>
          <p:nvPr/>
        </p:nvSpPr>
        <p:spPr>
          <a:xfrm>
            <a:off x="3333530" y="3484383"/>
            <a:ext cx="2477727"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Additional reporting (EE)</a:t>
            </a:r>
            <a:endParaRPr lang="LID4096" dirty="0"/>
          </a:p>
        </p:txBody>
      </p:sp>
      <p:sp>
        <p:nvSpPr>
          <p:cNvPr id="23" name="Rectangle 22">
            <a:extLst>
              <a:ext uri="{FF2B5EF4-FFF2-40B4-BE49-F238E27FC236}">
                <a16:creationId xmlns:a16="http://schemas.microsoft.com/office/drawing/2014/main" id="{784242DE-8807-A836-EDF5-A7A12E0916E0}"/>
              </a:ext>
            </a:extLst>
          </p:cNvPr>
          <p:cNvSpPr/>
          <p:nvPr/>
        </p:nvSpPr>
        <p:spPr>
          <a:xfrm>
            <a:off x="582341" y="3480799"/>
            <a:ext cx="2477727" cy="9144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Additional reporting (</a:t>
            </a:r>
            <a:r>
              <a:rPr lang="en-GB"/>
              <a:t>RES)</a:t>
            </a:r>
            <a:endParaRPr lang="LID4096" dirty="0"/>
          </a:p>
        </p:txBody>
      </p:sp>
    </p:spTree>
    <p:extLst>
      <p:ext uri="{BB962C8B-B14F-4D97-AF65-F5344CB8AC3E}">
        <p14:creationId xmlns:p14="http://schemas.microsoft.com/office/powerpoint/2010/main" val="3553565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EC9A36-EBA6-B280-5B2D-E0B4FF6E29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BEF9EF-3BCB-B6A0-1F53-09427CF8B916}"/>
              </a:ext>
            </a:extLst>
          </p:cNvPr>
          <p:cNvSpPr txBox="1"/>
          <p:nvPr/>
        </p:nvSpPr>
        <p:spPr>
          <a:xfrm>
            <a:off x="5047481" y="3429000"/>
            <a:ext cx="2097049"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Logging in &amp; set-up</a:t>
            </a:r>
          </a:p>
        </p:txBody>
      </p:sp>
      <p:pic>
        <p:nvPicPr>
          <p:cNvPr id="5" name="Graphic 4" descr="Door Open with solid fill">
            <a:extLst>
              <a:ext uri="{FF2B5EF4-FFF2-40B4-BE49-F238E27FC236}">
                <a16:creationId xmlns:a16="http://schemas.microsoft.com/office/drawing/2014/main" id="{6DB8942D-3190-BB96-7A69-6B9A9E8150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4849" y="1546698"/>
            <a:ext cx="1882302" cy="1882302"/>
          </a:xfrm>
          <a:prstGeom prst="rect">
            <a:avLst/>
          </a:prstGeom>
        </p:spPr>
      </p:pic>
    </p:spTree>
    <p:extLst>
      <p:ext uri="{BB962C8B-B14F-4D97-AF65-F5344CB8AC3E}">
        <p14:creationId xmlns:p14="http://schemas.microsoft.com/office/powerpoint/2010/main" val="1366438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EA2C7C-A313-B6DF-6859-9A8B561E5859}"/>
              </a:ext>
            </a:extLst>
          </p:cNvPr>
          <p:cNvSpPr txBox="1"/>
          <p:nvPr/>
        </p:nvSpPr>
        <p:spPr>
          <a:xfrm>
            <a:off x="103747" y="88288"/>
            <a:ext cx="11634597" cy="584775"/>
          </a:xfrm>
          <a:prstGeom prst="rect">
            <a:avLst/>
          </a:prstGeom>
          <a:noFill/>
        </p:spPr>
        <p:txBody>
          <a:bodyPr wrap="square" rtlCol="0">
            <a:spAutoFit/>
          </a:bodyPr>
          <a:lstStyle/>
          <a:p>
            <a:r>
              <a:rPr lang="en-GB" sz="3200" b="1" dirty="0">
                <a:solidFill>
                  <a:srgbClr val="002060"/>
                </a:solidFill>
                <a:latin typeface="Calibri" panose="020F0502020204030204"/>
              </a:rPr>
              <a:t>Dataflow: Logging into Reportnet</a:t>
            </a:r>
          </a:p>
        </p:txBody>
      </p:sp>
      <p:pic>
        <p:nvPicPr>
          <p:cNvPr id="2" name="Picture 1">
            <a:extLst>
              <a:ext uri="{FF2B5EF4-FFF2-40B4-BE49-F238E27FC236}">
                <a16:creationId xmlns:a16="http://schemas.microsoft.com/office/drawing/2014/main" id="{B6FDB592-800E-E857-ECA6-E061689C1063}"/>
              </a:ext>
            </a:extLst>
          </p:cNvPr>
          <p:cNvPicPr>
            <a:picLocks noChangeAspect="1"/>
          </p:cNvPicPr>
          <p:nvPr/>
        </p:nvPicPr>
        <p:blipFill>
          <a:blip r:embed="rId2"/>
          <a:stretch>
            <a:fillRect/>
          </a:stretch>
        </p:blipFill>
        <p:spPr>
          <a:xfrm>
            <a:off x="0" y="1552074"/>
            <a:ext cx="12192000" cy="5352987"/>
          </a:xfrm>
          <a:prstGeom prst="rect">
            <a:avLst/>
          </a:prstGeom>
        </p:spPr>
      </p:pic>
      <p:cxnSp>
        <p:nvCxnSpPr>
          <p:cNvPr id="3" name="Straight Arrow Connector 2">
            <a:extLst>
              <a:ext uri="{FF2B5EF4-FFF2-40B4-BE49-F238E27FC236}">
                <a16:creationId xmlns:a16="http://schemas.microsoft.com/office/drawing/2014/main" id="{66005EFC-65A6-9550-EF8F-E9BAAD949497}"/>
              </a:ext>
            </a:extLst>
          </p:cNvPr>
          <p:cNvCxnSpPr>
            <a:cxnSpLocks/>
          </p:cNvCxnSpPr>
          <p:nvPr/>
        </p:nvCxnSpPr>
        <p:spPr>
          <a:xfrm>
            <a:off x="9954126" y="2160250"/>
            <a:ext cx="1138989" cy="485448"/>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88AF53C2-DB66-53E7-F671-DBD1F74902D4}"/>
              </a:ext>
            </a:extLst>
          </p:cNvPr>
          <p:cNvSpPr/>
          <p:nvPr/>
        </p:nvSpPr>
        <p:spPr>
          <a:xfrm>
            <a:off x="10373677" y="3931607"/>
            <a:ext cx="1077897" cy="1017473"/>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344476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EA2C7C-A313-B6DF-6859-9A8B561E5859}"/>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PaMs: Logging into Reportnet</a:t>
            </a:r>
          </a:p>
        </p:txBody>
      </p:sp>
      <p:pic>
        <p:nvPicPr>
          <p:cNvPr id="4" name="Picture 3">
            <a:extLst>
              <a:ext uri="{FF2B5EF4-FFF2-40B4-BE49-F238E27FC236}">
                <a16:creationId xmlns:a16="http://schemas.microsoft.com/office/drawing/2014/main" id="{A82DC20C-6639-8D96-315D-DDC61685FE31}"/>
              </a:ext>
            </a:extLst>
          </p:cNvPr>
          <p:cNvPicPr>
            <a:picLocks noChangeAspect="1"/>
          </p:cNvPicPr>
          <p:nvPr/>
        </p:nvPicPr>
        <p:blipFill>
          <a:blip r:embed="rId2"/>
          <a:stretch>
            <a:fillRect/>
          </a:stretch>
        </p:blipFill>
        <p:spPr>
          <a:xfrm>
            <a:off x="0" y="168653"/>
            <a:ext cx="12192000" cy="6556135"/>
          </a:xfrm>
          <a:prstGeom prst="rect">
            <a:avLst/>
          </a:prstGeom>
        </p:spPr>
      </p:pic>
      <p:sp>
        <p:nvSpPr>
          <p:cNvPr id="5" name="TextBox 4">
            <a:extLst>
              <a:ext uri="{FF2B5EF4-FFF2-40B4-BE49-F238E27FC236}">
                <a16:creationId xmlns:a16="http://schemas.microsoft.com/office/drawing/2014/main" id="{CE56785A-3CC9-6DB5-867A-F183EE70B4FB}"/>
              </a:ext>
            </a:extLst>
          </p:cNvPr>
          <p:cNvSpPr txBox="1"/>
          <p:nvPr/>
        </p:nvSpPr>
        <p:spPr>
          <a:xfrm>
            <a:off x="8151962" y="2855287"/>
            <a:ext cx="3693943" cy="923330"/>
          </a:xfrm>
          <a:prstGeom prst="rect">
            <a:avLst/>
          </a:prstGeom>
          <a:noFill/>
        </p:spPr>
        <p:txBody>
          <a:bodyPr wrap="square" rtlCol="0">
            <a:spAutoFit/>
          </a:bodyPr>
          <a:lstStyle/>
          <a:p>
            <a:pPr algn="ctr"/>
            <a:r>
              <a:rPr lang="en-DK" b="1">
                <a:solidFill>
                  <a:srgbClr val="FF0000"/>
                </a:solidFill>
              </a:rPr>
              <a:t>Guidance on getting EU login and registering on </a:t>
            </a:r>
            <a:r>
              <a:rPr lang="en-US" b="1">
                <a:solidFill>
                  <a:srgbClr val="FF0000"/>
                </a:solidFill>
              </a:rPr>
              <a:t>the </a:t>
            </a:r>
            <a:r>
              <a:rPr lang="en-DK" b="1">
                <a:solidFill>
                  <a:srgbClr val="FF0000"/>
                </a:solidFill>
              </a:rPr>
              <a:t>platform can be found </a:t>
            </a:r>
            <a:r>
              <a:rPr lang="en-US" b="1">
                <a:solidFill>
                  <a:srgbClr val="FF0000"/>
                </a:solidFill>
              </a:rPr>
              <a:t>in </a:t>
            </a:r>
            <a:r>
              <a:rPr lang="en-US" b="1">
                <a:solidFill>
                  <a:srgbClr val="FF0000"/>
                </a:solidFill>
                <a:hlinkClick r:id="rId3">
                  <a:extLst>
                    <a:ext uri="{A12FA001-AC4F-418D-AE19-62706E023703}">
                      <ahyp:hlinkClr xmlns:ahyp="http://schemas.microsoft.com/office/drawing/2018/hyperlinkcolor" val="tx"/>
                    </a:ext>
                  </a:extLst>
                </a:hlinkClick>
              </a:rPr>
              <a:t>this document</a:t>
            </a:r>
            <a:r>
              <a:rPr lang="en-US" b="1">
                <a:solidFill>
                  <a:srgbClr val="FF0000"/>
                </a:solidFill>
              </a:rPr>
              <a:t>.</a:t>
            </a:r>
          </a:p>
        </p:txBody>
      </p:sp>
      <p:pic>
        <p:nvPicPr>
          <p:cNvPr id="3" name="Graphic 2" descr="Phone Vibration with solid fill">
            <a:extLst>
              <a:ext uri="{FF2B5EF4-FFF2-40B4-BE49-F238E27FC236}">
                <a16:creationId xmlns:a16="http://schemas.microsoft.com/office/drawing/2014/main" id="{283FD006-131C-094E-4167-A7E36365AC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87802" y="4109720"/>
            <a:ext cx="914400" cy="914400"/>
          </a:xfrm>
          <a:prstGeom prst="rect">
            <a:avLst/>
          </a:prstGeom>
        </p:spPr>
      </p:pic>
      <p:sp>
        <p:nvSpPr>
          <p:cNvPr id="8" name="TextBox 7">
            <a:extLst>
              <a:ext uri="{FF2B5EF4-FFF2-40B4-BE49-F238E27FC236}">
                <a16:creationId xmlns:a16="http://schemas.microsoft.com/office/drawing/2014/main" id="{A2F9D290-B593-851F-B6FA-B94ECC569A5C}"/>
              </a:ext>
            </a:extLst>
          </p:cNvPr>
          <p:cNvSpPr txBox="1"/>
          <p:nvPr/>
        </p:nvSpPr>
        <p:spPr>
          <a:xfrm>
            <a:off x="8802202" y="3966755"/>
            <a:ext cx="3043703" cy="1200329"/>
          </a:xfrm>
          <a:prstGeom prst="rect">
            <a:avLst/>
          </a:prstGeom>
          <a:noFill/>
        </p:spPr>
        <p:txBody>
          <a:bodyPr wrap="square" rtlCol="0">
            <a:spAutoFit/>
          </a:bodyPr>
          <a:lstStyle/>
          <a:p>
            <a:r>
              <a:rPr lang="en-GB" b="1">
                <a:solidFill>
                  <a:srgbClr val="FF0000"/>
                </a:solidFill>
              </a:rPr>
              <a:t>Multi-factor authentication (MFA) now required to access Reportnet 3. Guidance to set this up in </a:t>
            </a:r>
            <a:r>
              <a:rPr lang="en-GB" b="1">
                <a:solidFill>
                  <a:srgbClr val="FF0000"/>
                </a:solidFill>
                <a:hlinkClick r:id="rId6">
                  <a:extLst>
                    <a:ext uri="{A12FA001-AC4F-418D-AE19-62706E023703}">
                      <ahyp:hlinkClr xmlns:ahyp="http://schemas.microsoft.com/office/drawing/2018/hyperlinkcolor" val="tx"/>
                    </a:ext>
                  </a:extLst>
                </a:hlinkClick>
              </a:rPr>
              <a:t>this document</a:t>
            </a:r>
            <a:r>
              <a:rPr lang="en-GB" b="1">
                <a:solidFill>
                  <a:srgbClr val="FF0000"/>
                </a:solidFill>
              </a:rPr>
              <a:t>.</a:t>
            </a:r>
            <a:endParaRPr lang="en-US" b="1">
              <a:solidFill>
                <a:srgbClr val="FF0000"/>
              </a:solidFill>
            </a:endParaRPr>
          </a:p>
        </p:txBody>
      </p:sp>
    </p:spTree>
    <p:extLst>
      <p:ext uri="{BB962C8B-B14F-4D97-AF65-F5344CB8AC3E}">
        <p14:creationId xmlns:p14="http://schemas.microsoft.com/office/powerpoint/2010/main" val="2282010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E438BE6-D5C9-F373-F5FF-6BAE2A3CCA6D}"/>
              </a:ext>
            </a:extLst>
          </p:cNvPr>
          <p:cNvPicPr>
            <a:picLocks noChangeAspect="1"/>
          </p:cNvPicPr>
          <p:nvPr/>
        </p:nvPicPr>
        <p:blipFill>
          <a:blip r:embed="rId2"/>
          <a:stretch>
            <a:fillRect/>
          </a:stretch>
        </p:blipFill>
        <p:spPr>
          <a:xfrm>
            <a:off x="0" y="1359265"/>
            <a:ext cx="12192000" cy="5498735"/>
          </a:xfrm>
          <a:prstGeom prst="rect">
            <a:avLst/>
          </a:prstGeom>
        </p:spPr>
      </p:pic>
      <p:sp>
        <p:nvSpPr>
          <p:cNvPr id="11" name="TextBox 10">
            <a:extLst>
              <a:ext uri="{FF2B5EF4-FFF2-40B4-BE49-F238E27FC236}">
                <a16:creationId xmlns:a16="http://schemas.microsoft.com/office/drawing/2014/main" id="{CBF80E81-36D0-6366-D459-FEF930B27CC9}"/>
              </a:ext>
            </a:extLst>
          </p:cNvPr>
          <p:cNvSpPr txBox="1"/>
          <p:nvPr/>
        </p:nvSpPr>
        <p:spPr>
          <a:xfrm>
            <a:off x="657727" y="712934"/>
            <a:ext cx="2519472" cy="646331"/>
          </a:xfrm>
          <a:prstGeom prst="rect">
            <a:avLst/>
          </a:prstGeom>
          <a:noFill/>
        </p:spPr>
        <p:txBody>
          <a:bodyPr wrap="none" rtlCol="0">
            <a:spAutoFit/>
          </a:bodyPr>
          <a:lstStyle/>
          <a:p>
            <a:r>
              <a:rPr lang="en-US" b="1" dirty="0">
                <a:solidFill>
                  <a:srgbClr val="6D6DC0"/>
                </a:solidFill>
              </a:rPr>
              <a:t>Open dataflow: Purple</a:t>
            </a:r>
          </a:p>
          <a:p>
            <a:r>
              <a:rPr lang="en-US" b="1" dirty="0">
                <a:solidFill>
                  <a:schemeClr val="bg1">
                    <a:lumMod val="50000"/>
                  </a:schemeClr>
                </a:solidFill>
              </a:rPr>
              <a:t>Closed dataflow: Grey</a:t>
            </a:r>
            <a:endParaRPr lang="en-DK" b="1" dirty="0">
              <a:solidFill>
                <a:schemeClr val="bg1">
                  <a:lumMod val="50000"/>
                </a:schemeClr>
              </a:solidFill>
            </a:endParaRPr>
          </a:p>
        </p:txBody>
      </p:sp>
      <p:sp>
        <p:nvSpPr>
          <p:cNvPr id="13" name="TextBox 12">
            <a:extLst>
              <a:ext uri="{FF2B5EF4-FFF2-40B4-BE49-F238E27FC236}">
                <a16:creationId xmlns:a16="http://schemas.microsoft.com/office/drawing/2014/main" id="{9A463F3E-6967-9790-E7FB-AC2AA7CE61FC}"/>
              </a:ext>
            </a:extLst>
          </p:cNvPr>
          <p:cNvSpPr txBox="1"/>
          <p:nvPr/>
        </p:nvSpPr>
        <p:spPr>
          <a:xfrm>
            <a:off x="103747" y="88288"/>
            <a:ext cx="11634597" cy="584775"/>
          </a:xfrm>
          <a:prstGeom prst="rect">
            <a:avLst/>
          </a:prstGeom>
          <a:noFill/>
        </p:spPr>
        <p:txBody>
          <a:bodyPr wrap="square" rtlCol="0">
            <a:spAutoFit/>
          </a:bodyPr>
          <a:lstStyle/>
          <a:p>
            <a:r>
              <a:rPr lang="en-GB" sz="3200" b="1" dirty="0">
                <a:solidFill>
                  <a:srgbClr val="002060"/>
                </a:solidFill>
                <a:latin typeface="Calibri" panose="020F0502020204030204"/>
              </a:rPr>
              <a:t>Dataflow: Logging into Reportnet</a:t>
            </a:r>
          </a:p>
        </p:txBody>
      </p:sp>
      <p:sp>
        <p:nvSpPr>
          <p:cNvPr id="15" name="Slide Number Placeholder 14">
            <a:extLst>
              <a:ext uri="{FF2B5EF4-FFF2-40B4-BE49-F238E27FC236}">
                <a16:creationId xmlns:a16="http://schemas.microsoft.com/office/drawing/2014/main" id="{7CFAC702-6E1B-80B2-5F0F-E11E0E184CF9}"/>
              </a:ext>
            </a:extLst>
          </p:cNvPr>
          <p:cNvSpPr>
            <a:spLocks noGrp="1"/>
          </p:cNvSpPr>
          <p:nvPr>
            <p:ph type="sldNum" sz="quarter" idx="12"/>
          </p:nvPr>
        </p:nvSpPr>
        <p:spPr/>
        <p:txBody>
          <a:bodyPr/>
          <a:lstStyle/>
          <a:p>
            <a:fld id="{1A424DB6-78F0-4ADD-B66A-AFD80B81666A}" type="slidenum">
              <a:rPr lang="en-DK" smtClean="0"/>
              <a:t>10</a:t>
            </a:fld>
            <a:endParaRPr lang="en-DK"/>
          </a:p>
        </p:txBody>
      </p:sp>
    </p:spTree>
    <p:extLst>
      <p:ext uri="{BB962C8B-B14F-4D97-AF65-F5344CB8AC3E}">
        <p14:creationId xmlns:p14="http://schemas.microsoft.com/office/powerpoint/2010/main" val="80546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829489-4640-E4DD-4451-4062A72B85F9}"/>
              </a:ext>
            </a:extLst>
          </p:cNvPr>
          <p:cNvPicPr>
            <a:picLocks noChangeAspect="1"/>
          </p:cNvPicPr>
          <p:nvPr/>
        </p:nvPicPr>
        <p:blipFill>
          <a:blip r:embed="rId2"/>
          <a:stretch>
            <a:fillRect/>
          </a:stretch>
        </p:blipFill>
        <p:spPr>
          <a:xfrm>
            <a:off x="103747" y="1428599"/>
            <a:ext cx="12192000" cy="5429401"/>
          </a:xfrm>
          <a:prstGeom prst="rect">
            <a:avLst/>
          </a:prstGeom>
        </p:spPr>
      </p:pic>
      <p:cxnSp>
        <p:nvCxnSpPr>
          <p:cNvPr id="4" name="Straight Arrow Connector 3">
            <a:extLst>
              <a:ext uri="{FF2B5EF4-FFF2-40B4-BE49-F238E27FC236}">
                <a16:creationId xmlns:a16="http://schemas.microsoft.com/office/drawing/2014/main" id="{77965A51-B329-EC4A-572E-8629D861AA3F}"/>
              </a:ext>
            </a:extLst>
          </p:cNvPr>
          <p:cNvCxnSpPr>
            <a:cxnSpLocks/>
          </p:cNvCxnSpPr>
          <p:nvPr/>
        </p:nvCxnSpPr>
        <p:spPr>
          <a:xfrm>
            <a:off x="1662600" y="1142772"/>
            <a:ext cx="0" cy="166058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B09F28A-7283-EA81-3A3C-B731A5FA9E5F}"/>
              </a:ext>
            </a:extLst>
          </p:cNvPr>
          <p:cNvSpPr txBox="1"/>
          <p:nvPr/>
        </p:nvSpPr>
        <p:spPr>
          <a:xfrm>
            <a:off x="103747" y="88288"/>
            <a:ext cx="11634597" cy="584775"/>
          </a:xfrm>
          <a:prstGeom prst="rect">
            <a:avLst/>
          </a:prstGeom>
          <a:noFill/>
        </p:spPr>
        <p:txBody>
          <a:bodyPr wrap="square" rtlCol="0">
            <a:spAutoFit/>
          </a:bodyPr>
          <a:lstStyle/>
          <a:p>
            <a:r>
              <a:rPr lang="en-GB" sz="3200" b="1" dirty="0">
                <a:solidFill>
                  <a:srgbClr val="002060"/>
                </a:solidFill>
                <a:latin typeface="Calibri" panose="020F0502020204030204"/>
              </a:rPr>
              <a:t>Dataflow: Dataflow help</a:t>
            </a:r>
          </a:p>
        </p:txBody>
      </p:sp>
      <p:sp>
        <p:nvSpPr>
          <p:cNvPr id="8" name="Slide Number Placeholder 7">
            <a:extLst>
              <a:ext uri="{FF2B5EF4-FFF2-40B4-BE49-F238E27FC236}">
                <a16:creationId xmlns:a16="http://schemas.microsoft.com/office/drawing/2014/main" id="{69C47AFC-AA83-0DD9-F563-28016636311F}"/>
              </a:ext>
            </a:extLst>
          </p:cNvPr>
          <p:cNvSpPr>
            <a:spLocks noGrp="1"/>
          </p:cNvSpPr>
          <p:nvPr>
            <p:ph type="sldNum" sz="quarter" idx="12"/>
          </p:nvPr>
        </p:nvSpPr>
        <p:spPr/>
        <p:txBody>
          <a:bodyPr/>
          <a:lstStyle/>
          <a:p>
            <a:fld id="{1A424DB6-78F0-4ADD-B66A-AFD80B81666A}" type="slidenum">
              <a:rPr lang="en-DK" smtClean="0"/>
              <a:t>11</a:t>
            </a:fld>
            <a:endParaRPr lang="en-DK"/>
          </a:p>
        </p:txBody>
      </p:sp>
    </p:spTree>
    <p:extLst>
      <p:ext uri="{BB962C8B-B14F-4D97-AF65-F5344CB8AC3E}">
        <p14:creationId xmlns:p14="http://schemas.microsoft.com/office/powerpoint/2010/main" val="396409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69D141-D519-4A0D-3E73-582E8ED5315F}"/>
              </a:ext>
            </a:extLst>
          </p:cNvPr>
          <p:cNvPicPr>
            <a:picLocks noChangeAspect="1"/>
          </p:cNvPicPr>
          <p:nvPr/>
        </p:nvPicPr>
        <p:blipFill>
          <a:blip r:embed="rId2"/>
          <a:stretch>
            <a:fillRect/>
          </a:stretch>
        </p:blipFill>
        <p:spPr>
          <a:xfrm>
            <a:off x="0" y="2573678"/>
            <a:ext cx="12192000" cy="3664017"/>
          </a:xfrm>
          <a:prstGeom prst="rect">
            <a:avLst/>
          </a:prstGeom>
        </p:spPr>
      </p:pic>
      <p:sp>
        <p:nvSpPr>
          <p:cNvPr id="2" name="TextBox 1">
            <a:extLst>
              <a:ext uri="{FF2B5EF4-FFF2-40B4-BE49-F238E27FC236}">
                <a16:creationId xmlns:a16="http://schemas.microsoft.com/office/drawing/2014/main" id="{2A5B85D9-12A2-D188-CD36-4C8BADAAEFE9}"/>
              </a:ext>
            </a:extLst>
          </p:cNvPr>
          <p:cNvSpPr txBox="1"/>
          <p:nvPr/>
        </p:nvSpPr>
        <p:spPr>
          <a:xfrm>
            <a:off x="631755" y="1235884"/>
            <a:ext cx="4166333" cy="923330"/>
          </a:xfrm>
          <a:prstGeom prst="rect">
            <a:avLst/>
          </a:prstGeom>
          <a:noFill/>
        </p:spPr>
        <p:txBody>
          <a:bodyPr wrap="none" rtlCol="0">
            <a:spAutoFit/>
          </a:bodyPr>
          <a:lstStyle/>
          <a:p>
            <a:pPr marL="285750" indent="-285750">
              <a:buFontTx/>
              <a:buChar char="-"/>
            </a:pPr>
            <a:r>
              <a:rPr lang="en-US" b="1" dirty="0">
                <a:solidFill>
                  <a:schemeClr val="accent1"/>
                </a:solidFill>
              </a:rPr>
              <a:t>Reporting guidance documentation</a:t>
            </a:r>
          </a:p>
          <a:p>
            <a:pPr marL="285750" indent="-285750">
              <a:buFontTx/>
              <a:buChar char="-"/>
            </a:pPr>
            <a:r>
              <a:rPr lang="en-US" b="1" dirty="0">
                <a:solidFill>
                  <a:schemeClr val="accent1"/>
                </a:solidFill>
              </a:rPr>
              <a:t>Import templates</a:t>
            </a:r>
          </a:p>
          <a:p>
            <a:pPr marL="285750" indent="-285750">
              <a:buFontTx/>
              <a:buChar char="-"/>
            </a:pPr>
            <a:r>
              <a:rPr lang="en-US" b="1" dirty="0">
                <a:solidFill>
                  <a:schemeClr val="accent1"/>
                </a:solidFill>
              </a:rPr>
              <a:t>Useful weblinks</a:t>
            </a:r>
            <a:endParaRPr lang="en-DK" b="1" dirty="0">
              <a:solidFill>
                <a:schemeClr val="accent1"/>
              </a:solidFill>
            </a:endParaRPr>
          </a:p>
        </p:txBody>
      </p:sp>
      <p:cxnSp>
        <p:nvCxnSpPr>
          <p:cNvPr id="4" name="Straight Arrow Connector 3">
            <a:extLst>
              <a:ext uri="{FF2B5EF4-FFF2-40B4-BE49-F238E27FC236}">
                <a16:creationId xmlns:a16="http://schemas.microsoft.com/office/drawing/2014/main" id="{174674C1-2CB5-668D-AA47-E289A1E1012B}"/>
              </a:ext>
            </a:extLst>
          </p:cNvPr>
          <p:cNvCxnSpPr>
            <a:cxnSpLocks/>
          </p:cNvCxnSpPr>
          <p:nvPr/>
        </p:nvCxnSpPr>
        <p:spPr>
          <a:xfrm>
            <a:off x="10845335" y="906746"/>
            <a:ext cx="0" cy="1553309"/>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C363BFF-748C-EEFF-50DC-438451C66805}"/>
              </a:ext>
            </a:extLst>
          </p:cNvPr>
          <p:cNvSpPr txBox="1"/>
          <p:nvPr/>
        </p:nvSpPr>
        <p:spPr>
          <a:xfrm>
            <a:off x="8043607" y="2046886"/>
            <a:ext cx="2457724" cy="369332"/>
          </a:xfrm>
          <a:prstGeom prst="rect">
            <a:avLst/>
          </a:prstGeom>
          <a:noFill/>
        </p:spPr>
        <p:txBody>
          <a:bodyPr wrap="none" rtlCol="0">
            <a:spAutoFit/>
          </a:bodyPr>
          <a:lstStyle/>
          <a:p>
            <a:r>
              <a:rPr lang="en-US" b="1" dirty="0">
                <a:solidFill>
                  <a:schemeClr val="accent1"/>
                </a:solidFill>
              </a:rPr>
              <a:t>Download link(s) here</a:t>
            </a:r>
            <a:endParaRPr lang="en-DK" b="1" dirty="0">
              <a:solidFill>
                <a:schemeClr val="accent1"/>
              </a:solidFill>
            </a:endParaRPr>
          </a:p>
        </p:txBody>
      </p:sp>
      <p:sp>
        <p:nvSpPr>
          <p:cNvPr id="10" name="Rectangle 9">
            <a:extLst>
              <a:ext uri="{FF2B5EF4-FFF2-40B4-BE49-F238E27FC236}">
                <a16:creationId xmlns:a16="http://schemas.microsoft.com/office/drawing/2014/main" id="{83C4E7BB-7225-06F2-E9CE-4B62D341AA35}"/>
              </a:ext>
            </a:extLst>
          </p:cNvPr>
          <p:cNvSpPr/>
          <p:nvPr/>
        </p:nvSpPr>
        <p:spPr>
          <a:xfrm>
            <a:off x="10609615" y="4932933"/>
            <a:ext cx="327080" cy="642666"/>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 name="TextBox 6">
            <a:extLst>
              <a:ext uri="{FF2B5EF4-FFF2-40B4-BE49-F238E27FC236}">
                <a16:creationId xmlns:a16="http://schemas.microsoft.com/office/drawing/2014/main" id="{5FFEC9C6-E660-0F55-FA2E-ECF84D47CB35}"/>
              </a:ext>
            </a:extLst>
          </p:cNvPr>
          <p:cNvSpPr txBox="1"/>
          <p:nvPr/>
        </p:nvSpPr>
        <p:spPr>
          <a:xfrm>
            <a:off x="103747" y="88288"/>
            <a:ext cx="11634597" cy="584775"/>
          </a:xfrm>
          <a:prstGeom prst="rect">
            <a:avLst/>
          </a:prstGeom>
          <a:noFill/>
        </p:spPr>
        <p:txBody>
          <a:bodyPr wrap="square" rtlCol="0">
            <a:spAutoFit/>
          </a:bodyPr>
          <a:lstStyle/>
          <a:p>
            <a:r>
              <a:rPr lang="en-GB" sz="3200" b="1" dirty="0">
                <a:solidFill>
                  <a:srgbClr val="002060"/>
                </a:solidFill>
                <a:latin typeface="Calibri" panose="020F0502020204030204"/>
              </a:rPr>
              <a:t>Dataflow: Dataflow help</a:t>
            </a:r>
          </a:p>
        </p:txBody>
      </p:sp>
      <p:sp>
        <p:nvSpPr>
          <p:cNvPr id="11" name="Slide Number Placeholder 10">
            <a:extLst>
              <a:ext uri="{FF2B5EF4-FFF2-40B4-BE49-F238E27FC236}">
                <a16:creationId xmlns:a16="http://schemas.microsoft.com/office/drawing/2014/main" id="{458E1CE6-4935-8523-CE88-366CC4C6011B}"/>
              </a:ext>
            </a:extLst>
          </p:cNvPr>
          <p:cNvSpPr>
            <a:spLocks noGrp="1"/>
          </p:cNvSpPr>
          <p:nvPr>
            <p:ph type="sldNum" sz="quarter" idx="12"/>
          </p:nvPr>
        </p:nvSpPr>
        <p:spPr/>
        <p:txBody>
          <a:bodyPr/>
          <a:lstStyle/>
          <a:p>
            <a:fld id="{1A424DB6-78F0-4ADD-B66A-AFD80B81666A}" type="slidenum">
              <a:rPr lang="en-DK" smtClean="0"/>
              <a:t>12</a:t>
            </a:fld>
            <a:endParaRPr lang="en-DK"/>
          </a:p>
        </p:txBody>
      </p:sp>
    </p:spTree>
    <p:extLst>
      <p:ext uri="{BB962C8B-B14F-4D97-AF65-F5344CB8AC3E}">
        <p14:creationId xmlns:p14="http://schemas.microsoft.com/office/powerpoint/2010/main" val="106794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A31D86-8076-F851-8BCA-79E8134ABE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901812-71F7-73F6-F8BE-F619B950D55F}"/>
              </a:ext>
            </a:extLst>
          </p:cNvPr>
          <p:cNvSpPr txBox="1"/>
          <p:nvPr/>
        </p:nvSpPr>
        <p:spPr>
          <a:xfrm>
            <a:off x="500863" y="1338163"/>
            <a:ext cx="11424307" cy="5126646"/>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800" noProof="0">
                <a:ea typeface="Calibri"/>
                <a:cs typeface="Calibri"/>
              </a:rPr>
              <a:t>Reporting Guidelines </a:t>
            </a:r>
          </a:p>
          <a:p>
            <a:pPr marL="0" indent="0">
              <a:buNone/>
            </a:pPr>
            <a:r>
              <a:rPr lang="en-GB" sz="2800" noProof="0">
                <a:ea typeface="Calibri"/>
                <a:cs typeface="Calibri"/>
              </a:rPr>
              <a:t> </a:t>
            </a:r>
            <a:r>
              <a:rPr lang="en-GB" sz="1800" noProof="0">
                <a:ea typeface="Calibri"/>
                <a:cs typeface="Calibri"/>
              </a:rPr>
              <a:t>Structure</a:t>
            </a:r>
          </a:p>
          <a:p>
            <a:pPr lvl="1"/>
            <a:r>
              <a:rPr lang="en-GB" sz="1800" b="1" noProof="0">
                <a:ea typeface="Calibri"/>
                <a:cs typeface="Calibri"/>
              </a:rPr>
              <a:t>Introduction</a:t>
            </a:r>
          </a:p>
          <a:p>
            <a:pPr lvl="1"/>
            <a:r>
              <a:rPr lang="en-GB" sz="1800" b="1" noProof="0">
                <a:ea typeface="Calibri"/>
                <a:cs typeface="Calibri"/>
              </a:rPr>
              <a:t>Reportnet3</a:t>
            </a:r>
          </a:p>
          <a:p>
            <a:pPr lvl="1"/>
            <a:r>
              <a:rPr lang="en-GB" sz="1800" b="1" noProof="0">
                <a:ea typeface="Calibri"/>
                <a:cs typeface="Calibri"/>
              </a:rPr>
              <a:t>Technical details of reporting</a:t>
            </a:r>
          </a:p>
          <a:p>
            <a:pPr lvl="1"/>
            <a:r>
              <a:rPr lang="en-GB" sz="1800" b="1" noProof="0">
                <a:ea typeface="Calibri"/>
                <a:cs typeface="Calibri"/>
              </a:rPr>
              <a:t>Thematic guidelines:</a:t>
            </a:r>
          </a:p>
          <a:p>
            <a:pPr lvl="2">
              <a:buFont typeface="Courier New" panose="02070309020205020404" pitchFamily="49" charset="0"/>
              <a:buChar char="o"/>
            </a:pPr>
            <a:r>
              <a:rPr lang="en-GB" sz="1800" b="1" noProof="0">
                <a:ea typeface="Calibri"/>
                <a:cs typeface="Calibri"/>
              </a:rPr>
              <a:t>Reporting tables</a:t>
            </a:r>
          </a:p>
          <a:p>
            <a:pPr lvl="2">
              <a:buFont typeface="Courier New" panose="02070309020205020404" pitchFamily="49" charset="0"/>
              <a:buChar char="o"/>
            </a:pPr>
            <a:r>
              <a:rPr lang="en-GB" sz="1800" b="1" noProof="0">
                <a:ea typeface="Calibri"/>
                <a:cs typeface="Calibri"/>
              </a:rPr>
              <a:t>Fields by tables</a:t>
            </a:r>
          </a:p>
          <a:p>
            <a:pPr lvl="1"/>
            <a:r>
              <a:rPr lang="en-GB" sz="1800" b="1" noProof="0">
                <a:ea typeface="Calibri"/>
                <a:cs typeface="Calibri"/>
              </a:rPr>
              <a:t>Finalising the reporting</a:t>
            </a:r>
          </a:p>
          <a:p>
            <a:pPr lvl="1"/>
            <a:r>
              <a:rPr lang="en-GB" sz="1800" b="1" noProof="0">
                <a:ea typeface="Calibri"/>
                <a:cs typeface="Calibri"/>
              </a:rPr>
              <a:t>QAQC control</a:t>
            </a:r>
          </a:p>
          <a:p>
            <a:pPr lvl="1"/>
            <a:r>
              <a:rPr lang="en-GB" sz="1800" b="1" noProof="0">
                <a:ea typeface="Calibri"/>
                <a:cs typeface="Calibri"/>
              </a:rPr>
              <a:t>Annexes</a:t>
            </a:r>
          </a:p>
          <a:p>
            <a:pPr marL="914400" lvl="1" indent="-457200">
              <a:buFont typeface="Courier New" panose="020B0604020202020204" pitchFamily="34" charset="0"/>
              <a:buChar char="o"/>
            </a:pPr>
            <a:endParaRPr lang="en-GB" sz="2800" b="1" noProof="0">
              <a:ea typeface="Calibri"/>
              <a:cs typeface="Calibri"/>
            </a:endParaRPr>
          </a:p>
          <a:p>
            <a:pPr marL="914400" lvl="1" indent="-457200">
              <a:buFont typeface="Courier New" panose="020B0604020202020204" pitchFamily="34" charset="0"/>
              <a:buChar char="o"/>
            </a:pPr>
            <a:endParaRPr lang="en-GB" sz="2800" b="1" noProof="0">
              <a:ea typeface="Calibri"/>
              <a:cs typeface="Calibri"/>
            </a:endParaRPr>
          </a:p>
        </p:txBody>
      </p:sp>
      <p:sp>
        <p:nvSpPr>
          <p:cNvPr id="3" name="Text Placeholder 1">
            <a:extLst>
              <a:ext uri="{FF2B5EF4-FFF2-40B4-BE49-F238E27FC236}">
                <a16:creationId xmlns:a16="http://schemas.microsoft.com/office/drawing/2014/main" id="{050ABBC8-2D7F-C1FB-3069-462FBD776FA0}"/>
              </a:ext>
            </a:extLst>
          </p:cNvPr>
          <p:cNvSpPr txBox="1">
            <a:spLocks/>
          </p:cNvSpPr>
          <p:nvPr/>
        </p:nvSpPr>
        <p:spPr>
          <a:xfrm>
            <a:off x="500863" y="54288"/>
            <a:ext cx="11010281" cy="1077218"/>
          </a:xfrm>
          <a:prstGeom prst="rect">
            <a:avLst/>
          </a:prstGeom>
          <a:noFill/>
        </p:spPr>
        <p:txBody>
          <a:bodyPr wrap="square" lIns="91440" tIns="45720" rIns="91440" bIns="45720" rtlCol="0" anchor="t">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noProof="0"/>
              <a:t>NECPR Annex I – Decarbonisation</a:t>
            </a:r>
            <a:endParaRPr lang="en-GB" noProof="0">
              <a:ea typeface="Calibri"/>
              <a:cs typeface="Calibri"/>
            </a:endParaRPr>
          </a:p>
          <a:p>
            <a:endParaRPr lang="en-GB" noProof="0">
              <a:highlight>
                <a:srgbClr val="FFFF00"/>
              </a:highlight>
              <a:ea typeface="Calibri"/>
              <a:cs typeface="Calibri"/>
            </a:endParaRPr>
          </a:p>
        </p:txBody>
      </p:sp>
      <p:pic>
        <p:nvPicPr>
          <p:cNvPr id="6" name="Imagen 5" descr="Texto, Carta&#10;&#10;El contenido generado por inteligencia artificial puede ser incorrecto.">
            <a:extLst>
              <a:ext uri="{FF2B5EF4-FFF2-40B4-BE49-F238E27FC236}">
                <a16:creationId xmlns:a16="http://schemas.microsoft.com/office/drawing/2014/main" id="{C02D6FC3-3F93-2E45-3A78-88A6675EF479}"/>
              </a:ext>
            </a:extLst>
          </p:cNvPr>
          <p:cNvPicPr>
            <a:picLocks noChangeAspect="1"/>
          </p:cNvPicPr>
          <p:nvPr/>
        </p:nvPicPr>
        <p:blipFill>
          <a:blip r:embed="rId2"/>
          <a:stretch>
            <a:fillRect/>
          </a:stretch>
        </p:blipFill>
        <p:spPr>
          <a:xfrm>
            <a:off x="6596052" y="964403"/>
            <a:ext cx="3709095" cy="5148649"/>
          </a:xfrm>
          <a:prstGeom prst="rect">
            <a:avLst/>
          </a:prstGeom>
          <a:ln>
            <a:solidFill>
              <a:schemeClr val="tx1"/>
            </a:solidFill>
          </a:ln>
        </p:spPr>
      </p:pic>
    </p:spTree>
    <p:extLst>
      <p:ext uri="{BB962C8B-B14F-4D97-AF65-F5344CB8AC3E}">
        <p14:creationId xmlns:p14="http://schemas.microsoft.com/office/powerpoint/2010/main" val="919822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800E381-9002-331D-D737-B5759818514D}"/>
              </a:ext>
            </a:extLst>
          </p:cNvPr>
          <p:cNvPicPr>
            <a:picLocks noChangeAspect="1"/>
          </p:cNvPicPr>
          <p:nvPr/>
        </p:nvPicPr>
        <p:blipFill>
          <a:blip r:embed="rId2"/>
          <a:stretch>
            <a:fillRect/>
          </a:stretch>
        </p:blipFill>
        <p:spPr>
          <a:xfrm>
            <a:off x="123823" y="766180"/>
            <a:ext cx="10763250" cy="4600575"/>
          </a:xfrm>
          <a:prstGeom prst="rect">
            <a:avLst/>
          </a:prstGeom>
        </p:spPr>
      </p:pic>
      <p:cxnSp>
        <p:nvCxnSpPr>
          <p:cNvPr id="4" name="Straight Arrow Connector 3">
            <a:extLst>
              <a:ext uri="{FF2B5EF4-FFF2-40B4-BE49-F238E27FC236}">
                <a16:creationId xmlns:a16="http://schemas.microsoft.com/office/drawing/2014/main" id="{CAEDAA49-96D3-CFC6-2BD3-7AA686E4B0BE}"/>
              </a:ext>
            </a:extLst>
          </p:cNvPr>
          <p:cNvCxnSpPr>
            <a:cxnSpLocks/>
          </p:cNvCxnSpPr>
          <p:nvPr/>
        </p:nvCxnSpPr>
        <p:spPr>
          <a:xfrm flipH="1" flipV="1">
            <a:off x="1778786" y="4431224"/>
            <a:ext cx="988477" cy="82657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3609705-149F-DC73-92B4-C500EA58B5EE}"/>
              </a:ext>
            </a:extLst>
          </p:cNvPr>
          <p:cNvSpPr txBox="1"/>
          <p:nvPr/>
        </p:nvSpPr>
        <p:spPr>
          <a:xfrm>
            <a:off x="2983951" y="4849738"/>
            <a:ext cx="4746877" cy="1754326"/>
          </a:xfrm>
          <a:prstGeom prst="rect">
            <a:avLst/>
          </a:prstGeom>
          <a:noFill/>
        </p:spPr>
        <p:txBody>
          <a:bodyPr wrap="none" rtlCol="0">
            <a:spAutoFit/>
          </a:bodyPr>
          <a:lstStyle/>
          <a:p>
            <a:r>
              <a:rPr lang="en-US" b="1" u="sng" dirty="0">
                <a:solidFill>
                  <a:schemeClr val="accent1"/>
                </a:solidFill>
              </a:rPr>
              <a:t>Manage reporters (as lead reporter):</a:t>
            </a:r>
          </a:p>
          <a:p>
            <a:r>
              <a:rPr lang="en-US" b="1" dirty="0">
                <a:solidFill>
                  <a:schemeClr val="accent1"/>
                </a:solidFill>
              </a:rPr>
              <a:t>Add additional reporters to access dataflow</a:t>
            </a:r>
          </a:p>
          <a:p>
            <a:r>
              <a:rPr lang="en-US" i="1" dirty="0">
                <a:solidFill>
                  <a:schemeClr val="accent1"/>
                </a:solidFill>
              </a:rPr>
              <a:t>Reporters cannot release to data collection</a:t>
            </a:r>
          </a:p>
          <a:p>
            <a:endParaRPr lang="en-US" i="1" dirty="0">
              <a:solidFill>
                <a:schemeClr val="accent1"/>
              </a:solidFill>
            </a:endParaRPr>
          </a:p>
          <a:p>
            <a:r>
              <a:rPr lang="en-US" b="1" u="sng" dirty="0">
                <a:solidFill>
                  <a:schemeClr val="accent1"/>
                </a:solidFill>
              </a:rPr>
              <a:t>Dataflow </a:t>
            </a:r>
            <a:r>
              <a:rPr lang="en-US" b="1" dirty="0">
                <a:solidFill>
                  <a:schemeClr val="accent1"/>
                </a:solidFill>
              </a:rPr>
              <a:t>user</a:t>
            </a:r>
            <a:r>
              <a:rPr lang="en-US" b="1" u="sng" dirty="0">
                <a:solidFill>
                  <a:schemeClr val="accent1"/>
                </a:solidFill>
              </a:rPr>
              <a:t> list:</a:t>
            </a:r>
          </a:p>
          <a:p>
            <a:r>
              <a:rPr lang="en-US" b="1" dirty="0">
                <a:solidFill>
                  <a:schemeClr val="accent1"/>
                </a:solidFill>
              </a:rPr>
              <a:t>View who is selected as reporters</a:t>
            </a:r>
          </a:p>
        </p:txBody>
      </p:sp>
      <p:pic>
        <p:nvPicPr>
          <p:cNvPr id="12" name="Picture 11">
            <a:extLst>
              <a:ext uri="{FF2B5EF4-FFF2-40B4-BE49-F238E27FC236}">
                <a16:creationId xmlns:a16="http://schemas.microsoft.com/office/drawing/2014/main" id="{F97C2E15-6D86-1F25-97E9-DA6AF518DB70}"/>
              </a:ext>
            </a:extLst>
          </p:cNvPr>
          <p:cNvPicPr>
            <a:picLocks noChangeAspect="1"/>
          </p:cNvPicPr>
          <p:nvPr/>
        </p:nvPicPr>
        <p:blipFill rotWithShape="1">
          <a:blip r:embed="rId3"/>
          <a:srcRect l="-1" t="65047" r="90535"/>
          <a:stretch/>
        </p:blipFill>
        <p:spPr>
          <a:xfrm>
            <a:off x="123823" y="4164523"/>
            <a:ext cx="1438275" cy="2517890"/>
          </a:xfrm>
          <a:prstGeom prst="rect">
            <a:avLst/>
          </a:prstGeom>
        </p:spPr>
      </p:pic>
      <p:sp>
        <p:nvSpPr>
          <p:cNvPr id="13" name="Rectangle 12">
            <a:extLst>
              <a:ext uri="{FF2B5EF4-FFF2-40B4-BE49-F238E27FC236}">
                <a16:creationId xmlns:a16="http://schemas.microsoft.com/office/drawing/2014/main" id="{CCF8ABC2-1BD2-5E5F-BFD4-C735E12E4244}"/>
              </a:ext>
            </a:extLst>
          </p:cNvPr>
          <p:cNvSpPr/>
          <p:nvPr/>
        </p:nvSpPr>
        <p:spPr>
          <a:xfrm>
            <a:off x="123823" y="4164523"/>
            <a:ext cx="1438275" cy="53130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Rectangle 13">
            <a:extLst>
              <a:ext uri="{FF2B5EF4-FFF2-40B4-BE49-F238E27FC236}">
                <a16:creationId xmlns:a16="http://schemas.microsoft.com/office/drawing/2014/main" id="{714AEB7E-0EB6-1EBF-CF3C-1065934D1D6D}"/>
              </a:ext>
            </a:extLst>
          </p:cNvPr>
          <p:cNvSpPr/>
          <p:nvPr/>
        </p:nvSpPr>
        <p:spPr>
          <a:xfrm>
            <a:off x="209550" y="5578553"/>
            <a:ext cx="219076" cy="22589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5" name="TextBox 14">
            <a:extLst>
              <a:ext uri="{FF2B5EF4-FFF2-40B4-BE49-F238E27FC236}">
                <a16:creationId xmlns:a16="http://schemas.microsoft.com/office/drawing/2014/main" id="{5B23594B-A543-75EA-A62A-752B8CD729E2}"/>
              </a:ext>
            </a:extLst>
          </p:cNvPr>
          <p:cNvSpPr txBox="1"/>
          <p:nvPr/>
        </p:nvSpPr>
        <p:spPr>
          <a:xfrm>
            <a:off x="103747" y="88288"/>
            <a:ext cx="11634597" cy="584775"/>
          </a:xfrm>
          <a:prstGeom prst="rect">
            <a:avLst/>
          </a:prstGeom>
          <a:noFill/>
        </p:spPr>
        <p:txBody>
          <a:bodyPr wrap="square" rtlCol="0">
            <a:spAutoFit/>
          </a:bodyPr>
          <a:lstStyle/>
          <a:p>
            <a:r>
              <a:rPr lang="en-GB" sz="3200" b="1" dirty="0">
                <a:solidFill>
                  <a:srgbClr val="002060"/>
                </a:solidFill>
                <a:latin typeface="Calibri" panose="020F0502020204030204"/>
              </a:rPr>
              <a:t>Dataflow: Manage Reporters</a:t>
            </a:r>
          </a:p>
        </p:txBody>
      </p:sp>
      <p:sp>
        <p:nvSpPr>
          <p:cNvPr id="16" name="Slide Number Placeholder 15">
            <a:extLst>
              <a:ext uri="{FF2B5EF4-FFF2-40B4-BE49-F238E27FC236}">
                <a16:creationId xmlns:a16="http://schemas.microsoft.com/office/drawing/2014/main" id="{69D25789-33A9-89EB-89B7-1F2967966681}"/>
              </a:ext>
            </a:extLst>
          </p:cNvPr>
          <p:cNvSpPr>
            <a:spLocks noGrp="1"/>
          </p:cNvSpPr>
          <p:nvPr>
            <p:ph type="sldNum" sz="quarter" idx="12"/>
          </p:nvPr>
        </p:nvSpPr>
        <p:spPr/>
        <p:txBody>
          <a:bodyPr/>
          <a:lstStyle/>
          <a:p>
            <a:fld id="{1A424DB6-78F0-4ADD-B66A-AFD80B81666A}" type="slidenum">
              <a:rPr lang="en-DK" smtClean="0"/>
              <a:t>14</a:t>
            </a:fld>
            <a:endParaRPr lang="en-DK"/>
          </a:p>
        </p:txBody>
      </p:sp>
    </p:spTree>
    <p:extLst>
      <p:ext uri="{BB962C8B-B14F-4D97-AF65-F5344CB8AC3E}">
        <p14:creationId xmlns:p14="http://schemas.microsoft.com/office/powerpoint/2010/main" val="422020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93CB82-BB44-2442-78E8-2E3A4A220E06}"/>
            </a:ext>
          </a:extLst>
        </p:cNvPr>
        <p:cNvGrpSpPr/>
        <p:nvPr/>
      </p:nvGrpSpPr>
      <p:grpSpPr>
        <a:xfrm>
          <a:off x="0" y="0"/>
          <a:ext cx="0" cy="0"/>
          <a:chOff x="0" y="0"/>
          <a:chExt cx="0" cy="0"/>
        </a:xfrm>
      </p:grpSpPr>
      <p:sp>
        <p:nvSpPr>
          <p:cNvPr id="46" name="Text Placeholder 1">
            <a:extLst>
              <a:ext uri="{FF2B5EF4-FFF2-40B4-BE49-F238E27FC236}">
                <a16:creationId xmlns:a16="http://schemas.microsoft.com/office/drawing/2014/main" id="{9E870BCE-4B8E-4F85-79AD-8BD0F33247B2}"/>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Roles in Reportnet 3</a:t>
            </a:r>
          </a:p>
        </p:txBody>
      </p:sp>
      <p:sp>
        <p:nvSpPr>
          <p:cNvPr id="2" name="TextBox 1">
            <a:extLst>
              <a:ext uri="{FF2B5EF4-FFF2-40B4-BE49-F238E27FC236}">
                <a16:creationId xmlns:a16="http://schemas.microsoft.com/office/drawing/2014/main" id="{62833C6F-274C-E911-A5C0-315592249592}"/>
              </a:ext>
            </a:extLst>
          </p:cNvPr>
          <p:cNvSpPr txBox="1"/>
          <p:nvPr/>
        </p:nvSpPr>
        <p:spPr>
          <a:xfrm>
            <a:off x="1668065" y="2436531"/>
            <a:ext cx="3704642"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800" dirty="0"/>
              <a:t>Lead reporter(s)</a:t>
            </a:r>
          </a:p>
          <a:p>
            <a:pPr marL="0" indent="0" algn="ctr">
              <a:buNone/>
            </a:pPr>
            <a:endParaRPr lang="en-GB" sz="2800" dirty="0">
              <a:highlight>
                <a:srgbClr val="FFFF00"/>
              </a:highlight>
            </a:endParaRPr>
          </a:p>
          <a:p>
            <a:r>
              <a:rPr lang="en-GB" sz="2000" b="0" dirty="0"/>
              <a:t>Up to two per CP per dataflow</a:t>
            </a:r>
          </a:p>
          <a:p>
            <a:endParaRPr lang="en-GB" sz="2000" b="0" dirty="0"/>
          </a:p>
          <a:p>
            <a:r>
              <a:rPr lang="en-GB" sz="2000" b="0" dirty="0"/>
              <a:t>Formally nominated</a:t>
            </a:r>
          </a:p>
          <a:p>
            <a:endParaRPr lang="en-GB" sz="2000" b="0" dirty="0"/>
          </a:p>
          <a:p>
            <a:r>
              <a:rPr lang="en-GB" sz="2000" b="0" dirty="0"/>
              <a:t>Able to submit final data.</a:t>
            </a:r>
          </a:p>
        </p:txBody>
      </p:sp>
      <p:grpSp>
        <p:nvGrpSpPr>
          <p:cNvPr id="34" name="Group 33">
            <a:extLst>
              <a:ext uri="{FF2B5EF4-FFF2-40B4-BE49-F238E27FC236}">
                <a16:creationId xmlns:a16="http://schemas.microsoft.com/office/drawing/2014/main" id="{C2485B5A-5596-C27E-8068-1C64256923FA}"/>
              </a:ext>
            </a:extLst>
          </p:cNvPr>
          <p:cNvGrpSpPr/>
          <p:nvPr/>
        </p:nvGrpSpPr>
        <p:grpSpPr>
          <a:xfrm>
            <a:off x="3414347" y="1434373"/>
            <a:ext cx="914400" cy="914400"/>
            <a:chOff x="1989992" y="2814600"/>
            <a:chExt cx="914400" cy="914400"/>
          </a:xfrm>
        </p:grpSpPr>
        <p:sp>
          <p:nvSpPr>
            <p:cNvPr id="31" name="Oval 30">
              <a:extLst>
                <a:ext uri="{FF2B5EF4-FFF2-40B4-BE49-F238E27FC236}">
                  <a16:creationId xmlns:a16="http://schemas.microsoft.com/office/drawing/2014/main" id="{BE60594A-41EF-46B5-443F-2C32E738EDDD}"/>
                </a:ext>
              </a:extLst>
            </p:cNvPr>
            <p:cNvSpPr/>
            <p:nvPr/>
          </p:nvSpPr>
          <p:spPr>
            <a:xfrm>
              <a:off x="1989992" y="2814600"/>
              <a:ext cx="914400" cy="91440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3" name="Graphic 22" descr="Male profile with solid fill">
              <a:extLst>
                <a:ext uri="{FF2B5EF4-FFF2-40B4-BE49-F238E27FC236}">
                  <a16:creationId xmlns:a16="http://schemas.microsoft.com/office/drawing/2014/main" id="{4FDBD3FA-818B-D5A9-5A86-358F4F03AD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89992" y="2814600"/>
              <a:ext cx="914400" cy="914400"/>
            </a:xfrm>
            <a:prstGeom prst="rect">
              <a:avLst/>
            </a:prstGeom>
          </p:spPr>
        </p:pic>
      </p:grpSp>
      <p:grpSp>
        <p:nvGrpSpPr>
          <p:cNvPr id="33" name="Group 32">
            <a:extLst>
              <a:ext uri="{FF2B5EF4-FFF2-40B4-BE49-F238E27FC236}">
                <a16:creationId xmlns:a16="http://schemas.microsoft.com/office/drawing/2014/main" id="{A577EB3B-288C-C18D-921F-F9B409078F83}"/>
              </a:ext>
            </a:extLst>
          </p:cNvPr>
          <p:cNvGrpSpPr/>
          <p:nvPr/>
        </p:nvGrpSpPr>
        <p:grpSpPr>
          <a:xfrm>
            <a:off x="2605986" y="1434373"/>
            <a:ext cx="914400" cy="914400"/>
            <a:chOff x="3625892" y="2814600"/>
            <a:chExt cx="914400" cy="914400"/>
          </a:xfrm>
        </p:grpSpPr>
        <p:sp>
          <p:nvSpPr>
            <p:cNvPr id="30" name="Oval 29">
              <a:extLst>
                <a:ext uri="{FF2B5EF4-FFF2-40B4-BE49-F238E27FC236}">
                  <a16:creationId xmlns:a16="http://schemas.microsoft.com/office/drawing/2014/main" id="{D3BBB75A-28C6-809A-AF87-3400DD6C6E74}"/>
                </a:ext>
              </a:extLst>
            </p:cNvPr>
            <p:cNvSpPr/>
            <p:nvPr/>
          </p:nvSpPr>
          <p:spPr>
            <a:xfrm>
              <a:off x="3625892" y="2814600"/>
              <a:ext cx="914400" cy="914400"/>
            </a:xfrm>
            <a:prstGeom prst="ellipse">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5" name="Graphic 24" descr="Female Profile with solid fill">
              <a:extLst>
                <a:ext uri="{FF2B5EF4-FFF2-40B4-BE49-F238E27FC236}">
                  <a16:creationId xmlns:a16="http://schemas.microsoft.com/office/drawing/2014/main" id="{4EEAE35A-989E-D03B-D91C-6651987136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25892" y="2814600"/>
              <a:ext cx="914400" cy="914400"/>
            </a:xfrm>
            <a:prstGeom prst="rect">
              <a:avLst/>
            </a:prstGeom>
          </p:spPr>
        </p:pic>
      </p:grpSp>
      <p:grpSp>
        <p:nvGrpSpPr>
          <p:cNvPr id="35" name="Group 34">
            <a:extLst>
              <a:ext uri="{FF2B5EF4-FFF2-40B4-BE49-F238E27FC236}">
                <a16:creationId xmlns:a16="http://schemas.microsoft.com/office/drawing/2014/main" id="{950DD215-0030-0DDA-3081-4C62538784C9}"/>
              </a:ext>
            </a:extLst>
          </p:cNvPr>
          <p:cNvGrpSpPr/>
          <p:nvPr/>
        </p:nvGrpSpPr>
        <p:grpSpPr>
          <a:xfrm>
            <a:off x="7863255" y="1434373"/>
            <a:ext cx="914400" cy="914400"/>
            <a:chOff x="5938800" y="3271800"/>
            <a:chExt cx="914400" cy="914400"/>
          </a:xfrm>
        </p:grpSpPr>
        <p:sp>
          <p:nvSpPr>
            <p:cNvPr id="32" name="Oval 31">
              <a:extLst>
                <a:ext uri="{FF2B5EF4-FFF2-40B4-BE49-F238E27FC236}">
                  <a16:creationId xmlns:a16="http://schemas.microsoft.com/office/drawing/2014/main" id="{552A39BD-5C0E-8DA0-F7CB-433FA0AA66CE}"/>
                </a:ext>
              </a:extLst>
            </p:cNvPr>
            <p:cNvSpPr/>
            <p:nvPr/>
          </p:nvSpPr>
          <p:spPr>
            <a:xfrm>
              <a:off x="5938800" y="3271800"/>
              <a:ext cx="914400" cy="91440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27" name="Graphic 26" descr="Users with solid fill">
              <a:extLst>
                <a:ext uri="{FF2B5EF4-FFF2-40B4-BE49-F238E27FC236}">
                  <a16:creationId xmlns:a16="http://schemas.microsoft.com/office/drawing/2014/main" id="{B652BBBB-18B3-97FA-2E43-08D88DC63B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38800" y="3271800"/>
              <a:ext cx="914400" cy="914400"/>
            </a:xfrm>
            <a:prstGeom prst="rect">
              <a:avLst/>
            </a:prstGeom>
          </p:spPr>
        </p:pic>
      </p:grpSp>
      <p:sp>
        <p:nvSpPr>
          <p:cNvPr id="36" name="TextBox 35">
            <a:extLst>
              <a:ext uri="{FF2B5EF4-FFF2-40B4-BE49-F238E27FC236}">
                <a16:creationId xmlns:a16="http://schemas.microsoft.com/office/drawing/2014/main" id="{FD6C1D77-76C5-C7ED-8041-4F2971A167A6}"/>
              </a:ext>
            </a:extLst>
          </p:cNvPr>
          <p:cNvSpPr txBox="1"/>
          <p:nvPr/>
        </p:nvSpPr>
        <p:spPr>
          <a:xfrm>
            <a:off x="6468133" y="2436531"/>
            <a:ext cx="3704643"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800" dirty="0"/>
              <a:t>Supporting reporter(s)</a:t>
            </a:r>
          </a:p>
          <a:p>
            <a:pPr marL="0" indent="0" algn="ctr">
              <a:buNone/>
            </a:pPr>
            <a:endParaRPr lang="en-GB" sz="2800" dirty="0">
              <a:highlight>
                <a:srgbClr val="FFFF00"/>
              </a:highlight>
            </a:endParaRPr>
          </a:p>
          <a:p>
            <a:r>
              <a:rPr lang="en-GB" sz="2000" b="0" dirty="0"/>
              <a:t>Unlimited number per CP per dataflow</a:t>
            </a:r>
          </a:p>
          <a:p>
            <a:endParaRPr lang="en-GB" sz="2000" b="0" dirty="0"/>
          </a:p>
          <a:p>
            <a:r>
              <a:rPr lang="en-GB" sz="2000" b="0" dirty="0"/>
              <a:t>Managed by lead reporter(s)</a:t>
            </a:r>
          </a:p>
        </p:txBody>
      </p:sp>
    </p:spTree>
    <p:extLst>
      <p:ext uri="{BB962C8B-B14F-4D97-AF65-F5344CB8AC3E}">
        <p14:creationId xmlns:p14="http://schemas.microsoft.com/office/powerpoint/2010/main" val="590257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0F7C-B1D8-8476-65AA-75A2566EC0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F8599D-0FFE-EC3B-6B75-AB3F69EE1553}"/>
              </a:ext>
            </a:extLst>
          </p:cNvPr>
          <p:cNvSpPr txBox="1"/>
          <p:nvPr/>
        </p:nvSpPr>
        <p:spPr>
          <a:xfrm>
            <a:off x="4940049" y="3429000"/>
            <a:ext cx="2311915"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Data input - overview</a:t>
            </a:r>
          </a:p>
        </p:txBody>
      </p:sp>
      <p:pic>
        <p:nvPicPr>
          <p:cNvPr id="4" name="Graphic 3" descr="Map with pin with solid fill">
            <a:extLst>
              <a:ext uri="{FF2B5EF4-FFF2-40B4-BE49-F238E27FC236}">
                <a16:creationId xmlns:a16="http://schemas.microsoft.com/office/drawing/2014/main" id="{A24DE578-637A-3CFF-D978-8084F297FC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4849" y="1729578"/>
            <a:ext cx="1882302" cy="1882302"/>
          </a:xfrm>
          <a:prstGeom prst="rect">
            <a:avLst/>
          </a:prstGeom>
        </p:spPr>
      </p:pic>
    </p:spTree>
    <p:extLst>
      <p:ext uri="{BB962C8B-B14F-4D97-AF65-F5344CB8AC3E}">
        <p14:creationId xmlns:p14="http://schemas.microsoft.com/office/powerpoint/2010/main" val="1706660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247FF-9E0D-E410-913D-E175540261E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A373CF-8E02-0C8A-060A-286769281DCD}"/>
              </a:ext>
            </a:extLst>
          </p:cNvPr>
          <p:cNvPicPr>
            <a:picLocks noChangeAspect="1"/>
          </p:cNvPicPr>
          <p:nvPr/>
        </p:nvPicPr>
        <p:blipFill rotWithShape="1">
          <a:blip r:embed="rId3"/>
          <a:srcRect t="26091" r="4325" b="42486"/>
          <a:stretch/>
        </p:blipFill>
        <p:spPr>
          <a:xfrm>
            <a:off x="63348" y="954727"/>
            <a:ext cx="11755120" cy="2413000"/>
          </a:xfrm>
          <a:prstGeom prst="rect">
            <a:avLst/>
          </a:prstGeom>
        </p:spPr>
      </p:pic>
      <p:sp>
        <p:nvSpPr>
          <p:cNvPr id="10" name="Text Placeholder 1">
            <a:extLst>
              <a:ext uri="{FF2B5EF4-FFF2-40B4-BE49-F238E27FC236}">
                <a16:creationId xmlns:a16="http://schemas.microsoft.com/office/drawing/2014/main" id="{B3B11CC0-4A13-2A2F-4DF1-04E212E5C62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Overview of dataflow page</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DCF72F6-C599-6BB9-53DB-77ED267354A1}"/>
              </a:ext>
            </a:extLst>
          </p:cNvPr>
          <p:cNvSpPr/>
          <p:nvPr/>
        </p:nvSpPr>
        <p:spPr>
          <a:xfrm>
            <a:off x="773723" y="1737364"/>
            <a:ext cx="982219" cy="155975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78DC442-8C64-F8F3-A718-D38B6E58E611}"/>
              </a:ext>
            </a:extLst>
          </p:cNvPr>
          <p:cNvSpPr/>
          <p:nvPr/>
        </p:nvSpPr>
        <p:spPr>
          <a:xfrm>
            <a:off x="3720948" y="1737364"/>
            <a:ext cx="982219" cy="155975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23A0AAA-D682-3C42-724E-6E57C82BCDF2}"/>
              </a:ext>
            </a:extLst>
          </p:cNvPr>
          <p:cNvSpPr txBox="1"/>
          <p:nvPr/>
        </p:nvSpPr>
        <p:spPr>
          <a:xfrm>
            <a:off x="683328" y="3297115"/>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chemeClr val="accent1"/>
                </a:solidFill>
              </a:rPr>
              <a:t>2.</a:t>
            </a:r>
            <a:endParaRPr lang="en-GB" sz="1600" b="0">
              <a:solidFill>
                <a:schemeClr val="accent1"/>
              </a:solidFill>
            </a:endParaRPr>
          </a:p>
        </p:txBody>
      </p:sp>
      <p:sp>
        <p:nvSpPr>
          <p:cNvPr id="14" name="TextBox 13">
            <a:extLst>
              <a:ext uri="{FF2B5EF4-FFF2-40B4-BE49-F238E27FC236}">
                <a16:creationId xmlns:a16="http://schemas.microsoft.com/office/drawing/2014/main" id="{9018939E-25A6-B649-0CD6-1B7D99197BAD}"/>
              </a:ext>
            </a:extLst>
          </p:cNvPr>
          <p:cNvSpPr txBox="1"/>
          <p:nvPr/>
        </p:nvSpPr>
        <p:spPr>
          <a:xfrm>
            <a:off x="1719018" y="3297114"/>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rgbClr val="FF0000"/>
                </a:solidFill>
              </a:rPr>
              <a:t>3.</a:t>
            </a:r>
            <a:endParaRPr lang="en-GB" sz="1600" b="0">
              <a:solidFill>
                <a:srgbClr val="FF0000"/>
              </a:solidFill>
            </a:endParaRPr>
          </a:p>
        </p:txBody>
      </p:sp>
      <p:sp>
        <p:nvSpPr>
          <p:cNvPr id="15" name="TextBox 14">
            <a:extLst>
              <a:ext uri="{FF2B5EF4-FFF2-40B4-BE49-F238E27FC236}">
                <a16:creationId xmlns:a16="http://schemas.microsoft.com/office/drawing/2014/main" id="{B386BFEC-862B-5B8D-049D-DCB538B996ED}"/>
              </a:ext>
            </a:extLst>
          </p:cNvPr>
          <p:cNvSpPr txBox="1"/>
          <p:nvPr/>
        </p:nvSpPr>
        <p:spPr>
          <a:xfrm>
            <a:off x="3668883" y="3297113"/>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chemeClr val="accent1"/>
                </a:solidFill>
              </a:rPr>
              <a:t>4.</a:t>
            </a:r>
            <a:endParaRPr lang="en-GB" sz="1600" b="0">
              <a:solidFill>
                <a:schemeClr val="accent1"/>
              </a:solidFill>
            </a:endParaRPr>
          </a:p>
        </p:txBody>
      </p:sp>
      <p:sp>
        <p:nvSpPr>
          <p:cNvPr id="8" name="Rectangle 7">
            <a:extLst>
              <a:ext uri="{FF2B5EF4-FFF2-40B4-BE49-F238E27FC236}">
                <a16:creationId xmlns:a16="http://schemas.microsoft.com/office/drawing/2014/main" id="{2592EB99-FA7B-DC0D-0634-B727B8283C57}"/>
              </a:ext>
            </a:extLst>
          </p:cNvPr>
          <p:cNvSpPr/>
          <p:nvPr/>
        </p:nvSpPr>
        <p:spPr>
          <a:xfrm>
            <a:off x="1755941" y="1737364"/>
            <a:ext cx="1965007" cy="1559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Graphic 16" descr="Document with solid fill">
            <a:extLst>
              <a:ext uri="{FF2B5EF4-FFF2-40B4-BE49-F238E27FC236}">
                <a16:creationId xmlns:a16="http://schemas.microsoft.com/office/drawing/2014/main" id="{51F4BF1F-57A3-026B-8DED-2FCE2113CF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01051" y="3903783"/>
            <a:ext cx="914400" cy="914400"/>
          </a:xfrm>
          <a:prstGeom prst="rect">
            <a:avLst/>
          </a:prstGeom>
        </p:spPr>
      </p:pic>
      <p:pic>
        <p:nvPicPr>
          <p:cNvPr id="19" name="Graphic 18" descr="Cloud Computing with solid fill">
            <a:extLst>
              <a:ext uri="{FF2B5EF4-FFF2-40B4-BE49-F238E27FC236}">
                <a16:creationId xmlns:a16="http://schemas.microsoft.com/office/drawing/2014/main" id="{725D78EF-78FD-8EA6-BA13-9DE194162A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80806" y="3903783"/>
            <a:ext cx="914400" cy="914400"/>
          </a:xfrm>
          <a:prstGeom prst="rect">
            <a:avLst/>
          </a:prstGeom>
        </p:spPr>
      </p:pic>
      <p:pic>
        <p:nvPicPr>
          <p:cNvPr id="21" name="Graphic 20" descr="Questions with solid fill">
            <a:extLst>
              <a:ext uri="{FF2B5EF4-FFF2-40B4-BE49-F238E27FC236}">
                <a16:creationId xmlns:a16="http://schemas.microsoft.com/office/drawing/2014/main" id="{8D7A3C71-81B3-6497-4E4E-E2289B05C9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21296" y="3903783"/>
            <a:ext cx="914400" cy="914400"/>
          </a:xfrm>
          <a:prstGeom prst="rect">
            <a:avLst/>
          </a:prstGeom>
        </p:spPr>
      </p:pic>
      <p:sp>
        <p:nvSpPr>
          <p:cNvPr id="22" name="TextBox 21">
            <a:extLst>
              <a:ext uri="{FF2B5EF4-FFF2-40B4-BE49-F238E27FC236}">
                <a16:creationId xmlns:a16="http://schemas.microsoft.com/office/drawing/2014/main" id="{E4C46934-8B82-D58D-ECE4-39FAE4FD82B2}"/>
              </a:ext>
            </a:extLst>
          </p:cNvPr>
          <p:cNvSpPr txBox="1"/>
          <p:nvPr/>
        </p:nvSpPr>
        <p:spPr>
          <a:xfrm>
            <a:off x="3247418" y="485686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chemeClr val="accent1"/>
                </a:solidFill>
              </a:rPr>
              <a:t>2. Dataflow help</a:t>
            </a:r>
          </a:p>
          <a:p>
            <a:pPr marL="0" indent="0" algn="ctr">
              <a:buNone/>
            </a:pPr>
            <a:r>
              <a:rPr lang="en-GB" sz="1600" b="0"/>
              <a:t>Documentation</a:t>
            </a:r>
          </a:p>
          <a:p>
            <a:pPr marL="0" indent="0" algn="ctr">
              <a:buNone/>
            </a:pPr>
            <a:r>
              <a:rPr lang="en-GB" sz="1600" b="0"/>
              <a:t>Guidance</a:t>
            </a:r>
          </a:p>
          <a:p>
            <a:pPr marL="0" indent="0" algn="ctr">
              <a:buNone/>
            </a:pPr>
            <a:r>
              <a:rPr lang="en-GB" sz="1600" b="0"/>
              <a:t>Legislation</a:t>
            </a:r>
          </a:p>
        </p:txBody>
      </p:sp>
      <p:sp>
        <p:nvSpPr>
          <p:cNvPr id="23" name="TextBox 22">
            <a:extLst>
              <a:ext uri="{FF2B5EF4-FFF2-40B4-BE49-F238E27FC236}">
                <a16:creationId xmlns:a16="http://schemas.microsoft.com/office/drawing/2014/main" id="{1E241484-FA3F-68D1-04F2-0ED42615495E}"/>
              </a:ext>
            </a:extLst>
          </p:cNvPr>
          <p:cNvSpPr txBox="1"/>
          <p:nvPr/>
        </p:nvSpPr>
        <p:spPr>
          <a:xfrm>
            <a:off x="5980831" y="4856862"/>
            <a:ext cx="2554839"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rgbClr val="FF0000"/>
                </a:solidFill>
              </a:rPr>
              <a:t>3. Reporting schema</a:t>
            </a:r>
          </a:p>
          <a:p>
            <a:pPr marL="0" indent="0" algn="ctr">
              <a:buNone/>
            </a:pPr>
            <a:r>
              <a:rPr lang="en-GB" sz="1600" b="0"/>
              <a:t>Where to report data</a:t>
            </a:r>
          </a:p>
          <a:p>
            <a:pPr marL="0" indent="0" algn="ctr">
              <a:buNone/>
            </a:pPr>
            <a:r>
              <a:rPr lang="en-GB" sz="1600" b="0"/>
              <a:t>Focus on data reporting</a:t>
            </a:r>
          </a:p>
          <a:p>
            <a:pPr marL="0" indent="0" algn="ctr">
              <a:buNone/>
            </a:pPr>
            <a:r>
              <a:rPr lang="en-GB" sz="1600" b="0"/>
              <a:t>Attachments to supplement reporting</a:t>
            </a:r>
          </a:p>
        </p:txBody>
      </p:sp>
      <p:sp>
        <p:nvSpPr>
          <p:cNvPr id="24" name="TextBox 23">
            <a:extLst>
              <a:ext uri="{FF2B5EF4-FFF2-40B4-BE49-F238E27FC236}">
                <a16:creationId xmlns:a16="http://schemas.microsoft.com/office/drawing/2014/main" id="{D6EBD1DA-07C4-AEA8-92E2-49C6E40A00A6}"/>
              </a:ext>
            </a:extLst>
          </p:cNvPr>
          <p:cNvSpPr txBox="1"/>
          <p:nvPr/>
        </p:nvSpPr>
        <p:spPr>
          <a:xfrm>
            <a:off x="8960586" y="4856862"/>
            <a:ext cx="2554839"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chemeClr val="accent1"/>
                </a:solidFill>
              </a:rPr>
              <a:t>4. Release data</a:t>
            </a:r>
          </a:p>
          <a:p>
            <a:pPr marL="0" indent="0" algn="ctr">
              <a:buNone/>
            </a:pPr>
            <a:r>
              <a:rPr lang="en-GB" sz="1600" b="0"/>
              <a:t>The button to officially submit data</a:t>
            </a:r>
          </a:p>
        </p:txBody>
      </p:sp>
      <p:sp>
        <p:nvSpPr>
          <p:cNvPr id="25" name="Rectangle 24">
            <a:extLst>
              <a:ext uri="{FF2B5EF4-FFF2-40B4-BE49-F238E27FC236}">
                <a16:creationId xmlns:a16="http://schemas.microsoft.com/office/drawing/2014/main" id="{417C31AE-8E33-3123-8FCA-265C9E56EB53}"/>
              </a:ext>
            </a:extLst>
          </p:cNvPr>
          <p:cNvSpPr/>
          <p:nvPr/>
        </p:nvSpPr>
        <p:spPr>
          <a:xfrm>
            <a:off x="63347" y="1154920"/>
            <a:ext cx="346731" cy="22128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8FA7B811-6D66-FA8A-4C2D-4BE5CEF8A30A}"/>
              </a:ext>
            </a:extLst>
          </p:cNvPr>
          <p:cNvSpPr txBox="1"/>
          <p:nvPr/>
        </p:nvSpPr>
        <p:spPr>
          <a:xfrm>
            <a:off x="0" y="3367727"/>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rgbClr val="FF0000"/>
                </a:solidFill>
              </a:rPr>
              <a:t>1.</a:t>
            </a:r>
            <a:endParaRPr lang="en-GB" sz="1600" b="0">
              <a:solidFill>
                <a:srgbClr val="FF0000"/>
              </a:solidFill>
            </a:endParaRPr>
          </a:p>
        </p:txBody>
      </p:sp>
      <p:pic>
        <p:nvPicPr>
          <p:cNvPr id="28" name="Graphic 27" descr="Bell with solid fill">
            <a:extLst>
              <a:ext uri="{FF2B5EF4-FFF2-40B4-BE49-F238E27FC236}">
                <a16:creationId xmlns:a16="http://schemas.microsoft.com/office/drawing/2014/main" id="{2D869D3E-B2C6-0084-31E4-610AA669A85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1541" y="3903783"/>
            <a:ext cx="914400" cy="914400"/>
          </a:xfrm>
          <a:prstGeom prst="rect">
            <a:avLst/>
          </a:prstGeom>
        </p:spPr>
      </p:pic>
      <p:sp>
        <p:nvSpPr>
          <p:cNvPr id="29" name="TextBox 28">
            <a:extLst>
              <a:ext uri="{FF2B5EF4-FFF2-40B4-BE49-F238E27FC236}">
                <a16:creationId xmlns:a16="http://schemas.microsoft.com/office/drawing/2014/main" id="{E0CEEB29-9312-9EC4-38EF-96ED91A222E4}"/>
              </a:ext>
            </a:extLst>
          </p:cNvPr>
          <p:cNvSpPr txBox="1"/>
          <p:nvPr/>
        </p:nvSpPr>
        <p:spPr>
          <a:xfrm>
            <a:off x="267663" y="485686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rgbClr val="FF0000"/>
                </a:solidFill>
              </a:rPr>
              <a:t>1. Navigation bar</a:t>
            </a:r>
          </a:p>
          <a:p>
            <a:pPr marL="0" indent="0" algn="ctr">
              <a:buNone/>
            </a:pPr>
            <a:r>
              <a:rPr lang="en-GB" sz="1600" b="0"/>
              <a:t>Reporter management</a:t>
            </a:r>
          </a:p>
          <a:p>
            <a:pPr marL="0" indent="0" algn="ctr">
              <a:buNone/>
            </a:pPr>
            <a:r>
              <a:rPr lang="en-GB" sz="1600" b="0" u="sng"/>
              <a:t>Notifications</a:t>
            </a:r>
            <a:r>
              <a:rPr lang="en-GB" sz="1600" b="0"/>
              <a:t>!</a:t>
            </a:r>
          </a:p>
          <a:p>
            <a:pPr marL="0" indent="0" algn="ctr">
              <a:buNone/>
            </a:pPr>
            <a:endParaRPr lang="en-GB" sz="1600" b="0"/>
          </a:p>
        </p:txBody>
      </p:sp>
    </p:spTree>
    <p:extLst>
      <p:ext uri="{BB962C8B-B14F-4D97-AF65-F5344CB8AC3E}">
        <p14:creationId xmlns:p14="http://schemas.microsoft.com/office/powerpoint/2010/main" val="270954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4" grpId="0"/>
      <p:bldP spid="15" grpId="0"/>
      <p:bldP spid="8" grpId="0" animBg="1"/>
      <p:bldP spid="22" grpId="0"/>
      <p:bldP spid="23" grpId="0"/>
      <p:bldP spid="24" grpId="0"/>
      <p:bldP spid="25" grpId="0" animBg="1"/>
      <p:bldP spid="26" grpId="0"/>
      <p:bldP spid="2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247FF-9E0D-E410-913D-E175540261E7}"/>
            </a:ext>
          </a:extLst>
        </p:cNvPr>
        <p:cNvGrpSpPr/>
        <p:nvPr/>
      </p:nvGrpSpPr>
      <p:grpSpPr>
        <a:xfrm>
          <a:off x="0" y="0"/>
          <a:ext cx="0" cy="0"/>
          <a:chOff x="0" y="0"/>
          <a:chExt cx="0" cy="0"/>
        </a:xfrm>
      </p:grpSpPr>
      <p:cxnSp>
        <p:nvCxnSpPr>
          <p:cNvPr id="15" name="Connector: Elbow 14">
            <a:extLst>
              <a:ext uri="{FF2B5EF4-FFF2-40B4-BE49-F238E27FC236}">
                <a16:creationId xmlns:a16="http://schemas.microsoft.com/office/drawing/2014/main" id="{A0B9DB39-F93A-7054-F0DA-7B223314109D}"/>
              </a:ext>
            </a:extLst>
          </p:cNvPr>
          <p:cNvCxnSpPr>
            <a:cxnSpLocks/>
            <a:endCxn id="9" idx="2"/>
          </p:cNvCxnSpPr>
          <p:nvPr/>
        </p:nvCxnSpPr>
        <p:spPr>
          <a:xfrm rot="5400000" flipH="1" flipV="1">
            <a:off x="7280030" y="2203268"/>
            <a:ext cx="289364" cy="173698"/>
          </a:xfrm>
          <a:prstGeom prst="bentConnector3">
            <a:avLst>
              <a:gd name="adj1" fmla="val -1655"/>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E726798-B418-5EEA-73D9-61C8EC9D6CFF}"/>
              </a:ext>
            </a:extLst>
          </p:cNvPr>
          <p:cNvSpPr txBox="1"/>
          <p:nvPr/>
        </p:nvSpPr>
        <p:spPr>
          <a:xfrm>
            <a:off x="500863" y="1114531"/>
            <a:ext cx="8188717" cy="369332"/>
          </a:xfrm>
          <a:prstGeom prst="rect">
            <a:avLst/>
          </a:prstGeom>
          <a:noFill/>
        </p:spPr>
        <p:txBody>
          <a:bodyPr wrap="none" rtlCol="0">
            <a:spAutoFit/>
          </a:bodyPr>
          <a:lstStyle/>
          <a:p>
            <a:r>
              <a:rPr lang="en-GB" b="1"/>
              <a:t>Prefilling / Post-filling is data that is not reported within </a:t>
            </a:r>
            <a:r>
              <a:rPr lang="en-GB" b="1" u="sng"/>
              <a:t>this</a:t>
            </a:r>
            <a:r>
              <a:rPr lang="en-GB" b="1"/>
              <a:t> dataflow in Reportnet.</a:t>
            </a:r>
          </a:p>
        </p:txBody>
      </p:sp>
      <p:sp>
        <p:nvSpPr>
          <p:cNvPr id="10" name="Text Placeholder 1">
            <a:extLst>
              <a:ext uri="{FF2B5EF4-FFF2-40B4-BE49-F238E27FC236}">
                <a16:creationId xmlns:a16="http://schemas.microsoft.com/office/drawing/2014/main" id="{A5BFC458-16C9-80FB-508A-DA521972A27F}"/>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Where can I access “prefilled” data?</a:t>
            </a:r>
          </a:p>
        </p:txBody>
      </p:sp>
      <p:pic>
        <p:nvPicPr>
          <p:cNvPr id="5" name="Graphic 4" descr="Clipboard Checked with solid fill">
            <a:extLst>
              <a:ext uri="{FF2B5EF4-FFF2-40B4-BE49-F238E27FC236}">
                <a16:creationId xmlns:a16="http://schemas.microsoft.com/office/drawing/2014/main" id="{6835E530-7B8E-D7BB-828C-118530163B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97161" y="1959331"/>
            <a:ext cx="914400" cy="914400"/>
          </a:xfrm>
          <a:prstGeom prst="rect">
            <a:avLst/>
          </a:prstGeom>
        </p:spPr>
      </p:pic>
      <p:pic>
        <p:nvPicPr>
          <p:cNvPr id="8" name="Graphic 7" descr="Inbox Check with solid fill">
            <a:extLst>
              <a:ext uri="{FF2B5EF4-FFF2-40B4-BE49-F238E27FC236}">
                <a16:creationId xmlns:a16="http://schemas.microsoft.com/office/drawing/2014/main" id="{468EC10E-AACD-978F-349D-AA71AF163A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05653" y="1959331"/>
            <a:ext cx="914400" cy="914400"/>
          </a:xfrm>
          <a:prstGeom prst="rect">
            <a:avLst/>
          </a:prstGeom>
        </p:spPr>
      </p:pic>
      <p:pic>
        <p:nvPicPr>
          <p:cNvPr id="9" name="Graphic 8" descr="Clipboard Checked with solid fill">
            <a:extLst>
              <a:ext uri="{FF2B5EF4-FFF2-40B4-BE49-F238E27FC236}">
                <a16:creationId xmlns:a16="http://schemas.microsoft.com/office/drawing/2014/main" id="{F5F8914E-D265-9D7C-3E26-3A72092A62D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5457" y="1773227"/>
            <a:ext cx="372208" cy="372208"/>
          </a:xfrm>
          <a:prstGeom prst="rect">
            <a:avLst/>
          </a:prstGeom>
        </p:spPr>
      </p:pic>
      <p:pic>
        <p:nvPicPr>
          <p:cNvPr id="11" name="Graphic 10" descr="Clipboard Checked with solid fill">
            <a:extLst>
              <a:ext uri="{FF2B5EF4-FFF2-40B4-BE49-F238E27FC236}">
                <a16:creationId xmlns:a16="http://schemas.microsoft.com/office/drawing/2014/main" id="{83B0086D-EDC0-8921-B391-C4C6F498E71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15611" y="1959331"/>
            <a:ext cx="914400" cy="914400"/>
          </a:xfrm>
          <a:prstGeom prst="rect">
            <a:avLst/>
          </a:prstGeom>
        </p:spPr>
      </p:pic>
      <p:pic>
        <p:nvPicPr>
          <p:cNvPr id="13" name="Graphic 12" descr="Abacus with solid fill">
            <a:extLst>
              <a:ext uri="{FF2B5EF4-FFF2-40B4-BE49-F238E27FC236}">
                <a16:creationId xmlns:a16="http://schemas.microsoft.com/office/drawing/2014/main" id="{1EC9F4A3-3944-54BE-C2BF-1F0B9B9308B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88669" y="1959331"/>
            <a:ext cx="914400" cy="914400"/>
          </a:xfrm>
          <a:prstGeom prst="rect">
            <a:avLst/>
          </a:prstGeom>
        </p:spPr>
      </p:pic>
      <p:sp>
        <p:nvSpPr>
          <p:cNvPr id="18" name="TextBox 17">
            <a:extLst>
              <a:ext uri="{FF2B5EF4-FFF2-40B4-BE49-F238E27FC236}">
                <a16:creationId xmlns:a16="http://schemas.microsoft.com/office/drawing/2014/main" id="{78710E5A-8222-EB0F-6DA9-3B27ACDAD240}"/>
              </a:ext>
            </a:extLst>
          </p:cNvPr>
          <p:cNvSpPr txBox="1"/>
          <p:nvPr/>
        </p:nvSpPr>
        <p:spPr>
          <a:xfrm>
            <a:off x="1241733" y="297219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dirty="0">
                <a:solidFill>
                  <a:schemeClr val="accent1"/>
                </a:solidFill>
              </a:rPr>
              <a:t>Reported data</a:t>
            </a:r>
          </a:p>
          <a:p>
            <a:pPr marL="0" indent="0" algn="ctr">
              <a:buNone/>
            </a:pPr>
            <a:r>
              <a:rPr lang="en-GB" sz="1600" b="0" dirty="0"/>
              <a:t>To be filled in by CPs in Reportnet 3</a:t>
            </a:r>
          </a:p>
          <a:p>
            <a:pPr marL="0" indent="0" algn="ctr">
              <a:buNone/>
            </a:pPr>
            <a:endParaRPr lang="en-GB" sz="1600" b="0" dirty="0"/>
          </a:p>
        </p:txBody>
      </p:sp>
      <p:sp>
        <p:nvSpPr>
          <p:cNvPr id="19" name="TextBox 18">
            <a:extLst>
              <a:ext uri="{FF2B5EF4-FFF2-40B4-BE49-F238E27FC236}">
                <a16:creationId xmlns:a16="http://schemas.microsoft.com/office/drawing/2014/main" id="{BFB087A4-AC44-A43E-5E29-D10C17EB466B}"/>
              </a:ext>
            </a:extLst>
          </p:cNvPr>
          <p:cNvSpPr txBox="1"/>
          <p:nvPr/>
        </p:nvSpPr>
        <p:spPr>
          <a:xfrm>
            <a:off x="3631775" y="297219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dirty="0">
                <a:solidFill>
                  <a:schemeClr val="accent4"/>
                </a:solidFill>
              </a:rPr>
              <a:t>Prefilled data</a:t>
            </a:r>
          </a:p>
          <a:p>
            <a:pPr marL="0" indent="0" algn="ctr">
              <a:buNone/>
            </a:pPr>
            <a:r>
              <a:rPr lang="en-GB" sz="1600" b="0" dirty="0"/>
              <a:t>Information provided by CPs prior to 15 March in other means (i.e. Eurostat)</a:t>
            </a:r>
          </a:p>
          <a:p>
            <a:pPr marL="0" indent="0" algn="ctr">
              <a:buNone/>
            </a:pPr>
            <a:endParaRPr lang="en-GB" sz="1600" b="0" dirty="0"/>
          </a:p>
        </p:txBody>
      </p:sp>
      <p:sp>
        <p:nvSpPr>
          <p:cNvPr id="20" name="TextBox 19">
            <a:extLst>
              <a:ext uri="{FF2B5EF4-FFF2-40B4-BE49-F238E27FC236}">
                <a16:creationId xmlns:a16="http://schemas.microsoft.com/office/drawing/2014/main" id="{87D7DB0F-F6FD-29F8-E82E-00AA343D7F09}"/>
              </a:ext>
            </a:extLst>
          </p:cNvPr>
          <p:cNvSpPr txBox="1"/>
          <p:nvPr/>
        </p:nvSpPr>
        <p:spPr>
          <a:xfrm>
            <a:off x="6023283" y="2972191"/>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dirty="0">
                <a:solidFill>
                  <a:schemeClr val="accent5"/>
                </a:solidFill>
              </a:rPr>
              <a:t>Post-filled</a:t>
            </a:r>
          </a:p>
          <a:p>
            <a:pPr marL="0" indent="0" algn="ctr">
              <a:buNone/>
            </a:pPr>
            <a:r>
              <a:rPr lang="en-GB" sz="1600" b="0" dirty="0"/>
              <a:t>Information being provided by CPs simultaneously to 15 March in other dataflow(s) (i.e. Eurostat)</a:t>
            </a:r>
          </a:p>
          <a:p>
            <a:pPr marL="0" indent="0" algn="ctr">
              <a:buNone/>
            </a:pPr>
            <a:endParaRPr lang="en-GB" sz="1600" b="0" dirty="0"/>
          </a:p>
        </p:txBody>
      </p:sp>
      <p:sp>
        <p:nvSpPr>
          <p:cNvPr id="21" name="TextBox 20">
            <a:extLst>
              <a:ext uri="{FF2B5EF4-FFF2-40B4-BE49-F238E27FC236}">
                <a16:creationId xmlns:a16="http://schemas.microsoft.com/office/drawing/2014/main" id="{D424FF71-73E5-62E1-0D6D-A7806421782C}"/>
              </a:ext>
            </a:extLst>
          </p:cNvPr>
          <p:cNvSpPr txBox="1"/>
          <p:nvPr/>
        </p:nvSpPr>
        <p:spPr>
          <a:xfrm>
            <a:off x="8413325" y="2972190"/>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chemeClr val="accent2"/>
                </a:solidFill>
              </a:rPr>
              <a:t>Calculations</a:t>
            </a:r>
          </a:p>
          <a:p>
            <a:pPr marL="0" indent="0" algn="ctr">
              <a:buNone/>
            </a:pPr>
            <a:r>
              <a:rPr lang="en-GB" sz="1600" b="0"/>
              <a:t>Calculations based on reported values</a:t>
            </a:r>
          </a:p>
          <a:p>
            <a:pPr marL="0" indent="0" algn="ctr">
              <a:buNone/>
            </a:pPr>
            <a:endParaRPr lang="en-GB" sz="1600" b="0"/>
          </a:p>
        </p:txBody>
      </p:sp>
      <p:sp>
        <p:nvSpPr>
          <p:cNvPr id="25" name="TextBox 24">
            <a:extLst>
              <a:ext uri="{FF2B5EF4-FFF2-40B4-BE49-F238E27FC236}">
                <a16:creationId xmlns:a16="http://schemas.microsoft.com/office/drawing/2014/main" id="{3BF53315-6B23-5F9B-0C7A-E90B2AF55CA8}"/>
              </a:ext>
            </a:extLst>
          </p:cNvPr>
          <p:cNvSpPr txBox="1"/>
          <p:nvPr/>
        </p:nvSpPr>
        <p:spPr>
          <a:xfrm>
            <a:off x="1241733" y="5275442"/>
            <a:ext cx="7171592"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t>Prefilled data can be downloaded </a:t>
            </a:r>
            <a:r>
              <a:rPr lang="en-GB" sz="2000" b="0"/>
              <a:t>&amp; reviewed via excel exports in Reportnet 3</a:t>
            </a:r>
          </a:p>
          <a:p>
            <a:pPr marL="0" indent="0">
              <a:buNone/>
            </a:pPr>
            <a:r>
              <a:rPr lang="en-GB" sz="2000"/>
              <a:t>If issue of prefilled data: </a:t>
            </a:r>
            <a:r>
              <a:rPr lang="en-GB" sz="2000" b="0"/>
              <a:t>contact data provider!!</a:t>
            </a:r>
          </a:p>
          <a:p>
            <a:pPr marL="0" indent="0">
              <a:buNone/>
            </a:pPr>
            <a:endParaRPr lang="en-GB" sz="1600" b="0"/>
          </a:p>
        </p:txBody>
      </p:sp>
    </p:spTree>
    <p:extLst>
      <p:ext uri="{BB962C8B-B14F-4D97-AF65-F5344CB8AC3E}">
        <p14:creationId xmlns:p14="http://schemas.microsoft.com/office/powerpoint/2010/main" val="13761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DF309-CAC3-4D23-7C4E-E44AFE5D204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CA5A121-B04F-C5D4-314D-516E0CE53BE3}"/>
              </a:ext>
            </a:extLst>
          </p:cNvPr>
          <p:cNvSpPr txBox="1"/>
          <p:nvPr/>
        </p:nvSpPr>
        <p:spPr>
          <a:xfrm>
            <a:off x="500863" y="2431693"/>
            <a:ext cx="902427" cy="369332"/>
          </a:xfrm>
          <a:prstGeom prst="rect">
            <a:avLst/>
          </a:prstGeom>
          <a:noFill/>
        </p:spPr>
        <p:txBody>
          <a:bodyPr wrap="none" rtlCol="0">
            <a:spAutoFit/>
          </a:bodyPr>
          <a:lstStyle/>
          <a:p>
            <a:r>
              <a:rPr lang="en-GB" b="1"/>
              <a:t>Annex I</a:t>
            </a:r>
          </a:p>
        </p:txBody>
      </p:sp>
      <p:sp>
        <p:nvSpPr>
          <p:cNvPr id="10" name="Text Placeholder 1">
            <a:extLst>
              <a:ext uri="{FF2B5EF4-FFF2-40B4-BE49-F238E27FC236}">
                <a16:creationId xmlns:a16="http://schemas.microsoft.com/office/drawing/2014/main" id="{323424C7-A3CA-0A67-FDAE-2D6A21C2BEBD}"/>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Overview of prefilled / post-filled data in this dataflow</a:t>
            </a:r>
          </a:p>
        </p:txBody>
      </p:sp>
      <p:sp>
        <p:nvSpPr>
          <p:cNvPr id="2" name="Rectangle 1">
            <a:extLst>
              <a:ext uri="{FF2B5EF4-FFF2-40B4-BE49-F238E27FC236}">
                <a16:creationId xmlns:a16="http://schemas.microsoft.com/office/drawing/2014/main" id="{5A4207D0-949E-116D-9468-6E83F2A8CF04}"/>
              </a:ext>
            </a:extLst>
          </p:cNvPr>
          <p:cNvSpPr/>
          <p:nvPr/>
        </p:nvSpPr>
        <p:spPr>
          <a:xfrm>
            <a:off x="500863" y="290422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12" name="Rectangle 11">
            <a:extLst>
              <a:ext uri="{FF2B5EF4-FFF2-40B4-BE49-F238E27FC236}">
                <a16:creationId xmlns:a16="http://schemas.microsoft.com/office/drawing/2014/main" id="{BC770740-8F35-3174-B9AB-95230FF1708D}"/>
              </a:ext>
            </a:extLst>
          </p:cNvPr>
          <p:cNvSpPr/>
          <p:nvPr/>
        </p:nvSpPr>
        <p:spPr>
          <a:xfrm>
            <a:off x="8859395" y="2767632"/>
            <a:ext cx="655276" cy="2995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4" name="Rectangle 13">
            <a:extLst>
              <a:ext uri="{FF2B5EF4-FFF2-40B4-BE49-F238E27FC236}">
                <a16:creationId xmlns:a16="http://schemas.microsoft.com/office/drawing/2014/main" id="{321B6687-F537-1AC7-D448-A521DB54577D}"/>
              </a:ext>
            </a:extLst>
          </p:cNvPr>
          <p:cNvSpPr/>
          <p:nvPr/>
        </p:nvSpPr>
        <p:spPr>
          <a:xfrm>
            <a:off x="8859395" y="3182791"/>
            <a:ext cx="655276" cy="2995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6" name="Rectangle 15">
            <a:extLst>
              <a:ext uri="{FF2B5EF4-FFF2-40B4-BE49-F238E27FC236}">
                <a16:creationId xmlns:a16="http://schemas.microsoft.com/office/drawing/2014/main" id="{FA216737-EE3D-3DBA-DFF9-EA948FD11708}"/>
              </a:ext>
            </a:extLst>
          </p:cNvPr>
          <p:cNvSpPr/>
          <p:nvPr/>
        </p:nvSpPr>
        <p:spPr>
          <a:xfrm>
            <a:off x="8859395" y="3627588"/>
            <a:ext cx="655276" cy="29954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7" name="Rectangle 16">
            <a:extLst>
              <a:ext uri="{FF2B5EF4-FFF2-40B4-BE49-F238E27FC236}">
                <a16:creationId xmlns:a16="http://schemas.microsoft.com/office/drawing/2014/main" id="{5E386F8B-439A-B919-52B0-18745FDCD4D3}"/>
              </a:ext>
            </a:extLst>
          </p:cNvPr>
          <p:cNvSpPr/>
          <p:nvPr/>
        </p:nvSpPr>
        <p:spPr>
          <a:xfrm>
            <a:off x="8859395" y="4042747"/>
            <a:ext cx="655276" cy="2995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2" name="TextBox 21">
            <a:extLst>
              <a:ext uri="{FF2B5EF4-FFF2-40B4-BE49-F238E27FC236}">
                <a16:creationId xmlns:a16="http://schemas.microsoft.com/office/drawing/2014/main" id="{BE0D6744-0283-C0B4-B3A0-82C83B53C9E1}"/>
              </a:ext>
            </a:extLst>
          </p:cNvPr>
          <p:cNvSpPr txBox="1"/>
          <p:nvPr/>
        </p:nvSpPr>
        <p:spPr>
          <a:xfrm>
            <a:off x="9623944" y="2732739"/>
            <a:ext cx="1700787" cy="369332"/>
          </a:xfrm>
          <a:prstGeom prst="rect">
            <a:avLst/>
          </a:prstGeom>
          <a:noFill/>
        </p:spPr>
        <p:txBody>
          <a:bodyPr wrap="none" rtlCol="0">
            <a:spAutoFit/>
          </a:bodyPr>
          <a:lstStyle/>
          <a:p>
            <a:r>
              <a:rPr lang="en-GB"/>
              <a:t>Reported values</a:t>
            </a:r>
          </a:p>
        </p:txBody>
      </p:sp>
      <p:sp>
        <p:nvSpPr>
          <p:cNvPr id="23" name="TextBox 22">
            <a:extLst>
              <a:ext uri="{FF2B5EF4-FFF2-40B4-BE49-F238E27FC236}">
                <a16:creationId xmlns:a16="http://schemas.microsoft.com/office/drawing/2014/main" id="{F10E2B16-2F42-2B44-8326-D2B40F3B6CDF}"/>
              </a:ext>
            </a:extLst>
          </p:cNvPr>
          <p:cNvSpPr txBox="1"/>
          <p:nvPr/>
        </p:nvSpPr>
        <p:spPr>
          <a:xfrm>
            <a:off x="9623944" y="3147898"/>
            <a:ext cx="981935" cy="369332"/>
          </a:xfrm>
          <a:prstGeom prst="rect">
            <a:avLst/>
          </a:prstGeom>
          <a:noFill/>
        </p:spPr>
        <p:txBody>
          <a:bodyPr wrap="none" rtlCol="0">
            <a:spAutoFit/>
          </a:bodyPr>
          <a:lstStyle/>
          <a:p>
            <a:r>
              <a:rPr lang="en-GB"/>
              <a:t>Prefilled</a:t>
            </a:r>
          </a:p>
        </p:txBody>
      </p:sp>
      <p:sp>
        <p:nvSpPr>
          <p:cNvPr id="24" name="TextBox 23">
            <a:extLst>
              <a:ext uri="{FF2B5EF4-FFF2-40B4-BE49-F238E27FC236}">
                <a16:creationId xmlns:a16="http://schemas.microsoft.com/office/drawing/2014/main" id="{9295788C-37DB-2141-8288-AF0EDB23FC80}"/>
              </a:ext>
            </a:extLst>
          </p:cNvPr>
          <p:cNvSpPr txBox="1"/>
          <p:nvPr/>
        </p:nvSpPr>
        <p:spPr>
          <a:xfrm>
            <a:off x="9620665" y="3592695"/>
            <a:ext cx="1148199" cy="369332"/>
          </a:xfrm>
          <a:prstGeom prst="rect">
            <a:avLst/>
          </a:prstGeom>
          <a:noFill/>
        </p:spPr>
        <p:txBody>
          <a:bodyPr wrap="none" rtlCol="0">
            <a:spAutoFit/>
          </a:bodyPr>
          <a:lstStyle/>
          <a:p>
            <a:r>
              <a:rPr lang="en-GB"/>
              <a:t>Post-filled</a:t>
            </a:r>
          </a:p>
        </p:txBody>
      </p:sp>
      <p:sp>
        <p:nvSpPr>
          <p:cNvPr id="26" name="TextBox 25">
            <a:extLst>
              <a:ext uri="{FF2B5EF4-FFF2-40B4-BE49-F238E27FC236}">
                <a16:creationId xmlns:a16="http://schemas.microsoft.com/office/drawing/2014/main" id="{3B09FB42-B1F3-416B-A620-FB13390D80D3}"/>
              </a:ext>
            </a:extLst>
          </p:cNvPr>
          <p:cNvSpPr txBox="1"/>
          <p:nvPr/>
        </p:nvSpPr>
        <p:spPr>
          <a:xfrm>
            <a:off x="9620665" y="4006262"/>
            <a:ext cx="1180003" cy="369332"/>
          </a:xfrm>
          <a:prstGeom prst="rect">
            <a:avLst/>
          </a:prstGeom>
          <a:noFill/>
        </p:spPr>
        <p:txBody>
          <a:bodyPr wrap="none" rtlCol="0">
            <a:spAutoFit/>
          </a:bodyPr>
          <a:lstStyle/>
          <a:p>
            <a:r>
              <a:rPr lang="en-GB"/>
              <a:t>Calculated</a:t>
            </a:r>
          </a:p>
        </p:txBody>
      </p:sp>
      <p:sp>
        <p:nvSpPr>
          <p:cNvPr id="27" name="Rectangle 26">
            <a:extLst>
              <a:ext uri="{FF2B5EF4-FFF2-40B4-BE49-F238E27FC236}">
                <a16:creationId xmlns:a16="http://schemas.microsoft.com/office/drawing/2014/main" id="{DCE0F1C0-19F3-0981-BEA7-DFEE0B64F9CA}"/>
              </a:ext>
            </a:extLst>
          </p:cNvPr>
          <p:cNvSpPr/>
          <p:nvPr/>
        </p:nvSpPr>
        <p:spPr>
          <a:xfrm>
            <a:off x="542903" y="342974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9" name="Rectangle 28">
            <a:extLst>
              <a:ext uri="{FF2B5EF4-FFF2-40B4-BE49-F238E27FC236}">
                <a16:creationId xmlns:a16="http://schemas.microsoft.com/office/drawing/2014/main" id="{C54E4EB3-9D1F-9FD4-03C7-2517FFF1FC07}"/>
              </a:ext>
            </a:extLst>
          </p:cNvPr>
          <p:cNvSpPr/>
          <p:nvPr/>
        </p:nvSpPr>
        <p:spPr>
          <a:xfrm>
            <a:off x="1349493" y="3429741"/>
            <a:ext cx="348930" cy="35506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0" name="Rectangle 29">
            <a:extLst>
              <a:ext uri="{FF2B5EF4-FFF2-40B4-BE49-F238E27FC236}">
                <a16:creationId xmlns:a16="http://schemas.microsoft.com/office/drawing/2014/main" id="{2119A637-71BD-0E02-BFF7-76ADD4EBE94E}"/>
              </a:ext>
            </a:extLst>
          </p:cNvPr>
          <p:cNvSpPr/>
          <p:nvPr/>
        </p:nvSpPr>
        <p:spPr>
          <a:xfrm>
            <a:off x="1759046" y="3429741"/>
            <a:ext cx="348930" cy="35506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4" name="Rectangle 33">
            <a:extLst>
              <a:ext uri="{FF2B5EF4-FFF2-40B4-BE49-F238E27FC236}">
                <a16:creationId xmlns:a16="http://schemas.microsoft.com/office/drawing/2014/main" id="{546F78A9-7B18-2550-0DF2-14C20E8DFE3A}"/>
              </a:ext>
            </a:extLst>
          </p:cNvPr>
          <p:cNvSpPr/>
          <p:nvPr/>
        </p:nvSpPr>
        <p:spPr>
          <a:xfrm>
            <a:off x="2288360" y="2912598"/>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36" name="Rectangle 35">
            <a:extLst>
              <a:ext uri="{FF2B5EF4-FFF2-40B4-BE49-F238E27FC236}">
                <a16:creationId xmlns:a16="http://schemas.microsoft.com/office/drawing/2014/main" id="{8B369F0E-FCAA-9701-702C-0563C2765FAD}"/>
              </a:ext>
            </a:extLst>
          </p:cNvPr>
          <p:cNvSpPr/>
          <p:nvPr/>
        </p:nvSpPr>
        <p:spPr>
          <a:xfrm>
            <a:off x="2735781" y="3438115"/>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7" name="Rectangle 36">
            <a:extLst>
              <a:ext uri="{FF2B5EF4-FFF2-40B4-BE49-F238E27FC236}">
                <a16:creationId xmlns:a16="http://schemas.microsoft.com/office/drawing/2014/main" id="{DD1347EF-6A37-7973-1A42-9141871CEB0E}"/>
              </a:ext>
            </a:extLst>
          </p:cNvPr>
          <p:cNvSpPr/>
          <p:nvPr/>
        </p:nvSpPr>
        <p:spPr>
          <a:xfrm>
            <a:off x="3136990" y="3438115"/>
            <a:ext cx="348930" cy="35506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8" name="Rectangle 37">
            <a:extLst>
              <a:ext uri="{FF2B5EF4-FFF2-40B4-BE49-F238E27FC236}">
                <a16:creationId xmlns:a16="http://schemas.microsoft.com/office/drawing/2014/main" id="{6D7B61B5-2794-5565-10C4-B267A6B7777E}"/>
              </a:ext>
            </a:extLst>
          </p:cNvPr>
          <p:cNvSpPr/>
          <p:nvPr/>
        </p:nvSpPr>
        <p:spPr>
          <a:xfrm>
            <a:off x="3546543" y="3438115"/>
            <a:ext cx="348930" cy="35506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9" name="Rectangle 38">
            <a:extLst>
              <a:ext uri="{FF2B5EF4-FFF2-40B4-BE49-F238E27FC236}">
                <a16:creationId xmlns:a16="http://schemas.microsoft.com/office/drawing/2014/main" id="{E3489121-4CA0-FB67-656B-90E0BC02BA3B}"/>
              </a:ext>
            </a:extLst>
          </p:cNvPr>
          <p:cNvSpPr/>
          <p:nvPr/>
        </p:nvSpPr>
        <p:spPr>
          <a:xfrm>
            <a:off x="4075857" y="290563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40" name="Rectangle 39">
            <a:extLst>
              <a:ext uri="{FF2B5EF4-FFF2-40B4-BE49-F238E27FC236}">
                <a16:creationId xmlns:a16="http://schemas.microsoft.com/office/drawing/2014/main" id="{23DF622F-3360-8691-6ACE-7E3C84C664AD}"/>
              </a:ext>
            </a:extLst>
          </p:cNvPr>
          <p:cNvSpPr/>
          <p:nvPr/>
        </p:nvSpPr>
        <p:spPr>
          <a:xfrm>
            <a:off x="4117897" y="343115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2" name="Rectangle 41">
            <a:extLst>
              <a:ext uri="{FF2B5EF4-FFF2-40B4-BE49-F238E27FC236}">
                <a16:creationId xmlns:a16="http://schemas.microsoft.com/office/drawing/2014/main" id="{F0FE6A7C-3107-75CC-02E3-155889BBDF2A}"/>
              </a:ext>
            </a:extLst>
          </p:cNvPr>
          <p:cNvSpPr/>
          <p:nvPr/>
        </p:nvSpPr>
        <p:spPr>
          <a:xfrm>
            <a:off x="4924487" y="3431151"/>
            <a:ext cx="348930" cy="35506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4" name="Rectangle 43">
            <a:extLst>
              <a:ext uri="{FF2B5EF4-FFF2-40B4-BE49-F238E27FC236}">
                <a16:creationId xmlns:a16="http://schemas.microsoft.com/office/drawing/2014/main" id="{9D64544F-4B88-5D73-F8E0-FC16ED1622B3}"/>
              </a:ext>
            </a:extLst>
          </p:cNvPr>
          <p:cNvSpPr/>
          <p:nvPr/>
        </p:nvSpPr>
        <p:spPr>
          <a:xfrm>
            <a:off x="5863354" y="2902088"/>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45" name="Rectangle 44">
            <a:extLst>
              <a:ext uri="{FF2B5EF4-FFF2-40B4-BE49-F238E27FC236}">
                <a16:creationId xmlns:a16="http://schemas.microsoft.com/office/drawing/2014/main" id="{259718DF-8D50-EC7E-1976-CB2C75757517}"/>
              </a:ext>
            </a:extLst>
          </p:cNvPr>
          <p:cNvSpPr/>
          <p:nvPr/>
        </p:nvSpPr>
        <p:spPr>
          <a:xfrm>
            <a:off x="5905394" y="3427605"/>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9" name="TextBox 48">
            <a:extLst>
              <a:ext uri="{FF2B5EF4-FFF2-40B4-BE49-F238E27FC236}">
                <a16:creationId xmlns:a16="http://schemas.microsoft.com/office/drawing/2014/main" id="{DB98553E-5C63-0DD6-2A18-63CEA97BEF4E}"/>
              </a:ext>
            </a:extLst>
          </p:cNvPr>
          <p:cNvSpPr txBox="1"/>
          <p:nvPr/>
        </p:nvSpPr>
        <p:spPr>
          <a:xfrm>
            <a:off x="497071" y="3852427"/>
            <a:ext cx="1655220" cy="523220"/>
          </a:xfrm>
          <a:prstGeom prst="rect">
            <a:avLst/>
          </a:prstGeom>
          <a:noFill/>
        </p:spPr>
        <p:txBody>
          <a:bodyPr wrap="square" rtlCol="0">
            <a:spAutoFit/>
          </a:bodyPr>
          <a:lstStyle/>
          <a:p>
            <a:r>
              <a:rPr lang="en-GB" sz="1400" b="1" dirty="0">
                <a:solidFill>
                  <a:schemeClr val="accent5"/>
                </a:solidFill>
              </a:rPr>
              <a:t>GHG Inventory</a:t>
            </a:r>
          </a:p>
          <a:p>
            <a:r>
              <a:rPr lang="en-GB" sz="1400" b="1" dirty="0">
                <a:solidFill>
                  <a:schemeClr val="accent5"/>
                </a:solidFill>
              </a:rPr>
              <a:t>GHG Projections</a:t>
            </a:r>
          </a:p>
        </p:txBody>
      </p:sp>
      <p:sp>
        <p:nvSpPr>
          <p:cNvPr id="55" name="TextBox 54">
            <a:extLst>
              <a:ext uri="{FF2B5EF4-FFF2-40B4-BE49-F238E27FC236}">
                <a16:creationId xmlns:a16="http://schemas.microsoft.com/office/drawing/2014/main" id="{A38D1A08-E951-B438-1730-877F9DB5339C}"/>
              </a:ext>
            </a:extLst>
          </p:cNvPr>
          <p:cNvSpPr txBox="1"/>
          <p:nvPr/>
        </p:nvSpPr>
        <p:spPr>
          <a:xfrm>
            <a:off x="2309380" y="3849746"/>
            <a:ext cx="1655220" cy="738664"/>
          </a:xfrm>
          <a:prstGeom prst="rect">
            <a:avLst/>
          </a:prstGeom>
          <a:noFill/>
        </p:spPr>
        <p:txBody>
          <a:bodyPr wrap="square" rtlCol="0">
            <a:spAutoFit/>
          </a:bodyPr>
          <a:lstStyle/>
          <a:p>
            <a:r>
              <a:rPr lang="en-GB" sz="1400" b="1">
                <a:solidFill>
                  <a:schemeClr val="accent4"/>
                </a:solidFill>
              </a:rPr>
              <a:t>AEAs</a:t>
            </a:r>
          </a:p>
          <a:p>
            <a:r>
              <a:rPr lang="en-GB" sz="1400" b="1">
                <a:solidFill>
                  <a:schemeClr val="accent5"/>
                </a:solidFill>
              </a:rPr>
              <a:t>GHG inventory</a:t>
            </a:r>
          </a:p>
          <a:p>
            <a:r>
              <a:rPr lang="en-GB" sz="1400" b="1">
                <a:solidFill>
                  <a:schemeClr val="accent5"/>
                </a:solidFill>
              </a:rPr>
              <a:t>GHG Projections</a:t>
            </a:r>
          </a:p>
        </p:txBody>
      </p:sp>
      <p:sp>
        <p:nvSpPr>
          <p:cNvPr id="56" name="TextBox 55">
            <a:extLst>
              <a:ext uri="{FF2B5EF4-FFF2-40B4-BE49-F238E27FC236}">
                <a16:creationId xmlns:a16="http://schemas.microsoft.com/office/drawing/2014/main" id="{8FE0FDAC-B3FF-6FB8-05BC-E2A52BA94079}"/>
              </a:ext>
            </a:extLst>
          </p:cNvPr>
          <p:cNvSpPr txBox="1"/>
          <p:nvPr/>
        </p:nvSpPr>
        <p:spPr>
          <a:xfrm>
            <a:off x="4075857" y="3852374"/>
            <a:ext cx="1655220" cy="523220"/>
          </a:xfrm>
          <a:prstGeom prst="rect">
            <a:avLst/>
          </a:prstGeom>
          <a:noFill/>
        </p:spPr>
        <p:txBody>
          <a:bodyPr wrap="square" rtlCol="0">
            <a:spAutoFit/>
          </a:bodyPr>
          <a:lstStyle/>
          <a:p>
            <a:r>
              <a:rPr lang="en-GB" sz="1400" b="1">
                <a:solidFill>
                  <a:schemeClr val="accent5"/>
                </a:solidFill>
              </a:rPr>
              <a:t>GHG inventory</a:t>
            </a:r>
          </a:p>
          <a:p>
            <a:r>
              <a:rPr lang="en-GB" sz="1400" b="1">
                <a:solidFill>
                  <a:schemeClr val="accent5"/>
                </a:solidFill>
              </a:rPr>
              <a:t>GHG Projections</a:t>
            </a:r>
          </a:p>
        </p:txBody>
      </p:sp>
    </p:spTree>
    <p:extLst>
      <p:ext uri="{BB962C8B-B14F-4D97-AF65-F5344CB8AC3E}">
        <p14:creationId xmlns:p14="http://schemas.microsoft.com/office/powerpoint/2010/main" val="1551441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39C01-1A30-3E86-A670-DD3C31892717}"/>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A7DB4D1E-1CE6-E9A5-64FF-58D899CBF346}"/>
              </a:ext>
            </a:extLst>
          </p:cNvPr>
          <p:cNvSpPr txBox="1"/>
          <p:nvPr/>
        </p:nvSpPr>
        <p:spPr>
          <a:xfrm>
            <a:off x="500863" y="1151374"/>
            <a:ext cx="8683596"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What is a Notation 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A system to clarify lack of numerical data (where unavailable or not applicable).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Required for mandatory if applicable (</a:t>
            </a:r>
            <a:r>
              <a:rPr kumimoji="0" lang="en-GB" sz="1800" b="0" i="0" u="none" strike="noStrike" kern="1200" cap="none" spc="0" normalizeH="0" baseline="0" noProof="0" err="1">
                <a:ln>
                  <a:noFill/>
                </a:ln>
                <a:solidFill>
                  <a:prstClr val="black"/>
                </a:solidFill>
                <a:effectLst/>
                <a:uLnTx/>
                <a:uFillTx/>
                <a:latin typeface="Calibri" panose="020F0502020204030204"/>
                <a:ea typeface="+mn-ea"/>
                <a:cs typeface="+mn-cs"/>
              </a:rPr>
              <a:t>Miap</a:t>
            </a: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if available (</a:t>
            </a:r>
            <a:r>
              <a:rPr kumimoji="0" lang="en-GB" sz="1800" b="0" i="0" u="none" strike="noStrike" kern="1200" cap="none" spc="0" normalizeH="0" baseline="0" noProof="0" err="1">
                <a:ln>
                  <a:noFill/>
                </a:ln>
                <a:solidFill>
                  <a:prstClr val="black"/>
                </a:solidFill>
                <a:effectLst/>
                <a:uLnTx/>
                <a:uFillTx/>
                <a:latin typeface="Calibri" panose="020F0502020204030204"/>
                <a:ea typeface="+mn-ea"/>
                <a:cs typeface="+mn-cs"/>
              </a:rPr>
              <a:t>Miav</a:t>
            </a: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or voluntary (V) reporting.</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B091A190-A2E6-D280-B6A6-1EC0C7E49D0C}"/>
              </a:ext>
            </a:extLst>
          </p:cNvPr>
          <p:cNvSpPr txBox="1"/>
          <p:nvPr/>
        </p:nvSpPr>
        <p:spPr>
          <a:xfrm>
            <a:off x="500863" y="5287210"/>
            <a:ext cx="7018203"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Import templates provide overview of when notation keys are accepted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For any issues check the reporting guidelines!</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FBBD73B1-2BA3-8788-EB05-491ACAEDB38B}"/>
              </a:ext>
            </a:extLst>
          </p:cNvPr>
          <p:cNvGraphicFramePr>
            <a:graphicFrameLocks noGrp="1"/>
          </p:cNvGraphicFramePr>
          <p:nvPr/>
        </p:nvGraphicFramePr>
        <p:xfrm>
          <a:off x="500863" y="2234609"/>
          <a:ext cx="11075526" cy="3108960"/>
        </p:xfrm>
        <a:graphic>
          <a:graphicData uri="http://schemas.openxmlformats.org/drawingml/2006/table">
            <a:tbl>
              <a:tblPr firstRow="1" firstCol="1" bandRow="1">
                <a:tableStyleId>{5C22544A-7EE6-4342-B048-85BDC9FD1C3A}</a:tableStyleId>
              </a:tblPr>
              <a:tblGrid>
                <a:gridCol w="1998281">
                  <a:extLst>
                    <a:ext uri="{9D8B030D-6E8A-4147-A177-3AD203B41FA5}">
                      <a16:colId xmlns:a16="http://schemas.microsoft.com/office/drawing/2014/main" val="999049638"/>
                    </a:ext>
                  </a:extLst>
                </a:gridCol>
                <a:gridCol w="9077245">
                  <a:extLst>
                    <a:ext uri="{9D8B030D-6E8A-4147-A177-3AD203B41FA5}">
                      <a16:colId xmlns:a16="http://schemas.microsoft.com/office/drawing/2014/main" val="1551009925"/>
                    </a:ext>
                  </a:extLst>
                </a:gridCol>
              </a:tblGrid>
              <a:tr h="245745">
                <a:tc>
                  <a:txBody>
                    <a:bodyPr/>
                    <a:lstStyle/>
                    <a:p>
                      <a:pPr algn="just">
                        <a:spcAft>
                          <a:spcPts val="1200"/>
                        </a:spcAft>
                      </a:pPr>
                      <a:r>
                        <a:rPr lang="en-GB" sz="1700">
                          <a:effectLst/>
                        </a:rPr>
                        <a:t>Notation key</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GB" sz="1700">
                          <a:effectLst/>
                        </a:rPr>
                        <a:t>Description</a:t>
                      </a:r>
                      <a:endParaRPr lang="en-GB"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88617854"/>
                  </a:ext>
                </a:extLst>
              </a:tr>
              <a:tr h="0">
                <a:tc>
                  <a:txBody>
                    <a:bodyPr/>
                    <a:lstStyle/>
                    <a:p>
                      <a:pPr algn="just">
                        <a:spcAft>
                          <a:spcPts val="1200"/>
                        </a:spcAft>
                      </a:pPr>
                      <a:r>
                        <a:rPr lang="en-GB" sz="1700">
                          <a:effectLst/>
                        </a:rPr>
                        <a:t>NA</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applicable </a:t>
                      </a:r>
                      <a:r>
                        <a:rPr lang="en-US" sz="1700">
                          <a:effectLst/>
                        </a:rPr>
                        <a:t>- For data and activities in a reporting country that are not applicable or relevant to the context of the reporting country. Anticipated to be used in the context of </a:t>
                      </a:r>
                      <a:r>
                        <a:rPr lang="en-US" sz="1700" err="1">
                          <a:effectLst/>
                        </a:rPr>
                        <a:t>Miap</a:t>
                      </a:r>
                      <a:r>
                        <a:rPr lang="en-US" sz="1700">
                          <a:effectLst/>
                        </a:rPr>
                        <a:t> and V reporting fields. This notation key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193384"/>
                  </a:ext>
                </a:extLst>
              </a:tr>
              <a:tr h="0">
                <a:tc>
                  <a:txBody>
                    <a:bodyPr/>
                    <a:lstStyle/>
                    <a:p>
                      <a:pPr algn="just">
                        <a:spcAft>
                          <a:spcPts val="1200"/>
                        </a:spcAft>
                      </a:pPr>
                      <a:r>
                        <a:rPr lang="en-GB" sz="1700">
                          <a:effectLst/>
                        </a:rPr>
                        <a:t>NAv</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available </a:t>
                      </a:r>
                      <a:r>
                        <a:rPr lang="en-US" sz="1700">
                          <a:effectLst/>
                        </a:rPr>
                        <a:t>– For data and activities in a reporting country that are applicable to the context of the reporting country, however the data is not available. Anticipated to be used in the context of </a:t>
                      </a:r>
                      <a:r>
                        <a:rPr lang="en-US" sz="1700" err="1">
                          <a:effectLst/>
                        </a:rPr>
                        <a:t>Miap</a:t>
                      </a:r>
                      <a:r>
                        <a:rPr lang="en-US" sz="1700">
                          <a:effectLst/>
                        </a:rPr>
                        <a:t>, </a:t>
                      </a:r>
                      <a:r>
                        <a:rPr lang="en-US" sz="1700" err="1">
                          <a:effectLst/>
                        </a:rPr>
                        <a:t>Miav</a:t>
                      </a:r>
                      <a:r>
                        <a:rPr lang="en-US" sz="1700">
                          <a:effectLst/>
                        </a:rPr>
                        <a:t> and V reporting fields. This value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27467441"/>
                  </a:ext>
                </a:extLst>
              </a:tr>
              <a:tr h="0">
                <a:tc>
                  <a:txBody>
                    <a:bodyPr/>
                    <a:lstStyle/>
                    <a:p>
                      <a:pPr algn="just">
                        <a:spcAft>
                          <a:spcPts val="1200"/>
                        </a:spcAft>
                      </a:pPr>
                      <a:r>
                        <a:rPr lang="en-GB" sz="1700">
                          <a:effectLst/>
                        </a:rPr>
                        <a:t>C</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Confidential</a:t>
                      </a:r>
                      <a:r>
                        <a:rPr lang="en-US" sz="1700">
                          <a:effectLst/>
                        </a:rPr>
                        <a:t> – Specifically for Annex II, Table 5, reporting on greenhouse gas savings performance of biofuels. This notation key is for data and activities in a reporting country that are available but are confidential and therefore cannot be reported publicly at a disaggregated level.</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25388446"/>
                  </a:ext>
                </a:extLst>
              </a:tr>
            </a:tbl>
          </a:graphicData>
        </a:graphic>
      </p:graphicFrame>
      <p:sp>
        <p:nvSpPr>
          <p:cNvPr id="5" name="Rectangle 4">
            <a:extLst>
              <a:ext uri="{FF2B5EF4-FFF2-40B4-BE49-F238E27FC236}">
                <a16:creationId xmlns:a16="http://schemas.microsoft.com/office/drawing/2014/main" id="{C7862252-1428-46C5-67D6-19181241DD90}"/>
              </a:ext>
            </a:extLst>
          </p:cNvPr>
          <p:cNvSpPr/>
          <p:nvPr/>
        </p:nvSpPr>
        <p:spPr>
          <a:xfrm>
            <a:off x="500863" y="6073960"/>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GHG (Annex 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68574915-D69E-874C-8C3E-4FCFD5FCFC76}"/>
              </a:ext>
            </a:extLst>
          </p:cNvPr>
          <p:cNvSpPr/>
          <p:nvPr/>
        </p:nvSpPr>
        <p:spPr>
          <a:xfrm>
            <a:off x="1963903" y="6073959"/>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RES (Annexes II &amp; XVI)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84BE206-3B0F-1AF4-E72C-8DD7CC14868C}"/>
              </a:ext>
            </a:extLst>
          </p:cNvPr>
          <p:cNvSpPr/>
          <p:nvPr/>
        </p:nvSpPr>
        <p:spPr>
          <a:xfrm>
            <a:off x="3426943" y="6073958"/>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EE (Annexes IV &amp; XVII)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31D0E0D-F516-8AF0-18CC-AE48A5BCC6FA}"/>
              </a:ext>
            </a:extLst>
          </p:cNvPr>
          <p:cNvSpPr txBox="1"/>
          <p:nvPr/>
        </p:nvSpPr>
        <p:spPr>
          <a:xfrm>
            <a:off x="5212255" y="6181679"/>
            <a:ext cx="30124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Calibri" panose="020F0502020204030204"/>
                <a:ea typeface="+mn-ea"/>
                <a:cs typeface="+mn-cs"/>
              </a:rPr>
              <a:t>Applicable to these dataflows</a:t>
            </a:r>
            <a:endParaRPr kumimoji="0" lang="LID4096" sz="1800" b="1" i="0" u="none" strike="noStrike" kern="1200" cap="none" spc="0" normalizeH="0" baseline="0" noProof="0">
              <a:ln>
                <a:noFill/>
              </a:ln>
              <a:solidFill>
                <a:srgbClr val="FF0000"/>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FC755C43-6A22-A4A4-35EC-99F0C540FA5C}"/>
              </a:ext>
            </a:extLst>
          </p:cNvPr>
          <p:cNvCxnSpPr>
            <a:cxnSpLocks/>
            <a:stCxn id="8" idx="1"/>
            <a:endCxn id="7" idx="3"/>
          </p:cNvCxnSpPr>
          <p:nvPr/>
        </p:nvCxnSpPr>
        <p:spPr>
          <a:xfrm flipH="1">
            <a:off x="4757903" y="6366345"/>
            <a:ext cx="454352" cy="1"/>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 Placeholder 1">
            <a:extLst>
              <a:ext uri="{FF2B5EF4-FFF2-40B4-BE49-F238E27FC236}">
                <a16:creationId xmlns:a16="http://schemas.microsoft.com/office/drawing/2014/main" id="{232E17AC-2D41-7387-1A24-E649D608AD6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New to 2025: Notation keys</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194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20ECE8-2180-8BD1-4F6F-968D15DFFF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E4C7AC-1B04-5B9C-B492-3F6AADF41EB5}"/>
              </a:ext>
            </a:extLst>
          </p:cNvPr>
          <p:cNvSpPr txBox="1"/>
          <p:nvPr/>
        </p:nvSpPr>
        <p:spPr>
          <a:xfrm>
            <a:off x="103747" y="88288"/>
            <a:ext cx="1011445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Reportnet: Webform</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pic>
        <p:nvPicPr>
          <p:cNvPr id="26" name="Graphic 25" descr="List with solid fill">
            <a:extLst>
              <a:ext uri="{FF2B5EF4-FFF2-40B4-BE49-F238E27FC236}">
                <a16:creationId xmlns:a16="http://schemas.microsoft.com/office/drawing/2014/main" id="{010BAC00-AB4A-B8CD-5E74-D6EBC1163E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7520" y="1132840"/>
            <a:ext cx="914400" cy="914400"/>
          </a:xfrm>
          <a:prstGeom prst="rect">
            <a:avLst/>
          </a:prstGeom>
        </p:spPr>
      </p:pic>
      <p:sp>
        <p:nvSpPr>
          <p:cNvPr id="29" name="TextBox 28">
            <a:extLst>
              <a:ext uri="{FF2B5EF4-FFF2-40B4-BE49-F238E27FC236}">
                <a16:creationId xmlns:a16="http://schemas.microsoft.com/office/drawing/2014/main" id="{92F26E46-67C8-1A3D-1D74-07FEAC7D5C0D}"/>
              </a:ext>
            </a:extLst>
          </p:cNvPr>
          <p:cNvSpPr txBox="1"/>
          <p:nvPr/>
        </p:nvSpPr>
        <p:spPr>
          <a:xfrm>
            <a:off x="1391920" y="1405374"/>
            <a:ext cx="10870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Webform</a:t>
            </a:r>
            <a:endParaRPr kumimoji="0" lang="LID4096"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3" name="Picture 42">
            <a:extLst>
              <a:ext uri="{FF2B5EF4-FFF2-40B4-BE49-F238E27FC236}">
                <a16:creationId xmlns:a16="http://schemas.microsoft.com/office/drawing/2014/main" id="{EDE9C73D-B764-5973-3AB4-76F8006A9858}"/>
              </a:ext>
            </a:extLst>
          </p:cNvPr>
          <p:cNvPicPr>
            <a:picLocks noChangeAspect="1"/>
          </p:cNvPicPr>
          <p:nvPr/>
        </p:nvPicPr>
        <p:blipFill>
          <a:blip r:embed="rId4"/>
          <a:srcRect r="30771"/>
          <a:stretch/>
        </p:blipFill>
        <p:spPr>
          <a:xfrm>
            <a:off x="477520" y="2272553"/>
            <a:ext cx="4173611" cy="2899272"/>
          </a:xfrm>
          <a:prstGeom prst="rect">
            <a:avLst/>
          </a:prstGeom>
        </p:spPr>
      </p:pic>
      <p:sp>
        <p:nvSpPr>
          <p:cNvPr id="2" name="TextBox 1">
            <a:extLst>
              <a:ext uri="{FF2B5EF4-FFF2-40B4-BE49-F238E27FC236}">
                <a16:creationId xmlns:a16="http://schemas.microsoft.com/office/drawing/2014/main" id="{C8FF7C37-2AA4-6972-6CE4-6A01D2D9F4C3}"/>
              </a:ext>
            </a:extLst>
          </p:cNvPr>
          <p:cNvSpPr txBox="1"/>
          <p:nvPr/>
        </p:nvSpPr>
        <p:spPr>
          <a:xfrm>
            <a:off x="4863840" y="1405374"/>
            <a:ext cx="6850640"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t>Simplified data entry in system</a:t>
            </a:r>
            <a:r>
              <a:rPr lang="en-GB" sz="2000" b="0"/>
              <a:t> – Is an easier way to directly input data without complex IT interface (tabular data).</a:t>
            </a:r>
          </a:p>
          <a:p>
            <a:endParaRPr lang="en-GB" sz="2000"/>
          </a:p>
          <a:p>
            <a:r>
              <a:rPr lang="en-GB" sz="2000"/>
              <a:t>Data formats assured</a:t>
            </a:r>
            <a:r>
              <a:rPr lang="en-GB" sz="2000" b="0"/>
              <a:t> – reporting via the webform only allows the correct values to be input (text, numbers, lists), ensuring a reduced quality check process required.</a:t>
            </a:r>
          </a:p>
          <a:p>
            <a:endParaRPr lang="en-GB" sz="2000" b="0"/>
          </a:p>
          <a:p>
            <a:r>
              <a:rPr lang="en-GB" sz="2000"/>
              <a:t>Direct QC review – </a:t>
            </a:r>
            <a:r>
              <a:rPr lang="en-GB" sz="2000" b="0"/>
              <a:t>quality checks are directly visible in the webform in a more user-friendly mode, to help with updating such issues.</a:t>
            </a:r>
          </a:p>
          <a:p>
            <a:endParaRPr lang="en-GB" sz="2000"/>
          </a:p>
        </p:txBody>
      </p:sp>
    </p:spTree>
    <p:extLst>
      <p:ext uri="{BB962C8B-B14F-4D97-AF65-F5344CB8AC3E}">
        <p14:creationId xmlns:p14="http://schemas.microsoft.com/office/powerpoint/2010/main" val="230437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E0BD1-D075-7E1E-C1B8-4A0423DF0A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A56721-3D10-6180-8AB1-C186CA64E992}"/>
              </a:ext>
            </a:extLst>
          </p:cNvPr>
          <p:cNvSpPr txBox="1"/>
          <p:nvPr/>
        </p:nvSpPr>
        <p:spPr>
          <a:xfrm>
            <a:off x="103747" y="88288"/>
            <a:ext cx="1011445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Reportnet: Excel import / Reportnet 3 tabular editing</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pic>
        <p:nvPicPr>
          <p:cNvPr id="28" name="Graphic 27" descr="Table with solid fill">
            <a:extLst>
              <a:ext uri="{FF2B5EF4-FFF2-40B4-BE49-F238E27FC236}">
                <a16:creationId xmlns:a16="http://schemas.microsoft.com/office/drawing/2014/main" id="{C0960926-3A15-E613-1241-1309C7A610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7520" y="1132840"/>
            <a:ext cx="914400" cy="914400"/>
          </a:xfrm>
          <a:prstGeom prst="rect">
            <a:avLst/>
          </a:prstGeom>
        </p:spPr>
      </p:pic>
      <p:sp>
        <p:nvSpPr>
          <p:cNvPr id="30" name="TextBox 29">
            <a:extLst>
              <a:ext uri="{FF2B5EF4-FFF2-40B4-BE49-F238E27FC236}">
                <a16:creationId xmlns:a16="http://schemas.microsoft.com/office/drawing/2014/main" id="{5DEA712E-04A8-0E7F-3452-1D93A97AE055}"/>
              </a:ext>
            </a:extLst>
          </p:cNvPr>
          <p:cNvSpPr txBox="1"/>
          <p:nvPr/>
        </p:nvSpPr>
        <p:spPr>
          <a:xfrm>
            <a:off x="1391920" y="1405374"/>
            <a:ext cx="13703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Excel import</a:t>
            </a:r>
            <a:endParaRPr kumimoji="0" lang="LID4096"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5" name="Picture 44">
            <a:extLst>
              <a:ext uri="{FF2B5EF4-FFF2-40B4-BE49-F238E27FC236}">
                <a16:creationId xmlns:a16="http://schemas.microsoft.com/office/drawing/2014/main" id="{2EA68122-EC35-D9E0-54D8-513CE670F800}"/>
              </a:ext>
            </a:extLst>
          </p:cNvPr>
          <p:cNvPicPr>
            <a:picLocks noChangeAspect="1"/>
          </p:cNvPicPr>
          <p:nvPr/>
        </p:nvPicPr>
        <p:blipFill>
          <a:blip r:embed="rId4"/>
          <a:stretch>
            <a:fillRect/>
          </a:stretch>
        </p:blipFill>
        <p:spPr>
          <a:xfrm>
            <a:off x="477520" y="2279196"/>
            <a:ext cx="2826622" cy="2804099"/>
          </a:xfrm>
          <a:prstGeom prst="rect">
            <a:avLst/>
          </a:prstGeom>
        </p:spPr>
      </p:pic>
      <p:sp>
        <p:nvSpPr>
          <p:cNvPr id="2" name="TextBox 1">
            <a:extLst>
              <a:ext uri="{FF2B5EF4-FFF2-40B4-BE49-F238E27FC236}">
                <a16:creationId xmlns:a16="http://schemas.microsoft.com/office/drawing/2014/main" id="{C15FFAE0-7D4B-0016-BE7F-FF49CCA7FFB0}"/>
              </a:ext>
            </a:extLst>
          </p:cNvPr>
          <p:cNvSpPr txBox="1"/>
          <p:nvPr/>
        </p:nvSpPr>
        <p:spPr>
          <a:xfrm>
            <a:off x="3949440" y="1405374"/>
            <a:ext cx="6850640"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t>Easy to use</a:t>
            </a:r>
            <a:r>
              <a:rPr lang="en-GB" sz="2000" b="0"/>
              <a:t> - Excel follows structure of legislation.</a:t>
            </a:r>
          </a:p>
          <a:p>
            <a:endParaRPr lang="en-GB" sz="2000" b="0"/>
          </a:p>
          <a:p>
            <a:r>
              <a:rPr lang="en-GB" sz="2000"/>
              <a:t>Prefilling/Post-filling overview</a:t>
            </a:r>
            <a:r>
              <a:rPr lang="en-GB" sz="2000" b="0"/>
              <a:t> - Highlights where data should be reported (green cells) and where no reporting in Reportnet 3 is required (grey cells – prefilled / post-filled).</a:t>
            </a:r>
          </a:p>
          <a:p>
            <a:endParaRPr lang="en-GB" sz="2000" b="0"/>
          </a:p>
          <a:p>
            <a:r>
              <a:rPr lang="en-GB" sz="2000"/>
              <a:t>Risk</a:t>
            </a:r>
            <a:r>
              <a:rPr lang="en-GB" sz="2000" b="0"/>
              <a:t> – If import not used correctly can cause issues on the finally imported data to Reportnet 3.</a:t>
            </a:r>
          </a:p>
          <a:p>
            <a:pPr lvl="1"/>
            <a:r>
              <a:rPr lang="en-GB" sz="2000" i="1">
                <a:solidFill>
                  <a:srgbClr val="FF0000"/>
                </a:solidFill>
              </a:rPr>
              <a:t>Do not edit data formats / structures – be careful when copying and pasting!</a:t>
            </a:r>
          </a:p>
          <a:p>
            <a:r>
              <a:rPr lang="en-GB" sz="2000"/>
              <a:t>Excel import does not equal reporting</a:t>
            </a:r>
            <a:r>
              <a:rPr lang="en-GB" sz="2000" b="0"/>
              <a:t> – reporting is only considered complete once an official submission in the platform is made. Therefore, once data is imported, quality checks and final check of data is required!</a:t>
            </a:r>
          </a:p>
          <a:p>
            <a:endParaRPr lang="en-GB" sz="2000" b="0"/>
          </a:p>
        </p:txBody>
      </p:sp>
    </p:spTree>
    <p:extLst>
      <p:ext uri="{BB962C8B-B14F-4D97-AF65-F5344CB8AC3E}">
        <p14:creationId xmlns:p14="http://schemas.microsoft.com/office/powerpoint/2010/main" val="3327310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B11C9-BF87-7859-5EEE-5142DEA8C3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5DBACD-813E-2319-8BCC-99BDB0C7D443}"/>
              </a:ext>
            </a:extLst>
          </p:cNvPr>
          <p:cNvSpPr txBox="1"/>
          <p:nvPr/>
        </p:nvSpPr>
        <p:spPr>
          <a:xfrm>
            <a:off x="267829" y="47861"/>
            <a:ext cx="11606782"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Specifications &amp; colors </a:t>
            </a:r>
            <a:endParaRPr lang="en-GB" sz="3200" b="1" dirty="0">
              <a:solidFill>
                <a:srgbClr val="113A60"/>
              </a:solidFill>
            </a:endParaRPr>
          </a:p>
        </p:txBody>
      </p:sp>
      <p:sp>
        <p:nvSpPr>
          <p:cNvPr id="3" name="Content Placeholder 2">
            <a:extLst>
              <a:ext uri="{FF2B5EF4-FFF2-40B4-BE49-F238E27FC236}">
                <a16:creationId xmlns:a16="http://schemas.microsoft.com/office/drawing/2014/main" id="{7DDC5005-9C96-62B6-FEAA-2EB21015342E}"/>
              </a:ext>
            </a:extLst>
          </p:cNvPr>
          <p:cNvSpPr txBox="1">
            <a:spLocks/>
          </p:cNvSpPr>
          <p:nvPr/>
        </p:nvSpPr>
        <p:spPr>
          <a:xfrm>
            <a:off x="366948" y="1165237"/>
            <a:ext cx="11592171" cy="49124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da-DK" dirty="0">
              <a:solidFill>
                <a:srgbClr val="004B7F"/>
              </a:solidFill>
            </a:endParaRPr>
          </a:p>
        </p:txBody>
      </p:sp>
      <p:sp>
        <p:nvSpPr>
          <p:cNvPr id="6" name="TextBox 5">
            <a:extLst>
              <a:ext uri="{FF2B5EF4-FFF2-40B4-BE49-F238E27FC236}">
                <a16:creationId xmlns:a16="http://schemas.microsoft.com/office/drawing/2014/main" id="{C2CE1741-4766-53D2-BDC6-E1CDD6763F80}"/>
              </a:ext>
            </a:extLst>
          </p:cNvPr>
          <p:cNvSpPr txBox="1"/>
          <p:nvPr/>
        </p:nvSpPr>
        <p:spPr>
          <a:xfrm>
            <a:off x="1038386" y="1165237"/>
            <a:ext cx="8136610" cy="2471702"/>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GB" sz="2000" b="1" dirty="0">
                <a:effectLst/>
                <a:latin typeface="Aptos" panose="020B0004020202020204" pitchFamily="34" charset="0"/>
                <a:ea typeface="Aptos" panose="020B0004020202020204" pitchFamily="34" charset="0"/>
                <a:cs typeface="Aptos" panose="020B0004020202020204" pitchFamily="34" charset="0"/>
              </a:rPr>
              <a:t>M – Mandatory </a:t>
            </a:r>
            <a:endParaRPr lang="en-GB" sz="2000" dirty="0">
              <a:effectLst/>
              <a:latin typeface="Aptos" panose="020B0004020202020204" pitchFamily="34" charset="0"/>
              <a:ea typeface="Aptos" panose="020B0004020202020204" pitchFamily="34" charset="0"/>
              <a:cs typeface="Aptos" panose="020B0004020202020204" pitchFamily="34" charset="0"/>
            </a:endParaRPr>
          </a:p>
          <a:p>
            <a:pPr marL="285750" indent="-285750">
              <a:lnSpc>
                <a:spcPct val="200000"/>
              </a:lnSpc>
              <a:buFont typeface="Arial" panose="020B0604020202020204" pitchFamily="34" charset="0"/>
              <a:buChar char="•"/>
            </a:pPr>
            <a:r>
              <a:rPr lang="en-GB" sz="2000" b="1" dirty="0" err="1">
                <a:effectLst/>
                <a:latin typeface="Aptos" panose="020B0004020202020204" pitchFamily="34" charset="0"/>
                <a:ea typeface="Aptos" panose="020B0004020202020204" pitchFamily="34" charset="0"/>
                <a:cs typeface="Aptos" panose="020B0004020202020204" pitchFamily="34" charset="0"/>
              </a:rPr>
              <a:t>Miap</a:t>
            </a:r>
            <a:r>
              <a:rPr lang="en-GB" sz="2000" b="1" dirty="0">
                <a:effectLst/>
                <a:latin typeface="Aptos" panose="020B0004020202020204" pitchFamily="34" charset="0"/>
                <a:ea typeface="Aptos" panose="020B0004020202020204" pitchFamily="34" charset="0"/>
                <a:cs typeface="Aptos" panose="020B0004020202020204" pitchFamily="34" charset="0"/>
              </a:rPr>
              <a:t> – Mandatory if applicable </a:t>
            </a:r>
          </a:p>
          <a:p>
            <a:pPr marL="285750" indent="-285750">
              <a:lnSpc>
                <a:spcPct val="200000"/>
              </a:lnSpc>
              <a:buFont typeface="Arial" panose="020B0604020202020204" pitchFamily="34" charset="0"/>
              <a:buChar char="•"/>
            </a:pPr>
            <a:r>
              <a:rPr lang="en-GB" sz="2000" b="1" dirty="0" err="1">
                <a:effectLst/>
                <a:latin typeface="Aptos" panose="020B0004020202020204" pitchFamily="34" charset="0"/>
                <a:ea typeface="Aptos" panose="020B0004020202020204" pitchFamily="34" charset="0"/>
                <a:cs typeface="Aptos" panose="020B0004020202020204" pitchFamily="34" charset="0"/>
              </a:rPr>
              <a:t>Miav</a:t>
            </a:r>
            <a:r>
              <a:rPr lang="en-GB" sz="2000" b="1" dirty="0">
                <a:effectLst/>
                <a:latin typeface="Aptos" panose="020B0004020202020204" pitchFamily="34" charset="0"/>
                <a:ea typeface="Aptos" panose="020B0004020202020204" pitchFamily="34" charset="0"/>
                <a:cs typeface="Aptos" panose="020B0004020202020204" pitchFamily="34" charset="0"/>
              </a:rPr>
              <a:t> – Mandatory if available</a:t>
            </a:r>
            <a:endParaRPr lang="en-DK" sz="2000" dirty="0">
              <a:effectLst/>
              <a:latin typeface="Aptos" panose="020B0004020202020204" pitchFamily="34" charset="0"/>
              <a:ea typeface="Aptos" panose="020B0004020202020204" pitchFamily="34" charset="0"/>
              <a:cs typeface="Aptos" panose="020B0004020202020204" pitchFamily="34" charset="0"/>
            </a:endParaRPr>
          </a:p>
          <a:p>
            <a:pPr marL="285750" indent="-285750">
              <a:lnSpc>
                <a:spcPct val="200000"/>
              </a:lnSpc>
              <a:buFont typeface="Arial" panose="020B0604020202020204" pitchFamily="34" charset="0"/>
              <a:buChar char="•"/>
            </a:pPr>
            <a:r>
              <a:rPr lang="en-GB" sz="2000" b="1" dirty="0">
                <a:effectLst/>
                <a:latin typeface="Aptos" panose="020B0004020202020204" pitchFamily="34" charset="0"/>
                <a:ea typeface="Aptos" panose="020B0004020202020204" pitchFamily="34" charset="0"/>
                <a:cs typeface="Aptos" panose="020B0004020202020204" pitchFamily="34" charset="0"/>
              </a:rPr>
              <a:t>V – Voluntary </a:t>
            </a:r>
            <a:endParaRPr lang="en-DK" sz="2000" dirty="0">
              <a:effectLst/>
              <a:latin typeface="Aptos" panose="020B0004020202020204" pitchFamily="34" charset="0"/>
              <a:ea typeface="Aptos" panose="020B0004020202020204" pitchFamily="34" charset="0"/>
              <a:cs typeface="Aptos" panose="020B0004020202020204" pitchFamily="34" charset="0"/>
            </a:endParaRPr>
          </a:p>
        </p:txBody>
      </p:sp>
      <p:sp>
        <p:nvSpPr>
          <p:cNvPr id="4" name="Rectangle 3">
            <a:extLst>
              <a:ext uri="{FF2B5EF4-FFF2-40B4-BE49-F238E27FC236}">
                <a16:creationId xmlns:a16="http://schemas.microsoft.com/office/drawing/2014/main" id="{8CA9F492-9501-8F3F-D3E5-4D4ACEC1F9E6}"/>
              </a:ext>
            </a:extLst>
          </p:cNvPr>
          <p:cNvSpPr/>
          <p:nvPr/>
        </p:nvSpPr>
        <p:spPr>
          <a:xfrm>
            <a:off x="1038386" y="4302950"/>
            <a:ext cx="7098593" cy="1389813"/>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GB" sz="2000" b="1" dirty="0">
                <a:solidFill>
                  <a:schemeClr val="accent6"/>
                </a:solidFill>
              </a:rPr>
              <a:t>Green</a:t>
            </a:r>
            <a:r>
              <a:rPr lang="en-GB" sz="2000" dirty="0">
                <a:solidFill>
                  <a:schemeClr val="tx1"/>
                </a:solidFill>
              </a:rPr>
              <a:t> – NECPR reporting exercise,</a:t>
            </a:r>
          </a:p>
          <a:p>
            <a:pPr marL="285750" indent="-285750">
              <a:lnSpc>
                <a:spcPct val="150000"/>
              </a:lnSpc>
              <a:buFont typeface="Arial" panose="020B0604020202020204" pitchFamily="34" charset="0"/>
              <a:buChar char="•"/>
            </a:pPr>
            <a:r>
              <a:rPr lang="en-GB" sz="2000" b="1" dirty="0">
                <a:solidFill>
                  <a:srgbClr val="FFC000"/>
                </a:solidFill>
              </a:rPr>
              <a:t>Yellow</a:t>
            </a:r>
            <a:r>
              <a:rPr lang="en-GB" sz="2000" dirty="0">
                <a:solidFill>
                  <a:schemeClr val="tx1"/>
                </a:solidFill>
              </a:rPr>
              <a:t> – Prefilled data </a:t>
            </a:r>
          </a:p>
          <a:p>
            <a:pPr marL="285750" indent="-285750">
              <a:lnSpc>
                <a:spcPct val="150000"/>
              </a:lnSpc>
              <a:buFont typeface="Arial" panose="020B0604020202020204" pitchFamily="34" charset="0"/>
              <a:buChar char="•"/>
            </a:pPr>
            <a:r>
              <a:rPr lang="en-GB" sz="2000" b="1" dirty="0">
                <a:solidFill>
                  <a:schemeClr val="accent2"/>
                </a:solidFill>
              </a:rPr>
              <a:t>Orange</a:t>
            </a:r>
            <a:r>
              <a:rPr lang="en-GB" sz="2000" dirty="0">
                <a:solidFill>
                  <a:schemeClr val="tx1"/>
                </a:solidFill>
              </a:rPr>
              <a:t> – Postfilled data </a:t>
            </a:r>
          </a:p>
          <a:p>
            <a:pPr marL="285750" indent="-285750">
              <a:lnSpc>
                <a:spcPct val="150000"/>
              </a:lnSpc>
              <a:buFont typeface="Arial" panose="020B0604020202020204" pitchFamily="34" charset="0"/>
              <a:buChar char="•"/>
            </a:pPr>
            <a:r>
              <a:rPr lang="en-GB" sz="2000" b="1" dirty="0">
                <a:solidFill>
                  <a:schemeClr val="accent1">
                    <a:lumMod val="60000"/>
                    <a:lumOff val="40000"/>
                  </a:schemeClr>
                </a:solidFill>
              </a:rPr>
              <a:t>Blue</a:t>
            </a:r>
            <a:r>
              <a:rPr lang="en-GB" sz="2000" dirty="0">
                <a:solidFill>
                  <a:schemeClr val="tx1"/>
                </a:solidFill>
              </a:rPr>
              <a:t> – Calculated cell which utilises other data in table.</a:t>
            </a:r>
          </a:p>
        </p:txBody>
      </p:sp>
    </p:spTree>
    <p:extLst>
      <p:ext uri="{BB962C8B-B14F-4D97-AF65-F5344CB8AC3E}">
        <p14:creationId xmlns:p14="http://schemas.microsoft.com/office/powerpoint/2010/main" val="12268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F2A63-B6F6-744C-7158-D335254AEE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0B9209-8324-7381-6893-BCEB3E68A27E}"/>
              </a:ext>
            </a:extLst>
          </p:cNvPr>
          <p:cNvSpPr txBox="1"/>
          <p:nvPr/>
        </p:nvSpPr>
        <p:spPr>
          <a:xfrm>
            <a:off x="4769683" y="3429000"/>
            <a:ext cx="2652649"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Data input – excel import</a:t>
            </a:r>
          </a:p>
        </p:txBody>
      </p:sp>
      <p:pic>
        <p:nvPicPr>
          <p:cNvPr id="2" name="Graphic 1" descr="Clipboard with solid fill">
            <a:extLst>
              <a:ext uri="{FF2B5EF4-FFF2-40B4-BE49-F238E27FC236}">
                <a16:creationId xmlns:a16="http://schemas.microsoft.com/office/drawing/2014/main" id="{C60B0299-0875-B62F-FD0A-755537E0E1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9" y="1546698"/>
            <a:ext cx="1882302" cy="1882302"/>
          </a:xfrm>
          <a:prstGeom prst="rect">
            <a:avLst/>
          </a:prstGeom>
        </p:spPr>
      </p:pic>
      <p:pic>
        <p:nvPicPr>
          <p:cNvPr id="5" name="Graphic 4" descr="Download with solid fill">
            <a:extLst>
              <a:ext uri="{FF2B5EF4-FFF2-40B4-BE49-F238E27FC236}">
                <a16:creationId xmlns:a16="http://schemas.microsoft.com/office/drawing/2014/main" id="{7E133DA5-74CF-A473-88E1-CAFC6AD6841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8427" y="2190276"/>
            <a:ext cx="595146" cy="595146"/>
          </a:xfrm>
          <a:prstGeom prst="rect">
            <a:avLst/>
          </a:prstGeom>
        </p:spPr>
      </p:pic>
    </p:spTree>
    <p:extLst>
      <p:ext uri="{BB962C8B-B14F-4D97-AF65-F5344CB8AC3E}">
        <p14:creationId xmlns:p14="http://schemas.microsoft.com/office/powerpoint/2010/main" val="566942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E0BD1-D075-7E1E-C1B8-4A0423DF0A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A56721-3D10-6180-8AB1-C186CA64E992}"/>
              </a:ext>
            </a:extLst>
          </p:cNvPr>
          <p:cNvSpPr txBox="1"/>
          <p:nvPr/>
        </p:nvSpPr>
        <p:spPr>
          <a:xfrm>
            <a:off x="103747" y="88288"/>
            <a:ext cx="1011445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Reportnet: Excel import / Reportnet 3 tabular editing</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pic>
        <p:nvPicPr>
          <p:cNvPr id="28" name="Graphic 27" descr="Table with solid fill">
            <a:extLst>
              <a:ext uri="{FF2B5EF4-FFF2-40B4-BE49-F238E27FC236}">
                <a16:creationId xmlns:a16="http://schemas.microsoft.com/office/drawing/2014/main" id="{C0960926-3A15-E613-1241-1309C7A610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7520" y="1132840"/>
            <a:ext cx="914400" cy="914400"/>
          </a:xfrm>
          <a:prstGeom prst="rect">
            <a:avLst/>
          </a:prstGeom>
        </p:spPr>
      </p:pic>
      <p:sp>
        <p:nvSpPr>
          <p:cNvPr id="30" name="TextBox 29">
            <a:extLst>
              <a:ext uri="{FF2B5EF4-FFF2-40B4-BE49-F238E27FC236}">
                <a16:creationId xmlns:a16="http://schemas.microsoft.com/office/drawing/2014/main" id="{5DEA712E-04A8-0E7F-3452-1D93A97AE055}"/>
              </a:ext>
            </a:extLst>
          </p:cNvPr>
          <p:cNvSpPr txBox="1"/>
          <p:nvPr/>
        </p:nvSpPr>
        <p:spPr>
          <a:xfrm>
            <a:off x="1391920" y="1405374"/>
            <a:ext cx="13703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Excel import</a:t>
            </a:r>
            <a:endParaRPr kumimoji="0" lang="LID4096"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5" name="Picture 44">
            <a:extLst>
              <a:ext uri="{FF2B5EF4-FFF2-40B4-BE49-F238E27FC236}">
                <a16:creationId xmlns:a16="http://schemas.microsoft.com/office/drawing/2014/main" id="{2EA68122-EC35-D9E0-54D8-513CE670F800}"/>
              </a:ext>
            </a:extLst>
          </p:cNvPr>
          <p:cNvPicPr>
            <a:picLocks noChangeAspect="1"/>
          </p:cNvPicPr>
          <p:nvPr/>
        </p:nvPicPr>
        <p:blipFill>
          <a:blip r:embed="rId4"/>
          <a:stretch>
            <a:fillRect/>
          </a:stretch>
        </p:blipFill>
        <p:spPr>
          <a:xfrm>
            <a:off x="477520" y="2279196"/>
            <a:ext cx="2826622" cy="2804099"/>
          </a:xfrm>
          <a:prstGeom prst="rect">
            <a:avLst/>
          </a:prstGeom>
        </p:spPr>
      </p:pic>
      <p:sp>
        <p:nvSpPr>
          <p:cNvPr id="2" name="TextBox 1">
            <a:extLst>
              <a:ext uri="{FF2B5EF4-FFF2-40B4-BE49-F238E27FC236}">
                <a16:creationId xmlns:a16="http://schemas.microsoft.com/office/drawing/2014/main" id="{C15FFAE0-7D4B-0016-BE7F-FF49CCA7FFB0}"/>
              </a:ext>
            </a:extLst>
          </p:cNvPr>
          <p:cNvSpPr txBox="1"/>
          <p:nvPr/>
        </p:nvSpPr>
        <p:spPr>
          <a:xfrm>
            <a:off x="3949440" y="1405374"/>
            <a:ext cx="6850640"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t>Easy to use</a:t>
            </a:r>
            <a:r>
              <a:rPr lang="en-GB" sz="2000" b="0"/>
              <a:t> - Excel follows structure of legislation.</a:t>
            </a:r>
          </a:p>
          <a:p>
            <a:endParaRPr lang="en-GB" sz="2000" b="0"/>
          </a:p>
          <a:p>
            <a:r>
              <a:rPr lang="en-GB" sz="2000"/>
              <a:t>Prefilling/Post-filling overview</a:t>
            </a:r>
            <a:r>
              <a:rPr lang="en-GB" sz="2000" b="0"/>
              <a:t> - Highlights where data should be reported (green cells) and where no reporting in Reportnet 3 is required (grey cells – prefilled / post-filled).</a:t>
            </a:r>
          </a:p>
          <a:p>
            <a:endParaRPr lang="en-GB" sz="2000" b="0"/>
          </a:p>
          <a:p>
            <a:r>
              <a:rPr lang="en-GB" sz="2000"/>
              <a:t>Risk</a:t>
            </a:r>
            <a:r>
              <a:rPr lang="en-GB" sz="2000" b="0"/>
              <a:t> – If import not used correctly can cause issues on the finally imported data to Reportnet 3.</a:t>
            </a:r>
          </a:p>
          <a:p>
            <a:pPr lvl="1"/>
            <a:r>
              <a:rPr lang="en-GB" sz="2000" i="1">
                <a:solidFill>
                  <a:srgbClr val="FF0000"/>
                </a:solidFill>
              </a:rPr>
              <a:t>Do not edit data formats / structures – be careful when copying and pasting!</a:t>
            </a:r>
          </a:p>
          <a:p>
            <a:r>
              <a:rPr lang="en-GB" sz="2000"/>
              <a:t>Excel import does not equal reporting</a:t>
            </a:r>
            <a:r>
              <a:rPr lang="en-GB" sz="2000" b="0"/>
              <a:t> – reporting is only considered complete once an official submission in the platform is made. Therefore, once data is imported, quality checks and final check of data is required!</a:t>
            </a:r>
          </a:p>
          <a:p>
            <a:endParaRPr lang="en-GB" sz="2000" b="0"/>
          </a:p>
        </p:txBody>
      </p:sp>
    </p:spTree>
    <p:extLst>
      <p:ext uri="{BB962C8B-B14F-4D97-AF65-F5344CB8AC3E}">
        <p14:creationId xmlns:p14="http://schemas.microsoft.com/office/powerpoint/2010/main" val="1490673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652B-5A7D-434E-C9BF-DCB65395604C}"/>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CE4D9E76-A1C2-A5D0-9FCE-2BA8A3167EF4}"/>
              </a:ext>
            </a:extLst>
          </p:cNvPr>
          <p:cNvSpPr txBox="1"/>
          <p:nvPr/>
        </p:nvSpPr>
        <p:spPr>
          <a:xfrm>
            <a:off x="500863" y="1607205"/>
            <a:ext cx="4410951" cy="646331"/>
          </a:xfrm>
          <a:prstGeom prst="rect">
            <a:avLst/>
          </a:prstGeom>
          <a:noFill/>
        </p:spPr>
        <p:txBody>
          <a:bodyPr wrap="none" rtlCol="0">
            <a:spAutoFit/>
          </a:bodyPr>
          <a:lstStyle/>
          <a:p>
            <a:r>
              <a:rPr lang="en-GB" b="1"/>
              <a:t>Introduction</a:t>
            </a:r>
          </a:p>
          <a:p>
            <a:r>
              <a:rPr lang="en-GB" i="1"/>
              <a:t>Provides information on the import template</a:t>
            </a:r>
            <a:endParaRPr lang="LID4096" i="1"/>
          </a:p>
        </p:txBody>
      </p:sp>
      <p:pic>
        <p:nvPicPr>
          <p:cNvPr id="4" name="Picture 3">
            <a:extLst>
              <a:ext uri="{FF2B5EF4-FFF2-40B4-BE49-F238E27FC236}">
                <a16:creationId xmlns:a16="http://schemas.microsoft.com/office/drawing/2014/main" id="{5EE7F6DA-6F62-88AF-686D-729AAD13A17C}"/>
              </a:ext>
            </a:extLst>
          </p:cNvPr>
          <p:cNvPicPr>
            <a:picLocks noChangeAspect="1"/>
          </p:cNvPicPr>
          <p:nvPr/>
        </p:nvPicPr>
        <p:blipFill>
          <a:blip r:embed="rId2"/>
          <a:stretch>
            <a:fillRect/>
          </a:stretch>
        </p:blipFill>
        <p:spPr>
          <a:xfrm>
            <a:off x="598654" y="2253536"/>
            <a:ext cx="5003894" cy="2916121"/>
          </a:xfrm>
          <a:prstGeom prst="rect">
            <a:avLst/>
          </a:prstGeom>
        </p:spPr>
      </p:pic>
      <p:pic>
        <p:nvPicPr>
          <p:cNvPr id="6" name="Picture 5">
            <a:extLst>
              <a:ext uri="{FF2B5EF4-FFF2-40B4-BE49-F238E27FC236}">
                <a16:creationId xmlns:a16="http://schemas.microsoft.com/office/drawing/2014/main" id="{45522FC4-22CE-9CBC-7C40-00E4DF738C51}"/>
              </a:ext>
            </a:extLst>
          </p:cNvPr>
          <p:cNvPicPr>
            <a:picLocks noChangeAspect="1"/>
          </p:cNvPicPr>
          <p:nvPr/>
        </p:nvPicPr>
        <p:blipFill>
          <a:blip r:embed="rId3"/>
          <a:stretch>
            <a:fillRect/>
          </a:stretch>
        </p:blipFill>
        <p:spPr>
          <a:xfrm>
            <a:off x="6223694" y="2253536"/>
            <a:ext cx="5696799" cy="2842922"/>
          </a:xfrm>
          <a:prstGeom prst="rect">
            <a:avLst/>
          </a:prstGeom>
        </p:spPr>
      </p:pic>
      <p:sp>
        <p:nvSpPr>
          <p:cNvPr id="9" name="TextBox 8">
            <a:extLst>
              <a:ext uri="{FF2B5EF4-FFF2-40B4-BE49-F238E27FC236}">
                <a16:creationId xmlns:a16="http://schemas.microsoft.com/office/drawing/2014/main" id="{1BE231D2-33E7-AE87-2B09-DC9B5B2F2360}"/>
              </a:ext>
            </a:extLst>
          </p:cNvPr>
          <p:cNvSpPr txBox="1"/>
          <p:nvPr/>
        </p:nvSpPr>
        <p:spPr>
          <a:xfrm>
            <a:off x="6223694" y="1620645"/>
            <a:ext cx="4296754" cy="646331"/>
          </a:xfrm>
          <a:prstGeom prst="rect">
            <a:avLst/>
          </a:prstGeom>
          <a:noFill/>
        </p:spPr>
        <p:txBody>
          <a:bodyPr wrap="none" rtlCol="0">
            <a:spAutoFit/>
          </a:bodyPr>
          <a:lstStyle/>
          <a:p>
            <a:r>
              <a:rPr lang="en-GB" b="1"/>
              <a:t>Legal reporting tables</a:t>
            </a:r>
          </a:p>
          <a:p>
            <a:r>
              <a:rPr lang="en-GB" i="1"/>
              <a:t>Copies legislation format: green = MS input!</a:t>
            </a:r>
          </a:p>
        </p:txBody>
      </p:sp>
      <p:sp>
        <p:nvSpPr>
          <p:cNvPr id="10" name="TextBox 9">
            <a:extLst>
              <a:ext uri="{FF2B5EF4-FFF2-40B4-BE49-F238E27FC236}">
                <a16:creationId xmlns:a16="http://schemas.microsoft.com/office/drawing/2014/main" id="{A5607E98-8671-0CE1-781E-4F579AEFFD06}"/>
              </a:ext>
            </a:extLst>
          </p:cNvPr>
          <p:cNvSpPr txBox="1"/>
          <p:nvPr/>
        </p:nvSpPr>
        <p:spPr>
          <a:xfrm>
            <a:off x="500863" y="1046908"/>
            <a:ext cx="4665573" cy="369332"/>
          </a:xfrm>
          <a:prstGeom prst="rect">
            <a:avLst/>
          </a:prstGeom>
          <a:noFill/>
        </p:spPr>
        <p:txBody>
          <a:bodyPr wrap="none" rtlCol="0">
            <a:spAutoFit/>
          </a:bodyPr>
          <a:lstStyle/>
          <a:p>
            <a:r>
              <a:rPr lang="en-GB" b="1"/>
              <a:t>Excel import templates are split into two parts:</a:t>
            </a:r>
            <a:endParaRPr lang="LID4096" b="1"/>
          </a:p>
        </p:txBody>
      </p:sp>
      <p:sp>
        <p:nvSpPr>
          <p:cNvPr id="11" name="TextBox 10">
            <a:extLst>
              <a:ext uri="{FF2B5EF4-FFF2-40B4-BE49-F238E27FC236}">
                <a16:creationId xmlns:a16="http://schemas.microsoft.com/office/drawing/2014/main" id="{8F406AD4-FE33-0927-41B3-DC6FE8D39B8A}"/>
              </a:ext>
            </a:extLst>
          </p:cNvPr>
          <p:cNvSpPr txBox="1"/>
          <p:nvPr/>
        </p:nvSpPr>
        <p:spPr>
          <a:xfrm>
            <a:off x="500863" y="5387342"/>
            <a:ext cx="8747587" cy="923330"/>
          </a:xfrm>
          <a:prstGeom prst="rect">
            <a:avLst/>
          </a:prstGeom>
          <a:noFill/>
        </p:spPr>
        <p:txBody>
          <a:bodyPr wrap="none" rtlCol="0">
            <a:spAutoFit/>
          </a:bodyPr>
          <a:lstStyle/>
          <a:p>
            <a:r>
              <a:rPr lang="en-GB" b="1">
                <a:solidFill>
                  <a:srgbClr val="FF0000"/>
                </a:solidFill>
              </a:rPr>
              <a:t>! Do not edit formatting or structure of template ! </a:t>
            </a:r>
          </a:p>
          <a:p>
            <a:r>
              <a:rPr lang="en-GB"/>
              <a:t>It can result in incorrect imports or importing values which will result in blockers.</a:t>
            </a:r>
          </a:p>
          <a:p>
            <a:r>
              <a:rPr lang="en-GB"/>
              <a:t>It is the Member States’ responsibly to ensure the data is imported correctly to Reportnet 3.</a:t>
            </a:r>
            <a:endParaRPr lang="LID4096"/>
          </a:p>
        </p:txBody>
      </p:sp>
      <p:sp>
        <p:nvSpPr>
          <p:cNvPr id="2" name="Text Placeholder 1">
            <a:extLst>
              <a:ext uri="{FF2B5EF4-FFF2-40B4-BE49-F238E27FC236}">
                <a16:creationId xmlns:a16="http://schemas.microsoft.com/office/drawing/2014/main" id="{1B0D1AA1-AC4F-BAA4-BDD0-3E89D54D884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Using the excel import</a:t>
            </a:r>
            <a:endParaRPr lang="en-DK" sz="3200" b="1">
              <a:solidFill>
                <a:srgbClr val="002060"/>
              </a:solidFill>
              <a:latin typeface="Calibri" panose="020F0502020204030204"/>
            </a:endParaRPr>
          </a:p>
        </p:txBody>
      </p:sp>
    </p:spTree>
    <p:extLst>
      <p:ext uri="{BB962C8B-B14F-4D97-AF65-F5344CB8AC3E}">
        <p14:creationId xmlns:p14="http://schemas.microsoft.com/office/powerpoint/2010/main" val="1299377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DCBF8B1-CB4A-8084-CDAA-D76EF25FAEE5}"/>
              </a:ext>
            </a:extLst>
          </p:cNvPr>
          <p:cNvPicPr>
            <a:picLocks noChangeAspect="1"/>
          </p:cNvPicPr>
          <p:nvPr/>
        </p:nvPicPr>
        <p:blipFill rotWithShape="1">
          <a:blip r:embed="rId3"/>
          <a:srcRect t="17500" r="2604" b="4028"/>
          <a:stretch/>
        </p:blipFill>
        <p:spPr>
          <a:xfrm>
            <a:off x="257175" y="971550"/>
            <a:ext cx="11084268" cy="5581650"/>
          </a:xfrm>
          <a:prstGeom prst="rect">
            <a:avLst/>
          </a:prstGeom>
        </p:spPr>
      </p:pic>
      <p:sp>
        <p:nvSpPr>
          <p:cNvPr id="5" name="Rectangle 4">
            <a:extLst>
              <a:ext uri="{FF2B5EF4-FFF2-40B4-BE49-F238E27FC236}">
                <a16:creationId xmlns:a16="http://schemas.microsoft.com/office/drawing/2014/main" id="{5E43CFAD-4C57-649C-5B21-98104A6CC54C}"/>
              </a:ext>
            </a:extLst>
          </p:cNvPr>
          <p:cNvSpPr/>
          <p:nvPr/>
        </p:nvSpPr>
        <p:spPr>
          <a:xfrm>
            <a:off x="1009650" y="3233737"/>
            <a:ext cx="1933575" cy="423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9" name="Straight Arrow Connector 8">
            <a:extLst>
              <a:ext uri="{FF2B5EF4-FFF2-40B4-BE49-F238E27FC236}">
                <a16:creationId xmlns:a16="http://schemas.microsoft.com/office/drawing/2014/main" id="{E1AD62E6-7043-63CB-24D1-9BA40AEB4E36}"/>
              </a:ext>
            </a:extLst>
          </p:cNvPr>
          <p:cNvCxnSpPr>
            <a:cxnSpLocks/>
          </p:cNvCxnSpPr>
          <p:nvPr/>
        </p:nvCxnSpPr>
        <p:spPr>
          <a:xfrm>
            <a:off x="1812253" y="1762125"/>
            <a:ext cx="0" cy="72761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D00B0912-F3DB-FF6F-4D66-8FDBEFC89575}"/>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Imports – where to select import</a:t>
            </a:r>
          </a:p>
        </p:txBody>
      </p:sp>
    </p:spTree>
    <p:extLst>
      <p:ext uri="{BB962C8B-B14F-4D97-AF65-F5344CB8AC3E}">
        <p14:creationId xmlns:p14="http://schemas.microsoft.com/office/powerpoint/2010/main" val="312563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2DC63C-91FB-0FE9-6405-43E6BC0C0F75}"/>
              </a:ext>
            </a:extLst>
          </p:cNvPr>
          <p:cNvPicPr>
            <a:picLocks noChangeAspect="1"/>
          </p:cNvPicPr>
          <p:nvPr/>
        </p:nvPicPr>
        <p:blipFill rotWithShape="1">
          <a:blip r:embed="rId2"/>
          <a:srcRect t="17361" r="2952" b="4306"/>
          <a:stretch/>
        </p:blipFill>
        <p:spPr>
          <a:xfrm>
            <a:off x="609600" y="1190624"/>
            <a:ext cx="10648950" cy="5372101"/>
          </a:xfrm>
          <a:prstGeom prst="rect">
            <a:avLst/>
          </a:prstGeom>
        </p:spPr>
      </p:pic>
      <p:sp>
        <p:nvSpPr>
          <p:cNvPr id="2" name="Rectangle 1">
            <a:extLst>
              <a:ext uri="{FF2B5EF4-FFF2-40B4-BE49-F238E27FC236}">
                <a16:creationId xmlns:a16="http://schemas.microsoft.com/office/drawing/2014/main" id="{84CBF1D7-AF7F-25A8-5115-7D2FD4421517}"/>
              </a:ext>
            </a:extLst>
          </p:cNvPr>
          <p:cNvSpPr/>
          <p:nvPr/>
        </p:nvSpPr>
        <p:spPr>
          <a:xfrm>
            <a:off x="3488690" y="2664777"/>
            <a:ext cx="4791710" cy="4441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 name="Rectangle 3">
            <a:extLst>
              <a:ext uri="{FF2B5EF4-FFF2-40B4-BE49-F238E27FC236}">
                <a16:creationId xmlns:a16="http://schemas.microsoft.com/office/drawing/2014/main" id="{76A17117-5E16-93D9-1AF3-FBBA89E9F62C}"/>
              </a:ext>
            </a:extLst>
          </p:cNvPr>
          <p:cNvSpPr/>
          <p:nvPr/>
        </p:nvSpPr>
        <p:spPr>
          <a:xfrm>
            <a:off x="7203440" y="4663440"/>
            <a:ext cx="731520" cy="3251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Text Placeholder 1">
            <a:extLst>
              <a:ext uri="{FF2B5EF4-FFF2-40B4-BE49-F238E27FC236}">
                <a16:creationId xmlns:a16="http://schemas.microsoft.com/office/drawing/2014/main" id="{704A4B13-92C5-B83A-6904-5E12D40D5B96}"/>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Imports – select the import file and upload!</a:t>
            </a:r>
          </a:p>
        </p:txBody>
      </p:sp>
    </p:spTree>
    <p:extLst>
      <p:ext uri="{BB962C8B-B14F-4D97-AF65-F5344CB8AC3E}">
        <p14:creationId xmlns:p14="http://schemas.microsoft.com/office/powerpoint/2010/main" val="775600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BB3AA-31AD-5C01-454A-34550376B16E}"/>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80B989CC-36C4-5032-02CE-E604883E1641}"/>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Imports – chec</a:t>
            </a:r>
            <a:r>
              <a:rPr lang="en-GB"/>
              <a:t>k final data in Reportnet!</a:t>
            </a:r>
            <a:endParaRPr lang="en-GB" sz="3200" b="1">
              <a:solidFill>
                <a:srgbClr val="002060"/>
              </a:solidFill>
              <a:latin typeface="Calibri" panose="020F0502020204030204"/>
            </a:endParaRPr>
          </a:p>
        </p:txBody>
      </p:sp>
      <p:grpSp>
        <p:nvGrpSpPr>
          <p:cNvPr id="8" name="Group 7">
            <a:extLst>
              <a:ext uri="{FF2B5EF4-FFF2-40B4-BE49-F238E27FC236}">
                <a16:creationId xmlns:a16="http://schemas.microsoft.com/office/drawing/2014/main" id="{B33BEE18-96E5-59C8-F6C2-438883F04C15}"/>
              </a:ext>
            </a:extLst>
          </p:cNvPr>
          <p:cNvGrpSpPr/>
          <p:nvPr/>
        </p:nvGrpSpPr>
        <p:grpSpPr>
          <a:xfrm>
            <a:off x="2743501" y="1628231"/>
            <a:ext cx="1882302" cy="1882302"/>
            <a:chOff x="5154849" y="1546698"/>
            <a:chExt cx="1882302" cy="1882302"/>
          </a:xfrm>
        </p:grpSpPr>
        <p:pic>
          <p:nvPicPr>
            <p:cNvPr id="6" name="Graphic 5" descr="Clipboard with solid fill">
              <a:extLst>
                <a:ext uri="{FF2B5EF4-FFF2-40B4-BE49-F238E27FC236}">
                  <a16:creationId xmlns:a16="http://schemas.microsoft.com/office/drawing/2014/main" id="{D525BFAC-61F4-9DDF-7049-5BF0531D96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9" y="1546698"/>
              <a:ext cx="1882302" cy="1882302"/>
            </a:xfrm>
            <a:prstGeom prst="rect">
              <a:avLst/>
            </a:prstGeom>
          </p:spPr>
        </p:pic>
        <p:pic>
          <p:nvPicPr>
            <p:cNvPr id="7" name="Graphic 6" descr="Download with solid fill">
              <a:extLst>
                <a:ext uri="{FF2B5EF4-FFF2-40B4-BE49-F238E27FC236}">
                  <a16:creationId xmlns:a16="http://schemas.microsoft.com/office/drawing/2014/main" id="{C775D5D6-3EC0-6507-2C16-C205A86471B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8427" y="2190276"/>
              <a:ext cx="595146" cy="595146"/>
            </a:xfrm>
            <a:prstGeom prst="rect">
              <a:avLst/>
            </a:prstGeom>
          </p:spPr>
        </p:pic>
      </p:grpSp>
      <p:pic>
        <p:nvPicPr>
          <p:cNvPr id="10" name="Graphic 9" descr="Warning with solid fill">
            <a:extLst>
              <a:ext uri="{FF2B5EF4-FFF2-40B4-BE49-F238E27FC236}">
                <a16:creationId xmlns:a16="http://schemas.microsoft.com/office/drawing/2014/main" id="{14FF4F68-233E-B42C-A1C4-61B8FBBCA1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66198" y="1628231"/>
            <a:ext cx="1882302" cy="1882302"/>
          </a:xfrm>
          <a:prstGeom prst="rect">
            <a:avLst/>
          </a:prstGeom>
        </p:spPr>
      </p:pic>
      <p:sp>
        <p:nvSpPr>
          <p:cNvPr id="11" name="TextBox 10">
            <a:extLst>
              <a:ext uri="{FF2B5EF4-FFF2-40B4-BE49-F238E27FC236}">
                <a16:creationId xmlns:a16="http://schemas.microsoft.com/office/drawing/2014/main" id="{7BDEC35E-6852-7EFF-583E-A03C3342EA2F}"/>
              </a:ext>
            </a:extLst>
          </p:cNvPr>
          <p:cNvSpPr txBox="1"/>
          <p:nvPr/>
        </p:nvSpPr>
        <p:spPr>
          <a:xfrm>
            <a:off x="1941964" y="3728160"/>
            <a:ext cx="3439333"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endParaRPr lang="en-GB" sz="2000" b="0"/>
          </a:p>
        </p:txBody>
      </p:sp>
      <p:sp>
        <p:nvSpPr>
          <p:cNvPr id="12" name="TextBox 11">
            <a:extLst>
              <a:ext uri="{FF2B5EF4-FFF2-40B4-BE49-F238E27FC236}">
                <a16:creationId xmlns:a16="http://schemas.microsoft.com/office/drawing/2014/main" id="{7247E1A8-AEBA-1D7E-71CF-2354503F3473}"/>
              </a:ext>
            </a:extLst>
          </p:cNvPr>
          <p:cNvSpPr txBox="1"/>
          <p:nvPr/>
        </p:nvSpPr>
        <p:spPr>
          <a:xfrm>
            <a:off x="1530995" y="3728159"/>
            <a:ext cx="4307314"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t>Review that data was imported correctly</a:t>
            </a:r>
          </a:p>
        </p:txBody>
      </p:sp>
      <p:sp>
        <p:nvSpPr>
          <p:cNvPr id="13" name="TextBox 12">
            <a:extLst>
              <a:ext uri="{FF2B5EF4-FFF2-40B4-BE49-F238E27FC236}">
                <a16:creationId xmlns:a16="http://schemas.microsoft.com/office/drawing/2014/main" id="{500D37D7-1BC3-7E03-2898-0C25D4F4CEAC}"/>
              </a:ext>
            </a:extLst>
          </p:cNvPr>
          <p:cNvSpPr txBox="1"/>
          <p:nvPr/>
        </p:nvSpPr>
        <p:spPr>
          <a:xfrm>
            <a:off x="6275052" y="3728158"/>
            <a:ext cx="4464593"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t>Validate data in system to ensure format and data is to quality standards</a:t>
            </a:r>
          </a:p>
        </p:txBody>
      </p:sp>
    </p:spTree>
    <p:extLst>
      <p:ext uri="{BB962C8B-B14F-4D97-AF65-F5344CB8AC3E}">
        <p14:creationId xmlns:p14="http://schemas.microsoft.com/office/powerpoint/2010/main" val="3943695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0B6D4-AF03-76D7-9C3B-858D68E1F4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7587D3-ADE3-C220-5593-42A6A501EBC0}"/>
              </a:ext>
            </a:extLst>
          </p:cNvPr>
          <p:cNvSpPr txBox="1"/>
          <p:nvPr/>
        </p:nvSpPr>
        <p:spPr>
          <a:xfrm>
            <a:off x="4783566" y="3429000"/>
            <a:ext cx="2624886"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Data input – excel export</a:t>
            </a:r>
          </a:p>
        </p:txBody>
      </p:sp>
      <p:pic>
        <p:nvPicPr>
          <p:cNvPr id="2" name="Graphic 1" descr="Clipboard with solid fill">
            <a:extLst>
              <a:ext uri="{FF2B5EF4-FFF2-40B4-BE49-F238E27FC236}">
                <a16:creationId xmlns:a16="http://schemas.microsoft.com/office/drawing/2014/main" id="{8656EE39-A759-CDB3-FE72-D9DC1CB12B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9" y="1546698"/>
            <a:ext cx="1882302" cy="1882302"/>
          </a:xfrm>
          <a:prstGeom prst="rect">
            <a:avLst/>
          </a:prstGeom>
        </p:spPr>
      </p:pic>
      <p:pic>
        <p:nvPicPr>
          <p:cNvPr id="5" name="Graphic 4" descr="Download with solid fill">
            <a:extLst>
              <a:ext uri="{FF2B5EF4-FFF2-40B4-BE49-F238E27FC236}">
                <a16:creationId xmlns:a16="http://schemas.microsoft.com/office/drawing/2014/main" id="{41F704A5-BF00-6626-1E43-80C8C6FF17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8427" y="2190276"/>
            <a:ext cx="595146" cy="595146"/>
          </a:xfrm>
          <a:prstGeom prst="rect">
            <a:avLst/>
          </a:prstGeom>
        </p:spPr>
      </p:pic>
    </p:spTree>
    <p:extLst>
      <p:ext uri="{BB962C8B-B14F-4D97-AF65-F5344CB8AC3E}">
        <p14:creationId xmlns:p14="http://schemas.microsoft.com/office/powerpoint/2010/main" val="3765195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45110B-848A-89A0-0DD5-442C54B65644}"/>
              </a:ext>
            </a:extLst>
          </p:cNvPr>
          <p:cNvPicPr>
            <a:picLocks noChangeAspect="1"/>
          </p:cNvPicPr>
          <p:nvPr/>
        </p:nvPicPr>
        <p:blipFill rotWithShape="1">
          <a:blip r:embed="rId2"/>
          <a:srcRect t="17778" r="2604" b="3889"/>
          <a:stretch/>
        </p:blipFill>
        <p:spPr>
          <a:xfrm>
            <a:off x="609600" y="1219200"/>
            <a:ext cx="10687050" cy="5372100"/>
          </a:xfrm>
          <a:prstGeom prst="rect">
            <a:avLst/>
          </a:prstGeom>
        </p:spPr>
      </p:pic>
      <p:sp>
        <p:nvSpPr>
          <p:cNvPr id="8" name="Rectangle 7">
            <a:extLst>
              <a:ext uri="{FF2B5EF4-FFF2-40B4-BE49-F238E27FC236}">
                <a16:creationId xmlns:a16="http://schemas.microsoft.com/office/drawing/2014/main" id="{D6A5EFFD-85C1-5219-82B8-F3DB3F75828D}"/>
              </a:ext>
            </a:extLst>
          </p:cNvPr>
          <p:cNvSpPr/>
          <p:nvPr/>
        </p:nvSpPr>
        <p:spPr>
          <a:xfrm>
            <a:off x="2466975" y="4224337"/>
            <a:ext cx="1933575" cy="423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9" name="Straight Arrow Connector 8">
            <a:extLst>
              <a:ext uri="{FF2B5EF4-FFF2-40B4-BE49-F238E27FC236}">
                <a16:creationId xmlns:a16="http://schemas.microsoft.com/office/drawing/2014/main" id="{F5A78E1F-1ED0-E5A4-2D2B-E1E10155F589}"/>
              </a:ext>
            </a:extLst>
          </p:cNvPr>
          <p:cNvCxnSpPr>
            <a:cxnSpLocks/>
          </p:cNvCxnSpPr>
          <p:nvPr/>
        </p:nvCxnSpPr>
        <p:spPr>
          <a:xfrm>
            <a:off x="3345778" y="1924050"/>
            <a:ext cx="0" cy="72761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3DA470C7-EDC1-C003-93EC-4B748DC76550}"/>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Exports – where to download the file</a:t>
            </a:r>
          </a:p>
        </p:txBody>
      </p:sp>
    </p:spTree>
    <p:extLst>
      <p:ext uri="{BB962C8B-B14F-4D97-AF65-F5344CB8AC3E}">
        <p14:creationId xmlns:p14="http://schemas.microsoft.com/office/powerpoint/2010/main" val="404675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EAE822-85EA-4F04-988D-51B12266E629}"/>
              </a:ext>
            </a:extLst>
          </p:cNvPr>
          <p:cNvPicPr>
            <a:picLocks noChangeAspect="1"/>
          </p:cNvPicPr>
          <p:nvPr/>
        </p:nvPicPr>
        <p:blipFill rotWithShape="1">
          <a:blip r:embed="rId2"/>
          <a:srcRect t="17917" r="2604" b="4167"/>
          <a:stretch/>
        </p:blipFill>
        <p:spPr>
          <a:xfrm>
            <a:off x="257175" y="971549"/>
            <a:ext cx="11182348" cy="5591175"/>
          </a:xfrm>
          <a:prstGeom prst="rect">
            <a:avLst/>
          </a:prstGeom>
        </p:spPr>
      </p:pic>
      <p:sp>
        <p:nvSpPr>
          <p:cNvPr id="5" name="Rectangle 4">
            <a:extLst>
              <a:ext uri="{FF2B5EF4-FFF2-40B4-BE49-F238E27FC236}">
                <a16:creationId xmlns:a16="http://schemas.microsoft.com/office/drawing/2014/main" id="{F4F9A6EC-2B3F-AD86-F692-C1E45B8CDF1B}"/>
              </a:ext>
            </a:extLst>
          </p:cNvPr>
          <p:cNvSpPr/>
          <p:nvPr/>
        </p:nvSpPr>
        <p:spPr>
          <a:xfrm>
            <a:off x="9499600" y="1989137"/>
            <a:ext cx="1079500" cy="423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 name="Text Placeholder 1">
            <a:extLst>
              <a:ext uri="{FF2B5EF4-FFF2-40B4-BE49-F238E27FC236}">
                <a16:creationId xmlns:a16="http://schemas.microsoft.com/office/drawing/2014/main" id="{D6CDCD44-D573-471C-E351-7A3F8A25961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Exports – download takes a few moments</a:t>
            </a:r>
          </a:p>
        </p:txBody>
      </p:sp>
    </p:spTree>
    <p:extLst>
      <p:ext uri="{BB962C8B-B14F-4D97-AF65-F5344CB8AC3E}">
        <p14:creationId xmlns:p14="http://schemas.microsoft.com/office/powerpoint/2010/main" val="3171049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8BAB3-0DD2-F7E2-8720-3128ED578F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1A04F8-2B6F-8921-86A3-06F01C158BA8}"/>
              </a:ext>
            </a:extLst>
          </p:cNvPr>
          <p:cNvSpPr txBox="1"/>
          <p:nvPr/>
        </p:nvSpPr>
        <p:spPr>
          <a:xfrm>
            <a:off x="7388054" y="1217134"/>
            <a:ext cx="4308844" cy="3970318"/>
          </a:xfrm>
          <a:prstGeom prst="rect">
            <a:avLst/>
          </a:prstGeom>
          <a:noFill/>
        </p:spPr>
        <p:txBody>
          <a:bodyPr wrap="square" rtlCol="0">
            <a:spAutoFit/>
          </a:bodyPr>
          <a:lstStyle/>
          <a:p>
            <a:r>
              <a:rPr lang="en-GB" b="1"/>
              <a:t>Purpose of exports</a:t>
            </a:r>
            <a:r>
              <a:rPr lang="en-GB"/>
              <a:t>:</a:t>
            </a:r>
          </a:p>
          <a:p>
            <a:pPr marL="285750" indent="-285750">
              <a:buFontTx/>
              <a:buChar char="-"/>
            </a:pPr>
            <a:r>
              <a:rPr lang="en-GB"/>
              <a:t>To export reported values (green cells)</a:t>
            </a:r>
          </a:p>
          <a:p>
            <a:pPr marL="285750" indent="-285750">
              <a:buFontTx/>
              <a:buChar char="-"/>
            </a:pPr>
            <a:r>
              <a:rPr lang="en-GB"/>
              <a:t>To review prefilled (Eurostat data) (yellow cells)</a:t>
            </a:r>
          </a:p>
          <a:p>
            <a:pPr marL="285750" indent="-285750">
              <a:buFontTx/>
              <a:buChar char="-"/>
            </a:pPr>
            <a:endParaRPr lang="en-GB"/>
          </a:p>
          <a:p>
            <a:r>
              <a:rPr lang="en-GB"/>
              <a:t>Export templates can be used again as an import template.</a:t>
            </a:r>
          </a:p>
          <a:p>
            <a:endParaRPr lang="en-GB"/>
          </a:p>
          <a:p>
            <a:r>
              <a:rPr lang="en-GB" b="1">
                <a:solidFill>
                  <a:srgbClr val="FF0000"/>
                </a:solidFill>
              </a:rPr>
              <a:t>Prefilled data in Annex I refers to Allocated Emission Allowance data in Table 2. This table does not require active reporting (green cells).</a:t>
            </a:r>
          </a:p>
          <a:p>
            <a:endParaRPr lang="en-GB" b="1">
              <a:solidFill>
                <a:srgbClr val="FF0000"/>
              </a:solidFill>
            </a:endParaRPr>
          </a:p>
          <a:p>
            <a:r>
              <a:rPr lang="en-GB" b="1"/>
              <a:t>Dataflows with prefilling:</a:t>
            </a:r>
          </a:p>
        </p:txBody>
      </p:sp>
      <p:sp>
        <p:nvSpPr>
          <p:cNvPr id="5" name="Rectangle 4">
            <a:extLst>
              <a:ext uri="{FF2B5EF4-FFF2-40B4-BE49-F238E27FC236}">
                <a16:creationId xmlns:a16="http://schemas.microsoft.com/office/drawing/2014/main" id="{520BBB5E-14F0-570C-4965-C89AECCDB798}"/>
              </a:ext>
            </a:extLst>
          </p:cNvPr>
          <p:cNvSpPr/>
          <p:nvPr/>
        </p:nvSpPr>
        <p:spPr>
          <a:xfrm>
            <a:off x="8804842" y="5228639"/>
            <a:ext cx="1182994" cy="584775"/>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RES (Annexes II &amp; XVI)</a:t>
            </a:r>
            <a:endParaRPr lang="LID4096" sz="1400"/>
          </a:p>
        </p:txBody>
      </p:sp>
      <p:sp>
        <p:nvSpPr>
          <p:cNvPr id="6" name="Rectangle 5">
            <a:extLst>
              <a:ext uri="{FF2B5EF4-FFF2-40B4-BE49-F238E27FC236}">
                <a16:creationId xmlns:a16="http://schemas.microsoft.com/office/drawing/2014/main" id="{22C1D7F1-2C27-1F68-38CF-2071B43C1A07}"/>
              </a:ext>
            </a:extLst>
          </p:cNvPr>
          <p:cNvSpPr/>
          <p:nvPr/>
        </p:nvSpPr>
        <p:spPr>
          <a:xfrm>
            <a:off x="10180184" y="5228638"/>
            <a:ext cx="1182994" cy="584775"/>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EE (Annex IV)</a:t>
            </a:r>
            <a:endParaRPr lang="LID4096" sz="1400"/>
          </a:p>
        </p:txBody>
      </p:sp>
      <p:sp>
        <p:nvSpPr>
          <p:cNvPr id="9" name="Text Placeholder 1">
            <a:extLst>
              <a:ext uri="{FF2B5EF4-FFF2-40B4-BE49-F238E27FC236}">
                <a16:creationId xmlns:a16="http://schemas.microsoft.com/office/drawing/2014/main" id="{1DAF0F83-26E3-FC05-34F1-742E3D4E5D31}"/>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Purpose of exports – Annex I</a:t>
            </a:r>
          </a:p>
        </p:txBody>
      </p:sp>
      <p:sp>
        <p:nvSpPr>
          <p:cNvPr id="4" name="Rectangle 3">
            <a:extLst>
              <a:ext uri="{FF2B5EF4-FFF2-40B4-BE49-F238E27FC236}">
                <a16:creationId xmlns:a16="http://schemas.microsoft.com/office/drawing/2014/main" id="{0A644D95-F8DF-126A-8092-FC341DED334C}"/>
              </a:ext>
            </a:extLst>
          </p:cNvPr>
          <p:cNvSpPr/>
          <p:nvPr/>
        </p:nvSpPr>
        <p:spPr>
          <a:xfrm>
            <a:off x="7388054" y="5228637"/>
            <a:ext cx="122444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GHG (</a:t>
            </a:r>
            <a:r>
              <a:rPr lang="en-GB" sz="1400" dirty="0" err="1"/>
              <a:t>AnnexI</a:t>
            </a:r>
            <a:r>
              <a:rPr lang="en-GB" sz="1400" dirty="0"/>
              <a:t>)</a:t>
            </a:r>
            <a:endParaRPr lang="LID4096" sz="1400" dirty="0"/>
          </a:p>
        </p:txBody>
      </p:sp>
      <p:pic>
        <p:nvPicPr>
          <p:cNvPr id="8" name="Picture 7">
            <a:extLst>
              <a:ext uri="{FF2B5EF4-FFF2-40B4-BE49-F238E27FC236}">
                <a16:creationId xmlns:a16="http://schemas.microsoft.com/office/drawing/2014/main" id="{9C7F61B9-B825-C856-5F2E-F8EA8A0148BA}"/>
              </a:ext>
            </a:extLst>
          </p:cNvPr>
          <p:cNvPicPr>
            <a:picLocks noChangeAspect="1"/>
          </p:cNvPicPr>
          <p:nvPr/>
        </p:nvPicPr>
        <p:blipFill>
          <a:blip r:embed="rId2"/>
          <a:stretch>
            <a:fillRect/>
          </a:stretch>
        </p:blipFill>
        <p:spPr>
          <a:xfrm>
            <a:off x="249850" y="1409279"/>
            <a:ext cx="6926783" cy="3501174"/>
          </a:xfrm>
          <a:prstGeom prst="rect">
            <a:avLst/>
          </a:prstGeom>
        </p:spPr>
      </p:pic>
    </p:spTree>
    <p:extLst>
      <p:ext uri="{BB962C8B-B14F-4D97-AF65-F5344CB8AC3E}">
        <p14:creationId xmlns:p14="http://schemas.microsoft.com/office/powerpoint/2010/main" val="1691066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38AC-9388-ED7F-7AFA-8043612645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18F7C2-54F6-8D59-449E-7A3A7BD92DB0}"/>
              </a:ext>
            </a:extLst>
          </p:cNvPr>
          <p:cNvSpPr txBox="1"/>
          <p:nvPr/>
        </p:nvSpPr>
        <p:spPr>
          <a:xfrm>
            <a:off x="4529750" y="3429000"/>
            <a:ext cx="3132525"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Quality assurance - validations</a:t>
            </a:r>
          </a:p>
        </p:txBody>
      </p:sp>
      <p:pic>
        <p:nvPicPr>
          <p:cNvPr id="4" name="Graphic 3" descr="Shield Tick with solid fill">
            <a:extLst>
              <a:ext uri="{FF2B5EF4-FFF2-40B4-BE49-F238E27FC236}">
                <a16:creationId xmlns:a16="http://schemas.microsoft.com/office/drawing/2014/main" id="{B2B15BF5-3BFA-BF04-1C0F-FBB3649DC2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8" y="1546697"/>
            <a:ext cx="1882303" cy="1882303"/>
          </a:xfrm>
          <a:prstGeom prst="rect">
            <a:avLst/>
          </a:prstGeom>
        </p:spPr>
      </p:pic>
    </p:spTree>
    <p:extLst>
      <p:ext uri="{BB962C8B-B14F-4D97-AF65-F5344CB8AC3E}">
        <p14:creationId xmlns:p14="http://schemas.microsoft.com/office/powerpoint/2010/main" val="10364173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FBBFA5-33C6-6004-7C8D-509DCFB9361F}"/>
              </a:ext>
            </a:extLst>
          </p:cNvPr>
          <p:cNvSpPr txBox="1"/>
          <p:nvPr/>
        </p:nvSpPr>
        <p:spPr>
          <a:xfrm>
            <a:off x="267829" y="47861"/>
            <a:ext cx="11606782"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Specifications &amp; colors </a:t>
            </a:r>
            <a:endParaRPr lang="en-GB" sz="3200" b="1" dirty="0">
              <a:solidFill>
                <a:srgbClr val="113A60"/>
              </a:solidFill>
            </a:endParaRPr>
          </a:p>
        </p:txBody>
      </p:sp>
      <p:sp>
        <p:nvSpPr>
          <p:cNvPr id="3" name="Content Placeholder 2">
            <a:extLst>
              <a:ext uri="{FF2B5EF4-FFF2-40B4-BE49-F238E27FC236}">
                <a16:creationId xmlns:a16="http://schemas.microsoft.com/office/drawing/2014/main" id="{E8550C26-664C-F3FC-1978-1221720543E1}"/>
              </a:ext>
            </a:extLst>
          </p:cNvPr>
          <p:cNvSpPr txBox="1">
            <a:spLocks/>
          </p:cNvSpPr>
          <p:nvPr/>
        </p:nvSpPr>
        <p:spPr>
          <a:xfrm>
            <a:off x="366948" y="1165237"/>
            <a:ext cx="11592171" cy="491246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da-DK" dirty="0">
              <a:solidFill>
                <a:srgbClr val="004B7F"/>
              </a:solidFill>
            </a:endParaRPr>
          </a:p>
        </p:txBody>
      </p:sp>
      <p:sp>
        <p:nvSpPr>
          <p:cNvPr id="6" name="TextBox 5">
            <a:extLst>
              <a:ext uri="{FF2B5EF4-FFF2-40B4-BE49-F238E27FC236}">
                <a16:creationId xmlns:a16="http://schemas.microsoft.com/office/drawing/2014/main" id="{9A0BABD6-B431-AA74-66FD-B3B6EC642CDB}"/>
              </a:ext>
            </a:extLst>
          </p:cNvPr>
          <p:cNvSpPr txBox="1"/>
          <p:nvPr/>
        </p:nvSpPr>
        <p:spPr>
          <a:xfrm>
            <a:off x="1038386" y="1165237"/>
            <a:ext cx="8136610" cy="2471702"/>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GB" sz="2000" b="1" dirty="0">
                <a:effectLst/>
                <a:latin typeface="Aptos" panose="020B0004020202020204" pitchFamily="34" charset="0"/>
                <a:ea typeface="Aptos" panose="020B0004020202020204" pitchFamily="34" charset="0"/>
                <a:cs typeface="Aptos" panose="020B0004020202020204" pitchFamily="34" charset="0"/>
              </a:rPr>
              <a:t>M – Mandatory </a:t>
            </a:r>
            <a:endParaRPr lang="en-GB" sz="2000" dirty="0">
              <a:effectLst/>
              <a:latin typeface="Aptos" panose="020B0004020202020204" pitchFamily="34" charset="0"/>
              <a:ea typeface="Aptos" panose="020B0004020202020204" pitchFamily="34" charset="0"/>
              <a:cs typeface="Aptos" panose="020B0004020202020204" pitchFamily="34" charset="0"/>
            </a:endParaRPr>
          </a:p>
          <a:p>
            <a:pPr marL="285750" indent="-285750">
              <a:lnSpc>
                <a:spcPct val="200000"/>
              </a:lnSpc>
              <a:buFont typeface="Arial" panose="020B0604020202020204" pitchFamily="34" charset="0"/>
              <a:buChar char="•"/>
            </a:pPr>
            <a:r>
              <a:rPr lang="en-GB" sz="2000" b="1" dirty="0" err="1">
                <a:effectLst/>
                <a:latin typeface="Aptos" panose="020B0004020202020204" pitchFamily="34" charset="0"/>
                <a:ea typeface="Aptos" panose="020B0004020202020204" pitchFamily="34" charset="0"/>
                <a:cs typeface="Aptos" panose="020B0004020202020204" pitchFamily="34" charset="0"/>
              </a:rPr>
              <a:t>Miap</a:t>
            </a:r>
            <a:r>
              <a:rPr lang="en-GB" sz="2000" b="1" dirty="0">
                <a:effectLst/>
                <a:latin typeface="Aptos" panose="020B0004020202020204" pitchFamily="34" charset="0"/>
                <a:ea typeface="Aptos" panose="020B0004020202020204" pitchFamily="34" charset="0"/>
                <a:cs typeface="Aptos" panose="020B0004020202020204" pitchFamily="34" charset="0"/>
              </a:rPr>
              <a:t> – Mandatory if applicable </a:t>
            </a:r>
          </a:p>
          <a:p>
            <a:pPr marL="285750" indent="-285750">
              <a:lnSpc>
                <a:spcPct val="200000"/>
              </a:lnSpc>
              <a:buFont typeface="Arial" panose="020B0604020202020204" pitchFamily="34" charset="0"/>
              <a:buChar char="•"/>
            </a:pPr>
            <a:r>
              <a:rPr lang="en-GB" sz="2000" b="1" dirty="0" err="1">
                <a:effectLst/>
                <a:latin typeface="Aptos" panose="020B0004020202020204" pitchFamily="34" charset="0"/>
                <a:ea typeface="Aptos" panose="020B0004020202020204" pitchFamily="34" charset="0"/>
                <a:cs typeface="Aptos" panose="020B0004020202020204" pitchFamily="34" charset="0"/>
              </a:rPr>
              <a:t>Miav</a:t>
            </a:r>
            <a:r>
              <a:rPr lang="en-GB" sz="2000" b="1" dirty="0">
                <a:effectLst/>
                <a:latin typeface="Aptos" panose="020B0004020202020204" pitchFamily="34" charset="0"/>
                <a:ea typeface="Aptos" panose="020B0004020202020204" pitchFamily="34" charset="0"/>
                <a:cs typeface="Aptos" panose="020B0004020202020204" pitchFamily="34" charset="0"/>
              </a:rPr>
              <a:t> – Mandatory if available</a:t>
            </a:r>
            <a:endParaRPr lang="en-DK" sz="2000" dirty="0">
              <a:effectLst/>
              <a:latin typeface="Aptos" panose="020B0004020202020204" pitchFamily="34" charset="0"/>
              <a:ea typeface="Aptos" panose="020B0004020202020204" pitchFamily="34" charset="0"/>
              <a:cs typeface="Aptos" panose="020B0004020202020204" pitchFamily="34" charset="0"/>
            </a:endParaRPr>
          </a:p>
          <a:p>
            <a:pPr marL="285750" indent="-285750">
              <a:lnSpc>
                <a:spcPct val="200000"/>
              </a:lnSpc>
              <a:buFont typeface="Arial" panose="020B0604020202020204" pitchFamily="34" charset="0"/>
              <a:buChar char="•"/>
            </a:pPr>
            <a:r>
              <a:rPr lang="en-GB" sz="2000" b="1" dirty="0">
                <a:effectLst/>
                <a:latin typeface="Aptos" panose="020B0004020202020204" pitchFamily="34" charset="0"/>
                <a:ea typeface="Aptos" panose="020B0004020202020204" pitchFamily="34" charset="0"/>
                <a:cs typeface="Aptos" panose="020B0004020202020204" pitchFamily="34" charset="0"/>
              </a:rPr>
              <a:t>V – Voluntary </a:t>
            </a:r>
            <a:endParaRPr lang="en-DK" sz="2000" dirty="0">
              <a:effectLst/>
              <a:latin typeface="Aptos" panose="020B0004020202020204" pitchFamily="34" charset="0"/>
              <a:ea typeface="Aptos" panose="020B0004020202020204" pitchFamily="34" charset="0"/>
              <a:cs typeface="Aptos" panose="020B0004020202020204" pitchFamily="34" charset="0"/>
            </a:endParaRPr>
          </a:p>
        </p:txBody>
      </p:sp>
      <p:sp>
        <p:nvSpPr>
          <p:cNvPr id="4" name="Rectangle 3">
            <a:extLst>
              <a:ext uri="{FF2B5EF4-FFF2-40B4-BE49-F238E27FC236}">
                <a16:creationId xmlns:a16="http://schemas.microsoft.com/office/drawing/2014/main" id="{BF6251C5-284E-AA0C-EAD7-7ED930BCF04A}"/>
              </a:ext>
            </a:extLst>
          </p:cNvPr>
          <p:cNvSpPr/>
          <p:nvPr/>
        </p:nvSpPr>
        <p:spPr>
          <a:xfrm>
            <a:off x="1038386" y="4302950"/>
            <a:ext cx="7098593" cy="1389813"/>
          </a:xfrm>
          <a:prstGeom prst="rect">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nSpc>
                <a:spcPct val="150000"/>
              </a:lnSpc>
              <a:buFont typeface="Arial" panose="020B0604020202020204" pitchFamily="34" charset="0"/>
              <a:buChar char="•"/>
            </a:pPr>
            <a:r>
              <a:rPr lang="en-GB" sz="2000" b="1" dirty="0">
                <a:solidFill>
                  <a:schemeClr val="accent6"/>
                </a:solidFill>
              </a:rPr>
              <a:t>Green</a:t>
            </a:r>
            <a:r>
              <a:rPr lang="en-GB" sz="2000" dirty="0">
                <a:solidFill>
                  <a:schemeClr val="tx1"/>
                </a:solidFill>
              </a:rPr>
              <a:t> – NECPR reporting exercise,</a:t>
            </a:r>
          </a:p>
          <a:p>
            <a:pPr marL="285750" indent="-285750">
              <a:lnSpc>
                <a:spcPct val="150000"/>
              </a:lnSpc>
              <a:buFont typeface="Arial" panose="020B0604020202020204" pitchFamily="34" charset="0"/>
              <a:buChar char="•"/>
            </a:pPr>
            <a:r>
              <a:rPr lang="en-GB" sz="2000" b="1" dirty="0">
                <a:solidFill>
                  <a:srgbClr val="FFC000"/>
                </a:solidFill>
              </a:rPr>
              <a:t>Yellow</a:t>
            </a:r>
            <a:r>
              <a:rPr lang="en-GB" sz="2000" dirty="0">
                <a:solidFill>
                  <a:schemeClr val="tx1"/>
                </a:solidFill>
              </a:rPr>
              <a:t> – Prefilled data </a:t>
            </a:r>
          </a:p>
          <a:p>
            <a:pPr marL="285750" indent="-285750">
              <a:lnSpc>
                <a:spcPct val="150000"/>
              </a:lnSpc>
              <a:buFont typeface="Arial" panose="020B0604020202020204" pitchFamily="34" charset="0"/>
              <a:buChar char="•"/>
            </a:pPr>
            <a:r>
              <a:rPr lang="en-GB" sz="2000" b="1" dirty="0">
                <a:solidFill>
                  <a:schemeClr val="accent2"/>
                </a:solidFill>
              </a:rPr>
              <a:t>Orange</a:t>
            </a:r>
            <a:r>
              <a:rPr lang="en-GB" sz="2000" dirty="0">
                <a:solidFill>
                  <a:schemeClr val="tx1"/>
                </a:solidFill>
              </a:rPr>
              <a:t> – Postfilled data </a:t>
            </a:r>
          </a:p>
          <a:p>
            <a:pPr marL="285750" indent="-285750">
              <a:lnSpc>
                <a:spcPct val="150000"/>
              </a:lnSpc>
              <a:buFont typeface="Arial" panose="020B0604020202020204" pitchFamily="34" charset="0"/>
              <a:buChar char="•"/>
            </a:pPr>
            <a:r>
              <a:rPr lang="en-GB" sz="2000" b="1" dirty="0">
                <a:solidFill>
                  <a:schemeClr val="accent1">
                    <a:lumMod val="60000"/>
                    <a:lumOff val="40000"/>
                  </a:schemeClr>
                </a:solidFill>
              </a:rPr>
              <a:t>Blue</a:t>
            </a:r>
            <a:r>
              <a:rPr lang="en-GB" sz="2000" dirty="0">
                <a:solidFill>
                  <a:schemeClr val="tx1"/>
                </a:solidFill>
              </a:rPr>
              <a:t> – Calculated cell which utilises other data in table.</a:t>
            </a:r>
          </a:p>
        </p:txBody>
      </p:sp>
    </p:spTree>
    <p:extLst>
      <p:ext uri="{BB962C8B-B14F-4D97-AF65-F5344CB8AC3E}">
        <p14:creationId xmlns:p14="http://schemas.microsoft.com/office/powerpoint/2010/main" val="215672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8D01B1-589F-97C6-6A61-7417A2A641BA}"/>
              </a:ext>
            </a:extLst>
          </p:cNvPr>
          <p:cNvSpPr txBox="1"/>
          <p:nvPr/>
        </p:nvSpPr>
        <p:spPr>
          <a:xfrm>
            <a:off x="3063602" y="1865400"/>
            <a:ext cx="5232266" cy="3539430"/>
          </a:xfrm>
          <a:prstGeom prst="rect">
            <a:avLst/>
          </a:prstGeom>
          <a:noFill/>
        </p:spPr>
        <p:txBody>
          <a:bodyPr wrap="none" rtlCol="0">
            <a:spAutoFit/>
          </a:bodyPr>
          <a:lstStyle/>
          <a:p>
            <a:pPr marL="457200" indent="-457200">
              <a:buFontTx/>
              <a:buChar char="-"/>
            </a:pPr>
            <a:r>
              <a:rPr lang="en-US" sz="3200" b="1">
                <a:solidFill>
                  <a:schemeClr val="accent4"/>
                </a:solidFill>
              </a:rPr>
              <a:t>Warning </a:t>
            </a:r>
            <a:r>
              <a:rPr lang="en-US" sz="3200" i="1"/>
              <a:t>(can release data)</a:t>
            </a:r>
          </a:p>
          <a:p>
            <a:pPr marL="457200" indent="-457200">
              <a:buFontTx/>
              <a:buChar char="-"/>
            </a:pPr>
            <a:endParaRPr lang="en-US" sz="3200" i="1"/>
          </a:p>
          <a:p>
            <a:pPr marL="457200" indent="-457200">
              <a:buFontTx/>
              <a:buChar char="-"/>
            </a:pPr>
            <a:endParaRPr lang="en-US" sz="3200" i="1"/>
          </a:p>
          <a:p>
            <a:pPr marL="457200" indent="-457200">
              <a:buFontTx/>
              <a:buChar char="-"/>
            </a:pPr>
            <a:r>
              <a:rPr lang="en-US" sz="3200" b="1">
                <a:solidFill>
                  <a:srgbClr val="FF0000"/>
                </a:solidFill>
              </a:rPr>
              <a:t>Error </a:t>
            </a:r>
            <a:r>
              <a:rPr lang="en-US" sz="3200" i="1"/>
              <a:t>(can release data)</a:t>
            </a:r>
          </a:p>
          <a:p>
            <a:pPr marL="457200" indent="-457200">
              <a:buFontTx/>
              <a:buChar char="-"/>
            </a:pPr>
            <a:endParaRPr lang="en-US" sz="3200" b="1"/>
          </a:p>
          <a:p>
            <a:pPr marL="457200" indent="-457200">
              <a:buFontTx/>
              <a:buChar char="-"/>
            </a:pPr>
            <a:endParaRPr lang="en-US" sz="3200" b="1"/>
          </a:p>
          <a:p>
            <a:pPr marL="457200" indent="-457200">
              <a:buFontTx/>
              <a:buChar char="-"/>
            </a:pPr>
            <a:r>
              <a:rPr lang="en-US" sz="3200" b="1">
                <a:solidFill>
                  <a:srgbClr val="FF0000"/>
                </a:solidFill>
              </a:rPr>
              <a:t>Blocker </a:t>
            </a:r>
            <a:r>
              <a:rPr lang="en-US" sz="3200" i="1"/>
              <a:t>(</a:t>
            </a:r>
            <a:r>
              <a:rPr lang="en-US" sz="3200" i="1" u="sng"/>
              <a:t>can’t</a:t>
            </a:r>
            <a:r>
              <a:rPr lang="en-US" sz="3200" i="1"/>
              <a:t> release data)</a:t>
            </a:r>
          </a:p>
        </p:txBody>
      </p:sp>
      <p:pic>
        <p:nvPicPr>
          <p:cNvPr id="13" name="Graphic 12" descr="Forbidden with solid fill">
            <a:extLst>
              <a:ext uri="{FF2B5EF4-FFF2-40B4-BE49-F238E27FC236}">
                <a16:creationId xmlns:a16="http://schemas.microsoft.com/office/drawing/2014/main" id="{D7399E47-80D4-3928-4022-C411CA6E23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59351" y="4694072"/>
            <a:ext cx="914400" cy="914400"/>
          </a:xfrm>
          <a:prstGeom prst="rect">
            <a:avLst/>
          </a:prstGeom>
        </p:spPr>
      </p:pic>
      <p:pic>
        <p:nvPicPr>
          <p:cNvPr id="21" name="Graphic 20" descr="Warning with solid fill">
            <a:extLst>
              <a:ext uri="{FF2B5EF4-FFF2-40B4-BE49-F238E27FC236}">
                <a16:creationId xmlns:a16="http://schemas.microsoft.com/office/drawing/2014/main" id="{9823F94B-F058-8352-F00D-9BC262AE7D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59351" y="3177915"/>
            <a:ext cx="914400" cy="914400"/>
          </a:xfrm>
          <a:prstGeom prst="rect">
            <a:avLst/>
          </a:prstGeom>
        </p:spPr>
      </p:pic>
      <p:pic>
        <p:nvPicPr>
          <p:cNvPr id="22" name="Graphic 21" descr="Warning with solid fill">
            <a:extLst>
              <a:ext uri="{FF2B5EF4-FFF2-40B4-BE49-F238E27FC236}">
                <a16:creationId xmlns:a16="http://schemas.microsoft.com/office/drawing/2014/main" id="{34E8E636-BDC8-40A3-64DF-30C0AE2BEC0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59351" y="1661758"/>
            <a:ext cx="914400" cy="914400"/>
          </a:xfrm>
          <a:prstGeom prst="rect">
            <a:avLst/>
          </a:prstGeom>
        </p:spPr>
      </p:pic>
      <p:sp>
        <p:nvSpPr>
          <p:cNvPr id="2" name="Text Placeholder 1">
            <a:extLst>
              <a:ext uri="{FF2B5EF4-FFF2-40B4-BE49-F238E27FC236}">
                <a16:creationId xmlns:a16="http://schemas.microsoft.com/office/drawing/2014/main" id="{074BE841-AE8F-D7CF-42E0-254B585FE9E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types of errors</a:t>
            </a:r>
          </a:p>
        </p:txBody>
      </p:sp>
    </p:spTree>
    <p:extLst>
      <p:ext uri="{BB962C8B-B14F-4D97-AF65-F5344CB8AC3E}">
        <p14:creationId xmlns:p14="http://schemas.microsoft.com/office/powerpoint/2010/main" val="3370507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886D5-723E-9C2C-2DE6-1A2C98497A67}"/>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5" name="Picture 4">
            <a:extLst>
              <a:ext uri="{FF2B5EF4-FFF2-40B4-BE49-F238E27FC236}">
                <a16:creationId xmlns:a16="http://schemas.microsoft.com/office/drawing/2014/main" id="{24B3BF75-D0A4-1F39-72EA-88BFE3B5342D}"/>
              </a:ext>
            </a:extLst>
          </p:cNvPr>
          <p:cNvPicPr>
            <a:picLocks noChangeAspect="1"/>
          </p:cNvPicPr>
          <p:nvPr/>
        </p:nvPicPr>
        <p:blipFill rotWithShape="1">
          <a:blip r:embed="rId2"/>
          <a:srcRect t="1295" r="2576"/>
          <a:stretch/>
        </p:blipFill>
        <p:spPr>
          <a:xfrm>
            <a:off x="0" y="905522"/>
            <a:ext cx="12163490" cy="5748780"/>
          </a:xfrm>
          <a:prstGeom prst="rect">
            <a:avLst/>
          </a:prstGeom>
        </p:spPr>
      </p:pic>
      <p:pic>
        <p:nvPicPr>
          <p:cNvPr id="6" name="Picture 5">
            <a:extLst>
              <a:ext uri="{FF2B5EF4-FFF2-40B4-BE49-F238E27FC236}">
                <a16:creationId xmlns:a16="http://schemas.microsoft.com/office/drawing/2014/main" id="{38605B2F-A8F3-026F-BD00-AF80C538C27D}"/>
              </a:ext>
            </a:extLst>
          </p:cNvPr>
          <p:cNvPicPr>
            <a:picLocks noChangeAspect="1"/>
          </p:cNvPicPr>
          <p:nvPr/>
        </p:nvPicPr>
        <p:blipFill rotWithShape="1">
          <a:blip r:embed="rId3"/>
          <a:srcRect l="63786" t="32881" r="25292" b="63466"/>
          <a:stretch/>
        </p:blipFill>
        <p:spPr>
          <a:xfrm>
            <a:off x="6953878" y="2743200"/>
            <a:ext cx="1620967" cy="302581"/>
          </a:xfrm>
          <a:prstGeom prst="rect">
            <a:avLst/>
          </a:prstGeom>
        </p:spPr>
      </p:pic>
      <p:sp>
        <p:nvSpPr>
          <p:cNvPr id="8" name="Rectangle 7">
            <a:extLst>
              <a:ext uri="{FF2B5EF4-FFF2-40B4-BE49-F238E27FC236}">
                <a16:creationId xmlns:a16="http://schemas.microsoft.com/office/drawing/2014/main" id="{41411E68-A637-E639-EE66-82CC1530D7A0}"/>
              </a:ext>
            </a:extLst>
          </p:cNvPr>
          <p:cNvSpPr/>
          <p:nvPr/>
        </p:nvSpPr>
        <p:spPr>
          <a:xfrm>
            <a:off x="1775534" y="4225771"/>
            <a:ext cx="239697" cy="1597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9" name="Rectangle 8">
            <a:extLst>
              <a:ext uri="{FF2B5EF4-FFF2-40B4-BE49-F238E27FC236}">
                <a16:creationId xmlns:a16="http://schemas.microsoft.com/office/drawing/2014/main" id="{06699EB6-047E-56DF-7DE0-3C544A8346BB}"/>
              </a:ext>
            </a:extLst>
          </p:cNvPr>
          <p:cNvSpPr/>
          <p:nvPr/>
        </p:nvSpPr>
        <p:spPr>
          <a:xfrm>
            <a:off x="1808085" y="4848688"/>
            <a:ext cx="239697" cy="1597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 name="Rectangle 9">
            <a:extLst>
              <a:ext uri="{FF2B5EF4-FFF2-40B4-BE49-F238E27FC236}">
                <a16:creationId xmlns:a16="http://schemas.microsoft.com/office/drawing/2014/main" id="{FC5F2F24-C687-9EEB-27CE-469D9E970F14}"/>
              </a:ext>
            </a:extLst>
          </p:cNvPr>
          <p:cNvSpPr/>
          <p:nvPr/>
        </p:nvSpPr>
        <p:spPr>
          <a:xfrm>
            <a:off x="1769615" y="5471605"/>
            <a:ext cx="239697" cy="1597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1" name="Rectangle 10">
            <a:extLst>
              <a:ext uri="{FF2B5EF4-FFF2-40B4-BE49-F238E27FC236}">
                <a16:creationId xmlns:a16="http://schemas.microsoft.com/office/drawing/2014/main" id="{B8401ED3-B5C7-65D2-4F89-865A15B8FC54}"/>
              </a:ext>
            </a:extLst>
          </p:cNvPr>
          <p:cNvSpPr/>
          <p:nvPr/>
        </p:nvSpPr>
        <p:spPr>
          <a:xfrm>
            <a:off x="1772574" y="4546900"/>
            <a:ext cx="239697" cy="15979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2" name="Rectangle 11">
            <a:extLst>
              <a:ext uri="{FF2B5EF4-FFF2-40B4-BE49-F238E27FC236}">
                <a16:creationId xmlns:a16="http://schemas.microsoft.com/office/drawing/2014/main" id="{F1E2B7DB-20F2-F633-4353-F4C0B192D674}"/>
              </a:ext>
            </a:extLst>
          </p:cNvPr>
          <p:cNvSpPr/>
          <p:nvPr/>
        </p:nvSpPr>
        <p:spPr>
          <a:xfrm>
            <a:off x="1769614" y="5189899"/>
            <a:ext cx="239697" cy="15979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3" name="Rectangle 12">
            <a:extLst>
              <a:ext uri="{FF2B5EF4-FFF2-40B4-BE49-F238E27FC236}">
                <a16:creationId xmlns:a16="http://schemas.microsoft.com/office/drawing/2014/main" id="{7DE6568B-98EA-E5E6-691F-04AD58A54FEC}"/>
              </a:ext>
            </a:extLst>
          </p:cNvPr>
          <p:cNvSpPr/>
          <p:nvPr/>
        </p:nvSpPr>
        <p:spPr>
          <a:xfrm>
            <a:off x="1748899" y="5792680"/>
            <a:ext cx="239697" cy="15979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Rectangle 13">
            <a:extLst>
              <a:ext uri="{FF2B5EF4-FFF2-40B4-BE49-F238E27FC236}">
                <a16:creationId xmlns:a16="http://schemas.microsoft.com/office/drawing/2014/main" id="{F2010969-1414-BC28-A599-1978A31033FF}"/>
              </a:ext>
            </a:extLst>
          </p:cNvPr>
          <p:cNvSpPr/>
          <p:nvPr/>
        </p:nvSpPr>
        <p:spPr>
          <a:xfrm>
            <a:off x="3774489" y="3225156"/>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5" name="Rectangle 14">
            <a:extLst>
              <a:ext uri="{FF2B5EF4-FFF2-40B4-BE49-F238E27FC236}">
                <a16:creationId xmlns:a16="http://schemas.microsoft.com/office/drawing/2014/main" id="{E2EA4B36-6A63-F03A-669A-31040C06FF2E}"/>
              </a:ext>
            </a:extLst>
          </p:cNvPr>
          <p:cNvSpPr/>
          <p:nvPr/>
        </p:nvSpPr>
        <p:spPr>
          <a:xfrm>
            <a:off x="5762725" y="3198868"/>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6" name="Rectangle 15">
            <a:extLst>
              <a:ext uri="{FF2B5EF4-FFF2-40B4-BE49-F238E27FC236}">
                <a16:creationId xmlns:a16="http://schemas.microsoft.com/office/drawing/2014/main" id="{5CE400D9-DDF5-64B3-227B-4DB7DE606B38}"/>
              </a:ext>
            </a:extLst>
          </p:cNvPr>
          <p:cNvSpPr/>
          <p:nvPr/>
        </p:nvSpPr>
        <p:spPr>
          <a:xfrm>
            <a:off x="6563194" y="3225155"/>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 name="Rectangle 16">
            <a:extLst>
              <a:ext uri="{FF2B5EF4-FFF2-40B4-BE49-F238E27FC236}">
                <a16:creationId xmlns:a16="http://schemas.microsoft.com/office/drawing/2014/main" id="{C8021951-18D8-1515-98DF-B3808DEB61F5}"/>
              </a:ext>
            </a:extLst>
          </p:cNvPr>
          <p:cNvSpPr/>
          <p:nvPr/>
        </p:nvSpPr>
        <p:spPr>
          <a:xfrm>
            <a:off x="7968989" y="3225154"/>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 name="Rectangle 17">
            <a:extLst>
              <a:ext uri="{FF2B5EF4-FFF2-40B4-BE49-F238E27FC236}">
                <a16:creationId xmlns:a16="http://schemas.microsoft.com/office/drawing/2014/main" id="{E7C5C027-1EED-C39E-8101-7136974FD6BB}"/>
              </a:ext>
            </a:extLst>
          </p:cNvPr>
          <p:cNvSpPr/>
          <p:nvPr/>
        </p:nvSpPr>
        <p:spPr>
          <a:xfrm>
            <a:off x="8690298" y="3225153"/>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Rectangle 18">
            <a:extLst>
              <a:ext uri="{FF2B5EF4-FFF2-40B4-BE49-F238E27FC236}">
                <a16:creationId xmlns:a16="http://schemas.microsoft.com/office/drawing/2014/main" id="{3E8F3578-611A-0D46-918D-D80EFEE8899C}"/>
              </a:ext>
            </a:extLst>
          </p:cNvPr>
          <p:cNvSpPr/>
          <p:nvPr/>
        </p:nvSpPr>
        <p:spPr>
          <a:xfrm>
            <a:off x="1305556" y="3242239"/>
            <a:ext cx="158320" cy="194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endParaRPr lang="en-DK"/>
          </a:p>
        </p:txBody>
      </p:sp>
      <p:cxnSp>
        <p:nvCxnSpPr>
          <p:cNvPr id="20" name="Straight Arrow Connector 19">
            <a:extLst>
              <a:ext uri="{FF2B5EF4-FFF2-40B4-BE49-F238E27FC236}">
                <a16:creationId xmlns:a16="http://schemas.microsoft.com/office/drawing/2014/main" id="{907A83A7-9CAC-7820-436B-53F2E53723A0}"/>
              </a:ext>
            </a:extLst>
          </p:cNvPr>
          <p:cNvCxnSpPr>
            <a:cxnSpLocks/>
          </p:cNvCxnSpPr>
          <p:nvPr/>
        </p:nvCxnSpPr>
        <p:spPr>
          <a:xfrm flipV="1">
            <a:off x="7291117" y="3045781"/>
            <a:ext cx="0" cy="140610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D39B967F-9EE0-8EE7-2637-78775388DC5B}"/>
              </a:ext>
            </a:extLst>
          </p:cNvPr>
          <p:cNvSpPr/>
          <p:nvPr/>
        </p:nvSpPr>
        <p:spPr>
          <a:xfrm>
            <a:off x="6953878" y="2743200"/>
            <a:ext cx="672030" cy="38174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23" name="Picture 22">
            <a:extLst>
              <a:ext uri="{FF2B5EF4-FFF2-40B4-BE49-F238E27FC236}">
                <a16:creationId xmlns:a16="http://schemas.microsoft.com/office/drawing/2014/main" id="{D8103481-FE7E-0E8F-8CB3-413B5967B677}"/>
              </a:ext>
            </a:extLst>
          </p:cNvPr>
          <p:cNvPicPr>
            <a:picLocks noChangeAspect="1"/>
          </p:cNvPicPr>
          <p:nvPr/>
        </p:nvPicPr>
        <p:blipFill>
          <a:blip r:embed="rId4"/>
          <a:stretch>
            <a:fillRect/>
          </a:stretch>
        </p:blipFill>
        <p:spPr>
          <a:xfrm>
            <a:off x="1509712" y="2663199"/>
            <a:ext cx="9172575" cy="2038350"/>
          </a:xfrm>
          <a:prstGeom prst="rect">
            <a:avLst/>
          </a:prstGeom>
        </p:spPr>
      </p:pic>
      <p:sp>
        <p:nvSpPr>
          <p:cNvPr id="24" name="Rectangle 23">
            <a:extLst>
              <a:ext uri="{FF2B5EF4-FFF2-40B4-BE49-F238E27FC236}">
                <a16:creationId xmlns:a16="http://schemas.microsoft.com/office/drawing/2014/main" id="{5031BBEA-A08F-07B8-9E82-082E5D473F87}"/>
              </a:ext>
            </a:extLst>
          </p:cNvPr>
          <p:cNvSpPr/>
          <p:nvPr/>
        </p:nvSpPr>
        <p:spPr>
          <a:xfrm>
            <a:off x="9051636" y="4152116"/>
            <a:ext cx="743331" cy="43835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26" name="Picture 25">
            <a:extLst>
              <a:ext uri="{FF2B5EF4-FFF2-40B4-BE49-F238E27FC236}">
                <a16:creationId xmlns:a16="http://schemas.microsoft.com/office/drawing/2014/main" id="{64C5F826-9D6E-8852-B4AD-02D6F615349D}"/>
              </a:ext>
            </a:extLst>
          </p:cNvPr>
          <p:cNvPicPr>
            <a:picLocks noChangeAspect="1"/>
          </p:cNvPicPr>
          <p:nvPr/>
        </p:nvPicPr>
        <p:blipFill>
          <a:blip r:embed="rId5"/>
          <a:stretch>
            <a:fillRect/>
          </a:stretch>
        </p:blipFill>
        <p:spPr>
          <a:xfrm>
            <a:off x="8574845" y="1228436"/>
            <a:ext cx="3486150" cy="981075"/>
          </a:xfrm>
          <a:prstGeom prst="rect">
            <a:avLst/>
          </a:prstGeom>
        </p:spPr>
      </p:pic>
      <p:pic>
        <p:nvPicPr>
          <p:cNvPr id="28" name="Picture 27">
            <a:extLst>
              <a:ext uri="{FF2B5EF4-FFF2-40B4-BE49-F238E27FC236}">
                <a16:creationId xmlns:a16="http://schemas.microsoft.com/office/drawing/2014/main" id="{EE7204EC-4B5C-DD0F-3E6E-28BDF52EDE0E}"/>
              </a:ext>
            </a:extLst>
          </p:cNvPr>
          <p:cNvPicPr>
            <a:picLocks noChangeAspect="1"/>
          </p:cNvPicPr>
          <p:nvPr/>
        </p:nvPicPr>
        <p:blipFill>
          <a:blip r:embed="rId6"/>
          <a:stretch>
            <a:fillRect/>
          </a:stretch>
        </p:blipFill>
        <p:spPr>
          <a:xfrm>
            <a:off x="8574845" y="1093330"/>
            <a:ext cx="3457575" cy="1343025"/>
          </a:xfrm>
          <a:prstGeom prst="rect">
            <a:avLst/>
          </a:prstGeom>
        </p:spPr>
      </p:pic>
      <p:pic>
        <p:nvPicPr>
          <p:cNvPr id="30" name="Picture 29">
            <a:extLst>
              <a:ext uri="{FF2B5EF4-FFF2-40B4-BE49-F238E27FC236}">
                <a16:creationId xmlns:a16="http://schemas.microsoft.com/office/drawing/2014/main" id="{4C48E3BB-CDA8-83A9-7FC4-EA7CD392D2EB}"/>
              </a:ext>
            </a:extLst>
          </p:cNvPr>
          <p:cNvPicPr>
            <a:picLocks noChangeAspect="1"/>
          </p:cNvPicPr>
          <p:nvPr/>
        </p:nvPicPr>
        <p:blipFill>
          <a:blip r:embed="rId7"/>
          <a:stretch>
            <a:fillRect/>
          </a:stretch>
        </p:blipFill>
        <p:spPr>
          <a:xfrm>
            <a:off x="10984216" y="2768413"/>
            <a:ext cx="709768" cy="286512"/>
          </a:xfrm>
          <a:prstGeom prst="rect">
            <a:avLst/>
          </a:prstGeom>
        </p:spPr>
      </p:pic>
      <p:sp>
        <p:nvSpPr>
          <p:cNvPr id="31" name="Rectangle 30">
            <a:extLst>
              <a:ext uri="{FF2B5EF4-FFF2-40B4-BE49-F238E27FC236}">
                <a16:creationId xmlns:a16="http://schemas.microsoft.com/office/drawing/2014/main" id="{3C8551DA-E3C4-9486-94F2-0D0532E0365C}"/>
              </a:ext>
            </a:extLst>
          </p:cNvPr>
          <p:cNvSpPr/>
          <p:nvPr/>
        </p:nvSpPr>
        <p:spPr>
          <a:xfrm>
            <a:off x="10959797" y="2723158"/>
            <a:ext cx="743331" cy="36834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Text Placeholder 1">
            <a:extLst>
              <a:ext uri="{FF2B5EF4-FFF2-40B4-BE49-F238E27FC236}">
                <a16:creationId xmlns:a16="http://schemas.microsoft.com/office/drawing/2014/main" id="{96AF3E51-34B3-AF85-9022-9A56ECE7FF00}"/>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how to run the automated quality checks</a:t>
            </a:r>
          </a:p>
        </p:txBody>
      </p:sp>
    </p:spTree>
    <p:extLst>
      <p:ext uri="{BB962C8B-B14F-4D97-AF65-F5344CB8AC3E}">
        <p14:creationId xmlns:p14="http://schemas.microsoft.com/office/powerpoint/2010/main" val="253185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24"/>
                                        </p:tgtEl>
                                      </p:cBhvr>
                                    </p:animEffect>
                                    <p:set>
                                      <p:cBhvr>
                                        <p:cTn id="15" dur="1" fill="hold">
                                          <p:stCondLst>
                                            <p:cond delay="499"/>
                                          </p:stCondLst>
                                        </p:cTn>
                                        <p:tgtEl>
                                          <p:spTgt spid="24"/>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23"/>
                                        </p:tgtEl>
                                      </p:cBhvr>
                                    </p:animEffect>
                                    <p:set>
                                      <p:cBhvr>
                                        <p:cTn id="18" dur="1" fill="hold">
                                          <p:stCondLst>
                                            <p:cond delay="499"/>
                                          </p:stCondLst>
                                        </p:cTn>
                                        <p:tgtEl>
                                          <p:spTgt spid="2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3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886D5-723E-9C2C-2DE6-1A2C98497A67}"/>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4" name="Picture 3">
            <a:extLst>
              <a:ext uri="{FF2B5EF4-FFF2-40B4-BE49-F238E27FC236}">
                <a16:creationId xmlns:a16="http://schemas.microsoft.com/office/drawing/2014/main" id="{44929A8E-7F43-867F-359E-B6E12FED03C4}"/>
              </a:ext>
            </a:extLst>
          </p:cNvPr>
          <p:cNvPicPr>
            <a:picLocks noChangeAspect="1"/>
          </p:cNvPicPr>
          <p:nvPr/>
        </p:nvPicPr>
        <p:blipFill rotWithShape="1">
          <a:blip r:embed="rId2"/>
          <a:srcRect t="1295" r="2576"/>
          <a:stretch/>
        </p:blipFill>
        <p:spPr>
          <a:xfrm>
            <a:off x="0" y="905522"/>
            <a:ext cx="12163490" cy="5748780"/>
          </a:xfrm>
          <a:prstGeom prst="rect">
            <a:avLst/>
          </a:prstGeom>
        </p:spPr>
      </p:pic>
      <p:cxnSp>
        <p:nvCxnSpPr>
          <p:cNvPr id="3" name="Straight Arrow Connector 2">
            <a:extLst>
              <a:ext uri="{FF2B5EF4-FFF2-40B4-BE49-F238E27FC236}">
                <a16:creationId xmlns:a16="http://schemas.microsoft.com/office/drawing/2014/main" id="{14028749-2EE3-4482-A0C0-CFD82E0BCF79}"/>
              </a:ext>
            </a:extLst>
          </p:cNvPr>
          <p:cNvCxnSpPr>
            <a:cxnSpLocks/>
          </p:cNvCxnSpPr>
          <p:nvPr/>
        </p:nvCxnSpPr>
        <p:spPr>
          <a:xfrm>
            <a:off x="5850244" y="2216727"/>
            <a:ext cx="0" cy="9605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3706812-08AC-6149-2DEC-70DE03E12A29}"/>
              </a:ext>
            </a:extLst>
          </p:cNvPr>
          <p:cNvCxnSpPr>
            <a:cxnSpLocks/>
          </p:cNvCxnSpPr>
          <p:nvPr/>
        </p:nvCxnSpPr>
        <p:spPr>
          <a:xfrm flipH="1">
            <a:off x="2115127" y="4322619"/>
            <a:ext cx="47006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9FEC3B0-BD1E-A608-7116-E9ACA7F0447E}"/>
              </a:ext>
            </a:extLst>
          </p:cNvPr>
          <p:cNvPicPr>
            <a:picLocks noChangeAspect="1"/>
          </p:cNvPicPr>
          <p:nvPr/>
        </p:nvPicPr>
        <p:blipFill rotWithShape="1">
          <a:blip r:embed="rId2"/>
          <a:srcRect l="14241" t="58776" r="83762" b="38660"/>
          <a:stretch/>
        </p:blipFill>
        <p:spPr>
          <a:xfrm>
            <a:off x="11364544" y="4880643"/>
            <a:ext cx="249382" cy="149334"/>
          </a:xfrm>
          <a:prstGeom prst="rect">
            <a:avLst/>
          </a:prstGeom>
        </p:spPr>
      </p:pic>
      <p:cxnSp>
        <p:nvCxnSpPr>
          <p:cNvPr id="12" name="Straight Arrow Connector 11">
            <a:extLst>
              <a:ext uri="{FF2B5EF4-FFF2-40B4-BE49-F238E27FC236}">
                <a16:creationId xmlns:a16="http://schemas.microsoft.com/office/drawing/2014/main" id="{91F14D81-D712-E574-140C-A8B1922C2DEF}"/>
              </a:ext>
            </a:extLst>
          </p:cNvPr>
          <p:cNvCxnSpPr>
            <a:cxnSpLocks/>
          </p:cNvCxnSpPr>
          <p:nvPr/>
        </p:nvCxnSpPr>
        <p:spPr>
          <a:xfrm>
            <a:off x="10888872" y="4941456"/>
            <a:ext cx="4756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CDC2FC-E415-15C1-19F7-168496AF7CA8}"/>
              </a:ext>
            </a:extLst>
          </p:cNvPr>
          <p:cNvSpPr txBox="1"/>
          <p:nvPr/>
        </p:nvSpPr>
        <p:spPr>
          <a:xfrm>
            <a:off x="4902408" y="1822418"/>
            <a:ext cx="2045047" cy="369332"/>
          </a:xfrm>
          <a:prstGeom prst="rect">
            <a:avLst/>
          </a:prstGeom>
          <a:noFill/>
        </p:spPr>
        <p:txBody>
          <a:bodyPr wrap="none" rtlCol="0">
            <a:spAutoFit/>
          </a:bodyPr>
          <a:lstStyle/>
          <a:p>
            <a:r>
              <a:rPr lang="en-US" b="1">
                <a:solidFill>
                  <a:srgbClr val="FF0000"/>
                </a:solidFill>
              </a:rPr>
              <a:t>1. Table level errors</a:t>
            </a:r>
            <a:endParaRPr lang="en-DK" b="1">
              <a:solidFill>
                <a:srgbClr val="FF0000"/>
              </a:solidFill>
            </a:endParaRPr>
          </a:p>
        </p:txBody>
      </p:sp>
      <p:sp>
        <p:nvSpPr>
          <p:cNvPr id="15" name="TextBox 14">
            <a:extLst>
              <a:ext uri="{FF2B5EF4-FFF2-40B4-BE49-F238E27FC236}">
                <a16:creationId xmlns:a16="http://schemas.microsoft.com/office/drawing/2014/main" id="{392D89F9-31A6-CB2B-6E32-CC915422ECAB}"/>
              </a:ext>
            </a:extLst>
          </p:cNvPr>
          <p:cNvSpPr txBox="1"/>
          <p:nvPr/>
        </p:nvSpPr>
        <p:spPr>
          <a:xfrm>
            <a:off x="2585189" y="4137953"/>
            <a:ext cx="2202591" cy="369332"/>
          </a:xfrm>
          <a:prstGeom prst="rect">
            <a:avLst/>
          </a:prstGeom>
          <a:noFill/>
        </p:spPr>
        <p:txBody>
          <a:bodyPr wrap="none" rtlCol="0">
            <a:spAutoFit/>
          </a:bodyPr>
          <a:lstStyle/>
          <a:p>
            <a:r>
              <a:rPr lang="en-US" b="1">
                <a:solidFill>
                  <a:srgbClr val="FF0000"/>
                </a:solidFill>
              </a:rPr>
              <a:t>2. Record level errors</a:t>
            </a:r>
            <a:endParaRPr lang="en-DK" b="1">
              <a:solidFill>
                <a:srgbClr val="FF0000"/>
              </a:solidFill>
            </a:endParaRPr>
          </a:p>
        </p:txBody>
      </p:sp>
      <p:sp>
        <p:nvSpPr>
          <p:cNvPr id="16" name="TextBox 15">
            <a:extLst>
              <a:ext uri="{FF2B5EF4-FFF2-40B4-BE49-F238E27FC236}">
                <a16:creationId xmlns:a16="http://schemas.microsoft.com/office/drawing/2014/main" id="{6398C9C0-2E37-01E0-4705-0EBE6D47B1A9}"/>
              </a:ext>
            </a:extLst>
          </p:cNvPr>
          <p:cNvSpPr txBox="1"/>
          <p:nvPr/>
        </p:nvSpPr>
        <p:spPr>
          <a:xfrm>
            <a:off x="9071580" y="4749441"/>
            <a:ext cx="1817292" cy="369332"/>
          </a:xfrm>
          <a:prstGeom prst="rect">
            <a:avLst/>
          </a:prstGeom>
          <a:noFill/>
        </p:spPr>
        <p:txBody>
          <a:bodyPr wrap="none" rtlCol="0">
            <a:spAutoFit/>
          </a:bodyPr>
          <a:lstStyle/>
          <a:p>
            <a:r>
              <a:rPr lang="en-US" b="1">
                <a:solidFill>
                  <a:srgbClr val="FF0000"/>
                </a:solidFill>
              </a:rPr>
              <a:t>3. Specific errors</a:t>
            </a:r>
            <a:endParaRPr lang="en-DK" b="1">
              <a:solidFill>
                <a:srgbClr val="FF0000"/>
              </a:solidFill>
            </a:endParaRPr>
          </a:p>
        </p:txBody>
      </p:sp>
      <p:sp>
        <p:nvSpPr>
          <p:cNvPr id="18" name="Rectangle 17">
            <a:extLst>
              <a:ext uri="{FF2B5EF4-FFF2-40B4-BE49-F238E27FC236}">
                <a16:creationId xmlns:a16="http://schemas.microsoft.com/office/drawing/2014/main" id="{4C6DF848-8032-D846-D81A-C9310EB981F7}"/>
              </a:ext>
            </a:extLst>
          </p:cNvPr>
          <p:cNvSpPr/>
          <p:nvPr/>
        </p:nvSpPr>
        <p:spPr>
          <a:xfrm>
            <a:off x="4618183" y="3177309"/>
            <a:ext cx="1306748" cy="25169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Rectangle 18">
            <a:extLst>
              <a:ext uri="{FF2B5EF4-FFF2-40B4-BE49-F238E27FC236}">
                <a16:creationId xmlns:a16="http://schemas.microsoft.com/office/drawing/2014/main" id="{E0B7F26F-8BD3-C1AF-B35B-5E944296354F}"/>
              </a:ext>
            </a:extLst>
          </p:cNvPr>
          <p:cNvSpPr/>
          <p:nvPr/>
        </p:nvSpPr>
        <p:spPr>
          <a:xfrm>
            <a:off x="1483509" y="4137953"/>
            <a:ext cx="10197315" cy="3419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 name="Rectangle 19">
            <a:extLst>
              <a:ext uri="{FF2B5EF4-FFF2-40B4-BE49-F238E27FC236}">
                <a16:creationId xmlns:a16="http://schemas.microsoft.com/office/drawing/2014/main" id="{8A3C8A8F-693D-3822-D8BB-2A42A665A74E}"/>
              </a:ext>
            </a:extLst>
          </p:cNvPr>
          <p:cNvSpPr/>
          <p:nvPr/>
        </p:nvSpPr>
        <p:spPr>
          <a:xfrm>
            <a:off x="8467725" y="4786325"/>
            <a:ext cx="3213099" cy="2952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Text Placeholder 1">
            <a:extLst>
              <a:ext uri="{FF2B5EF4-FFF2-40B4-BE49-F238E27FC236}">
                <a16:creationId xmlns:a16="http://schemas.microsoft.com/office/drawing/2014/main" id="{53AF10D0-663E-C23A-7B37-E9FDF306A33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reviewing errors in the dataflow</a:t>
            </a:r>
          </a:p>
        </p:txBody>
      </p:sp>
    </p:spTree>
    <p:extLst>
      <p:ext uri="{BB962C8B-B14F-4D97-AF65-F5344CB8AC3E}">
        <p14:creationId xmlns:p14="http://schemas.microsoft.com/office/powerpoint/2010/main" val="3188239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929A8E-7F43-867F-359E-B6E12FED03C4}"/>
              </a:ext>
            </a:extLst>
          </p:cNvPr>
          <p:cNvPicPr>
            <a:picLocks noChangeAspect="1"/>
          </p:cNvPicPr>
          <p:nvPr/>
        </p:nvPicPr>
        <p:blipFill rotWithShape="1">
          <a:blip r:embed="rId2"/>
          <a:srcRect t="1295" r="2576"/>
          <a:stretch/>
        </p:blipFill>
        <p:spPr>
          <a:xfrm>
            <a:off x="0" y="905522"/>
            <a:ext cx="12163490" cy="5748780"/>
          </a:xfrm>
          <a:prstGeom prst="rect">
            <a:avLst/>
          </a:prstGeom>
        </p:spPr>
      </p:pic>
      <p:cxnSp>
        <p:nvCxnSpPr>
          <p:cNvPr id="3" name="Straight Arrow Connector 2">
            <a:extLst>
              <a:ext uri="{FF2B5EF4-FFF2-40B4-BE49-F238E27FC236}">
                <a16:creationId xmlns:a16="http://schemas.microsoft.com/office/drawing/2014/main" id="{14028749-2EE3-4482-A0C0-CFD82E0BCF79}"/>
              </a:ext>
            </a:extLst>
          </p:cNvPr>
          <p:cNvCxnSpPr>
            <a:cxnSpLocks/>
          </p:cNvCxnSpPr>
          <p:nvPr/>
        </p:nvCxnSpPr>
        <p:spPr>
          <a:xfrm>
            <a:off x="8129747" y="1711459"/>
            <a:ext cx="0" cy="9605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C6DF848-8032-D846-D81A-C9310EB981F7}"/>
              </a:ext>
            </a:extLst>
          </p:cNvPr>
          <p:cNvSpPr/>
          <p:nvPr/>
        </p:nvSpPr>
        <p:spPr>
          <a:xfrm>
            <a:off x="7640534" y="2782512"/>
            <a:ext cx="963970" cy="25169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TextBox 13">
            <a:extLst>
              <a:ext uri="{FF2B5EF4-FFF2-40B4-BE49-F238E27FC236}">
                <a16:creationId xmlns:a16="http://schemas.microsoft.com/office/drawing/2014/main" id="{3CCDC2FC-E415-15C1-19F7-168496AF7CA8}"/>
              </a:ext>
            </a:extLst>
          </p:cNvPr>
          <p:cNvSpPr txBox="1"/>
          <p:nvPr/>
        </p:nvSpPr>
        <p:spPr>
          <a:xfrm>
            <a:off x="6396227" y="1342127"/>
            <a:ext cx="3467039" cy="369332"/>
          </a:xfrm>
          <a:prstGeom prst="rect">
            <a:avLst/>
          </a:prstGeom>
          <a:noFill/>
        </p:spPr>
        <p:txBody>
          <a:bodyPr wrap="none" rtlCol="0">
            <a:spAutoFit/>
          </a:bodyPr>
          <a:lstStyle/>
          <a:p>
            <a:r>
              <a:rPr lang="en-US" b="1">
                <a:solidFill>
                  <a:srgbClr val="FF0000"/>
                </a:solidFill>
              </a:rPr>
              <a:t>To view all validations in dataflow</a:t>
            </a:r>
            <a:endParaRPr lang="en-DK" b="1">
              <a:solidFill>
                <a:srgbClr val="FF0000"/>
              </a:solidFill>
            </a:endParaRPr>
          </a:p>
        </p:txBody>
      </p:sp>
      <p:grpSp>
        <p:nvGrpSpPr>
          <p:cNvPr id="24" name="Group 23">
            <a:extLst>
              <a:ext uri="{FF2B5EF4-FFF2-40B4-BE49-F238E27FC236}">
                <a16:creationId xmlns:a16="http://schemas.microsoft.com/office/drawing/2014/main" id="{E245F2A8-455D-8EB1-9E2B-B63DAB6EC58F}"/>
              </a:ext>
            </a:extLst>
          </p:cNvPr>
          <p:cNvGrpSpPr/>
          <p:nvPr/>
        </p:nvGrpSpPr>
        <p:grpSpPr>
          <a:xfrm>
            <a:off x="742188" y="1092880"/>
            <a:ext cx="10707624" cy="5236213"/>
            <a:chOff x="742188" y="1092880"/>
            <a:chExt cx="10707624" cy="5236213"/>
          </a:xfrm>
        </p:grpSpPr>
        <p:pic>
          <p:nvPicPr>
            <p:cNvPr id="10" name="Picture 9">
              <a:extLst>
                <a:ext uri="{FF2B5EF4-FFF2-40B4-BE49-F238E27FC236}">
                  <a16:creationId xmlns:a16="http://schemas.microsoft.com/office/drawing/2014/main" id="{51E1FCBA-B0F5-4F74-67AC-C2FF3C00C78B}"/>
                </a:ext>
              </a:extLst>
            </p:cNvPr>
            <p:cNvPicPr>
              <a:picLocks noChangeAspect="1"/>
            </p:cNvPicPr>
            <p:nvPr/>
          </p:nvPicPr>
          <p:blipFill>
            <a:blip r:embed="rId3"/>
            <a:stretch>
              <a:fillRect/>
            </a:stretch>
          </p:blipFill>
          <p:spPr>
            <a:xfrm>
              <a:off x="742188" y="1092880"/>
              <a:ext cx="10707624" cy="5236213"/>
            </a:xfrm>
            <a:prstGeom prst="rect">
              <a:avLst/>
            </a:prstGeom>
          </p:spPr>
        </p:pic>
        <p:sp>
          <p:nvSpPr>
            <p:cNvPr id="13" name="Rectangle 12">
              <a:extLst>
                <a:ext uri="{FF2B5EF4-FFF2-40B4-BE49-F238E27FC236}">
                  <a16:creationId xmlns:a16="http://schemas.microsoft.com/office/drawing/2014/main" id="{CEC111AF-208A-07A9-592F-AC112AF5A876}"/>
                </a:ext>
              </a:extLst>
            </p:cNvPr>
            <p:cNvSpPr/>
            <p:nvPr/>
          </p:nvSpPr>
          <p:spPr>
            <a:xfrm>
              <a:off x="848608" y="5961622"/>
              <a:ext cx="1208792" cy="29287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21" name="Straight Connector 20">
              <a:extLst>
                <a:ext uri="{FF2B5EF4-FFF2-40B4-BE49-F238E27FC236}">
                  <a16:creationId xmlns:a16="http://schemas.microsoft.com/office/drawing/2014/main" id="{809E3FE1-36C7-0686-4DC3-37BBD356F4BE}"/>
                </a:ext>
              </a:extLst>
            </p:cNvPr>
            <p:cNvCxnSpPr/>
            <p:nvPr/>
          </p:nvCxnSpPr>
          <p:spPr>
            <a:xfrm>
              <a:off x="848608" y="1874520"/>
              <a:ext cx="924636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D01FD1A-0128-6497-3AB4-878CE3022E83}"/>
                </a:ext>
              </a:extLst>
            </p:cNvPr>
            <p:cNvSpPr txBox="1"/>
            <p:nvPr/>
          </p:nvSpPr>
          <p:spPr>
            <a:xfrm>
              <a:off x="4091472" y="1157461"/>
              <a:ext cx="3182153" cy="369332"/>
            </a:xfrm>
            <a:prstGeom prst="rect">
              <a:avLst/>
            </a:prstGeom>
            <a:noFill/>
          </p:spPr>
          <p:txBody>
            <a:bodyPr wrap="none" rtlCol="0">
              <a:spAutoFit/>
            </a:bodyPr>
            <a:lstStyle/>
            <a:p>
              <a:r>
                <a:rPr lang="en-US" b="1">
                  <a:solidFill>
                    <a:srgbClr val="FF0000"/>
                  </a:solidFill>
                </a:rPr>
                <a:t>Filtering options available here</a:t>
              </a:r>
              <a:endParaRPr lang="en-DK" b="1">
                <a:solidFill>
                  <a:srgbClr val="FF0000"/>
                </a:solidFill>
              </a:endParaRPr>
            </a:p>
          </p:txBody>
        </p:sp>
        <p:sp>
          <p:nvSpPr>
            <p:cNvPr id="23" name="TextBox 22">
              <a:extLst>
                <a:ext uri="{FF2B5EF4-FFF2-40B4-BE49-F238E27FC236}">
                  <a16:creationId xmlns:a16="http://schemas.microsoft.com/office/drawing/2014/main" id="{3140A453-489A-700B-F7C5-3F485618959F}"/>
                </a:ext>
              </a:extLst>
            </p:cNvPr>
            <p:cNvSpPr txBox="1"/>
            <p:nvPr/>
          </p:nvSpPr>
          <p:spPr>
            <a:xfrm>
              <a:off x="2057400" y="5930671"/>
              <a:ext cx="3535776" cy="369332"/>
            </a:xfrm>
            <a:prstGeom prst="rect">
              <a:avLst/>
            </a:prstGeom>
            <a:noFill/>
          </p:spPr>
          <p:txBody>
            <a:bodyPr wrap="none" rtlCol="0">
              <a:spAutoFit/>
            </a:bodyPr>
            <a:lstStyle/>
            <a:p>
              <a:r>
                <a:rPr lang="en-US" b="1">
                  <a:solidFill>
                    <a:srgbClr val="FF0000"/>
                  </a:solidFill>
                </a:rPr>
                <a:t>Download validations in a csv. here</a:t>
              </a:r>
              <a:endParaRPr lang="en-DK" b="1">
                <a:solidFill>
                  <a:srgbClr val="FF0000"/>
                </a:solidFill>
              </a:endParaRPr>
            </a:p>
          </p:txBody>
        </p:sp>
      </p:grpSp>
      <p:sp>
        <p:nvSpPr>
          <p:cNvPr id="8" name="Text Placeholder 1">
            <a:extLst>
              <a:ext uri="{FF2B5EF4-FFF2-40B4-BE49-F238E27FC236}">
                <a16:creationId xmlns:a16="http://schemas.microsoft.com/office/drawing/2014/main" id="{B0662E99-512B-3F40-0D2F-301869D6FB60}"/>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overview of errors in dataset</a:t>
            </a:r>
          </a:p>
        </p:txBody>
      </p:sp>
    </p:spTree>
    <p:extLst>
      <p:ext uri="{BB962C8B-B14F-4D97-AF65-F5344CB8AC3E}">
        <p14:creationId xmlns:p14="http://schemas.microsoft.com/office/powerpoint/2010/main" val="32270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929A8E-7F43-867F-359E-B6E12FED03C4}"/>
              </a:ext>
            </a:extLst>
          </p:cNvPr>
          <p:cNvPicPr>
            <a:picLocks noChangeAspect="1"/>
          </p:cNvPicPr>
          <p:nvPr/>
        </p:nvPicPr>
        <p:blipFill rotWithShape="1">
          <a:blip r:embed="rId3"/>
          <a:srcRect t="1295" r="2576"/>
          <a:stretch/>
        </p:blipFill>
        <p:spPr>
          <a:xfrm>
            <a:off x="0" y="905522"/>
            <a:ext cx="12163490" cy="5748780"/>
          </a:xfrm>
          <a:prstGeom prst="rect">
            <a:avLst/>
          </a:prstGeom>
        </p:spPr>
      </p:pic>
      <p:cxnSp>
        <p:nvCxnSpPr>
          <p:cNvPr id="3" name="Straight Arrow Connector 2">
            <a:extLst>
              <a:ext uri="{FF2B5EF4-FFF2-40B4-BE49-F238E27FC236}">
                <a16:creationId xmlns:a16="http://schemas.microsoft.com/office/drawing/2014/main" id="{14028749-2EE3-4482-A0C0-CFD82E0BCF79}"/>
              </a:ext>
            </a:extLst>
          </p:cNvPr>
          <p:cNvCxnSpPr>
            <a:cxnSpLocks/>
          </p:cNvCxnSpPr>
          <p:nvPr/>
        </p:nvCxnSpPr>
        <p:spPr>
          <a:xfrm>
            <a:off x="8129747" y="1711459"/>
            <a:ext cx="0" cy="9605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C6DF848-8032-D846-D81A-C9310EB981F7}"/>
              </a:ext>
            </a:extLst>
          </p:cNvPr>
          <p:cNvSpPr/>
          <p:nvPr/>
        </p:nvSpPr>
        <p:spPr>
          <a:xfrm>
            <a:off x="7640534" y="2782512"/>
            <a:ext cx="963970" cy="25169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4" name="TextBox 13">
            <a:extLst>
              <a:ext uri="{FF2B5EF4-FFF2-40B4-BE49-F238E27FC236}">
                <a16:creationId xmlns:a16="http://schemas.microsoft.com/office/drawing/2014/main" id="{3CCDC2FC-E415-15C1-19F7-168496AF7CA8}"/>
              </a:ext>
            </a:extLst>
          </p:cNvPr>
          <p:cNvSpPr txBox="1"/>
          <p:nvPr/>
        </p:nvSpPr>
        <p:spPr>
          <a:xfrm>
            <a:off x="6396227" y="1342127"/>
            <a:ext cx="3467039" cy="369332"/>
          </a:xfrm>
          <a:prstGeom prst="rect">
            <a:avLst/>
          </a:prstGeom>
          <a:noFill/>
        </p:spPr>
        <p:txBody>
          <a:bodyPr wrap="none" rtlCol="0">
            <a:spAutoFit/>
          </a:bodyPr>
          <a:lstStyle/>
          <a:p>
            <a:r>
              <a:rPr lang="en-US" b="1">
                <a:solidFill>
                  <a:srgbClr val="FF0000"/>
                </a:solidFill>
              </a:rPr>
              <a:t>To view all validations in dataflow</a:t>
            </a:r>
            <a:endParaRPr lang="en-DK" b="1">
              <a:solidFill>
                <a:srgbClr val="FF0000"/>
              </a:solidFill>
            </a:endParaRPr>
          </a:p>
        </p:txBody>
      </p:sp>
      <p:grpSp>
        <p:nvGrpSpPr>
          <p:cNvPr id="24" name="Group 23">
            <a:extLst>
              <a:ext uri="{FF2B5EF4-FFF2-40B4-BE49-F238E27FC236}">
                <a16:creationId xmlns:a16="http://schemas.microsoft.com/office/drawing/2014/main" id="{E245F2A8-455D-8EB1-9E2B-B63DAB6EC58F}"/>
              </a:ext>
            </a:extLst>
          </p:cNvPr>
          <p:cNvGrpSpPr/>
          <p:nvPr/>
        </p:nvGrpSpPr>
        <p:grpSpPr>
          <a:xfrm>
            <a:off x="742188" y="1092880"/>
            <a:ext cx="10707624" cy="5236213"/>
            <a:chOff x="742188" y="1092880"/>
            <a:chExt cx="10707624" cy="5236213"/>
          </a:xfrm>
        </p:grpSpPr>
        <p:pic>
          <p:nvPicPr>
            <p:cNvPr id="10" name="Picture 9">
              <a:extLst>
                <a:ext uri="{FF2B5EF4-FFF2-40B4-BE49-F238E27FC236}">
                  <a16:creationId xmlns:a16="http://schemas.microsoft.com/office/drawing/2014/main" id="{51E1FCBA-B0F5-4F74-67AC-C2FF3C00C78B}"/>
                </a:ext>
              </a:extLst>
            </p:cNvPr>
            <p:cNvPicPr>
              <a:picLocks noChangeAspect="1"/>
            </p:cNvPicPr>
            <p:nvPr/>
          </p:nvPicPr>
          <p:blipFill>
            <a:blip r:embed="rId4"/>
            <a:stretch>
              <a:fillRect/>
            </a:stretch>
          </p:blipFill>
          <p:spPr>
            <a:xfrm>
              <a:off x="742188" y="1092880"/>
              <a:ext cx="10707624" cy="5236213"/>
            </a:xfrm>
            <a:prstGeom prst="rect">
              <a:avLst/>
            </a:prstGeom>
          </p:spPr>
        </p:pic>
        <p:sp>
          <p:nvSpPr>
            <p:cNvPr id="13" name="Rectangle 12">
              <a:extLst>
                <a:ext uri="{FF2B5EF4-FFF2-40B4-BE49-F238E27FC236}">
                  <a16:creationId xmlns:a16="http://schemas.microsoft.com/office/drawing/2014/main" id="{CEC111AF-208A-07A9-592F-AC112AF5A876}"/>
                </a:ext>
              </a:extLst>
            </p:cNvPr>
            <p:cNvSpPr/>
            <p:nvPr/>
          </p:nvSpPr>
          <p:spPr>
            <a:xfrm>
              <a:off x="848608" y="5961622"/>
              <a:ext cx="1208792" cy="29287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21" name="Straight Connector 20">
              <a:extLst>
                <a:ext uri="{FF2B5EF4-FFF2-40B4-BE49-F238E27FC236}">
                  <a16:creationId xmlns:a16="http://schemas.microsoft.com/office/drawing/2014/main" id="{809E3FE1-36C7-0686-4DC3-37BBD356F4BE}"/>
                </a:ext>
              </a:extLst>
            </p:cNvPr>
            <p:cNvCxnSpPr/>
            <p:nvPr/>
          </p:nvCxnSpPr>
          <p:spPr>
            <a:xfrm>
              <a:off x="848608" y="1874520"/>
              <a:ext cx="9246368"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D01FD1A-0128-6497-3AB4-878CE3022E83}"/>
                </a:ext>
              </a:extLst>
            </p:cNvPr>
            <p:cNvSpPr txBox="1"/>
            <p:nvPr/>
          </p:nvSpPr>
          <p:spPr>
            <a:xfrm>
              <a:off x="4091472" y="1157461"/>
              <a:ext cx="3182153" cy="369332"/>
            </a:xfrm>
            <a:prstGeom prst="rect">
              <a:avLst/>
            </a:prstGeom>
            <a:noFill/>
          </p:spPr>
          <p:txBody>
            <a:bodyPr wrap="none" rtlCol="0">
              <a:spAutoFit/>
            </a:bodyPr>
            <a:lstStyle/>
            <a:p>
              <a:r>
                <a:rPr lang="en-US" b="1">
                  <a:solidFill>
                    <a:srgbClr val="FF0000"/>
                  </a:solidFill>
                </a:rPr>
                <a:t>Filtering options available here</a:t>
              </a:r>
              <a:endParaRPr lang="en-DK" b="1">
                <a:solidFill>
                  <a:srgbClr val="FF0000"/>
                </a:solidFill>
              </a:endParaRPr>
            </a:p>
          </p:txBody>
        </p:sp>
        <p:sp>
          <p:nvSpPr>
            <p:cNvPr id="23" name="TextBox 22">
              <a:extLst>
                <a:ext uri="{FF2B5EF4-FFF2-40B4-BE49-F238E27FC236}">
                  <a16:creationId xmlns:a16="http://schemas.microsoft.com/office/drawing/2014/main" id="{3140A453-489A-700B-F7C5-3F485618959F}"/>
                </a:ext>
              </a:extLst>
            </p:cNvPr>
            <p:cNvSpPr txBox="1"/>
            <p:nvPr/>
          </p:nvSpPr>
          <p:spPr>
            <a:xfrm>
              <a:off x="2057400" y="5930671"/>
              <a:ext cx="3535776" cy="369332"/>
            </a:xfrm>
            <a:prstGeom prst="rect">
              <a:avLst/>
            </a:prstGeom>
            <a:noFill/>
          </p:spPr>
          <p:txBody>
            <a:bodyPr wrap="none" rtlCol="0">
              <a:spAutoFit/>
            </a:bodyPr>
            <a:lstStyle/>
            <a:p>
              <a:r>
                <a:rPr lang="en-US" b="1">
                  <a:solidFill>
                    <a:srgbClr val="FF0000"/>
                  </a:solidFill>
                </a:rPr>
                <a:t>Download validations in a csv. here</a:t>
              </a:r>
              <a:endParaRPr lang="en-DK" b="1">
                <a:solidFill>
                  <a:srgbClr val="FF0000"/>
                </a:solidFill>
              </a:endParaRPr>
            </a:p>
          </p:txBody>
        </p:sp>
      </p:grpSp>
      <p:pic>
        <p:nvPicPr>
          <p:cNvPr id="6" name="Picture 5">
            <a:extLst>
              <a:ext uri="{FF2B5EF4-FFF2-40B4-BE49-F238E27FC236}">
                <a16:creationId xmlns:a16="http://schemas.microsoft.com/office/drawing/2014/main" id="{93026BD4-7EFA-207A-83F0-A36CEA22DE51}"/>
              </a:ext>
            </a:extLst>
          </p:cNvPr>
          <p:cNvPicPr>
            <a:picLocks noChangeAspect="1"/>
          </p:cNvPicPr>
          <p:nvPr/>
        </p:nvPicPr>
        <p:blipFill>
          <a:blip r:embed="rId5"/>
          <a:stretch>
            <a:fillRect/>
          </a:stretch>
        </p:blipFill>
        <p:spPr>
          <a:xfrm>
            <a:off x="1626819" y="1092116"/>
            <a:ext cx="9145575" cy="4544297"/>
          </a:xfrm>
          <a:prstGeom prst="rect">
            <a:avLst/>
          </a:prstGeom>
        </p:spPr>
      </p:pic>
      <p:sp>
        <p:nvSpPr>
          <p:cNvPr id="8" name="Text Placeholder 1">
            <a:extLst>
              <a:ext uri="{FF2B5EF4-FFF2-40B4-BE49-F238E27FC236}">
                <a16:creationId xmlns:a16="http://schemas.microsoft.com/office/drawing/2014/main" id="{B0662E99-512B-3F40-0D2F-301869D6FB60}"/>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overview of errors in dataset</a:t>
            </a:r>
          </a:p>
        </p:txBody>
      </p:sp>
    </p:spTree>
    <p:extLst>
      <p:ext uri="{BB962C8B-B14F-4D97-AF65-F5344CB8AC3E}">
        <p14:creationId xmlns:p14="http://schemas.microsoft.com/office/powerpoint/2010/main" val="360304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2ABB7-510D-3B9D-8CCB-D80150396B7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2C7B2F-11E2-3587-74E6-41F20B84BDCE}"/>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Validation</a:t>
            </a:r>
          </a:p>
        </p:txBody>
      </p:sp>
      <p:sp>
        <p:nvSpPr>
          <p:cNvPr id="2" name="TextBox 1">
            <a:extLst>
              <a:ext uri="{FF2B5EF4-FFF2-40B4-BE49-F238E27FC236}">
                <a16:creationId xmlns:a16="http://schemas.microsoft.com/office/drawing/2014/main" id="{3E0F52CB-8917-1566-6F58-AD0C3D6E46E5}"/>
              </a:ext>
            </a:extLst>
          </p:cNvPr>
          <p:cNvSpPr txBox="1"/>
          <p:nvPr/>
        </p:nvSpPr>
        <p:spPr>
          <a:xfrm>
            <a:off x="474852" y="1380565"/>
            <a:ext cx="11242296" cy="369332"/>
          </a:xfrm>
          <a:prstGeom prst="rect">
            <a:avLst/>
          </a:prstGeom>
          <a:noFill/>
        </p:spPr>
        <p:txBody>
          <a:bodyPr wrap="square" rtlCol="0">
            <a:spAutoFit/>
          </a:bodyPr>
          <a:lstStyle/>
          <a:p>
            <a:r>
              <a:rPr lang="en-US" b="1">
                <a:solidFill>
                  <a:srgbClr val="FF0000"/>
                </a:solidFill>
                <a:latin typeface="Calibri" panose="020F0502020204030204" pitchFamily="34" charset="0"/>
                <a:cs typeface="Calibri" panose="020F0502020204030204" pitchFamily="34" charset="0"/>
              </a:rPr>
              <a:t>      Blocking errors </a:t>
            </a:r>
            <a:r>
              <a:rPr lang="en-US">
                <a:latin typeface="Calibri" panose="020F0502020204030204" pitchFamily="34" charset="0"/>
                <a:cs typeface="Calibri" panose="020F0502020204030204" pitchFamily="34" charset="0"/>
              </a:rPr>
              <a:t>require a change of the reporting data. Release cannot be performed.</a:t>
            </a:r>
            <a:endParaRPr lang="en-US" b="1">
              <a:solidFill>
                <a:srgbClr val="FF0000"/>
              </a:solidFill>
            </a:endParaRPr>
          </a:p>
        </p:txBody>
      </p:sp>
      <p:pic>
        <p:nvPicPr>
          <p:cNvPr id="4" name="Picture 3">
            <a:extLst>
              <a:ext uri="{FF2B5EF4-FFF2-40B4-BE49-F238E27FC236}">
                <a16:creationId xmlns:a16="http://schemas.microsoft.com/office/drawing/2014/main" id="{F5D29A54-2FC8-42CA-A188-79BC17E40CB5}"/>
              </a:ext>
            </a:extLst>
          </p:cNvPr>
          <p:cNvPicPr>
            <a:picLocks noChangeAspect="1"/>
          </p:cNvPicPr>
          <p:nvPr/>
        </p:nvPicPr>
        <p:blipFill>
          <a:blip r:embed="rId3"/>
          <a:stretch>
            <a:fillRect/>
          </a:stretch>
        </p:blipFill>
        <p:spPr>
          <a:xfrm>
            <a:off x="474852" y="1369519"/>
            <a:ext cx="370455" cy="391424"/>
          </a:xfrm>
          <a:prstGeom prst="rect">
            <a:avLst/>
          </a:prstGeom>
        </p:spPr>
      </p:pic>
      <p:sp>
        <p:nvSpPr>
          <p:cNvPr id="5" name="TextBox 4">
            <a:extLst>
              <a:ext uri="{FF2B5EF4-FFF2-40B4-BE49-F238E27FC236}">
                <a16:creationId xmlns:a16="http://schemas.microsoft.com/office/drawing/2014/main" id="{B08AD8ED-4C4B-2A57-7674-C8F3EFA07D5D}"/>
              </a:ext>
            </a:extLst>
          </p:cNvPr>
          <p:cNvSpPr txBox="1"/>
          <p:nvPr/>
        </p:nvSpPr>
        <p:spPr>
          <a:xfrm>
            <a:off x="474853" y="1902258"/>
            <a:ext cx="6828236" cy="3139321"/>
          </a:xfrm>
          <a:prstGeom prst="rect">
            <a:avLst/>
          </a:prstGeom>
          <a:noFill/>
        </p:spPr>
        <p:txBody>
          <a:bodyPr wrap="square" rtlCol="0">
            <a:spAutoFit/>
          </a:bodyPr>
          <a:lstStyle/>
          <a:p>
            <a:r>
              <a:rPr lang="en-US"/>
              <a:t>Two ways to correct or update data:</a:t>
            </a:r>
          </a:p>
          <a:p>
            <a:endParaRPr lang="en-US"/>
          </a:p>
          <a:p>
            <a:pPr marL="285750" indent="-285750">
              <a:buFont typeface="Wingdings" panose="05000000000000000000" pitchFamily="2" charset="2"/>
              <a:buChar char="ü"/>
            </a:pPr>
            <a:r>
              <a:rPr lang="en-US">
                <a:sym typeface="Wingdings" panose="05000000000000000000" pitchFamily="2" charset="2"/>
              </a:rPr>
              <a:t>   Correct the Excel template and re-import the updated template</a:t>
            </a:r>
          </a:p>
          <a:p>
            <a:pPr marL="285750" indent="-285750">
              <a:buFont typeface="Wingdings" panose="05000000000000000000" pitchFamily="2" charset="2"/>
              <a:buChar char="ü"/>
            </a:pPr>
            <a:endParaRPr lang="en-US">
              <a:sym typeface="Wingdings" panose="05000000000000000000" pitchFamily="2" charset="2"/>
            </a:endParaRPr>
          </a:p>
          <a:p>
            <a:pPr lvl="1"/>
            <a:r>
              <a:rPr lang="en-US">
                <a:sym typeface="Wingdings" panose="05000000000000000000" pitchFamily="2" charset="2"/>
              </a:rPr>
              <a:t>When re-importing a modified template, always click on “</a:t>
            </a:r>
            <a:r>
              <a:rPr lang="en-US" b="1">
                <a:solidFill>
                  <a:srgbClr val="FF0000"/>
                </a:solidFill>
                <a:sym typeface="Wingdings" panose="05000000000000000000" pitchFamily="2" charset="2"/>
              </a:rPr>
              <a:t>Replace data</a:t>
            </a:r>
            <a:r>
              <a:rPr lang="en-US">
                <a:sym typeface="Wingdings" panose="05000000000000000000" pitchFamily="2" charset="2"/>
              </a:rPr>
              <a:t>” before importing and validating an updated template</a:t>
            </a:r>
          </a:p>
          <a:p>
            <a:pPr lvl="1"/>
            <a:endParaRPr lang="en-US">
              <a:sym typeface="Wingdings" panose="05000000000000000000" pitchFamily="2" charset="2"/>
            </a:endParaRPr>
          </a:p>
          <a:p>
            <a:endParaRPr lang="en-US">
              <a:sym typeface="Wingdings" panose="05000000000000000000" pitchFamily="2" charset="2"/>
            </a:endParaRPr>
          </a:p>
          <a:p>
            <a:endParaRPr lang="en-US">
              <a:sym typeface="Wingdings" panose="05000000000000000000" pitchFamily="2" charset="2"/>
            </a:endParaRPr>
          </a:p>
          <a:p>
            <a:endParaRPr lang="en-US">
              <a:sym typeface="Wingdings" panose="05000000000000000000" pitchFamily="2" charset="2"/>
            </a:endParaRPr>
          </a:p>
          <a:p>
            <a:r>
              <a:rPr lang="en-US">
                <a:sym typeface="Wingdings" panose="05000000000000000000" pitchFamily="2" charset="2"/>
              </a:rPr>
              <a:t>      Correct the fields directly in Reportnet by clicking on the field.</a:t>
            </a:r>
          </a:p>
        </p:txBody>
      </p:sp>
      <p:sp>
        <p:nvSpPr>
          <p:cNvPr id="6" name="TextBox 5">
            <a:extLst>
              <a:ext uri="{FF2B5EF4-FFF2-40B4-BE49-F238E27FC236}">
                <a16:creationId xmlns:a16="http://schemas.microsoft.com/office/drawing/2014/main" id="{2FAB524E-C58B-BEA0-4705-3BF3AA54EA4B}"/>
              </a:ext>
            </a:extLst>
          </p:cNvPr>
          <p:cNvSpPr txBox="1"/>
          <p:nvPr/>
        </p:nvSpPr>
        <p:spPr>
          <a:xfrm>
            <a:off x="763009" y="6200964"/>
            <a:ext cx="6634317" cy="369332"/>
          </a:xfrm>
          <a:prstGeom prst="rect">
            <a:avLst/>
          </a:prstGeom>
          <a:noFill/>
        </p:spPr>
        <p:txBody>
          <a:bodyPr wrap="none" rtlCol="0">
            <a:spAutoFit/>
          </a:bodyPr>
          <a:lstStyle/>
          <a:p>
            <a:r>
              <a:rPr lang="en-US" b="1"/>
              <a:t>In any case, the data must be validated </a:t>
            </a:r>
            <a:r>
              <a:rPr lang="en-US" b="1">
                <a:latin typeface="Calibri" panose="020F0502020204030204" pitchFamily="34" charset="0"/>
                <a:cs typeface="Calibri" panose="020F0502020204030204" pitchFamily="34" charset="0"/>
              </a:rPr>
              <a:t>→ “Validate” and “Refresh”.</a:t>
            </a:r>
            <a:endParaRPr lang="en-US" b="1"/>
          </a:p>
        </p:txBody>
      </p:sp>
    </p:spTree>
    <p:extLst>
      <p:ext uri="{BB962C8B-B14F-4D97-AF65-F5344CB8AC3E}">
        <p14:creationId xmlns:p14="http://schemas.microsoft.com/office/powerpoint/2010/main" val="1276767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DEF820-C5F6-6C1F-78FD-3A7C067399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6F10CF-9438-40DE-53CF-CC062694E672}"/>
              </a:ext>
            </a:extLst>
          </p:cNvPr>
          <p:cNvSpPr txBox="1"/>
          <p:nvPr/>
        </p:nvSpPr>
        <p:spPr>
          <a:xfrm>
            <a:off x="4644978" y="3429000"/>
            <a:ext cx="2902077"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Release of data - submission</a:t>
            </a:r>
          </a:p>
        </p:txBody>
      </p:sp>
      <p:pic>
        <p:nvPicPr>
          <p:cNvPr id="2" name="Graphic 1" descr="Upload with solid fill">
            <a:extLst>
              <a:ext uri="{FF2B5EF4-FFF2-40B4-BE49-F238E27FC236}">
                <a16:creationId xmlns:a16="http://schemas.microsoft.com/office/drawing/2014/main" id="{95E641E5-748C-E016-96BC-1619A6B6A3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42866179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886D5-723E-9C2C-2DE6-1A2C98497A67}"/>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4" name="Picture 3">
            <a:extLst>
              <a:ext uri="{FF2B5EF4-FFF2-40B4-BE49-F238E27FC236}">
                <a16:creationId xmlns:a16="http://schemas.microsoft.com/office/drawing/2014/main" id="{E6FE5DE6-8593-D7CE-F7B3-1400726C014A}"/>
              </a:ext>
            </a:extLst>
          </p:cNvPr>
          <p:cNvPicPr>
            <a:picLocks noChangeAspect="1"/>
          </p:cNvPicPr>
          <p:nvPr/>
        </p:nvPicPr>
        <p:blipFill>
          <a:blip r:embed="rId2"/>
          <a:stretch>
            <a:fillRect/>
          </a:stretch>
        </p:blipFill>
        <p:spPr>
          <a:xfrm>
            <a:off x="0" y="979148"/>
            <a:ext cx="12192000" cy="5790564"/>
          </a:xfrm>
          <a:prstGeom prst="rect">
            <a:avLst/>
          </a:prstGeom>
        </p:spPr>
      </p:pic>
      <p:pic>
        <p:nvPicPr>
          <p:cNvPr id="6" name="Picture 5">
            <a:extLst>
              <a:ext uri="{FF2B5EF4-FFF2-40B4-BE49-F238E27FC236}">
                <a16:creationId xmlns:a16="http://schemas.microsoft.com/office/drawing/2014/main" id="{9E2E6CA8-D893-AE4D-1F2D-1987E868B72C}"/>
              </a:ext>
            </a:extLst>
          </p:cNvPr>
          <p:cNvPicPr>
            <a:picLocks noChangeAspect="1"/>
          </p:cNvPicPr>
          <p:nvPr/>
        </p:nvPicPr>
        <p:blipFill>
          <a:blip r:embed="rId3"/>
          <a:stretch>
            <a:fillRect/>
          </a:stretch>
        </p:blipFill>
        <p:spPr>
          <a:xfrm>
            <a:off x="2399146" y="2825562"/>
            <a:ext cx="1738746" cy="1451086"/>
          </a:xfrm>
          <a:prstGeom prst="rect">
            <a:avLst/>
          </a:prstGeom>
        </p:spPr>
      </p:pic>
      <p:cxnSp>
        <p:nvCxnSpPr>
          <p:cNvPr id="8" name="Straight Arrow Connector 7">
            <a:extLst>
              <a:ext uri="{FF2B5EF4-FFF2-40B4-BE49-F238E27FC236}">
                <a16:creationId xmlns:a16="http://schemas.microsoft.com/office/drawing/2014/main" id="{7D1F9539-3251-BB8A-1017-66D1EC57A702}"/>
              </a:ext>
            </a:extLst>
          </p:cNvPr>
          <p:cNvCxnSpPr>
            <a:cxnSpLocks/>
            <a:stCxn id="9" idx="0"/>
          </p:cNvCxnSpPr>
          <p:nvPr/>
        </p:nvCxnSpPr>
        <p:spPr>
          <a:xfrm flipV="1">
            <a:off x="2809566" y="3987800"/>
            <a:ext cx="0" cy="51047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descr="A document with text and images">
            <a:extLst>
              <a:ext uri="{FF2B5EF4-FFF2-40B4-BE49-F238E27FC236}">
                <a16:creationId xmlns:a16="http://schemas.microsoft.com/office/drawing/2014/main" id="{6906F385-1D9D-5CB4-FD6C-0DD4393488E2}"/>
              </a:ext>
            </a:extLst>
          </p:cNvPr>
          <p:cNvPicPr>
            <a:picLocks noChangeAspect="1"/>
          </p:cNvPicPr>
          <p:nvPr/>
        </p:nvPicPr>
        <p:blipFill>
          <a:blip r:embed="rId4"/>
          <a:stretch>
            <a:fillRect/>
          </a:stretch>
        </p:blipFill>
        <p:spPr>
          <a:xfrm>
            <a:off x="4828913" y="2984501"/>
            <a:ext cx="5253129" cy="3453100"/>
          </a:xfrm>
          <a:prstGeom prst="rect">
            <a:avLst/>
          </a:prstGeom>
        </p:spPr>
      </p:pic>
      <p:sp>
        <p:nvSpPr>
          <p:cNvPr id="9" name="TextBox 8">
            <a:extLst>
              <a:ext uri="{FF2B5EF4-FFF2-40B4-BE49-F238E27FC236}">
                <a16:creationId xmlns:a16="http://schemas.microsoft.com/office/drawing/2014/main" id="{3AFA2709-F13C-8CCD-E89B-426609A8F9D2}"/>
              </a:ext>
            </a:extLst>
          </p:cNvPr>
          <p:cNvSpPr txBox="1"/>
          <p:nvPr/>
        </p:nvSpPr>
        <p:spPr>
          <a:xfrm>
            <a:off x="564532" y="4498276"/>
            <a:ext cx="4490067" cy="2031325"/>
          </a:xfrm>
          <a:prstGeom prst="rect">
            <a:avLst/>
          </a:prstGeom>
          <a:noFill/>
        </p:spPr>
        <p:txBody>
          <a:bodyPr wrap="square" rtlCol="0">
            <a:spAutoFit/>
          </a:bodyPr>
          <a:lstStyle/>
          <a:p>
            <a:r>
              <a:rPr lang="en-GB" b="1">
                <a:solidFill>
                  <a:srgbClr val="FF0000"/>
                </a:solidFill>
              </a:rPr>
              <a:t>Releasing data can take a while</a:t>
            </a:r>
          </a:p>
          <a:p>
            <a:r>
              <a:rPr lang="en-GB">
                <a:solidFill>
                  <a:srgbClr val="FF0000"/>
                </a:solidFill>
              </a:rPr>
              <a:t>This can run in the background while you do other tasks!</a:t>
            </a:r>
          </a:p>
          <a:p>
            <a:endParaRPr lang="en-GB">
              <a:solidFill>
                <a:srgbClr val="FF0000"/>
              </a:solidFill>
            </a:endParaRPr>
          </a:p>
          <a:p>
            <a:r>
              <a:rPr lang="en-GB" b="1">
                <a:solidFill>
                  <a:srgbClr val="FF0000"/>
                </a:solidFill>
              </a:rPr>
              <a:t>! If the confirmation receipt does not appear a blocker remains in your dataflow and must be resolved before releasing again !</a:t>
            </a:r>
            <a:endParaRPr lang="en-GB" b="1"/>
          </a:p>
        </p:txBody>
      </p:sp>
      <p:sp>
        <p:nvSpPr>
          <p:cNvPr id="13" name="Rectangle 12">
            <a:extLst>
              <a:ext uri="{FF2B5EF4-FFF2-40B4-BE49-F238E27FC236}">
                <a16:creationId xmlns:a16="http://schemas.microsoft.com/office/drawing/2014/main" id="{57ECB382-7EA1-410F-DBFA-6D8C38A1CF10}"/>
              </a:ext>
            </a:extLst>
          </p:cNvPr>
          <p:cNvSpPr/>
          <p:nvPr/>
        </p:nvSpPr>
        <p:spPr>
          <a:xfrm>
            <a:off x="564532" y="5615201"/>
            <a:ext cx="4363068" cy="914400"/>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5" name="Text Placeholder 1">
            <a:extLst>
              <a:ext uri="{FF2B5EF4-FFF2-40B4-BE49-F238E27FC236}">
                <a16:creationId xmlns:a16="http://schemas.microsoft.com/office/drawing/2014/main" id="{9F624B7F-0695-0C08-DF0A-0223F67116D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Data submission</a:t>
            </a:r>
          </a:p>
        </p:txBody>
      </p:sp>
    </p:spTree>
    <p:extLst>
      <p:ext uri="{BB962C8B-B14F-4D97-AF65-F5344CB8AC3E}">
        <p14:creationId xmlns:p14="http://schemas.microsoft.com/office/powerpoint/2010/main" val="312394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F6924907-009B-5CAC-48A8-6DD0CB9261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105D99-ACC1-BBA6-96A6-8D28EA198DBC}"/>
              </a:ext>
            </a:extLst>
          </p:cNvPr>
          <p:cNvSpPr txBox="1"/>
          <p:nvPr/>
        </p:nvSpPr>
        <p:spPr>
          <a:xfrm>
            <a:off x="4160229" y="3611880"/>
            <a:ext cx="3796680" cy="738664"/>
          </a:xfrm>
          <a:prstGeom prst="rect">
            <a:avLst/>
          </a:prstGeom>
          <a:noFill/>
        </p:spPr>
        <p:txBody>
          <a:bodyPr wrap="none" lIns="91440" tIns="45720" rIns="91440" bIns="45720" rtlCol="0" anchor="t">
            <a:spAutoFit/>
          </a:bodyPr>
          <a:lstStyle/>
          <a:p>
            <a:pPr algn="ctr"/>
            <a:r>
              <a:rPr lang="en-GB" sz="2400" b="1" noProof="0" dirty="0">
                <a:solidFill>
                  <a:schemeClr val="bg1"/>
                </a:solidFill>
              </a:rPr>
              <a:t>Annex I – Decarbonisation</a:t>
            </a:r>
            <a:endParaRPr lang="en-GB" sz="2400" b="1" noProof="0" dirty="0">
              <a:solidFill>
                <a:schemeClr val="bg1"/>
              </a:solidFill>
              <a:highlight>
                <a:srgbClr val="FFFF00"/>
              </a:highlight>
            </a:endParaRPr>
          </a:p>
          <a:p>
            <a:pPr algn="ctr"/>
            <a:r>
              <a:rPr lang="en-GB" b="1" i="1" noProof="0" dirty="0">
                <a:solidFill>
                  <a:schemeClr val="bg1"/>
                </a:solidFill>
              </a:rPr>
              <a:t>Thematic guidance</a:t>
            </a:r>
            <a:endParaRPr lang="en-GB" sz="2400" b="1" noProof="0" dirty="0">
              <a:solidFill>
                <a:schemeClr val="bg1"/>
              </a:solidFill>
              <a:highlight>
                <a:srgbClr val="FFFF00"/>
              </a:highlight>
              <a:ea typeface="Calibri"/>
              <a:cs typeface="Calibri"/>
            </a:endParaRPr>
          </a:p>
        </p:txBody>
      </p:sp>
      <p:pic>
        <p:nvPicPr>
          <p:cNvPr id="5" name="Graphic 4" descr="Checklist with solid fill">
            <a:extLst>
              <a:ext uri="{FF2B5EF4-FFF2-40B4-BE49-F238E27FC236}">
                <a16:creationId xmlns:a16="http://schemas.microsoft.com/office/drawing/2014/main" id="{60F7A0D3-86E7-C02A-0F5D-A9E216B1FE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0453" y="1729576"/>
            <a:ext cx="1882304" cy="1882304"/>
          </a:xfrm>
          <a:prstGeom prst="rect">
            <a:avLst/>
          </a:prstGeom>
        </p:spPr>
      </p:pic>
    </p:spTree>
    <p:extLst>
      <p:ext uri="{BB962C8B-B14F-4D97-AF65-F5344CB8AC3E}">
        <p14:creationId xmlns:p14="http://schemas.microsoft.com/office/powerpoint/2010/main" val="10970371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F00AF2D-1956-A2E1-EE5B-2DAF475C79AF}"/>
              </a:ext>
            </a:extLst>
          </p:cNvPr>
          <p:cNvGraphicFramePr>
            <a:graphicFrameLocks noGrp="1"/>
          </p:cNvGraphicFramePr>
          <p:nvPr>
            <p:extLst>
              <p:ext uri="{D42A27DB-BD31-4B8C-83A1-F6EECF244321}">
                <p14:modId xmlns:p14="http://schemas.microsoft.com/office/powerpoint/2010/main" val="2502376313"/>
              </p:ext>
            </p:extLst>
          </p:nvPr>
        </p:nvGraphicFramePr>
        <p:xfrm>
          <a:off x="452647" y="1039495"/>
          <a:ext cx="11286706" cy="5316855"/>
        </p:xfrm>
        <a:graphic>
          <a:graphicData uri="http://schemas.openxmlformats.org/drawingml/2006/table">
            <a:tbl>
              <a:tblPr bandRow="1">
                <a:tableStyleId>{5C22544A-7EE6-4342-B048-85BDC9FD1C3A}</a:tableStyleId>
              </a:tblPr>
              <a:tblGrid>
                <a:gridCol w="2257006">
                  <a:extLst>
                    <a:ext uri="{9D8B030D-6E8A-4147-A177-3AD203B41FA5}">
                      <a16:colId xmlns:a16="http://schemas.microsoft.com/office/drawing/2014/main" val="1648956083"/>
                    </a:ext>
                  </a:extLst>
                </a:gridCol>
                <a:gridCol w="9029700">
                  <a:extLst>
                    <a:ext uri="{9D8B030D-6E8A-4147-A177-3AD203B41FA5}">
                      <a16:colId xmlns:a16="http://schemas.microsoft.com/office/drawing/2014/main" val="3675846375"/>
                    </a:ext>
                  </a:extLst>
                </a:gridCol>
              </a:tblGrid>
              <a:tr h="514350">
                <a:tc gridSpan="2">
                  <a:txBody>
                    <a:bodyPr/>
                    <a:lstStyle/>
                    <a:p>
                      <a:pPr algn="l" fontAlgn="base"/>
                      <a:r>
                        <a:rPr lang="en-US" sz="2400" b="0" i="0" dirty="0">
                          <a:solidFill>
                            <a:srgbClr val="FFFFFF"/>
                          </a:solidFill>
                          <a:effectLst/>
                          <a:latin typeface="Calibri"/>
                        </a:rPr>
                        <a:t>Article 4 (a)(1) – Progress towards objectives, targets and contributions (Greenhouse gas emissions and removals)</a:t>
                      </a:r>
                      <a:endParaRPr lang="en-US" b="1" i="0" dirty="0">
                        <a:solidFill>
                          <a:srgbClr val="FFFFFF"/>
                        </a:solidFill>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6403" cap="flat" cmpd="sng" algn="ctr">
                      <a:solidFill>
                        <a:srgbClr val="FFFFFF"/>
                      </a:solidFill>
                      <a:prstDash val="solid"/>
                      <a:round/>
                      <a:headEnd type="none" w="med" len="med"/>
                      <a:tailEnd type="none" w="med" len="med"/>
                    </a:lnB>
                    <a:solidFill>
                      <a:srgbClr val="007B6C"/>
                    </a:solidFill>
                  </a:tcPr>
                </a:tc>
                <a:tc hMerge="1">
                  <a:txBody>
                    <a:bodyPr/>
                    <a:lstStyle/>
                    <a:p>
                      <a:endParaRPr lang="en-US"/>
                    </a:p>
                  </a:txBody>
                  <a:tcPr/>
                </a:tc>
                <a:extLst>
                  <a:ext uri="{0D108BD9-81ED-4DB2-BD59-A6C34878D82A}">
                    <a16:rowId xmlns:a16="http://schemas.microsoft.com/office/drawing/2014/main" val="1575860557"/>
                  </a:ext>
                </a:extLst>
              </a:tr>
              <a:tr h="714375">
                <a:tc gridSpan="2">
                  <a:txBody>
                    <a:bodyPr/>
                    <a:lstStyle/>
                    <a:p>
                      <a:pPr algn="l" fontAlgn="base"/>
                      <a:r>
                        <a:rPr lang="en-US" sz="2200" b="0" i="0" u="none" strike="noStrike" dirty="0">
                          <a:solidFill>
                            <a:srgbClr val="0D0D0D"/>
                          </a:solidFill>
                          <a:effectLst/>
                          <a:latin typeface="Aptos"/>
                        </a:rPr>
                        <a:t>By 15 March 2025 and every second year thereafter, CPs shall report to the Energy Community Secretariat:</a:t>
                      </a:r>
                    </a:p>
                    <a:p>
                      <a:pPr algn="l" fontAlgn="base"/>
                      <a:endParaRPr lang="en-US" sz="2200" b="0" i="0" dirty="0">
                        <a:solidFill>
                          <a:srgbClr val="000000"/>
                        </a:solidFill>
                        <a:effectLst/>
                        <a:latin typeface="Aptos"/>
                      </a:endParaRPr>
                    </a:p>
                    <a:p>
                      <a:pPr algn="l" fontAlgn="base"/>
                      <a:r>
                        <a:rPr lang="en-US" sz="2200" b="0" i="0" u="none" strike="noStrike" dirty="0">
                          <a:solidFill>
                            <a:srgbClr val="0D0D0D"/>
                          </a:solidFill>
                          <a:effectLst/>
                          <a:latin typeface="Aptos"/>
                        </a:rPr>
                        <a:t>(1) </a:t>
                      </a:r>
                      <a:r>
                        <a:rPr lang="en-US" sz="2200" b="0" i="0" u="sng" dirty="0">
                          <a:solidFill>
                            <a:srgbClr val="0D0D0D"/>
                          </a:solidFill>
                          <a:effectLst/>
                          <a:latin typeface="Aptos"/>
                        </a:rPr>
                        <a:t>information on the progress accomplished towards reaching the objectives, targets and contributions set out in the adopted integrated national energy and climate plan</a:t>
                      </a:r>
                      <a:r>
                        <a:rPr lang="en-US" sz="2200" b="0" i="0" u="none" strike="noStrike" dirty="0">
                          <a:solidFill>
                            <a:srgbClr val="0D0D0D"/>
                          </a:solidFill>
                          <a:effectLst/>
                          <a:latin typeface="Aptos"/>
                        </a:rPr>
                        <a:t>;</a:t>
                      </a:r>
                    </a:p>
                    <a:p>
                      <a:pPr algn="l" fontAlgn="base"/>
                      <a:r>
                        <a:rPr lang="en-US" sz="2200" b="0" i="0" u="none" strike="noStrike" kern="1200" noProof="0" dirty="0">
                          <a:solidFill>
                            <a:srgbClr val="0D0D0D"/>
                          </a:solidFill>
                          <a:effectLst/>
                          <a:latin typeface="Aptos"/>
                          <a:ea typeface="+mn-ea"/>
                          <a:cs typeface="+mn-cs"/>
                        </a:rPr>
                        <a:t>(2) National Long-term strategies, including National target for </a:t>
                      </a:r>
                      <a:r>
                        <a:rPr lang="en-US" sz="2200" b="0" i="0" u="none" strike="noStrike" kern="1200" dirty="0">
                          <a:solidFill>
                            <a:srgbClr val="0D0D0D"/>
                          </a:solidFill>
                          <a:effectLst/>
                          <a:latin typeface="Aptos"/>
                          <a:ea typeface="+mn-ea"/>
                          <a:cs typeface="+mn-cs"/>
                        </a:rPr>
                        <a:t>net Greenhouse Gas Emissions compared to 1990 levels;</a:t>
                      </a:r>
                      <a:endParaRPr lang="en-US" sz="2200" b="0" i="0" u="none" strike="noStrike" kern="1200" noProof="0" dirty="0">
                        <a:solidFill>
                          <a:srgbClr val="0D0D0D"/>
                        </a:solidFill>
                        <a:effectLst/>
                        <a:latin typeface="Aptos"/>
                        <a:ea typeface="+mn-ea"/>
                        <a:cs typeface="+mn-cs"/>
                      </a:endParaRPr>
                    </a:p>
                    <a:p>
                      <a:pPr marL="0" marR="0" lvl="0" indent="0" algn="l">
                        <a:lnSpc>
                          <a:spcPct val="100000"/>
                        </a:lnSpc>
                        <a:spcBef>
                          <a:spcPts val="0"/>
                        </a:spcBef>
                        <a:spcAft>
                          <a:spcPts val="0"/>
                        </a:spcAft>
                        <a:buClr>
                          <a:srgbClr val="000000"/>
                        </a:buClr>
                        <a:buNone/>
                      </a:pPr>
                      <a:r>
                        <a:rPr lang="en-US" sz="2200" b="0" i="0" u="none" strike="noStrike" noProof="0" dirty="0">
                          <a:solidFill>
                            <a:srgbClr val="000000"/>
                          </a:solidFill>
                          <a:effectLst/>
                          <a:latin typeface="Aptos"/>
                        </a:rPr>
                        <a:t>(3) D</a:t>
                      </a:r>
                      <a:r>
                        <a:rPr lang="en-US" sz="2200" b="0" i="0" u="none" strike="noStrike" kern="1200" noProof="0" dirty="0">
                          <a:solidFill>
                            <a:srgbClr val="0D0D0D"/>
                          </a:solidFill>
                          <a:effectLst/>
                          <a:latin typeface="Aptos"/>
                          <a:ea typeface="+mn-ea"/>
                          <a:cs typeface="+mn-cs"/>
                        </a:rPr>
                        <a:t>escriptive and quantitative information on progress toward individual national LULUCF commitments;</a:t>
                      </a:r>
                    </a:p>
                    <a:p>
                      <a:pPr marL="0" marR="0" lvl="0" indent="0" algn="l">
                        <a:lnSpc>
                          <a:spcPct val="100000"/>
                        </a:lnSpc>
                        <a:spcBef>
                          <a:spcPts val="0"/>
                        </a:spcBef>
                        <a:spcAft>
                          <a:spcPts val="0"/>
                        </a:spcAft>
                        <a:buClr>
                          <a:srgbClr val="000000"/>
                        </a:buClr>
                        <a:buNone/>
                      </a:pPr>
                      <a:r>
                        <a:rPr lang="en-US" sz="2200" b="0" i="0" u="none" strike="noStrike" kern="1200" noProof="0" dirty="0">
                          <a:solidFill>
                            <a:srgbClr val="0D0D0D"/>
                          </a:solidFill>
                          <a:effectLst/>
                          <a:latin typeface="Aptos"/>
                          <a:ea typeface="+mn-ea"/>
                          <a:cs typeface="+mn-cs"/>
                        </a:rPr>
                        <a:t>(4) Additional national/sectoral target and projected progress under  “With Existing Measures” (WAM)“ and/ or With Additional Measures” (WEM) scenarios.</a:t>
                      </a:r>
                      <a:endParaRPr lang="en-US" sz="2200" b="0" i="0" u="none" strike="noStrike" kern="1200" dirty="0">
                        <a:solidFill>
                          <a:srgbClr val="0D0D0D"/>
                        </a:solidFill>
                        <a:effectLst/>
                        <a:latin typeface="Aptos"/>
                        <a:ea typeface="+mn-ea"/>
                        <a:cs typeface="+mn-cs"/>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6403"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9D9D9"/>
                    </a:solidFill>
                  </a:tcPr>
                </a:tc>
                <a:tc hMerge="1">
                  <a:txBody>
                    <a:bodyPr/>
                    <a:lstStyle/>
                    <a:p>
                      <a:endParaRPr lang="en-US"/>
                    </a:p>
                  </a:txBody>
                  <a:tcPr/>
                </a:tc>
                <a:extLst>
                  <a:ext uri="{0D108BD9-81ED-4DB2-BD59-A6C34878D82A}">
                    <a16:rowId xmlns:a16="http://schemas.microsoft.com/office/drawing/2014/main" val="2066148158"/>
                  </a:ext>
                </a:extLst>
              </a:tr>
              <a:tr h="714375">
                <a:tc>
                  <a:txBody>
                    <a:bodyPr/>
                    <a:lstStyle/>
                    <a:p>
                      <a:pPr algn="l" fontAlgn="base"/>
                      <a:r>
                        <a:rPr lang="en-US" sz="1800" b="0" i="0" u="sng" dirty="0">
                          <a:solidFill>
                            <a:srgbClr val="000000"/>
                          </a:solidFill>
                          <a:effectLst/>
                          <a:latin typeface="Calibri"/>
                        </a:rPr>
                        <a:t>Reports due:</a:t>
                      </a:r>
                      <a:endParaRPr lang="en-US" b="0" i="0" dirty="0">
                        <a:solidFill>
                          <a:srgbClr val="000000"/>
                        </a:solidFill>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2F2"/>
                    </a:solidFill>
                  </a:tcPr>
                </a:tc>
                <a:tc>
                  <a:txBody>
                    <a:bodyPr/>
                    <a:lstStyle/>
                    <a:p>
                      <a:pPr algn="l" fontAlgn="base"/>
                      <a:r>
                        <a:rPr lang="en-US" sz="1800" b="0" i="0" u="none" strike="noStrike" dirty="0">
                          <a:solidFill>
                            <a:srgbClr val="0D0D0D"/>
                          </a:solidFill>
                          <a:effectLst/>
                          <a:latin typeface="Calibri"/>
                        </a:rPr>
                        <a:t>15 March – Biannually – To start in 2025</a:t>
                      </a:r>
                      <a:endParaRPr lang="en-US" b="0" i="0" dirty="0">
                        <a:solidFill>
                          <a:srgbClr val="000000"/>
                        </a:solidFill>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713208727"/>
                  </a:ext>
                </a:extLst>
              </a:tr>
            </a:tbl>
          </a:graphicData>
        </a:graphic>
      </p:graphicFrame>
      <p:sp>
        <p:nvSpPr>
          <p:cNvPr id="3" name="Slide Number Placeholder 2">
            <a:extLst>
              <a:ext uri="{FF2B5EF4-FFF2-40B4-BE49-F238E27FC236}">
                <a16:creationId xmlns:a16="http://schemas.microsoft.com/office/drawing/2014/main" id="{95C9F02F-26B2-4FF2-9A0F-76421E239FE2}"/>
              </a:ext>
            </a:extLst>
          </p:cNvPr>
          <p:cNvSpPr>
            <a:spLocks noGrp="1"/>
          </p:cNvSpPr>
          <p:nvPr>
            <p:ph type="sldNum" sz="quarter" idx="12"/>
          </p:nvPr>
        </p:nvSpPr>
        <p:spPr/>
        <p:txBody>
          <a:bodyPr/>
          <a:lstStyle/>
          <a:p>
            <a:fld id="{1A424DB6-78F0-4ADD-B66A-AFD80B81666A}" type="slidenum">
              <a:rPr lang="en-DK" smtClean="0"/>
              <a:t>45</a:t>
            </a:fld>
            <a:endParaRPr lang="en-DK"/>
          </a:p>
        </p:txBody>
      </p:sp>
      <p:sp>
        <p:nvSpPr>
          <p:cNvPr id="6" name="TextBox 5">
            <a:extLst>
              <a:ext uri="{FF2B5EF4-FFF2-40B4-BE49-F238E27FC236}">
                <a16:creationId xmlns:a16="http://schemas.microsoft.com/office/drawing/2014/main" id="{A910AB0D-17F3-C770-D80A-5EAE6C93091F}"/>
              </a:ext>
            </a:extLst>
          </p:cNvPr>
          <p:cNvSpPr txBox="1"/>
          <p:nvPr/>
        </p:nvSpPr>
        <p:spPr>
          <a:xfrm>
            <a:off x="258593" y="108399"/>
            <a:ext cx="12960102"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PROGRESS TO TARGET – GHG Emission and Removals</a:t>
            </a:r>
            <a:endParaRPr lang="en-GB" sz="3200" b="1" dirty="0">
              <a:solidFill>
                <a:srgbClr val="113A60"/>
              </a:solidFill>
            </a:endParaRPr>
          </a:p>
        </p:txBody>
      </p:sp>
    </p:spTree>
    <p:extLst>
      <p:ext uri="{BB962C8B-B14F-4D97-AF65-F5344CB8AC3E}">
        <p14:creationId xmlns:p14="http://schemas.microsoft.com/office/powerpoint/2010/main" val="2107313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147FBA-8E55-DC30-1056-57462F61E16E}"/>
              </a:ext>
            </a:extLst>
          </p:cNvPr>
          <p:cNvSpPr/>
          <p:nvPr/>
        </p:nvSpPr>
        <p:spPr>
          <a:xfrm>
            <a:off x="469360" y="2174621"/>
            <a:ext cx="11253280" cy="2945358"/>
          </a:xfrm>
          <a:prstGeom prst="rect">
            <a:avLst/>
          </a:prstGeom>
          <a:solidFill>
            <a:srgbClr val="66B0A7">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96DB1D6-8ADD-D3D6-EE79-88FC01CE537F}"/>
              </a:ext>
            </a:extLst>
          </p:cNvPr>
          <p:cNvSpPr txBox="1"/>
          <p:nvPr/>
        </p:nvSpPr>
        <p:spPr>
          <a:xfrm>
            <a:off x="576677" y="2174621"/>
            <a:ext cx="11147612" cy="2862322"/>
          </a:xfrm>
          <a:prstGeom prst="rect">
            <a:avLst/>
          </a:prstGeom>
          <a:noFill/>
        </p:spPr>
        <p:txBody>
          <a:bodyPr wrap="square">
            <a:spAutoFit/>
          </a:bodyPr>
          <a:lstStyle/>
          <a:p>
            <a:pPr marL="285750" indent="-285750">
              <a:buFont typeface="Arial" panose="020B0604020202020204" pitchFamily="34" charset="0"/>
              <a:buChar char="•"/>
            </a:pPr>
            <a:r>
              <a:rPr lang="en-US" dirty="0"/>
              <a:t>Table 1 – Current and projected national progress towards the national greenhouse gas (GHG) emissions reduction targets in view of climate-neutrality, </a:t>
            </a:r>
          </a:p>
          <a:p>
            <a:pPr marL="285750" indent="-285750">
              <a:buFont typeface="Arial" panose="020B0604020202020204" pitchFamily="34" charset="0"/>
              <a:buChar char="•"/>
            </a:pPr>
            <a:endParaRPr lang="en-US" dirty="0">
              <a:solidFill>
                <a:schemeClr val="bg1">
                  <a:lumMod val="50000"/>
                </a:schemeClr>
              </a:solidFill>
            </a:endParaRPr>
          </a:p>
          <a:p>
            <a:pPr marL="285750" indent="-285750">
              <a:buFont typeface="Arial" panose="020B0604020202020204" pitchFamily="34" charset="0"/>
              <a:buChar char="•"/>
            </a:pPr>
            <a:r>
              <a:rPr lang="en-US" dirty="0">
                <a:solidFill>
                  <a:schemeClr val="bg1">
                    <a:lumMod val="50000"/>
                  </a:schemeClr>
                </a:solidFill>
              </a:rPr>
              <a:t>Table 2 – Current and projected progress towards the annual binding national limits pursuant to Regulation (EU) 2018/842,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Table 3 - Current and projected progress towards commitments pursuant to Regulation (EU) 2018/841,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Table 4 - Current and projected progress towards other national greenhouse-gas related targets and objectives set out in integrated national energy and climate plans, including sector targets.</a:t>
            </a:r>
            <a:endParaRPr lang="en-DK" dirty="0"/>
          </a:p>
        </p:txBody>
      </p:sp>
      <p:sp>
        <p:nvSpPr>
          <p:cNvPr id="2" name="Slide Number Placeholder 1">
            <a:extLst>
              <a:ext uri="{FF2B5EF4-FFF2-40B4-BE49-F238E27FC236}">
                <a16:creationId xmlns:a16="http://schemas.microsoft.com/office/drawing/2014/main" id="{F07FCA04-1FBF-F158-8B08-1DF6EADC3B78}"/>
              </a:ext>
            </a:extLst>
          </p:cNvPr>
          <p:cNvSpPr>
            <a:spLocks noGrp="1"/>
          </p:cNvSpPr>
          <p:nvPr>
            <p:ph type="sldNum" sz="quarter" idx="12"/>
          </p:nvPr>
        </p:nvSpPr>
        <p:spPr/>
        <p:txBody>
          <a:bodyPr/>
          <a:lstStyle/>
          <a:p>
            <a:fld id="{1A424DB6-78F0-4ADD-B66A-AFD80B81666A}" type="slidenum">
              <a:rPr lang="en-DK" smtClean="0"/>
              <a:t>46</a:t>
            </a:fld>
            <a:endParaRPr lang="en-DK"/>
          </a:p>
        </p:txBody>
      </p:sp>
      <p:sp>
        <p:nvSpPr>
          <p:cNvPr id="6" name="TextBox 5">
            <a:extLst>
              <a:ext uri="{FF2B5EF4-FFF2-40B4-BE49-F238E27FC236}">
                <a16:creationId xmlns:a16="http://schemas.microsoft.com/office/drawing/2014/main" id="{1B21183F-0AAF-A9FA-C428-3A64089B5736}"/>
              </a:ext>
            </a:extLst>
          </p:cNvPr>
          <p:cNvSpPr txBox="1"/>
          <p:nvPr/>
        </p:nvSpPr>
        <p:spPr>
          <a:xfrm>
            <a:off x="258593" y="108399"/>
            <a:ext cx="12960102"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PROGRESS TO TARGET – GHG Emission and Removals - Tables</a:t>
            </a:r>
            <a:endParaRPr lang="en-GB" sz="3200" b="1" dirty="0">
              <a:solidFill>
                <a:srgbClr val="113A60"/>
              </a:solidFill>
            </a:endParaRPr>
          </a:p>
        </p:txBody>
      </p:sp>
    </p:spTree>
    <p:extLst>
      <p:ext uri="{BB962C8B-B14F-4D97-AF65-F5344CB8AC3E}">
        <p14:creationId xmlns:p14="http://schemas.microsoft.com/office/powerpoint/2010/main" val="31315408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E5E29DD-7813-C4FC-8A21-212C484D5AB6}"/>
              </a:ext>
            </a:extLst>
          </p:cNvPr>
          <p:cNvSpPr/>
          <p:nvPr/>
        </p:nvSpPr>
        <p:spPr>
          <a:xfrm>
            <a:off x="158336" y="1497772"/>
            <a:ext cx="2448295" cy="1993075"/>
          </a:xfrm>
          <a:prstGeom prst="rect">
            <a:avLst/>
          </a:prstGeom>
          <a:solidFill>
            <a:srgbClr val="66B0A7">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table&#10;&#10;Description automatically generated">
            <a:extLst>
              <a:ext uri="{FF2B5EF4-FFF2-40B4-BE49-F238E27FC236}">
                <a16:creationId xmlns:a16="http://schemas.microsoft.com/office/drawing/2014/main" id="{BA86693B-E28C-8B16-CE55-168AB1029A44}"/>
              </a:ext>
            </a:extLst>
          </p:cNvPr>
          <p:cNvPicPr>
            <a:picLocks noChangeAspect="1"/>
          </p:cNvPicPr>
          <p:nvPr/>
        </p:nvPicPr>
        <p:blipFill>
          <a:blip r:embed="rId3"/>
          <a:stretch>
            <a:fillRect/>
          </a:stretch>
        </p:blipFill>
        <p:spPr>
          <a:xfrm>
            <a:off x="2598716" y="1360665"/>
            <a:ext cx="9396158" cy="2200306"/>
          </a:xfrm>
          <a:prstGeom prst="rect">
            <a:avLst/>
          </a:prstGeom>
        </p:spPr>
      </p:pic>
      <p:sp>
        <p:nvSpPr>
          <p:cNvPr id="8" name="TextBox 7">
            <a:extLst>
              <a:ext uri="{FF2B5EF4-FFF2-40B4-BE49-F238E27FC236}">
                <a16:creationId xmlns:a16="http://schemas.microsoft.com/office/drawing/2014/main" id="{C5616BF8-64E0-7480-EA92-5A77D12968C8}"/>
              </a:ext>
            </a:extLst>
          </p:cNvPr>
          <p:cNvSpPr txBox="1"/>
          <p:nvPr/>
        </p:nvSpPr>
        <p:spPr>
          <a:xfrm>
            <a:off x="168732" y="714334"/>
            <a:ext cx="117486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cs typeface="Segoe UI"/>
              </a:rPr>
              <a:t>Current and projected national progress towards the national greenhouse gas (GHG) emissions reduction targets in view of climate-neutrality (</a:t>
            </a:r>
            <a:r>
              <a:rPr lang="it-IT" dirty="0"/>
              <a:t>Mandatory, if applicable</a:t>
            </a:r>
            <a:r>
              <a:rPr lang="en-GB" b="1" dirty="0">
                <a:cs typeface="Segoe UI"/>
              </a:rPr>
              <a:t>)</a:t>
            </a:r>
            <a:endParaRPr lang="en-US" b="1" dirty="0">
              <a:cs typeface="Segoe UI"/>
            </a:endParaRPr>
          </a:p>
        </p:txBody>
      </p:sp>
      <p:sp>
        <p:nvSpPr>
          <p:cNvPr id="10" name="TextBox 9">
            <a:extLst>
              <a:ext uri="{FF2B5EF4-FFF2-40B4-BE49-F238E27FC236}">
                <a16:creationId xmlns:a16="http://schemas.microsoft.com/office/drawing/2014/main" id="{A9350BF6-5E37-1CAD-3507-70D866F1B6B8}"/>
              </a:ext>
            </a:extLst>
          </p:cNvPr>
          <p:cNvSpPr txBox="1"/>
          <p:nvPr/>
        </p:nvSpPr>
        <p:spPr>
          <a:xfrm>
            <a:off x="3958" y="1689758"/>
            <a:ext cx="2594758"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FF0000"/>
                </a:solidFill>
              </a:rPr>
              <a:t>Climate-neutrality</a:t>
            </a:r>
            <a:endParaRPr lang="en-US" dirty="0">
              <a:solidFill>
                <a:srgbClr val="FF0000"/>
              </a:solidFill>
            </a:endParaRPr>
          </a:p>
          <a:p>
            <a:pPr algn="r"/>
            <a:endParaRPr lang="en-US" sz="1400" b="1" dirty="0"/>
          </a:p>
          <a:p>
            <a:pPr algn="r"/>
            <a:r>
              <a:rPr lang="en-US" sz="1400" b="1" dirty="0">
                <a:solidFill>
                  <a:srgbClr val="FF0000"/>
                </a:solidFill>
              </a:rPr>
              <a:t>Role of removals </a:t>
            </a:r>
          </a:p>
          <a:p>
            <a:pPr algn="r"/>
            <a:endParaRPr lang="en-US" sz="1400" b="1" dirty="0">
              <a:solidFill>
                <a:srgbClr val="FF0000"/>
              </a:solidFill>
            </a:endParaRPr>
          </a:p>
          <a:p>
            <a:pPr algn="r"/>
            <a:r>
              <a:rPr lang="en-US" sz="1400" b="1" dirty="0"/>
              <a:t>National GHG target for 2030 and beyond, and indicative milestones for 2040 and 2050</a:t>
            </a:r>
          </a:p>
        </p:txBody>
      </p:sp>
      <p:sp>
        <p:nvSpPr>
          <p:cNvPr id="12" name="TextBox 11">
            <a:extLst>
              <a:ext uri="{FF2B5EF4-FFF2-40B4-BE49-F238E27FC236}">
                <a16:creationId xmlns:a16="http://schemas.microsoft.com/office/drawing/2014/main" id="{8A687201-0A3C-63F4-2F0F-5D138BC9C4D2}"/>
              </a:ext>
            </a:extLst>
          </p:cNvPr>
          <p:cNvSpPr txBox="1"/>
          <p:nvPr/>
        </p:nvSpPr>
        <p:spPr>
          <a:xfrm>
            <a:off x="211563" y="4054250"/>
            <a:ext cx="11768873" cy="2031325"/>
          </a:xfrm>
          <a:prstGeom prst="rect">
            <a:avLst/>
          </a:prstGeom>
          <a:noFill/>
        </p:spPr>
        <p:txBody>
          <a:bodyPr wrap="square">
            <a:spAutoFit/>
          </a:bodyPr>
          <a:lstStyle/>
          <a:p>
            <a:r>
              <a:rPr lang="en-US" b="1" dirty="0"/>
              <a:t>FIELD 1: </a:t>
            </a:r>
            <a:r>
              <a:rPr lang="en-US" dirty="0"/>
              <a:t>The purpose of this field is to confirm, if national climate-neutrality objective is in place, the targeted year for climate-neutrality, in line with their long-term strategies.</a:t>
            </a:r>
          </a:p>
          <a:p>
            <a:endParaRPr lang="en-US" dirty="0"/>
          </a:p>
          <a:p>
            <a:r>
              <a:rPr lang="en-US" b="1" dirty="0"/>
              <a:t>FIELD 2: </a:t>
            </a:r>
            <a:r>
              <a:rPr lang="en-US" dirty="0"/>
              <a:t>In view of achieving the objective of climate neutrality, the potential to capture and remove carbon dioxide from the atmosphere is crucial. The purpose of this field is to have a clear understanding of the role played by the natural sinks (e.g. LULUCF, including harvested wood products) and technical sinks </a:t>
            </a:r>
          </a:p>
          <a:p>
            <a:r>
              <a:rPr lang="en-US" dirty="0"/>
              <a:t>e.g. </a:t>
            </a:r>
            <a:r>
              <a:rPr lang="en-US" b="1" i="0" dirty="0">
                <a:solidFill>
                  <a:srgbClr val="111111"/>
                </a:solidFill>
                <a:effectLst/>
                <a:latin typeface="-apple-system"/>
              </a:rPr>
              <a:t>Carbon Capture and Storage (CCS)</a:t>
            </a:r>
            <a:r>
              <a:rPr lang="en-US" b="0" i="0" dirty="0">
                <a:solidFill>
                  <a:srgbClr val="111111"/>
                </a:solidFill>
                <a:effectLst/>
                <a:latin typeface="-apple-system"/>
              </a:rPr>
              <a:t> and </a:t>
            </a:r>
            <a:r>
              <a:rPr lang="en-US" b="1" i="0" dirty="0">
                <a:solidFill>
                  <a:srgbClr val="111111"/>
                </a:solidFill>
                <a:effectLst/>
                <a:latin typeface="-apple-system"/>
              </a:rPr>
              <a:t>Carbon Capture and Utilization (CCU)</a:t>
            </a:r>
            <a:r>
              <a:rPr lang="en-US" dirty="0"/>
              <a:t>, in the achievement of the given target.</a:t>
            </a:r>
            <a:r>
              <a:rPr lang="it-IT" dirty="0"/>
              <a:t> </a:t>
            </a:r>
          </a:p>
        </p:txBody>
      </p:sp>
      <p:sp>
        <p:nvSpPr>
          <p:cNvPr id="2" name="Slide Number Placeholder 1">
            <a:extLst>
              <a:ext uri="{FF2B5EF4-FFF2-40B4-BE49-F238E27FC236}">
                <a16:creationId xmlns:a16="http://schemas.microsoft.com/office/drawing/2014/main" id="{D139DE37-D45A-B67F-530D-E6B936E677D6}"/>
              </a:ext>
            </a:extLst>
          </p:cNvPr>
          <p:cNvSpPr>
            <a:spLocks noGrp="1"/>
          </p:cNvSpPr>
          <p:nvPr>
            <p:ph type="sldNum" sz="quarter" idx="12"/>
          </p:nvPr>
        </p:nvSpPr>
        <p:spPr/>
        <p:txBody>
          <a:bodyPr/>
          <a:lstStyle/>
          <a:p>
            <a:fld id="{1A424DB6-78F0-4ADD-B66A-AFD80B81666A}" type="slidenum">
              <a:rPr lang="en-DK" smtClean="0"/>
              <a:t>47</a:t>
            </a:fld>
            <a:endParaRPr lang="en-DK"/>
          </a:p>
        </p:txBody>
      </p:sp>
      <p:sp>
        <p:nvSpPr>
          <p:cNvPr id="5" name="TextBox 4">
            <a:extLst>
              <a:ext uri="{FF2B5EF4-FFF2-40B4-BE49-F238E27FC236}">
                <a16:creationId xmlns:a16="http://schemas.microsoft.com/office/drawing/2014/main" id="{0A469F57-879C-516F-533A-8289A9F8CFD9}"/>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 – Table 1</a:t>
            </a:r>
            <a:endParaRPr lang="en-GB" sz="3200" b="1" dirty="0">
              <a:solidFill>
                <a:srgbClr val="113A60"/>
              </a:solidFill>
            </a:endParaRPr>
          </a:p>
        </p:txBody>
      </p:sp>
      <p:sp>
        <p:nvSpPr>
          <p:cNvPr id="6" name="TextBox 5">
            <a:extLst>
              <a:ext uri="{FF2B5EF4-FFF2-40B4-BE49-F238E27FC236}">
                <a16:creationId xmlns:a16="http://schemas.microsoft.com/office/drawing/2014/main" id="{781F69C7-9BB7-5268-6F95-43BD9396B51D}"/>
              </a:ext>
            </a:extLst>
          </p:cNvPr>
          <p:cNvSpPr txBox="1"/>
          <p:nvPr/>
        </p:nvSpPr>
        <p:spPr>
          <a:xfrm>
            <a:off x="10186737" y="1737884"/>
            <a:ext cx="2661189" cy="307777"/>
          </a:xfrm>
          <a:prstGeom prst="rect">
            <a:avLst/>
          </a:prstGeom>
          <a:noFill/>
        </p:spPr>
        <p:txBody>
          <a:bodyPr wrap="square">
            <a:spAutoFit/>
          </a:bodyPr>
          <a:lstStyle/>
          <a:p>
            <a:r>
              <a:rPr lang="it-IT" sz="1400" dirty="0"/>
              <a:t>number (integer)</a:t>
            </a:r>
            <a:endParaRPr lang="en-DK" sz="1400" dirty="0"/>
          </a:p>
        </p:txBody>
      </p:sp>
      <p:sp>
        <p:nvSpPr>
          <p:cNvPr id="7" name="TextBox 6">
            <a:extLst>
              <a:ext uri="{FF2B5EF4-FFF2-40B4-BE49-F238E27FC236}">
                <a16:creationId xmlns:a16="http://schemas.microsoft.com/office/drawing/2014/main" id="{59201A5E-D4C1-AFFF-B422-8C3D7E60CAE5}"/>
              </a:ext>
            </a:extLst>
          </p:cNvPr>
          <p:cNvSpPr txBox="1"/>
          <p:nvPr/>
        </p:nvSpPr>
        <p:spPr>
          <a:xfrm>
            <a:off x="8429617" y="2073644"/>
            <a:ext cx="2661189" cy="307777"/>
          </a:xfrm>
          <a:prstGeom prst="rect">
            <a:avLst/>
          </a:prstGeom>
          <a:noFill/>
        </p:spPr>
        <p:txBody>
          <a:bodyPr wrap="square">
            <a:spAutoFit/>
          </a:bodyPr>
          <a:lstStyle/>
          <a:p>
            <a:r>
              <a:rPr lang="it-IT" sz="1400" dirty="0"/>
              <a:t>Negative number (decimal)</a:t>
            </a:r>
            <a:endParaRPr lang="en-DK" sz="1400" dirty="0"/>
          </a:p>
        </p:txBody>
      </p:sp>
    </p:spTree>
    <p:extLst>
      <p:ext uri="{BB962C8B-B14F-4D97-AF65-F5344CB8AC3E}">
        <p14:creationId xmlns:p14="http://schemas.microsoft.com/office/powerpoint/2010/main" val="847385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E5E29DD-7813-C4FC-8A21-212C484D5AB6}"/>
              </a:ext>
            </a:extLst>
          </p:cNvPr>
          <p:cNvSpPr/>
          <p:nvPr/>
        </p:nvSpPr>
        <p:spPr>
          <a:xfrm>
            <a:off x="158337" y="1512334"/>
            <a:ext cx="2448295" cy="1993075"/>
          </a:xfrm>
          <a:prstGeom prst="rect">
            <a:avLst/>
          </a:prstGeom>
          <a:solidFill>
            <a:srgbClr val="66B0A7">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table&#10;&#10;Description automatically generated">
            <a:extLst>
              <a:ext uri="{FF2B5EF4-FFF2-40B4-BE49-F238E27FC236}">
                <a16:creationId xmlns:a16="http://schemas.microsoft.com/office/drawing/2014/main" id="{BA86693B-E28C-8B16-CE55-168AB1029A44}"/>
              </a:ext>
            </a:extLst>
          </p:cNvPr>
          <p:cNvPicPr>
            <a:picLocks noChangeAspect="1"/>
          </p:cNvPicPr>
          <p:nvPr/>
        </p:nvPicPr>
        <p:blipFill>
          <a:blip r:embed="rId3"/>
          <a:stretch>
            <a:fillRect/>
          </a:stretch>
        </p:blipFill>
        <p:spPr>
          <a:xfrm>
            <a:off x="2598717" y="1375227"/>
            <a:ext cx="9396158" cy="2200306"/>
          </a:xfrm>
          <a:prstGeom prst="rect">
            <a:avLst/>
          </a:prstGeom>
        </p:spPr>
      </p:pic>
      <p:sp>
        <p:nvSpPr>
          <p:cNvPr id="10" name="TextBox 9">
            <a:extLst>
              <a:ext uri="{FF2B5EF4-FFF2-40B4-BE49-F238E27FC236}">
                <a16:creationId xmlns:a16="http://schemas.microsoft.com/office/drawing/2014/main" id="{A9350BF6-5E37-1CAD-3507-70D866F1B6B8}"/>
              </a:ext>
            </a:extLst>
          </p:cNvPr>
          <p:cNvSpPr txBox="1"/>
          <p:nvPr/>
        </p:nvSpPr>
        <p:spPr>
          <a:xfrm>
            <a:off x="3959" y="1704320"/>
            <a:ext cx="2594758"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t>Climate-neutrality</a:t>
            </a:r>
            <a:endParaRPr lang="en-US" dirty="0"/>
          </a:p>
          <a:p>
            <a:pPr algn="r"/>
            <a:endParaRPr lang="en-US" sz="1400" b="1" dirty="0"/>
          </a:p>
          <a:p>
            <a:pPr algn="r"/>
            <a:r>
              <a:rPr lang="en-US" sz="1400" b="1" dirty="0"/>
              <a:t>Role of removals </a:t>
            </a:r>
          </a:p>
          <a:p>
            <a:pPr algn="r"/>
            <a:endParaRPr lang="en-US" sz="1400" b="1" dirty="0"/>
          </a:p>
          <a:p>
            <a:pPr algn="r"/>
            <a:r>
              <a:rPr lang="en-US" sz="1400" b="1" dirty="0">
                <a:solidFill>
                  <a:srgbClr val="FF0000"/>
                </a:solidFill>
              </a:rPr>
              <a:t>National GHG target for 2030 and beyond, and indicative milestones for 2040 and 2050</a:t>
            </a:r>
          </a:p>
        </p:txBody>
      </p:sp>
      <p:sp>
        <p:nvSpPr>
          <p:cNvPr id="12" name="TextBox 11">
            <a:extLst>
              <a:ext uri="{FF2B5EF4-FFF2-40B4-BE49-F238E27FC236}">
                <a16:creationId xmlns:a16="http://schemas.microsoft.com/office/drawing/2014/main" id="{8A687201-0A3C-63F4-2F0F-5D138BC9C4D2}"/>
              </a:ext>
            </a:extLst>
          </p:cNvPr>
          <p:cNvSpPr txBox="1"/>
          <p:nvPr/>
        </p:nvSpPr>
        <p:spPr>
          <a:xfrm>
            <a:off x="226001" y="3957828"/>
            <a:ext cx="11768873" cy="1754326"/>
          </a:xfrm>
          <a:prstGeom prst="rect">
            <a:avLst/>
          </a:prstGeom>
          <a:noFill/>
        </p:spPr>
        <p:txBody>
          <a:bodyPr wrap="square">
            <a:spAutoFit/>
          </a:bodyPr>
          <a:lstStyle/>
          <a:p>
            <a:r>
              <a:rPr lang="en-US" b="1" dirty="0"/>
              <a:t>FIELD 3: </a:t>
            </a:r>
            <a:r>
              <a:rPr lang="en-US" dirty="0"/>
              <a:t>The purpose of this field is to </a:t>
            </a:r>
            <a:r>
              <a:rPr lang="en-US" u="sng" dirty="0"/>
              <a:t>indicate, confirm</a:t>
            </a:r>
            <a:r>
              <a:rPr lang="en-US" dirty="0"/>
              <a:t>, national economy-wide GHG emissions targets for 2030 and beyond, consistent with the Paris Agreement and the current NECP.</a:t>
            </a:r>
          </a:p>
          <a:p>
            <a:endParaRPr lang="en-US" dirty="0">
              <a:solidFill>
                <a:schemeClr val="bg1">
                  <a:lumMod val="50000"/>
                </a:schemeClr>
              </a:solidFill>
            </a:endParaRPr>
          </a:p>
          <a:p>
            <a:r>
              <a:rPr lang="en-US" dirty="0"/>
              <a:t>They have to provide quantified levels of total GHG emissions to be achieved in 2030, 2040 and 2050, in ktCO2e. </a:t>
            </a:r>
          </a:p>
          <a:p>
            <a:r>
              <a:rPr lang="en-US" dirty="0"/>
              <a:t>Where available, they have to provide the total levels of GHG Emissions without LULUCF and international aviation, including LULUCF and excluding international aviation, and including both LULUCF and international aviation.</a:t>
            </a:r>
            <a:endParaRPr lang="en-DK" b="1" dirty="0">
              <a:solidFill>
                <a:schemeClr val="bg1">
                  <a:lumMod val="50000"/>
                </a:schemeClr>
              </a:solidFill>
            </a:endParaRPr>
          </a:p>
        </p:txBody>
      </p:sp>
      <p:sp>
        <p:nvSpPr>
          <p:cNvPr id="2" name="Slide Number Placeholder 1">
            <a:extLst>
              <a:ext uri="{FF2B5EF4-FFF2-40B4-BE49-F238E27FC236}">
                <a16:creationId xmlns:a16="http://schemas.microsoft.com/office/drawing/2014/main" id="{F6B6ECAA-F390-540A-331C-13ED81B67410}"/>
              </a:ext>
            </a:extLst>
          </p:cNvPr>
          <p:cNvSpPr>
            <a:spLocks noGrp="1"/>
          </p:cNvSpPr>
          <p:nvPr>
            <p:ph type="sldNum" sz="quarter" idx="12"/>
          </p:nvPr>
        </p:nvSpPr>
        <p:spPr/>
        <p:txBody>
          <a:bodyPr/>
          <a:lstStyle/>
          <a:p>
            <a:fld id="{1A424DB6-78F0-4ADD-B66A-AFD80B81666A}" type="slidenum">
              <a:rPr lang="en-DK" smtClean="0"/>
              <a:t>48</a:t>
            </a:fld>
            <a:endParaRPr lang="en-DK"/>
          </a:p>
        </p:txBody>
      </p:sp>
      <p:sp>
        <p:nvSpPr>
          <p:cNvPr id="5" name="TextBox 4">
            <a:extLst>
              <a:ext uri="{FF2B5EF4-FFF2-40B4-BE49-F238E27FC236}">
                <a16:creationId xmlns:a16="http://schemas.microsoft.com/office/drawing/2014/main" id="{9EEC04B7-B265-A30B-AA19-13843DBDA74F}"/>
              </a:ext>
            </a:extLst>
          </p:cNvPr>
          <p:cNvSpPr txBox="1"/>
          <p:nvPr/>
        </p:nvSpPr>
        <p:spPr>
          <a:xfrm>
            <a:off x="8429616" y="2469884"/>
            <a:ext cx="2661189" cy="307777"/>
          </a:xfrm>
          <a:prstGeom prst="rect">
            <a:avLst/>
          </a:prstGeom>
          <a:noFill/>
        </p:spPr>
        <p:txBody>
          <a:bodyPr wrap="square">
            <a:spAutoFit/>
          </a:bodyPr>
          <a:lstStyle/>
          <a:p>
            <a:r>
              <a:rPr lang="it-IT" sz="1400" dirty="0"/>
              <a:t>number (decimal)</a:t>
            </a:r>
            <a:endParaRPr lang="en-DK" sz="1400" dirty="0"/>
          </a:p>
        </p:txBody>
      </p:sp>
      <p:sp>
        <p:nvSpPr>
          <p:cNvPr id="6" name="TextBox 5">
            <a:extLst>
              <a:ext uri="{FF2B5EF4-FFF2-40B4-BE49-F238E27FC236}">
                <a16:creationId xmlns:a16="http://schemas.microsoft.com/office/drawing/2014/main" id="{B6B27807-C37A-ED50-4D10-E3B8D97885D7}"/>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 – Table 1</a:t>
            </a:r>
            <a:endParaRPr lang="en-GB" sz="3200" b="1" dirty="0">
              <a:solidFill>
                <a:srgbClr val="113A60"/>
              </a:solidFill>
            </a:endParaRPr>
          </a:p>
        </p:txBody>
      </p:sp>
      <p:sp>
        <p:nvSpPr>
          <p:cNvPr id="9" name="TextBox 8">
            <a:extLst>
              <a:ext uri="{FF2B5EF4-FFF2-40B4-BE49-F238E27FC236}">
                <a16:creationId xmlns:a16="http://schemas.microsoft.com/office/drawing/2014/main" id="{CC8A75E0-ECAF-04B0-18BC-3FC593D71FBA}"/>
              </a:ext>
            </a:extLst>
          </p:cNvPr>
          <p:cNvSpPr txBox="1"/>
          <p:nvPr/>
        </p:nvSpPr>
        <p:spPr>
          <a:xfrm>
            <a:off x="168732" y="714334"/>
            <a:ext cx="117486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cs typeface="Segoe UI"/>
              </a:rPr>
              <a:t>Current and projected national progress towards the national greenhouse gas (GHG) emissions reduction targets in view of climate-neutrality (</a:t>
            </a:r>
            <a:r>
              <a:rPr lang="it-IT" dirty="0"/>
              <a:t>Mandatory, if applicable</a:t>
            </a:r>
            <a:r>
              <a:rPr lang="en-GB" b="1" dirty="0">
                <a:cs typeface="Segoe UI"/>
              </a:rPr>
              <a:t>)</a:t>
            </a:r>
            <a:endParaRPr lang="en-US" b="1" dirty="0">
              <a:cs typeface="Segoe UI"/>
            </a:endParaRPr>
          </a:p>
        </p:txBody>
      </p:sp>
      <p:sp>
        <p:nvSpPr>
          <p:cNvPr id="13" name="TextBox 12">
            <a:extLst>
              <a:ext uri="{FF2B5EF4-FFF2-40B4-BE49-F238E27FC236}">
                <a16:creationId xmlns:a16="http://schemas.microsoft.com/office/drawing/2014/main" id="{A52492EF-1EDB-B14B-2ADA-04E1EE120B17}"/>
              </a:ext>
            </a:extLst>
          </p:cNvPr>
          <p:cNvSpPr txBox="1"/>
          <p:nvPr/>
        </p:nvSpPr>
        <p:spPr>
          <a:xfrm>
            <a:off x="11090805" y="2546655"/>
            <a:ext cx="2661189" cy="523220"/>
          </a:xfrm>
          <a:prstGeom prst="rect">
            <a:avLst/>
          </a:prstGeom>
          <a:noFill/>
        </p:spPr>
        <p:txBody>
          <a:bodyPr wrap="square">
            <a:spAutoFit/>
          </a:bodyPr>
          <a:lstStyle/>
          <a:p>
            <a:r>
              <a:rPr lang="it-IT" sz="1400" dirty="0"/>
              <a:t>Text</a:t>
            </a:r>
          </a:p>
          <a:p>
            <a:r>
              <a:rPr lang="it-IT" sz="1400" dirty="0"/>
              <a:t>Yes or no</a:t>
            </a:r>
            <a:endParaRPr lang="en-DK" sz="1400" dirty="0"/>
          </a:p>
        </p:txBody>
      </p:sp>
    </p:spTree>
    <p:extLst>
      <p:ext uri="{BB962C8B-B14F-4D97-AF65-F5344CB8AC3E}">
        <p14:creationId xmlns:p14="http://schemas.microsoft.com/office/powerpoint/2010/main" val="2150545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E5E29DD-7813-C4FC-8A21-212C484D5AB6}"/>
              </a:ext>
            </a:extLst>
          </p:cNvPr>
          <p:cNvSpPr/>
          <p:nvPr/>
        </p:nvSpPr>
        <p:spPr>
          <a:xfrm>
            <a:off x="226001" y="1992690"/>
            <a:ext cx="2448295" cy="1993075"/>
          </a:xfrm>
          <a:prstGeom prst="rect">
            <a:avLst/>
          </a:prstGeom>
          <a:solidFill>
            <a:srgbClr val="66B0A7">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5616BF8-64E0-7480-EA92-5A77D12968C8}"/>
              </a:ext>
            </a:extLst>
          </p:cNvPr>
          <p:cNvSpPr txBox="1"/>
          <p:nvPr/>
        </p:nvSpPr>
        <p:spPr>
          <a:xfrm>
            <a:off x="221673" y="710553"/>
            <a:ext cx="11748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Segoe UI"/>
              </a:rPr>
              <a:t>Current and projected progress towards commitments pursuant to Regulation (EU) 2018/841 of the European Parliament and of the Council as reported pursuant to Article 26(3) and Article 18(1), point (b) of Regulation (EU) 2018/1999</a:t>
            </a:r>
            <a:r>
              <a:rPr lang="en-US" dirty="0"/>
              <a:t> </a:t>
            </a:r>
            <a:r>
              <a:rPr lang="en-GB" b="1" dirty="0">
                <a:cs typeface="Segoe UI"/>
              </a:rPr>
              <a:t>(</a:t>
            </a:r>
            <a:r>
              <a:rPr lang="en-GB" dirty="0">
                <a:cs typeface="Segoe UI"/>
              </a:rPr>
              <a:t>Mandatory and </a:t>
            </a:r>
            <a:r>
              <a:rPr lang="it-IT" dirty="0"/>
              <a:t>Mandatory, if applicable</a:t>
            </a:r>
            <a:r>
              <a:rPr lang="en-GB" b="1" dirty="0">
                <a:cs typeface="Segoe UI"/>
              </a:rPr>
              <a:t>)</a:t>
            </a:r>
            <a:endParaRPr lang="en-US" b="1" dirty="0">
              <a:cs typeface="Segoe UI"/>
            </a:endParaRPr>
          </a:p>
        </p:txBody>
      </p:sp>
      <p:sp>
        <p:nvSpPr>
          <p:cNvPr id="10" name="TextBox 9">
            <a:extLst>
              <a:ext uri="{FF2B5EF4-FFF2-40B4-BE49-F238E27FC236}">
                <a16:creationId xmlns:a16="http://schemas.microsoft.com/office/drawing/2014/main" id="{A9350BF6-5E37-1CAD-3507-70D866F1B6B8}"/>
              </a:ext>
            </a:extLst>
          </p:cNvPr>
          <p:cNvSpPr txBox="1"/>
          <p:nvPr/>
        </p:nvSpPr>
        <p:spPr>
          <a:xfrm>
            <a:off x="-77131" y="2244319"/>
            <a:ext cx="258337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t>LULUCF</a:t>
            </a:r>
            <a:endParaRPr lang="en-US" dirty="0"/>
          </a:p>
          <a:p>
            <a:pPr algn="r"/>
            <a:endParaRPr lang="en-US" sz="1400" b="1" dirty="0"/>
          </a:p>
          <a:p>
            <a:pPr algn="r"/>
            <a:r>
              <a:rPr lang="en-US" sz="1400" b="1" dirty="0"/>
              <a:t>LULUCF in WEM</a:t>
            </a:r>
          </a:p>
          <a:p>
            <a:pPr algn="r"/>
            <a:endParaRPr lang="en-US" sz="1400" b="1" dirty="0"/>
          </a:p>
          <a:p>
            <a:pPr algn="r"/>
            <a:r>
              <a:rPr lang="en-US" sz="1400" b="1" dirty="0"/>
              <a:t>LULUCF in WAM</a:t>
            </a:r>
          </a:p>
          <a:p>
            <a:pPr algn="r"/>
            <a:endParaRPr lang="en-US" sz="1400" b="1" dirty="0"/>
          </a:p>
          <a:p>
            <a:pPr algn="r"/>
            <a:r>
              <a:rPr lang="en-US" sz="1400" b="1" dirty="0"/>
              <a:t>LULUCF commitment in NECP</a:t>
            </a:r>
          </a:p>
          <a:p>
            <a:pPr algn="r"/>
            <a:endParaRPr lang="en-US" sz="1400" b="1" dirty="0"/>
          </a:p>
        </p:txBody>
      </p:sp>
      <p:sp>
        <p:nvSpPr>
          <p:cNvPr id="12" name="TextBox 11">
            <a:extLst>
              <a:ext uri="{FF2B5EF4-FFF2-40B4-BE49-F238E27FC236}">
                <a16:creationId xmlns:a16="http://schemas.microsoft.com/office/drawing/2014/main" id="{8A687201-0A3C-63F4-2F0F-5D138BC9C4D2}"/>
              </a:ext>
            </a:extLst>
          </p:cNvPr>
          <p:cNvSpPr txBox="1"/>
          <p:nvPr/>
        </p:nvSpPr>
        <p:spPr>
          <a:xfrm>
            <a:off x="226001" y="4038038"/>
            <a:ext cx="11768873" cy="2585323"/>
          </a:xfrm>
          <a:prstGeom prst="rect">
            <a:avLst/>
          </a:prstGeom>
          <a:noFill/>
        </p:spPr>
        <p:txBody>
          <a:bodyPr wrap="square">
            <a:spAutoFit/>
          </a:bodyPr>
          <a:lstStyle/>
          <a:p>
            <a:r>
              <a:rPr lang="en-US" b="1" dirty="0"/>
              <a:t>FIELD 1: </a:t>
            </a:r>
            <a:r>
              <a:rPr lang="en-US" dirty="0"/>
              <a:t>Description for pre-filled LULUCF emissions data, possibly by using links and references to existing documents, on the following: </a:t>
            </a:r>
          </a:p>
          <a:p>
            <a:r>
              <a:rPr lang="en-US" dirty="0"/>
              <a:t>• For </a:t>
            </a:r>
            <a:r>
              <a:rPr lang="en-US" u="sng" dirty="0"/>
              <a:t>historical data</a:t>
            </a:r>
            <a:r>
              <a:rPr lang="en-US" dirty="0"/>
              <a:t>: detailed figures by LULUCF categories, </a:t>
            </a:r>
            <a:r>
              <a:rPr lang="en-US" u="sng" dirty="0"/>
              <a:t>explanations of the main natural and policy drivers of LULUCF emissions and removals, description of the inventory methodologies, envisaged enhancements to the inventory methodologies</a:t>
            </a:r>
            <a:r>
              <a:rPr lang="en-US" dirty="0"/>
              <a:t>;</a:t>
            </a:r>
          </a:p>
          <a:p>
            <a:r>
              <a:rPr lang="en-US" dirty="0"/>
              <a:t>• For </a:t>
            </a:r>
            <a:r>
              <a:rPr lang="en-US" u="sng" dirty="0"/>
              <a:t>projected data </a:t>
            </a:r>
            <a:r>
              <a:rPr lang="en-US" dirty="0"/>
              <a:t>(WEM-WAM): detailed figures by LULUCF categories, estimation of the gap between WEM/WAM and the ambition level necessary to reach LULUCF commitment, </a:t>
            </a:r>
            <a:r>
              <a:rPr lang="en-US" u="sng" dirty="0"/>
              <a:t>quantitative estimates of the mitigation impact of the LULUCF relevant policies and measures </a:t>
            </a:r>
            <a:r>
              <a:rPr lang="en-US" dirty="0"/>
              <a:t>(including under the Common Agriculture Policy), consistency with the long-term strategy, description of the projection methodologies, envisaged enhancements to the projection methodologies.</a:t>
            </a:r>
          </a:p>
        </p:txBody>
      </p:sp>
      <p:pic>
        <p:nvPicPr>
          <p:cNvPr id="5" name="Picture 4">
            <a:extLst>
              <a:ext uri="{FF2B5EF4-FFF2-40B4-BE49-F238E27FC236}">
                <a16:creationId xmlns:a16="http://schemas.microsoft.com/office/drawing/2014/main" id="{F40F5A74-350F-6C7B-94BC-4C81A6170BB5}"/>
              </a:ext>
            </a:extLst>
          </p:cNvPr>
          <p:cNvPicPr>
            <a:picLocks noChangeAspect="1"/>
          </p:cNvPicPr>
          <p:nvPr/>
        </p:nvPicPr>
        <p:blipFill>
          <a:blip r:embed="rId3"/>
          <a:stretch>
            <a:fillRect/>
          </a:stretch>
        </p:blipFill>
        <p:spPr>
          <a:xfrm>
            <a:off x="2506246" y="1824891"/>
            <a:ext cx="9488628" cy="2150562"/>
          </a:xfrm>
          <a:prstGeom prst="rect">
            <a:avLst/>
          </a:prstGeom>
        </p:spPr>
      </p:pic>
      <p:sp>
        <p:nvSpPr>
          <p:cNvPr id="6" name="Slide Number Placeholder 5">
            <a:extLst>
              <a:ext uri="{FF2B5EF4-FFF2-40B4-BE49-F238E27FC236}">
                <a16:creationId xmlns:a16="http://schemas.microsoft.com/office/drawing/2014/main" id="{2ACAC0EC-E632-63D3-E396-3C7F75D53AE8}"/>
              </a:ext>
            </a:extLst>
          </p:cNvPr>
          <p:cNvSpPr>
            <a:spLocks noGrp="1"/>
          </p:cNvSpPr>
          <p:nvPr>
            <p:ph type="sldNum" sz="quarter" idx="12"/>
          </p:nvPr>
        </p:nvSpPr>
        <p:spPr/>
        <p:txBody>
          <a:bodyPr/>
          <a:lstStyle/>
          <a:p>
            <a:fld id="{1A424DB6-78F0-4ADD-B66A-AFD80B81666A}" type="slidenum">
              <a:rPr lang="en-DK" smtClean="0"/>
              <a:t>49</a:t>
            </a:fld>
            <a:endParaRPr lang="en-DK" dirty="0"/>
          </a:p>
        </p:txBody>
      </p:sp>
      <p:sp>
        <p:nvSpPr>
          <p:cNvPr id="7" name="TextBox 6">
            <a:extLst>
              <a:ext uri="{FF2B5EF4-FFF2-40B4-BE49-F238E27FC236}">
                <a16:creationId xmlns:a16="http://schemas.microsoft.com/office/drawing/2014/main" id="{10638CAF-CC26-0943-AB6F-9903096F3A8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 – Table 3</a:t>
            </a:r>
            <a:endParaRPr lang="en-GB" sz="3200" b="1" dirty="0">
              <a:solidFill>
                <a:srgbClr val="113A60"/>
              </a:solidFill>
            </a:endParaRPr>
          </a:p>
        </p:txBody>
      </p:sp>
      <p:sp>
        <p:nvSpPr>
          <p:cNvPr id="9" name="TextBox 8">
            <a:extLst>
              <a:ext uri="{FF2B5EF4-FFF2-40B4-BE49-F238E27FC236}">
                <a16:creationId xmlns:a16="http://schemas.microsoft.com/office/drawing/2014/main" id="{C1657B81-6077-F3F3-C683-3599242C91CB}"/>
              </a:ext>
            </a:extLst>
          </p:cNvPr>
          <p:cNvSpPr txBox="1"/>
          <p:nvPr/>
        </p:nvSpPr>
        <p:spPr>
          <a:xfrm>
            <a:off x="6711310" y="2305714"/>
            <a:ext cx="2661189" cy="307777"/>
          </a:xfrm>
          <a:prstGeom prst="rect">
            <a:avLst/>
          </a:prstGeom>
          <a:noFill/>
        </p:spPr>
        <p:txBody>
          <a:bodyPr wrap="square">
            <a:spAutoFit/>
          </a:bodyPr>
          <a:lstStyle/>
          <a:p>
            <a:r>
              <a:rPr lang="it-IT" sz="1400" dirty="0"/>
              <a:t>ktCO2e</a:t>
            </a:r>
            <a:endParaRPr lang="en-DK" sz="1400" dirty="0"/>
          </a:p>
        </p:txBody>
      </p:sp>
    </p:spTree>
    <p:extLst>
      <p:ext uri="{BB962C8B-B14F-4D97-AF65-F5344CB8AC3E}">
        <p14:creationId xmlns:p14="http://schemas.microsoft.com/office/powerpoint/2010/main" val="38740792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E5E29DD-7813-C4FC-8A21-212C484D5AB6}"/>
              </a:ext>
            </a:extLst>
          </p:cNvPr>
          <p:cNvSpPr/>
          <p:nvPr/>
        </p:nvSpPr>
        <p:spPr>
          <a:xfrm>
            <a:off x="226001" y="1992690"/>
            <a:ext cx="2448295" cy="1993075"/>
          </a:xfrm>
          <a:prstGeom prst="rect">
            <a:avLst/>
          </a:prstGeom>
          <a:solidFill>
            <a:srgbClr val="66B0A7">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5616BF8-64E0-7480-EA92-5A77D12968C8}"/>
              </a:ext>
            </a:extLst>
          </p:cNvPr>
          <p:cNvSpPr txBox="1"/>
          <p:nvPr/>
        </p:nvSpPr>
        <p:spPr>
          <a:xfrm>
            <a:off x="221673" y="710553"/>
            <a:ext cx="11748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Segoe UI"/>
              </a:rPr>
              <a:t>Current and projected progress towards commitments pursuant to Regulation (EU) 2018/841 of the European Parliament and of the Council as reported pursuant to Article 26(3) and Article 18(1), point (b) of Regulation (EU) 2018/1999</a:t>
            </a:r>
            <a:r>
              <a:rPr lang="en-US" dirty="0"/>
              <a:t> </a:t>
            </a:r>
            <a:r>
              <a:rPr lang="en-GB" b="1" dirty="0">
                <a:cs typeface="Segoe UI"/>
              </a:rPr>
              <a:t>(</a:t>
            </a:r>
            <a:r>
              <a:rPr lang="en-GB" dirty="0">
                <a:cs typeface="Segoe UI"/>
              </a:rPr>
              <a:t>Mandatory and </a:t>
            </a:r>
            <a:r>
              <a:rPr lang="it-IT" dirty="0"/>
              <a:t>Mandatory, if applicable</a:t>
            </a:r>
            <a:r>
              <a:rPr lang="en-GB" b="1" dirty="0">
                <a:cs typeface="Segoe UI"/>
              </a:rPr>
              <a:t>)</a:t>
            </a:r>
            <a:endParaRPr lang="en-US" b="1" dirty="0">
              <a:cs typeface="Segoe UI"/>
            </a:endParaRPr>
          </a:p>
        </p:txBody>
      </p:sp>
      <p:sp>
        <p:nvSpPr>
          <p:cNvPr id="10" name="TextBox 9">
            <a:extLst>
              <a:ext uri="{FF2B5EF4-FFF2-40B4-BE49-F238E27FC236}">
                <a16:creationId xmlns:a16="http://schemas.microsoft.com/office/drawing/2014/main" id="{A9350BF6-5E37-1CAD-3507-70D866F1B6B8}"/>
              </a:ext>
            </a:extLst>
          </p:cNvPr>
          <p:cNvSpPr txBox="1"/>
          <p:nvPr/>
        </p:nvSpPr>
        <p:spPr>
          <a:xfrm>
            <a:off x="-77131" y="2244319"/>
            <a:ext cx="258337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t>LULUCF</a:t>
            </a:r>
            <a:endParaRPr lang="en-US" dirty="0"/>
          </a:p>
          <a:p>
            <a:pPr algn="r"/>
            <a:endParaRPr lang="en-US" sz="1400" b="1" dirty="0"/>
          </a:p>
          <a:p>
            <a:pPr algn="r"/>
            <a:r>
              <a:rPr lang="en-US" sz="1400" b="1" dirty="0"/>
              <a:t>LULUCF in WEM</a:t>
            </a:r>
          </a:p>
          <a:p>
            <a:pPr algn="r"/>
            <a:endParaRPr lang="en-US" sz="1400" b="1" dirty="0"/>
          </a:p>
          <a:p>
            <a:pPr algn="r"/>
            <a:r>
              <a:rPr lang="en-US" sz="1400" b="1" dirty="0"/>
              <a:t>LULUCF in WAM</a:t>
            </a:r>
          </a:p>
          <a:p>
            <a:pPr algn="r"/>
            <a:endParaRPr lang="en-US" sz="1400" b="1" dirty="0"/>
          </a:p>
          <a:p>
            <a:pPr algn="r"/>
            <a:r>
              <a:rPr lang="en-US" sz="1400" b="1" dirty="0"/>
              <a:t>LULUCF commitment in NECP</a:t>
            </a:r>
          </a:p>
          <a:p>
            <a:pPr algn="r"/>
            <a:endParaRPr lang="en-US" sz="1400" b="1" dirty="0"/>
          </a:p>
        </p:txBody>
      </p:sp>
      <p:sp>
        <p:nvSpPr>
          <p:cNvPr id="12" name="TextBox 11">
            <a:extLst>
              <a:ext uri="{FF2B5EF4-FFF2-40B4-BE49-F238E27FC236}">
                <a16:creationId xmlns:a16="http://schemas.microsoft.com/office/drawing/2014/main" id="{8A687201-0A3C-63F4-2F0F-5D138BC9C4D2}"/>
              </a:ext>
            </a:extLst>
          </p:cNvPr>
          <p:cNvSpPr txBox="1"/>
          <p:nvPr/>
        </p:nvSpPr>
        <p:spPr>
          <a:xfrm>
            <a:off x="226001" y="4153564"/>
            <a:ext cx="11768873" cy="1477328"/>
          </a:xfrm>
          <a:prstGeom prst="rect">
            <a:avLst/>
          </a:prstGeom>
          <a:noFill/>
        </p:spPr>
        <p:txBody>
          <a:bodyPr wrap="square">
            <a:spAutoFit/>
          </a:bodyPr>
          <a:lstStyle/>
          <a:p>
            <a:r>
              <a:rPr lang="it-IT" b="1" dirty="0"/>
              <a:t>FIELD 2:</a:t>
            </a:r>
          </a:p>
          <a:p>
            <a:r>
              <a:rPr lang="en-US" dirty="0"/>
              <a:t>Data format: text for description, unit and GWP. Number (decimal) for years (X-3, X-2, t, t+5, t+10).</a:t>
            </a:r>
          </a:p>
          <a:p>
            <a:r>
              <a:rPr lang="en-US" dirty="0"/>
              <a:t> </a:t>
            </a:r>
          </a:p>
          <a:p>
            <a:r>
              <a:rPr lang="en-US" dirty="0"/>
              <a:t>Negative values indicate the LULUCF sector is a sink of net removals for the reported year. </a:t>
            </a:r>
          </a:p>
          <a:p>
            <a:r>
              <a:rPr lang="en-US" dirty="0"/>
              <a:t>Positive values indicate the LULUCF sector is a source of net emissions from the reported year. </a:t>
            </a:r>
            <a:endParaRPr lang="en-DK" b="1" dirty="0">
              <a:solidFill>
                <a:schemeClr val="bg1">
                  <a:lumMod val="50000"/>
                </a:schemeClr>
              </a:solidFill>
            </a:endParaRPr>
          </a:p>
        </p:txBody>
      </p:sp>
      <p:pic>
        <p:nvPicPr>
          <p:cNvPr id="5" name="Picture 4">
            <a:extLst>
              <a:ext uri="{FF2B5EF4-FFF2-40B4-BE49-F238E27FC236}">
                <a16:creationId xmlns:a16="http://schemas.microsoft.com/office/drawing/2014/main" id="{F40F5A74-350F-6C7B-94BC-4C81A6170BB5}"/>
              </a:ext>
            </a:extLst>
          </p:cNvPr>
          <p:cNvPicPr>
            <a:picLocks noChangeAspect="1"/>
          </p:cNvPicPr>
          <p:nvPr/>
        </p:nvPicPr>
        <p:blipFill>
          <a:blip r:embed="rId3"/>
          <a:stretch>
            <a:fillRect/>
          </a:stretch>
        </p:blipFill>
        <p:spPr>
          <a:xfrm>
            <a:off x="2506246" y="1824891"/>
            <a:ext cx="9488628" cy="2150562"/>
          </a:xfrm>
          <a:prstGeom prst="rect">
            <a:avLst/>
          </a:prstGeom>
        </p:spPr>
      </p:pic>
      <p:sp>
        <p:nvSpPr>
          <p:cNvPr id="6" name="Slide Number Placeholder 5">
            <a:extLst>
              <a:ext uri="{FF2B5EF4-FFF2-40B4-BE49-F238E27FC236}">
                <a16:creationId xmlns:a16="http://schemas.microsoft.com/office/drawing/2014/main" id="{2ACAC0EC-E632-63D3-E396-3C7F75D53AE8}"/>
              </a:ext>
            </a:extLst>
          </p:cNvPr>
          <p:cNvSpPr>
            <a:spLocks noGrp="1"/>
          </p:cNvSpPr>
          <p:nvPr>
            <p:ph type="sldNum" sz="quarter" idx="12"/>
          </p:nvPr>
        </p:nvSpPr>
        <p:spPr/>
        <p:txBody>
          <a:bodyPr/>
          <a:lstStyle/>
          <a:p>
            <a:fld id="{1A424DB6-78F0-4ADD-B66A-AFD80B81666A}" type="slidenum">
              <a:rPr lang="en-DK" smtClean="0"/>
              <a:t>50</a:t>
            </a:fld>
            <a:endParaRPr lang="en-DK" dirty="0"/>
          </a:p>
        </p:txBody>
      </p:sp>
      <p:sp>
        <p:nvSpPr>
          <p:cNvPr id="7" name="TextBox 6">
            <a:extLst>
              <a:ext uri="{FF2B5EF4-FFF2-40B4-BE49-F238E27FC236}">
                <a16:creationId xmlns:a16="http://schemas.microsoft.com/office/drawing/2014/main" id="{10638CAF-CC26-0943-AB6F-9903096F3A8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 – Table 3</a:t>
            </a:r>
            <a:endParaRPr lang="en-GB" sz="3200" b="1" dirty="0">
              <a:solidFill>
                <a:srgbClr val="113A60"/>
              </a:solidFill>
            </a:endParaRPr>
          </a:p>
        </p:txBody>
      </p:sp>
    </p:spTree>
    <p:extLst>
      <p:ext uri="{BB962C8B-B14F-4D97-AF65-F5344CB8AC3E}">
        <p14:creationId xmlns:p14="http://schemas.microsoft.com/office/powerpoint/2010/main" val="14843314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5616BF8-64E0-7480-EA92-5A77D12968C8}"/>
              </a:ext>
            </a:extLst>
          </p:cNvPr>
          <p:cNvSpPr txBox="1"/>
          <p:nvPr/>
        </p:nvSpPr>
        <p:spPr>
          <a:xfrm>
            <a:off x="152400" y="821368"/>
            <a:ext cx="11748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cs typeface="Segoe UI"/>
              </a:rPr>
              <a:t>C</a:t>
            </a:r>
            <a:r>
              <a:rPr lang="en-US" b="1" dirty="0" err="1"/>
              <a:t>urrent</a:t>
            </a:r>
            <a:r>
              <a:rPr lang="en-US" b="1" dirty="0"/>
              <a:t> and projected progress towards other national greenhouse-gas related targets and objectives set out in integrated national energy and climate plans, including sector targets in accordance with Article 4(a), point (1)(iii) of Regulation (EU) 2018/1999 </a:t>
            </a:r>
            <a:r>
              <a:rPr lang="en-GB" b="1" dirty="0">
                <a:cs typeface="Segoe UI"/>
              </a:rPr>
              <a:t>( </a:t>
            </a:r>
            <a:r>
              <a:rPr lang="it-IT" dirty="0"/>
              <a:t>Mandatory, if applicable</a:t>
            </a:r>
            <a:r>
              <a:rPr lang="en-GB" b="1" dirty="0">
                <a:cs typeface="Segoe UI"/>
              </a:rPr>
              <a:t>)</a:t>
            </a:r>
            <a:endParaRPr lang="en-US" b="1" dirty="0">
              <a:cs typeface="Segoe UI"/>
            </a:endParaRPr>
          </a:p>
        </p:txBody>
      </p:sp>
      <p:pic>
        <p:nvPicPr>
          <p:cNvPr id="3" name="Picture 2">
            <a:extLst>
              <a:ext uri="{FF2B5EF4-FFF2-40B4-BE49-F238E27FC236}">
                <a16:creationId xmlns:a16="http://schemas.microsoft.com/office/drawing/2014/main" id="{9D933B05-91D3-5986-FEF6-D2DC204C7E43}"/>
              </a:ext>
            </a:extLst>
          </p:cNvPr>
          <p:cNvPicPr>
            <a:picLocks noChangeAspect="1"/>
          </p:cNvPicPr>
          <p:nvPr/>
        </p:nvPicPr>
        <p:blipFill>
          <a:blip r:embed="rId3"/>
          <a:stretch>
            <a:fillRect/>
          </a:stretch>
        </p:blipFill>
        <p:spPr>
          <a:xfrm>
            <a:off x="59412" y="1750715"/>
            <a:ext cx="12134474" cy="1769035"/>
          </a:xfrm>
          <a:prstGeom prst="rect">
            <a:avLst/>
          </a:prstGeom>
        </p:spPr>
      </p:pic>
      <p:sp>
        <p:nvSpPr>
          <p:cNvPr id="2" name="TextBox 1">
            <a:extLst>
              <a:ext uri="{FF2B5EF4-FFF2-40B4-BE49-F238E27FC236}">
                <a16:creationId xmlns:a16="http://schemas.microsoft.com/office/drawing/2014/main" id="{0DA03974-A85A-34D6-F686-8DBF13430EF3}"/>
              </a:ext>
            </a:extLst>
          </p:cNvPr>
          <p:cNvSpPr txBox="1"/>
          <p:nvPr/>
        </p:nvSpPr>
        <p:spPr>
          <a:xfrm>
            <a:off x="211096" y="3488754"/>
            <a:ext cx="11980904" cy="3693319"/>
          </a:xfrm>
          <a:prstGeom prst="rect">
            <a:avLst/>
          </a:prstGeom>
          <a:noFill/>
        </p:spPr>
        <p:txBody>
          <a:bodyPr wrap="square">
            <a:spAutoFit/>
          </a:bodyPr>
          <a:lstStyle/>
          <a:p>
            <a:r>
              <a:rPr lang="en-US" b="1" dirty="0"/>
              <a:t>FIELD 1: </a:t>
            </a:r>
            <a:r>
              <a:rPr lang="en-US" dirty="0"/>
              <a:t>The purpose of this field is to provide the name of the national target or objective.</a:t>
            </a:r>
          </a:p>
          <a:p>
            <a:endParaRPr lang="en-US" dirty="0"/>
          </a:p>
          <a:p>
            <a:r>
              <a:rPr lang="en-US" b="1" dirty="0"/>
              <a:t>FIELD 2:</a:t>
            </a:r>
            <a:r>
              <a:rPr lang="it-IT" dirty="0"/>
              <a:t> </a:t>
            </a:r>
            <a:r>
              <a:rPr lang="en-US" dirty="0"/>
              <a:t>The purpose of this field is to describe the scope and potential of impact of the target. It is necessary to understand the sector(s) that the CPs targets.</a:t>
            </a:r>
          </a:p>
          <a:p>
            <a:endParaRPr lang="en-US" dirty="0"/>
          </a:p>
          <a:p>
            <a:r>
              <a:rPr lang="en-US" b="1" dirty="0"/>
              <a:t>FIELD 3:</a:t>
            </a:r>
            <a:r>
              <a:rPr lang="it-IT" dirty="0"/>
              <a:t> : </a:t>
            </a:r>
            <a:r>
              <a:rPr lang="en-US" dirty="0"/>
              <a:t>The purpose of this field is to provide a textual description of the target/objective and, if needed, a qualitative assessment of the progress to target. (e.g. to reduce GHG emissions in this sector by 15 % in 2030 (compared to 2005)</a:t>
            </a:r>
          </a:p>
          <a:p>
            <a:endParaRPr lang="en-US" dirty="0"/>
          </a:p>
          <a:p>
            <a:r>
              <a:rPr lang="en-US" b="1" dirty="0"/>
              <a:t>FIELD 4 :</a:t>
            </a:r>
            <a:r>
              <a:rPr lang="it-IT" b="1" dirty="0"/>
              <a:t> </a:t>
            </a:r>
            <a:r>
              <a:rPr lang="en-US" dirty="0"/>
              <a:t>The purpose of this field is to add units comparable to the unit of projected progress data.</a:t>
            </a:r>
          </a:p>
          <a:p>
            <a:endParaRPr lang="en-US" dirty="0"/>
          </a:p>
          <a:p>
            <a:r>
              <a:rPr lang="en-US" b="1" dirty="0"/>
              <a:t>FIELD 5 :</a:t>
            </a:r>
            <a:r>
              <a:rPr lang="it-IT" dirty="0"/>
              <a:t> </a:t>
            </a:r>
            <a:r>
              <a:rPr lang="en-US" dirty="0"/>
              <a:t>The purpose of this field is to describe the Global Warming Potential references used. (AR 4 or 5 = Global Warming Potential values from the IPCC’s 4th or  5thAssessment Report )</a:t>
            </a:r>
          </a:p>
          <a:p>
            <a:endParaRPr lang="it-IT" dirty="0"/>
          </a:p>
        </p:txBody>
      </p:sp>
      <p:sp>
        <p:nvSpPr>
          <p:cNvPr id="6" name="Slide Number Placeholder 5">
            <a:extLst>
              <a:ext uri="{FF2B5EF4-FFF2-40B4-BE49-F238E27FC236}">
                <a16:creationId xmlns:a16="http://schemas.microsoft.com/office/drawing/2014/main" id="{F7FDA5F2-B41E-F63F-E821-BD61639EFE2E}"/>
              </a:ext>
            </a:extLst>
          </p:cNvPr>
          <p:cNvSpPr>
            <a:spLocks noGrp="1"/>
          </p:cNvSpPr>
          <p:nvPr>
            <p:ph type="sldNum" sz="quarter" idx="12"/>
          </p:nvPr>
        </p:nvSpPr>
        <p:spPr/>
        <p:txBody>
          <a:bodyPr/>
          <a:lstStyle/>
          <a:p>
            <a:fld id="{1A424DB6-78F0-4ADD-B66A-AFD80B81666A}" type="slidenum">
              <a:rPr lang="en-DK" smtClean="0"/>
              <a:t>51</a:t>
            </a:fld>
            <a:endParaRPr lang="en-DK" dirty="0"/>
          </a:p>
        </p:txBody>
      </p:sp>
      <p:sp>
        <p:nvSpPr>
          <p:cNvPr id="7" name="TextBox 6">
            <a:extLst>
              <a:ext uri="{FF2B5EF4-FFF2-40B4-BE49-F238E27FC236}">
                <a16:creationId xmlns:a16="http://schemas.microsoft.com/office/drawing/2014/main" id="{8F1EC7FD-63CD-C8DE-8371-8365111F2E1C}"/>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 – Table 4</a:t>
            </a:r>
            <a:endParaRPr lang="en-GB" sz="3200" b="1" dirty="0">
              <a:solidFill>
                <a:srgbClr val="113A60"/>
              </a:solidFill>
            </a:endParaRPr>
          </a:p>
        </p:txBody>
      </p:sp>
      <p:sp>
        <p:nvSpPr>
          <p:cNvPr id="9" name="TextBox 8">
            <a:extLst>
              <a:ext uri="{FF2B5EF4-FFF2-40B4-BE49-F238E27FC236}">
                <a16:creationId xmlns:a16="http://schemas.microsoft.com/office/drawing/2014/main" id="{98EB2776-B451-0BD2-F9BF-67E1A0BBA410}"/>
              </a:ext>
            </a:extLst>
          </p:cNvPr>
          <p:cNvSpPr txBox="1"/>
          <p:nvPr/>
        </p:nvSpPr>
        <p:spPr>
          <a:xfrm>
            <a:off x="3532175" y="2246448"/>
            <a:ext cx="614523" cy="307777"/>
          </a:xfrm>
          <a:prstGeom prst="rect">
            <a:avLst/>
          </a:prstGeom>
          <a:noFill/>
        </p:spPr>
        <p:txBody>
          <a:bodyPr wrap="square">
            <a:spAutoFit/>
          </a:bodyPr>
          <a:lstStyle/>
          <a:p>
            <a:r>
              <a:rPr lang="it-IT" sz="1400" dirty="0"/>
              <a:t>text</a:t>
            </a:r>
            <a:endParaRPr lang="en-DK" sz="1400" dirty="0"/>
          </a:p>
        </p:txBody>
      </p:sp>
    </p:spTree>
    <p:extLst>
      <p:ext uri="{BB962C8B-B14F-4D97-AF65-F5344CB8AC3E}">
        <p14:creationId xmlns:p14="http://schemas.microsoft.com/office/powerpoint/2010/main" val="28884329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5616BF8-64E0-7480-EA92-5A77D12968C8}"/>
              </a:ext>
            </a:extLst>
          </p:cNvPr>
          <p:cNvSpPr txBox="1"/>
          <p:nvPr/>
        </p:nvSpPr>
        <p:spPr>
          <a:xfrm>
            <a:off x="152400" y="853267"/>
            <a:ext cx="11748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cs typeface="Segoe UI"/>
              </a:rPr>
              <a:t>C</a:t>
            </a:r>
            <a:r>
              <a:rPr lang="en-US" b="1" dirty="0" err="1"/>
              <a:t>urrent</a:t>
            </a:r>
            <a:r>
              <a:rPr lang="en-US" b="1" dirty="0"/>
              <a:t> and projected progress towards other national greenhouse-gas related targets and objectives set out in integrated national energy and climate plans, including sector targets in accordance with Article 4(a), point (1)(iii) of Regulation (EU) 2018/1999 </a:t>
            </a:r>
            <a:r>
              <a:rPr lang="en-GB" b="1" dirty="0">
                <a:cs typeface="Segoe UI"/>
              </a:rPr>
              <a:t>( </a:t>
            </a:r>
            <a:r>
              <a:rPr lang="it-IT" dirty="0"/>
              <a:t>Mandatory, if applicable</a:t>
            </a:r>
            <a:r>
              <a:rPr lang="en-GB" b="1" dirty="0">
                <a:cs typeface="Segoe UI"/>
              </a:rPr>
              <a:t>)</a:t>
            </a:r>
            <a:endParaRPr lang="en-US" b="1" dirty="0">
              <a:cs typeface="Segoe UI"/>
            </a:endParaRPr>
          </a:p>
        </p:txBody>
      </p:sp>
      <p:pic>
        <p:nvPicPr>
          <p:cNvPr id="3" name="Picture 2">
            <a:extLst>
              <a:ext uri="{FF2B5EF4-FFF2-40B4-BE49-F238E27FC236}">
                <a16:creationId xmlns:a16="http://schemas.microsoft.com/office/drawing/2014/main" id="{9D933B05-91D3-5986-FEF6-D2DC204C7E43}"/>
              </a:ext>
            </a:extLst>
          </p:cNvPr>
          <p:cNvPicPr>
            <a:picLocks noChangeAspect="1"/>
          </p:cNvPicPr>
          <p:nvPr/>
        </p:nvPicPr>
        <p:blipFill>
          <a:blip r:embed="rId3"/>
          <a:stretch>
            <a:fillRect/>
          </a:stretch>
        </p:blipFill>
        <p:spPr>
          <a:xfrm>
            <a:off x="152400" y="1936691"/>
            <a:ext cx="12134474" cy="1769035"/>
          </a:xfrm>
          <a:prstGeom prst="rect">
            <a:avLst/>
          </a:prstGeom>
        </p:spPr>
      </p:pic>
      <p:sp>
        <p:nvSpPr>
          <p:cNvPr id="2" name="TextBox 1">
            <a:extLst>
              <a:ext uri="{FF2B5EF4-FFF2-40B4-BE49-F238E27FC236}">
                <a16:creationId xmlns:a16="http://schemas.microsoft.com/office/drawing/2014/main" id="{0DA03974-A85A-34D6-F686-8DBF13430EF3}"/>
              </a:ext>
            </a:extLst>
          </p:cNvPr>
          <p:cNvSpPr txBox="1"/>
          <p:nvPr/>
        </p:nvSpPr>
        <p:spPr>
          <a:xfrm>
            <a:off x="211096" y="3705726"/>
            <a:ext cx="11980904" cy="4247317"/>
          </a:xfrm>
          <a:prstGeom prst="rect">
            <a:avLst/>
          </a:prstGeom>
          <a:noFill/>
        </p:spPr>
        <p:txBody>
          <a:bodyPr wrap="square">
            <a:spAutoFit/>
          </a:bodyPr>
          <a:lstStyle/>
          <a:p>
            <a:r>
              <a:rPr lang="en-US" b="1" dirty="0"/>
              <a:t>FIELD 6 :</a:t>
            </a:r>
            <a:r>
              <a:rPr lang="it-IT" dirty="0"/>
              <a:t> </a:t>
            </a:r>
            <a:r>
              <a:rPr lang="en-US" dirty="0"/>
              <a:t>The purpose of this field is to provide numerical values detailing the progress of the described targets across time.</a:t>
            </a:r>
          </a:p>
          <a:p>
            <a:endParaRPr lang="en-US" dirty="0"/>
          </a:p>
          <a:p>
            <a:r>
              <a:rPr lang="en-US" dirty="0"/>
              <a:t>■ Target/Objective: The numerical values defining the other individual national greenhouse gas targets and objectives (e.g. sector targets) as reported in the NECP. </a:t>
            </a:r>
          </a:p>
          <a:p>
            <a:endParaRPr lang="en-US" dirty="0"/>
          </a:p>
          <a:p>
            <a:r>
              <a:rPr lang="en-US" dirty="0"/>
              <a:t>■ Current progress: Information on current level (X-3 and X-2) of greenhouse gases according to the specification of the defined target/objective mentioned above. This allows the calculation of distance between historic data and national objective. The unit should be the same.</a:t>
            </a:r>
          </a:p>
          <a:p>
            <a:endParaRPr lang="en-US" dirty="0"/>
          </a:p>
          <a:p>
            <a:endParaRPr lang="en-US" dirty="0"/>
          </a:p>
          <a:p>
            <a:endParaRPr lang="en-US" dirty="0"/>
          </a:p>
          <a:p>
            <a:endParaRPr lang="en-US" dirty="0"/>
          </a:p>
          <a:p>
            <a:endParaRPr lang="en-US" dirty="0"/>
          </a:p>
          <a:p>
            <a:endParaRPr lang="it-IT" dirty="0"/>
          </a:p>
        </p:txBody>
      </p:sp>
      <p:sp>
        <p:nvSpPr>
          <p:cNvPr id="6" name="Slide Number Placeholder 5">
            <a:extLst>
              <a:ext uri="{FF2B5EF4-FFF2-40B4-BE49-F238E27FC236}">
                <a16:creationId xmlns:a16="http://schemas.microsoft.com/office/drawing/2014/main" id="{F7FDA5F2-B41E-F63F-E821-BD61639EFE2E}"/>
              </a:ext>
            </a:extLst>
          </p:cNvPr>
          <p:cNvSpPr>
            <a:spLocks noGrp="1"/>
          </p:cNvSpPr>
          <p:nvPr>
            <p:ph type="sldNum" sz="quarter" idx="12"/>
          </p:nvPr>
        </p:nvSpPr>
        <p:spPr/>
        <p:txBody>
          <a:bodyPr/>
          <a:lstStyle/>
          <a:p>
            <a:fld id="{1A424DB6-78F0-4ADD-B66A-AFD80B81666A}" type="slidenum">
              <a:rPr lang="en-DK" smtClean="0"/>
              <a:t>52</a:t>
            </a:fld>
            <a:endParaRPr lang="en-DK" dirty="0"/>
          </a:p>
        </p:txBody>
      </p:sp>
      <p:sp>
        <p:nvSpPr>
          <p:cNvPr id="10" name="TextBox 9">
            <a:extLst>
              <a:ext uri="{FF2B5EF4-FFF2-40B4-BE49-F238E27FC236}">
                <a16:creationId xmlns:a16="http://schemas.microsoft.com/office/drawing/2014/main" id="{F8005DCE-6572-3844-DB7D-CCE30479EDC7}"/>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 – Table 4</a:t>
            </a:r>
            <a:endParaRPr lang="en-GB" sz="3200" b="1" dirty="0">
              <a:solidFill>
                <a:srgbClr val="113A60"/>
              </a:solidFill>
            </a:endParaRPr>
          </a:p>
        </p:txBody>
      </p:sp>
      <p:sp>
        <p:nvSpPr>
          <p:cNvPr id="11" name="TextBox 10">
            <a:extLst>
              <a:ext uri="{FF2B5EF4-FFF2-40B4-BE49-F238E27FC236}">
                <a16:creationId xmlns:a16="http://schemas.microsoft.com/office/drawing/2014/main" id="{5D1B39A2-7760-0164-0791-ECC1E2E98FA7}"/>
              </a:ext>
            </a:extLst>
          </p:cNvPr>
          <p:cNvSpPr txBox="1"/>
          <p:nvPr/>
        </p:nvSpPr>
        <p:spPr>
          <a:xfrm>
            <a:off x="8688965" y="2462209"/>
            <a:ext cx="1964858" cy="307777"/>
          </a:xfrm>
          <a:prstGeom prst="rect">
            <a:avLst/>
          </a:prstGeom>
          <a:noFill/>
        </p:spPr>
        <p:txBody>
          <a:bodyPr wrap="square">
            <a:spAutoFit/>
          </a:bodyPr>
          <a:lstStyle/>
          <a:p>
            <a:r>
              <a:rPr lang="it-IT" sz="1400" dirty="0"/>
              <a:t>Number (decimal)</a:t>
            </a:r>
            <a:endParaRPr lang="en-DK" sz="1400" dirty="0"/>
          </a:p>
        </p:txBody>
      </p:sp>
    </p:spTree>
    <p:extLst>
      <p:ext uri="{BB962C8B-B14F-4D97-AF65-F5344CB8AC3E}">
        <p14:creationId xmlns:p14="http://schemas.microsoft.com/office/powerpoint/2010/main" val="13124862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6E2CC-1A80-64B4-F59C-261B1E46C0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8EA05A-2186-9699-9C5C-D7E90E030ABF}"/>
              </a:ext>
            </a:extLst>
          </p:cNvPr>
          <p:cNvSpPr txBox="1"/>
          <p:nvPr/>
        </p:nvSpPr>
        <p:spPr>
          <a:xfrm>
            <a:off x="4234552" y="3429000"/>
            <a:ext cx="3722943" cy="738664"/>
          </a:xfrm>
          <a:prstGeom prst="rect">
            <a:avLst/>
          </a:prstGeom>
          <a:noFill/>
        </p:spPr>
        <p:txBody>
          <a:bodyPr wrap="none" rtlCol="0">
            <a:spAutoFit/>
          </a:bodyPr>
          <a:lstStyle/>
          <a:p>
            <a:pPr algn="ctr"/>
            <a:r>
              <a:rPr lang="en-GB" sz="2400" b="1">
                <a:solidFill>
                  <a:schemeClr val="bg1"/>
                </a:solidFill>
              </a:rPr>
              <a:t>Next steps</a:t>
            </a:r>
            <a:endParaRPr lang="en-GB" b="1">
              <a:solidFill>
                <a:schemeClr val="bg1"/>
              </a:solidFill>
              <a:highlight>
                <a:srgbClr val="FFFF00"/>
              </a:highlight>
            </a:endParaRPr>
          </a:p>
          <a:p>
            <a:pPr algn="ctr"/>
            <a:r>
              <a:rPr lang="en-GB" b="1" i="1">
                <a:solidFill>
                  <a:schemeClr val="bg1"/>
                </a:solidFill>
              </a:rPr>
              <a:t>Quality assurance and final datasets</a:t>
            </a:r>
          </a:p>
        </p:txBody>
      </p:sp>
      <p:pic>
        <p:nvPicPr>
          <p:cNvPr id="2" name="Graphic 1" descr="Monthly calendar with solid fill">
            <a:extLst>
              <a:ext uri="{FF2B5EF4-FFF2-40B4-BE49-F238E27FC236}">
                <a16:creationId xmlns:a16="http://schemas.microsoft.com/office/drawing/2014/main" id="{70467475-4CA7-1D82-F1B3-2A7D95ADCA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3471459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6EF76-86E0-F5AF-C290-2CF21C06E408}"/>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7FB0EE0D-D0E0-41AC-8821-42300043D12D}"/>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Next steps – quality checks</a:t>
            </a:r>
          </a:p>
        </p:txBody>
      </p:sp>
      <p:pic>
        <p:nvPicPr>
          <p:cNvPr id="9" name="Picture 8">
            <a:extLst>
              <a:ext uri="{FF2B5EF4-FFF2-40B4-BE49-F238E27FC236}">
                <a16:creationId xmlns:a16="http://schemas.microsoft.com/office/drawing/2014/main" id="{7B41E6BC-3B12-BC5F-CAD7-473A0106BB52}"/>
              </a:ext>
            </a:extLst>
          </p:cNvPr>
          <p:cNvPicPr>
            <a:picLocks noChangeAspect="1"/>
          </p:cNvPicPr>
          <p:nvPr/>
        </p:nvPicPr>
        <p:blipFill>
          <a:blip r:embed="rId2"/>
          <a:stretch>
            <a:fillRect/>
          </a:stretch>
        </p:blipFill>
        <p:spPr>
          <a:xfrm>
            <a:off x="500863" y="2387892"/>
            <a:ext cx="6086756" cy="3868976"/>
          </a:xfrm>
          <a:prstGeom prst="rect">
            <a:avLst/>
          </a:prstGeom>
        </p:spPr>
      </p:pic>
      <p:sp>
        <p:nvSpPr>
          <p:cNvPr id="10" name="Content Placeholder 2">
            <a:extLst>
              <a:ext uri="{FF2B5EF4-FFF2-40B4-BE49-F238E27FC236}">
                <a16:creationId xmlns:a16="http://schemas.microsoft.com/office/drawing/2014/main" id="{DF157AA8-E6C6-014F-42A4-E5CD1B47F05B}"/>
              </a:ext>
            </a:extLst>
          </p:cNvPr>
          <p:cNvSpPr txBox="1">
            <a:spLocks/>
          </p:cNvSpPr>
          <p:nvPr/>
        </p:nvSpPr>
        <p:spPr>
          <a:xfrm>
            <a:off x="7094483" y="1056134"/>
            <a:ext cx="4416661" cy="5375211"/>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US" sz="2400" b="1" dirty="0"/>
              <a:t>ETC to prepare list of possible quality issues (COMLOG) </a:t>
            </a:r>
            <a:r>
              <a:rPr lang="en-US" sz="2400" dirty="0"/>
              <a:t>to be shared with CPs after 15 March.</a:t>
            </a:r>
          </a:p>
          <a:p>
            <a:pPr marL="0" indent="0">
              <a:spcBef>
                <a:spcPts val="600"/>
              </a:spcBef>
              <a:spcAft>
                <a:spcPts val="600"/>
              </a:spcAft>
              <a:buNone/>
            </a:pPr>
            <a:r>
              <a:rPr lang="en-US" sz="2400" b="1" dirty="0"/>
              <a:t>Member States requested to resubmit data </a:t>
            </a:r>
            <a:r>
              <a:rPr lang="en-US" sz="2400" dirty="0"/>
              <a:t>officially in Reportnet 3.</a:t>
            </a:r>
          </a:p>
          <a:p>
            <a:pPr marL="0" indent="0">
              <a:spcBef>
                <a:spcPts val="600"/>
              </a:spcBef>
              <a:spcAft>
                <a:spcPts val="600"/>
              </a:spcAft>
              <a:buNone/>
            </a:pPr>
            <a:r>
              <a:rPr lang="en-US" sz="2400" dirty="0"/>
              <a:t>ETC-EEA will only make updates to final dataset in communication with Member States.</a:t>
            </a:r>
          </a:p>
          <a:p>
            <a:pPr marL="0" indent="0">
              <a:spcBef>
                <a:spcPts val="600"/>
              </a:spcBef>
              <a:spcAft>
                <a:spcPts val="600"/>
              </a:spcAft>
              <a:buNone/>
            </a:pPr>
            <a:r>
              <a:rPr lang="en-US" sz="2400" b="1" dirty="0"/>
              <a:t>Final quality reports will </a:t>
            </a:r>
            <a:r>
              <a:rPr lang="en-US" sz="2400" b="1" dirty="0" err="1"/>
              <a:t>summarise</a:t>
            </a:r>
            <a:r>
              <a:rPr lang="en-US" sz="2400" b="1" dirty="0"/>
              <a:t> final state of data </a:t>
            </a:r>
            <a:r>
              <a:rPr lang="en-US" sz="2400" dirty="0"/>
              <a:t>and updates request for future reporting.</a:t>
            </a:r>
            <a:endParaRPr lang="en-GB" sz="2400" dirty="0"/>
          </a:p>
        </p:txBody>
      </p:sp>
      <p:sp>
        <p:nvSpPr>
          <p:cNvPr id="2" name="Rectangle 1">
            <a:extLst>
              <a:ext uri="{FF2B5EF4-FFF2-40B4-BE49-F238E27FC236}">
                <a16:creationId xmlns:a16="http://schemas.microsoft.com/office/drawing/2014/main" id="{9122943A-C393-36C5-2F48-4A0C45D81D1B}"/>
              </a:ext>
            </a:extLst>
          </p:cNvPr>
          <p:cNvSpPr/>
          <p:nvPr/>
        </p:nvSpPr>
        <p:spPr>
          <a:xfrm>
            <a:off x="588579" y="1056134"/>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t>
            </a:r>
            <a:endParaRPr lang="LID4096" b="1"/>
          </a:p>
        </p:txBody>
      </p:sp>
      <p:sp>
        <p:nvSpPr>
          <p:cNvPr id="4" name="Rectangle 3">
            <a:extLst>
              <a:ext uri="{FF2B5EF4-FFF2-40B4-BE49-F238E27FC236}">
                <a16:creationId xmlns:a16="http://schemas.microsoft.com/office/drawing/2014/main" id="{C1E16E46-674D-2CD3-746E-F257373A3E02}"/>
              </a:ext>
            </a:extLst>
          </p:cNvPr>
          <p:cNvSpPr/>
          <p:nvPr/>
        </p:nvSpPr>
        <p:spPr>
          <a:xfrm>
            <a:off x="2201915" y="1056134"/>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t>
            </a:r>
            <a:endParaRPr lang="LID4096" b="1"/>
          </a:p>
        </p:txBody>
      </p:sp>
      <p:sp>
        <p:nvSpPr>
          <p:cNvPr id="5" name="Rectangle 4">
            <a:extLst>
              <a:ext uri="{FF2B5EF4-FFF2-40B4-BE49-F238E27FC236}">
                <a16:creationId xmlns:a16="http://schemas.microsoft.com/office/drawing/2014/main" id="{9D42D922-F732-FB42-BA71-B0EF67E2079B}"/>
              </a:ext>
            </a:extLst>
          </p:cNvPr>
          <p:cNvSpPr/>
          <p:nvPr/>
        </p:nvSpPr>
        <p:spPr>
          <a:xfrm>
            <a:off x="3967652" y="105613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A</a:t>
            </a:r>
            <a:endParaRPr lang="LID4096" b="1"/>
          </a:p>
        </p:txBody>
      </p:sp>
      <p:sp>
        <p:nvSpPr>
          <p:cNvPr id="6" name="Rectangle 5">
            <a:extLst>
              <a:ext uri="{FF2B5EF4-FFF2-40B4-BE49-F238E27FC236}">
                <a16:creationId xmlns:a16="http://schemas.microsoft.com/office/drawing/2014/main" id="{D5EF2EC4-7F64-4AE2-ACFF-A8DF3091EC9C}"/>
              </a:ext>
            </a:extLst>
          </p:cNvPr>
          <p:cNvSpPr/>
          <p:nvPr/>
        </p:nvSpPr>
        <p:spPr>
          <a:xfrm>
            <a:off x="588579"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7" name="Rectangle 6">
            <a:extLst>
              <a:ext uri="{FF2B5EF4-FFF2-40B4-BE49-F238E27FC236}">
                <a16:creationId xmlns:a16="http://schemas.microsoft.com/office/drawing/2014/main" id="{B3A82F05-096B-60CD-93B6-6862A660EC62}"/>
              </a:ext>
            </a:extLst>
          </p:cNvPr>
          <p:cNvSpPr/>
          <p:nvPr/>
        </p:nvSpPr>
        <p:spPr>
          <a:xfrm>
            <a:off x="2201914"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8" name="Rectangle 7">
            <a:extLst>
              <a:ext uri="{FF2B5EF4-FFF2-40B4-BE49-F238E27FC236}">
                <a16:creationId xmlns:a16="http://schemas.microsoft.com/office/drawing/2014/main" id="{9538B3CA-651B-58FA-3552-A6785F4D27BA}"/>
              </a:ext>
            </a:extLst>
          </p:cNvPr>
          <p:cNvSpPr/>
          <p:nvPr/>
        </p:nvSpPr>
        <p:spPr>
          <a:xfrm>
            <a:off x="3967651"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11" name="TextBox 10">
            <a:extLst>
              <a:ext uri="{FF2B5EF4-FFF2-40B4-BE49-F238E27FC236}">
                <a16:creationId xmlns:a16="http://schemas.microsoft.com/office/drawing/2014/main" id="{A779BD59-EBE1-6D35-DC1D-DE4329C54212}"/>
              </a:ext>
            </a:extLst>
          </p:cNvPr>
          <p:cNvSpPr txBox="1"/>
          <p:nvPr/>
        </p:nvSpPr>
        <p:spPr>
          <a:xfrm>
            <a:off x="908975" y="1112626"/>
            <a:ext cx="1059906" cy="369332"/>
          </a:xfrm>
          <a:prstGeom prst="rect">
            <a:avLst/>
          </a:prstGeom>
          <a:noFill/>
        </p:spPr>
        <p:txBody>
          <a:bodyPr wrap="none" rtlCol="0">
            <a:spAutoFit/>
          </a:bodyPr>
          <a:lstStyle/>
          <a:p>
            <a:r>
              <a:rPr lang="en-GB" err="1"/>
              <a:t>imeliness</a:t>
            </a:r>
            <a:endParaRPr lang="LID4096"/>
          </a:p>
        </p:txBody>
      </p:sp>
      <p:sp>
        <p:nvSpPr>
          <p:cNvPr id="13" name="TextBox 12">
            <a:extLst>
              <a:ext uri="{FF2B5EF4-FFF2-40B4-BE49-F238E27FC236}">
                <a16:creationId xmlns:a16="http://schemas.microsoft.com/office/drawing/2014/main" id="{1DA62A9D-219C-E7F1-534D-218F83D95D95}"/>
              </a:ext>
            </a:extLst>
          </p:cNvPr>
          <p:cNvSpPr txBox="1"/>
          <p:nvPr/>
        </p:nvSpPr>
        <p:spPr>
          <a:xfrm>
            <a:off x="2524940" y="1112626"/>
            <a:ext cx="1331070" cy="369332"/>
          </a:xfrm>
          <a:prstGeom prst="rect">
            <a:avLst/>
          </a:prstGeom>
          <a:noFill/>
        </p:spPr>
        <p:txBody>
          <a:bodyPr wrap="none" rtlCol="0">
            <a:spAutoFit/>
          </a:bodyPr>
          <a:lstStyle/>
          <a:p>
            <a:r>
              <a:rPr lang="en-GB" err="1"/>
              <a:t>ranspanrecy</a:t>
            </a:r>
            <a:endParaRPr lang="LID4096"/>
          </a:p>
        </p:txBody>
      </p:sp>
      <p:sp>
        <p:nvSpPr>
          <p:cNvPr id="15" name="TextBox 14">
            <a:extLst>
              <a:ext uri="{FF2B5EF4-FFF2-40B4-BE49-F238E27FC236}">
                <a16:creationId xmlns:a16="http://schemas.microsoft.com/office/drawing/2014/main" id="{0B684068-EE58-81E3-7EF8-4E515A638231}"/>
              </a:ext>
            </a:extLst>
          </p:cNvPr>
          <p:cNvSpPr txBox="1"/>
          <p:nvPr/>
        </p:nvSpPr>
        <p:spPr>
          <a:xfrm>
            <a:off x="4283026" y="1112626"/>
            <a:ext cx="890052" cy="369332"/>
          </a:xfrm>
          <a:prstGeom prst="rect">
            <a:avLst/>
          </a:prstGeom>
          <a:noFill/>
        </p:spPr>
        <p:txBody>
          <a:bodyPr wrap="none" rtlCol="0">
            <a:spAutoFit/>
          </a:bodyPr>
          <a:lstStyle/>
          <a:p>
            <a:r>
              <a:rPr lang="en-GB" err="1"/>
              <a:t>ccuracy</a:t>
            </a:r>
            <a:endParaRPr lang="LID4096"/>
          </a:p>
        </p:txBody>
      </p:sp>
      <p:sp>
        <p:nvSpPr>
          <p:cNvPr id="17" name="TextBox 16">
            <a:extLst>
              <a:ext uri="{FF2B5EF4-FFF2-40B4-BE49-F238E27FC236}">
                <a16:creationId xmlns:a16="http://schemas.microsoft.com/office/drawing/2014/main" id="{1871EF53-D75F-7610-9B94-EE25AB8EA8FA}"/>
              </a:ext>
            </a:extLst>
          </p:cNvPr>
          <p:cNvSpPr txBox="1"/>
          <p:nvPr/>
        </p:nvSpPr>
        <p:spPr>
          <a:xfrm>
            <a:off x="908975" y="1780105"/>
            <a:ext cx="1273490" cy="369332"/>
          </a:xfrm>
          <a:prstGeom prst="rect">
            <a:avLst/>
          </a:prstGeom>
          <a:noFill/>
        </p:spPr>
        <p:txBody>
          <a:bodyPr wrap="none" rtlCol="0">
            <a:spAutoFit/>
          </a:bodyPr>
          <a:lstStyle/>
          <a:p>
            <a:r>
              <a:rPr lang="en-GB" err="1"/>
              <a:t>ompletness</a:t>
            </a:r>
            <a:endParaRPr lang="LID4096"/>
          </a:p>
        </p:txBody>
      </p:sp>
      <p:sp>
        <p:nvSpPr>
          <p:cNvPr id="19" name="TextBox 18">
            <a:extLst>
              <a:ext uri="{FF2B5EF4-FFF2-40B4-BE49-F238E27FC236}">
                <a16:creationId xmlns:a16="http://schemas.microsoft.com/office/drawing/2014/main" id="{EF6C5DFC-3EDC-8F05-4EAB-43B3C9C4ABE4}"/>
              </a:ext>
            </a:extLst>
          </p:cNvPr>
          <p:cNvSpPr txBox="1"/>
          <p:nvPr/>
        </p:nvSpPr>
        <p:spPr>
          <a:xfrm>
            <a:off x="2524940" y="1778506"/>
            <a:ext cx="1171859" cy="369332"/>
          </a:xfrm>
          <a:prstGeom prst="rect">
            <a:avLst/>
          </a:prstGeom>
          <a:noFill/>
        </p:spPr>
        <p:txBody>
          <a:bodyPr wrap="none" rtlCol="0">
            <a:spAutoFit/>
          </a:bodyPr>
          <a:lstStyle/>
          <a:p>
            <a:r>
              <a:rPr lang="en-GB" err="1"/>
              <a:t>onsistency</a:t>
            </a:r>
            <a:endParaRPr lang="LID4096"/>
          </a:p>
        </p:txBody>
      </p:sp>
      <p:sp>
        <p:nvSpPr>
          <p:cNvPr id="20" name="TextBox 19">
            <a:extLst>
              <a:ext uri="{FF2B5EF4-FFF2-40B4-BE49-F238E27FC236}">
                <a16:creationId xmlns:a16="http://schemas.microsoft.com/office/drawing/2014/main" id="{91BD95B5-BB7E-6340-900C-AA2F6C5E8BFF}"/>
              </a:ext>
            </a:extLst>
          </p:cNvPr>
          <p:cNvSpPr txBox="1"/>
          <p:nvPr/>
        </p:nvSpPr>
        <p:spPr>
          <a:xfrm>
            <a:off x="4287978" y="1778506"/>
            <a:ext cx="2669257" cy="369332"/>
          </a:xfrm>
          <a:prstGeom prst="rect">
            <a:avLst/>
          </a:prstGeom>
          <a:noFill/>
        </p:spPr>
        <p:txBody>
          <a:bodyPr wrap="none" rtlCol="0">
            <a:spAutoFit/>
          </a:bodyPr>
          <a:lstStyle/>
          <a:p>
            <a:r>
              <a:rPr lang="en-GB" err="1"/>
              <a:t>oherence</a:t>
            </a:r>
            <a:r>
              <a:rPr lang="en-GB"/>
              <a:t> &amp; comparability</a:t>
            </a:r>
            <a:endParaRPr lang="LID4096"/>
          </a:p>
        </p:txBody>
      </p:sp>
    </p:spTree>
    <p:extLst>
      <p:ext uri="{BB962C8B-B14F-4D97-AF65-F5344CB8AC3E}">
        <p14:creationId xmlns:p14="http://schemas.microsoft.com/office/powerpoint/2010/main" val="1979290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1B801332-87AC-4B74-4564-0209CCEDDC75}"/>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Next steps – submission, quality checks, assessment</a:t>
            </a:r>
          </a:p>
        </p:txBody>
      </p:sp>
      <p:sp>
        <p:nvSpPr>
          <p:cNvPr id="10" name="Content Placeholder 2">
            <a:extLst>
              <a:ext uri="{FF2B5EF4-FFF2-40B4-BE49-F238E27FC236}">
                <a16:creationId xmlns:a16="http://schemas.microsoft.com/office/drawing/2014/main" id="{859249E5-2246-07B2-A3F7-4464D4997C4D}"/>
              </a:ext>
            </a:extLst>
          </p:cNvPr>
          <p:cNvSpPr txBox="1">
            <a:spLocks/>
          </p:cNvSpPr>
          <p:nvPr/>
        </p:nvSpPr>
        <p:spPr>
          <a:xfrm>
            <a:off x="1813319" y="1245320"/>
            <a:ext cx="3200110" cy="5375211"/>
          </a:xfrm>
          <a:prstGeom prst="rect">
            <a:avLst/>
          </a:prstGeom>
        </p:spPr>
        <p:txBody>
          <a:bodyPr lIns="91440" tIns="45720" rIns="91440" bIns="4572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US" sz="2400" b="1"/>
              <a:t>Deadline for reporting: </a:t>
            </a:r>
          </a:p>
          <a:p>
            <a:pPr marL="0" indent="0">
              <a:spcBef>
                <a:spcPts val="600"/>
              </a:spcBef>
              <a:spcAft>
                <a:spcPts val="600"/>
              </a:spcAft>
              <a:buNone/>
            </a:pPr>
            <a:r>
              <a:rPr lang="en-US" sz="2400"/>
              <a:t>15 March 2025</a:t>
            </a:r>
          </a:p>
          <a:p>
            <a:pPr>
              <a:spcBef>
                <a:spcPts val="600"/>
              </a:spcBef>
              <a:spcAft>
                <a:spcPts val="600"/>
              </a:spcAft>
            </a:pPr>
            <a:endParaRPr lang="en-US" sz="2400" b="1"/>
          </a:p>
          <a:p>
            <a:pPr marL="0" indent="0">
              <a:spcBef>
                <a:spcPts val="600"/>
              </a:spcBef>
              <a:spcAft>
                <a:spcPts val="600"/>
              </a:spcAft>
              <a:buNone/>
            </a:pPr>
            <a:r>
              <a:rPr lang="en-US" sz="2400" b="1"/>
              <a:t>Quality assurance: </a:t>
            </a:r>
          </a:p>
          <a:p>
            <a:pPr marL="0" indent="0">
              <a:spcBef>
                <a:spcPts val="600"/>
              </a:spcBef>
              <a:spcAft>
                <a:spcPts val="600"/>
              </a:spcAft>
              <a:buNone/>
            </a:pPr>
            <a:r>
              <a:rPr lang="en-US" sz="2400"/>
              <a:t>15 March – 15 June </a:t>
            </a:r>
          </a:p>
          <a:p>
            <a:pPr marL="0" indent="0">
              <a:spcBef>
                <a:spcPts val="600"/>
              </a:spcBef>
              <a:spcAft>
                <a:spcPts val="600"/>
              </a:spcAft>
              <a:buNone/>
            </a:pPr>
            <a:endParaRPr lang="en-US" sz="2400" b="1"/>
          </a:p>
          <a:p>
            <a:pPr marL="0" indent="0">
              <a:spcBef>
                <a:spcPts val="600"/>
              </a:spcBef>
              <a:spcAft>
                <a:spcPts val="600"/>
              </a:spcAft>
              <a:buNone/>
            </a:pPr>
            <a:r>
              <a:rPr lang="en-US" sz="2400" b="1"/>
              <a:t>Final dataset:</a:t>
            </a:r>
          </a:p>
          <a:p>
            <a:pPr marL="0" indent="0">
              <a:spcBef>
                <a:spcPts val="600"/>
              </a:spcBef>
              <a:spcAft>
                <a:spcPts val="600"/>
              </a:spcAft>
              <a:buNone/>
            </a:pPr>
            <a:r>
              <a:rPr lang="en-US" sz="2400"/>
              <a:t>End June</a:t>
            </a:r>
          </a:p>
          <a:p>
            <a:pPr marL="0" indent="0">
              <a:spcBef>
                <a:spcPts val="600"/>
              </a:spcBef>
              <a:spcAft>
                <a:spcPts val="600"/>
              </a:spcAft>
              <a:buNone/>
            </a:pPr>
            <a:endParaRPr lang="en-US" sz="2400" b="1"/>
          </a:p>
          <a:p>
            <a:pPr marL="0" indent="0">
              <a:spcBef>
                <a:spcPts val="600"/>
              </a:spcBef>
              <a:spcAft>
                <a:spcPts val="600"/>
              </a:spcAft>
              <a:buNone/>
            </a:pPr>
            <a:r>
              <a:rPr lang="en-US" sz="2400" b="1"/>
              <a:t>Assessment &amp; analysis:</a:t>
            </a:r>
          </a:p>
          <a:p>
            <a:pPr marL="0" indent="0">
              <a:spcBef>
                <a:spcPts val="600"/>
              </a:spcBef>
              <a:spcAft>
                <a:spcPts val="600"/>
              </a:spcAft>
              <a:buNone/>
            </a:pPr>
            <a:r>
              <a:rPr lang="en-US" sz="2400"/>
              <a:t>July – October</a:t>
            </a:r>
          </a:p>
          <a:p>
            <a:pPr marL="421640" indent="-421640">
              <a:spcBef>
                <a:spcPts val="600"/>
              </a:spcBef>
              <a:spcAft>
                <a:spcPts val="600"/>
              </a:spcAft>
            </a:pPr>
            <a:endParaRPr lang="en-GB" sz="2400"/>
          </a:p>
        </p:txBody>
      </p:sp>
      <p:pic>
        <p:nvPicPr>
          <p:cNvPr id="12" name="Graphic 11" descr="Group brainstorm with solid fill">
            <a:extLst>
              <a:ext uri="{FF2B5EF4-FFF2-40B4-BE49-F238E27FC236}">
                <a16:creationId xmlns:a16="http://schemas.microsoft.com/office/drawing/2014/main" id="{F7AB55CC-439F-3535-FB66-11522813E0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5112" y="5652357"/>
            <a:ext cx="914400" cy="914400"/>
          </a:xfrm>
          <a:prstGeom prst="rect">
            <a:avLst/>
          </a:prstGeom>
        </p:spPr>
      </p:pic>
      <p:pic>
        <p:nvPicPr>
          <p:cNvPr id="14" name="Graphic 13" descr="Research with solid fill">
            <a:extLst>
              <a:ext uri="{FF2B5EF4-FFF2-40B4-BE49-F238E27FC236}">
                <a16:creationId xmlns:a16="http://schemas.microsoft.com/office/drawing/2014/main" id="{7D3FCB6F-019D-1D66-39BB-C870C6D61E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0043" y="2714332"/>
            <a:ext cx="914400" cy="914400"/>
          </a:xfrm>
          <a:prstGeom prst="rect">
            <a:avLst/>
          </a:prstGeom>
        </p:spPr>
      </p:pic>
      <p:pic>
        <p:nvPicPr>
          <p:cNvPr id="16" name="Graphic 15" descr="Database with solid fill">
            <a:extLst>
              <a:ext uri="{FF2B5EF4-FFF2-40B4-BE49-F238E27FC236}">
                <a16:creationId xmlns:a16="http://schemas.microsoft.com/office/drawing/2014/main" id="{23A8C56F-9C19-FE10-7CDE-0E34712DCA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112" y="4183345"/>
            <a:ext cx="914400" cy="914400"/>
          </a:xfrm>
          <a:prstGeom prst="rect">
            <a:avLst/>
          </a:prstGeom>
        </p:spPr>
      </p:pic>
      <p:pic>
        <p:nvPicPr>
          <p:cNvPr id="18" name="Graphic 17" descr="Door Closed with solid fill">
            <a:extLst>
              <a:ext uri="{FF2B5EF4-FFF2-40B4-BE49-F238E27FC236}">
                <a16:creationId xmlns:a16="http://schemas.microsoft.com/office/drawing/2014/main" id="{ED8E2412-A1ED-C4D7-15F5-4B2FFC81F0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5112" y="1245320"/>
            <a:ext cx="914400" cy="914400"/>
          </a:xfrm>
          <a:prstGeom prst="rect">
            <a:avLst/>
          </a:prstGeom>
        </p:spPr>
      </p:pic>
      <p:pic>
        <p:nvPicPr>
          <p:cNvPr id="19" name="Picture 18" descr="A lighthouse on a beach&#10;&#10;Description automatically generated">
            <a:extLst>
              <a:ext uri="{FF2B5EF4-FFF2-40B4-BE49-F238E27FC236}">
                <a16:creationId xmlns:a16="http://schemas.microsoft.com/office/drawing/2014/main" id="{A9FB16D8-0B1B-B574-661F-AD51EC279454}"/>
              </a:ext>
            </a:extLst>
          </p:cNvPr>
          <p:cNvPicPr>
            <a:picLocks noChangeAspect="1"/>
          </p:cNvPicPr>
          <p:nvPr/>
        </p:nvPicPr>
        <p:blipFill>
          <a:blip r:embed="rId10">
            <a:extLst>
              <a:ext uri="{28A0092B-C50C-407E-A947-70E740481C1C}">
                <a14:useLocalDpi xmlns:a14="http://schemas.microsoft.com/office/drawing/2010/main" val="0"/>
              </a:ext>
            </a:extLst>
          </a:blip>
          <a:srcRect l="46140" r="19937"/>
          <a:stretch/>
        </p:blipFill>
        <p:spPr>
          <a:xfrm>
            <a:off x="5471909" y="1064093"/>
            <a:ext cx="5653521" cy="5556438"/>
          </a:xfrm>
          <a:prstGeom prst="rect">
            <a:avLst/>
          </a:prstGeom>
        </p:spPr>
      </p:pic>
      <p:sp>
        <p:nvSpPr>
          <p:cNvPr id="20" name="Arrow: Down 19">
            <a:extLst>
              <a:ext uri="{FF2B5EF4-FFF2-40B4-BE49-F238E27FC236}">
                <a16:creationId xmlns:a16="http://schemas.microsoft.com/office/drawing/2014/main" id="{5A58229E-3CCB-AD79-3A7F-562E8FD7D5EE}"/>
              </a:ext>
            </a:extLst>
          </p:cNvPr>
          <p:cNvSpPr/>
          <p:nvPr/>
        </p:nvSpPr>
        <p:spPr>
          <a:xfrm>
            <a:off x="863330" y="2221507"/>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Arrow: Down 20">
            <a:extLst>
              <a:ext uri="{FF2B5EF4-FFF2-40B4-BE49-F238E27FC236}">
                <a16:creationId xmlns:a16="http://schemas.microsoft.com/office/drawing/2014/main" id="{35F1FE09-FB59-B9A2-FD01-8A32E8EE64E4}"/>
              </a:ext>
            </a:extLst>
          </p:cNvPr>
          <p:cNvSpPr/>
          <p:nvPr/>
        </p:nvSpPr>
        <p:spPr>
          <a:xfrm>
            <a:off x="863330" y="3690519"/>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2" name="Arrow: Down 21">
            <a:extLst>
              <a:ext uri="{FF2B5EF4-FFF2-40B4-BE49-F238E27FC236}">
                <a16:creationId xmlns:a16="http://schemas.microsoft.com/office/drawing/2014/main" id="{D8C73F3D-96AD-0440-800D-EFF03DF413B8}"/>
              </a:ext>
            </a:extLst>
          </p:cNvPr>
          <p:cNvSpPr/>
          <p:nvPr/>
        </p:nvSpPr>
        <p:spPr>
          <a:xfrm>
            <a:off x="863330" y="5170042"/>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798893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43AE3B-260C-4A2B-3DA8-6978ECD757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6EFBC3-F067-7B9B-7742-CE9BA612C1DB}"/>
              </a:ext>
            </a:extLst>
          </p:cNvPr>
          <p:cNvSpPr txBox="1"/>
          <p:nvPr/>
        </p:nvSpPr>
        <p:spPr>
          <a:xfrm>
            <a:off x="540150" y="1338162"/>
            <a:ext cx="4593494" cy="5099213"/>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noProof="0" dirty="0">
                <a:ea typeface="Calibri"/>
                <a:cs typeface="Calibri"/>
              </a:rPr>
              <a:t>Key takeaways:</a:t>
            </a:r>
          </a:p>
          <a:p>
            <a:pPr>
              <a:buFont typeface="Arial" panose="020B0604020202020204" pitchFamily="34" charset="0"/>
              <a:buChar char="•"/>
            </a:pPr>
            <a:r>
              <a:rPr lang="en-GB" sz="2000" b="0" noProof="0" dirty="0"/>
              <a:t>Accurate and timely reporting is essential for EU climate goals.</a:t>
            </a:r>
          </a:p>
          <a:p>
            <a:pPr>
              <a:buFont typeface="Arial" panose="020B0604020202020204" pitchFamily="34" charset="0"/>
              <a:buChar char="•"/>
            </a:pPr>
            <a:r>
              <a:rPr lang="en-GB" sz="2000" b="0" noProof="0" dirty="0"/>
              <a:t>Use Reportnet 3 for structured submissions.</a:t>
            </a:r>
          </a:p>
          <a:p>
            <a:pPr>
              <a:buFont typeface="Arial" panose="020B0604020202020204" pitchFamily="34" charset="0"/>
              <a:buChar char="•"/>
            </a:pPr>
            <a:r>
              <a:rPr lang="en-GB" sz="2000" b="0" noProof="0" dirty="0"/>
              <a:t>Follow thematic guidelines for consistency.</a:t>
            </a:r>
          </a:p>
          <a:p>
            <a:pPr>
              <a:buFont typeface="Arial" panose="020B0604020202020204" pitchFamily="34" charset="0"/>
              <a:buChar char="•"/>
            </a:pPr>
            <a:r>
              <a:rPr lang="en-GB" sz="2000" b="0" noProof="0" dirty="0"/>
              <a:t>Ensure validation before submission.</a:t>
            </a:r>
          </a:p>
          <a:p>
            <a:pPr>
              <a:buFont typeface="Arial" panose="020B0604020202020204" pitchFamily="34" charset="0"/>
              <a:buChar char="•"/>
            </a:pPr>
            <a:r>
              <a:rPr lang="en-GB" sz="2000" b="0" noProof="0" dirty="0"/>
              <a:t>Engage with the QA/QC process for high-quality data.</a:t>
            </a:r>
          </a:p>
          <a:p>
            <a:pPr>
              <a:buFont typeface="Arial"/>
              <a:buChar char="•"/>
            </a:pPr>
            <a:endParaRPr lang="en-GB" sz="2000" noProof="0" dirty="0"/>
          </a:p>
          <a:p>
            <a:pPr marL="0" indent="0">
              <a:buNone/>
            </a:pPr>
            <a:endParaRPr lang="en-GB" sz="2000" b="1" noProof="0" dirty="0">
              <a:ea typeface="Calibri"/>
              <a:cs typeface="Calibri"/>
            </a:endParaRPr>
          </a:p>
          <a:p>
            <a:pPr marL="0" indent="0">
              <a:buNone/>
            </a:pPr>
            <a:endParaRPr lang="en-GB" sz="2000" b="1" noProof="0" dirty="0">
              <a:ea typeface="Calibri"/>
              <a:cs typeface="Calibri"/>
            </a:endParaRPr>
          </a:p>
          <a:p>
            <a:pPr marL="457200" lvl="1" indent="0">
              <a:buNone/>
            </a:pPr>
            <a:endParaRPr lang="en-GB" sz="2000" b="1" noProof="0" dirty="0">
              <a:ea typeface="Calibri"/>
              <a:cs typeface="Calibri"/>
            </a:endParaRPr>
          </a:p>
          <a:p>
            <a:pPr marL="914400" lvl="1" indent="-457200">
              <a:buFont typeface="Courier New" panose="020B0604020202020204" pitchFamily="34" charset="0"/>
              <a:buChar char="o"/>
            </a:pPr>
            <a:endParaRPr lang="en-GB" sz="2000" b="1" noProof="0" dirty="0">
              <a:ea typeface="Calibri"/>
              <a:cs typeface="Calibri"/>
            </a:endParaRPr>
          </a:p>
          <a:p>
            <a:pPr marL="914400" lvl="1" indent="-457200">
              <a:buFont typeface="Courier New" panose="020B0604020202020204" pitchFamily="34" charset="0"/>
              <a:buChar char="o"/>
            </a:pPr>
            <a:endParaRPr lang="en-GB" sz="2000" b="1" noProof="0" dirty="0">
              <a:ea typeface="Calibri"/>
              <a:cs typeface="Calibri"/>
            </a:endParaRPr>
          </a:p>
        </p:txBody>
      </p:sp>
      <p:sp>
        <p:nvSpPr>
          <p:cNvPr id="3" name="Text Placeholder 1">
            <a:extLst>
              <a:ext uri="{FF2B5EF4-FFF2-40B4-BE49-F238E27FC236}">
                <a16:creationId xmlns:a16="http://schemas.microsoft.com/office/drawing/2014/main" id="{AAC34BC1-C6F6-3B1E-E54F-21CDA9C13B25}"/>
              </a:ext>
            </a:extLst>
          </p:cNvPr>
          <p:cNvSpPr txBox="1">
            <a:spLocks/>
          </p:cNvSpPr>
          <p:nvPr/>
        </p:nvSpPr>
        <p:spPr>
          <a:xfrm>
            <a:off x="500863" y="54288"/>
            <a:ext cx="11010281" cy="1077218"/>
          </a:xfrm>
          <a:prstGeom prst="rect">
            <a:avLst/>
          </a:prstGeom>
          <a:noFill/>
        </p:spPr>
        <p:txBody>
          <a:bodyPr wrap="square" lIns="91440" tIns="45720" rIns="91440" bIns="45720" rtlCol="0" anchor="t">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noProof="0" dirty="0"/>
              <a:t>Annex I – </a:t>
            </a:r>
            <a:r>
              <a:rPr lang="en-GB" sz="3200" noProof="0" dirty="0">
                <a:ea typeface="Calibri"/>
                <a:cs typeface="Calibri"/>
              </a:rPr>
              <a:t>Key takeaways</a:t>
            </a:r>
            <a:endParaRPr lang="en-GB" noProof="0" dirty="0">
              <a:ea typeface="Calibri"/>
              <a:cs typeface="Calibri"/>
            </a:endParaRPr>
          </a:p>
          <a:p>
            <a:endParaRPr lang="en-GB" noProof="0" dirty="0">
              <a:highlight>
                <a:srgbClr val="FFFF00"/>
              </a:highlight>
              <a:ea typeface="Calibri"/>
              <a:cs typeface="Calibri"/>
            </a:endParaRPr>
          </a:p>
        </p:txBody>
      </p:sp>
      <p:sp>
        <p:nvSpPr>
          <p:cNvPr id="4" name="Rectángulo 3">
            <a:extLst>
              <a:ext uri="{FF2B5EF4-FFF2-40B4-BE49-F238E27FC236}">
                <a16:creationId xmlns:a16="http://schemas.microsoft.com/office/drawing/2014/main" id="{CE80D80E-3CA3-6055-F591-276AA76BA2D8}"/>
              </a:ext>
            </a:extLst>
          </p:cNvPr>
          <p:cNvSpPr/>
          <p:nvPr/>
        </p:nvSpPr>
        <p:spPr>
          <a:xfrm>
            <a:off x="5202936" y="1338162"/>
            <a:ext cx="6702552" cy="4391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2000" b="1" noProof="0"/>
              <a:t>Good practices (from 2023):</a:t>
            </a:r>
          </a:p>
          <a:p>
            <a:pPr marL="457200" indent="-457200">
              <a:buFont typeface="Arial" panose="020B0604020202020204" pitchFamily="34" charset="0"/>
              <a:buChar char="•"/>
            </a:pPr>
            <a:r>
              <a:rPr lang="en-GB" sz="2000" b="1" noProof="0"/>
              <a:t>Use of Notation Keys (NK):</a:t>
            </a:r>
            <a:r>
              <a:rPr lang="en-GB" sz="2000" noProof="0"/>
              <a:t> Suggested over leaving blank cells for missing data.</a:t>
            </a:r>
          </a:p>
          <a:p>
            <a:pPr marL="457200" indent="-457200">
              <a:buFont typeface="Arial" panose="020B0604020202020204" pitchFamily="34" charset="0"/>
              <a:buChar char="•"/>
            </a:pPr>
            <a:r>
              <a:rPr lang="en-GB" sz="2000" b="1" noProof="0"/>
              <a:t>Follow Colour-coding:</a:t>
            </a:r>
            <a:r>
              <a:rPr lang="en-GB" sz="2000" noProof="0"/>
              <a:t> Ensure correct interpretation of cells in import/export Excel tables.</a:t>
            </a:r>
          </a:p>
          <a:p>
            <a:pPr marL="457200" indent="-457200">
              <a:buFont typeface="Arial" panose="020B0604020202020204" pitchFamily="34" charset="0"/>
              <a:buChar char="•"/>
            </a:pPr>
            <a:r>
              <a:rPr lang="en-GB" sz="2000" noProof="0"/>
              <a:t>By table:</a:t>
            </a:r>
          </a:p>
          <a:p>
            <a:pPr marL="914400" lvl="1" indent="-457200">
              <a:buFont typeface="Courier New" panose="02070309020205020404" pitchFamily="49" charset="0"/>
              <a:buChar char="o"/>
            </a:pPr>
            <a:r>
              <a:rPr lang="en-GB" sz="2000" noProof="0"/>
              <a:t>T1: Clearly define climate-neutrality target year and national GHG target by scope.</a:t>
            </a:r>
          </a:p>
          <a:p>
            <a:pPr marL="914400" lvl="1" indent="-457200">
              <a:buFont typeface="Courier New" panose="02070309020205020404" pitchFamily="49" charset="0"/>
              <a:buChar char="o"/>
            </a:pPr>
            <a:r>
              <a:rPr lang="en-GB" sz="2000" noProof="0"/>
              <a:t>T3: Provide clear descriptions (links and references).</a:t>
            </a:r>
          </a:p>
          <a:p>
            <a:pPr marL="914400" lvl="1" indent="-457200">
              <a:buFont typeface="Courier New" panose="02070309020205020404" pitchFamily="49" charset="0"/>
              <a:buChar char="o"/>
            </a:pPr>
            <a:r>
              <a:rPr lang="en-GB" sz="2000" noProof="0"/>
              <a:t>T4: Align reporting to dynamic references for years to ensure consistency.</a:t>
            </a:r>
          </a:p>
          <a:p>
            <a:pPr marL="457200" indent="-457200">
              <a:buFont typeface="Arial" panose="020B0604020202020204" pitchFamily="34" charset="0"/>
              <a:buChar char="•"/>
            </a:pPr>
            <a:endParaRPr lang="en-GB" sz="2000" noProof="0"/>
          </a:p>
          <a:p>
            <a:pPr marL="457200" indent="-457200">
              <a:buFont typeface="Arial" panose="020B0604020202020204" pitchFamily="34" charset="0"/>
              <a:buChar char="•"/>
            </a:pPr>
            <a:endParaRPr lang="en-GB" sz="2000" noProof="0"/>
          </a:p>
        </p:txBody>
      </p:sp>
    </p:spTree>
    <p:extLst>
      <p:ext uri="{BB962C8B-B14F-4D97-AF65-F5344CB8AC3E}">
        <p14:creationId xmlns:p14="http://schemas.microsoft.com/office/powerpoint/2010/main" val="21183166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D2329AE-22D4-EEF0-723C-669475075FA7}"/>
              </a:ext>
            </a:extLst>
          </p:cNvPr>
          <p:cNvSpPr txBox="1">
            <a:spLocks/>
          </p:cNvSpPr>
          <p:nvPr/>
        </p:nvSpPr>
        <p:spPr>
          <a:xfrm>
            <a:off x="2560320" y="4192669"/>
            <a:ext cx="8135326" cy="720115"/>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spcAft>
                <a:spcPts val="600"/>
              </a:spcAft>
              <a:buNone/>
            </a:pPr>
            <a:r>
              <a:rPr lang="en-US" sz="3200" b="1" dirty="0"/>
              <a:t>For</a:t>
            </a:r>
            <a:r>
              <a:rPr lang="en-US" sz="3200" dirty="0"/>
              <a:t> </a:t>
            </a:r>
            <a:r>
              <a:rPr lang="en-US" sz="3200" b="1" dirty="0"/>
              <a:t>questions</a:t>
            </a:r>
            <a:r>
              <a:rPr lang="en-US" sz="3200" dirty="0"/>
              <a:t>: </a:t>
            </a:r>
            <a:r>
              <a:rPr lang="en-US" sz="3200" dirty="0">
                <a:hlinkClick r:id="rId2"/>
              </a:rPr>
              <a:t>marta.baldi@eea.europa.eu</a:t>
            </a:r>
            <a:r>
              <a:rPr lang="en-US" sz="3200" dirty="0"/>
              <a:t> </a:t>
            </a:r>
          </a:p>
        </p:txBody>
      </p:sp>
      <p:sp>
        <p:nvSpPr>
          <p:cNvPr id="3" name="Text Placeholder 1">
            <a:extLst>
              <a:ext uri="{FF2B5EF4-FFF2-40B4-BE49-F238E27FC236}">
                <a16:creationId xmlns:a16="http://schemas.microsoft.com/office/drawing/2014/main" id="{B561040F-7953-B761-0159-CD430F8D3A5A}"/>
              </a:ext>
            </a:extLst>
          </p:cNvPr>
          <p:cNvSpPr txBox="1">
            <a:spLocks/>
          </p:cNvSpPr>
          <p:nvPr/>
        </p:nvSpPr>
        <p:spPr>
          <a:xfrm>
            <a:off x="468000" y="36000"/>
            <a:ext cx="11246369"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If questions – please reach out!</a:t>
            </a:r>
          </a:p>
        </p:txBody>
      </p:sp>
      <p:pic>
        <p:nvPicPr>
          <p:cNvPr id="5" name="Graphic 4" descr="Questions with solid fill">
            <a:extLst>
              <a:ext uri="{FF2B5EF4-FFF2-40B4-BE49-F238E27FC236}">
                <a16:creationId xmlns:a16="http://schemas.microsoft.com/office/drawing/2014/main" id="{03102B9E-E952-85FB-C873-4C44FFD8E4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4167" y="1804997"/>
            <a:ext cx="2194034" cy="2194034"/>
          </a:xfrm>
          <a:prstGeom prst="rect">
            <a:avLst/>
          </a:prstGeom>
        </p:spPr>
      </p:pic>
    </p:spTree>
    <p:extLst>
      <p:ext uri="{BB962C8B-B14F-4D97-AF65-F5344CB8AC3E}">
        <p14:creationId xmlns:p14="http://schemas.microsoft.com/office/powerpoint/2010/main" val="12524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erson playing hopscotch">
            <a:extLst>
              <a:ext uri="{FF2B5EF4-FFF2-40B4-BE49-F238E27FC236}">
                <a16:creationId xmlns:a16="http://schemas.microsoft.com/office/drawing/2014/main" id="{0CC2B61F-D48A-C930-1D4E-ABA63243A48A}"/>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15633"/>
          <a:stretch/>
        </p:blipFill>
        <p:spPr>
          <a:xfrm>
            <a:off x="-1" y="6019"/>
            <a:ext cx="12192000" cy="6858000"/>
          </a:xfrm>
          <a:prstGeom prst="rect">
            <a:avLst/>
          </a:prstGeom>
        </p:spPr>
      </p:pic>
      <p:sp>
        <p:nvSpPr>
          <p:cNvPr id="7" name="TextBox 6">
            <a:extLst>
              <a:ext uri="{FF2B5EF4-FFF2-40B4-BE49-F238E27FC236}">
                <a16:creationId xmlns:a16="http://schemas.microsoft.com/office/drawing/2014/main" id="{ABE32C5D-70B6-473F-AC9F-7FB482E19507}"/>
              </a:ext>
            </a:extLst>
          </p:cNvPr>
          <p:cNvSpPr txBox="1"/>
          <p:nvPr/>
        </p:nvSpPr>
        <p:spPr>
          <a:xfrm rot="-5400000">
            <a:off x="-887299" y="5176609"/>
            <a:ext cx="2536723" cy="246221"/>
          </a:xfrm>
          <a:prstGeom prst="rect">
            <a:avLst/>
          </a:prstGeom>
          <a:noFill/>
        </p:spPr>
        <p:txBody>
          <a:bodyPr wrap="square" rtlCol="0">
            <a:spAutoFit/>
          </a:bodyPr>
          <a:lstStyle/>
          <a:p>
            <a:r>
              <a:rPr lang="en-US" sz="1000" b="0" i="0">
                <a:solidFill>
                  <a:srgbClr val="FFFFFF"/>
                </a:solidFill>
                <a:effectLst/>
                <a:latin typeface="Aptos Narrow" panose="020B0004020202020204" pitchFamily="34" charset="0"/>
              </a:rPr>
              <a:t>© Alice van Kempen, Well with Nature /EEA</a:t>
            </a:r>
            <a:endParaRPr lang="en-DK" sz="1000">
              <a:solidFill>
                <a:srgbClr val="FFFFFF"/>
              </a:solidFill>
            </a:endParaRPr>
          </a:p>
        </p:txBody>
      </p:sp>
      <p:sp>
        <p:nvSpPr>
          <p:cNvPr id="3" name="TextBox 2">
            <a:extLst>
              <a:ext uri="{FF2B5EF4-FFF2-40B4-BE49-F238E27FC236}">
                <a16:creationId xmlns:a16="http://schemas.microsoft.com/office/drawing/2014/main" id="{FDD99ECD-6A7C-4A78-BE9B-E919716CEEDC}"/>
              </a:ext>
            </a:extLst>
          </p:cNvPr>
          <p:cNvSpPr txBox="1"/>
          <p:nvPr/>
        </p:nvSpPr>
        <p:spPr>
          <a:xfrm>
            <a:off x="1" y="4445638"/>
            <a:ext cx="12192000" cy="1384995"/>
          </a:xfrm>
          <a:prstGeom prst="rect">
            <a:avLst/>
          </a:prstGeom>
          <a:solidFill>
            <a:srgbClr val="316300">
              <a:alpha val="76078"/>
            </a:srgbClr>
          </a:solidFill>
        </p:spPr>
        <p:txBody>
          <a:bodyPr wrap="square" lIns="91440" tIns="45720" rIns="91440" bIns="45720" rtlCol="0" anchor="t">
            <a:spAutoFit/>
          </a:bodyPr>
          <a:lstStyle>
            <a:defPPr>
              <a:defRPr lang="en-US"/>
            </a:defPPr>
            <a:lvl1pPr algn="r">
              <a:defRPr sz="3600" b="1">
                <a:solidFill>
                  <a:schemeClr val="bg1"/>
                </a:solidFill>
              </a:defRPr>
            </a:lvl1pPr>
          </a:lstStyle>
          <a:p>
            <a:pPr algn="ctr"/>
            <a:r>
              <a:rPr lang="en-GB" sz="2800" dirty="0"/>
              <a:t>Thank you!</a:t>
            </a:r>
            <a:r>
              <a:rPr lang="en-US" sz="2800" dirty="0"/>
              <a:t> Questions: </a:t>
            </a:r>
            <a:r>
              <a:rPr lang="en-US" sz="2800" dirty="0">
                <a:hlinkClick r:id="rId4">
                  <a:extLst>
                    <a:ext uri="{A12FA001-AC4F-418D-AE19-62706E023703}">
                      <ahyp:hlinkClr xmlns:ahyp="http://schemas.microsoft.com/office/drawing/2018/hyperlinkcolor" val="tx"/>
                    </a:ext>
                  </a:extLst>
                </a:hlinkClick>
              </a:rPr>
              <a:t>magdalena.jozwicka@eea.europa.eu</a:t>
            </a:r>
            <a:r>
              <a:rPr lang="en-US" sz="2800" dirty="0"/>
              <a:t>; </a:t>
            </a:r>
            <a:r>
              <a:rPr lang="en-US" sz="2800" dirty="0">
                <a:hlinkClick r:id="rId5">
                  <a:extLst>
                    <a:ext uri="{A12FA001-AC4F-418D-AE19-62706E023703}">
                      <ahyp:hlinkClr xmlns:ahyp="http://schemas.microsoft.com/office/drawing/2018/hyperlinkcolor" val="tx"/>
                    </a:ext>
                  </a:extLst>
                </a:hlinkClick>
              </a:rPr>
              <a:t>per.wretlind@eea.europa.eu</a:t>
            </a:r>
            <a:r>
              <a:rPr lang="en-US" sz="2800" dirty="0"/>
              <a:t>; </a:t>
            </a:r>
            <a:r>
              <a:rPr lang="en-US" sz="2800" dirty="0">
                <a:hlinkClick r:id="rId6">
                  <a:extLst>
                    <a:ext uri="{A12FA001-AC4F-418D-AE19-62706E023703}">
                      <ahyp:hlinkClr xmlns:ahyp="http://schemas.microsoft.com/office/drawing/2018/hyperlinkcolor" val="tx"/>
                    </a:ext>
                  </a:extLst>
                </a:hlinkClick>
              </a:rPr>
              <a:t>aneliya.nikolova@eea.europa.eu</a:t>
            </a:r>
            <a:r>
              <a:rPr lang="en-US" sz="2800" dirty="0"/>
              <a:t>  </a:t>
            </a:r>
            <a:endParaRPr lang="en-US"/>
          </a:p>
        </p:txBody>
      </p:sp>
      <p:sp>
        <p:nvSpPr>
          <p:cNvPr id="4" name="Content Placeholder 2">
            <a:extLst>
              <a:ext uri="{FF2B5EF4-FFF2-40B4-BE49-F238E27FC236}">
                <a16:creationId xmlns:a16="http://schemas.microsoft.com/office/drawing/2014/main" id="{BC8B1ED0-6CCC-6B54-E18D-3FD6F53BF61A}"/>
              </a:ext>
            </a:extLst>
          </p:cNvPr>
          <p:cNvSpPr txBox="1">
            <a:spLocks/>
          </p:cNvSpPr>
          <p:nvPr/>
        </p:nvSpPr>
        <p:spPr>
          <a:xfrm>
            <a:off x="1554480" y="5146191"/>
            <a:ext cx="8135326" cy="720115"/>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spcAft>
                <a:spcPts val="600"/>
              </a:spcAft>
              <a:buNone/>
            </a:pPr>
            <a:endParaRPr lang="en-US" sz="3200" dirty="0"/>
          </a:p>
        </p:txBody>
      </p:sp>
    </p:spTree>
    <p:extLst>
      <p:ext uri="{BB962C8B-B14F-4D97-AF65-F5344CB8AC3E}">
        <p14:creationId xmlns:p14="http://schemas.microsoft.com/office/powerpoint/2010/main" val="3209547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bg>
      <p:bgRef idx="1001">
        <a:schemeClr val="bg1"/>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B89B49E-AAE2-4425-B7D3-8CA96AAF90E5}"/>
              </a:ext>
            </a:extLst>
          </p:cNvPr>
          <p:cNvSpPr txBox="1">
            <a:spLocks/>
          </p:cNvSpPr>
          <p:nvPr/>
        </p:nvSpPr>
        <p:spPr>
          <a:xfrm>
            <a:off x="3099552" y="914739"/>
            <a:ext cx="8254248" cy="17687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800" b="1" dirty="0">
                <a:cs typeface="Segoe UI"/>
              </a:rPr>
              <a:t>QA/QC (checks) on the reporting platform </a:t>
            </a:r>
            <a:r>
              <a:rPr lang="en-US" sz="1800" b="1" dirty="0" err="1">
                <a:cs typeface="Segoe UI"/>
              </a:rPr>
              <a:t>Reportnet</a:t>
            </a:r>
            <a:r>
              <a:rPr lang="en-US" sz="1800" b="1" dirty="0">
                <a:cs typeface="Segoe UI"/>
              </a:rPr>
              <a:t> 3</a:t>
            </a:r>
            <a:endParaRPr lang="en-US" sz="1800" dirty="0" err="1">
              <a:cs typeface="Segoe UI"/>
            </a:endParaRPr>
          </a:p>
          <a:p>
            <a:pPr marL="0" indent="0">
              <a:lnSpc>
                <a:spcPct val="100000"/>
              </a:lnSpc>
              <a:spcBef>
                <a:spcPts val="0"/>
              </a:spcBef>
              <a:buNone/>
            </a:pPr>
            <a:endParaRPr lang="en-US" sz="1800" b="1" dirty="0">
              <a:cs typeface="Segoe UI"/>
            </a:endParaRPr>
          </a:p>
          <a:p>
            <a:pPr marL="0" indent="0">
              <a:lnSpc>
                <a:spcPct val="100000"/>
              </a:lnSpc>
              <a:spcBef>
                <a:spcPts val="0"/>
              </a:spcBef>
              <a:buNone/>
            </a:pPr>
            <a:r>
              <a:rPr lang="en-US" sz="1800" dirty="0">
                <a:cs typeface="Segoe UI"/>
              </a:rPr>
              <a:t>32 Automated QA/QC </a:t>
            </a:r>
          </a:p>
          <a:p>
            <a:pPr marL="285750" lvl="1" indent="-285750">
              <a:lnSpc>
                <a:spcPct val="100000"/>
              </a:lnSpc>
              <a:spcBef>
                <a:spcPts val="0"/>
              </a:spcBef>
            </a:pPr>
            <a:r>
              <a:rPr lang="en-US" sz="1800" dirty="0">
                <a:cs typeface="Segoe UI"/>
              </a:rPr>
              <a:t>20 “error”  : Missing mandatory data</a:t>
            </a:r>
          </a:p>
          <a:p>
            <a:pPr marL="285750" lvl="1" indent="-285750">
              <a:lnSpc>
                <a:spcPct val="100000"/>
              </a:lnSpc>
              <a:spcBef>
                <a:spcPts val="0"/>
              </a:spcBef>
            </a:pPr>
            <a:r>
              <a:rPr lang="en-US" sz="1800" dirty="0">
                <a:cs typeface="Segoe UI"/>
              </a:rPr>
              <a:t>12 “warning” : Completeness check and wrong data type</a:t>
            </a:r>
          </a:p>
          <a:p>
            <a:pPr marL="285750" lvl="1" indent="-285750">
              <a:lnSpc>
                <a:spcPct val="100000"/>
              </a:lnSpc>
              <a:spcBef>
                <a:spcPts val="0"/>
              </a:spcBef>
            </a:pPr>
            <a:endParaRPr lang="en-US" sz="1800" dirty="0">
              <a:cs typeface="Segoe UI"/>
            </a:endParaRPr>
          </a:p>
        </p:txBody>
      </p:sp>
      <p:sp>
        <p:nvSpPr>
          <p:cNvPr id="9" name="Content Placeholder 2">
            <a:extLst>
              <a:ext uri="{FF2B5EF4-FFF2-40B4-BE49-F238E27FC236}">
                <a16:creationId xmlns:a16="http://schemas.microsoft.com/office/drawing/2014/main" id="{89C54AFA-861C-B04F-D9E3-97F2B4B5F0CB}"/>
              </a:ext>
            </a:extLst>
          </p:cNvPr>
          <p:cNvSpPr txBox="1">
            <a:spLocks/>
          </p:cNvSpPr>
          <p:nvPr/>
        </p:nvSpPr>
        <p:spPr>
          <a:xfrm>
            <a:off x="523539" y="3065497"/>
            <a:ext cx="11136907" cy="32850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GB" sz="1800" b="1" dirty="0">
                <a:latin typeface="Aptos"/>
                <a:cs typeface="Segoe UI"/>
              </a:rPr>
              <a:t>Internal Automatic and Manual QAQC and </a:t>
            </a:r>
            <a:r>
              <a:rPr lang="en-GB" sz="1800" b="1" dirty="0">
                <a:cs typeface="Segoe UI"/>
              </a:rPr>
              <a:t>the Communication Log</a:t>
            </a:r>
            <a:endParaRPr lang="en-US" sz="1800" dirty="0">
              <a:cs typeface="Segoe UI"/>
            </a:endParaRPr>
          </a:p>
          <a:p>
            <a:pPr marL="0" indent="0">
              <a:lnSpc>
                <a:spcPct val="100000"/>
              </a:lnSpc>
              <a:spcBef>
                <a:spcPts val="0"/>
              </a:spcBef>
              <a:buNone/>
            </a:pPr>
            <a:endParaRPr lang="en-US" sz="1800" b="1" dirty="0">
              <a:cs typeface="Segoe UI"/>
            </a:endParaRPr>
          </a:p>
          <a:p>
            <a:r>
              <a:rPr lang="en-GB" sz="1800" dirty="0">
                <a:ea typeface="+mn-lt"/>
                <a:cs typeface="+mn-lt"/>
              </a:rPr>
              <a:t>The Communication Log File is the central document for the QA/QC process. This document encapsulates the results of the QA/QC assessment carried out on data submitted by CPs and serves as the key channel for </a:t>
            </a:r>
            <a:r>
              <a:rPr lang="en-GB" sz="1800" u="sng" dirty="0">
                <a:ea typeface="+mn-lt"/>
                <a:cs typeface="+mn-lt"/>
              </a:rPr>
              <a:t>effective communication between the EEA and each CP.</a:t>
            </a:r>
            <a:endParaRPr lang="en-GB" dirty="0"/>
          </a:p>
          <a:p>
            <a:endParaRPr lang="en-GB" sz="1800" u="sng" dirty="0">
              <a:ea typeface="+mn-lt"/>
              <a:cs typeface="+mn-lt"/>
            </a:endParaRPr>
          </a:p>
          <a:p>
            <a:pPr marL="285750" indent="-285750">
              <a:lnSpc>
                <a:spcPct val="100000"/>
              </a:lnSpc>
              <a:spcBef>
                <a:spcPts val="0"/>
              </a:spcBef>
            </a:pPr>
            <a:r>
              <a:rPr lang="en-GB" sz="1800" dirty="0">
                <a:ea typeface="+mn-lt"/>
                <a:cs typeface="+mn-lt"/>
              </a:rPr>
              <a:t>The </a:t>
            </a:r>
            <a:r>
              <a:rPr lang="en-GB" sz="1800" dirty="0" err="1">
                <a:ea typeface="+mn-lt"/>
                <a:cs typeface="+mn-lt"/>
              </a:rPr>
              <a:t>ComLog</a:t>
            </a:r>
            <a:r>
              <a:rPr lang="en-GB" sz="1800" dirty="0">
                <a:ea typeface="+mn-lt"/>
                <a:cs typeface="+mn-lt"/>
              </a:rPr>
              <a:t> documents findings, including data quality discrepancies, errors, missing information and other issues. This comprehensive documentation provides a record of the data quality assessment.</a:t>
            </a:r>
            <a:endParaRPr lang="en-US" sz="1800" dirty="0">
              <a:ea typeface="+mn-lt"/>
              <a:cs typeface="+mn-lt"/>
            </a:endParaRPr>
          </a:p>
          <a:p>
            <a:pPr marL="285750" indent="-285750">
              <a:lnSpc>
                <a:spcPct val="100000"/>
              </a:lnSpc>
              <a:spcBef>
                <a:spcPts val="0"/>
              </a:spcBef>
            </a:pPr>
            <a:endParaRPr lang="en-GB" sz="1800" dirty="0">
              <a:ea typeface="+mn-lt"/>
              <a:cs typeface="+mn-lt"/>
            </a:endParaRPr>
          </a:p>
          <a:p>
            <a:pPr marL="285750" indent="-285750">
              <a:lnSpc>
                <a:spcPct val="100000"/>
              </a:lnSpc>
              <a:spcBef>
                <a:spcPts val="0"/>
              </a:spcBef>
            </a:pPr>
            <a:r>
              <a:rPr lang="en-GB" sz="1800" dirty="0">
                <a:ea typeface="+mn-lt"/>
                <a:cs typeface="+mn-lt"/>
              </a:rPr>
              <a:t>The primary role is to </a:t>
            </a:r>
            <a:r>
              <a:rPr lang="en-GB" sz="1800" u="sng" dirty="0">
                <a:ea typeface="+mn-lt"/>
                <a:cs typeface="+mn-lt"/>
              </a:rPr>
              <a:t>facilitate dialogue between the EEA and the respective CP</a:t>
            </a:r>
            <a:r>
              <a:rPr lang="en-GB" sz="1800" dirty="0">
                <a:ea typeface="+mn-lt"/>
                <a:cs typeface="+mn-lt"/>
              </a:rPr>
              <a:t>. </a:t>
            </a:r>
            <a:endParaRPr lang="en-US" sz="1800" dirty="0">
              <a:ea typeface="+mn-lt"/>
              <a:cs typeface="+mn-lt"/>
            </a:endParaRPr>
          </a:p>
          <a:p>
            <a:pPr marL="285750" lvl="1" indent="-285750">
              <a:lnSpc>
                <a:spcPct val="100000"/>
              </a:lnSpc>
              <a:spcBef>
                <a:spcPts val="0"/>
              </a:spcBef>
            </a:pPr>
            <a:endParaRPr lang="en-US" sz="1800" dirty="0">
              <a:cs typeface="Segoe UI"/>
            </a:endParaRPr>
          </a:p>
        </p:txBody>
      </p:sp>
      <p:pic>
        <p:nvPicPr>
          <p:cNvPr id="14" name="Picture 13" descr="A blue background with white text&#10;&#10;Description automatically generated">
            <a:extLst>
              <a:ext uri="{FF2B5EF4-FFF2-40B4-BE49-F238E27FC236}">
                <a16:creationId xmlns:a16="http://schemas.microsoft.com/office/drawing/2014/main" id="{20CFF17F-E6AA-657B-4ED3-5EEF94FF1EBA}"/>
              </a:ext>
            </a:extLst>
          </p:cNvPr>
          <p:cNvPicPr>
            <a:picLocks noChangeAspect="1"/>
          </p:cNvPicPr>
          <p:nvPr/>
        </p:nvPicPr>
        <p:blipFill>
          <a:blip r:embed="rId3"/>
          <a:stretch>
            <a:fillRect/>
          </a:stretch>
        </p:blipFill>
        <p:spPr>
          <a:xfrm>
            <a:off x="723361" y="1288752"/>
            <a:ext cx="1917580" cy="887442"/>
          </a:xfrm>
          <a:prstGeom prst="rect">
            <a:avLst/>
          </a:prstGeom>
        </p:spPr>
      </p:pic>
      <p:sp>
        <p:nvSpPr>
          <p:cNvPr id="2" name="Slide Number Placeholder 1">
            <a:extLst>
              <a:ext uri="{FF2B5EF4-FFF2-40B4-BE49-F238E27FC236}">
                <a16:creationId xmlns:a16="http://schemas.microsoft.com/office/drawing/2014/main" id="{20B8DBD3-5EFB-81FE-911E-E3E5F2DECF5A}"/>
              </a:ext>
            </a:extLst>
          </p:cNvPr>
          <p:cNvSpPr>
            <a:spLocks noGrp="1"/>
          </p:cNvSpPr>
          <p:nvPr>
            <p:ph type="sldNum" sz="quarter" idx="12"/>
          </p:nvPr>
        </p:nvSpPr>
        <p:spPr/>
        <p:txBody>
          <a:bodyPr/>
          <a:lstStyle/>
          <a:p>
            <a:fld id="{1A424DB6-78F0-4ADD-B66A-AFD80B81666A}" type="slidenum">
              <a:rPr lang="en-DK" smtClean="0"/>
              <a:t>59</a:t>
            </a:fld>
            <a:endParaRPr lang="en-DK"/>
          </a:p>
        </p:txBody>
      </p:sp>
      <p:sp>
        <p:nvSpPr>
          <p:cNvPr id="3" name="TextBox 2">
            <a:extLst>
              <a:ext uri="{FF2B5EF4-FFF2-40B4-BE49-F238E27FC236}">
                <a16:creationId xmlns:a16="http://schemas.microsoft.com/office/drawing/2014/main" id="{2781ADC5-2D54-787C-C381-3F31D9985F35}"/>
              </a:ext>
            </a:extLst>
          </p:cNvPr>
          <p:cNvSpPr txBox="1"/>
          <p:nvPr/>
        </p:nvSpPr>
        <p:spPr>
          <a:xfrm>
            <a:off x="258593" y="108399"/>
            <a:ext cx="12170028" cy="584775"/>
          </a:xfrm>
          <a:prstGeom prst="rect">
            <a:avLst/>
          </a:prstGeom>
          <a:noFill/>
        </p:spPr>
        <p:txBody>
          <a:bodyPr wrap="square" rtlCol="0">
            <a:spAutoFit/>
          </a:bodyPr>
          <a:lstStyle/>
          <a:p>
            <a:r>
              <a:rPr lang="en-US" sz="3200" b="1" dirty="0">
                <a:solidFill>
                  <a:srgbClr val="113A60"/>
                </a:solidFill>
              </a:rPr>
              <a:t>PROGRESS</a:t>
            </a:r>
            <a:r>
              <a:rPr lang="en-US" sz="3200" b="1" dirty="0">
                <a:latin typeface="+mn-lt"/>
              </a:rPr>
              <a:t> </a:t>
            </a:r>
            <a:r>
              <a:rPr lang="en-US" sz="3200" b="1" dirty="0">
                <a:solidFill>
                  <a:srgbClr val="113A60"/>
                </a:solidFill>
              </a:rPr>
              <a:t>TO TARGET - GHG Emissions and Removals - QAQC</a:t>
            </a:r>
          </a:p>
        </p:txBody>
      </p:sp>
    </p:spTree>
    <p:extLst>
      <p:ext uri="{BB962C8B-B14F-4D97-AF65-F5344CB8AC3E}">
        <p14:creationId xmlns:p14="http://schemas.microsoft.com/office/powerpoint/2010/main" val="4221505068"/>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E5E29DD-7813-C4FC-8A21-212C484D5AB6}"/>
              </a:ext>
            </a:extLst>
          </p:cNvPr>
          <p:cNvSpPr/>
          <p:nvPr/>
        </p:nvSpPr>
        <p:spPr>
          <a:xfrm>
            <a:off x="158337" y="1801090"/>
            <a:ext cx="2448295" cy="1993075"/>
          </a:xfrm>
          <a:prstGeom prst="rect">
            <a:avLst/>
          </a:prstGeom>
          <a:solidFill>
            <a:srgbClr val="66B0A7">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table&#10;&#10;Description automatically generated">
            <a:extLst>
              <a:ext uri="{FF2B5EF4-FFF2-40B4-BE49-F238E27FC236}">
                <a16:creationId xmlns:a16="http://schemas.microsoft.com/office/drawing/2014/main" id="{BA86693B-E28C-8B16-CE55-168AB1029A44}"/>
              </a:ext>
            </a:extLst>
          </p:cNvPr>
          <p:cNvPicPr>
            <a:picLocks noChangeAspect="1"/>
          </p:cNvPicPr>
          <p:nvPr/>
        </p:nvPicPr>
        <p:blipFill>
          <a:blip r:embed="rId3"/>
          <a:stretch>
            <a:fillRect/>
          </a:stretch>
        </p:blipFill>
        <p:spPr>
          <a:xfrm>
            <a:off x="2517500" y="1663982"/>
            <a:ext cx="9477375" cy="2219325"/>
          </a:xfrm>
          <a:prstGeom prst="rect">
            <a:avLst/>
          </a:prstGeom>
        </p:spPr>
      </p:pic>
      <p:sp>
        <p:nvSpPr>
          <p:cNvPr id="8" name="TextBox 7">
            <a:extLst>
              <a:ext uri="{FF2B5EF4-FFF2-40B4-BE49-F238E27FC236}">
                <a16:creationId xmlns:a16="http://schemas.microsoft.com/office/drawing/2014/main" id="{C5616BF8-64E0-7480-EA92-5A77D12968C8}"/>
              </a:ext>
            </a:extLst>
          </p:cNvPr>
          <p:cNvSpPr txBox="1"/>
          <p:nvPr/>
        </p:nvSpPr>
        <p:spPr>
          <a:xfrm>
            <a:off x="152400" y="1013361"/>
            <a:ext cx="117486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u="sng" dirty="0">
                <a:cs typeface="Segoe UI"/>
              </a:rPr>
              <a:t>Table 1: </a:t>
            </a:r>
            <a:r>
              <a:rPr lang="en-GB" b="1" dirty="0">
                <a:cs typeface="Segoe UI"/>
              </a:rPr>
              <a:t>Current and projected national progress towards the national greenhouse gas (GHG) emissions reduction targets in view of climate-neutrality</a:t>
            </a:r>
            <a:endParaRPr lang="en-US" b="1" dirty="0">
              <a:cs typeface="Segoe UI"/>
            </a:endParaRPr>
          </a:p>
        </p:txBody>
      </p:sp>
      <p:sp>
        <p:nvSpPr>
          <p:cNvPr id="9" name="TextBox 8">
            <a:extLst>
              <a:ext uri="{FF2B5EF4-FFF2-40B4-BE49-F238E27FC236}">
                <a16:creationId xmlns:a16="http://schemas.microsoft.com/office/drawing/2014/main" id="{4ACAD8B5-EF03-3AE7-E04F-A4C3609F3200}"/>
              </a:ext>
            </a:extLst>
          </p:cNvPr>
          <p:cNvSpPr txBox="1"/>
          <p:nvPr/>
        </p:nvSpPr>
        <p:spPr>
          <a:xfrm>
            <a:off x="162296" y="4253346"/>
            <a:ext cx="551410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GB" dirty="0">
                <a:cs typeface="Segoe UI"/>
              </a:rPr>
              <a:t>Check 1: completeness - </a:t>
            </a:r>
            <a:r>
              <a:rPr lang="en-GB" sz="1400" dirty="0">
                <a:cs typeface="Segoe UI"/>
              </a:rPr>
              <a:t>Target year</a:t>
            </a:r>
            <a:endParaRPr lang="en-GB" dirty="0">
              <a:cs typeface="Segoe UI"/>
            </a:endParaRPr>
          </a:p>
          <a:p>
            <a:pPr marL="285750" indent="-285750">
              <a:buFont typeface="Arial" panose="020B0604020202020204" pitchFamily="34" charset="0"/>
              <a:buChar char="•"/>
            </a:pPr>
            <a:endParaRPr lang="en-US" dirty="0">
              <a:cs typeface="Segoe UI"/>
            </a:endParaRPr>
          </a:p>
          <a:p>
            <a:pPr marL="285750" indent="-285750">
              <a:buFont typeface="Arial" panose="020B0604020202020204" pitchFamily="34" charset="0"/>
              <a:buChar char="•"/>
            </a:pPr>
            <a:r>
              <a:rPr lang="en-GB" dirty="0">
                <a:cs typeface="Segoe UI"/>
              </a:rPr>
              <a:t>Check 2: accuracy - </a:t>
            </a:r>
            <a:r>
              <a:rPr lang="en-GB" sz="1400" dirty="0">
                <a:cs typeface="Segoe UI"/>
              </a:rPr>
              <a:t>Role of removals</a:t>
            </a:r>
          </a:p>
          <a:p>
            <a:pPr marL="285750" indent="-285750">
              <a:buFont typeface="Arial" panose="020B0604020202020204" pitchFamily="34" charset="0"/>
              <a:buChar char="•"/>
            </a:pPr>
            <a:endParaRPr lang="en-US" dirty="0">
              <a:cs typeface="Segoe UI"/>
            </a:endParaRPr>
          </a:p>
          <a:p>
            <a:pPr marL="285750" indent="-285750">
              <a:buFont typeface="Arial" panose="020B0604020202020204" pitchFamily="34" charset="0"/>
              <a:buChar char="•"/>
            </a:pPr>
            <a:r>
              <a:rPr lang="en-GB" dirty="0">
                <a:cs typeface="Segoe UI"/>
              </a:rPr>
              <a:t>Check 3: consistency -</a:t>
            </a:r>
            <a:r>
              <a:rPr lang="en-GB" dirty="0">
                <a:latin typeface="Aptos"/>
                <a:cs typeface="Segoe UI"/>
              </a:rPr>
              <a:t> </a:t>
            </a:r>
            <a:r>
              <a:rPr lang="en-GB" sz="1400" dirty="0">
                <a:cs typeface="Segoe UI"/>
              </a:rPr>
              <a:t>National GHG emissions target</a:t>
            </a:r>
          </a:p>
        </p:txBody>
      </p:sp>
      <p:sp>
        <p:nvSpPr>
          <p:cNvPr id="10" name="TextBox 9">
            <a:extLst>
              <a:ext uri="{FF2B5EF4-FFF2-40B4-BE49-F238E27FC236}">
                <a16:creationId xmlns:a16="http://schemas.microsoft.com/office/drawing/2014/main" id="{A9350BF6-5E37-1CAD-3507-70D866F1B6B8}"/>
              </a:ext>
            </a:extLst>
          </p:cNvPr>
          <p:cNvSpPr txBox="1"/>
          <p:nvPr/>
        </p:nvSpPr>
        <p:spPr>
          <a:xfrm>
            <a:off x="3959" y="1993076"/>
            <a:ext cx="2594758"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a:t>Climate-neutrality</a:t>
            </a:r>
            <a:endParaRPr lang="en-US"/>
          </a:p>
          <a:p>
            <a:pPr algn="r"/>
            <a:endParaRPr lang="en-US" sz="1400" b="1"/>
          </a:p>
          <a:p>
            <a:pPr algn="r"/>
            <a:r>
              <a:rPr lang="en-US" sz="1400" b="1"/>
              <a:t>Role of removals </a:t>
            </a:r>
          </a:p>
          <a:p>
            <a:pPr algn="r"/>
            <a:endParaRPr lang="en-US" sz="1400" b="1"/>
          </a:p>
          <a:p>
            <a:pPr algn="r"/>
            <a:r>
              <a:rPr lang="en-US" sz="1400" b="1"/>
              <a:t>National GHG target for 2030 and beyond, and indicative milestones for 2040 and 2050</a:t>
            </a:r>
          </a:p>
        </p:txBody>
      </p:sp>
      <p:sp>
        <p:nvSpPr>
          <p:cNvPr id="15" name="TextBox 14">
            <a:extLst>
              <a:ext uri="{FF2B5EF4-FFF2-40B4-BE49-F238E27FC236}">
                <a16:creationId xmlns:a16="http://schemas.microsoft.com/office/drawing/2014/main" id="{54ED8CCF-0F69-9CA7-4243-990F7E2DC8AA}"/>
              </a:ext>
            </a:extLst>
          </p:cNvPr>
          <p:cNvSpPr txBox="1"/>
          <p:nvPr/>
        </p:nvSpPr>
        <p:spPr>
          <a:xfrm>
            <a:off x="172192" y="395250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Internal Checks</a:t>
            </a:r>
            <a:endParaRPr lang="en-US"/>
          </a:p>
        </p:txBody>
      </p:sp>
      <p:sp>
        <p:nvSpPr>
          <p:cNvPr id="2" name="TextBox 12">
            <a:extLst>
              <a:ext uri="{FF2B5EF4-FFF2-40B4-BE49-F238E27FC236}">
                <a16:creationId xmlns:a16="http://schemas.microsoft.com/office/drawing/2014/main" id="{3CB695D3-C407-A5DE-15EB-9E1CA47A0453}"/>
              </a:ext>
            </a:extLst>
          </p:cNvPr>
          <p:cNvSpPr txBox="1"/>
          <p:nvPr/>
        </p:nvSpPr>
        <p:spPr>
          <a:xfrm>
            <a:off x="6663131" y="5142676"/>
            <a:ext cx="5266707" cy="1169551"/>
          </a:xfrm>
          <a:prstGeom prst="rect">
            <a:avLst/>
          </a:prstGeom>
          <a:solidFill>
            <a:srgbClr val="EAF1DE">
              <a:alpha val="46000"/>
            </a:srgbClr>
          </a:solid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GB" sz="1400" dirty="0"/>
              <a:t>Checking that the national targets reported are in line with the final NECP of the CP;</a:t>
            </a:r>
            <a:endParaRPr lang="en-GB"/>
          </a:p>
          <a:p>
            <a:pPr marL="285750" indent="-285750">
              <a:buFont typeface="Arial" panose="020B0604020202020204" pitchFamily="34" charset="0"/>
              <a:buChar char="•"/>
            </a:pPr>
            <a:r>
              <a:rPr lang="en-GB" sz="1400" dirty="0"/>
              <a:t>If “no” is selected for indirect CO2 emissions, the EEA will ask the CP for the reasons, and if appropriate, require updated information on the target considering indirect CO2 emissions.</a:t>
            </a:r>
          </a:p>
        </p:txBody>
      </p:sp>
      <p:sp>
        <p:nvSpPr>
          <p:cNvPr id="5" name="Arrow: Right 4">
            <a:extLst>
              <a:ext uri="{FF2B5EF4-FFF2-40B4-BE49-F238E27FC236}">
                <a16:creationId xmlns:a16="http://schemas.microsoft.com/office/drawing/2014/main" id="{A051896F-BADB-42E3-1418-8AA33EC2C95A}"/>
              </a:ext>
            </a:extLst>
          </p:cNvPr>
          <p:cNvSpPr/>
          <p:nvPr/>
        </p:nvSpPr>
        <p:spPr>
          <a:xfrm>
            <a:off x="5516641" y="5066260"/>
            <a:ext cx="978408" cy="484632"/>
          </a:xfrm>
          <a:prstGeom prst="rightArrow">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1">
            <a:extLst>
              <a:ext uri="{FF2B5EF4-FFF2-40B4-BE49-F238E27FC236}">
                <a16:creationId xmlns:a16="http://schemas.microsoft.com/office/drawing/2014/main" id="{910498DE-C49C-336B-8A2C-2F1E524B5FB3}"/>
              </a:ext>
            </a:extLst>
          </p:cNvPr>
          <p:cNvSpPr txBox="1"/>
          <p:nvPr/>
        </p:nvSpPr>
        <p:spPr>
          <a:xfrm>
            <a:off x="5891240" y="4181579"/>
            <a:ext cx="6041231" cy="762476"/>
          </a:xfrm>
          <a:prstGeom prst="rect">
            <a:avLst/>
          </a:prstGeom>
          <a:solidFill>
            <a:srgbClr val="EAF1DE">
              <a:alpha val="46000"/>
            </a:srgbClr>
          </a:solidFill>
          <a:ln w="6350">
            <a:no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Char char="•"/>
            </a:pPr>
            <a:r>
              <a:rPr lang="en-US" sz="1400"/>
              <a:t>Automatic checks verify the presence of numerical data, while manual checks ensure the data is consistent with national targets and that supporting information is provided. </a:t>
            </a:r>
          </a:p>
        </p:txBody>
      </p:sp>
      <p:sp>
        <p:nvSpPr>
          <p:cNvPr id="7" name="Arrow: Right 6">
            <a:extLst>
              <a:ext uri="{FF2B5EF4-FFF2-40B4-BE49-F238E27FC236}">
                <a16:creationId xmlns:a16="http://schemas.microsoft.com/office/drawing/2014/main" id="{0A14512E-4A50-1501-E569-04C8432AF47E}"/>
              </a:ext>
            </a:extLst>
          </p:cNvPr>
          <p:cNvSpPr/>
          <p:nvPr/>
        </p:nvSpPr>
        <p:spPr>
          <a:xfrm>
            <a:off x="4635579" y="4447135"/>
            <a:ext cx="978408" cy="484632"/>
          </a:xfrm>
          <a:prstGeom prst="rightArrow">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Slide Number Placeholder 10">
            <a:extLst>
              <a:ext uri="{FF2B5EF4-FFF2-40B4-BE49-F238E27FC236}">
                <a16:creationId xmlns:a16="http://schemas.microsoft.com/office/drawing/2014/main" id="{2149F9BE-9B6A-1AED-9340-3E6B88A2A33B}"/>
              </a:ext>
            </a:extLst>
          </p:cNvPr>
          <p:cNvSpPr>
            <a:spLocks noGrp="1"/>
          </p:cNvSpPr>
          <p:nvPr>
            <p:ph type="sldNum" sz="quarter" idx="12"/>
          </p:nvPr>
        </p:nvSpPr>
        <p:spPr/>
        <p:txBody>
          <a:bodyPr/>
          <a:lstStyle/>
          <a:p>
            <a:fld id="{1A424DB6-78F0-4ADD-B66A-AFD80B81666A}" type="slidenum">
              <a:rPr lang="en-DK" smtClean="0"/>
              <a:t>60</a:t>
            </a:fld>
            <a:endParaRPr lang="en-DK"/>
          </a:p>
        </p:txBody>
      </p:sp>
      <p:sp>
        <p:nvSpPr>
          <p:cNvPr id="12" name="TextBox 11">
            <a:extLst>
              <a:ext uri="{FF2B5EF4-FFF2-40B4-BE49-F238E27FC236}">
                <a16:creationId xmlns:a16="http://schemas.microsoft.com/office/drawing/2014/main" id="{EBC154C7-B88A-A35D-0CA1-65A43A0DF97D}"/>
              </a:ext>
            </a:extLst>
          </p:cNvPr>
          <p:cNvSpPr txBox="1"/>
          <p:nvPr/>
        </p:nvSpPr>
        <p:spPr>
          <a:xfrm>
            <a:off x="258593" y="108399"/>
            <a:ext cx="12170028" cy="584775"/>
          </a:xfrm>
          <a:prstGeom prst="rect">
            <a:avLst/>
          </a:prstGeom>
          <a:noFill/>
        </p:spPr>
        <p:txBody>
          <a:bodyPr wrap="square" rtlCol="0">
            <a:spAutoFit/>
          </a:bodyPr>
          <a:lstStyle/>
          <a:p>
            <a:r>
              <a:rPr lang="en-US" sz="3200" b="1" dirty="0">
                <a:solidFill>
                  <a:srgbClr val="113A60"/>
                </a:solidFill>
              </a:rPr>
              <a:t>PROGRESS</a:t>
            </a:r>
            <a:r>
              <a:rPr lang="en-US" sz="3200" b="1" dirty="0">
                <a:latin typeface="+mn-lt"/>
              </a:rPr>
              <a:t> </a:t>
            </a:r>
            <a:r>
              <a:rPr lang="en-US" sz="3200" b="1" dirty="0">
                <a:solidFill>
                  <a:srgbClr val="113A60"/>
                </a:solidFill>
              </a:rPr>
              <a:t>TO TARGET - GHG Emissions and Removals - QAQC</a:t>
            </a:r>
          </a:p>
        </p:txBody>
      </p:sp>
    </p:spTree>
    <p:extLst>
      <p:ext uri="{BB962C8B-B14F-4D97-AF65-F5344CB8AC3E}">
        <p14:creationId xmlns:p14="http://schemas.microsoft.com/office/powerpoint/2010/main" val="12713722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5251571" y="856760"/>
            <a:ext cx="1688860" cy="1569660"/>
          </a:xfrm>
          <a:prstGeom prst="rect">
            <a:avLst/>
          </a:prstGeom>
          <a:noFill/>
        </p:spPr>
        <p:txBody>
          <a:bodyPr wrap="none" lIns="91440" tIns="45720" rIns="91440" bIns="45720" rtlCol="0" anchor="t">
            <a:spAutoFit/>
          </a:bodyPr>
          <a:lstStyle/>
          <a:p>
            <a:pPr algn="ctr"/>
            <a:r>
              <a:rPr lang="en-US" sz="3200" dirty="0">
                <a:solidFill>
                  <a:schemeClr val="bg1"/>
                </a:solidFill>
                <a:latin typeface="Calibri"/>
                <a:ea typeface="Calibri"/>
                <a:cs typeface="Calibri"/>
              </a:rPr>
              <a:t>Example </a:t>
            </a:r>
          </a:p>
          <a:p>
            <a:pPr algn="ctr"/>
            <a:endParaRPr lang="en-US" sz="3200" dirty="0">
              <a:solidFill>
                <a:schemeClr val="bg1"/>
              </a:solidFill>
              <a:latin typeface="Calibri"/>
              <a:ea typeface="Calibri"/>
              <a:cs typeface="Calibri"/>
            </a:endParaRPr>
          </a:p>
          <a:p>
            <a:pPr algn="ctr"/>
            <a:r>
              <a:rPr lang="en-US" sz="3200" dirty="0">
                <a:solidFill>
                  <a:schemeClr val="bg1"/>
                </a:solidFill>
                <a:latin typeface="Calibri"/>
                <a:ea typeface="Calibri"/>
                <a:cs typeface="Calibri"/>
              </a:rPr>
              <a:t> France </a:t>
            </a:r>
            <a:endParaRPr lang="en-US" dirty="0">
              <a:solidFill>
                <a:schemeClr val="bg1"/>
              </a:solidFill>
              <a:latin typeface="Calibri"/>
              <a:ea typeface="Calibri"/>
              <a:cs typeface="Calibri"/>
            </a:endParaRPr>
          </a:p>
        </p:txBody>
      </p:sp>
      <p:pic>
        <p:nvPicPr>
          <p:cNvPr id="2" name="Graphic 1" descr="Croissant outline">
            <a:extLst>
              <a:ext uri="{FF2B5EF4-FFF2-40B4-BE49-F238E27FC236}">
                <a16:creationId xmlns:a16="http://schemas.microsoft.com/office/drawing/2014/main" id="{6B82A9B6-B727-7048-4F7A-CC949BF908B0}"/>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076371" y="2415419"/>
            <a:ext cx="2039257" cy="2039257"/>
          </a:xfrm>
          <a:prstGeom prst="rect">
            <a:avLst/>
          </a:prstGeom>
        </p:spPr>
      </p:pic>
    </p:spTree>
    <p:extLst>
      <p:ext uri="{BB962C8B-B14F-4D97-AF65-F5344CB8AC3E}">
        <p14:creationId xmlns:p14="http://schemas.microsoft.com/office/powerpoint/2010/main" val="711999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506818" y="341446"/>
            <a:ext cx="7878726" cy="584775"/>
          </a:xfrm>
          <a:prstGeom prst="rect">
            <a:avLst/>
          </a:prstGeom>
          <a:noFill/>
        </p:spPr>
        <p:txBody>
          <a:bodyPr wrap="square" lIns="91440" tIns="45720" rIns="91440" bIns="45720" rtlCol="0" anchor="t">
            <a:spAutoFit/>
          </a:bodyPr>
          <a:lstStyle/>
          <a:p>
            <a:r>
              <a:rPr lang="en-US" sz="3200" b="1" dirty="0">
                <a:solidFill>
                  <a:srgbClr val="113A60"/>
                </a:solidFill>
              </a:rPr>
              <a:t>Example</a:t>
            </a:r>
          </a:p>
        </p:txBody>
      </p:sp>
      <p:sp>
        <p:nvSpPr>
          <p:cNvPr id="8" name="TextBox 7">
            <a:extLst>
              <a:ext uri="{FF2B5EF4-FFF2-40B4-BE49-F238E27FC236}">
                <a16:creationId xmlns:a16="http://schemas.microsoft.com/office/drawing/2014/main" id="{4D7E68BC-FA71-E7E8-D056-3301B1D1BABD}"/>
              </a:ext>
            </a:extLst>
          </p:cNvPr>
          <p:cNvSpPr txBox="1"/>
          <p:nvPr/>
        </p:nvSpPr>
        <p:spPr>
          <a:xfrm>
            <a:off x="504765" y="1433698"/>
            <a:ext cx="11182470" cy="3895746"/>
          </a:xfrm>
          <a:prstGeom prst="rect">
            <a:avLst/>
          </a:prstGeom>
          <a:noFill/>
        </p:spPr>
        <p:txBody>
          <a:bodyPr wrap="square" lIns="91440" tIns="45720" rIns="91440" bIns="45720" anchor="t">
            <a:spAutoFit/>
          </a:bodyPr>
          <a:lstStyle/>
          <a:p>
            <a:pPr algn="just">
              <a:lnSpc>
                <a:spcPct val="200000"/>
              </a:lnSpc>
            </a:pPr>
            <a:r>
              <a:rPr lang="en-US" b="1" i="0" dirty="0" err="1">
                <a:solidFill>
                  <a:srgbClr val="404040"/>
                </a:solidFill>
                <a:effectLst/>
                <a:latin typeface="open sans" panose="020B0606030504020204" pitchFamily="34" charset="0"/>
              </a:rPr>
              <a:t>GovReg</a:t>
            </a:r>
            <a:r>
              <a:rPr lang="en-US" b="1" i="0" dirty="0">
                <a:solidFill>
                  <a:srgbClr val="404040"/>
                </a:solidFill>
                <a:effectLst/>
                <a:latin typeface="open sans" panose="020B0606030504020204" pitchFamily="34" charset="0"/>
              </a:rPr>
              <a:t>: Progress towards objectives, targets and contributions (</a:t>
            </a:r>
            <a:r>
              <a:rPr lang="en-US" b="1" i="0" dirty="0" err="1">
                <a:solidFill>
                  <a:srgbClr val="404040"/>
                </a:solidFill>
                <a:effectLst/>
                <a:latin typeface="open sans" panose="020B0606030504020204" pitchFamily="34" charset="0"/>
              </a:rPr>
              <a:t>Decarbonisation</a:t>
            </a:r>
            <a:r>
              <a:rPr lang="en-US" b="1" i="0" dirty="0">
                <a:solidFill>
                  <a:srgbClr val="404040"/>
                </a:solidFill>
                <a:effectLst/>
                <a:latin typeface="open sans" panose="020B0606030504020204" pitchFamily="34" charset="0"/>
              </a:rPr>
              <a:t>: Greenhouse Gas Emissions and Removals) - Annex I [2023]</a:t>
            </a:r>
          </a:p>
          <a:p>
            <a:pPr algn="just">
              <a:lnSpc>
                <a:spcPct val="200000"/>
              </a:lnSpc>
            </a:pPr>
            <a:endParaRPr lang="en-US" b="1" dirty="0">
              <a:solidFill>
                <a:srgbClr val="404040"/>
              </a:solidFill>
              <a:latin typeface="open sans" panose="020B0606030504020204" pitchFamily="34" charset="0"/>
            </a:endParaRPr>
          </a:p>
          <a:p>
            <a:pPr algn="just">
              <a:lnSpc>
                <a:spcPct val="200000"/>
              </a:lnSpc>
            </a:pPr>
            <a:endParaRPr lang="en-US" b="1" i="0" dirty="0">
              <a:solidFill>
                <a:srgbClr val="404040"/>
              </a:solidFill>
              <a:effectLst/>
              <a:latin typeface="open sans" panose="020B0606030504020204" pitchFamily="34" charset="0"/>
            </a:endParaRPr>
          </a:p>
          <a:p>
            <a:pPr algn="just">
              <a:lnSpc>
                <a:spcPct val="200000"/>
              </a:lnSpc>
            </a:pPr>
            <a:endParaRPr lang="en-US" b="1" i="0" dirty="0">
              <a:solidFill>
                <a:srgbClr val="404040"/>
              </a:solidFill>
              <a:effectLst/>
              <a:latin typeface="open sans" panose="020B0606030504020204" pitchFamily="34" charset="0"/>
            </a:endParaRPr>
          </a:p>
          <a:p>
            <a:pPr algn="just">
              <a:lnSpc>
                <a:spcPct val="200000"/>
              </a:lnSpc>
            </a:pPr>
            <a:r>
              <a:rPr lang="en-US" b="1" i="0" dirty="0">
                <a:solidFill>
                  <a:srgbClr val="404040"/>
                </a:solidFill>
                <a:effectLst/>
                <a:latin typeface="open sans" panose="020B0606030504020204" pitchFamily="34" charset="0"/>
              </a:rPr>
              <a:t>MS : France</a:t>
            </a:r>
          </a:p>
          <a:p>
            <a:pPr algn="just">
              <a:lnSpc>
                <a:spcPct val="200000"/>
              </a:lnSpc>
            </a:pPr>
            <a:endParaRPr lang="en-US" b="1" i="0" dirty="0">
              <a:solidFill>
                <a:srgbClr val="002060"/>
              </a:solidFill>
              <a:effectLst/>
              <a:ea typeface="Calibri Light"/>
              <a:cs typeface="Calibri Light"/>
            </a:endParaRPr>
          </a:p>
        </p:txBody>
      </p:sp>
      <p:pic>
        <p:nvPicPr>
          <p:cNvPr id="4" name="Picture 3">
            <a:extLst>
              <a:ext uri="{FF2B5EF4-FFF2-40B4-BE49-F238E27FC236}">
                <a16:creationId xmlns:a16="http://schemas.microsoft.com/office/drawing/2014/main" id="{8E1CAEEA-E04C-245C-D2ED-E83058D66CD0}"/>
              </a:ext>
            </a:extLst>
          </p:cNvPr>
          <p:cNvPicPr>
            <a:picLocks noChangeAspect="1"/>
          </p:cNvPicPr>
          <p:nvPr/>
        </p:nvPicPr>
        <p:blipFill>
          <a:blip r:embed="rId2"/>
          <a:stretch>
            <a:fillRect/>
          </a:stretch>
        </p:blipFill>
        <p:spPr>
          <a:xfrm>
            <a:off x="0" y="2763238"/>
            <a:ext cx="12192000" cy="1331524"/>
          </a:xfrm>
          <a:prstGeom prst="rect">
            <a:avLst/>
          </a:prstGeom>
        </p:spPr>
      </p:pic>
    </p:spTree>
    <p:extLst>
      <p:ext uri="{BB962C8B-B14F-4D97-AF65-F5344CB8AC3E}">
        <p14:creationId xmlns:p14="http://schemas.microsoft.com/office/powerpoint/2010/main" val="39868754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5334027" y="856760"/>
            <a:ext cx="1523943" cy="584775"/>
          </a:xfrm>
          <a:prstGeom prst="rect">
            <a:avLst/>
          </a:prstGeom>
          <a:noFill/>
        </p:spPr>
        <p:txBody>
          <a:bodyPr wrap="none" lIns="91440" tIns="45720" rIns="91440" bIns="45720" rtlCol="0" anchor="t">
            <a:spAutoFit/>
          </a:bodyPr>
          <a:lstStyle/>
          <a:p>
            <a:pPr algn="ctr"/>
            <a:r>
              <a:rPr lang="en-US" sz="3200" dirty="0">
                <a:solidFill>
                  <a:schemeClr val="bg1"/>
                </a:solidFill>
                <a:latin typeface="Calibri"/>
                <a:ea typeface="Calibri"/>
                <a:cs typeface="Calibri"/>
              </a:rPr>
              <a:t>Exercise</a:t>
            </a:r>
            <a:endParaRPr lang="en-US">
              <a:solidFill>
                <a:schemeClr val="bg1"/>
              </a:solidFill>
              <a:latin typeface="Calibri"/>
              <a:ea typeface="Calibri"/>
              <a:cs typeface="Calibri"/>
            </a:endParaRPr>
          </a:p>
        </p:txBody>
      </p:sp>
      <p:pic>
        <p:nvPicPr>
          <p:cNvPr id="2" name="Graphic 1" descr="Run outline">
            <a:extLst>
              <a:ext uri="{FF2B5EF4-FFF2-40B4-BE49-F238E27FC236}">
                <a16:creationId xmlns:a16="http://schemas.microsoft.com/office/drawing/2014/main" id="{6B82A9B6-B727-7048-4F7A-CC949BF908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70324" y="2415419"/>
            <a:ext cx="2051352" cy="2039257"/>
          </a:xfrm>
          <a:prstGeom prst="rect">
            <a:avLst/>
          </a:prstGeom>
        </p:spPr>
      </p:pic>
    </p:spTree>
    <p:extLst>
      <p:ext uri="{BB962C8B-B14F-4D97-AF65-F5344CB8AC3E}">
        <p14:creationId xmlns:p14="http://schemas.microsoft.com/office/powerpoint/2010/main" val="36695304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506818" y="341446"/>
            <a:ext cx="7878726" cy="584775"/>
          </a:xfrm>
          <a:prstGeom prst="rect">
            <a:avLst/>
          </a:prstGeom>
          <a:noFill/>
        </p:spPr>
        <p:txBody>
          <a:bodyPr wrap="square" lIns="91440" tIns="45720" rIns="91440" bIns="45720" rtlCol="0" anchor="t">
            <a:spAutoFit/>
          </a:bodyPr>
          <a:lstStyle/>
          <a:p>
            <a:r>
              <a:rPr lang="en-US" sz="3200" b="1" dirty="0">
                <a:solidFill>
                  <a:srgbClr val="113A60"/>
                </a:solidFill>
              </a:rPr>
              <a:t>Exercise</a:t>
            </a:r>
          </a:p>
        </p:txBody>
      </p:sp>
      <p:sp>
        <p:nvSpPr>
          <p:cNvPr id="8" name="TextBox 7">
            <a:extLst>
              <a:ext uri="{FF2B5EF4-FFF2-40B4-BE49-F238E27FC236}">
                <a16:creationId xmlns:a16="http://schemas.microsoft.com/office/drawing/2014/main" id="{4D7E68BC-FA71-E7E8-D056-3301B1D1BABD}"/>
              </a:ext>
            </a:extLst>
          </p:cNvPr>
          <p:cNvSpPr txBox="1"/>
          <p:nvPr/>
        </p:nvSpPr>
        <p:spPr>
          <a:xfrm>
            <a:off x="647150" y="2546966"/>
            <a:ext cx="11182470" cy="2233753"/>
          </a:xfrm>
          <a:prstGeom prst="rect">
            <a:avLst/>
          </a:prstGeom>
          <a:noFill/>
        </p:spPr>
        <p:txBody>
          <a:bodyPr wrap="square" lIns="91440" tIns="45720" rIns="91440" bIns="45720" anchor="t">
            <a:spAutoFit/>
          </a:bodyPr>
          <a:lstStyle/>
          <a:p>
            <a:pPr marL="342900" indent="-342900" algn="just">
              <a:lnSpc>
                <a:spcPct val="200000"/>
              </a:lnSpc>
              <a:buAutoNum type="arabicPeriod"/>
            </a:pPr>
            <a:r>
              <a:rPr lang="en-US" b="1" dirty="0">
                <a:ea typeface="+mn-lt"/>
                <a:cs typeface="+mn-lt"/>
              </a:rPr>
              <a:t>Log into Reportnet, access the Annex I and upload the TRAINING template </a:t>
            </a:r>
            <a:endParaRPr lang="en-US" b="1" dirty="0">
              <a:ea typeface="Calibri"/>
              <a:cs typeface="Calibri"/>
            </a:endParaRPr>
          </a:p>
          <a:p>
            <a:pPr marL="342900" indent="-342900" algn="just">
              <a:lnSpc>
                <a:spcPct val="200000"/>
              </a:lnSpc>
              <a:buAutoNum type="arabicPeriod"/>
            </a:pPr>
            <a:r>
              <a:rPr lang="en-US" b="1" dirty="0">
                <a:ea typeface="+mn-lt"/>
                <a:cs typeface="+mn-lt"/>
              </a:rPr>
              <a:t>Review the tables </a:t>
            </a:r>
            <a:endParaRPr lang="en-US" dirty="0">
              <a:ea typeface="Calibri" panose="020F0502020204030204"/>
              <a:cs typeface="Calibri" panose="020F0502020204030204"/>
            </a:endParaRPr>
          </a:p>
          <a:p>
            <a:pPr marL="342900" indent="-342900" algn="just">
              <a:lnSpc>
                <a:spcPct val="200000"/>
              </a:lnSpc>
              <a:buAutoNum type="arabicPeriod"/>
            </a:pPr>
            <a:r>
              <a:rPr lang="en-US" b="1" dirty="0">
                <a:ea typeface="+mn-lt"/>
                <a:cs typeface="+mn-lt"/>
              </a:rPr>
              <a:t>Note any questions or concerns</a:t>
            </a:r>
          </a:p>
          <a:p>
            <a:pPr marL="342900" indent="-342900" algn="just">
              <a:lnSpc>
                <a:spcPct val="200000"/>
              </a:lnSpc>
              <a:buAutoNum type="arabicPeriod"/>
            </a:pPr>
            <a:r>
              <a:rPr lang="en-US" b="1" dirty="0">
                <a:ea typeface="+mn-lt"/>
                <a:cs typeface="+mn-lt"/>
              </a:rPr>
              <a:t>If you want, try to add some data e try to validation</a:t>
            </a:r>
          </a:p>
        </p:txBody>
      </p:sp>
      <p:pic>
        <p:nvPicPr>
          <p:cNvPr id="3" name="Picture 2">
            <a:extLst>
              <a:ext uri="{FF2B5EF4-FFF2-40B4-BE49-F238E27FC236}">
                <a16:creationId xmlns:a16="http://schemas.microsoft.com/office/drawing/2014/main" id="{8089C934-B2BD-CE64-AFC0-554FA4942A09}"/>
              </a:ext>
            </a:extLst>
          </p:cNvPr>
          <p:cNvPicPr>
            <a:picLocks noChangeAspect="1"/>
          </p:cNvPicPr>
          <p:nvPr/>
        </p:nvPicPr>
        <p:blipFill>
          <a:blip r:embed="rId2"/>
          <a:stretch>
            <a:fillRect/>
          </a:stretch>
        </p:blipFill>
        <p:spPr>
          <a:xfrm>
            <a:off x="0" y="1038707"/>
            <a:ext cx="12192000" cy="1257063"/>
          </a:xfrm>
          <a:prstGeom prst="rect">
            <a:avLst/>
          </a:prstGeom>
        </p:spPr>
      </p:pic>
    </p:spTree>
    <p:extLst>
      <p:ext uri="{BB962C8B-B14F-4D97-AF65-F5344CB8AC3E}">
        <p14:creationId xmlns:p14="http://schemas.microsoft.com/office/powerpoint/2010/main" val="7874375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D0B16F-80BF-9719-E687-8D5269CEA3FC}"/>
              </a:ext>
            </a:extLst>
          </p:cNvPr>
          <p:cNvSpPr txBox="1"/>
          <p:nvPr/>
        </p:nvSpPr>
        <p:spPr>
          <a:xfrm>
            <a:off x="553146" y="344589"/>
            <a:ext cx="8722619" cy="461665"/>
          </a:xfrm>
          <a:prstGeom prst="rect">
            <a:avLst/>
          </a:prstGeom>
          <a:noFill/>
        </p:spPr>
        <p:txBody>
          <a:bodyPr wrap="square" rtlCol="0">
            <a:spAutoFit/>
          </a:bodyPr>
          <a:lstStyle>
            <a:defPPr>
              <a:defRPr lang="en-DK"/>
            </a:defPPr>
            <a:lvl1pPr lvl="0" fontAlgn="base">
              <a:spcBef>
                <a:spcPct val="0"/>
              </a:spcBef>
              <a:spcAft>
                <a:spcPct val="0"/>
              </a:spcAft>
              <a:defRPr sz="3200" b="1">
                <a:solidFill>
                  <a:srgbClr val="113A60"/>
                </a:solidFill>
              </a:defRPr>
            </a:lvl1pPr>
          </a:lstStyle>
          <a:p>
            <a:r>
              <a:rPr lang="en-GB" dirty="0"/>
              <a:t>Questions? </a:t>
            </a:r>
            <a:endParaRPr lang="en-US" dirty="0"/>
          </a:p>
        </p:txBody>
      </p:sp>
      <p:sp>
        <p:nvSpPr>
          <p:cNvPr id="5" name="TextBox 4">
            <a:extLst>
              <a:ext uri="{FF2B5EF4-FFF2-40B4-BE49-F238E27FC236}">
                <a16:creationId xmlns:a16="http://schemas.microsoft.com/office/drawing/2014/main" id="{37F9E66A-385C-442C-BE1C-BCDD28E1E77A}"/>
              </a:ext>
            </a:extLst>
          </p:cNvPr>
          <p:cNvSpPr txBox="1"/>
          <p:nvPr/>
        </p:nvSpPr>
        <p:spPr>
          <a:xfrm>
            <a:off x="4914455" y="4983228"/>
            <a:ext cx="4773999" cy="523220"/>
          </a:xfrm>
          <a:prstGeom prst="rect">
            <a:avLst/>
          </a:prstGeom>
          <a:noFill/>
        </p:spPr>
        <p:txBody>
          <a:bodyPr wrap="none" lIns="91440" tIns="45720" rIns="91440" bIns="45720" rtlCol="0" anchor="t">
            <a:spAutoFit/>
          </a:bodyPr>
          <a:lstStyle/>
          <a:p>
            <a:r>
              <a:rPr lang="en-US" sz="2800" b="1" dirty="0">
                <a:solidFill>
                  <a:srgbClr val="008080"/>
                </a:solidFill>
              </a:rPr>
              <a:t>marta.baldi@eea.europa.eu</a:t>
            </a:r>
            <a:endParaRPr lang="en-DK" sz="2800" b="1" dirty="0">
              <a:solidFill>
                <a:srgbClr val="008080"/>
              </a:solidFill>
            </a:endParaRPr>
          </a:p>
        </p:txBody>
      </p:sp>
      <p:pic>
        <p:nvPicPr>
          <p:cNvPr id="8" name="Graphic 7" descr="Questions with solid fill">
            <a:extLst>
              <a:ext uri="{FF2B5EF4-FFF2-40B4-BE49-F238E27FC236}">
                <a16:creationId xmlns:a16="http://schemas.microsoft.com/office/drawing/2014/main" id="{3D0FD68F-A8BA-7D8C-1E2E-85488421ED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2858" y="3690610"/>
            <a:ext cx="2585237" cy="2585237"/>
          </a:xfrm>
          <a:prstGeom prst="rect">
            <a:avLst/>
          </a:prstGeom>
        </p:spPr>
      </p:pic>
      <p:sp>
        <p:nvSpPr>
          <p:cNvPr id="4" name="TextBox 3">
            <a:extLst>
              <a:ext uri="{FF2B5EF4-FFF2-40B4-BE49-F238E27FC236}">
                <a16:creationId xmlns:a16="http://schemas.microsoft.com/office/drawing/2014/main" id="{DC3A1ED5-7D47-8FF5-5923-D52A6324D4A8}"/>
              </a:ext>
            </a:extLst>
          </p:cNvPr>
          <p:cNvSpPr txBox="1"/>
          <p:nvPr/>
        </p:nvSpPr>
        <p:spPr>
          <a:xfrm>
            <a:off x="830237" y="1131555"/>
            <a:ext cx="11126236" cy="2233753"/>
          </a:xfrm>
          <a:prstGeom prst="rect">
            <a:avLst/>
          </a:prstGeom>
          <a:noFill/>
        </p:spPr>
        <p:txBody>
          <a:bodyPr wrap="square">
            <a:spAutoFit/>
          </a:bodyPr>
          <a:lstStyle/>
          <a:p>
            <a:pPr algn="just">
              <a:lnSpc>
                <a:spcPct val="200000"/>
              </a:lnSpc>
            </a:pPr>
            <a:r>
              <a:rPr lang="en-US" b="1" dirty="0">
                <a:ea typeface="+mn-lt"/>
                <a:cs typeface="+mn-lt"/>
              </a:rPr>
              <a:t>Answer the following questions as a group: </a:t>
            </a:r>
          </a:p>
          <a:p>
            <a:pPr marL="285750" indent="-285750" algn="just">
              <a:lnSpc>
                <a:spcPct val="200000"/>
              </a:lnSpc>
              <a:buFont typeface="Arial" panose="020B0604020202020204" pitchFamily="34" charset="0"/>
              <a:buChar char="•"/>
            </a:pPr>
            <a:r>
              <a:rPr lang="en-US" b="1" dirty="0">
                <a:ea typeface="+mn-lt"/>
                <a:cs typeface="Calibri Light"/>
              </a:rPr>
              <a:t>Are you able to identify the data needed? </a:t>
            </a:r>
          </a:p>
          <a:p>
            <a:pPr marL="285750" indent="-285750" algn="just">
              <a:lnSpc>
                <a:spcPct val="200000"/>
              </a:lnSpc>
              <a:buFont typeface="Arial" panose="020B0604020202020204" pitchFamily="34" charset="0"/>
              <a:buChar char="•"/>
            </a:pPr>
            <a:r>
              <a:rPr lang="en-US" b="1" dirty="0">
                <a:ea typeface="+mn-lt"/>
                <a:cs typeface="Calibri Light"/>
              </a:rPr>
              <a:t>Are you able to identify the person or people who could work on this annex? </a:t>
            </a:r>
          </a:p>
          <a:p>
            <a:pPr marL="285750" indent="-285750" algn="just">
              <a:lnSpc>
                <a:spcPct val="200000"/>
              </a:lnSpc>
              <a:buFont typeface="Arial" panose="020B0604020202020204" pitchFamily="34" charset="0"/>
              <a:buChar char="•"/>
            </a:pPr>
            <a:r>
              <a:rPr lang="en-US" b="1" dirty="0">
                <a:ea typeface="+mn-lt"/>
                <a:cs typeface="Calibri Light"/>
              </a:rPr>
              <a:t>Do you think you will manage to submit it?</a:t>
            </a:r>
          </a:p>
        </p:txBody>
      </p:sp>
    </p:spTree>
    <p:extLst>
      <p:ext uri="{BB962C8B-B14F-4D97-AF65-F5344CB8AC3E}">
        <p14:creationId xmlns:p14="http://schemas.microsoft.com/office/powerpoint/2010/main" val="1107668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6E1681-FF8E-4B2D-BE20-7D6CFB0D60E4}">
  <ds:schemaRefs>
    <ds:schemaRef ds:uri="http://schemas.microsoft.com/office/2006/metadata/properties"/>
    <ds:schemaRef ds:uri="http://schemas.microsoft.com/office/infopath/2007/PartnerControls"/>
    <ds:schemaRef ds:uri="340712eb-23a5-460f-9036-c6d10688f9a1"/>
    <ds:schemaRef ds:uri="1403fb54-47f0-4125-8d87-6a6e13582a5f"/>
  </ds:schemaRefs>
</ds:datastoreItem>
</file>

<file path=customXml/itemProps2.xml><?xml version="1.0" encoding="utf-8"?>
<ds:datastoreItem xmlns:ds="http://schemas.openxmlformats.org/officeDocument/2006/customXml" ds:itemID="{691B885F-8DD5-4677-80BE-8C342B7F289B}"/>
</file>

<file path=customXml/itemProps3.xml><?xml version="1.0" encoding="utf-8"?>
<ds:datastoreItem xmlns:ds="http://schemas.openxmlformats.org/officeDocument/2006/customXml" ds:itemID="{8A3CC678-418F-4BEB-A478-DB1709F81A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19160</TotalTime>
  <Words>5335</Words>
  <Application>Microsoft Office PowerPoint</Application>
  <PresentationFormat>Widescreen</PresentationFormat>
  <Paragraphs>574</Paragraphs>
  <Slides>65</Slides>
  <Notes>24</Notes>
  <HiddenSlides>25</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Marta Giulia Baldi</dc:creator>
  <cp:lastModifiedBy>Marta Giulia Baldi</cp:lastModifiedBy>
  <cp:revision>40</cp:revision>
  <dcterms:created xsi:type="dcterms:W3CDTF">2024-09-14T20:14:29Z</dcterms:created>
  <dcterms:modified xsi:type="dcterms:W3CDTF">2025-10-09T08:55:00Z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181900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