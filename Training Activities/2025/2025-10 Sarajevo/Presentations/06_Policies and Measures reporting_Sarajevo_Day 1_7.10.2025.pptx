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8" r:id="rId5"/>
  </p:sldMasterIdLst>
  <p:notesMasterIdLst>
    <p:notesMasterId r:id="rId33"/>
  </p:notesMasterIdLst>
  <p:sldIdLst>
    <p:sldId id="1821" r:id="rId6"/>
    <p:sldId id="1864" r:id="rId7"/>
    <p:sldId id="1931" r:id="rId8"/>
    <p:sldId id="1875" r:id="rId9"/>
    <p:sldId id="1915" r:id="rId10"/>
    <p:sldId id="1929" r:id="rId11"/>
    <p:sldId id="1920" r:id="rId12"/>
    <p:sldId id="1901" r:id="rId13"/>
    <p:sldId id="1902" r:id="rId14"/>
    <p:sldId id="1903" r:id="rId15"/>
    <p:sldId id="1904" r:id="rId16"/>
    <p:sldId id="1905" r:id="rId17"/>
    <p:sldId id="1906" r:id="rId18"/>
    <p:sldId id="1936" r:id="rId19"/>
    <p:sldId id="1937" r:id="rId20"/>
    <p:sldId id="1935" r:id="rId21"/>
    <p:sldId id="1914" r:id="rId22"/>
    <p:sldId id="1939" r:id="rId23"/>
    <p:sldId id="1917" r:id="rId24"/>
    <p:sldId id="1922" r:id="rId25"/>
    <p:sldId id="1923" r:id="rId26"/>
    <p:sldId id="1938" r:id="rId27"/>
    <p:sldId id="1912" r:id="rId28"/>
    <p:sldId id="1927" r:id="rId29"/>
    <p:sldId id="1926" r:id="rId30"/>
    <p:sldId id="1925" r:id="rId31"/>
    <p:sldId id="1928" r:id="rId32"/>
  </p:sldIdLst>
  <p:sldSz cx="12192000" cy="6858000"/>
  <p:notesSz cx="6858000" cy="9144000"/>
  <p:custDataLst>
    <p:tags r:id="rId3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C9156-D7D0-4A97-B453-CFCCA6BC58E1}" v="9" dt="2025-10-03T11:22:06.2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8" y="15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6/11/relationships/changesInfo" Target="changesInfos/changesInfo1.xml"/><Relationship Id="rId21" Type="http://schemas.openxmlformats.org/officeDocument/2006/relationships/slide" Target="slides/slide16.xml"/><Relationship Id="rId34" Type="http://schemas.openxmlformats.org/officeDocument/2006/relationships/tags" Target="tags/tag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 Wretlind" userId="bcb024af-6ead-48e3-9a4b-cde6c6f63c4a" providerId="ADAL" clId="{C6E259FF-F6A0-49B8-82F6-C55B97A5A0CE}"/>
    <pc:docChg chg="custSel modSld">
      <pc:chgData name="Per Wretlind" userId="bcb024af-6ead-48e3-9a4b-cde6c6f63c4a" providerId="ADAL" clId="{C6E259FF-F6A0-49B8-82F6-C55B97A5A0CE}" dt="2025-10-03T11:22:08.411" v="426" actId="14100"/>
      <pc:docMkLst>
        <pc:docMk/>
      </pc:docMkLst>
      <pc:sldChg chg="delSp modSp mod">
        <pc:chgData name="Per Wretlind" userId="bcb024af-6ead-48e3-9a4b-cde6c6f63c4a" providerId="ADAL" clId="{C6E259FF-F6A0-49B8-82F6-C55B97A5A0CE}" dt="2025-10-03T11:04:25.939" v="57" actId="20577"/>
        <pc:sldMkLst>
          <pc:docMk/>
          <pc:sldMk cId="0" sldId="1821"/>
        </pc:sldMkLst>
        <pc:spChg chg="mod">
          <ac:chgData name="Per Wretlind" userId="bcb024af-6ead-48e3-9a4b-cde6c6f63c4a" providerId="ADAL" clId="{C6E259FF-F6A0-49B8-82F6-C55B97A5A0CE}" dt="2025-10-03T11:04:25.939" v="57" actId="20577"/>
          <ac:spMkLst>
            <pc:docMk/>
            <pc:sldMk cId="0" sldId="1821"/>
            <ac:spMk id="3" creationId="{749397E4-2E56-7B7D-D0B2-569DA75B1284}"/>
          </ac:spMkLst>
        </pc:spChg>
        <pc:spChg chg="del mod">
          <ac:chgData name="Per Wretlind" userId="bcb024af-6ead-48e3-9a4b-cde6c6f63c4a" providerId="ADAL" clId="{C6E259FF-F6A0-49B8-82F6-C55B97A5A0CE}" dt="2025-10-03T11:04:01.326" v="12" actId="478"/>
          <ac:spMkLst>
            <pc:docMk/>
            <pc:sldMk cId="0" sldId="1821"/>
            <ac:spMk id="12" creationId="{4D15442C-DBDC-52FD-7A3B-49F125B6FEB4}"/>
          </ac:spMkLst>
        </pc:spChg>
      </pc:sldChg>
      <pc:sldChg chg="addSp delSp modSp mod">
        <pc:chgData name="Per Wretlind" userId="bcb024af-6ead-48e3-9a4b-cde6c6f63c4a" providerId="ADAL" clId="{C6E259FF-F6A0-49B8-82F6-C55B97A5A0CE}" dt="2025-10-03T11:11:05.445" v="291" actId="20577"/>
        <pc:sldMkLst>
          <pc:docMk/>
          <pc:sldMk cId="2145512572" sldId="1915"/>
        </pc:sldMkLst>
        <pc:spChg chg="add del mod">
          <ac:chgData name="Per Wretlind" userId="bcb024af-6ead-48e3-9a4b-cde6c6f63c4a" providerId="ADAL" clId="{C6E259FF-F6A0-49B8-82F6-C55B97A5A0CE}" dt="2025-10-03T11:10:21.151" v="238" actId="478"/>
          <ac:spMkLst>
            <pc:docMk/>
            <pc:sldMk cId="2145512572" sldId="1915"/>
            <ac:spMk id="3" creationId="{09CAB219-439F-CE50-76AB-E0277DD5BA7C}"/>
          </ac:spMkLst>
        </pc:spChg>
        <pc:spChg chg="add del mod">
          <ac:chgData name="Per Wretlind" userId="bcb024af-6ead-48e3-9a4b-cde6c6f63c4a" providerId="ADAL" clId="{C6E259FF-F6A0-49B8-82F6-C55B97A5A0CE}" dt="2025-10-03T11:10:21.151" v="238" actId="478"/>
          <ac:spMkLst>
            <pc:docMk/>
            <pc:sldMk cId="2145512572" sldId="1915"/>
            <ac:spMk id="5" creationId="{CB3CFA65-1307-77A8-36D9-C24DEBA11626}"/>
          </ac:spMkLst>
        </pc:spChg>
        <pc:spChg chg="mod">
          <ac:chgData name="Per Wretlind" userId="bcb024af-6ead-48e3-9a4b-cde6c6f63c4a" providerId="ADAL" clId="{C6E259FF-F6A0-49B8-82F6-C55B97A5A0CE}" dt="2025-10-03T11:08:27.050" v="100" actId="20577"/>
          <ac:spMkLst>
            <pc:docMk/>
            <pc:sldMk cId="2145512572" sldId="1915"/>
            <ac:spMk id="6" creationId="{832C9138-1317-45F5-6D24-C4E9EDDA290B}"/>
          </ac:spMkLst>
        </pc:spChg>
        <pc:spChg chg="mod">
          <ac:chgData name="Per Wretlind" userId="bcb024af-6ead-48e3-9a4b-cde6c6f63c4a" providerId="ADAL" clId="{C6E259FF-F6A0-49B8-82F6-C55B97A5A0CE}" dt="2025-10-03T11:10:12.972" v="235" actId="404"/>
          <ac:spMkLst>
            <pc:docMk/>
            <pc:sldMk cId="2145512572" sldId="1915"/>
            <ac:spMk id="7" creationId="{F697A6DA-A2C6-85EA-A5A2-04A1AEF4486A}"/>
          </ac:spMkLst>
        </pc:spChg>
        <pc:spChg chg="mod">
          <ac:chgData name="Per Wretlind" userId="bcb024af-6ead-48e3-9a4b-cde6c6f63c4a" providerId="ADAL" clId="{C6E259FF-F6A0-49B8-82F6-C55B97A5A0CE}" dt="2025-10-03T11:10:15.865" v="237" actId="404"/>
          <ac:spMkLst>
            <pc:docMk/>
            <pc:sldMk cId="2145512572" sldId="1915"/>
            <ac:spMk id="8" creationId="{BD351FB1-1716-CEF7-1113-EEA468F8C286}"/>
          </ac:spMkLst>
        </pc:spChg>
        <pc:spChg chg="add del mod">
          <ac:chgData name="Per Wretlind" userId="bcb024af-6ead-48e3-9a4b-cde6c6f63c4a" providerId="ADAL" clId="{C6E259FF-F6A0-49B8-82F6-C55B97A5A0CE}" dt="2025-10-03T11:10:21.151" v="238" actId="478"/>
          <ac:spMkLst>
            <pc:docMk/>
            <pc:sldMk cId="2145512572" sldId="1915"/>
            <ac:spMk id="9" creationId="{A80E48E2-2269-8CE7-A503-F844042AC7BD}"/>
          </ac:spMkLst>
        </pc:spChg>
        <pc:spChg chg="add del mod">
          <ac:chgData name="Per Wretlind" userId="bcb024af-6ead-48e3-9a4b-cde6c6f63c4a" providerId="ADAL" clId="{C6E259FF-F6A0-49B8-82F6-C55B97A5A0CE}" dt="2025-10-03T11:10:21.151" v="238" actId="478"/>
          <ac:spMkLst>
            <pc:docMk/>
            <pc:sldMk cId="2145512572" sldId="1915"/>
            <ac:spMk id="10" creationId="{3110B08B-28DD-2512-C38D-68914CE89ACD}"/>
          </ac:spMkLst>
        </pc:spChg>
        <pc:spChg chg="add mod">
          <ac:chgData name="Per Wretlind" userId="bcb024af-6ead-48e3-9a4b-cde6c6f63c4a" providerId="ADAL" clId="{C6E259FF-F6A0-49B8-82F6-C55B97A5A0CE}" dt="2025-10-03T11:10:44.222" v="270" actId="20577"/>
          <ac:spMkLst>
            <pc:docMk/>
            <pc:sldMk cId="2145512572" sldId="1915"/>
            <ac:spMk id="11" creationId="{ED8C122A-41D2-3EA6-B7C7-F6E3ECA95A8E}"/>
          </ac:spMkLst>
        </pc:spChg>
        <pc:spChg chg="add mod">
          <ac:chgData name="Per Wretlind" userId="bcb024af-6ead-48e3-9a4b-cde6c6f63c4a" providerId="ADAL" clId="{C6E259FF-F6A0-49B8-82F6-C55B97A5A0CE}" dt="2025-10-03T11:10:50.912" v="272" actId="20577"/>
          <ac:spMkLst>
            <pc:docMk/>
            <pc:sldMk cId="2145512572" sldId="1915"/>
            <ac:spMk id="12" creationId="{F38D8FB0-B0F6-6388-8354-4BA22ADE17AC}"/>
          </ac:spMkLst>
        </pc:spChg>
        <pc:spChg chg="add mod">
          <ac:chgData name="Per Wretlind" userId="bcb024af-6ead-48e3-9a4b-cde6c6f63c4a" providerId="ADAL" clId="{C6E259FF-F6A0-49B8-82F6-C55B97A5A0CE}" dt="2025-10-03T11:10:59.792" v="289" actId="20577"/>
          <ac:spMkLst>
            <pc:docMk/>
            <pc:sldMk cId="2145512572" sldId="1915"/>
            <ac:spMk id="13" creationId="{E9FC6D16-ADE3-5841-447F-46A08CE9FF11}"/>
          </ac:spMkLst>
        </pc:spChg>
        <pc:spChg chg="add mod">
          <ac:chgData name="Per Wretlind" userId="bcb024af-6ead-48e3-9a4b-cde6c6f63c4a" providerId="ADAL" clId="{C6E259FF-F6A0-49B8-82F6-C55B97A5A0CE}" dt="2025-10-03T11:11:05.445" v="291" actId="20577"/>
          <ac:spMkLst>
            <pc:docMk/>
            <pc:sldMk cId="2145512572" sldId="1915"/>
            <ac:spMk id="14" creationId="{52348E7D-F5B2-08D8-F1C2-21804AFB26E1}"/>
          </ac:spMkLst>
        </pc:spChg>
      </pc:sldChg>
      <pc:sldChg chg="modAnim">
        <pc:chgData name="Per Wretlind" userId="bcb024af-6ead-48e3-9a4b-cde6c6f63c4a" providerId="ADAL" clId="{C6E259FF-F6A0-49B8-82F6-C55B97A5A0CE}" dt="2025-10-03T11:05:01.334" v="58"/>
        <pc:sldMkLst>
          <pc:docMk/>
          <pc:sldMk cId="1008395285" sldId="1920"/>
        </pc:sldMkLst>
      </pc:sldChg>
      <pc:sldChg chg="delSp modSp mod modAnim">
        <pc:chgData name="Per Wretlind" userId="bcb024af-6ead-48e3-9a4b-cde6c6f63c4a" providerId="ADAL" clId="{C6E259FF-F6A0-49B8-82F6-C55B97A5A0CE}" dt="2025-10-03T11:22:08.411" v="426" actId="14100"/>
        <pc:sldMkLst>
          <pc:docMk/>
          <pc:sldMk cId="3203418813" sldId="1937"/>
        </pc:sldMkLst>
        <pc:spChg chg="mod">
          <ac:chgData name="Per Wretlind" userId="bcb024af-6ead-48e3-9a4b-cde6c6f63c4a" providerId="ADAL" clId="{C6E259FF-F6A0-49B8-82F6-C55B97A5A0CE}" dt="2025-10-03T11:22:08.411" v="426" actId="14100"/>
          <ac:spMkLst>
            <pc:docMk/>
            <pc:sldMk cId="3203418813" sldId="1937"/>
            <ac:spMk id="3" creationId="{20D84A7E-5C6A-13AC-84B1-963C88F7284B}"/>
          </ac:spMkLst>
        </pc:spChg>
        <pc:picChg chg="del">
          <ac:chgData name="Per Wretlind" userId="bcb024af-6ead-48e3-9a4b-cde6c6f63c4a" providerId="ADAL" clId="{C6E259FF-F6A0-49B8-82F6-C55B97A5A0CE}" dt="2025-10-03T11:22:04.230" v="424" actId="478"/>
          <ac:picMkLst>
            <pc:docMk/>
            <pc:sldMk cId="3203418813" sldId="1937"/>
            <ac:picMk id="2054" creationId="{CD74EEEA-F4D2-D6B2-7E9B-32BCB7C76AD8}"/>
          </ac:picMkLst>
        </pc:picChg>
        <pc:picChg chg="mod">
          <ac:chgData name="Per Wretlind" userId="bcb024af-6ead-48e3-9a4b-cde6c6f63c4a" providerId="ADAL" clId="{C6E259FF-F6A0-49B8-82F6-C55B97A5A0CE}" dt="2025-10-03T11:22:06.256" v="425" actId="1076"/>
          <ac:picMkLst>
            <pc:docMk/>
            <pc:sldMk cId="3203418813" sldId="1937"/>
            <ac:picMk id="2056" creationId="{8ECACCCB-ABE4-8902-15FF-A9B14B7090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F8F40-AB11-4026-B2C7-9270D9FFF1F8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0F3C7-EF41-4749-8D80-5F011996167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08134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1173163"/>
            <a:ext cx="5629275" cy="31670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201BC-94E4-4101-962D-54511777D224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990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EAA0-FFE8-5B3A-EF5C-AC39D275F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EE38A-12D3-EF96-767C-07D8515F2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4CA86-CA2E-CA91-00C5-8AEC391C7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40913-AA07-EDD3-D122-9C6B4FC7A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201BC-94E4-4101-962D-54511777D22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77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69C00-28F4-1198-0968-BF00EDA99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8AF36-7050-D95D-5E7C-0A2384136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F86A9-ED57-0DEE-C5BC-8103972A8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04DAE-3643-3FB6-03FC-3631E73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240FD-2ADB-49B6-9DF9-EEE2899B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066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8935-D862-1196-D415-30AC86E0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F7C3F-5838-F510-664A-16285709E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424A3-E747-9885-0C38-E41780A1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9FC4A-7ABD-EB2A-5445-63393437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3C180-7EA4-254A-97D1-020C1ABD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2201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BBFF-8E69-E8F7-436C-9BE963AC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0FBE9-F645-514E-9651-DF10ABF35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27B3C-7E9C-5548-DC51-F175AF7D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50BDE-7ECD-F348-C12F-056D01F78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6505E-EF24-4C37-977E-39112EA0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72325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605C7-8B7F-03A1-5173-3BBAF533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322EB-FDCB-4895-E61D-60B9E7F5C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D8117-AB48-8BF1-2C92-4E8D71865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D4497-6D05-28B0-989C-A002FE8ED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4E1F3-FCDA-7B28-22F0-9964DD20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995EC-8C7E-0587-B6B7-500B3E1C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269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8F9C-7941-7CFA-233C-0AC1C60D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51CA7-7E75-2DD8-6524-831FD7AE2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B0B2F-910D-55E0-7684-628EBACED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5F8B4-887B-050A-E9B1-31C61BF32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9CD95-2A9D-C616-2F01-9CDBF008A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8E6BFE-5F66-3A4E-7119-E47799FF7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82F011-CCCF-C38A-8C2F-4C5499A6D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3310E1-A35F-F4C8-1F6C-451E9B99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6690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ADE06-0179-D602-FF4F-E2A133B8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35734-F39C-830F-2D03-B5323F20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36A91-9A8C-346F-2EC7-4A9CD221A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0CE00-2562-304A-B3A4-17CC002F0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0923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74BBC-9123-F52E-6695-261E5123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361E2-BDE4-71F0-21F4-FBC8C685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57206-01C4-B91E-1791-898CA5FF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2570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AB118-C267-22C3-DDC0-505EE13F8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22C5-CFDB-CFBB-EC31-99DF9B2E9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C447D-8CA2-31CA-9D6B-E047F1D6C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13B0D-CA64-A743-A9D9-78E54EA5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4BB08-86BD-9FD1-A72E-11469196C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AA603-AFFC-EF24-7087-9B2A9582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147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9C78-BA7C-EBFC-77C2-E3A213D43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BF5B6-A448-752D-D48B-8D0150294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25C9B-9BFB-3899-2099-17C7DF30A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695A9-CC2D-E054-18A5-2336539F4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0B5D4-56BC-F27D-CC37-61E7BFA5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9DB84-4A9F-D10C-18E8-EF144E44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357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836CB-CD18-E769-67FB-EC53F46A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8FF5B-1071-647A-81EA-299B315D7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5E34C-C59C-3BBB-1418-F1E4DCF00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D2E27-A1E6-2DFF-6D51-EA4722E8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0E1D-E652-2F22-B629-BBAC51E9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67401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86BAAC-3688-FCC1-DC84-63C995961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B87F1-D11C-9A89-DECB-523D6597F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92EE2-075E-6166-C942-7A41E16D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57EAD-0488-1A82-C99A-D9AF868E2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E3CDF-9067-D697-42E1-EAC66D939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8325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62068" y="390871"/>
            <a:ext cx="3642894" cy="2658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Speaker I Date I Venue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62068" y="914400"/>
            <a:ext cx="11049559" cy="146304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goes here</a:t>
            </a:r>
          </a:p>
          <a:p>
            <a:pPr lvl="0"/>
            <a:r>
              <a:rPr lang="en-US"/>
              <a:t>Max two lines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61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7">
            <a:extLst>
              <a:ext uri="{FF2B5EF4-FFF2-40B4-BE49-F238E27FC236}">
                <a16:creationId xmlns:a16="http://schemas.microsoft.com/office/drawing/2014/main" id="{33E6BE15-809C-50BE-F22A-20351128FA48}"/>
              </a:ext>
            </a:extLst>
          </p:cNvPr>
          <p:cNvCxnSpPr/>
          <p:nvPr userDrawn="1"/>
        </p:nvCxnSpPr>
        <p:spPr>
          <a:xfrm>
            <a:off x="0" y="756000"/>
            <a:ext cx="12192000" cy="24938"/>
          </a:xfrm>
          <a:prstGeom prst="line">
            <a:avLst/>
          </a:prstGeom>
          <a:ln w="114300">
            <a:solidFill>
              <a:srgbClr val="113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231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phs_European Brief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11228" y="2036618"/>
            <a:ext cx="8870319" cy="3956858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2711227" y="224416"/>
            <a:ext cx="8870319" cy="1279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2751" indent="0">
              <a:buNone/>
              <a:defRPr b="1"/>
            </a:lvl2pPr>
          </a:lstStyle>
          <a:p>
            <a:pPr lvl="0"/>
            <a:r>
              <a:rPr lang="en-US"/>
              <a:t>Slide title goes here</a:t>
            </a:r>
            <a:br>
              <a:rPr lang="en-US"/>
            </a:br>
            <a:r>
              <a:rPr lang="en-US"/>
              <a:t>Max two lines</a:t>
            </a:r>
          </a:p>
        </p:txBody>
      </p:sp>
    </p:spTree>
    <p:extLst>
      <p:ext uri="{BB962C8B-B14F-4D97-AF65-F5344CB8AC3E}">
        <p14:creationId xmlns:p14="http://schemas.microsoft.com/office/powerpoint/2010/main" val="84286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egativ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A9E58F-F0E4-446A-9BDE-731A333E6E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B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EECD597F-8AA8-4E51-9146-C063CEB95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754" y="6019900"/>
            <a:ext cx="3057655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83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57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96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915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932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263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5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36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2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34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45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627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62068" y="390871"/>
            <a:ext cx="3642894" cy="2658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Speaker I Date I Venue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62068" y="914400"/>
            <a:ext cx="11049559" cy="146304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goes here</a:t>
            </a:r>
          </a:p>
          <a:p>
            <a:pPr lvl="0"/>
            <a:r>
              <a:rPr lang="en-US"/>
              <a:t>Max two lines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15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7">
            <a:extLst>
              <a:ext uri="{FF2B5EF4-FFF2-40B4-BE49-F238E27FC236}">
                <a16:creationId xmlns:a16="http://schemas.microsoft.com/office/drawing/2014/main" id="{33E6BE15-809C-50BE-F22A-20351128FA48}"/>
              </a:ext>
            </a:extLst>
          </p:cNvPr>
          <p:cNvCxnSpPr/>
          <p:nvPr userDrawn="1"/>
        </p:nvCxnSpPr>
        <p:spPr>
          <a:xfrm>
            <a:off x="0" y="756000"/>
            <a:ext cx="12192000" cy="24938"/>
          </a:xfrm>
          <a:prstGeom prst="line">
            <a:avLst/>
          </a:prstGeom>
          <a:ln w="114300">
            <a:solidFill>
              <a:srgbClr val="113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4662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7">
            <a:extLst>
              <a:ext uri="{FF2B5EF4-FFF2-40B4-BE49-F238E27FC236}">
                <a16:creationId xmlns:a16="http://schemas.microsoft.com/office/drawing/2014/main" id="{33E6BE15-809C-50BE-F22A-20351128FA48}"/>
              </a:ext>
            </a:extLst>
          </p:cNvPr>
          <p:cNvCxnSpPr/>
          <p:nvPr userDrawn="1"/>
        </p:nvCxnSpPr>
        <p:spPr>
          <a:xfrm>
            <a:off x="0" y="756000"/>
            <a:ext cx="12192000" cy="24938"/>
          </a:xfrm>
          <a:prstGeom prst="line">
            <a:avLst/>
          </a:prstGeom>
          <a:ln w="114300">
            <a:solidFill>
              <a:srgbClr val="113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931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D578A-B33E-9094-1E1E-C615E5428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CD111-6437-1EA9-5FEF-3C060C027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58952-93EB-7637-A6AB-79C54EB63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A88AC-4321-4C6F-8B61-674A6CD713DB}" type="datetimeFigureOut">
              <a:rPr lang="en-DK" smtClean="0"/>
              <a:t>03/10/2025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E4FE8-5470-1F11-B04C-30238BF80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EE008-27DC-D6BE-E2D5-99DBBE61B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40985-5B8E-4E4D-A5A8-E685E0017CB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56464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7" r:id="rId12"/>
    <p:sldLayoutId id="2147483677" r:id="rId13"/>
    <p:sldLayoutId id="2147483693" r:id="rId14"/>
    <p:sldLayoutId id="214748369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hyperlink" Target="https://www.tobiasterman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hyperlink" Target="https://www.youtube.com/watch?v=S19p--4V8NA&amp;list=PL1_QSyumTz7Cb9U12IzO_gJTAI8kXVNJI&amp;index=1" TargetMode="External"/><Relationship Id="rId4" Type="http://schemas.openxmlformats.org/officeDocument/2006/relationships/hyperlink" Target="https://www.youtube.com/watch?v=UIoZWnvWHR0&amp;list=PL1_QSyumTz7Cb9U12IzO_gJTAI8kXVNJI&amp;index=3&amp;t=21s&amp;pp=iAQB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hyperlink" Target="https://discomap.eea.europa.eu/map/NationalSystems/Bulgaria.pdf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discomap.eea.europa.eu/map/NationalSystems/Croatia.pdf" TargetMode="External"/><Relationship Id="rId5" Type="http://schemas.openxmlformats.org/officeDocument/2006/relationships/image" Target="../media/image32.png"/><Relationship Id="rId4" Type="http://schemas.openxmlformats.org/officeDocument/2006/relationships/hyperlink" Target="https://discomap.eea.europa.eu/map/NationalSystems/Estonia.pdf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hyperlink" Target="https://www.youtube.com/watch?v=S19p--4V8NA&amp;list=PL1_QSyumTz7Cb9U12IzO_gJTAI8kXVNJI&amp;index=1" TargetMode="External"/><Relationship Id="rId4" Type="http://schemas.openxmlformats.org/officeDocument/2006/relationships/hyperlink" Target="https://www.youtube.com/watch?v=kJqC3e-4Nrs&amp;list=PL1_QSyumTz7Cb9U12IzO_gJTAI8kXVNJI&amp;index=2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flying a parachute over trees&#10;&#10;Description automatically generated">
            <a:extLst>
              <a:ext uri="{FF2B5EF4-FFF2-40B4-BE49-F238E27FC236}">
                <a16:creationId xmlns:a16="http://schemas.microsoft.com/office/drawing/2014/main" id="{23AFE64C-7F12-A08B-963B-7ACCA66FC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"/>
            <a:ext cx="12192000" cy="6852646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47F1237-6C41-4972-A073-79B619130A0D}"/>
              </a:ext>
            </a:extLst>
          </p:cNvPr>
          <p:cNvSpPr txBox="1">
            <a:spLocks/>
          </p:cNvSpPr>
          <p:nvPr/>
        </p:nvSpPr>
        <p:spPr>
          <a:xfrm>
            <a:off x="6280958" y="2992395"/>
            <a:ext cx="6480441" cy="265834"/>
          </a:xfrm>
          <a:prstGeom prst="rect">
            <a:avLst/>
          </a:prstGeom>
        </p:spPr>
        <p:txBody>
          <a:bodyPr/>
          <a:lstStyle>
            <a:lvl1pPr marL="0" indent="0" algn="l" defTabSz="1125472" rtl="0" eaLnBrk="1" latinLnBrk="0" hangingPunct="1">
              <a:spcBef>
                <a:spcPct val="20000"/>
              </a:spcBef>
              <a:buFont typeface="Arial" pitchFamily="34" charset="0"/>
              <a:buNone/>
              <a:defRPr sz="11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914446" indent="-351710" algn="l" defTabSz="112547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4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0683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69575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32312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D2A43-7E8A-7425-1252-A940921CEFAA}"/>
              </a:ext>
            </a:extLst>
          </p:cNvPr>
          <p:cNvSpPr txBox="1"/>
          <p:nvPr/>
        </p:nvSpPr>
        <p:spPr>
          <a:xfrm rot="16200000">
            <a:off x="-1067935" y="5486050"/>
            <a:ext cx="24361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Photo: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oxima Nova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Tobias Terman Olsen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pic>
        <p:nvPicPr>
          <p:cNvPr id="10" name="Picture 4" descr="Text&#10;&#10;Description automatically generated">
            <a:extLst>
              <a:ext uri="{FF2B5EF4-FFF2-40B4-BE49-F238E27FC236}">
                <a16:creationId xmlns:a16="http://schemas.microsoft.com/office/drawing/2014/main" id="{0F5697FB-9CA1-F752-199E-9850765E5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5478" y="6257780"/>
            <a:ext cx="2484335" cy="46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7CD3A7-0727-D2BA-454C-C6C1ED81EACA}"/>
              </a:ext>
            </a:extLst>
          </p:cNvPr>
          <p:cNvSpPr txBox="1"/>
          <p:nvPr/>
        </p:nvSpPr>
        <p:spPr>
          <a:xfrm>
            <a:off x="1" y="892455"/>
            <a:ext cx="12191999" cy="1200329"/>
          </a:xfrm>
          <a:prstGeom prst="rect">
            <a:avLst/>
          </a:prstGeom>
          <a:solidFill>
            <a:schemeClr val="accent3">
              <a:lumMod val="50000"/>
              <a:alpha val="44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Training on the adapted</a:t>
            </a:r>
            <a:r>
              <a:rPr lang="en-SE" sz="3600" b="1" dirty="0">
                <a:solidFill>
                  <a:schemeClr val="bg1"/>
                </a:solidFill>
              </a:rPr>
              <a:t> Governance Regulation</a:t>
            </a:r>
            <a:r>
              <a:rPr lang="da-DK" sz="3600" b="1" dirty="0">
                <a:solidFill>
                  <a:schemeClr val="bg1"/>
                </a:solidFill>
              </a:rPr>
              <a:t> –</a:t>
            </a:r>
          </a:p>
          <a:p>
            <a:pPr algn="r"/>
            <a:r>
              <a:rPr lang="da-DK" sz="3600" b="1" dirty="0">
                <a:solidFill>
                  <a:schemeClr val="bg1"/>
                </a:solidFill>
              </a:rPr>
              <a:t>Integrated Policies and Measures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9397E4-2E56-7B7D-D0B2-569DA75B1284}"/>
              </a:ext>
            </a:extLst>
          </p:cNvPr>
          <p:cNvSpPr txBox="1"/>
          <p:nvPr/>
        </p:nvSpPr>
        <p:spPr>
          <a:xfrm>
            <a:off x="5794513" y="4932052"/>
            <a:ext cx="6397487" cy="707886"/>
          </a:xfrm>
          <a:prstGeom prst="rect">
            <a:avLst/>
          </a:prstGeom>
          <a:solidFill>
            <a:schemeClr val="accent3">
              <a:lumMod val="50000"/>
              <a:alpha val="54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a-DK" sz="2000" b="1" dirty="0">
                <a:solidFill>
                  <a:schemeClr val="bg1"/>
                </a:solidFill>
              </a:rPr>
              <a:t>7-9</a:t>
            </a:r>
            <a:r>
              <a:rPr lang="en-US" sz="2000" b="1" dirty="0">
                <a:solidFill>
                  <a:schemeClr val="bg1"/>
                </a:solidFill>
              </a:rPr>
              <a:t> October 2025</a:t>
            </a:r>
            <a:r>
              <a:rPr lang="en-SE" sz="2000" b="1" dirty="0">
                <a:solidFill>
                  <a:schemeClr val="bg1"/>
                </a:solidFill>
              </a:rPr>
              <a:t>, </a:t>
            </a:r>
            <a:r>
              <a:rPr lang="da-DK" sz="2000" b="1" dirty="0">
                <a:solidFill>
                  <a:schemeClr val="bg1"/>
                </a:solidFill>
              </a:rPr>
              <a:t>Sarajevo</a:t>
            </a:r>
            <a:r>
              <a:rPr lang="en-SE" sz="2000" b="1" dirty="0">
                <a:solidFill>
                  <a:schemeClr val="bg1"/>
                </a:solidFill>
              </a:rPr>
              <a:t>, </a:t>
            </a:r>
            <a:r>
              <a:rPr lang="da-DK" sz="2000" b="1" dirty="0">
                <a:solidFill>
                  <a:schemeClr val="bg1"/>
                </a:solidFill>
              </a:rPr>
              <a:t>Bosnia and Herzegovina</a:t>
            </a:r>
            <a:endParaRPr lang="en-US" sz="2000" b="1" dirty="0">
              <a:solidFill>
                <a:schemeClr val="bg1"/>
              </a:solidFill>
            </a:endParaRPr>
          </a:p>
          <a:p>
            <a:pPr algn="r"/>
            <a:r>
              <a:rPr lang="en-SE" sz="2000" b="1" dirty="0">
                <a:solidFill>
                  <a:schemeClr val="bg1"/>
                </a:solidFill>
              </a:rPr>
              <a:t>In-person training for the adapted Governance Regulation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66E3-98EA-20F7-5995-E6624846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ody of water with boats and a sunset&#10;&#10;Description automatically generated">
            <a:extLst>
              <a:ext uri="{FF2B5EF4-FFF2-40B4-BE49-F238E27FC236}">
                <a16:creationId xmlns:a16="http://schemas.microsoft.com/office/drawing/2014/main" id="{A491222F-E696-0E7D-6649-5EE89AD39A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95"/>
          <a:stretch/>
        </p:blipFill>
        <p:spPr>
          <a:xfrm>
            <a:off x="6400800" y="0"/>
            <a:ext cx="5791200" cy="74882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1DE9F9-3AA5-33A7-4047-4BB024B2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06" y="0"/>
            <a:ext cx="5791200" cy="1325563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SESSION OUTLINE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25504AE-759B-D01F-02FD-ACC941CA3EB2}"/>
              </a:ext>
            </a:extLst>
          </p:cNvPr>
          <p:cNvSpPr txBox="1">
            <a:spLocks/>
          </p:cNvSpPr>
          <p:nvPr/>
        </p:nvSpPr>
        <p:spPr>
          <a:xfrm>
            <a:off x="518903" y="1146659"/>
            <a:ext cx="5791200" cy="4711902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DK"/>
            </a:defPPr>
            <a:lvl1pPr>
              <a:defRPr sz="2000">
                <a:solidFill>
                  <a:srgbClr val="000000"/>
                </a:solidFill>
                <a:latin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400" dirty="0"/>
              <a:t>What to report on integrated </a:t>
            </a:r>
            <a:r>
              <a:rPr lang="en-US" sz="2400" dirty="0" err="1"/>
              <a:t>PaMs</a:t>
            </a:r>
            <a:r>
              <a:rPr lang="en-US" sz="2400" dirty="0"/>
              <a:t>?</a:t>
            </a:r>
          </a:p>
          <a:p>
            <a:pPr>
              <a:spcAft>
                <a:spcPts val="1800"/>
              </a:spcAft>
            </a:pPr>
            <a:r>
              <a:rPr lang="en-US" sz="2400" dirty="0"/>
              <a:t>How to report on integrated </a:t>
            </a:r>
            <a:r>
              <a:rPr lang="en-US" sz="2400" dirty="0" err="1"/>
              <a:t>PaMs</a:t>
            </a:r>
            <a:r>
              <a:rPr lang="en-US" sz="2400" dirty="0"/>
              <a:t>?</a:t>
            </a:r>
          </a:p>
          <a:p>
            <a:pPr>
              <a:spcAft>
                <a:spcPts val="1800"/>
              </a:spcAft>
            </a:pPr>
            <a:r>
              <a:rPr lang="en-US" sz="2400" dirty="0"/>
              <a:t>2023 Reporting, Tools and QC</a:t>
            </a:r>
          </a:p>
          <a:p>
            <a:pPr>
              <a:spcAft>
                <a:spcPts val="1800"/>
              </a:spcAft>
            </a:pPr>
            <a:r>
              <a:rPr lang="en-US" sz="2400" dirty="0"/>
              <a:t>	- Practical exercise – filling in the report template with NECP data</a:t>
            </a:r>
          </a:p>
          <a:p>
            <a:pPr>
              <a:spcAft>
                <a:spcPts val="1800"/>
              </a:spcAft>
            </a:pPr>
            <a:r>
              <a:rPr lang="en-US" sz="2400" dirty="0"/>
              <a:t>Q and A</a:t>
            </a:r>
          </a:p>
          <a:p>
            <a:pPr>
              <a:spcAft>
                <a:spcPts val="1800"/>
              </a:spcAft>
            </a:pPr>
            <a:r>
              <a:rPr lang="en-US" sz="2400" dirty="0"/>
              <a:t>National Systems reporting obligation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737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6CB42-76DC-B505-9743-8BAA5AE9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E2F935-8355-24E0-97AB-8191AF7AFDDB}"/>
              </a:ext>
            </a:extLst>
          </p:cNvPr>
          <p:cNvSpPr txBox="1"/>
          <p:nvPr/>
        </p:nvSpPr>
        <p:spPr>
          <a:xfrm>
            <a:off x="1844411" y="1495199"/>
            <a:ext cx="850582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Reporting on Integrated Policies and Measures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Graphic 1" descr="Court outline">
            <a:extLst>
              <a:ext uri="{FF2B5EF4-FFF2-40B4-BE49-F238E27FC236}">
                <a16:creationId xmlns:a16="http://schemas.microsoft.com/office/drawing/2014/main" id="{94D4A6DD-4E64-79D4-59CA-8325AC9C5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3830" y="2379134"/>
            <a:ext cx="2092036" cy="20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155D-3C72-FB1B-19E6-FC6C391D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What to report on Integrated </a:t>
            </a:r>
            <a:r>
              <a:rPr lang="en-US" sz="4000" dirty="0" err="1">
                <a:solidFill>
                  <a:srgbClr val="007B6C"/>
                </a:solidFill>
                <a:latin typeface="Calibri Light"/>
                <a:cs typeface="Calibri"/>
              </a:rPr>
              <a:t>PaMs</a:t>
            </a:r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? 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DE849E-7ED6-37CD-246F-8A867C8918A9}"/>
              </a:ext>
            </a:extLst>
          </p:cNvPr>
          <p:cNvGraphicFramePr>
            <a:graphicFrameLocks noGrp="1"/>
          </p:cNvGraphicFramePr>
          <p:nvPr/>
        </p:nvGraphicFramePr>
        <p:xfrm>
          <a:off x="412229" y="1759955"/>
          <a:ext cx="11302608" cy="4504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485">
                  <a:extLst>
                    <a:ext uri="{9D8B030D-6E8A-4147-A177-3AD203B41FA5}">
                      <a16:colId xmlns:a16="http://schemas.microsoft.com/office/drawing/2014/main" val="1899690268"/>
                    </a:ext>
                  </a:extLst>
                </a:gridCol>
                <a:gridCol w="9097123">
                  <a:extLst>
                    <a:ext uri="{9D8B030D-6E8A-4147-A177-3AD203B41FA5}">
                      <a16:colId xmlns:a16="http://schemas.microsoft.com/office/drawing/2014/main" val="3978093686"/>
                    </a:ext>
                  </a:extLst>
                </a:gridCol>
              </a:tblGrid>
              <a:tr h="523256">
                <a:tc gridSpan="2"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lt1"/>
                          </a:solidFill>
                          <a:latin typeface="Calibri"/>
                          <a:ea typeface="+mn-ea"/>
                          <a:cs typeface="+mn-cs"/>
                        </a:rPr>
                        <a:t>Article 18 (1)(a) – Integrated reporting on greenhouse gas policies and measures</a:t>
                      </a:r>
                      <a:endParaRPr lang="en-US" sz="2400" b="0" kern="1200" noProof="0">
                        <a:solidFill>
                          <a:schemeClr val="lt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7B6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965936"/>
                  </a:ext>
                </a:extLst>
              </a:tr>
              <a:tr h="722415"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200" b="0" i="0" u="none" strike="noStrike" baseline="0" noProof="0" dirty="0">
                          <a:solidFill>
                            <a:srgbClr val="0D0D0D"/>
                          </a:solidFill>
                          <a:latin typeface="Aptos"/>
                        </a:rPr>
                        <a:t>By 15 March 2023 and every second year thereafter, CPs shall report to the Energy Community Secretariat their integrated policies and measures (</a:t>
                      </a:r>
                      <a:r>
                        <a:rPr lang="en-US" sz="2200" b="0" i="0" u="none" strike="noStrike" baseline="0" noProof="0" dirty="0" err="1">
                          <a:solidFill>
                            <a:srgbClr val="0D0D0D"/>
                          </a:solidFill>
                          <a:latin typeface="Aptos"/>
                        </a:rPr>
                        <a:t>PaMs</a:t>
                      </a:r>
                      <a:r>
                        <a:rPr lang="en-US" sz="2200" b="0" i="0" u="none" strike="noStrike" baseline="0" noProof="0" dirty="0">
                          <a:solidFill>
                            <a:srgbClr val="0D0D0D"/>
                          </a:solidFill>
                          <a:latin typeface="Aptos"/>
                        </a:rPr>
                        <a:t>) as per the dimensions of the Energy Union.</a:t>
                      </a: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SE" sz="2200" b="0" i="0" u="none" strike="noStrike" baseline="0" noProof="0" dirty="0">
                          <a:solidFill>
                            <a:srgbClr val="0D0D0D"/>
                          </a:solidFill>
                          <a:latin typeface="Aptos"/>
                        </a:rPr>
                        <a:t>Information reported describing the nature of the </a:t>
                      </a:r>
                      <a:r>
                        <a:rPr lang="en-SE" sz="2200" b="0" i="0" u="none" strike="noStrike" baseline="0" noProof="0" dirty="0" err="1">
                          <a:solidFill>
                            <a:srgbClr val="0D0D0D"/>
                          </a:solidFill>
                          <a:latin typeface="Aptos"/>
                        </a:rPr>
                        <a:t>PaM</a:t>
                      </a:r>
                      <a:r>
                        <a:rPr lang="en-SE" sz="2200" b="0" i="0" u="none" strike="noStrike" baseline="0" noProof="0" dirty="0">
                          <a:solidFill>
                            <a:srgbClr val="0D0D0D"/>
                          </a:solidFill>
                          <a:latin typeface="Aptos"/>
                        </a:rPr>
                        <a:t>, including type, sectorial focus, and estimated  greenhouse gas reductions, as well as estimated costs and benefits.</a:t>
                      </a:r>
                      <a:endParaRPr lang="en-US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454023"/>
                  </a:ext>
                </a:extLst>
              </a:tr>
              <a:tr h="415527">
                <a:tc>
                  <a:txBody>
                    <a:bodyPr/>
                    <a:lstStyle/>
                    <a:p>
                      <a:r>
                        <a:rPr lang="en-US" u="sng">
                          <a:latin typeface="Calibri"/>
                        </a:rPr>
                        <a:t>Reports due:</a:t>
                      </a:r>
                      <a:endParaRPr lang="en-US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0" i="0" u="none" strike="noStrike" noProof="0" dirty="0">
                          <a:solidFill>
                            <a:srgbClr val="0D0D0D"/>
                          </a:solidFill>
                          <a:latin typeface="Calibri"/>
                        </a:rPr>
                        <a:t>15 March – Biannually – Since 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654556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83A97A07-00B4-DA81-9E64-444175F9F112}"/>
              </a:ext>
            </a:extLst>
          </p:cNvPr>
          <p:cNvGrpSpPr/>
          <p:nvPr/>
        </p:nvGrpSpPr>
        <p:grpSpPr>
          <a:xfrm>
            <a:off x="567883" y="3486411"/>
            <a:ext cx="2209800" cy="1263817"/>
            <a:chOff x="567883" y="3486411"/>
            <a:chExt cx="2209800" cy="1263817"/>
          </a:xfrm>
        </p:grpSpPr>
        <p:pic>
          <p:nvPicPr>
            <p:cNvPr id="1030" name="Picture 6" descr="Renewable energy - Free technology icons">
              <a:extLst>
                <a:ext uri="{FF2B5EF4-FFF2-40B4-BE49-F238E27FC236}">
                  <a16:creationId xmlns:a16="http://schemas.microsoft.com/office/drawing/2014/main" id="{76E6955A-9D6E-72F3-0368-6C287BB85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5541" y="3486411"/>
              <a:ext cx="894485" cy="8944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A97443-FC48-1A0B-BEB4-B5EAAE3CCB7E}"/>
                </a:ext>
              </a:extLst>
            </p:cNvPr>
            <p:cNvSpPr txBox="1"/>
            <p:nvPr/>
          </p:nvSpPr>
          <p:spPr>
            <a:xfrm>
              <a:off x="567883" y="4380896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/>
                <a:t>Decarbonization</a:t>
              </a:r>
              <a:endParaRPr lang="en-DK" b="1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160974-14EE-14A4-3D39-0B92BD4C9CAB}"/>
              </a:ext>
            </a:extLst>
          </p:cNvPr>
          <p:cNvGrpSpPr/>
          <p:nvPr/>
        </p:nvGrpSpPr>
        <p:grpSpPr>
          <a:xfrm>
            <a:off x="2813511" y="3436828"/>
            <a:ext cx="2209800" cy="1313400"/>
            <a:chOff x="2813511" y="3436828"/>
            <a:chExt cx="2209800" cy="13134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1FBE46-7529-3E75-CBF1-AAC917B40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2214" y="3436828"/>
              <a:ext cx="992395" cy="99239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9A1E4C-8E41-8B64-800F-0EDE8C1FE3AC}"/>
                </a:ext>
              </a:extLst>
            </p:cNvPr>
            <p:cNvSpPr txBox="1"/>
            <p:nvPr/>
          </p:nvSpPr>
          <p:spPr>
            <a:xfrm>
              <a:off x="2813511" y="4380896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/>
                <a:t>Energy Efficiency</a:t>
              </a:r>
              <a:endParaRPr lang="en-DK" b="1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B9F5DA-B693-2BBC-15DA-EE811566910B}"/>
              </a:ext>
            </a:extLst>
          </p:cNvPr>
          <p:cNvGrpSpPr/>
          <p:nvPr/>
        </p:nvGrpSpPr>
        <p:grpSpPr>
          <a:xfrm>
            <a:off x="7304767" y="3366359"/>
            <a:ext cx="2209800" cy="1383869"/>
            <a:chOff x="7304767" y="3366359"/>
            <a:chExt cx="2209800" cy="1383869"/>
          </a:xfrm>
        </p:grpSpPr>
        <p:pic>
          <p:nvPicPr>
            <p:cNvPr id="1034" name="Picture 10" descr="Energy - Free industry icons">
              <a:extLst>
                <a:ext uri="{FF2B5EF4-FFF2-40B4-BE49-F238E27FC236}">
                  <a16:creationId xmlns:a16="http://schemas.microsoft.com/office/drawing/2014/main" id="{A7402F10-31B7-F44E-7F3A-BF7BC2A3B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3470" y="3366359"/>
              <a:ext cx="900979" cy="900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3BAC6C4-2734-379B-BA10-11EA1702A4BC}"/>
                </a:ext>
              </a:extLst>
            </p:cNvPr>
            <p:cNvSpPr txBox="1"/>
            <p:nvPr/>
          </p:nvSpPr>
          <p:spPr>
            <a:xfrm>
              <a:off x="7304767" y="4380896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/>
                <a:t>Energy Markets</a:t>
              </a:r>
              <a:endParaRPr lang="en-DK" b="1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6F10D8A-1C35-1F69-E11B-16A2B3C22E88}"/>
              </a:ext>
            </a:extLst>
          </p:cNvPr>
          <p:cNvGrpSpPr/>
          <p:nvPr/>
        </p:nvGrpSpPr>
        <p:grpSpPr>
          <a:xfrm>
            <a:off x="9550396" y="3366359"/>
            <a:ext cx="2209800" cy="1383869"/>
            <a:chOff x="9550396" y="3366359"/>
            <a:chExt cx="2209800" cy="1383869"/>
          </a:xfrm>
        </p:grpSpPr>
        <p:pic>
          <p:nvPicPr>
            <p:cNvPr id="1032" name="Picture 8" descr="Energy research - Free education icons">
              <a:extLst>
                <a:ext uri="{FF2B5EF4-FFF2-40B4-BE49-F238E27FC236}">
                  <a16:creationId xmlns:a16="http://schemas.microsoft.com/office/drawing/2014/main" id="{B06E6832-F8A4-CEF1-E90F-6EA4925C67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2000" y="3366359"/>
              <a:ext cx="992395" cy="992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A6D3E6-C829-D413-52F8-7D0C280F6DE0}"/>
                </a:ext>
              </a:extLst>
            </p:cNvPr>
            <p:cNvSpPr txBox="1"/>
            <p:nvPr/>
          </p:nvSpPr>
          <p:spPr>
            <a:xfrm>
              <a:off x="9550396" y="4380896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/>
                <a:t>Energy Research</a:t>
              </a:r>
              <a:endParaRPr lang="en-DK" b="1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0123568-0144-079F-359A-8C3C3DAEB5E1}"/>
              </a:ext>
            </a:extLst>
          </p:cNvPr>
          <p:cNvGrpSpPr/>
          <p:nvPr/>
        </p:nvGrpSpPr>
        <p:grpSpPr>
          <a:xfrm>
            <a:off x="5059139" y="3436828"/>
            <a:ext cx="2209800" cy="1313400"/>
            <a:chOff x="5059139" y="3436828"/>
            <a:chExt cx="2209800" cy="131340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951B81F-A7FD-58E1-6544-B4A192EDAEDC}"/>
                </a:ext>
              </a:extLst>
            </p:cNvPr>
            <p:cNvSpPr txBox="1"/>
            <p:nvPr/>
          </p:nvSpPr>
          <p:spPr>
            <a:xfrm>
              <a:off x="5059139" y="4380896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/>
                <a:t>Energy Security</a:t>
              </a:r>
              <a:endParaRPr lang="en-DK" b="1"/>
            </a:p>
          </p:txBody>
        </p:sp>
        <p:pic>
          <p:nvPicPr>
            <p:cNvPr id="1036" name="Picture 12" descr="Energy saving - Free security icons">
              <a:extLst>
                <a:ext uri="{FF2B5EF4-FFF2-40B4-BE49-F238E27FC236}">
                  <a16:creationId xmlns:a16="http://schemas.microsoft.com/office/drawing/2014/main" id="{FDE0D89E-5D13-0051-1F30-D4F51375B1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7842" y="3436828"/>
              <a:ext cx="992395" cy="992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5284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DE849E-7ED6-37CD-246F-8A867C891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237811"/>
              </p:ext>
            </p:extLst>
          </p:nvPr>
        </p:nvGraphicFramePr>
        <p:xfrm>
          <a:off x="321509" y="1715671"/>
          <a:ext cx="11302608" cy="4747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485">
                  <a:extLst>
                    <a:ext uri="{9D8B030D-6E8A-4147-A177-3AD203B41FA5}">
                      <a16:colId xmlns:a16="http://schemas.microsoft.com/office/drawing/2014/main" val="1899690268"/>
                    </a:ext>
                  </a:extLst>
                </a:gridCol>
                <a:gridCol w="9097123">
                  <a:extLst>
                    <a:ext uri="{9D8B030D-6E8A-4147-A177-3AD203B41FA5}">
                      <a16:colId xmlns:a16="http://schemas.microsoft.com/office/drawing/2014/main" val="3978093686"/>
                    </a:ext>
                  </a:extLst>
                </a:gridCol>
              </a:tblGrid>
              <a:tr h="551403">
                <a:tc gridSpan="2">
                  <a:txBody>
                    <a:bodyPr/>
                    <a:lstStyle/>
                    <a:p>
                      <a:r>
                        <a:rPr lang="en-US" sz="2400" b="0" kern="1200" dirty="0">
                          <a:solidFill>
                            <a:schemeClr val="lt1"/>
                          </a:solidFill>
                          <a:latin typeface="Calibri"/>
                          <a:ea typeface="+mn-ea"/>
                          <a:cs typeface="+mn-cs"/>
                        </a:rPr>
                        <a:t>First in Reportnet: Key characteristics and progress – Common for all </a:t>
                      </a:r>
                      <a:r>
                        <a:rPr lang="en-US" sz="2400" b="0" kern="1200" dirty="0" err="1">
                          <a:solidFill>
                            <a:schemeClr val="lt1"/>
                          </a:solidFill>
                          <a:latin typeface="Calibri"/>
                          <a:ea typeface="+mn-ea"/>
                          <a:cs typeface="+mn-cs"/>
                        </a:rPr>
                        <a:t>PaMs</a:t>
                      </a:r>
                      <a:endParaRPr lang="en-US" sz="2400" b="0" kern="1200" noProof="0" dirty="0">
                        <a:solidFill>
                          <a:schemeClr val="lt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7B6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965936"/>
                  </a:ext>
                </a:extLst>
              </a:tr>
              <a:tr h="3757991"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200" b="0" i="0" u="none" strike="noStrike" baseline="0" noProof="0" dirty="0">
                          <a:solidFill>
                            <a:srgbClr val="0D0D0D"/>
                          </a:solidFill>
                          <a:latin typeface="Aptos"/>
                        </a:rPr>
                        <a:t>What to report?</a:t>
                      </a: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454023"/>
                  </a:ext>
                </a:extLst>
              </a:tr>
              <a:tr h="437879">
                <a:tc>
                  <a:txBody>
                    <a:bodyPr/>
                    <a:lstStyle/>
                    <a:p>
                      <a:r>
                        <a:rPr lang="en-US" u="sng" dirty="0">
                          <a:latin typeface="Calibri"/>
                        </a:rPr>
                        <a:t>Source:</a:t>
                      </a: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0" i="0" u="none" strike="noStrike" noProof="0" dirty="0">
                          <a:solidFill>
                            <a:srgbClr val="0D0D0D"/>
                          </a:solidFill>
                          <a:latin typeface="Calibri"/>
                        </a:rPr>
                        <a:t>Annex 24 from the 1</a:t>
                      </a:r>
                      <a:r>
                        <a:rPr lang="en-US" sz="1700" b="0" i="0" u="none" strike="noStrike" baseline="30000" noProof="0" dirty="0">
                          <a:solidFill>
                            <a:srgbClr val="0D0D0D"/>
                          </a:solidFill>
                          <a:latin typeface="Calibri"/>
                        </a:rPr>
                        <a:t>st</a:t>
                      </a:r>
                      <a:r>
                        <a:rPr lang="en-US" sz="1700" b="0" i="0" u="none" strike="noStrike" noProof="0" dirty="0">
                          <a:solidFill>
                            <a:srgbClr val="0D0D0D"/>
                          </a:solidFill>
                          <a:latin typeface="Calibri"/>
                        </a:rPr>
                        <a:t> Implementing act (2020/1208), Annex 9 from the 2</a:t>
                      </a:r>
                      <a:r>
                        <a:rPr lang="en-US" sz="1700" b="0" i="0" u="none" strike="noStrike" baseline="30000" noProof="0" dirty="0">
                          <a:solidFill>
                            <a:srgbClr val="0D0D0D"/>
                          </a:solidFill>
                          <a:latin typeface="Calibri"/>
                        </a:rPr>
                        <a:t>nd</a:t>
                      </a:r>
                      <a:r>
                        <a:rPr lang="en-US" sz="1700" b="0" i="0" u="none" strike="noStrike" noProof="0" dirty="0">
                          <a:solidFill>
                            <a:srgbClr val="0D0D0D"/>
                          </a:solidFill>
                          <a:latin typeface="Calibri"/>
                        </a:rPr>
                        <a:t>, (2022/2299)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6545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2C9138-1317-45F5-6D24-C4E9EDDA290B}"/>
              </a:ext>
            </a:extLst>
          </p:cNvPr>
          <p:cNvSpPr txBox="1"/>
          <p:nvPr/>
        </p:nvSpPr>
        <p:spPr>
          <a:xfrm>
            <a:off x="431037" y="3091129"/>
            <a:ext cx="3590547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‘Key Characteristics’:</a:t>
            </a:r>
            <a:endParaRPr kumimoji="0" lang="en-SE" sz="1800" b="0" i="0" u="sng" strike="noStrike" kern="1200" cap="none" spc="0" normalizeH="0" baseline="0" noProof="0" dirty="0">
              <a:ln>
                <a:noFill/>
              </a:ln>
              <a:solidFill>
                <a:srgbClr val="113A6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13A60"/>
                </a:solidFill>
                <a:latin typeface="Open Sans"/>
              </a:rPr>
              <a:t>Descriptive information </a:t>
            </a:r>
            <a:endParaRPr kumimoji="0" lang="en-DK" sz="1800" b="0" i="0" u="none" strike="noStrike" kern="1200" cap="none" spc="0" normalizeH="0" baseline="0" noProof="0" dirty="0">
              <a:ln>
                <a:noFill/>
              </a:ln>
              <a:solidFill>
                <a:srgbClr val="113A6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Indicators, objectives, gases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Links with long-term strategy, NDC, other policies</a:t>
            </a:r>
            <a:endParaRPr kumimoji="0" lang="en-SE" sz="1800" b="0" i="0" u="none" strike="noStrike" kern="1200" cap="none" spc="0" normalizeH="0" baseline="0" noProof="0" dirty="0">
              <a:ln>
                <a:noFill/>
              </a:ln>
              <a:solidFill>
                <a:srgbClr val="113A6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7A6DA-A2C6-85EA-A5A2-04A1AEF4486A}"/>
              </a:ext>
            </a:extLst>
          </p:cNvPr>
          <p:cNvSpPr txBox="1"/>
          <p:nvPr/>
        </p:nvSpPr>
        <p:spPr>
          <a:xfrm>
            <a:off x="4177539" y="2308809"/>
            <a:ext cx="3590547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GHG: Available Ex ante and ex-post estimations</a:t>
            </a:r>
            <a:endParaRPr kumimoji="0" lang="en-SE" sz="1400" b="0" i="0" u="sng" strike="noStrike" kern="1200" cap="none" spc="0" normalizeH="0" baseline="0" noProof="0" dirty="0">
              <a:ln>
                <a:noFill/>
              </a:ln>
              <a:solidFill>
                <a:srgbClr val="113A6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GHG emission reductions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Methodological descriptions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51FB1-1716-CEF7-1113-EEA468F8C286}"/>
              </a:ext>
            </a:extLst>
          </p:cNvPr>
          <p:cNvSpPr txBox="1"/>
          <p:nvPr/>
        </p:nvSpPr>
        <p:spPr>
          <a:xfrm>
            <a:off x="7900827" y="2308809"/>
            <a:ext cx="3590548" cy="9541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GHG Available Costs and benefits</a:t>
            </a:r>
            <a:r>
              <a:rPr kumimoji="0" lang="en-SE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: </a:t>
            </a:r>
            <a:br>
              <a:rPr kumimoji="0" lang="da-DK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Realized and projected costs and benefits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Methodological descriptions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BB2A0-19D6-00E4-04A0-61C7CE09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What to report on Integrated </a:t>
            </a:r>
            <a:r>
              <a:rPr lang="en-US" sz="4000" dirty="0" err="1">
                <a:solidFill>
                  <a:srgbClr val="007B6C"/>
                </a:solidFill>
                <a:latin typeface="Calibri Light"/>
                <a:cs typeface="Calibri"/>
              </a:rPr>
              <a:t>PaMs</a:t>
            </a:r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? 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C122A-41D2-3EA6-B7C7-F6E3ECA95A8E}"/>
              </a:ext>
            </a:extLst>
          </p:cNvPr>
          <p:cNvSpPr txBox="1"/>
          <p:nvPr/>
        </p:nvSpPr>
        <p:spPr>
          <a:xfrm>
            <a:off x="4177539" y="3545840"/>
            <a:ext cx="3590547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Renewable energy: Available Ex ante and ex-post estimations</a:t>
            </a:r>
            <a:endParaRPr kumimoji="0" lang="en-SE" sz="1400" b="0" i="0" u="sng" strike="noStrike" kern="1200" cap="none" spc="0" normalizeH="0" baseline="0" noProof="0" dirty="0">
              <a:ln>
                <a:noFill/>
              </a:ln>
              <a:solidFill>
                <a:srgbClr val="113A6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GHG emission reductions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Methodological descriptions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D8FB0-B0F6-6388-8354-4BA22ADE17AC}"/>
              </a:ext>
            </a:extLst>
          </p:cNvPr>
          <p:cNvSpPr txBox="1"/>
          <p:nvPr/>
        </p:nvSpPr>
        <p:spPr>
          <a:xfrm>
            <a:off x="7900827" y="3545840"/>
            <a:ext cx="3590548" cy="11695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a-DK" sz="1400" u="sng" dirty="0">
                <a:solidFill>
                  <a:srgbClr val="113A60"/>
                </a:solidFill>
                <a:latin typeface="Open Sans"/>
              </a:rPr>
              <a:t>Renewable energy: </a:t>
            </a:r>
            <a:r>
              <a:rPr kumimoji="0" lang="da-DK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Available Costs and benefits</a:t>
            </a:r>
            <a:r>
              <a:rPr kumimoji="0" lang="en-SE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: </a:t>
            </a:r>
            <a:br>
              <a:rPr kumimoji="0" lang="da-DK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Realized and projected costs and benefits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Methodological descriptions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FC6D16-ADE3-5841-447F-46A08CE9FF11}"/>
              </a:ext>
            </a:extLst>
          </p:cNvPr>
          <p:cNvSpPr txBox="1"/>
          <p:nvPr/>
        </p:nvSpPr>
        <p:spPr>
          <a:xfrm>
            <a:off x="4177539" y="4774466"/>
            <a:ext cx="3590547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Energy efficiency: Available Ex ante and ex-post estimations</a:t>
            </a:r>
            <a:endParaRPr kumimoji="0" lang="en-SE" sz="1400" b="0" i="0" u="sng" strike="noStrike" kern="1200" cap="none" spc="0" normalizeH="0" baseline="0" noProof="0" dirty="0">
              <a:ln>
                <a:noFill/>
              </a:ln>
              <a:solidFill>
                <a:srgbClr val="113A6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GHG emission reductions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Methodological descriptions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48E7D-F5B2-08D8-F1C2-21804AFB26E1}"/>
              </a:ext>
            </a:extLst>
          </p:cNvPr>
          <p:cNvSpPr txBox="1"/>
          <p:nvPr/>
        </p:nvSpPr>
        <p:spPr>
          <a:xfrm>
            <a:off x="7900827" y="4774466"/>
            <a:ext cx="3590548" cy="11695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a-DK" sz="1400" u="sng" dirty="0">
                <a:solidFill>
                  <a:srgbClr val="113A60"/>
                </a:solidFill>
                <a:latin typeface="Open Sans"/>
              </a:rPr>
              <a:t>Energy efficiency: </a:t>
            </a:r>
            <a:r>
              <a:rPr kumimoji="0" lang="da-DK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Available Costs and benefits</a:t>
            </a:r>
            <a:r>
              <a:rPr kumimoji="0" lang="en-SE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: </a:t>
            </a:r>
            <a:br>
              <a:rPr kumimoji="0" lang="da-DK" sz="1400" b="0" i="0" u="sng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Realized and projected costs and benefits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400" b="0" i="0" u="none" strike="noStrike" kern="1200" cap="none" spc="0" normalizeH="0" baseline="0" noProof="0" dirty="0">
                <a:ln>
                  <a:noFill/>
                </a:ln>
                <a:solidFill>
                  <a:srgbClr val="113A6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Methodological descriptions </a:t>
            </a:r>
          </a:p>
        </p:txBody>
      </p:sp>
    </p:spTree>
    <p:extLst>
      <p:ext uri="{BB962C8B-B14F-4D97-AF65-F5344CB8AC3E}">
        <p14:creationId xmlns:p14="http://schemas.microsoft.com/office/powerpoint/2010/main" val="214551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83E6F-3F7D-1ACB-72B5-A51106FD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8341-6B54-E1D7-A9E5-B3967841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2</a:t>
            </a:r>
            <a:r>
              <a:rPr lang="en-US" sz="4000" baseline="30000" dirty="0">
                <a:solidFill>
                  <a:srgbClr val="007B6C"/>
                </a:solidFill>
                <a:latin typeface="Calibri Light"/>
                <a:cs typeface="Calibri"/>
              </a:rPr>
              <a:t>nd</a:t>
            </a:r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 step – depends on the </a:t>
            </a:r>
            <a:r>
              <a:rPr lang="en-US" sz="4000" dirty="0" err="1">
                <a:solidFill>
                  <a:srgbClr val="007B6C"/>
                </a:solidFill>
                <a:latin typeface="Calibri Light"/>
                <a:cs typeface="Calibri"/>
              </a:rPr>
              <a:t>PaMs</a:t>
            </a:r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 Dimension.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656980-C315-934D-0D81-AA2FF29DE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09285"/>
              </p:ext>
            </p:extLst>
          </p:nvPr>
        </p:nvGraphicFramePr>
        <p:xfrm>
          <a:off x="379488" y="1748445"/>
          <a:ext cx="11302608" cy="4973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2608">
                  <a:extLst>
                    <a:ext uri="{9D8B030D-6E8A-4147-A177-3AD203B41FA5}">
                      <a16:colId xmlns:a16="http://schemas.microsoft.com/office/drawing/2014/main" val="1899690268"/>
                    </a:ext>
                  </a:extLst>
                </a:gridCol>
              </a:tblGrid>
              <a:tr h="523256">
                <a:tc>
                  <a:txBody>
                    <a:bodyPr/>
                    <a:lstStyle/>
                    <a:p>
                      <a:r>
                        <a:rPr lang="en-US" sz="2400" b="0" kern="1200" noProof="0" dirty="0">
                          <a:solidFill>
                            <a:schemeClr val="lt1"/>
                          </a:solidFill>
                          <a:latin typeface="Calibri"/>
                          <a:ea typeface="+mn-ea"/>
                          <a:cs typeface="+mn-cs"/>
                        </a:rPr>
                        <a:t>Always first fill in the first page, and then 2</a:t>
                      </a:r>
                      <a:r>
                        <a:rPr lang="en-US" sz="2400" b="0" kern="1200" baseline="30000" noProof="0" dirty="0">
                          <a:solidFill>
                            <a:schemeClr val="lt1"/>
                          </a:solidFill>
                          <a:latin typeface="Calibri"/>
                          <a:ea typeface="+mn-ea"/>
                          <a:cs typeface="+mn-cs"/>
                        </a:rPr>
                        <a:t>nd</a:t>
                      </a:r>
                      <a:r>
                        <a:rPr lang="en-US" sz="2400" b="0" kern="1200" noProof="0" dirty="0">
                          <a:solidFill>
                            <a:schemeClr val="lt1"/>
                          </a:solidFill>
                          <a:latin typeface="Calibri"/>
                          <a:ea typeface="+mn-ea"/>
                          <a:cs typeface="+mn-cs"/>
                        </a:rPr>
                        <a:t> step:</a:t>
                      </a:r>
                    </a:p>
                  </a:txBody>
                  <a:tcPr>
                    <a:solidFill>
                      <a:srgbClr val="007B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65936"/>
                  </a:ext>
                </a:extLst>
              </a:tr>
              <a:tr h="72241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8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454023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0FE37B2E-06ED-BD9E-5ACE-D1333754F285}"/>
              </a:ext>
            </a:extLst>
          </p:cNvPr>
          <p:cNvGrpSpPr/>
          <p:nvPr/>
        </p:nvGrpSpPr>
        <p:grpSpPr>
          <a:xfrm>
            <a:off x="642261" y="2416375"/>
            <a:ext cx="2209800" cy="1263817"/>
            <a:chOff x="567883" y="3486411"/>
            <a:chExt cx="2209800" cy="1263817"/>
          </a:xfrm>
        </p:grpSpPr>
        <p:pic>
          <p:nvPicPr>
            <p:cNvPr id="1030" name="Picture 6" descr="Renewable energy - Free technology icons">
              <a:extLst>
                <a:ext uri="{FF2B5EF4-FFF2-40B4-BE49-F238E27FC236}">
                  <a16:creationId xmlns:a16="http://schemas.microsoft.com/office/drawing/2014/main" id="{DA0F82E6-4DF8-7887-2F8A-79665455EC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5541" y="3486411"/>
              <a:ext cx="894485" cy="8944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FF0BB1-C60D-BE74-7797-81E85FC02EE3}"/>
                </a:ext>
              </a:extLst>
            </p:cNvPr>
            <p:cNvSpPr txBox="1"/>
            <p:nvPr/>
          </p:nvSpPr>
          <p:spPr>
            <a:xfrm>
              <a:off x="567883" y="4380896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/>
                <a:t>Decarbonization</a:t>
              </a:r>
              <a:endParaRPr lang="en-DK" b="1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FF003C-4B93-7FD7-379F-78CFEA54F983}"/>
              </a:ext>
            </a:extLst>
          </p:cNvPr>
          <p:cNvGrpSpPr/>
          <p:nvPr/>
        </p:nvGrpSpPr>
        <p:grpSpPr>
          <a:xfrm>
            <a:off x="509904" y="4311722"/>
            <a:ext cx="2209800" cy="1313400"/>
            <a:chOff x="2813511" y="3436828"/>
            <a:chExt cx="2209800" cy="13134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1DCEA0F-B793-D17C-07DA-7D75FD4C4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2214" y="3436828"/>
              <a:ext cx="992395" cy="99239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B9AD35-F4A7-05AD-73B9-BB38D5633F1A}"/>
                </a:ext>
              </a:extLst>
            </p:cNvPr>
            <p:cNvSpPr txBox="1"/>
            <p:nvPr/>
          </p:nvSpPr>
          <p:spPr>
            <a:xfrm>
              <a:off x="2813511" y="4380896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/>
                <a:t>Energy Efficiency</a:t>
              </a:r>
              <a:endParaRPr lang="en-DK" b="1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E62EFBD-6467-E263-2E1B-E125D74C1F5B}"/>
              </a:ext>
            </a:extLst>
          </p:cNvPr>
          <p:cNvGrpSpPr/>
          <p:nvPr/>
        </p:nvGrpSpPr>
        <p:grpSpPr>
          <a:xfrm>
            <a:off x="6786163" y="3745875"/>
            <a:ext cx="2209800" cy="1383869"/>
            <a:chOff x="7304767" y="3366359"/>
            <a:chExt cx="2209800" cy="1383869"/>
          </a:xfrm>
        </p:grpSpPr>
        <p:pic>
          <p:nvPicPr>
            <p:cNvPr id="1034" name="Picture 10" descr="Energy - Free industry icons">
              <a:extLst>
                <a:ext uri="{FF2B5EF4-FFF2-40B4-BE49-F238E27FC236}">
                  <a16:creationId xmlns:a16="http://schemas.microsoft.com/office/drawing/2014/main" id="{6B8284D7-F2C3-6E25-8F35-736F777495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3470" y="3366359"/>
              <a:ext cx="900979" cy="900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8EB476-03CB-9636-AF76-71E72E9B8288}"/>
                </a:ext>
              </a:extLst>
            </p:cNvPr>
            <p:cNvSpPr txBox="1"/>
            <p:nvPr/>
          </p:nvSpPr>
          <p:spPr>
            <a:xfrm>
              <a:off x="7304767" y="4380896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/>
                <a:t>Energy Markets</a:t>
              </a:r>
              <a:endParaRPr lang="en-DK" b="1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D72E1D-ACC4-D27D-B734-36AD67C14646}"/>
              </a:ext>
            </a:extLst>
          </p:cNvPr>
          <p:cNvGrpSpPr/>
          <p:nvPr/>
        </p:nvGrpSpPr>
        <p:grpSpPr>
          <a:xfrm>
            <a:off x="6740455" y="5174129"/>
            <a:ext cx="2209800" cy="1383869"/>
            <a:chOff x="9550396" y="3366359"/>
            <a:chExt cx="2209800" cy="1383869"/>
          </a:xfrm>
        </p:grpSpPr>
        <p:pic>
          <p:nvPicPr>
            <p:cNvPr id="1032" name="Picture 8" descr="Energy research - Free education icons">
              <a:extLst>
                <a:ext uri="{FF2B5EF4-FFF2-40B4-BE49-F238E27FC236}">
                  <a16:creationId xmlns:a16="http://schemas.microsoft.com/office/drawing/2014/main" id="{5EB57297-242C-8B81-F767-53A6EB45A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2000" y="3366359"/>
              <a:ext cx="992395" cy="992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9F2DCD-8609-6F72-BF94-7F11CB495A66}"/>
                </a:ext>
              </a:extLst>
            </p:cNvPr>
            <p:cNvSpPr txBox="1"/>
            <p:nvPr/>
          </p:nvSpPr>
          <p:spPr>
            <a:xfrm>
              <a:off x="9550396" y="4380896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/>
                <a:t>Energy Research</a:t>
              </a:r>
              <a:endParaRPr lang="en-DK" b="1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E45D733-457F-9AEA-853C-6DD908E8CB6C}"/>
              </a:ext>
            </a:extLst>
          </p:cNvPr>
          <p:cNvGrpSpPr/>
          <p:nvPr/>
        </p:nvGrpSpPr>
        <p:grpSpPr>
          <a:xfrm>
            <a:off x="6688327" y="2353249"/>
            <a:ext cx="2209800" cy="1313400"/>
            <a:chOff x="5059139" y="3436828"/>
            <a:chExt cx="2209800" cy="131340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B61646-3B61-4E63-EC3D-68E8AEDE1FE3}"/>
                </a:ext>
              </a:extLst>
            </p:cNvPr>
            <p:cNvSpPr txBox="1"/>
            <p:nvPr/>
          </p:nvSpPr>
          <p:spPr>
            <a:xfrm>
              <a:off x="5059139" y="4380896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/>
                <a:t>Energy Security</a:t>
              </a:r>
              <a:endParaRPr lang="en-DK" b="1"/>
            </a:p>
          </p:txBody>
        </p:sp>
        <p:pic>
          <p:nvPicPr>
            <p:cNvPr id="1036" name="Picture 12" descr="Energy saving - Free security icons">
              <a:extLst>
                <a:ext uri="{FF2B5EF4-FFF2-40B4-BE49-F238E27FC236}">
                  <a16:creationId xmlns:a16="http://schemas.microsoft.com/office/drawing/2014/main" id="{43A02CB0-F9EC-30D1-BB54-75B40F64E8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7842" y="3436828"/>
              <a:ext cx="992395" cy="992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7DC09B41-5247-9323-7823-A165F2159910}"/>
              </a:ext>
            </a:extLst>
          </p:cNvPr>
          <p:cNvSpPr txBox="1">
            <a:spLocks/>
          </p:cNvSpPr>
          <p:nvPr/>
        </p:nvSpPr>
        <p:spPr>
          <a:xfrm>
            <a:off x="834881" y="373412"/>
            <a:ext cx="9670780" cy="1350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943AA-72D1-7B55-4541-90E6CEE672AA}"/>
              </a:ext>
            </a:extLst>
          </p:cNvPr>
          <p:cNvSpPr txBox="1"/>
          <p:nvPr/>
        </p:nvSpPr>
        <p:spPr>
          <a:xfrm>
            <a:off x="2877486" y="2416375"/>
            <a:ext cx="2972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Annex 13 and 14. </a:t>
            </a:r>
          </a:p>
          <a:p>
            <a:pPr marL="285750" indent="-285750">
              <a:buFontTx/>
              <a:buChar char="-"/>
            </a:pPr>
            <a:r>
              <a:rPr lang="en-US" dirty="0"/>
              <a:t>If a Renewable Energy </a:t>
            </a:r>
            <a:r>
              <a:rPr lang="en-US" dirty="0" err="1"/>
              <a:t>PaM</a:t>
            </a:r>
            <a:r>
              <a:rPr lang="en-US" dirty="0"/>
              <a:t>, then Annex 9, table 2 and 4 too.</a:t>
            </a:r>
            <a:endParaRPr lang="en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E71E0-77E2-FDAC-5A88-255FAACD2A97}"/>
              </a:ext>
            </a:extLst>
          </p:cNvPr>
          <p:cNvSpPr txBox="1"/>
          <p:nvPr/>
        </p:nvSpPr>
        <p:spPr>
          <a:xfrm>
            <a:off x="2852061" y="4454196"/>
            <a:ext cx="39449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Annex 9, table 3 and 5. </a:t>
            </a:r>
          </a:p>
          <a:p>
            <a:pPr marL="285750" indent="-285750">
              <a:buFontTx/>
              <a:buChar char="-"/>
            </a:pPr>
            <a:r>
              <a:rPr lang="en-US" dirty="0"/>
              <a:t>If a new policy, then annex 10 too.</a:t>
            </a:r>
          </a:p>
          <a:p>
            <a:pPr marL="285750" indent="-285750">
              <a:buFontTx/>
              <a:buChar char="-"/>
            </a:pPr>
            <a:r>
              <a:rPr lang="en-US" dirty="0"/>
              <a:t>If regarding energy savings, then annex 9, table 3 and 5, and annex 11.</a:t>
            </a:r>
          </a:p>
          <a:p>
            <a:pPr marL="285750" indent="-285750">
              <a:buFontTx/>
              <a:buChar char="-"/>
            </a:pPr>
            <a:r>
              <a:rPr lang="en-US" dirty="0"/>
              <a:t>If regarding public buildings, then annex 9, table 3 and 5, and annex 12.</a:t>
            </a:r>
            <a:endParaRPr lang="en-D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EC0826-47F5-4B43-06BF-5B66FAC476D1}"/>
              </a:ext>
            </a:extLst>
          </p:cNvPr>
          <p:cNvSpPr txBox="1"/>
          <p:nvPr/>
        </p:nvSpPr>
        <p:spPr>
          <a:xfrm>
            <a:off x="9314514" y="3310860"/>
            <a:ext cx="19020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If these three, then just annex 9 (first page, and then annex 13 and 14.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251756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155D-3C72-FB1B-19E6-FC6C391D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38" y="7317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What to report on Integrated </a:t>
            </a:r>
            <a:r>
              <a:rPr lang="en-US" sz="4000" dirty="0" err="1">
                <a:solidFill>
                  <a:srgbClr val="007B6C"/>
                </a:solidFill>
                <a:latin typeface="Calibri Light"/>
                <a:cs typeface="Calibri"/>
              </a:rPr>
              <a:t>PaMs</a:t>
            </a:r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? 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BBAAC60-0483-0307-6DDE-69CBD8FC4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745391"/>
              </p:ext>
            </p:extLst>
          </p:nvPr>
        </p:nvGraphicFramePr>
        <p:xfrm>
          <a:off x="475938" y="986151"/>
          <a:ext cx="11398011" cy="55041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70333">
                  <a:extLst>
                    <a:ext uri="{9D8B030D-6E8A-4147-A177-3AD203B41FA5}">
                      <a16:colId xmlns:a16="http://schemas.microsoft.com/office/drawing/2014/main" val="2372625692"/>
                    </a:ext>
                  </a:extLst>
                </a:gridCol>
                <a:gridCol w="779832">
                  <a:extLst>
                    <a:ext uri="{9D8B030D-6E8A-4147-A177-3AD203B41FA5}">
                      <a16:colId xmlns:a16="http://schemas.microsoft.com/office/drawing/2014/main" val="513529540"/>
                    </a:ext>
                  </a:extLst>
                </a:gridCol>
                <a:gridCol w="819694">
                  <a:extLst>
                    <a:ext uri="{9D8B030D-6E8A-4147-A177-3AD203B41FA5}">
                      <a16:colId xmlns:a16="http://schemas.microsoft.com/office/drawing/2014/main" val="2771669829"/>
                    </a:ext>
                  </a:extLst>
                </a:gridCol>
                <a:gridCol w="687454">
                  <a:extLst>
                    <a:ext uri="{9D8B030D-6E8A-4147-A177-3AD203B41FA5}">
                      <a16:colId xmlns:a16="http://schemas.microsoft.com/office/drawing/2014/main" val="4031896547"/>
                    </a:ext>
                  </a:extLst>
                </a:gridCol>
                <a:gridCol w="699729">
                  <a:extLst>
                    <a:ext uri="{9D8B030D-6E8A-4147-A177-3AD203B41FA5}">
                      <a16:colId xmlns:a16="http://schemas.microsoft.com/office/drawing/2014/main" val="197875772"/>
                    </a:ext>
                  </a:extLst>
                </a:gridCol>
                <a:gridCol w="734845">
                  <a:extLst>
                    <a:ext uri="{9D8B030D-6E8A-4147-A177-3AD203B41FA5}">
                      <a16:colId xmlns:a16="http://schemas.microsoft.com/office/drawing/2014/main" val="2094986934"/>
                    </a:ext>
                  </a:extLst>
                </a:gridCol>
                <a:gridCol w="593074">
                  <a:extLst>
                    <a:ext uri="{9D8B030D-6E8A-4147-A177-3AD203B41FA5}">
                      <a16:colId xmlns:a16="http://schemas.microsoft.com/office/drawing/2014/main" val="1941010918"/>
                    </a:ext>
                  </a:extLst>
                </a:gridCol>
                <a:gridCol w="593074">
                  <a:extLst>
                    <a:ext uri="{9D8B030D-6E8A-4147-A177-3AD203B41FA5}">
                      <a16:colId xmlns:a16="http://schemas.microsoft.com/office/drawing/2014/main" val="1005774280"/>
                    </a:ext>
                  </a:extLst>
                </a:gridCol>
                <a:gridCol w="712005">
                  <a:extLst>
                    <a:ext uri="{9D8B030D-6E8A-4147-A177-3AD203B41FA5}">
                      <a16:colId xmlns:a16="http://schemas.microsoft.com/office/drawing/2014/main" val="3330712312"/>
                    </a:ext>
                  </a:extLst>
                </a:gridCol>
                <a:gridCol w="649859">
                  <a:extLst>
                    <a:ext uri="{9D8B030D-6E8A-4147-A177-3AD203B41FA5}">
                      <a16:colId xmlns:a16="http://schemas.microsoft.com/office/drawing/2014/main" val="193004924"/>
                    </a:ext>
                  </a:extLst>
                </a:gridCol>
                <a:gridCol w="658112">
                  <a:extLst>
                    <a:ext uri="{9D8B030D-6E8A-4147-A177-3AD203B41FA5}">
                      <a16:colId xmlns:a16="http://schemas.microsoft.com/office/drawing/2014/main" val="1449739805"/>
                    </a:ext>
                  </a:extLst>
                </a:gridCol>
              </a:tblGrid>
              <a:tr h="401034">
                <a:tc rowSpan="2">
                  <a:txBody>
                    <a:bodyPr/>
                    <a:lstStyle/>
                    <a:p>
                      <a:r>
                        <a:rPr lang="en-GB" dirty="0" err="1"/>
                        <a:t>PaMs</a:t>
                      </a:r>
                      <a:r>
                        <a:rPr lang="en-GB" dirty="0"/>
                        <a:t> /A (Annexes), T (Tables)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GB" dirty="0"/>
                        <a:t>Annex (</a:t>
                      </a:r>
                      <a:r>
                        <a:rPr lang="en-GB" dirty="0" err="1"/>
                        <a:t>PaMs</a:t>
                      </a:r>
                      <a:r>
                        <a:rPr lang="en-GB" dirty="0"/>
                        <a:t> attributes and progress)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81882"/>
                  </a:ext>
                </a:extLst>
              </a:tr>
              <a:tr h="550116">
                <a:tc vMerge="1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 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</a:t>
                      </a:r>
                    </a:p>
                    <a:p>
                      <a:r>
                        <a:rPr lang="en-GB"/>
                        <a:t>T2&amp;3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T2&amp;4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T3&amp;5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252908"/>
                  </a:ext>
                </a:extLst>
              </a:tr>
              <a:tr h="464270">
                <a:tc>
                  <a:txBody>
                    <a:bodyPr/>
                    <a:lstStyle/>
                    <a:p>
                      <a:r>
                        <a:rPr lang="en-GB" dirty="0"/>
                        <a:t>Decarbonisation - GHG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460411"/>
                  </a:ext>
                </a:extLst>
              </a:tr>
              <a:tr h="445656">
                <a:tc>
                  <a:txBody>
                    <a:bodyPr/>
                    <a:lstStyle/>
                    <a:p>
                      <a:r>
                        <a:rPr lang="en-GB"/>
                        <a:t>Decarbonisation - 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800"/>
                  </a:ext>
                </a:extLst>
              </a:tr>
              <a:tr h="445656">
                <a:tc>
                  <a:txBody>
                    <a:bodyPr/>
                    <a:lstStyle/>
                    <a:p>
                      <a:r>
                        <a:rPr lang="en-GB"/>
                        <a:t>Energy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48866"/>
                  </a:ext>
                </a:extLst>
              </a:tr>
              <a:tr h="445656">
                <a:tc>
                  <a:txBody>
                    <a:bodyPr/>
                    <a:lstStyle/>
                    <a:p>
                      <a:r>
                        <a:rPr lang="en-US" dirty="0"/>
                        <a:t>Energy Efficiency (new policies and measures)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68669"/>
                  </a:ext>
                </a:extLst>
              </a:tr>
              <a:tr h="445656">
                <a:tc>
                  <a:txBody>
                    <a:bodyPr/>
                    <a:lstStyle/>
                    <a:p>
                      <a:r>
                        <a:rPr lang="en-US"/>
                        <a:t>Energy Efficiency (energy savings EED Art 7)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73322"/>
                  </a:ext>
                </a:extLst>
              </a:tr>
              <a:tr h="445656">
                <a:tc>
                  <a:txBody>
                    <a:bodyPr/>
                    <a:lstStyle/>
                    <a:p>
                      <a:r>
                        <a:rPr lang="en-US"/>
                        <a:t>Energy Efficiency (public buildings EED Art 5)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07576"/>
                  </a:ext>
                </a:extLst>
              </a:tr>
              <a:tr h="445656">
                <a:tc>
                  <a:txBody>
                    <a:bodyPr/>
                    <a:lstStyle/>
                    <a:p>
                      <a:r>
                        <a:rPr lang="en-GB"/>
                        <a:t>Energy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869512"/>
                  </a:ext>
                </a:extLst>
              </a:tr>
              <a:tr h="445656">
                <a:tc>
                  <a:txBody>
                    <a:bodyPr/>
                    <a:lstStyle/>
                    <a:p>
                      <a:r>
                        <a:rPr lang="en-GB"/>
                        <a:t>Internal Energy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365917"/>
                  </a:ext>
                </a:extLst>
              </a:tr>
              <a:tr h="445656">
                <a:tc>
                  <a:txBody>
                    <a:bodyPr/>
                    <a:lstStyle/>
                    <a:p>
                      <a:r>
                        <a:rPr lang="en-GB"/>
                        <a:t>Research, Innovation and Competitiveness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8613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7BF5E9-881D-AF6E-2D9B-9D47B656BB42}"/>
              </a:ext>
            </a:extLst>
          </p:cNvPr>
          <p:cNvSpPr txBox="1"/>
          <p:nvPr/>
        </p:nvSpPr>
        <p:spPr>
          <a:xfrm>
            <a:off x="5933348" y="6419095"/>
            <a:ext cx="5940601" cy="36933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A – Annex to (EU) 2020/1208 </a:t>
            </a:r>
            <a:r>
              <a:rPr lang="en-GB" dirty="0"/>
              <a:t>; </a:t>
            </a:r>
            <a:r>
              <a:rPr lang="en-GB" b="1" dirty="0">
                <a:solidFill>
                  <a:schemeClr val="bg1"/>
                </a:solidFill>
              </a:rPr>
              <a:t>A – Annex to (EU) 2022/2299 </a:t>
            </a:r>
          </a:p>
        </p:txBody>
      </p:sp>
    </p:spTree>
    <p:extLst>
      <p:ext uri="{BB962C8B-B14F-4D97-AF65-F5344CB8AC3E}">
        <p14:creationId xmlns:p14="http://schemas.microsoft.com/office/powerpoint/2010/main" val="100839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EA2C7C-A313-B6DF-6859-9A8B561E5859}"/>
              </a:ext>
            </a:extLst>
          </p:cNvPr>
          <p:cNvSpPr txBox="1"/>
          <p:nvPr/>
        </p:nvSpPr>
        <p:spPr>
          <a:xfrm>
            <a:off x="103747" y="88288"/>
            <a:ext cx="11634597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rgbClr val="007B6C"/>
                </a:solidFill>
                <a:latin typeface="Calibri Light"/>
                <a:ea typeface="+mj-ea"/>
                <a:cs typeface="Calibri"/>
              </a:defRPr>
            </a:lvl1pPr>
          </a:lstStyle>
          <a:p>
            <a:r>
              <a:rPr lang="en-GB" dirty="0"/>
              <a:t>Integrated </a:t>
            </a:r>
            <a:r>
              <a:rPr lang="en-GB" dirty="0" err="1"/>
              <a:t>PaM</a:t>
            </a:r>
            <a:r>
              <a:rPr lang="en-GB" dirty="0"/>
              <a:t> reporting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BBAAC60-0483-0307-6DDE-69CBD8FC4D71}"/>
              </a:ext>
            </a:extLst>
          </p:cNvPr>
          <p:cNvGraphicFramePr>
            <a:graphicFrameLocks noGrp="1"/>
          </p:cNvGraphicFramePr>
          <p:nvPr/>
        </p:nvGraphicFramePr>
        <p:xfrm>
          <a:off x="332555" y="974524"/>
          <a:ext cx="11630194" cy="5795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61396">
                  <a:extLst>
                    <a:ext uri="{9D8B030D-6E8A-4147-A177-3AD203B41FA5}">
                      <a16:colId xmlns:a16="http://schemas.microsoft.com/office/drawing/2014/main" val="2372625692"/>
                    </a:ext>
                  </a:extLst>
                </a:gridCol>
                <a:gridCol w="795717">
                  <a:extLst>
                    <a:ext uri="{9D8B030D-6E8A-4147-A177-3AD203B41FA5}">
                      <a16:colId xmlns:a16="http://schemas.microsoft.com/office/drawing/2014/main" val="513529540"/>
                    </a:ext>
                  </a:extLst>
                </a:gridCol>
                <a:gridCol w="836392">
                  <a:extLst>
                    <a:ext uri="{9D8B030D-6E8A-4147-A177-3AD203B41FA5}">
                      <a16:colId xmlns:a16="http://schemas.microsoft.com/office/drawing/2014/main" val="2771669829"/>
                    </a:ext>
                  </a:extLst>
                </a:gridCol>
                <a:gridCol w="701458">
                  <a:extLst>
                    <a:ext uri="{9D8B030D-6E8A-4147-A177-3AD203B41FA5}">
                      <a16:colId xmlns:a16="http://schemas.microsoft.com/office/drawing/2014/main" val="4031896547"/>
                    </a:ext>
                  </a:extLst>
                </a:gridCol>
                <a:gridCol w="713983">
                  <a:extLst>
                    <a:ext uri="{9D8B030D-6E8A-4147-A177-3AD203B41FA5}">
                      <a16:colId xmlns:a16="http://schemas.microsoft.com/office/drawing/2014/main" val="197875772"/>
                    </a:ext>
                  </a:extLst>
                </a:gridCol>
                <a:gridCol w="749814">
                  <a:extLst>
                    <a:ext uri="{9D8B030D-6E8A-4147-A177-3AD203B41FA5}">
                      <a16:colId xmlns:a16="http://schemas.microsoft.com/office/drawing/2014/main" val="2094986934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941010918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005774280"/>
                    </a:ext>
                  </a:extLst>
                </a:gridCol>
                <a:gridCol w="726509">
                  <a:extLst>
                    <a:ext uri="{9D8B030D-6E8A-4147-A177-3AD203B41FA5}">
                      <a16:colId xmlns:a16="http://schemas.microsoft.com/office/drawing/2014/main" val="3330712312"/>
                    </a:ext>
                  </a:extLst>
                </a:gridCol>
                <a:gridCol w="663097">
                  <a:extLst>
                    <a:ext uri="{9D8B030D-6E8A-4147-A177-3AD203B41FA5}">
                      <a16:colId xmlns:a16="http://schemas.microsoft.com/office/drawing/2014/main" val="193004924"/>
                    </a:ext>
                  </a:extLst>
                </a:gridCol>
                <a:gridCol w="671518">
                  <a:extLst>
                    <a:ext uri="{9D8B030D-6E8A-4147-A177-3AD203B41FA5}">
                      <a16:colId xmlns:a16="http://schemas.microsoft.com/office/drawing/2014/main" val="1449739805"/>
                    </a:ext>
                  </a:extLst>
                </a:gridCol>
              </a:tblGrid>
              <a:tr h="466617">
                <a:tc rowSpan="2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GB"/>
                        <a:t>Annex (PaMs attributes and progress)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81882"/>
                  </a:ext>
                </a:extLst>
              </a:tr>
              <a:tr h="636321">
                <a:tc vMerge="1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 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</a:t>
                      </a:r>
                    </a:p>
                    <a:p>
                      <a:r>
                        <a:rPr lang="en-GB"/>
                        <a:t>T2&amp;3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T2&amp;4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T3&amp;5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252908"/>
                  </a:ext>
                </a:extLst>
              </a:tr>
              <a:tr h="540195">
                <a:tc>
                  <a:txBody>
                    <a:bodyPr/>
                    <a:lstStyle/>
                    <a:p>
                      <a:r>
                        <a:rPr lang="en-GB"/>
                        <a:t>Decarbonisation - GHG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460411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Decarbonisation - 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800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4886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(new policies and measures)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68669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(energy savings EED Art 7)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7332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(public buildings EED Art 5)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0757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86951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Internal Energy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365917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Research, Innovation and Competitiveness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8613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124F510-3C2A-0559-9660-BEDC56732CC1}"/>
              </a:ext>
            </a:extLst>
          </p:cNvPr>
          <p:cNvSpPr txBox="1"/>
          <p:nvPr/>
        </p:nvSpPr>
        <p:spPr>
          <a:xfrm>
            <a:off x="6147652" y="196009"/>
            <a:ext cx="5940601" cy="36933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A – Annex to (EU) 2020/1208 </a:t>
            </a:r>
            <a:r>
              <a:rPr lang="en-GB"/>
              <a:t>; </a:t>
            </a:r>
            <a:r>
              <a:rPr lang="en-GB" b="1">
                <a:solidFill>
                  <a:schemeClr val="bg1"/>
                </a:solidFill>
              </a:rPr>
              <a:t>A – Annex to (EU) 2022/2299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07E6EE-0E24-7CFB-D41B-C40F105B3615}"/>
              </a:ext>
            </a:extLst>
          </p:cNvPr>
          <p:cNvGrpSpPr/>
          <p:nvPr/>
        </p:nvGrpSpPr>
        <p:grpSpPr>
          <a:xfrm>
            <a:off x="4881353" y="974524"/>
            <a:ext cx="3785569" cy="5795188"/>
            <a:chOff x="4881353" y="974524"/>
            <a:chExt cx="3785569" cy="57951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C5C8619-2E28-DC17-6C90-783CBBAB9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1174" y="1082246"/>
              <a:ext cx="1342978" cy="2442832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5499B24-C78E-BBAD-6452-03ADB6A5FEB1}"/>
                </a:ext>
              </a:extLst>
            </p:cNvPr>
            <p:cNvSpPr/>
            <p:nvPr/>
          </p:nvSpPr>
          <p:spPr>
            <a:xfrm>
              <a:off x="4881353" y="974524"/>
              <a:ext cx="3785569" cy="57951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</p:spTree>
    <p:extLst>
      <p:ext uri="{BB962C8B-B14F-4D97-AF65-F5344CB8AC3E}">
        <p14:creationId xmlns:p14="http://schemas.microsoft.com/office/powerpoint/2010/main" val="1646024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BBAAC60-0483-0307-6DDE-69CBD8FC4D71}"/>
              </a:ext>
            </a:extLst>
          </p:cNvPr>
          <p:cNvGraphicFramePr>
            <a:graphicFrameLocks noGrp="1"/>
          </p:cNvGraphicFramePr>
          <p:nvPr/>
        </p:nvGraphicFramePr>
        <p:xfrm>
          <a:off x="332555" y="974524"/>
          <a:ext cx="11630194" cy="5795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61396">
                  <a:extLst>
                    <a:ext uri="{9D8B030D-6E8A-4147-A177-3AD203B41FA5}">
                      <a16:colId xmlns:a16="http://schemas.microsoft.com/office/drawing/2014/main" val="2372625692"/>
                    </a:ext>
                  </a:extLst>
                </a:gridCol>
                <a:gridCol w="795717">
                  <a:extLst>
                    <a:ext uri="{9D8B030D-6E8A-4147-A177-3AD203B41FA5}">
                      <a16:colId xmlns:a16="http://schemas.microsoft.com/office/drawing/2014/main" val="513529540"/>
                    </a:ext>
                  </a:extLst>
                </a:gridCol>
                <a:gridCol w="836392">
                  <a:extLst>
                    <a:ext uri="{9D8B030D-6E8A-4147-A177-3AD203B41FA5}">
                      <a16:colId xmlns:a16="http://schemas.microsoft.com/office/drawing/2014/main" val="2771669829"/>
                    </a:ext>
                  </a:extLst>
                </a:gridCol>
                <a:gridCol w="701458">
                  <a:extLst>
                    <a:ext uri="{9D8B030D-6E8A-4147-A177-3AD203B41FA5}">
                      <a16:colId xmlns:a16="http://schemas.microsoft.com/office/drawing/2014/main" val="4031896547"/>
                    </a:ext>
                  </a:extLst>
                </a:gridCol>
                <a:gridCol w="713983">
                  <a:extLst>
                    <a:ext uri="{9D8B030D-6E8A-4147-A177-3AD203B41FA5}">
                      <a16:colId xmlns:a16="http://schemas.microsoft.com/office/drawing/2014/main" val="197875772"/>
                    </a:ext>
                  </a:extLst>
                </a:gridCol>
                <a:gridCol w="749814">
                  <a:extLst>
                    <a:ext uri="{9D8B030D-6E8A-4147-A177-3AD203B41FA5}">
                      <a16:colId xmlns:a16="http://schemas.microsoft.com/office/drawing/2014/main" val="2094986934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941010918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005774280"/>
                    </a:ext>
                  </a:extLst>
                </a:gridCol>
                <a:gridCol w="726509">
                  <a:extLst>
                    <a:ext uri="{9D8B030D-6E8A-4147-A177-3AD203B41FA5}">
                      <a16:colId xmlns:a16="http://schemas.microsoft.com/office/drawing/2014/main" val="3330712312"/>
                    </a:ext>
                  </a:extLst>
                </a:gridCol>
                <a:gridCol w="663097">
                  <a:extLst>
                    <a:ext uri="{9D8B030D-6E8A-4147-A177-3AD203B41FA5}">
                      <a16:colId xmlns:a16="http://schemas.microsoft.com/office/drawing/2014/main" val="193004924"/>
                    </a:ext>
                  </a:extLst>
                </a:gridCol>
                <a:gridCol w="671518">
                  <a:extLst>
                    <a:ext uri="{9D8B030D-6E8A-4147-A177-3AD203B41FA5}">
                      <a16:colId xmlns:a16="http://schemas.microsoft.com/office/drawing/2014/main" val="1449739805"/>
                    </a:ext>
                  </a:extLst>
                </a:gridCol>
              </a:tblGrid>
              <a:tr h="466617">
                <a:tc rowSpan="2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GB"/>
                        <a:t>Annex (PaMs attributes and progress)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81882"/>
                  </a:ext>
                </a:extLst>
              </a:tr>
              <a:tr h="636321">
                <a:tc vMerge="1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 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</a:t>
                      </a:r>
                    </a:p>
                    <a:p>
                      <a:r>
                        <a:rPr lang="en-GB"/>
                        <a:t>T2&amp;3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T2&amp;4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T3&amp;5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252908"/>
                  </a:ext>
                </a:extLst>
              </a:tr>
              <a:tr h="540195">
                <a:tc>
                  <a:txBody>
                    <a:bodyPr/>
                    <a:lstStyle/>
                    <a:p>
                      <a:r>
                        <a:rPr lang="en-GB"/>
                        <a:t>Decarbonisation - GHG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460411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Decarbonisation - 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800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4886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(new policies and measures)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68669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(energy savings EED Art 7)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7332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(public buildings EED Art 5)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0757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86951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Internal Energy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365917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Research, Innovation and Competitiveness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8613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124F510-3C2A-0559-9660-BEDC56732CC1}"/>
              </a:ext>
            </a:extLst>
          </p:cNvPr>
          <p:cNvSpPr txBox="1"/>
          <p:nvPr/>
        </p:nvSpPr>
        <p:spPr>
          <a:xfrm>
            <a:off x="6147652" y="196009"/>
            <a:ext cx="5940601" cy="36933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A – Annex to (EU) 2020/1208 </a:t>
            </a:r>
            <a:r>
              <a:rPr lang="en-GB"/>
              <a:t>; </a:t>
            </a:r>
            <a:r>
              <a:rPr lang="en-GB" b="1">
                <a:solidFill>
                  <a:schemeClr val="bg1"/>
                </a:solidFill>
              </a:rPr>
              <a:t>A – Annex to (EU) 2022/2299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CEE2BD-3F22-D18F-8D82-83180AD58ABA}"/>
              </a:ext>
            </a:extLst>
          </p:cNvPr>
          <p:cNvGrpSpPr/>
          <p:nvPr/>
        </p:nvGrpSpPr>
        <p:grpSpPr>
          <a:xfrm>
            <a:off x="8615984" y="946630"/>
            <a:ext cx="781879" cy="5823082"/>
            <a:chOff x="8615984" y="946630"/>
            <a:chExt cx="781879" cy="58230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5499B24-C78E-BBAD-6452-03ADB6A5FEB1}"/>
                </a:ext>
              </a:extLst>
            </p:cNvPr>
            <p:cNvSpPr/>
            <p:nvPr/>
          </p:nvSpPr>
          <p:spPr>
            <a:xfrm>
              <a:off x="8615984" y="974524"/>
              <a:ext cx="781879" cy="57951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0B3C5FE-EE53-03AA-3AF7-52A5B4B69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27086" y="946630"/>
              <a:ext cx="770777" cy="1225337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696947F-A8BD-76AF-FD7B-E15ADACF3EF2}"/>
              </a:ext>
            </a:extLst>
          </p:cNvPr>
          <p:cNvSpPr txBox="1"/>
          <p:nvPr/>
        </p:nvSpPr>
        <p:spPr>
          <a:xfrm>
            <a:off x="103747" y="88288"/>
            <a:ext cx="11634597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rgbClr val="007B6C"/>
                </a:solidFill>
                <a:latin typeface="Calibri Light"/>
                <a:ea typeface="+mj-ea"/>
                <a:cs typeface="Calibri"/>
              </a:defRPr>
            </a:lvl1pPr>
          </a:lstStyle>
          <a:p>
            <a:r>
              <a:rPr lang="en-GB" dirty="0"/>
              <a:t>Integrated </a:t>
            </a:r>
            <a:r>
              <a:rPr lang="en-GB" dirty="0" err="1"/>
              <a:t>PaM</a:t>
            </a:r>
            <a:r>
              <a:rPr lang="en-GB" dirty="0"/>
              <a:t> reporting</a:t>
            </a:r>
          </a:p>
        </p:txBody>
      </p:sp>
    </p:spTree>
    <p:extLst>
      <p:ext uri="{BB962C8B-B14F-4D97-AF65-F5344CB8AC3E}">
        <p14:creationId xmlns:p14="http://schemas.microsoft.com/office/powerpoint/2010/main" val="2205038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BBAAC60-0483-0307-6DDE-69CBD8FC4D71}"/>
              </a:ext>
            </a:extLst>
          </p:cNvPr>
          <p:cNvGraphicFramePr>
            <a:graphicFrameLocks noGrp="1"/>
          </p:cNvGraphicFramePr>
          <p:nvPr/>
        </p:nvGraphicFramePr>
        <p:xfrm>
          <a:off x="332555" y="974524"/>
          <a:ext cx="11630194" cy="5795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61396">
                  <a:extLst>
                    <a:ext uri="{9D8B030D-6E8A-4147-A177-3AD203B41FA5}">
                      <a16:colId xmlns:a16="http://schemas.microsoft.com/office/drawing/2014/main" val="2372625692"/>
                    </a:ext>
                  </a:extLst>
                </a:gridCol>
                <a:gridCol w="795717">
                  <a:extLst>
                    <a:ext uri="{9D8B030D-6E8A-4147-A177-3AD203B41FA5}">
                      <a16:colId xmlns:a16="http://schemas.microsoft.com/office/drawing/2014/main" val="513529540"/>
                    </a:ext>
                  </a:extLst>
                </a:gridCol>
                <a:gridCol w="836392">
                  <a:extLst>
                    <a:ext uri="{9D8B030D-6E8A-4147-A177-3AD203B41FA5}">
                      <a16:colId xmlns:a16="http://schemas.microsoft.com/office/drawing/2014/main" val="2771669829"/>
                    </a:ext>
                  </a:extLst>
                </a:gridCol>
                <a:gridCol w="701458">
                  <a:extLst>
                    <a:ext uri="{9D8B030D-6E8A-4147-A177-3AD203B41FA5}">
                      <a16:colId xmlns:a16="http://schemas.microsoft.com/office/drawing/2014/main" val="4031896547"/>
                    </a:ext>
                  </a:extLst>
                </a:gridCol>
                <a:gridCol w="713983">
                  <a:extLst>
                    <a:ext uri="{9D8B030D-6E8A-4147-A177-3AD203B41FA5}">
                      <a16:colId xmlns:a16="http://schemas.microsoft.com/office/drawing/2014/main" val="197875772"/>
                    </a:ext>
                  </a:extLst>
                </a:gridCol>
                <a:gridCol w="749814">
                  <a:extLst>
                    <a:ext uri="{9D8B030D-6E8A-4147-A177-3AD203B41FA5}">
                      <a16:colId xmlns:a16="http://schemas.microsoft.com/office/drawing/2014/main" val="2094986934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941010918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005774280"/>
                    </a:ext>
                  </a:extLst>
                </a:gridCol>
                <a:gridCol w="726509">
                  <a:extLst>
                    <a:ext uri="{9D8B030D-6E8A-4147-A177-3AD203B41FA5}">
                      <a16:colId xmlns:a16="http://schemas.microsoft.com/office/drawing/2014/main" val="3330712312"/>
                    </a:ext>
                  </a:extLst>
                </a:gridCol>
                <a:gridCol w="663097">
                  <a:extLst>
                    <a:ext uri="{9D8B030D-6E8A-4147-A177-3AD203B41FA5}">
                      <a16:colId xmlns:a16="http://schemas.microsoft.com/office/drawing/2014/main" val="193004924"/>
                    </a:ext>
                  </a:extLst>
                </a:gridCol>
                <a:gridCol w="671518">
                  <a:extLst>
                    <a:ext uri="{9D8B030D-6E8A-4147-A177-3AD203B41FA5}">
                      <a16:colId xmlns:a16="http://schemas.microsoft.com/office/drawing/2014/main" val="1449739805"/>
                    </a:ext>
                  </a:extLst>
                </a:gridCol>
              </a:tblGrid>
              <a:tr h="466617">
                <a:tc rowSpan="2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GB"/>
                        <a:t>Annex (PaMs attributes and progress)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81882"/>
                  </a:ext>
                </a:extLst>
              </a:tr>
              <a:tr h="636321">
                <a:tc vMerge="1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 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</a:t>
                      </a:r>
                    </a:p>
                    <a:p>
                      <a:r>
                        <a:rPr lang="en-GB"/>
                        <a:t>T2&amp;3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T2&amp;4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T3&amp;5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252908"/>
                  </a:ext>
                </a:extLst>
              </a:tr>
              <a:tr h="540195">
                <a:tc>
                  <a:txBody>
                    <a:bodyPr/>
                    <a:lstStyle/>
                    <a:p>
                      <a:r>
                        <a:rPr lang="en-GB"/>
                        <a:t>Decarbonisation - GHG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460411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Decarbonisation - 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800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4886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(new policies and measures)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68669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(energy savings EED Art 7)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7332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(public buildings EED Art 5)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0757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86951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Internal Energy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365917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Research, Innovation and Competitiveness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8613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124F510-3C2A-0559-9660-BEDC56732CC1}"/>
              </a:ext>
            </a:extLst>
          </p:cNvPr>
          <p:cNvSpPr txBox="1"/>
          <p:nvPr/>
        </p:nvSpPr>
        <p:spPr>
          <a:xfrm>
            <a:off x="6147652" y="196009"/>
            <a:ext cx="5940601" cy="36933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A – Annex to (EU) 2020/1208 </a:t>
            </a:r>
            <a:r>
              <a:rPr lang="en-GB"/>
              <a:t>; </a:t>
            </a:r>
            <a:r>
              <a:rPr lang="en-GB" b="1">
                <a:solidFill>
                  <a:schemeClr val="bg1"/>
                </a:solidFill>
              </a:rPr>
              <a:t>A – Annex to (EU) 2022/2299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99B24-C78E-BBAD-6452-03ADB6A5FEB1}"/>
              </a:ext>
            </a:extLst>
          </p:cNvPr>
          <p:cNvSpPr/>
          <p:nvPr/>
        </p:nvSpPr>
        <p:spPr>
          <a:xfrm>
            <a:off x="9185828" y="974524"/>
            <a:ext cx="781879" cy="57951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96AFAA-2A0F-C053-3CC9-C2ED17AA3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828" y="974524"/>
            <a:ext cx="781879" cy="1136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34AB18-517D-8457-F0B6-86DAE7F65F5F}"/>
              </a:ext>
            </a:extLst>
          </p:cNvPr>
          <p:cNvSpPr txBox="1"/>
          <p:nvPr/>
        </p:nvSpPr>
        <p:spPr>
          <a:xfrm>
            <a:off x="103747" y="88288"/>
            <a:ext cx="11634597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rgbClr val="007B6C"/>
                </a:solidFill>
                <a:latin typeface="Calibri Light"/>
                <a:ea typeface="+mj-ea"/>
                <a:cs typeface="Calibri"/>
              </a:defRPr>
            </a:lvl1pPr>
          </a:lstStyle>
          <a:p>
            <a:r>
              <a:rPr lang="en-GB" dirty="0"/>
              <a:t>Integrated </a:t>
            </a:r>
            <a:r>
              <a:rPr lang="en-GB" dirty="0" err="1"/>
              <a:t>PaM</a:t>
            </a:r>
            <a:r>
              <a:rPr lang="en-GB" dirty="0"/>
              <a:t> reporting</a:t>
            </a:r>
          </a:p>
        </p:txBody>
      </p:sp>
    </p:spTree>
    <p:extLst>
      <p:ext uri="{BB962C8B-B14F-4D97-AF65-F5344CB8AC3E}">
        <p14:creationId xmlns:p14="http://schemas.microsoft.com/office/powerpoint/2010/main" val="1883322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BBAAC60-0483-0307-6DDE-69CBD8FC4D71}"/>
              </a:ext>
            </a:extLst>
          </p:cNvPr>
          <p:cNvGraphicFramePr>
            <a:graphicFrameLocks noGrp="1"/>
          </p:cNvGraphicFramePr>
          <p:nvPr/>
        </p:nvGraphicFramePr>
        <p:xfrm>
          <a:off x="332555" y="974524"/>
          <a:ext cx="11630194" cy="5795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61396">
                  <a:extLst>
                    <a:ext uri="{9D8B030D-6E8A-4147-A177-3AD203B41FA5}">
                      <a16:colId xmlns:a16="http://schemas.microsoft.com/office/drawing/2014/main" val="2372625692"/>
                    </a:ext>
                  </a:extLst>
                </a:gridCol>
                <a:gridCol w="795717">
                  <a:extLst>
                    <a:ext uri="{9D8B030D-6E8A-4147-A177-3AD203B41FA5}">
                      <a16:colId xmlns:a16="http://schemas.microsoft.com/office/drawing/2014/main" val="513529540"/>
                    </a:ext>
                  </a:extLst>
                </a:gridCol>
                <a:gridCol w="836392">
                  <a:extLst>
                    <a:ext uri="{9D8B030D-6E8A-4147-A177-3AD203B41FA5}">
                      <a16:colId xmlns:a16="http://schemas.microsoft.com/office/drawing/2014/main" val="2771669829"/>
                    </a:ext>
                  </a:extLst>
                </a:gridCol>
                <a:gridCol w="701458">
                  <a:extLst>
                    <a:ext uri="{9D8B030D-6E8A-4147-A177-3AD203B41FA5}">
                      <a16:colId xmlns:a16="http://schemas.microsoft.com/office/drawing/2014/main" val="4031896547"/>
                    </a:ext>
                  </a:extLst>
                </a:gridCol>
                <a:gridCol w="713983">
                  <a:extLst>
                    <a:ext uri="{9D8B030D-6E8A-4147-A177-3AD203B41FA5}">
                      <a16:colId xmlns:a16="http://schemas.microsoft.com/office/drawing/2014/main" val="197875772"/>
                    </a:ext>
                  </a:extLst>
                </a:gridCol>
                <a:gridCol w="749814">
                  <a:extLst>
                    <a:ext uri="{9D8B030D-6E8A-4147-A177-3AD203B41FA5}">
                      <a16:colId xmlns:a16="http://schemas.microsoft.com/office/drawing/2014/main" val="2094986934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941010918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005774280"/>
                    </a:ext>
                  </a:extLst>
                </a:gridCol>
                <a:gridCol w="726509">
                  <a:extLst>
                    <a:ext uri="{9D8B030D-6E8A-4147-A177-3AD203B41FA5}">
                      <a16:colId xmlns:a16="http://schemas.microsoft.com/office/drawing/2014/main" val="3330712312"/>
                    </a:ext>
                  </a:extLst>
                </a:gridCol>
                <a:gridCol w="663097">
                  <a:extLst>
                    <a:ext uri="{9D8B030D-6E8A-4147-A177-3AD203B41FA5}">
                      <a16:colId xmlns:a16="http://schemas.microsoft.com/office/drawing/2014/main" val="193004924"/>
                    </a:ext>
                  </a:extLst>
                </a:gridCol>
                <a:gridCol w="671518">
                  <a:extLst>
                    <a:ext uri="{9D8B030D-6E8A-4147-A177-3AD203B41FA5}">
                      <a16:colId xmlns:a16="http://schemas.microsoft.com/office/drawing/2014/main" val="1449739805"/>
                    </a:ext>
                  </a:extLst>
                </a:gridCol>
              </a:tblGrid>
              <a:tr h="466617">
                <a:tc rowSpan="2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GB"/>
                        <a:t>Annex (PaMs attributes and progress)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81882"/>
                  </a:ext>
                </a:extLst>
              </a:tr>
              <a:tr h="636321">
                <a:tc vMerge="1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 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</a:t>
                      </a:r>
                    </a:p>
                    <a:p>
                      <a:r>
                        <a:rPr lang="en-GB"/>
                        <a:t>T2&amp;3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T2&amp;4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T3&amp;5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252908"/>
                  </a:ext>
                </a:extLst>
              </a:tr>
              <a:tr h="540195">
                <a:tc>
                  <a:txBody>
                    <a:bodyPr/>
                    <a:lstStyle/>
                    <a:p>
                      <a:r>
                        <a:rPr lang="en-GB"/>
                        <a:t>Decarbonisation - GHG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460411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Decarbonisation - 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800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4886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(new policies and measures)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68669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(energy savings EED Art 7)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7332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(public buildings EED Art 5)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0757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86951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Internal Energy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365917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Research, Innovation and Competitiveness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8613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124F510-3C2A-0559-9660-BEDC56732CC1}"/>
              </a:ext>
            </a:extLst>
          </p:cNvPr>
          <p:cNvSpPr txBox="1"/>
          <p:nvPr/>
        </p:nvSpPr>
        <p:spPr>
          <a:xfrm>
            <a:off x="6147652" y="196009"/>
            <a:ext cx="5940601" cy="36933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A – Annex to (EU) 2020/1208 </a:t>
            </a:r>
            <a:r>
              <a:rPr lang="en-GB"/>
              <a:t>; </a:t>
            </a:r>
            <a:r>
              <a:rPr lang="en-GB" b="1">
                <a:solidFill>
                  <a:schemeClr val="bg1"/>
                </a:solidFill>
              </a:rPr>
              <a:t>A – Annex to (EU) 2022/2299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99B24-C78E-BBAD-6452-03ADB6A5FEB1}"/>
              </a:ext>
            </a:extLst>
          </p:cNvPr>
          <p:cNvSpPr/>
          <p:nvPr/>
        </p:nvSpPr>
        <p:spPr>
          <a:xfrm>
            <a:off x="9888193" y="974524"/>
            <a:ext cx="781879" cy="57951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DE26A-6091-C09C-A0F7-FF0DA3F6F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7539" y="996571"/>
            <a:ext cx="723185" cy="1053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94B644-4EB1-0BBD-F254-722633B868B6}"/>
              </a:ext>
            </a:extLst>
          </p:cNvPr>
          <p:cNvSpPr txBox="1"/>
          <p:nvPr/>
        </p:nvSpPr>
        <p:spPr>
          <a:xfrm>
            <a:off x="103747" y="88288"/>
            <a:ext cx="11634597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rgbClr val="007B6C"/>
                </a:solidFill>
                <a:latin typeface="Calibri Light"/>
                <a:ea typeface="+mj-ea"/>
                <a:cs typeface="Calibri"/>
              </a:defRPr>
            </a:lvl1pPr>
          </a:lstStyle>
          <a:p>
            <a:r>
              <a:rPr lang="en-GB" dirty="0"/>
              <a:t>Integrated </a:t>
            </a:r>
            <a:r>
              <a:rPr lang="en-GB" dirty="0" err="1"/>
              <a:t>PaM</a:t>
            </a:r>
            <a:r>
              <a:rPr lang="en-GB" dirty="0"/>
              <a:t> reporting</a:t>
            </a:r>
          </a:p>
        </p:txBody>
      </p:sp>
    </p:spTree>
    <p:extLst>
      <p:ext uri="{BB962C8B-B14F-4D97-AF65-F5344CB8AC3E}">
        <p14:creationId xmlns:p14="http://schemas.microsoft.com/office/powerpoint/2010/main" val="757901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BBAAC60-0483-0307-6DDE-69CBD8FC4D71}"/>
              </a:ext>
            </a:extLst>
          </p:cNvPr>
          <p:cNvGraphicFramePr>
            <a:graphicFrameLocks noGrp="1"/>
          </p:cNvGraphicFramePr>
          <p:nvPr/>
        </p:nvGraphicFramePr>
        <p:xfrm>
          <a:off x="332555" y="974524"/>
          <a:ext cx="11630194" cy="5795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61396">
                  <a:extLst>
                    <a:ext uri="{9D8B030D-6E8A-4147-A177-3AD203B41FA5}">
                      <a16:colId xmlns:a16="http://schemas.microsoft.com/office/drawing/2014/main" val="2372625692"/>
                    </a:ext>
                  </a:extLst>
                </a:gridCol>
                <a:gridCol w="795717">
                  <a:extLst>
                    <a:ext uri="{9D8B030D-6E8A-4147-A177-3AD203B41FA5}">
                      <a16:colId xmlns:a16="http://schemas.microsoft.com/office/drawing/2014/main" val="513529540"/>
                    </a:ext>
                  </a:extLst>
                </a:gridCol>
                <a:gridCol w="836392">
                  <a:extLst>
                    <a:ext uri="{9D8B030D-6E8A-4147-A177-3AD203B41FA5}">
                      <a16:colId xmlns:a16="http://schemas.microsoft.com/office/drawing/2014/main" val="2771669829"/>
                    </a:ext>
                  </a:extLst>
                </a:gridCol>
                <a:gridCol w="701458">
                  <a:extLst>
                    <a:ext uri="{9D8B030D-6E8A-4147-A177-3AD203B41FA5}">
                      <a16:colId xmlns:a16="http://schemas.microsoft.com/office/drawing/2014/main" val="4031896547"/>
                    </a:ext>
                  </a:extLst>
                </a:gridCol>
                <a:gridCol w="713983">
                  <a:extLst>
                    <a:ext uri="{9D8B030D-6E8A-4147-A177-3AD203B41FA5}">
                      <a16:colId xmlns:a16="http://schemas.microsoft.com/office/drawing/2014/main" val="197875772"/>
                    </a:ext>
                  </a:extLst>
                </a:gridCol>
                <a:gridCol w="749814">
                  <a:extLst>
                    <a:ext uri="{9D8B030D-6E8A-4147-A177-3AD203B41FA5}">
                      <a16:colId xmlns:a16="http://schemas.microsoft.com/office/drawing/2014/main" val="2094986934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941010918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005774280"/>
                    </a:ext>
                  </a:extLst>
                </a:gridCol>
                <a:gridCol w="726509">
                  <a:extLst>
                    <a:ext uri="{9D8B030D-6E8A-4147-A177-3AD203B41FA5}">
                      <a16:colId xmlns:a16="http://schemas.microsoft.com/office/drawing/2014/main" val="3330712312"/>
                    </a:ext>
                  </a:extLst>
                </a:gridCol>
                <a:gridCol w="663097">
                  <a:extLst>
                    <a:ext uri="{9D8B030D-6E8A-4147-A177-3AD203B41FA5}">
                      <a16:colId xmlns:a16="http://schemas.microsoft.com/office/drawing/2014/main" val="193004924"/>
                    </a:ext>
                  </a:extLst>
                </a:gridCol>
                <a:gridCol w="671518">
                  <a:extLst>
                    <a:ext uri="{9D8B030D-6E8A-4147-A177-3AD203B41FA5}">
                      <a16:colId xmlns:a16="http://schemas.microsoft.com/office/drawing/2014/main" val="1449739805"/>
                    </a:ext>
                  </a:extLst>
                </a:gridCol>
              </a:tblGrid>
              <a:tr h="466617">
                <a:tc rowSpan="2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GB"/>
                        <a:t>Annex (PaMs attributes and progress)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81882"/>
                  </a:ext>
                </a:extLst>
              </a:tr>
              <a:tr h="636321">
                <a:tc vMerge="1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 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</a:t>
                      </a:r>
                    </a:p>
                    <a:p>
                      <a:r>
                        <a:rPr lang="en-GB"/>
                        <a:t>T2&amp;3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T2&amp;4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T3&amp;5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252908"/>
                  </a:ext>
                </a:extLst>
              </a:tr>
              <a:tr h="540195">
                <a:tc>
                  <a:txBody>
                    <a:bodyPr/>
                    <a:lstStyle/>
                    <a:p>
                      <a:r>
                        <a:rPr lang="en-GB"/>
                        <a:t>Decarbonisation - GHG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460411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Decarbonisation - 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800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4886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(new policies and measures)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68669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(energy savings EED Art 7)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7332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(public buildings EED Art 5)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0757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86951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Internal Energy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365917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Research, Innovation and Competitiveness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8613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124F510-3C2A-0559-9660-BEDC56732CC1}"/>
              </a:ext>
            </a:extLst>
          </p:cNvPr>
          <p:cNvSpPr txBox="1"/>
          <p:nvPr/>
        </p:nvSpPr>
        <p:spPr>
          <a:xfrm>
            <a:off x="6147652" y="196009"/>
            <a:ext cx="5940601" cy="36933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A – Annex to (EU) 2020/1208 </a:t>
            </a:r>
            <a:r>
              <a:rPr lang="en-GB"/>
              <a:t>; </a:t>
            </a:r>
            <a:r>
              <a:rPr lang="en-GB" b="1">
                <a:solidFill>
                  <a:schemeClr val="bg1"/>
                </a:solidFill>
              </a:rPr>
              <a:t>A – Annex to (EU) 2022/2299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99B24-C78E-BBAD-6452-03ADB6A5FEB1}"/>
              </a:ext>
            </a:extLst>
          </p:cNvPr>
          <p:cNvSpPr/>
          <p:nvPr/>
        </p:nvSpPr>
        <p:spPr>
          <a:xfrm>
            <a:off x="10577306" y="887170"/>
            <a:ext cx="781879" cy="57951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E907B3-82F6-DE82-7064-62B26FCAC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359" y="930310"/>
            <a:ext cx="711772" cy="10398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AFAEBB-08FB-1645-40E3-88FE2673212A}"/>
              </a:ext>
            </a:extLst>
          </p:cNvPr>
          <p:cNvSpPr txBox="1"/>
          <p:nvPr/>
        </p:nvSpPr>
        <p:spPr>
          <a:xfrm>
            <a:off x="103747" y="88288"/>
            <a:ext cx="11634597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rgbClr val="007B6C"/>
                </a:solidFill>
                <a:latin typeface="Calibri Light"/>
                <a:ea typeface="+mj-ea"/>
                <a:cs typeface="Calibri"/>
              </a:defRPr>
            </a:lvl1pPr>
          </a:lstStyle>
          <a:p>
            <a:r>
              <a:rPr lang="en-GB" dirty="0"/>
              <a:t>Integrated </a:t>
            </a:r>
            <a:r>
              <a:rPr lang="en-GB" dirty="0" err="1"/>
              <a:t>PaM</a:t>
            </a:r>
            <a:r>
              <a:rPr lang="en-GB" dirty="0"/>
              <a:t> reporting</a:t>
            </a:r>
          </a:p>
        </p:txBody>
      </p:sp>
    </p:spTree>
    <p:extLst>
      <p:ext uri="{BB962C8B-B14F-4D97-AF65-F5344CB8AC3E}">
        <p14:creationId xmlns:p14="http://schemas.microsoft.com/office/powerpoint/2010/main" val="187593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BBAAC60-0483-0307-6DDE-69CBD8FC4D71}"/>
              </a:ext>
            </a:extLst>
          </p:cNvPr>
          <p:cNvGraphicFramePr>
            <a:graphicFrameLocks noGrp="1"/>
          </p:cNvGraphicFramePr>
          <p:nvPr/>
        </p:nvGraphicFramePr>
        <p:xfrm>
          <a:off x="332555" y="974524"/>
          <a:ext cx="11630194" cy="5795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61396">
                  <a:extLst>
                    <a:ext uri="{9D8B030D-6E8A-4147-A177-3AD203B41FA5}">
                      <a16:colId xmlns:a16="http://schemas.microsoft.com/office/drawing/2014/main" val="2372625692"/>
                    </a:ext>
                  </a:extLst>
                </a:gridCol>
                <a:gridCol w="795717">
                  <a:extLst>
                    <a:ext uri="{9D8B030D-6E8A-4147-A177-3AD203B41FA5}">
                      <a16:colId xmlns:a16="http://schemas.microsoft.com/office/drawing/2014/main" val="513529540"/>
                    </a:ext>
                  </a:extLst>
                </a:gridCol>
                <a:gridCol w="836392">
                  <a:extLst>
                    <a:ext uri="{9D8B030D-6E8A-4147-A177-3AD203B41FA5}">
                      <a16:colId xmlns:a16="http://schemas.microsoft.com/office/drawing/2014/main" val="2771669829"/>
                    </a:ext>
                  </a:extLst>
                </a:gridCol>
                <a:gridCol w="701458">
                  <a:extLst>
                    <a:ext uri="{9D8B030D-6E8A-4147-A177-3AD203B41FA5}">
                      <a16:colId xmlns:a16="http://schemas.microsoft.com/office/drawing/2014/main" val="4031896547"/>
                    </a:ext>
                  </a:extLst>
                </a:gridCol>
                <a:gridCol w="713983">
                  <a:extLst>
                    <a:ext uri="{9D8B030D-6E8A-4147-A177-3AD203B41FA5}">
                      <a16:colId xmlns:a16="http://schemas.microsoft.com/office/drawing/2014/main" val="197875772"/>
                    </a:ext>
                  </a:extLst>
                </a:gridCol>
                <a:gridCol w="749814">
                  <a:extLst>
                    <a:ext uri="{9D8B030D-6E8A-4147-A177-3AD203B41FA5}">
                      <a16:colId xmlns:a16="http://schemas.microsoft.com/office/drawing/2014/main" val="2094986934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941010918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1005774280"/>
                    </a:ext>
                  </a:extLst>
                </a:gridCol>
                <a:gridCol w="726509">
                  <a:extLst>
                    <a:ext uri="{9D8B030D-6E8A-4147-A177-3AD203B41FA5}">
                      <a16:colId xmlns:a16="http://schemas.microsoft.com/office/drawing/2014/main" val="3330712312"/>
                    </a:ext>
                  </a:extLst>
                </a:gridCol>
                <a:gridCol w="663097">
                  <a:extLst>
                    <a:ext uri="{9D8B030D-6E8A-4147-A177-3AD203B41FA5}">
                      <a16:colId xmlns:a16="http://schemas.microsoft.com/office/drawing/2014/main" val="193004924"/>
                    </a:ext>
                  </a:extLst>
                </a:gridCol>
                <a:gridCol w="671518">
                  <a:extLst>
                    <a:ext uri="{9D8B030D-6E8A-4147-A177-3AD203B41FA5}">
                      <a16:colId xmlns:a16="http://schemas.microsoft.com/office/drawing/2014/main" val="1449739805"/>
                    </a:ext>
                  </a:extLst>
                </a:gridCol>
              </a:tblGrid>
              <a:tr h="466617">
                <a:tc rowSpan="2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GB"/>
                        <a:t>Annex (PaMs attributes and progress)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81882"/>
                  </a:ext>
                </a:extLst>
              </a:tr>
              <a:tr h="636321">
                <a:tc vMerge="1">
                  <a:txBody>
                    <a:bodyPr/>
                    <a:lstStyle/>
                    <a:p>
                      <a:r>
                        <a:rPr lang="en-GB"/>
                        <a:t>PaMs /A (Annexes), T (Tables)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 </a:t>
                      </a:r>
                    </a:p>
                    <a:p>
                      <a:r>
                        <a:rPr lang="en-GB"/>
                        <a:t>T1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rgbClr val="C00000"/>
                          </a:solidFill>
                        </a:rPr>
                        <a:t>A24</a:t>
                      </a:r>
                    </a:p>
                    <a:p>
                      <a:r>
                        <a:rPr lang="en-GB"/>
                        <a:t>T2&amp;3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T2&amp;4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A(9)</a:t>
                      </a:r>
                    </a:p>
                    <a:p>
                      <a:r>
                        <a:rPr lang="en-GB"/>
                        <a:t>T3&amp;5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GB"/>
                        <a:t>A14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252908"/>
                  </a:ext>
                </a:extLst>
              </a:tr>
              <a:tr h="540195">
                <a:tc>
                  <a:txBody>
                    <a:bodyPr/>
                    <a:lstStyle/>
                    <a:p>
                      <a:r>
                        <a:rPr lang="en-GB"/>
                        <a:t>Decarbonisation - GHG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460411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Decarbonisation - 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800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4886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 dirty="0"/>
                        <a:t>Energy Efficiency (new policies and measures)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68669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(energy savings EED Art 7)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7332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US"/>
                        <a:t>Energy Efficiency (public buildings EED Art 5)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07576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Energy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869512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Internal Energy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365917"/>
                  </a:ext>
                </a:extLst>
              </a:tr>
              <a:tr h="518537">
                <a:tc>
                  <a:txBody>
                    <a:bodyPr/>
                    <a:lstStyle/>
                    <a:p>
                      <a:r>
                        <a:rPr lang="en-GB"/>
                        <a:t>Research, Innovation and Competitiveness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8613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124F510-3C2A-0559-9660-BEDC56732CC1}"/>
              </a:ext>
            </a:extLst>
          </p:cNvPr>
          <p:cNvSpPr txBox="1"/>
          <p:nvPr/>
        </p:nvSpPr>
        <p:spPr>
          <a:xfrm>
            <a:off x="6147652" y="196009"/>
            <a:ext cx="5940601" cy="36933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A – Annex to (EU) 2020/1208 </a:t>
            </a:r>
            <a:r>
              <a:rPr lang="en-GB"/>
              <a:t>; </a:t>
            </a:r>
            <a:r>
              <a:rPr lang="en-GB" b="1">
                <a:solidFill>
                  <a:schemeClr val="bg1"/>
                </a:solidFill>
              </a:rPr>
              <a:t>A – Annex to (EU) 2022/2299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99B24-C78E-BBAD-6452-03ADB6A5FEB1}"/>
              </a:ext>
            </a:extLst>
          </p:cNvPr>
          <p:cNvSpPr/>
          <p:nvPr/>
        </p:nvSpPr>
        <p:spPr>
          <a:xfrm>
            <a:off x="11180870" y="974524"/>
            <a:ext cx="781879" cy="57951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DAF7AF-6D71-B7E4-2984-237D17E1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432" y="1017714"/>
            <a:ext cx="737317" cy="10398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1E5A40-19C7-3BE4-F4D7-8ABD7A7EB86E}"/>
              </a:ext>
            </a:extLst>
          </p:cNvPr>
          <p:cNvSpPr txBox="1"/>
          <p:nvPr/>
        </p:nvSpPr>
        <p:spPr>
          <a:xfrm>
            <a:off x="103747" y="88288"/>
            <a:ext cx="11634597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rgbClr val="007B6C"/>
                </a:solidFill>
                <a:latin typeface="Calibri Light"/>
                <a:ea typeface="+mj-ea"/>
                <a:cs typeface="Calibri"/>
              </a:defRPr>
            </a:lvl1pPr>
          </a:lstStyle>
          <a:p>
            <a:r>
              <a:rPr lang="en-GB" dirty="0"/>
              <a:t>Integrated </a:t>
            </a:r>
            <a:r>
              <a:rPr lang="en-GB" dirty="0" err="1"/>
              <a:t>PaM</a:t>
            </a:r>
            <a:r>
              <a:rPr lang="en-GB" dirty="0"/>
              <a:t> reporting</a:t>
            </a:r>
          </a:p>
        </p:txBody>
      </p:sp>
    </p:spTree>
    <p:extLst>
      <p:ext uri="{BB962C8B-B14F-4D97-AF65-F5344CB8AC3E}">
        <p14:creationId xmlns:p14="http://schemas.microsoft.com/office/powerpoint/2010/main" val="4039096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F266E3-98EA-20F7-5995-E6624846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E9F9-3AA5-33A7-4047-4BB024B2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06" y="0"/>
            <a:ext cx="5791200" cy="1325563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2023 Reporting, Tools and QC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25504AE-759B-D01F-02FD-ACC941CA3EB2}"/>
              </a:ext>
            </a:extLst>
          </p:cNvPr>
          <p:cNvSpPr txBox="1">
            <a:spLocks/>
          </p:cNvSpPr>
          <p:nvPr/>
        </p:nvSpPr>
        <p:spPr>
          <a:xfrm>
            <a:off x="428206" y="1325563"/>
            <a:ext cx="5972594" cy="4711902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DK"/>
            </a:defPPr>
            <a:lvl1pPr>
              <a:defRPr sz="2000">
                <a:solidFill>
                  <a:srgbClr val="000000"/>
                </a:solidFill>
                <a:latin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EC320-E605-EB97-4897-000ABF34E75A}"/>
              </a:ext>
            </a:extLst>
          </p:cNvPr>
          <p:cNvSpPr txBox="1"/>
          <p:nvPr/>
        </p:nvSpPr>
        <p:spPr>
          <a:xfrm>
            <a:off x="124886" y="1325563"/>
            <a:ext cx="60945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Pre-loading from 2023 reporting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Export Tool to UNFCCC</a:t>
            </a:r>
          </a:p>
          <a:p>
            <a:pPr>
              <a:spcAft>
                <a:spcPts val="600"/>
              </a:spcAft>
            </a:pPr>
            <a:endParaRPr lang="en-US" sz="2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Quality control process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Available and coming support</a:t>
            </a:r>
          </a:p>
        </p:txBody>
      </p:sp>
      <p:pic>
        <p:nvPicPr>
          <p:cNvPr id="7" name="Picture 6" descr="A green lights over a rocky beach&#10;&#10;Description automatically generated">
            <a:extLst>
              <a:ext uri="{FF2B5EF4-FFF2-40B4-BE49-F238E27FC236}">
                <a16:creationId xmlns:a16="http://schemas.microsoft.com/office/drawing/2014/main" id="{5D4F5669-614D-B9F5-F2D4-85183B675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518" y="1"/>
            <a:ext cx="4910296" cy="716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12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3578-AE0E-39AE-739E-63683F7B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Data Transfer icon SVG Vector &amp; PNG Free Download | UXWing">
            <a:extLst>
              <a:ext uri="{FF2B5EF4-FFF2-40B4-BE49-F238E27FC236}">
                <a16:creationId xmlns:a16="http://schemas.microsoft.com/office/drawing/2014/main" id="{8ECACCCB-ABE4-8902-15FF-A9B14B709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908" y="3120159"/>
            <a:ext cx="2562225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193E0-6205-E46F-3C6E-885728835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Pre-loading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0D84A7E-5C6A-13AC-84B1-963C88F7284B}"/>
              </a:ext>
            </a:extLst>
          </p:cNvPr>
          <p:cNvSpPr txBox="1">
            <a:spLocks/>
          </p:cNvSpPr>
          <p:nvPr/>
        </p:nvSpPr>
        <p:spPr>
          <a:xfrm>
            <a:off x="687867" y="1593920"/>
            <a:ext cx="7724613" cy="4711902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DK"/>
            </a:defPPr>
            <a:lvl1pPr>
              <a:defRPr sz="2000">
                <a:solidFill>
                  <a:srgbClr val="000000"/>
                </a:solidFill>
                <a:latin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400" dirty="0"/>
              <a:t>If you have submitted your 2023 GHG </a:t>
            </a:r>
            <a:r>
              <a:rPr lang="en-US" sz="2400" dirty="0" err="1"/>
              <a:t>PaMs</a:t>
            </a:r>
            <a:r>
              <a:rPr lang="en-US" sz="2400" dirty="0"/>
              <a:t> data, you will be able to pre-load your 2025 dataflow with the 2023 data. </a:t>
            </a:r>
          </a:p>
          <a:p>
            <a:pPr>
              <a:spcAft>
                <a:spcPts val="1800"/>
              </a:spcAft>
            </a:pPr>
            <a:r>
              <a:rPr lang="en-US" sz="2400" dirty="0"/>
              <a:t>The same applies in 2027.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ym typeface="Wingdings" panose="05000000000000000000" pitchFamily="2" charset="2"/>
              </a:rPr>
              <a:t> “Only” necessary to update on the GHG </a:t>
            </a:r>
            <a:r>
              <a:rPr lang="en-US" sz="2400" dirty="0" err="1">
                <a:sym typeface="Wingdings" panose="05000000000000000000" pitchFamily="2" charset="2"/>
              </a:rPr>
              <a:t>PaMs</a:t>
            </a:r>
            <a:r>
              <a:rPr lang="en-US" sz="2400" dirty="0">
                <a:sym typeface="Wingdings" panose="05000000000000000000" pitchFamily="2" charset="2"/>
              </a:rPr>
              <a:t>, and complement with the remaining dimensions.</a:t>
            </a:r>
            <a:endParaRPr lang="en-US" sz="2400" dirty="0"/>
          </a:p>
          <a:p>
            <a:pPr>
              <a:spcAft>
                <a:spcPts val="1800"/>
              </a:spcAft>
            </a:pPr>
            <a:r>
              <a:rPr lang="en-US" sz="2400" dirty="0"/>
              <a:t>This does not work on pre-filled dataflows – the data needs to be submitted for pre-loading to work.</a:t>
            </a:r>
          </a:p>
          <a:p>
            <a:pPr>
              <a:spcAft>
                <a:spcPts val="1800"/>
              </a:spcAft>
            </a:pPr>
            <a:r>
              <a:rPr lang="en-US" sz="2400" dirty="0"/>
              <a:t>2023 dataflow is still open. The EEA have supported to fill in details for 112 </a:t>
            </a:r>
            <a:r>
              <a:rPr lang="en-US" sz="2400" dirty="0" err="1"/>
              <a:t>PaMs</a:t>
            </a:r>
            <a:r>
              <a:rPr lang="en-US" sz="2400" dirty="0"/>
              <a:t> based on an earlier version of the NECP.</a:t>
            </a:r>
          </a:p>
        </p:txBody>
      </p:sp>
    </p:spTree>
    <p:extLst>
      <p:ext uri="{BB962C8B-B14F-4D97-AF65-F5344CB8AC3E}">
        <p14:creationId xmlns:p14="http://schemas.microsoft.com/office/powerpoint/2010/main" val="3203418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10173-DADD-36BE-0976-F0BFD61E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F3DD1D-66FF-777B-07A3-1F55982DF6FC}"/>
              </a:ext>
            </a:extLst>
          </p:cNvPr>
          <p:cNvSpPr/>
          <p:nvPr/>
        </p:nvSpPr>
        <p:spPr>
          <a:xfrm>
            <a:off x="3835762" y="1424729"/>
            <a:ext cx="7268845" cy="472281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D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38FFCB-7C2B-917E-5580-CBF1E6A44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3720" y="5797964"/>
            <a:ext cx="57708" cy="27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ヒラギノ角ゴ Pro W3"/>
                <a:cs typeface="Calibri" panose="020F0502020204030204" pitchFamily="34" charset="0"/>
              </a:rPr>
              <a:t> </a:t>
            </a:r>
            <a:endParaRPr kumimoji="0" lang="en-DK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ヒラギノ角ゴ Pro W3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CED663-CC21-0220-FC45-01601B068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983" y="3600889"/>
            <a:ext cx="1461024" cy="854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DK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ヒラギノ角ゴ Pro W3"/>
              <a:cs typeface="Calibri" panose="020F0502020204030204" pitchFamily="34" charset="0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44BEC1D3-0CC7-6BFA-66FB-53E24FC0ED83}"/>
              </a:ext>
            </a:extLst>
          </p:cNvPr>
          <p:cNvSpPr txBox="1">
            <a:spLocks/>
          </p:cNvSpPr>
          <p:nvPr/>
        </p:nvSpPr>
        <p:spPr>
          <a:xfrm>
            <a:off x="700355" y="110496"/>
            <a:ext cx="11195553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007B6C"/>
                </a:solidFill>
                <a:latin typeface="Calibri Light"/>
                <a:ea typeface="Calibri Light"/>
                <a:cs typeface="Calibri"/>
              </a:rPr>
              <a:t>Policies and Measures (</a:t>
            </a:r>
            <a:r>
              <a:rPr lang="en-US" sz="4000" dirty="0" err="1">
                <a:solidFill>
                  <a:srgbClr val="007B6C"/>
                </a:solidFill>
                <a:latin typeface="Calibri Light"/>
                <a:ea typeface="Calibri Light"/>
                <a:cs typeface="Calibri"/>
              </a:rPr>
              <a:t>PaMs</a:t>
            </a:r>
            <a:r>
              <a:rPr lang="en-US" sz="4000" dirty="0">
                <a:solidFill>
                  <a:srgbClr val="007B6C"/>
                </a:solidFill>
                <a:latin typeface="Calibri Light"/>
                <a:ea typeface="Calibri Light"/>
                <a:cs typeface="Calibri"/>
              </a:rPr>
              <a:t>) Export Tool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9E7CDEF-41E5-5AA9-8461-A361F4DCB4C5}"/>
              </a:ext>
            </a:extLst>
          </p:cNvPr>
          <p:cNvSpPr txBox="1">
            <a:spLocks/>
          </p:cNvSpPr>
          <p:nvPr/>
        </p:nvSpPr>
        <p:spPr>
          <a:xfrm>
            <a:off x="700355" y="1161885"/>
            <a:ext cx="7268845" cy="5585619"/>
          </a:xfrm>
          <a:prstGeom prst="rect">
            <a:avLst/>
          </a:prstGeom>
        </p:spPr>
        <p:txBody>
          <a:bodyPr/>
          <a:lstStyle>
            <a:defPPr>
              <a:defRPr lang="en-DK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solidFill>
                  <a:srgbClr val="004B7F"/>
                </a:solidFill>
                <a:latin typeface="Calibri" panose="020F0502020204030204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What is it ? </a:t>
            </a:r>
          </a:p>
          <a:p>
            <a:r>
              <a:rPr lang="en-US" b="0" dirty="0">
                <a:solidFill>
                  <a:schemeClr val="tx1"/>
                </a:solidFill>
              </a:rPr>
              <a:t>Exports Policies and Measures data from Reportnet 3 so it can be imported into UNFCCC Reporting Tool.</a:t>
            </a:r>
          </a:p>
          <a:p>
            <a:br>
              <a:rPr lang="en-US" b="0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When is this relevant?</a:t>
            </a:r>
          </a:p>
          <a:p>
            <a:r>
              <a:rPr lang="en-US" b="0" dirty="0">
                <a:solidFill>
                  <a:schemeClr val="tx1"/>
                </a:solidFill>
              </a:rPr>
              <a:t>When you have reported data on </a:t>
            </a:r>
            <a:r>
              <a:rPr lang="en-US" b="0" dirty="0" err="1">
                <a:solidFill>
                  <a:schemeClr val="tx1"/>
                </a:solidFill>
              </a:rPr>
              <a:t>PaMs</a:t>
            </a:r>
            <a:r>
              <a:rPr lang="en-US" b="0" dirty="0">
                <a:solidFill>
                  <a:schemeClr val="tx1"/>
                </a:solidFill>
              </a:rPr>
              <a:t> in Reportnet, this extracts the available relevant data for UNFCCC and fills this.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Note</a:t>
            </a:r>
          </a:p>
          <a:p>
            <a:r>
              <a:rPr lang="en-US" b="0" dirty="0">
                <a:solidFill>
                  <a:schemeClr val="tx1"/>
                </a:solidFill>
              </a:rPr>
              <a:t>Only </a:t>
            </a:r>
            <a:r>
              <a:rPr lang="en-US" b="0" u="sng" dirty="0">
                <a:solidFill>
                  <a:schemeClr val="tx1"/>
                </a:solidFill>
              </a:rPr>
              <a:t>Reported</a:t>
            </a:r>
            <a:r>
              <a:rPr lang="en-US" b="0" dirty="0">
                <a:solidFill>
                  <a:schemeClr val="tx1"/>
                </a:solidFill>
              </a:rPr>
              <a:t> data can be exported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The user need access to Reportnet3 &amp; UNFCCC Reporting Tool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For questions regarding this, please contact </a:t>
            </a:r>
            <a:r>
              <a:rPr lang="fr-FR" b="0" dirty="0">
                <a:solidFill>
                  <a:schemeClr val="tx1"/>
                </a:solidFill>
              </a:rPr>
              <a:t>Marc Ridler at Marc-Etienne.Ridler@eea.europa.eu.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8924C3-27F3-63BC-1BD8-1C5A0BCDA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837" y="2011319"/>
            <a:ext cx="1475924" cy="1477946"/>
          </a:xfrm>
          <a:prstGeom prst="rect">
            <a:avLst/>
          </a:prstGeom>
        </p:spPr>
      </p:pic>
      <p:pic>
        <p:nvPicPr>
          <p:cNvPr id="4" name="Picture 12" descr="unfccc | Gender and Energy Compact">
            <a:extLst>
              <a:ext uri="{FF2B5EF4-FFF2-40B4-BE49-F238E27FC236}">
                <a16:creationId xmlns:a16="http://schemas.microsoft.com/office/drawing/2014/main" id="{813E3002-A8D1-8C90-4B07-D0383BA2C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3393" y="4186207"/>
            <a:ext cx="1602803" cy="161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049A23-C69E-3392-D3CC-579E9A0BA99C}"/>
              </a:ext>
            </a:extLst>
          </p:cNvPr>
          <p:cNvCxnSpPr>
            <a:cxnSpLocks/>
          </p:cNvCxnSpPr>
          <p:nvPr/>
        </p:nvCxnSpPr>
        <p:spPr>
          <a:xfrm>
            <a:off x="9658398" y="3142663"/>
            <a:ext cx="974768" cy="88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7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FB44731-D97B-7F81-11DF-86E3525A4213}"/>
              </a:ext>
            </a:extLst>
          </p:cNvPr>
          <p:cNvSpPr/>
          <p:nvPr/>
        </p:nvSpPr>
        <p:spPr>
          <a:xfrm>
            <a:off x="7465913" y="4578507"/>
            <a:ext cx="2033212" cy="998364"/>
          </a:xfrm>
          <a:prstGeom prst="rect">
            <a:avLst/>
          </a:prstGeom>
          <a:solidFill>
            <a:srgbClr val="AE3446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EEA sends QC in Excel and summarizing Word to CP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6155D-3C72-FB1B-19E6-FC6C391D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03560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Quality control for </a:t>
            </a:r>
            <a:r>
              <a:rPr lang="en-US" sz="4000" dirty="0" err="1">
                <a:solidFill>
                  <a:srgbClr val="007B6C"/>
                </a:solidFill>
                <a:latin typeface="Calibri Light"/>
                <a:cs typeface="Calibri"/>
              </a:rPr>
              <a:t>PaMs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C48E93-6565-6F97-BA7D-8D35828CCB58}"/>
              </a:ext>
            </a:extLst>
          </p:cNvPr>
          <p:cNvSpPr/>
          <p:nvPr/>
        </p:nvSpPr>
        <p:spPr>
          <a:xfrm>
            <a:off x="392221" y="2149384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Filling</a:t>
            </a:r>
            <a:r>
              <a:rPr kumimoji="0" lang="en-GB" sz="1800" b="1" i="0" u="none" strike="noStrike" kern="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the Webform </a:t>
            </a:r>
            <a:r>
              <a:rPr lang="en-GB" b="1" kern="0">
                <a:solidFill>
                  <a:prstClr val="white"/>
                </a:solidFill>
                <a:latin typeface="Calibri" panose="020F0502020204030204"/>
              </a:rPr>
              <a:t>on Reportnet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087E6C-841B-8F84-4C17-D2E042E587AF}"/>
              </a:ext>
            </a:extLst>
          </p:cNvPr>
          <p:cNvSpPr/>
          <p:nvPr/>
        </p:nvSpPr>
        <p:spPr>
          <a:xfrm>
            <a:off x="2727545" y="2149384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Complete the Webform</a:t>
            </a:r>
            <a:r>
              <a:rPr kumimoji="0" lang="en-GB" sz="1800" b="1" i="0" u="none" strike="noStrike" kern="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 Reportnet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8C92C9-1C01-B18B-2076-13A22CEFEE84}"/>
              </a:ext>
            </a:extLst>
          </p:cNvPr>
          <p:cNvSpPr/>
          <p:nvPr/>
        </p:nvSpPr>
        <p:spPr>
          <a:xfrm>
            <a:off x="5060103" y="2141643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Release to data collection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64532A-119C-CAE4-DAE9-F306B90DBD59}"/>
              </a:ext>
            </a:extLst>
          </p:cNvPr>
          <p:cNvSpPr/>
          <p:nvPr/>
        </p:nvSpPr>
        <p:spPr>
          <a:xfrm>
            <a:off x="9725219" y="2141643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 data</a:t>
            </a:r>
            <a:r>
              <a:rPr kumimoji="0" lang="en-GB" sz="1800" b="1" i="0" u="none" strike="noStrike" kern="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 </a:t>
            </a:r>
            <a:r>
              <a:rPr lang="en-GB" b="1" kern="0">
                <a:solidFill>
                  <a:prstClr val="white"/>
                </a:solidFill>
                <a:latin typeface="Calibri" panose="020F0502020204030204"/>
              </a:rPr>
              <a:t>Reportnet and r</a:t>
            </a:r>
            <a:r>
              <a:rPr kumimoji="0" lang="en-GB" sz="1800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esubmit</a:t>
            </a: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(if needed)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CAF52E6-CD9F-2A93-BC89-3984C2A7E15B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2425433" y="2648566"/>
            <a:ext cx="302112" cy="7741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A22F1C-784B-D9FF-217E-2B7F5426FF90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4760757" y="2640825"/>
            <a:ext cx="299346" cy="7741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7FA730F-F000-1F95-F4B7-8E1F7B928955}"/>
              </a:ext>
            </a:extLst>
          </p:cNvPr>
          <p:cNvSpPr/>
          <p:nvPr/>
        </p:nvSpPr>
        <p:spPr>
          <a:xfrm>
            <a:off x="5060103" y="4559457"/>
            <a:ext cx="2033212" cy="998364"/>
          </a:xfrm>
          <a:prstGeom prst="rect">
            <a:avLst/>
          </a:prstGeom>
          <a:solidFill>
            <a:srgbClr val="AE3446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EEA performs QAQC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2D3280-8A42-09FE-DABC-F12895946F04}"/>
              </a:ext>
            </a:extLst>
          </p:cNvPr>
          <p:cNvCxnSpPr>
            <a:cxnSpLocks/>
          </p:cNvCxnSpPr>
          <p:nvPr/>
        </p:nvCxnSpPr>
        <p:spPr>
          <a:xfrm>
            <a:off x="7103612" y="2640825"/>
            <a:ext cx="338588" cy="0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F204C4C-DEC3-3C6A-BD01-1C57CF62A6EF}"/>
              </a:ext>
            </a:extLst>
          </p:cNvPr>
          <p:cNvCxnSpPr>
            <a:cxnSpLocks/>
          </p:cNvCxnSpPr>
          <p:nvPr/>
        </p:nvCxnSpPr>
        <p:spPr>
          <a:xfrm flipV="1">
            <a:off x="9425873" y="2656307"/>
            <a:ext cx="299346" cy="7741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EA9AEEA-9326-2382-86DF-BE8E21D8F484}"/>
              </a:ext>
            </a:extLst>
          </p:cNvPr>
          <p:cNvSpPr/>
          <p:nvPr/>
        </p:nvSpPr>
        <p:spPr>
          <a:xfrm>
            <a:off x="392221" y="4580821"/>
            <a:ext cx="2033212" cy="998364"/>
          </a:xfrm>
          <a:prstGeom prst="rect">
            <a:avLst/>
          </a:prstGeom>
          <a:solidFill>
            <a:srgbClr val="AE3446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(Other options are possible)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F9DDA2-349B-E55B-1360-27A9070D1A4B}"/>
              </a:ext>
            </a:extLst>
          </p:cNvPr>
          <p:cNvSpPr/>
          <p:nvPr/>
        </p:nvSpPr>
        <p:spPr>
          <a:xfrm>
            <a:off x="2729799" y="4565166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GB" b="1" kern="0">
                <a:solidFill>
                  <a:prstClr val="white"/>
                </a:solidFill>
                <a:latin typeface="Calibri" panose="020F0502020204030204"/>
              </a:rPr>
              <a:t>Reportnet Validation</a:t>
            </a:r>
            <a:endParaRPr lang="LID4096" b="1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54D9A54-5D02-4A12-78F6-B98C1354B81F}"/>
              </a:ext>
            </a:extLst>
          </p:cNvPr>
          <p:cNvCxnSpPr>
            <a:cxnSpLocks/>
            <a:stCxn id="35" idx="0"/>
            <a:endCxn id="26" idx="2"/>
          </p:cNvCxnSpPr>
          <p:nvPr/>
        </p:nvCxnSpPr>
        <p:spPr>
          <a:xfrm flipV="1">
            <a:off x="1408827" y="3147748"/>
            <a:ext cx="0" cy="1433073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6D131DE-678F-3C52-6D5D-C5794C2B8F0C}"/>
              </a:ext>
            </a:extLst>
          </p:cNvPr>
          <p:cNvCxnSpPr>
            <a:cxnSpLocks/>
          </p:cNvCxnSpPr>
          <p:nvPr/>
        </p:nvCxnSpPr>
        <p:spPr>
          <a:xfrm>
            <a:off x="3678997" y="3118341"/>
            <a:ext cx="0" cy="1441116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30BD495-70BE-0D57-A4D0-622178B1D8F5}"/>
              </a:ext>
            </a:extLst>
          </p:cNvPr>
          <p:cNvCxnSpPr>
            <a:cxnSpLocks/>
          </p:cNvCxnSpPr>
          <p:nvPr/>
        </p:nvCxnSpPr>
        <p:spPr>
          <a:xfrm flipV="1">
            <a:off x="3776512" y="3118341"/>
            <a:ext cx="0" cy="1441116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0A67904-004C-F70C-CAD1-17DFCACF217C}"/>
              </a:ext>
            </a:extLst>
          </p:cNvPr>
          <p:cNvGrpSpPr/>
          <p:nvPr/>
        </p:nvGrpSpPr>
        <p:grpSpPr>
          <a:xfrm>
            <a:off x="9110119" y="722353"/>
            <a:ext cx="2922252" cy="826018"/>
            <a:chOff x="392220" y="5839569"/>
            <a:chExt cx="3350239" cy="82601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8E2BB80-A953-6B72-834D-37DB6E03AC8A}"/>
                </a:ext>
              </a:extLst>
            </p:cNvPr>
            <p:cNvSpPr/>
            <p:nvPr/>
          </p:nvSpPr>
          <p:spPr>
            <a:xfrm>
              <a:off x="392221" y="6297199"/>
              <a:ext cx="445979" cy="368388"/>
            </a:xfrm>
            <a:prstGeom prst="rect">
              <a:avLst/>
            </a:prstGeom>
            <a:solidFill>
              <a:srgbClr val="AE3446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ID4096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876D730-4DA8-D5E8-B3BE-E18EE7196DEE}"/>
                </a:ext>
              </a:extLst>
            </p:cNvPr>
            <p:cNvSpPr/>
            <p:nvPr/>
          </p:nvSpPr>
          <p:spPr>
            <a:xfrm>
              <a:off x="811696" y="6233826"/>
              <a:ext cx="2922252" cy="40236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i="0" u="none" strike="noStrike" kern="0" cap="none" spc="0" normalizeH="0" baseline="0" noProof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Proces</a:t>
              </a:r>
              <a:r>
                <a:rPr lang="en-GB" sz="1400" kern="0">
                  <a:latin typeface="Calibri" panose="020F0502020204030204"/>
                </a:rPr>
                <a:t>s outside Reportnet</a:t>
              </a:r>
              <a:endParaRPr kumimoji="0" lang="LID4096" sz="14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5C503BC-7D36-1FD5-788A-167D987FE632}"/>
                </a:ext>
              </a:extLst>
            </p:cNvPr>
            <p:cNvSpPr/>
            <p:nvPr/>
          </p:nvSpPr>
          <p:spPr>
            <a:xfrm>
              <a:off x="392220" y="5864007"/>
              <a:ext cx="445979" cy="368388"/>
            </a:xfrm>
            <a:prstGeom prst="rect">
              <a:avLst/>
            </a:prstGeom>
            <a:solidFill>
              <a:srgbClr val="3C8E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LID4096" sz="1400" b="1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550DA41-4E46-E5A3-C06B-E10C314B897C}"/>
                </a:ext>
              </a:extLst>
            </p:cNvPr>
            <p:cNvSpPr/>
            <p:nvPr/>
          </p:nvSpPr>
          <p:spPr>
            <a:xfrm>
              <a:off x="820207" y="5839569"/>
              <a:ext cx="2922252" cy="40236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i="0" u="none" strike="noStrike" kern="0" cap="none" spc="0" normalizeH="0" baseline="0" noProof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Proces</a:t>
              </a:r>
              <a:r>
                <a:rPr lang="en-GB" sz="1400" kern="0">
                  <a:latin typeface="Calibri" panose="020F0502020204030204"/>
                </a:rPr>
                <a:t>s in Reportnet</a:t>
              </a:r>
              <a:endParaRPr kumimoji="0" lang="LID4096" sz="14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4C150A13-C759-EDC8-EE4A-C59071D4439C}"/>
              </a:ext>
            </a:extLst>
          </p:cNvPr>
          <p:cNvSpPr/>
          <p:nvPr/>
        </p:nvSpPr>
        <p:spPr>
          <a:xfrm>
            <a:off x="9062167" y="266176"/>
            <a:ext cx="2922252" cy="4023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Legend</a:t>
            </a:r>
            <a:endParaRPr kumimoji="0" lang="LID4096" sz="1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FF0EB5-B810-8990-1344-1D962D29D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895" y="3286322"/>
            <a:ext cx="1442206" cy="2365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BD9B92-11D2-B9AE-D65E-EA3074A1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419" y="3463611"/>
            <a:ext cx="1807462" cy="93849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9F7878-A342-8493-DC46-669560F3E0BC}"/>
              </a:ext>
            </a:extLst>
          </p:cNvPr>
          <p:cNvCxnSpPr>
            <a:cxnSpLocks/>
          </p:cNvCxnSpPr>
          <p:nvPr/>
        </p:nvCxnSpPr>
        <p:spPr>
          <a:xfrm>
            <a:off x="5984047" y="3137391"/>
            <a:ext cx="0" cy="1441116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026" name="Picture 2" descr="Excel - Free files and folders icons">
            <a:extLst>
              <a:ext uri="{FF2B5EF4-FFF2-40B4-BE49-F238E27FC236}">
                <a16:creationId xmlns:a16="http://schemas.microsoft.com/office/drawing/2014/main" id="{77E02757-B703-3723-E85A-282E11FD1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179" y="3763756"/>
            <a:ext cx="705284" cy="70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B1B7D6-625C-E819-05A8-78812B56F7CF}"/>
              </a:ext>
            </a:extLst>
          </p:cNvPr>
          <p:cNvCxnSpPr>
            <a:cxnSpLocks/>
          </p:cNvCxnSpPr>
          <p:nvPr/>
        </p:nvCxnSpPr>
        <p:spPr>
          <a:xfrm>
            <a:off x="7093315" y="5006761"/>
            <a:ext cx="338588" cy="0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604A14C-3552-932C-DA6C-C6586A918D8C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8458352" y="3145605"/>
            <a:ext cx="2197" cy="950902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0B6E565-8A64-8230-10E1-0B5559ACF913}"/>
              </a:ext>
            </a:extLst>
          </p:cNvPr>
          <p:cNvSpPr/>
          <p:nvPr/>
        </p:nvSpPr>
        <p:spPr>
          <a:xfrm>
            <a:off x="7443943" y="2147241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Bilateral</a:t>
            </a:r>
            <a:r>
              <a:rPr lang="en-GB" b="1" kern="0">
                <a:solidFill>
                  <a:prstClr val="white"/>
                </a:solidFill>
                <a:latin typeface="Calibri" panose="020F0502020204030204"/>
              </a:rPr>
              <a:t> call</a:t>
            </a: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(CP and EEA) to clarify the</a:t>
            </a:r>
            <a:r>
              <a:rPr kumimoji="0" lang="en-GB" sz="1800" b="1" i="0" u="none" strike="noStrike" kern="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QC results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D021C8F-43A7-16C2-2094-14A9D742983F}"/>
              </a:ext>
            </a:extLst>
          </p:cNvPr>
          <p:cNvCxnSpPr>
            <a:cxnSpLocks/>
            <a:stCxn id="52" idx="3"/>
            <a:endCxn id="58" idx="0"/>
          </p:cNvCxnSpPr>
          <p:nvPr/>
        </p:nvCxnSpPr>
        <p:spPr>
          <a:xfrm>
            <a:off x="9477155" y="2646423"/>
            <a:ext cx="1280746" cy="1932084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3D8DD91-09E3-E01F-9766-B3A9512B496B}"/>
              </a:ext>
            </a:extLst>
          </p:cNvPr>
          <p:cNvSpPr/>
          <p:nvPr/>
        </p:nvSpPr>
        <p:spPr>
          <a:xfrm>
            <a:off x="9741295" y="4578507"/>
            <a:ext cx="2033212" cy="998364"/>
          </a:xfrm>
          <a:prstGeom prst="rect">
            <a:avLst/>
          </a:prstGeom>
          <a:solidFill>
            <a:srgbClr val="AE3446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GB" b="1" kern="0">
                <a:solidFill>
                  <a:prstClr val="white"/>
                </a:solidFill>
                <a:latin typeface="Calibri" panose="020F0502020204030204"/>
              </a:rPr>
              <a:t>Send Excel with responses to EEA</a:t>
            </a:r>
            <a:endParaRPr lang="LID4096" b="1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DAD36098-BC6D-C3ED-A924-D25841403BAF}"/>
              </a:ext>
            </a:extLst>
          </p:cNvPr>
          <p:cNvSpPr/>
          <p:nvPr/>
        </p:nvSpPr>
        <p:spPr>
          <a:xfrm>
            <a:off x="2550460" y="2057400"/>
            <a:ext cx="2384616" cy="367882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0F95C863-5210-0C97-1174-6D318CED8A8E}"/>
              </a:ext>
            </a:extLst>
          </p:cNvPr>
          <p:cNvSpPr/>
          <p:nvPr/>
        </p:nvSpPr>
        <p:spPr>
          <a:xfrm>
            <a:off x="2283626" y="1704198"/>
            <a:ext cx="533667" cy="4414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/>
              <a:t>1.</a:t>
            </a:r>
            <a:endParaRPr lang="en-DK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1422CC4D-2F17-6D18-F888-5274B622681A}"/>
              </a:ext>
            </a:extLst>
          </p:cNvPr>
          <p:cNvSpPr/>
          <p:nvPr/>
        </p:nvSpPr>
        <p:spPr>
          <a:xfrm>
            <a:off x="5014483" y="4402102"/>
            <a:ext cx="2242443" cy="134280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DF06AB76-55B9-E053-1290-BF607E810656}"/>
              </a:ext>
            </a:extLst>
          </p:cNvPr>
          <p:cNvSpPr/>
          <p:nvPr/>
        </p:nvSpPr>
        <p:spPr>
          <a:xfrm>
            <a:off x="4759888" y="4137053"/>
            <a:ext cx="533667" cy="4414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/>
              <a:t>2.</a:t>
            </a:r>
            <a:endParaRPr lang="en-DK"/>
          </a:p>
        </p:txBody>
      </p:sp>
      <p:sp>
        <p:nvSpPr>
          <p:cNvPr id="1030" name="Oval 1029">
            <a:extLst>
              <a:ext uri="{FF2B5EF4-FFF2-40B4-BE49-F238E27FC236}">
                <a16:creationId xmlns:a16="http://schemas.microsoft.com/office/drawing/2014/main" id="{AF047C3C-0001-018E-4E27-02FF666A381C}"/>
              </a:ext>
            </a:extLst>
          </p:cNvPr>
          <p:cNvSpPr/>
          <p:nvPr/>
        </p:nvSpPr>
        <p:spPr>
          <a:xfrm>
            <a:off x="6898236" y="1700189"/>
            <a:ext cx="533667" cy="4414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/>
              <a:t>3.</a:t>
            </a:r>
            <a:endParaRPr lang="en-DK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456CF54-6F90-D512-B69C-6C374323B6A0}"/>
              </a:ext>
            </a:extLst>
          </p:cNvPr>
          <p:cNvSpPr/>
          <p:nvPr/>
        </p:nvSpPr>
        <p:spPr>
          <a:xfrm>
            <a:off x="7293848" y="2066081"/>
            <a:ext cx="2347688" cy="367882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B6B7E313-4ADB-7BB1-2987-B4D4A5914965}"/>
              </a:ext>
            </a:extLst>
          </p:cNvPr>
          <p:cNvSpPr/>
          <p:nvPr/>
        </p:nvSpPr>
        <p:spPr>
          <a:xfrm>
            <a:off x="9664491" y="2057400"/>
            <a:ext cx="2210009" cy="367882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A2117C1D-0046-E0AB-3661-65D13AEF3C4B}"/>
              </a:ext>
            </a:extLst>
          </p:cNvPr>
          <p:cNvSpPr/>
          <p:nvPr/>
        </p:nvSpPr>
        <p:spPr>
          <a:xfrm>
            <a:off x="9503481" y="1648658"/>
            <a:ext cx="533667" cy="4414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/>
              <a:t>4.</a:t>
            </a:r>
            <a:endParaRPr lang="en-DK"/>
          </a:p>
        </p:txBody>
      </p:sp>
      <p:pic>
        <p:nvPicPr>
          <p:cNvPr id="61" name="Picture 2" descr="Excel - Free files and folders icons">
            <a:extLst>
              <a:ext uri="{FF2B5EF4-FFF2-40B4-BE49-F238E27FC236}">
                <a16:creationId xmlns:a16="http://schemas.microsoft.com/office/drawing/2014/main" id="{1575599C-53D1-89A2-5C37-9F040E8E0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648" y="3463611"/>
            <a:ext cx="705284" cy="70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Word doc - Free education icons">
            <a:extLst>
              <a:ext uri="{FF2B5EF4-FFF2-40B4-BE49-F238E27FC236}">
                <a16:creationId xmlns:a16="http://schemas.microsoft.com/office/drawing/2014/main" id="{112629D7-EE9A-55A4-2E55-B9EA863CF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5240" y="3767239"/>
            <a:ext cx="705284" cy="70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42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" grpId="0" animBg="1"/>
      <p:bldP spid="1027" grpId="0" animBg="1"/>
      <p:bldP spid="1028" grpId="0" animBg="1"/>
      <p:bldP spid="1029" grpId="0" animBg="1"/>
      <p:bldP spid="1030" grpId="0" animBg="1"/>
      <p:bldP spid="1031" grpId="0" animBg="1"/>
      <p:bldP spid="1032" grpId="0" animBg="1"/>
      <p:bldP spid="10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D00A2-9330-4531-1E14-38DA29F71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8142-9C6D-01AA-3A5B-E2C5A5253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Lessons learnt from the first rounds of </a:t>
            </a:r>
            <a:r>
              <a:rPr lang="en-US" sz="4000" dirty="0" err="1">
                <a:solidFill>
                  <a:srgbClr val="007B6C"/>
                </a:solidFill>
                <a:latin typeface="Calibri Light"/>
                <a:cs typeface="Calibri"/>
              </a:rPr>
              <a:t>PaMs</a:t>
            </a:r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 reporting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8396E72-5151-AB80-ADCE-0D83996337CB}"/>
              </a:ext>
            </a:extLst>
          </p:cNvPr>
          <p:cNvSpPr txBox="1">
            <a:spLocks/>
          </p:cNvSpPr>
          <p:nvPr/>
        </p:nvSpPr>
        <p:spPr>
          <a:xfrm>
            <a:off x="687868" y="1593920"/>
            <a:ext cx="9953856" cy="4711902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DK"/>
            </a:defPPr>
            <a:lvl1pPr>
              <a:defRPr sz="2000">
                <a:solidFill>
                  <a:srgbClr val="000000"/>
                </a:solidFill>
                <a:latin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800"/>
              </a:spcAft>
              <a:buFontTx/>
              <a:buChar char="-"/>
            </a:pPr>
            <a:r>
              <a:rPr lang="en-US" sz="2400" dirty="0"/>
              <a:t>Consistency between reported information is key</a:t>
            </a:r>
          </a:p>
          <a:p>
            <a:pPr marL="800100" lvl="1" indent="-342900">
              <a:spcAft>
                <a:spcPts val="1800"/>
              </a:spcAft>
              <a:buFontTx/>
              <a:buChar char="-"/>
            </a:pPr>
            <a:r>
              <a:rPr lang="en-US" sz="2200" dirty="0"/>
              <a:t>Implementation period and implementation status. E.g. the status is set as “implemented” by the start year is in the future. </a:t>
            </a:r>
          </a:p>
          <a:p>
            <a:pPr marL="800100" lvl="1" indent="-342900">
              <a:spcAft>
                <a:spcPts val="1800"/>
              </a:spcAft>
              <a:buFontTx/>
              <a:buChar char="-"/>
            </a:pPr>
            <a:r>
              <a:rPr lang="en-US" sz="2200" dirty="0"/>
              <a:t>Implementation status and projection inclusion.</a:t>
            </a:r>
          </a:p>
          <a:p>
            <a:pPr lvl="2">
              <a:spcAft>
                <a:spcPts val="1800"/>
              </a:spcAft>
            </a:pPr>
            <a:endParaRPr lang="en-US" sz="2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CE6BC9-DC53-5729-8CF6-196A87A32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434784"/>
              </p:ext>
            </p:extLst>
          </p:nvPr>
        </p:nvGraphicFramePr>
        <p:xfrm>
          <a:off x="1550276" y="3746645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339938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27865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Implementation status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Projection scenario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345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Adopted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WEM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74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Implemented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WEM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206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Planned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WAM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8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Expired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WEM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939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844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B2A0-19D6-00E4-04A0-61C7CE09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4" y="143050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Available support for </a:t>
            </a:r>
            <a:r>
              <a:rPr lang="en-US" sz="4000" dirty="0" err="1">
                <a:solidFill>
                  <a:srgbClr val="007B6C"/>
                </a:solidFill>
                <a:latin typeface="Calibri Light"/>
                <a:cs typeface="Calibri"/>
              </a:rPr>
              <a:t>PaMs</a:t>
            </a:r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 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862187-4405-DA2D-03DA-24B24764286D}"/>
              </a:ext>
            </a:extLst>
          </p:cNvPr>
          <p:cNvGrpSpPr/>
          <p:nvPr/>
        </p:nvGrpSpPr>
        <p:grpSpPr>
          <a:xfrm>
            <a:off x="711391" y="1212110"/>
            <a:ext cx="3141833" cy="2715620"/>
            <a:chOff x="653791" y="1458756"/>
            <a:chExt cx="3141833" cy="2715620"/>
          </a:xfrm>
        </p:grpSpPr>
        <p:pic>
          <p:nvPicPr>
            <p:cNvPr id="9" name="Picture 2" descr="Instruction Manual Booklet Symbol Stock Illustrations – 729 Instruction  Manual Booklet Symbol Stock Illustrations, Vectors &amp; Clipart - Dreamstime">
              <a:extLst>
                <a:ext uri="{FF2B5EF4-FFF2-40B4-BE49-F238E27FC236}">
                  <a16:creationId xmlns:a16="http://schemas.microsoft.com/office/drawing/2014/main" id="{2892BE17-5FC4-EBBE-04A9-0EE4914C80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6971"/>
            <a:stretch/>
          </p:blipFill>
          <p:spPr bwMode="auto">
            <a:xfrm>
              <a:off x="803694" y="1458756"/>
              <a:ext cx="2604183" cy="1901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2FD2D6-BEFA-AE84-6A59-2112353D8F79}"/>
                </a:ext>
              </a:extLst>
            </p:cNvPr>
            <p:cNvSpPr txBox="1"/>
            <p:nvPr/>
          </p:nvSpPr>
          <p:spPr>
            <a:xfrm>
              <a:off x="653791" y="3528045"/>
              <a:ext cx="3141833" cy="6463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u="sng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r>
                <a:rPr lang="en-SE" u="none" dirty="0"/>
                <a:t>Technical guidance document</a:t>
              </a:r>
              <a:r>
                <a:rPr lang="en-US" u="none" dirty="0"/>
                <a:t> available through Reportnet</a:t>
              </a:r>
              <a:endParaRPr lang="en-SE" u="none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212732-8872-74CD-9D8B-CEDC9E5AB8F6}"/>
              </a:ext>
            </a:extLst>
          </p:cNvPr>
          <p:cNvGrpSpPr/>
          <p:nvPr/>
        </p:nvGrpSpPr>
        <p:grpSpPr>
          <a:xfrm>
            <a:off x="839672" y="3979149"/>
            <a:ext cx="3265189" cy="2510930"/>
            <a:chOff x="4253621" y="1984810"/>
            <a:chExt cx="3265189" cy="2510930"/>
          </a:xfrm>
        </p:grpSpPr>
        <p:pic>
          <p:nvPicPr>
            <p:cNvPr id="12" name="Picture 4" descr="Online Video - Free technology icons">
              <a:extLst>
                <a:ext uri="{FF2B5EF4-FFF2-40B4-BE49-F238E27FC236}">
                  <a16:creationId xmlns:a16="http://schemas.microsoft.com/office/drawing/2014/main" id="{1EB3EC01-EF6F-720C-21FF-BDFBEFE7DA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7824" y="1984810"/>
              <a:ext cx="1639019" cy="1639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3803EA-2F4F-A66C-598E-7BECD77C0AF1}"/>
                </a:ext>
              </a:extLst>
            </p:cNvPr>
            <p:cNvSpPr txBox="1"/>
            <p:nvPr/>
          </p:nvSpPr>
          <p:spPr>
            <a:xfrm>
              <a:off x="4253621" y="3572410"/>
              <a:ext cx="3265189" cy="92333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u="sng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r>
                <a:rPr lang="en-US" u="none" dirty="0"/>
                <a:t>Walkthrough videos for </a:t>
              </a:r>
              <a:r>
                <a:rPr lang="en-US" u="none" dirty="0">
                  <a:hlinkClick r:id="rId4"/>
                </a:rPr>
                <a:t>GHG </a:t>
              </a:r>
              <a:r>
                <a:rPr lang="en-US" u="none" dirty="0" err="1">
                  <a:hlinkClick r:id="rId4"/>
                </a:rPr>
                <a:t>PaMs</a:t>
              </a:r>
              <a:r>
                <a:rPr lang="en-US" u="none" dirty="0">
                  <a:hlinkClick r:id="rId4"/>
                </a:rPr>
                <a:t> </a:t>
              </a:r>
              <a:r>
                <a:rPr lang="en-US" u="none" dirty="0"/>
                <a:t>and a </a:t>
              </a:r>
              <a:r>
                <a:rPr lang="en-US" u="none" dirty="0">
                  <a:hlinkClick r:id="rId5"/>
                </a:rPr>
                <a:t>general introduction to the Governance Regulation</a:t>
              </a:r>
              <a:endParaRPr lang="en-SE" u="none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5A7F5FC-CD4B-D0AA-B080-52006A480B5F}"/>
              </a:ext>
            </a:extLst>
          </p:cNvPr>
          <p:cNvGrpSpPr/>
          <p:nvPr/>
        </p:nvGrpSpPr>
        <p:grpSpPr>
          <a:xfrm>
            <a:off x="4872295" y="4020285"/>
            <a:ext cx="2522804" cy="2734830"/>
            <a:chOff x="7334157" y="1795798"/>
            <a:chExt cx="2522804" cy="2734830"/>
          </a:xfrm>
        </p:grpSpPr>
        <p:pic>
          <p:nvPicPr>
            <p:cNvPr id="15" name="Picture 6" descr="Session Icons - Free SVG &amp; PNG Session Images - Noun Project">
              <a:extLst>
                <a:ext uri="{FF2B5EF4-FFF2-40B4-BE49-F238E27FC236}">
                  <a16:creationId xmlns:a16="http://schemas.microsoft.com/office/drawing/2014/main" id="{DF4EC0B0-F256-E946-A090-CF44FCB23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9357" y="1795798"/>
              <a:ext cx="1727645" cy="172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B0E826-A97F-1FF8-F07C-F36B083C3A87}"/>
                </a:ext>
              </a:extLst>
            </p:cNvPr>
            <p:cNvSpPr txBox="1"/>
            <p:nvPr/>
          </p:nvSpPr>
          <p:spPr>
            <a:xfrm>
              <a:off x="7334157" y="3607298"/>
              <a:ext cx="2522804" cy="92333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u="sng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r>
                <a:rPr lang="en-US" u="none" dirty="0"/>
                <a:t>Virtual trainings  - please check email and Teams forum</a:t>
              </a:r>
              <a:endParaRPr lang="en-SE" u="none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79083E-C769-51C7-D133-DDE5E09FE516}"/>
              </a:ext>
            </a:extLst>
          </p:cNvPr>
          <p:cNvGrpSpPr/>
          <p:nvPr/>
        </p:nvGrpSpPr>
        <p:grpSpPr>
          <a:xfrm>
            <a:off x="5038780" y="1471449"/>
            <a:ext cx="2258044" cy="2389175"/>
            <a:chOff x="9933956" y="1989397"/>
            <a:chExt cx="2258044" cy="2389175"/>
          </a:xfrm>
        </p:grpSpPr>
        <p:pic>
          <p:nvPicPr>
            <p:cNvPr id="18" name="Picture 8" descr="Email - Free communications icons">
              <a:extLst>
                <a:ext uri="{FF2B5EF4-FFF2-40B4-BE49-F238E27FC236}">
                  <a16:creationId xmlns:a16="http://schemas.microsoft.com/office/drawing/2014/main" id="{7B6463D8-0093-55EF-89F9-082DD00F1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6984" y="1989397"/>
              <a:ext cx="1639019" cy="1639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63E9A7-34DE-C841-10D5-1BEEFD0C4423}"/>
                </a:ext>
              </a:extLst>
            </p:cNvPr>
            <p:cNvSpPr txBox="1"/>
            <p:nvPr/>
          </p:nvSpPr>
          <p:spPr>
            <a:xfrm>
              <a:off x="9933956" y="3732241"/>
              <a:ext cx="2258044" cy="6463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u="sng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r>
                <a:rPr lang="en-US" u="none" dirty="0"/>
                <a:t>Answer questions over emails &amp; calls</a:t>
              </a:r>
              <a:endParaRPr lang="en-SE" u="none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19F252-F253-1304-3E4C-37DC93A3EE60}"/>
              </a:ext>
            </a:extLst>
          </p:cNvPr>
          <p:cNvGrpSpPr/>
          <p:nvPr/>
        </p:nvGrpSpPr>
        <p:grpSpPr>
          <a:xfrm>
            <a:off x="7738142" y="2568609"/>
            <a:ext cx="3426565" cy="2948444"/>
            <a:chOff x="8054043" y="1256284"/>
            <a:chExt cx="3426565" cy="2948444"/>
          </a:xfrm>
        </p:grpSpPr>
        <p:pic>
          <p:nvPicPr>
            <p:cNvPr id="1028" name="Picture 4" descr="Teams - Free logo icons">
              <a:extLst>
                <a:ext uri="{FF2B5EF4-FFF2-40B4-BE49-F238E27FC236}">
                  <a16:creationId xmlns:a16="http://schemas.microsoft.com/office/drawing/2014/main" id="{E77AB52B-E2E8-065E-0D27-A0C2A678EE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5816" y="1256284"/>
              <a:ext cx="1958009" cy="1958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E2D435-0425-BE63-C2C9-818589D22EBB}"/>
                </a:ext>
              </a:extLst>
            </p:cNvPr>
            <p:cNvSpPr txBox="1"/>
            <p:nvPr/>
          </p:nvSpPr>
          <p:spPr>
            <a:xfrm>
              <a:off x="8054043" y="3281398"/>
              <a:ext cx="3426565" cy="92333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u="sng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r>
                <a:rPr lang="en-US" u="none" dirty="0"/>
                <a:t>Teams forum where you can post questions and exchange with other reporters.</a:t>
              </a:r>
              <a:endParaRPr lang="en-SE" u="none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643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B2A0-19D6-00E4-04A0-61C7CE09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How to report on Integrated </a:t>
            </a:r>
            <a:r>
              <a:rPr lang="en-US" sz="4000" dirty="0" err="1">
                <a:solidFill>
                  <a:srgbClr val="007B6C"/>
                </a:solidFill>
                <a:latin typeface="Calibri Light"/>
                <a:cs typeface="Calibri"/>
              </a:rPr>
              <a:t>PaMs</a:t>
            </a:r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? 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pic>
        <p:nvPicPr>
          <p:cNvPr id="1026" name="Picture 2" descr="System - Free computer icons">
            <a:extLst>
              <a:ext uri="{FF2B5EF4-FFF2-40B4-BE49-F238E27FC236}">
                <a16:creationId xmlns:a16="http://schemas.microsoft.com/office/drawing/2014/main" id="{43830C7A-AB86-0938-2D41-05F2F2F89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87" y="2186608"/>
            <a:ext cx="3044687" cy="30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44B0C9BA-1945-FF18-78E3-E99A0DDB1A9D}"/>
              </a:ext>
            </a:extLst>
          </p:cNvPr>
          <p:cNvSpPr txBox="1">
            <a:spLocks/>
          </p:cNvSpPr>
          <p:nvPr/>
        </p:nvSpPr>
        <p:spPr>
          <a:xfrm>
            <a:off x="687868" y="1593920"/>
            <a:ext cx="5791200" cy="4711902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DK"/>
            </a:defPPr>
            <a:lvl1pPr>
              <a:defRPr sz="2000">
                <a:solidFill>
                  <a:srgbClr val="000000"/>
                </a:solidFill>
                <a:latin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400" dirty="0"/>
              <a:t>On Reportnet 3, EEAs reporting software.</a:t>
            </a:r>
          </a:p>
          <a:p>
            <a:pPr>
              <a:spcAft>
                <a:spcPts val="1800"/>
              </a:spcAft>
            </a:pPr>
            <a:r>
              <a:rPr lang="en-GB" sz="2400" dirty="0"/>
              <a:t>In general, one has to be assigned as a lead or supporting reporter to see the dataflow.</a:t>
            </a:r>
          </a:p>
          <a:p>
            <a:pPr>
              <a:spcAft>
                <a:spcPts val="1800"/>
              </a:spcAft>
            </a:pPr>
            <a:r>
              <a:rPr lang="en-GB" sz="2400" dirty="0"/>
              <a:t>However, we have created a test dataflow for this training that you all should have access to.</a:t>
            </a:r>
          </a:p>
          <a:p>
            <a:pPr>
              <a:spcAft>
                <a:spcPts val="1800"/>
              </a:spcAft>
            </a:pPr>
            <a:r>
              <a:rPr lang="en-GB" sz="2400" dirty="0"/>
              <a:t>We will now visit it together!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2956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B2A0-19D6-00E4-04A0-61C7CE09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Exercise – filling in a </a:t>
            </a:r>
            <a:r>
              <a:rPr lang="en-US" sz="4000" dirty="0" err="1">
                <a:solidFill>
                  <a:srgbClr val="007B6C"/>
                </a:solidFill>
                <a:latin typeface="Calibri Light"/>
                <a:cs typeface="Calibri"/>
              </a:rPr>
              <a:t>PaM</a:t>
            </a:r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 in the Integrated template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pic>
        <p:nvPicPr>
          <p:cNvPr id="1026" name="Picture 2" descr="System - Free computer icons">
            <a:extLst>
              <a:ext uri="{FF2B5EF4-FFF2-40B4-BE49-F238E27FC236}">
                <a16:creationId xmlns:a16="http://schemas.microsoft.com/office/drawing/2014/main" id="{43830C7A-AB86-0938-2D41-05F2F2F89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87" y="2186608"/>
            <a:ext cx="3044687" cy="30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44B0C9BA-1945-FF18-78E3-E99A0DDB1A9D}"/>
              </a:ext>
            </a:extLst>
          </p:cNvPr>
          <p:cNvSpPr txBox="1">
            <a:spLocks/>
          </p:cNvSpPr>
          <p:nvPr/>
        </p:nvSpPr>
        <p:spPr>
          <a:xfrm>
            <a:off x="687868" y="1593920"/>
            <a:ext cx="5791200" cy="4711902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DK"/>
            </a:defPPr>
            <a:lvl1pPr>
              <a:defRPr sz="2000">
                <a:solidFill>
                  <a:srgbClr val="000000"/>
                </a:solidFill>
                <a:latin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400" dirty="0"/>
              <a:t>On Reportnet 3, please visit the following dataflow: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rgbClr val="002060"/>
                </a:solidFill>
              </a:rPr>
              <a:t>TRAINING - Energy Community: Integrated national policies and measures</a:t>
            </a:r>
          </a:p>
          <a:p>
            <a:pPr>
              <a:spcAft>
                <a:spcPts val="1800"/>
              </a:spcAft>
            </a:pPr>
            <a:r>
              <a:rPr lang="en-US" sz="2400" dirty="0"/>
              <a:t>Please choose a </a:t>
            </a:r>
            <a:r>
              <a:rPr lang="en-US" sz="2400" dirty="0" err="1"/>
              <a:t>PaM</a:t>
            </a:r>
            <a:r>
              <a:rPr lang="en-US" sz="2400" dirty="0"/>
              <a:t> you are familiar with from your NECP, and try and fill it in.</a:t>
            </a:r>
          </a:p>
          <a:p>
            <a:pPr>
              <a:spcAft>
                <a:spcPts val="1800"/>
              </a:spcAft>
            </a:pPr>
            <a:r>
              <a:rPr lang="en-US" sz="2400" dirty="0"/>
              <a:t>Please note down any questions or doubts, and we will address them together at the end of the session.</a:t>
            </a:r>
          </a:p>
        </p:txBody>
      </p:sp>
    </p:spTree>
    <p:extLst>
      <p:ext uri="{BB962C8B-B14F-4D97-AF65-F5344CB8AC3E}">
        <p14:creationId xmlns:p14="http://schemas.microsoft.com/office/powerpoint/2010/main" val="2760231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32E8-4BC9-3AA1-43A6-2F85E0DD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AC357F-72D1-46AF-95CF-DA40F4A2585F}"/>
              </a:ext>
            </a:extLst>
          </p:cNvPr>
          <p:cNvSpPr txBox="1"/>
          <p:nvPr/>
        </p:nvSpPr>
        <p:spPr>
          <a:xfrm>
            <a:off x="1844411" y="1495199"/>
            <a:ext cx="850582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Reporting on National Systems for Policies and Measures and Projections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Graphic 1" descr="Court outline">
            <a:extLst>
              <a:ext uri="{FF2B5EF4-FFF2-40B4-BE49-F238E27FC236}">
                <a16:creationId xmlns:a16="http://schemas.microsoft.com/office/drawing/2014/main" id="{72271D41-FD88-91A1-8A33-A4FA4C0A1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3830" y="2379134"/>
            <a:ext cx="2092036" cy="20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72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155D-3C72-FB1B-19E6-FC6C391D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7862" cy="1350546"/>
          </a:xfrm>
        </p:spPr>
        <p:txBody>
          <a:bodyPr/>
          <a:lstStyle/>
          <a:p>
            <a:r>
              <a:rPr lang="da-DK" sz="4000" dirty="0">
                <a:solidFill>
                  <a:srgbClr val="007B6C"/>
                </a:solidFill>
                <a:latin typeface="Calibri Light"/>
                <a:cs typeface="Calibri"/>
              </a:rPr>
              <a:t>National Systems for PaMs and Projections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DE849E-7ED6-37CD-246F-8A867C891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946104"/>
              </p:ext>
            </p:extLst>
          </p:nvPr>
        </p:nvGraphicFramePr>
        <p:xfrm>
          <a:off x="412229" y="1759955"/>
          <a:ext cx="11302608" cy="3377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485">
                  <a:extLst>
                    <a:ext uri="{9D8B030D-6E8A-4147-A177-3AD203B41FA5}">
                      <a16:colId xmlns:a16="http://schemas.microsoft.com/office/drawing/2014/main" val="1899690268"/>
                    </a:ext>
                  </a:extLst>
                </a:gridCol>
                <a:gridCol w="9097123">
                  <a:extLst>
                    <a:ext uri="{9D8B030D-6E8A-4147-A177-3AD203B41FA5}">
                      <a16:colId xmlns:a16="http://schemas.microsoft.com/office/drawing/2014/main" val="3978093686"/>
                    </a:ext>
                  </a:extLst>
                </a:gridCol>
              </a:tblGrid>
              <a:tr h="523256">
                <a:tc gridSpan="2"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lt1"/>
                          </a:solidFill>
                          <a:latin typeface="Calibri"/>
                          <a:ea typeface="+mn-ea"/>
                          <a:cs typeface="+mn-cs"/>
                        </a:rPr>
                        <a:t>Article 39 – National system for policies and measures and projections</a:t>
                      </a:r>
                      <a:endParaRPr lang="en-US" sz="2400" b="0" kern="1200" noProof="0">
                        <a:solidFill>
                          <a:schemeClr val="lt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7B6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965936"/>
                  </a:ext>
                </a:extLst>
              </a:tr>
              <a:tr h="722415"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200" b="0" i="0" u="none" strike="noStrike" baseline="0" noProof="0" dirty="0">
                          <a:solidFill>
                            <a:srgbClr val="0D0D0D"/>
                          </a:solidFill>
                          <a:latin typeface="Aptos"/>
                        </a:rPr>
                        <a:t>By 15 March 2023 and every second year thereafter, CPs shall report to the Energy Community Secretariat on their national system for policies and measures and projections.</a:t>
                      </a: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da-DK" sz="2200" b="0" i="0" u="none" strike="noStrike" baseline="0" noProof="0" dirty="0">
                          <a:solidFill>
                            <a:srgbClr val="0D0D0D"/>
                          </a:solidFill>
                          <a:latin typeface="Aptos"/>
                        </a:rPr>
                        <a:t>This means that they should describe how their system for preparing and approving reports on policies and measures as well as projections is set up. </a:t>
                      </a:r>
                      <a:r>
                        <a:rPr lang="da-DK" sz="2200" b="0" i="0" u="none" strike="noStrike" baseline="0" noProof="0">
                          <a:solidFill>
                            <a:srgbClr val="0D0D0D"/>
                          </a:solidFill>
                          <a:latin typeface="Aptos"/>
                        </a:rPr>
                        <a:t>This includes their institutional, legal and administrative arrangements, as well as how it relates to other systems such as the GHG Inventory or National Determined Contributions.</a:t>
                      </a:r>
                      <a:endParaRPr lang="en-SE" sz="2200" b="0" i="0" u="none" strike="noStrike" baseline="0" noProof="0" dirty="0">
                        <a:solidFill>
                          <a:srgbClr val="0D0D0D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454023"/>
                  </a:ext>
                </a:extLst>
              </a:tr>
              <a:tr h="415527">
                <a:tc>
                  <a:txBody>
                    <a:bodyPr/>
                    <a:lstStyle/>
                    <a:p>
                      <a:r>
                        <a:rPr lang="en-US" u="sng">
                          <a:latin typeface="Calibri"/>
                        </a:rPr>
                        <a:t>Reports due:</a:t>
                      </a:r>
                      <a:endParaRPr lang="en-US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0" i="0" u="none" strike="noStrike" noProof="0" dirty="0">
                          <a:solidFill>
                            <a:srgbClr val="0D0D0D"/>
                          </a:solidFill>
                          <a:latin typeface="Calibri"/>
                        </a:rPr>
                        <a:t>15 March – Biannually – Since 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654556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8EF4F621-07A0-008B-EACF-EF496F3B0B2E}"/>
              </a:ext>
            </a:extLst>
          </p:cNvPr>
          <p:cNvGrpSpPr/>
          <p:nvPr/>
        </p:nvGrpSpPr>
        <p:grpSpPr>
          <a:xfrm>
            <a:off x="3984817" y="5354298"/>
            <a:ext cx="3464755" cy="1169070"/>
            <a:chOff x="3148892" y="5154448"/>
            <a:chExt cx="3464755" cy="1169070"/>
          </a:xfrm>
        </p:grpSpPr>
        <p:sp>
          <p:nvSpPr>
            <p:cNvPr id="5" name="Text Placeholder 2">
              <a:extLst>
                <a:ext uri="{FF2B5EF4-FFF2-40B4-BE49-F238E27FC236}">
                  <a16:creationId xmlns:a16="http://schemas.microsoft.com/office/drawing/2014/main" id="{1F84B0DE-0B37-3E64-9892-84650F171D03}"/>
                </a:ext>
              </a:extLst>
            </p:cNvPr>
            <p:cNvSpPr txBox="1">
              <a:spLocks/>
            </p:cNvSpPr>
            <p:nvPr/>
          </p:nvSpPr>
          <p:spPr>
            <a:xfrm>
              <a:off x="3148892" y="5154448"/>
              <a:ext cx="3464755" cy="41645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Bef>
                  <a:spcPct val="0"/>
                </a:spcBef>
                <a:buNone/>
                <a:defRPr sz="4000">
                  <a:solidFill>
                    <a:srgbClr val="007B6C"/>
                  </a:solidFill>
                  <a:latin typeface="Calibri Light"/>
                  <a:ea typeface="+mj-ea"/>
                  <a:cs typeface="Calibri"/>
                </a:defRPr>
              </a:lvl1pPr>
              <a:lvl2pPr marL="562751" indent="0" defTabSz="1125500">
                <a:spcBef>
                  <a:spcPct val="20000"/>
                </a:spcBef>
                <a:buFont typeface="Arial" pitchFamily="34" charset="0"/>
                <a:buNone/>
                <a:defRPr sz="3446" b="1"/>
              </a:lvl2pPr>
              <a:lvl3pPr marL="1406875" indent="-281376" defTabSz="1125500">
                <a:spcBef>
                  <a:spcPct val="20000"/>
                </a:spcBef>
                <a:buFont typeface="Arial" pitchFamily="34" charset="0"/>
                <a:buChar char="•"/>
                <a:defRPr sz="2954"/>
              </a:lvl3pPr>
              <a:lvl4pPr marL="1969625" indent="-281376" defTabSz="1125500">
                <a:spcBef>
                  <a:spcPct val="20000"/>
                </a:spcBef>
                <a:buFont typeface="Arial" pitchFamily="34" charset="0"/>
                <a:buChar char="–"/>
                <a:defRPr sz="2462"/>
              </a:lvl4pPr>
              <a:lvl5pPr marL="2532376" indent="-281376" defTabSz="1125500">
                <a:spcBef>
                  <a:spcPct val="20000"/>
                </a:spcBef>
                <a:buFont typeface="Arial" pitchFamily="34" charset="0"/>
                <a:buChar char="»"/>
                <a:defRPr sz="2462"/>
              </a:lvl5pPr>
              <a:lvl6pPr marL="3095125" indent="-281376" defTabSz="1125500">
                <a:spcBef>
                  <a:spcPct val="20000"/>
                </a:spcBef>
                <a:buFont typeface="Arial" pitchFamily="34" charset="0"/>
                <a:buChar char="•"/>
                <a:defRPr sz="2462"/>
              </a:lvl6pPr>
              <a:lvl7pPr marL="3657875" indent="-281376" defTabSz="1125500">
                <a:spcBef>
                  <a:spcPct val="20000"/>
                </a:spcBef>
                <a:buFont typeface="Arial" pitchFamily="34" charset="0"/>
                <a:buChar char="•"/>
                <a:defRPr sz="2462"/>
              </a:lvl7pPr>
              <a:lvl8pPr marL="4220625" indent="-281376" defTabSz="1125500">
                <a:spcBef>
                  <a:spcPct val="20000"/>
                </a:spcBef>
                <a:buFont typeface="Arial" pitchFamily="34" charset="0"/>
                <a:buChar char="•"/>
                <a:defRPr sz="2462"/>
              </a:lvl8pPr>
              <a:lvl9pPr marL="4783374" indent="-281376" defTabSz="1125500">
                <a:spcBef>
                  <a:spcPct val="20000"/>
                </a:spcBef>
                <a:buFont typeface="Arial" pitchFamily="34" charset="0"/>
                <a:buChar char="•"/>
                <a:defRPr sz="2462"/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E" sz="2400" b="0" i="0" u="none" strike="noStrike" kern="1200" cap="none" spc="0" normalizeH="0" baseline="0" noProof="0">
                  <a:ln>
                    <a:noFill/>
                  </a:ln>
                  <a:solidFill>
                    <a:srgbClr val="007B6C"/>
                  </a:solidFill>
                  <a:effectLst/>
                  <a:uLnTx/>
                  <a:uFillTx/>
                  <a:latin typeface="Calibri Light"/>
                  <a:ea typeface="+mj-ea"/>
                  <a:cs typeface="Calibri"/>
                </a:rPr>
                <a:t>Bulgaria’s reporting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7B6C"/>
                </a:solidFill>
                <a:effectLst/>
                <a:uLnTx/>
                <a:uFillTx/>
                <a:latin typeface="Calibri Light"/>
                <a:ea typeface="+mj-ea"/>
                <a:cs typeface="Calibri"/>
              </a:endParaRPr>
            </a:p>
          </p:txBody>
        </p:sp>
        <p:pic>
          <p:nvPicPr>
            <p:cNvPr id="6" name="Picture 2" descr="Flag of Bulgaria - Wikipedia">
              <a:hlinkClick r:id="rId2"/>
              <a:extLst>
                <a:ext uri="{FF2B5EF4-FFF2-40B4-BE49-F238E27FC236}">
                  <a16:creationId xmlns:a16="http://schemas.microsoft.com/office/drawing/2014/main" id="{BE6B0AF0-E8FC-282D-2F85-2C124FF293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4626" y="5544775"/>
              <a:ext cx="1297905" cy="778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446BB5-94D1-F027-7FF3-D3C2B8BFF9DF}"/>
              </a:ext>
            </a:extLst>
          </p:cNvPr>
          <p:cNvGrpSpPr/>
          <p:nvPr/>
        </p:nvGrpSpPr>
        <p:grpSpPr>
          <a:xfrm>
            <a:off x="8058106" y="5426185"/>
            <a:ext cx="3464755" cy="1144012"/>
            <a:chOff x="8009887" y="5191310"/>
            <a:chExt cx="3464755" cy="1144012"/>
          </a:xfrm>
        </p:grpSpPr>
        <p:sp>
          <p:nvSpPr>
            <p:cNvPr id="7" name="Text Placeholder 2">
              <a:extLst>
                <a:ext uri="{FF2B5EF4-FFF2-40B4-BE49-F238E27FC236}">
                  <a16:creationId xmlns:a16="http://schemas.microsoft.com/office/drawing/2014/main" id="{3F7869A9-6106-26E7-B161-74A4E7BD3091}"/>
                </a:ext>
              </a:extLst>
            </p:cNvPr>
            <p:cNvSpPr txBox="1">
              <a:spLocks/>
            </p:cNvSpPr>
            <p:nvPr/>
          </p:nvSpPr>
          <p:spPr>
            <a:xfrm>
              <a:off x="8009887" y="5191310"/>
              <a:ext cx="3464755" cy="34273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Bef>
                  <a:spcPct val="0"/>
                </a:spcBef>
                <a:buNone/>
                <a:defRPr sz="4000">
                  <a:solidFill>
                    <a:srgbClr val="007B6C"/>
                  </a:solidFill>
                  <a:latin typeface="Calibri Light"/>
                  <a:ea typeface="+mj-ea"/>
                  <a:cs typeface="Calibri"/>
                </a:defRPr>
              </a:lvl1pPr>
              <a:lvl2pPr marL="562751" indent="0" defTabSz="1125500">
                <a:spcBef>
                  <a:spcPct val="20000"/>
                </a:spcBef>
                <a:buFont typeface="Arial" pitchFamily="34" charset="0"/>
                <a:buNone/>
                <a:defRPr sz="3446" b="1"/>
              </a:lvl2pPr>
              <a:lvl3pPr marL="1406875" indent="-281376" defTabSz="1125500">
                <a:spcBef>
                  <a:spcPct val="20000"/>
                </a:spcBef>
                <a:buFont typeface="Arial" pitchFamily="34" charset="0"/>
                <a:buChar char="•"/>
                <a:defRPr sz="2954"/>
              </a:lvl3pPr>
              <a:lvl4pPr marL="1969625" indent="-281376" defTabSz="1125500">
                <a:spcBef>
                  <a:spcPct val="20000"/>
                </a:spcBef>
                <a:buFont typeface="Arial" pitchFamily="34" charset="0"/>
                <a:buChar char="–"/>
                <a:defRPr sz="2462"/>
              </a:lvl4pPr>
              <a:lvl5pPr marL="2532376" indent="-281376" defTabSz="1125500">
                <a:spcBef>
                  <a:spcPct val="20000"/>
                </a:spcBef>
                <a:buFont typeface="Arial" pitchFamily="34" charset="0"/>
                <a:buChar char="»"/>
                <a:defRPr sz="2462"/>
              </a:lvl5pPr>
              <a:lvl6pPr marL="3095125" indent="-281376" defTabSz="1125500">
                <a:spcBef>
                  <a:spcPct val="20000"/>
                </a:spcBef>
                <a:buFont typeface="Arial" pitchFamily="34" charset="0"/>
                <a:buChar char="•"/>
                <a:defRPr sz="2462"/>
              </a:lvl6pPr>
              <a:lvl7pPr marL="3657875" indent="-281376" defTabSz="1125500">
                <a:spcBef>
                  <a:spcPct val="20000"/>
                </a:spcBef>
                <a:buFont typeface="Arial" pitchFamily="34" charset="0"/>
                <a:buChar char="•"/>
                <a:defRPr sz="2462"/>
              </a:lvl7pPr>
              <a:lvl8pPr marL="4220625" indent="-281376" defTabSz="1125500">
                <a:spcBef>
                  <a:spcPct val="20000"/>
                </a:spcBef>
                <a:buFont typeface="Arial" pitchFamily="34" charset="0"/>
                <a:buChar char="•"/>
                <a:defRPr sz="2462"/>
              </a:lvl8pPr>
              <a:lvl9pPr marL="4783374" indent="-281376" defTabSz="1125500">
                <a:spcBef>
                  <a:spcPct val="20000"/>
                </a:spcBef>
                <a:buFont typeface="Arial" pitchFamily="34" charset="0"/>
                <a:buChar char="•"/>
                <a:defRPr sz="2462"/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E" sz="2400" b="0" i="0" u="none" strike="noStrike" kern="1200" cap="none" spc="0" normalizeH="0" baseline="0" noProof="0">
                  <a:ln>
                    <a:noFill/>
                  </a:ln>
                  <a:solidFill>
                    <a:srgbClr val="007B6C"/>
                  </a:solidFill>
                  <a:effectLst/>
                  <a:uLnTx/>
                  <a:uFillTx/>
                  <a:latin typeface="Calibri Light"/>
                  <a:ea typeface="+mj-ea"/>
                  <a:cs typeface="Calibri"/>
                </a:rPr>
                <a:t>Estonia’s reporting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7B6C"/>
                </a:solidFill>
                <a:effectLst/>
                <a:uLnTx/>
                <a:uFillTx/>
                <a:latin typeface="Calibri Light"/>
                <a:ea typeface="Calibri Light"/>
                <a:cs typeface="Calibri"/>
              </a:endParaRPr>
            </a:p>
          </p:txBody>
        </p:sp>
        <p:pic>
          <p:nvPicPr>
            <p:cNvPr id="8" name="Picture 4" descr="Flag of Estonia - Wikipedia">
              <a:hlinkClick r:id="rId4"/>
              <a:extLst>
                <a:ext uri="{FF2B5EF4-FFF2-40B4-BE49-F238E27FC236}">
                  <a16:creationId xmlns:a16="http://schemas.microsoft.com/office/drawing/2014/main" id="{830899E8-C2AF-0A9F-34DD-BFF25E1DDD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23286" y="5577940"/>
              <a:ext cx="1192175" cy="757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F1426E-1ADD-9677-8E9E-59E88D8EE7F7}"/>
              </a:ext>
            </a:extLst>
          </p:cNvPr>
          <p:cNvGrpSpPr/>
          <p:nvPr/>
        </p:nvGrpSpPr>
        <p:grpSpPr>
          <a:xfrm>
            <a:off x="358472" y="5426185"/>
            <a:ext cx="3017811" cy="1132670"/>
            <a:chOff x="310253" y="5203151"/>
            <a:chExt cx="3017811" cy="1132670"/>
          </a:xfrm>
        </p:grpSpPr>
        <p:sp>
          <p:nvSpPr>
            <p:cNvPr id="3" name="Text Placeholder 2">
              <a:extLst>
                <a:ext uri="{FF2B5EF4-FFF2-40B4-BE49-F238E27FC236}">
                  <a16:creationId xmlns:a16="http://schemas.microsoft.com/office/drawing/2014/main" id="{834888E2-3FDA-32A1-1E9E-D87D6B3E4CAB}"/>
                </a:ext>
              </a:extLst>
            </p:cNvPr>
            <p:cNvSpPr txBox="1">
              <a:spLocks/>
            </p:cNvSpPr>
            <p:nvPr/>
          </p:nvSpPr>
          <p:spPr>
            <a:xfrm>
              <a:off x="310253" y="5203151"/>
              <a:ext cx="3017811" cy="41645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>
                <a:lnSpc>
                  <a:spcPct val="90000"/>
                </a:lnSpc>
                <a:spcBef>
                  <a:spcPct val="0"/>
                </a:spcBef>
                <a:buNone/>
                <a:defRPr sz="4000">
                  <a:solidFill>
                    <a:srgbClr val="007B6C"/>
                  </a:solidFill>
                  <a:latin typeface="Calibri Light"/>
                  <a:ea typeface="+mj-ea"/>
                  <a:cs typeface="Calibri"/>
                </a:defRPr>
              </a:lvl1pPr>
              <a:lvl2pPr marL="562751" indent="0" algn="l" defTabSz="11255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446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406875" indent="-281376" algn="l" defTabSz="11255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9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969625" indent="-281376" algn="l" defTabSz="11255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532376" indent="-281376" algn="l" defTabSz="11255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95125" indent="-281376" algn="l" defTabSz="11255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875" indent="-281376" algn="l" defTabSz="11255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20625" indent="-281376" algn="l" defTabSz="11255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3374" indent="-281376" algn="l" defTabSz="11255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E" sz="2400" b="0" i="0" u="none" strike="noStrike" kern="1200" cap="none" spc="0" normalizeH="0" baseline="0" noProof="0">
                  <a:ln>
                    <a:noFill/>
                  </a:ln>
                  <a:solidFill>
                    <a:srgbClr val="007B6C"/>
                  </a:solidFill>
                  <a:effectLst/>
                  <a:uLnTx/>
                  <a:uFillTx/>
                  <a:latin typeface="Calibri Light"/>
                  <a:ea typeface="+mj-ea"/>
                  <a:cs typeface="Calibri"/>
                </a:rPr>
                <a:t>Croatia’s reporting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7B6C"/>
                </a:solidFill>
                <a:effectLst/>
                <a:uLnTx/>
                <a:uFillTx/>
                <a:latin typeface="Calibri Light"/>
                <a:ea typeface="+mj-ea"/>
                <a:cs typeface="Calibri"/>
              </a:endParaRPr>
            </a:p>
          </p:txBody>
        </p:sp>
        <p:pic>
          <p:nvPicPr>
            <p:cNvPr id="9" name="Picture 6">
              <a:hlinkClick r:id="rId6"/>
              <a:extLst>
                <a:ext uri="{FF2B5EF4-FFF2-40B4-BE49-F238E27FC236}">
                  <a16:creationId xmlns:a16="http://schemas.microsoft.com/office/drawing/2014/main" id="{F71B6A55-15AA-F19D-98E3-6BEC221262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577" y="5670520"/>
              <a:ext cx="1330602" cy="6653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6DE4D9B-AC48-1F8B-AF80-270989638ACD}"/>
              </a:ext>
            </a:extLst>
          </p:cNvPr>
          <p:cNvSpPr txBox="1"/>
          <p:nvPr/>
        </p:nvSpPr>
        <p:spPr>
          <a:xfrm>
            <a:off x="3984817" y="6580878"/>
            <a:ext cx="8050140" cy="277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rgbClr val="007B6C"/>
                </a:solidFill>
                <a:latin typeface="Calibri Light"/>
                <a:ea typeface="+mj-ea"/>
                <a:cs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600" b="0" i="0" u="none" strike="noStrike" kern="1200" cap="none" spc="0" normalizeH="0" baseline="0" noProof="0">
                <a:ln>
                  <a:noFill/>
                </a:ln>
                <a:solidFill>
                  <a:srgbClr val="007B6C"/>
                </a:solidFill>
                <a:effectLst/>
                <a:uLnTx/>
                <a:uFillTx/>
                <a:latin typeface="Calibri Light"/>
                <a:ea typeface="+mj-ea"/>
                <a:cs typeface="Calibri"/>
              </a:rPr>
              <a:t>Source</a:t>
            </a:r>
            <a:r>
              <a:rPr kumimoji="0" lang="da-DK" sz="1600" b="0" i="0" u="none" strike="noStrike" kern="1200" cap="none" spc="0" normalizeH="0" baseline="0" noProof="0">
                <a:ln>
                  <a:noFill/>
                </a:ln>
                <a:solidFill>
                  <a:srgbClr val="007B6C"/>
                </a:solidFill>
                <a:effectLst/>
                <a:uLnTx/>
                <a:uFillTx/>
                <a:latin typeface="Calibri Light"/>
                <a:ea typeface="+mj-ea"/>
                <a:cs typeface="Calibri"/>
              </a:rPr>
              <a:t>: </a:t>
            </a:r>
            <a:r>
              <a:rPr kumimoji="0" lang="en-DK" sz="1600" b="0" i="0" u="none" strike="noStrike" kern="1200" cap="none" spc="0" normalizeH="0" baseline="0" noProof="0">
                <a:ln>
                  <a:noFill/>
                </a:ln>
                <a:solidFill>
                  <a:srgbClr val="007B6C"/>
                </a:solidFill>
                <a:effectLst/>
                <a:uLnTx/>
                <a:uFillTx/>
                <a:latin typeface="Calibri Light"/>
                <a:ea typeface="+mj-ea"/>
                <a:cs typeface="Calibri"/>
              </a:rPr>
              <a:t>https://climate-energy.eea.europa.eu/topics/climate-change-mitigation/national-systems/data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E3C4B2C-5898-9A39-B205-AE0C52344274}"/>
              </a:ext>
            </a:extLst>
          </p:cNvPr>
          <p:cNvSpPr txBox="1">
            <a:spLocks/>
          </p:cNvSpPr>
          <p:nvPr/>
        </p:nvSpPr>
        <p:spPr>
          <a:xfrm>
            <a:off x="0" y="5181020"/>
            <a:ext cx="3376283" cy="342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rgbClr val="007B6C"/>
                </a:solidFill>
                <a:latin typeface="Calibri Light"/>
                <a:ea typeface="+mj-ea"/>
                <a:cs typeface="Calibri"/>
              </a:defRPr>
            </a:lvl1pPr>
            <a:lvl2pPr marL="562751" indent="0" algn="l" defTabSz="1125500" rtl="0" eaLnBrk="1" latinLnBrk="0" hangingPunct="1">
              <a:spcBef>
                <a:spcPct val="20000"/>
              </a:spcBef>
              <a:buFont typeface="Arial" pitchFamily="34" charset="0"/>
              <a:buNone/>
              <a:defRPr sz="344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06875" indent="-281376" algn="l" defTabSz="11255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69625" indent="-281376" algn="l" defTabSz="11255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32376" indent="-281376" algn="l" defTabSz="11255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95125" indent="-281376" algn="l" defTabSz="11255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875" indent="-281376" algn="l" defTabSz="11255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625" indent="-281376" algn="l" defTabSz="11255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374" indent="-281376" algn="l" defTabSz="11255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1" i="0" u="sng" strike="noStrike" kern="1200" cap="none" spc="0" normalizeH="0" baseline="0" noProof="0">
                <a:ln>
                  <a:noFill/>
                </a:ln>
                <a:solidFill>
                  <a:srgbClr val="007B6C"/>
                </a:solidFill>
                <a:effectLst/>
                <a:uLnTx/>
                <a:uFillTx/>
                <a:latin typeface="Calibri Light"/>
                <a:ea typeface="+mj-ea"/>
                <a:cs typeface="Calibri"/>
              </a:rPr>
              <a:t>Examples of MS reporting:</a:t>
            </a:r>
            <a:endParaRPr kumimoji="0" lang="en-US" sz="2400" b="1" i="0" u="sng" strike="noStrike" kern="1200" cap="none" spc="0" normalizeH="0" baseline="0" noProof="0">
              <a:ln>
                <a:noFill/>
              </a:ln>
              <a:solidFill>
                <a:srgbClr val="007B6C"/>
              </a:solidFill>
              <a:effectLst/>
              <a:uLnTx/>
              <a:uFillTx/>
              <a:latin typeface="Calibri Light"/>
              <a:ea typeface="+mj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0878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155D-3C72-FB1B-19E6-FC6C391D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7862" cy="1350546"/>
          </a:xfrm>
        </p:spPr>
        <p:txBody>
          <a:bodyPr/>
          <a:lstStyle/>
          <a:p>
            <a:r>
              <a:rPr lang="da-DK" sz="4000" dirty="0">
                <a:solidFill>
                  <a:srgbClr val="007B6C"/>
                </a:solidFill>
                <a:latin typeface="Calibri Light"/>
                <a:cs typeface="Calibri"/>
              </a:rPr>
              <a:t>National Systems for PaMs and Projections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38899E-834C-907F-7265-9D18E41C9E7F}"/>
              </a:ext>
            </a:extLst>
          </p:cNvPr>
          <p:cNvSpPr txBox="1"/>
          <p:nvPr/>
        </p:nvSpPr>
        <p:spPr>
          <a:xfrm>
            <a:off x="475938" y="1506895"/>
            <a:ext cx="609467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061" marR="0" lvl="0" indent="-422061" algn="l" defTabSz="11255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Name and contact information for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entities with overall responsibility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for the National System for policies and measures and projections</a:t>
            </a:r>
          </a:p>
          <a:p>
            <a:pPr marL="422061" marR="0" lvl="0" indent="-422061" algn="l" defTabSz="11255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Institutional arrangements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 place for preparation of reports on policies and measures and of projections as well as for reporting on them, including an organogram</a:t>
            </a:r>
          </a:p>
          <a:p>
            <a:pPr marL="422061" marR="0" lvl="0" indent="-422061" algn="l" defTabSz="11255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Legal arrangements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 place for preparation of reports on policies and measures and of  projections</a:t>
            </a:r>
          </a:p>
          <a:p>
            <a:pPr marL="422061" marR="0" lvl="0" indent="-422061" algn="l" defTabSz="11255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Procedural and administrative arrangements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and timescales in place for the preparation of reports on policies and measures and of projections, to ensure the timeliness, transparency, accuracy, consistency, comparability and completeness of the information reported</a:t>
            </a:r>
          </a:p>
          <a:p>
            <a:pPr marL="422061" marR="0" lvl="0" indent="-422061" algn="l" defTabSz="11255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Description of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information collection process</a:t>
            </a:r>
          </a:p>
          <a:p>
            <a:pPr marL="422061" marR="0" lvl="0" indent="-422061" algn="l" defTabSz="11255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Description of the alignment with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national inventory system</a:t>
            </a:r>
          </a:p>
          <a:p>
            <a:pPr marL="422061" marR="0" lvl="0" indent="-422061" algn="l" defTabSz="11255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Description of the links to arrangements on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integrated national energy and climate reports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pursuant to Art. 17 of the adapted Regulation (EU) 2018/1999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6B3E982-3656-5D66-845C-8E797D064E30}"/>
              </a:ext>
            </a:extLst>
          </p:cNvPr>
          <p:cNvSpPr txBox="1">
            <a:spLocks/>
          </p:cNvSpPr>
          <p:nvPr/>
        </p:nvSpPr>
        <p:spPr>
          <a:xfrm>
            <a:off x="6570612" y="1506895"/>
            <a:ext cx="5627687" cy="4542809"/>
          </a:xfrm>
          <a:prstGeom prst="rect">
            <a:avLst/>
          </a:prstGeom>
        </p:spPr>
        <p:txBody>
          <a:bodyPr/>
          <a:lstStyle>
            <a:lvl1pPr marL="422051" indent="-422051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rgbClr val="008173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914446" indent="-351710" algn="l" defTabSz="112547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00" kern="1200">
                <a:solidFill>
                  <a:srgbClr val="008173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40683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008173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969575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8173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532312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800" kern="1200">
                <a:solidFill>
                  <a:srgbClr val="008173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2051" marR="0" lvl="0" indent="-422051" algn="l" defTabSz="1125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 startAt="8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Description of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quality assurance and quality control activities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for reporting of policies and measures and projections</a:t>
            </a:r>
          </a:p>
          <a:p>
            <a:pPr marL="422051" marR="0" lvl="0" indent="-422051" algn="l" defTabSz="1125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 startAt="8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Description of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process for selecting assumptions, methodologies and models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for making projections of anthropogenic greenhouse gas emissions</a:t>
            </a:r>
          </a:p>
          <a:p>
            <a:pPr marL="422051" marR="0" lvl="0" indent="-422051" algn="l" defTabSz="1125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 startAt="8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Description of procedures for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official consideration and approval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of the Contracting Parties national system for policies and measures and projections</a:t>
            </a:r>
          </a:p>
          <a:p>
            <a:pPr marL="422051" marR="0" lvl="0" indent="-422051" algn="l" defTabSz="1125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 startAt="8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Information on relevant institutional administrative and procedural arrangements for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implementation of the nationally determined contribution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or changes to such arrangements</a:t>
            </a:r>
          </a:p>
          <a:p>
            <a:pPr marL="422051" marR="0" lvl="0" indent="-422051" algn="l" defTabSz="1125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+mj-lt"/>
              <a:buAutoNum type="arabicPeriod" startAt="8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Description of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stakeholder engagement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undertaken in relation to the preparation of policies and measures and projections</a:t>
            </a:r>
          </a:p>
          <a:p>
            <a:pPr marL="422051" marR="0" lvl="0" indent="-422051" algn="l" defTabSz="1125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BE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035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B2A0-19D6-00E4-04A0-61C7CE09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4" y="143050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Available support for National Systems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862187-4405-DA2D-03DA-24B24764286D}"/>
              </a:ext>
            </a:extLst>
          </p:cNvPr>
          <p:cNvGrpSpPr/>
          <p:nvPr/>
        </p:nvGrpSpPr>
        <p:grpSpPr>
          <a:xfrm>
            <a:off x="711391" y="1212110"/>
            <a:ext cx="3141833" cy="2715620"/>
            <a:chOff x="653791" y="1458756"/>
            <a:chExt cx="3141833" cy="2715620"/>
          </a:xfrm>
        </p:grpSpPr>
        <p:pic>
          <p:nvPicPr>
            <p:cNvPr id="9" name="Picture 2" descr="Instruction Manual Booklet Symbol Stock Illustrations – 729 Instruction  Manual Booklet Symbol Stock Illustrations, Vectors &amp; Clipart - Dreamstime">
              <a:extLst>
                <a:ext uri="{FF2B5EF4-FFF2-40B4-BE49-F238E27FC236}">
                  <a16:creationId xmlns:a16="http://schemas.microsoft.com/office/drawing/2014/main" id="{2892BE17-5FC4-EBBE-04A9-0EE4914C80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6971"/>
            <a:stretch/>
          </p:blipFill>
          <p:spPr bwMode="auto">
            <a:xfrm>
              <a:off x="803694" y="1458756"/>
              <a:ext cx="2604183" cy="1901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2FD2D6-BEFA-AE84-6A59-2112353D8F79}"/>
                </a:ext>
              </a:extLst>
            </p:cNvPr>
            <p:cNvSpPr txBox="1"/>
            <p:nvPr/>
          </p:nvSpPr>
          <p:spPr>
            <a:xfrm>
              <a:off x="653791" y="3528045"/>
              <a:ext cx="3141833" cy="6463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u="sng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r>
                <a:rPr lang="en-SE" u="none" dirty="0"/>
                <a:t>Technical guidance document</a:t>
              </a:r>
              <a:r>
                <a:rPr lang="en-US" u="none" dirty="0"/>
                <a:t> available through Reportnet</a:t>
              </a:r>
              <a:endParaRPr lang="en-SE" u="none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212732-8872-74CD-9D8B-CEDC9E5AB8F6}"/>
              </a:ext>
            </a:extLst>
          </p:cNvPr>
          <p:cNvGrpSpPr/>
          <p:nvPr/>
        </p:nvGrpSpPr>
        <p:grpSpPr>
          <a:xfrm>
            <a:off x="839672" y="3979149"/>
            <a:ext cx="3265189" cy="2787929"/>
            <a:chOff x="4253621" y="1984810"/>
            <a:chExt cx="3265189" cy="2787929"/>
          </a:xfrm>
        </p:grpSpPr>
        <p:pic>
          <p:nvPicPr>
            <p:cNvPr id="12" name="Picture 4" descr="Online Video - Free technology icons">
              <a:extLst>
                <a:ext uri="{FF2B5EF4-FFF2-40B4-BE49-F238E27FC236}">
                  <a16:creationId xmlns:a16="http://schemas.microsoft.com/office/drawing/2014/main" id="{1EB3EC01-EF6F-720C-21FF-BDFBEFE7DA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7824" y="1984810"/>
              <a:ext cx="1639019" cy="1639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3803EA-2F4F-A66C-598E-7BECD77C0AF1}"/>
                </a:ext>
              </a:extLst>
            </p:cNvPr>
            <p:cNvSpPr txBox="1"/>
            <p:nvPr/>
          </p:nvSpPr>
          <p:spPr>
            <a:xfrm>
              <a:off x="4253621" y="3572410"/>
              <a:ext cx="3265189" cy="120032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u="sng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r>
                <a:rPr lang="en-US" u="none" dirty="0"/>
                <a:t>Walkthrough videos for </a:t>
              </a:r>
              <a:r>
                <a:rPr lang="en-US" u="none" dirty="0">
                  <a:hlinkClick r:id="rId4"/>
                </a:rPr>
                <a:t>National systems</a:t>
              </a:r>
              <a:r>
                <a:rPr lang="en-US" u="none" dirty="0"/>
                <a:t> and a </a:t>
              </a:r>
              <a:r>
                <a:rPr lang="en-US" u="none" dirty="0">
                  <a:hlinkClick r:id="rId5"/>
                </a:rPr>
                <a:t>general introduction to the Governance Regulation</a:t>
              </a:r>
              <a:endParaRPr lang="en-SE" u="none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5A7F5FC-CD4B-D0AA-B080-52006A480B5F}"/>
              </a:ext>
            </a:extLst>
          </p:cNvPr>
          <p:cNvGrpSpPr/>
          <p:nvPr/>
        </p:nvGrpSpPr>
        <p:grpSpPr>
          <a:xfrm>
            <a:off x="4872295" y="4020285"/>
            <a:ext cx="2258044" cy="2734830"/>
            <a:chOff x="7334157" y="1795798"/>
            <a:chExt cx="2258044" cy="2734830"/>
          </a:xfrm>
        </p:grpSpPr>
        <p:pic>
          <p:nvPicPr>
            <p:cNvPr id="15" name="Picture 6" descr="Session Icons - Free SVG &amp; PNG Session Images - Noun Project">
              <a:extLst>
                <a:ext uri="{FF2B5EF4-FFF2-40B4-BE49-F238E27FC236}">
                  <a16:creationId xmlns:a16="http://schemas.microsoft.com/office/drawing/2014/main" id="{DF4EC0B0-F256-E946-A090-CF44FCB23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9357" y="1795798"/>
              <a:ext cx="1727645" cy="172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B0E826-A97F-1FF8-F07C-F36B083C3A87}"/>
                </a:ext>
              </a:extLst>
            </p:cNvPr>
            <p:cNvSpPr txBox="1"/>
            <p:nvPr/>
          </p:nvSpPr>
          <p:spPr>
            <a:xfrm>
              <a:off x="7334157" y="3607298"/>
              <a:ext cx="2258044" cy="92333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u="sng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r>
                <a:rPr lang="da-DK" u="none" dirty="0"/>
                <a:t>Invitations for these are sent via email and Teams.</a:t>
              </a:r>
              <a:endParaRPr lang="en-SE" u="none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79083E-C769-51C7-D133-DDE5E09FE516}"/>
              </a:ext>
            </a:extLst>
          </p:cNvPr>
          <p:cNvGrpSpPr/>
          <p:nvPr/>
        </p:nvGrpSpPr>
        <p:grpSpPr>
          <a:xfrm>
            <a:off x="5038780" y="1471449"/>
            <a:ext cx="2258044" cy="2389175"/>
            <a:chOff x="9933956" y="1989397"/>
            <a:chExt cx="2258044" cy="2389175"/>
          </a:xfrm>
        </p:grpSpPr>
        <p:pic>
          <p:nvPicPr>
            <p:cNvPr id="18" name="Picture 8" descr="Email - Free communications icons">
              <a:extLst>
                <a:ext uri="{FF2B5EF4-FFF2-40B4-BE49-F238E27FC236}">
                  <a16:creationId xmlns:a16="http://schemas.microsoft.com/office/drawing/2014/main" id="{7B6463D8-0093-55EF-89F9-082DD00F1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6984" y="1989397"/>
              <a:ext cx="1639019" cy="1639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63E9A7-34DE-C841-10D5-1BEEFD0C4423}"/>
                </a:ext>
              </a:extLst>
            </p:cNvPr>
            <p:cNvSpPr txBox="1"/>
            <p:nvPr/>
          </p:nvSpPr>
          <p:spPr>
            <a:xfrm>
              <a:off x="9933956" y="3732241"/>
              <a:ext cx="2258044" cy="6463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u="sng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r>
                <a:rPr lang="en-US" u="none" dirty="0"/>
                <a:t>Answer questions over emails &amp; calls</a:t>
              </a:r>
              <a:endParaRPr lang="en-SE" u="none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19F252-F253-1304-3E4C-37DC93A3EE60}"/>
              </a:ext>
            </a:extLst>
          </p:cNvPr>
          <p:cNvGrpSpPr/>
          <p:nvPr/>
        </p:nvGrpSpPr>
        <p:grpSpPr>
          <a:xfrm>
            <a:off x="7738142" y="2568609"/>
            <a:ext cx="3426565" cy="2948444"/>
            <a:chOff x="8054043" y="1256284"/>
            <a:chExt cx="3426565" cy="2948444"/>
          </a:xfrm>
        </p:grpSpPr>
        <p:pic>
          <p:nvPicPr>
            <p:cNvPr id="1028" name="Picture 4" descr="Teams - Free logo icons">
              <a:extLst>
                <a:ext uri="{FF2B5EF4-FFF2-40B4-BE49-F238E27FC236}">
                  <a16:creationId xmlns:a16="http://schemas.microsoft.com/office/drawing/2014/main" id="{E77AB52B-E2E8-065E-0D27-A0C2A678EE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5816" y="1256284"/>
              <a:ext cx="1958009" cy="1958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E2D435-0425-BE63-C2C9-818589D22EBB}"/>
                </a:ext>
              </a:extLst>
            </p:cNvPr>
            <p:cNvSpPr txBox="1"/>
            <p:nvPr/>
          </p:nvSpPr>
          <p:spPr>
            <a:xfrm>
              <a:off x="8054043" y="3281398"/>
              <a:ext cx="3426565" cy="92333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u="sng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r>
                <a:rPr lang="en-US" u="none" dirty="0"/>
                <a:t>Teams forum where you can post questions and exchange with other reporters.</a:t>
              </a:r>
              <a:endParaRPr lang="en-SE" u="none" dirty="0"/>
            </a:p>
          </p:txBody>
        </p:sp>
      </p:grpSp>
    </p:spTree>
    <p:extLst>
      <p:ext uri="{BB962C8B-B14F-4D97-AF65-F5344CB8AC3E}">
        <p14:creationId xmlns:p14="http://schemas.microsoft.com/office/powerpoint/2010/main" val="3151726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FB44731-D97B-7F81-11DF-86E3525A4213}"/>
              </a:ext>
            </a:extLst>
          </p:cNvPr>
          <p:cNvSpPr/>
          <p:nvPr/>
        </p:nvSpPr>
        <p:spPr>
          <a:xfrm>
            <a:off x="7465913" y="4578507"/>
            <a:ext cx="2033212" cy="998364"/>
          </a:xfrm>
          <a:prstGeom prst="rect">
            <a:avLst/>
          </a:prstGeom>
          <a:solidFill>
            <a:srgbClr val="AE3446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EEA sends QC in Excel to CP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6155D-3C72-FB1B-19E6-FC6C391D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03560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National Systems QC process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C48E93-6565-6F97-BA7D-8D35828CCB58}"/>
              </a:ext>
            </a:extLst>
          </p:cNvPr>
          <p:cNvSpPr/>
          <p:nvPr/>
        </p:nvSpPr>
        <p:spPr>
          <a:xfrm>
            <a:off x="392221" y="2149384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Fill in the Webform on </a:t>
            </a:r>
            <a:r>
              <a:rPr kumimoji="0" lang="en-GB" sz="1800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Reportnet</a:t>
            </a:r>
            <a:endParaRPr kumimoji="0" lang="LID4096" sz="1800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087E6C-841B-8F84-4C17-D2E042E587AF}"/>
              </a:ext>
            </a:extLst>
          </p:cNvPr>
          <p:cNvSpPr/>
          <p:nvPr/>
        </p:nvSpPr>
        <p:spPr>
          <a:xfrm>
            <a:off x="2727545" y="2149384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Complete the Webform on </a:t>
            </a:r>
            <a:r>
              <a:rPr kumimoji="0" lang="en-GB" sz="1800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Reportnet</a:t>
            </a:r>
            <a:endParaRPr kumimoji="0" lang="LID4096" sz="1800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8C92C9-1C01-B18B-2076-13A22CEFEE84}"/>
              </a:ext>
            </a:extLst>
          </p:cNvPr>
          <p:cNvSpPr/>
          <p:nvPr/>
        </p:nvSpPr>
        <p:spPr>
          <a:xfrm>
            <a:off x="5060103" y="2141643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Release to data collection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64532A-119C-CAE4-DAE9-F306B90DBD59}"/>
              </a:ext>
            </a:extLst>
          </p:cNvPr>
          <p:cNvSpPr/>
          <p:nvPr/>
        </p:nvSpPr>
        <p:spPr>
          <a:xfrm>
            <a:off x="9725219" y="2141643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 data on Reportnet and r</a:t>
            </a:r>
            <a:r>
              <a:rPr kumimoji="0" lang="en-GB" sz="1800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esubmit</a:t>
            </a: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(if needed)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CAF52E6-CD9F-2A93-BC89-3984C2A7E15B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2425433" y="2648566"/>
            <a:ext cx="302112" cy="7741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A22F1C-784B-D9FF-217E-2B7F5426FF90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4760757" y="2640825"/>
            <a:ext cx="299346" cy="7741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7FA730F-F000-1F95-F4B7-8E1F7B928955}"/>
              </a:ext>
            </a:extLst>
          </p:cNvPr>
          <p:cNvSpPr/>
          <p:nvPr/>
        </p:nvSpPr>
        <p:spPr>
          <a:xfrm>
            <a:off x="5060103" y="4559457"/>
            <a:ext cx="2033212" cy="998364"/>
          </a:xfrm>
          <a:prstGeom prst="rect">
            <a:avLst/>
          </a:prstGeom>
          <a:solidFill>
            <a:srgbClr val="AE3446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EEA performs QA/QC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2D3280-8A42-09FE-DABC-F12895946F04}"/>
              </a:ext>
            </a:extLst>
          </p:cNvPr>
          <p:cNvCxnSpPr>
            <a:cxnSpLocks/>
          </p:cNvCxnSpPr>
          <p:nvPr/>
        </p:nvCxnSpPr>
        <p:spPr>
          <a:xfrm>
            <a:off x="7103612" y="2640825"/>
            <a:ext cx="338588" cy="0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F204C4C-DEC3-3C6A-BD01-1C57CF62A6EF}"/>
              </a:ext>
            </a:extLst>
          </p:cNvPr>
          <p:cNvCxnSpPr>
            <a:cxnSpLocks/>
          </p:cNvCxnSpPr>
          <p:nvPr/>
        </p:nvCxnSpPr>
        <p:spPr>
          <a:xfrm flipV="1">
            <a:off x="9425873" y="2656307"/>
            <a:ext cx="299346" cy="7741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8F9DDA2-349B-E55B-1360-27A9070D1A4B}"/>
              </a:ext>
            </a:extLst>
          </p:cNvPr>
          <p:cNvSpPr/>
          <p:nvPr/>
        </p:nvSpPr>
        <p:spPr>
          <a:xfrm>
            <a:off x="2729799" y="4565166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Reportnet</a:t>
            </a: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validation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6D131DE-678F-3C52-6D5D-C5794C2B8F0C}"/>
              </a:ext>
            </a:extLst>
          </p:cNvPr>
          <p:cNvCxnSpPr>
            <a:cxnSpLocks/>
          </p:cNvCxnSpPr>
          <p:nvPr/>
        </p:nvCxnSpPr>
        <p:spPr>
          <a:xfrm>
            <a:off x="3678997" y="3118341"/>
            <a:ext cx="0" cy="1441116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30BD495-70BE-0D57-A4D0-622178B1D8F5}"/>
              </a:ext>
            </a:extLst>
          </p:cNvPr>
          <p:cNvCxnSpPr>
            <a:cxnSpLocks/>
          </p:cNvCxnSpPr>
          <p:nvPr/>
        </p:nvCxnSpPr>
        <p:spPr>
          <a:xfrm flipV="1">
            <a:off x="3776512" y="3118341"/>
            <a:ext cx="0" cy="1441116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0A67904-004C-F70C-CAD1-17DFCACF217C}"/>
              </a:ext>
            </a:extLst>
          </p:cNvPr>
          <p:cNvGrpSpPr/>
          <p:nvPr/>
        </p:nvGrpSpPr>
        <p:grpSpPr>
          <a:xfrm>
            <a:off x="9110119" y="722353"/>
            <a:ext cx="2922252" cy="826018"/>
            <a:chOff x="392220" y="5839569"/>
            <a:chExt cx="3350239" cy="82601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8E2BB80-A953-6B72-834D-37DB6E03AC8A}"/>
                </a:ext>
              </a:extLst>
            </p:cNvPr>
            <p:cNvSpPr/>
            <p:nvPr/>
          </p:nvSpPr>
          <p:spPr>
            <a:xfrm>
              <a:off x="392221" y="6297199"/>
              <a:ext cx="445979" cy="368388"/>
            </a:xfrm>
            <a:prstGeom prst="rect">
              <a:avLst/>
            </a:prstGeom>
            <a:solidFill>
              <a:srgbClr val="AE3446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ID4096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876D730-4DA8-D5E8-B3BE-E18EE7196DEE}"/>
                </a:ext>
              </a:extLst>
            </p:cNvPr>
            <p:cNvSpPr/>
            <p:nvPr/>
          </p:nvSpPr>
          <p:spPr>
            <a:xfrm>
              <a:off x="811696" y="6233826"/>
              <a:ext cx="2922252" cy="40236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Proces</a:t>
              </a: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 outside Reportnet</a:t>
              </a:r>
              <a:endParaRPr kumimoji="0" lang="LID4096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5C503BC-7D36-1FD5-788A-167D987FE632}"/>
                </a:ext>
              </a:extLst>
            </p:cNvPr>
            <p:cNvSpPr/>
            <p:nvPr/>
          </p:nvSpPr>
          <p:spPr>
            <a:xfrm>
              <a:off x="392220" y="5864007"/>
              <a:ext cx="445979" cy="368388"/>
            </a:xfrm>
            <a:prstGeom prst="rect">
              <a:avLst/>
            </a:prstGeom>
            <a:solidFill>
              <a:srgbClr val="3C8E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ID4096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550DA41-4E46-E5A3-C06B-E10C314B897C}"/>
                </a:ext>
              </a:extLst>
            </p:cNvPr>
            <p:cNvSpPr/>
            <p:nvPr/>
          </p:nvSpPr>
          <p:spPr>
            <a:xfrm>
              <a:off x="820207" y="5839569"/>
              <a:ext cx="2922252" cy="40236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Proces</a:t>
              </a: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 in Reportnet</a:t>
              </a:r>
              <a:endParaRPr kumimoji="0" lang="LID4096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4C150A13-C759-EDC8-EE4A-C59071D4439C}"/>
              </a:ext>
            </a:extLst>
          </p:cNvPr>
          <p:cNvSpPr/>
          <p:nvPr/>
        </p:nvSpPr>
        <p:spPr>
          <a:xfrm>
            <a:off x="9062167" y="266176"/>
            <a:ext cx="2922252" cy="4023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Legend</a:t>
            </a:r>
            <a:endParaRPr kumimoji="0" lang="LID4096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FF0EB5-B810-8990-1344-1D962D29D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895" y="3286322"/>
            <a:ext cx="1442206" cy="2365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BD9B92-11D2-B9AE-D65E-EA3074A1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419" y="3463611"/>
            <a:ext cx="1807462" cy="93849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9F7878-A342-8493-DC46-669560F3E0BC}"/>
              </a:ext>
            </a:extLst>
          </p:cNvPr>
          <p:cNvCxnSpPr>
            <a:cxnSpLocks/>
          </p:cNvCxnSpPr>
          <p:nvPr/>
        </p:nvCxnSpPr>
        <p:spPr>
          <a:xfrm>
            <a:off x="5984047" y="3137391"/>
            <a:ext cx="0" cy="1441116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026" name="Picture 2" descr="Excel - Free files and folders icons">
            <a:extLst>
              <a:ext uri="{FF2B5EF4-FFF2-40B4-BE49-F238E27FC236}">
                <a16:creationId xmlns:a16="http://schemas.microsoft.com/office/drawing/2014/main" id="{77E02757-B703-3723-E85A-282E11FD1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10" y="4139769"/>
            <a:ext cx="705284" cy="70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B1B7D6-625C-E819-05A8-78812B56F7CF}"/>
              </a:ext>
            </a:extLst>
          </p:cNvPr>
          <p:cNvCxnSpPr>
            <a:cxnSpLocks/>
          </p:cNvCxnSpPr>
          <p:nvPr/>
        </p:nvCxnSpPr>
        <p:spPr>
          <a:xfrm>
            <a:off x="7093315" y="5006761"/>
            <a:ext cx="338588" cy="0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604A14C-3552-932C-DA6C-C6586A918D8C}"/>
              </a:ext>
            </a:extLst>
          </p:cNvPr>
          <p:cNvCxnSpPr>
            <a:cxnSpLocks/>
            <a:stCxn id="1026" idx="0"/>
            <a:endCxn id="52" idx="2"/>
          </p:cNvCxnSpPr>
          <p:nvPr/>
        </p:nvCxnSpPr>
        <p:spPr>
          <a:xfrm flipV="1">
            <a:off x="8458352" y="3145605"/>
            <a:ext cx="2197" cy="994164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0B6E565-8A64-8230-10E1-0B5559ACF913}"/>
              </a:ext>
            </a:extLst>
          </p:cNvPr>
          <p:cNvSpPr/>
          <p:nvPr/>
        </p:nvSpPr>
        <p:spPr>
          <a:xfrm>
            <a:off x="7443943" y="2147241"/>
            <a:ext cx="2033212" cy="998364"/>
          </a:xfrm>
          <a:prstGeom prst="rect">
            <a:avLst/>
          </a:prstGeom>
          <a:solidFill>
            <a:srgbClr val="3C8E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Bilateral call (CP and EEA) to clarify the QC results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D021C8F-43A7-16C2-2094-14A9D742983F}"/>
              </a:ext>
            </a:extLst>
          </p:cNvPr>
          <p:cNvCxnSpPr>
            <a:cxnSpLocks/>
            <a:stCxn id="52" idx="3"/>
            <a:endCxn id="58" idx="1"/>
          </p:cNvCxnSpPr>
          <p:nvPr/>
        </p:nvCxnSpPr>
        <p:spPr>
          <a:xfrm>
            <a:off x="9477155" y="2646423"/>
            <a:ext cx="264140" cy="2431266"/>
          </a:xfrm>
          <a:prstGeom prst="straightConnector1">
            <a:avLst/>
          </a:prstGeom>
          <a:noFill/>
          <a:ln w="25400" cap="flat" cmpd="sng" algn="ctr">
            <a:solidFill>
              <a:srgbClr val="3C8EB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3D8DD91-09E3-E01F-9766-B3A9512B496B}"/>
              </a:ext>
            </a:extLst>
          </p:cNvPr>
          <p:cNvSpPr/>
          <p:nvPr/>
        </p:nvSpPr>
        <p:spPr>
          <a:xfrm>
            <a:off x="9741295" y="4578507"/>
            <a:ext cx="2033212" cy="998364"/>
          </a:xfrm>
          <a:prstGeom prst="rect">
            <a:avLst/>
          </a:prstGeom>
          <a:solidFill>
            <a:srgbClr val="AE3446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 Excel with responses to EEA</a:t>
            </a:r>
            <a:endParaRPr kumimoji="0" lang="LID4096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" name="Picture 2" descr="Excel - Free files and folders icons">
            <a:extLst>
              <a:ext uri="{FF2B5EF4-FFF2-40B4-BE49-F238E27FC236}">
                <a16:creationId xmlns:a16="http://schemas.microsoft.com/office/drawing/2014/main" id="{1575599C-53D1-89A2-5C37-9F040E8E0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6583" y="3309499"/>
            <a:ext cx="705284" cy="70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184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B2A0-19D6-00E4-04A0-61C7CE09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7862" cy="1350546"/>
          </a:xfrm>
        </p:spPr>
        <p:txBody>
          <a:bodyPr/>
          <a:lstStyle/>
          <a:p>
            <a:r>
              <a:rPr lang="en-US" sz="4000" dirty="0">
                <a:solidFill>
                  <a:srgbClr val="007B6C"/>
                </a:solidFill>
                <a:latin typeface="Calibri Light"/>
                <a:cs typeface="Calibri"/>
              </a:rPr>
              <a:t>How to report on National Systems? </a:t>
            </a:r>
            <a:endParaRPr lang="en-US" sz="4000" dirty="0">
              <a:solidFill>
                <a:srgbClr val="007B6C"/>
              </a:solidFill>
              <a:latin typeface="Calibri Light"/>
              <a:ea typeface="Calibri Light"/>
              <a:cs typeface="Calibri"/>
            </a:endParaRPr>
          </a:p>
        </p:txBody>
      </p:sp>
      <p:pic>
        <p:nvPicPr>
          <p:cNvPr id="1026" name="Picture 2" descr="System - Free computer icons">
            <a:extLst>
              <a:ext uri="{FF2B5EF4-FFF2-40B4-BE49-F238E27FC236}">
                <a16:creationId xmlns:a16="http://schemas.microsoft.com/office/drawing/2014/main" id="{43830C7A-AB86-0938-2D41-05F2F2F89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87" y="2186608"/>
            <a:ext cx="3044687" cy="30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44B0C9BA-1945-FF18-78E3-E99A0DDB1A9D}"/>
              </a:ext>
            </a:extLst>
          </p:cNvPr>
          <p:cNvSpPr txBox="1">
            <a:spLocks/>
          </p:cNvSpPr>
          <p:nvPr/>
        </p:nvSpPr>
        <p:spPr>
          <a:xfrm>
            <a:off x="687868" y="1593920"/>
            <a:ext cx="5791200" cy="4711902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DK"/>
            </a:defPPr>
            <a:lvl1pPr>
              <a:defRPr sz="2000">
                <a:solidFill>
                  <a:srgbClr val="000000"/>
                </a:solidFill>
                <a:latin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400" dirty="0"/>
              <a:t>On Reportnet 3, EEAs reporting software.</a:t>
            </a:r>
          </a:p>
          <a:p>
            <a:pPr>
              <a:spcAft>
                <a:spcPts val="1800"/>
              </a:spcAft>
            </a:pPr>
            <a:r>
              <a:rPr lang="en-GB" sz="2400" dirty="0"/>
              <a:t>Have to be assigned as a lead or supporting reporter to see the dataflow.</a:t>
            </a:r>
          </a:p>
          <a:p>
            <a:pPr>
              <a:spcAft>
                <a:spcPts val="1800"/>
              </a:spcAft>
            </a:pPr>
            <a:r>
              <a:rPr lang="en-GB" sz="2400" dirty="0"/>
              <a:t>For now, we visit the dataflow.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13082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6.1.4122"/>
  <p:tag name="SLIDO_PRESENTATION_ID" val="00000000-0000-0000-0000-000000000000"/>
  <p:tag name="SLIDO_EVENT_UUID" val="166b7c1f-87a6-4573-9074-c7224fc145be"/>
  <p:tag name="SLIDO_EVENT_SECTION_UUID" val="156dbd02-25fe-49d3-94e9-a56b963c02a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9E40BF7383784999BA1B34A435B410" ma:contentTypeVersion="0" ma:contentTypeDescription="Create a new document." ma:contentTypeScope="" ma:versionID="a4651880fff225387c0ad42ddaada4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E35DE7-889B-4861-B012-6F1C49F00E95}"/>
</file>

<file path=customXml/itemProps2.xml><?xml version="1.0" encoding="utf-8"?>
<ds:datastoreItem xmlns:ds="http://schemas.openxmlformats.org/officeDocument/2006/customXml" ds:itemID="{B3CAD936-5A74-43AE-BF01-7EEBCAAF77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4D698A-08E0-4ACA-9645-6F4C978FCA3B}">
  <ds:schemaRefs>
    <ds:schemaRef ds:uri="340712eb-23a5-460f-9036-c6d10688f9a1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1403fb54-47f0-4125-8d87-6a6e13582a5f"/>
  </ds:schemaRefs>
</ds:datastoreItem>
</file>

<file path=docMetadata/LabelInfo.xml><?xml version="1.0" encoding="utf-8"?>
<clbl:labelList xmlns:clbl="http://schemas.microsoft.com/office/2020/mipLabelMetadata">
  <clbl:label id="{be2e7bea-b493-4de5-bbc5-8b4a6a235600}" enabled="0" method="" siteId="{be2e7bea-b493-4de5-bbc5-8b4a6a23560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17461</TotalTime>
  <Words>2295</Words>
  <Application>Microsoft Office PowerPoint</Application>
  <PresentationFormat>Widescreen</PresentationFormat>
  <Paragraphs>422</Paragraphs>
  <Slides>27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Calibri Light</vt:lpstr>
      <vt:lpstr>Open Sans</vt:lpstr>
      <vt:lpstr>Proxima Nova</vt:lpstr>
      <vt:lpstr>Times New Roman</vt:lpstr>
      <vt:lpstr>Wingdings</vt:lpstr>
      <vt:lpstr>Office Theme</vt:lpstr>
      <vt:lpstr>1_Office Theme</vt:lpstr>
      <vt:lpstr>PowerPoint Presentation</vt:lpstr>
      <vt:lpstr>SESSION OUTLINE</vt:lpstr>
      <vt:lpstr>PowerPoint Presentation</vt:lpstr>
      <vt:lpstr>What to report on Integrated PaMs? </vt:lpstr>
      <vt:lpstr>What to report on Integrated PaMs? </vt:lpstr>
      <vt:lpstr>2nd step – depends on the PaMs Dimension.</vt:lpstr>
      <vt:lpstr>What to report on Integrated PaMs?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2023 Reporting, Tools and QC</vt:lpstr>
      <vt:lpstr>Pre-loading</vt:lpstr>
      <vt:lpstr>PowerPoint Presentation</vt:lpstr>
      <vt:lpstr>Quality control for PaMs</vt:lpstr>
      <vt:lpstr>Lessons learnt from the first rounds of PaMs reporting</vt:lpstr>
      <vt:lpstr>Available support for PaMs </vt:lpstr>
      <vt:lpstr>How to report on Integrated PaMs? </vt:lpstr>
      <vt:lpstr>Exercise – filling in a PaM in the Integrated template</vt:lpstr>
      <vt:lpstr>PowerPoint Presentation</vt:lpstr>
      <vt:lpstr>National Systems for PaMs and Projections</vt:lpstr>
      <vt:lpstr>National Systems for PaMs and Projections</vt:lpstr>
      <vt:lpstr>Available support for National Systems</vt:lpstr>
      <vt:lpstr>National Systems QC process</vt:lpstr>
      <vt:lpstr>How to report on National Systems?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 Wretlind</dc:creator>
  <cp:lastModifiedBy>Per Wretlind</cp:lastModifiedBy>
  <cp:revision>18</cp:revision>
  <dcterms:created xsi:type="dcterms:W3CDTF">2023-03-15T13:19:27Z</dcterms:created>
  <dcterms:modified xsi:type="dcterms:W3CDTF">2025-10-03T11:22:12Z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1.6.1.4122</vt:lpwstr>
  </property>
  <property fmtid="{D5CDD505-2E9C-101B-9397-08002B2CF9AE}" pid="3" name="ContentTypeId">
    <vt:lpwstr>0x010100CA9E40BF7383784999BA1B34A435B410</vt:lpwstr>
  </property>
  <property fmtid="{D5CDD505-2E9C-101B-9397-08002B2CF9AE}" pid="4" name="MediaServiceImageTags">
    <vt:lpwstr/>
  </property>
  <property fmtid="{D5CDD505-2E9C-101B-9397-08002B2CF9AE}" pid="5" name="Order">
    <vt:r8>183400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