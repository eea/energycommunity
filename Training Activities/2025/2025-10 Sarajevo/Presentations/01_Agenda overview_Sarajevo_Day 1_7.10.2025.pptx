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Lst>
  <p:notesMasterIdLst>
    <p:notesMasterId r:id="rId13"/>
  </p:notesMasterIdLst>
  <p:sldIdLst>
    <p:sldId id="1821" r:id="rId5"/>
    <p:sldId id="1870" r:id="rId6"/>
    <p:sldId id="1864" r:id="rId7"/>
    <p:sldId id="1871" r:id="rId8"/>
    <p:sldId id="1872" r:id="rId9"/>
    <p:sldId id="1866" r:id="rId10"/>
    <p:sldId id="1873" r:id="rId11"/>
    <p:sldId id="18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EE620D9-3B24-47C3-866F-77FAAE9C5998}">
          <p14:sldIdLst>
            <p14:sldId id="1821"/>
            <p14:sldId id="1870"/>
            <p14:sldId id="1864"/>
            <p14:sldId id="1871"/>
            <p14:sldId id="1872"/>
            <p14:sldId id="1866"/>
            <p14:sldId id="1873"/>
            <p14:sldId id="186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818CC-EC46-FDD7-8082-D70BFC352BF6}" name="Per Wretlind" initials="PW" userId="S::Per.Wretlind@eea.europa.eu::bcb024af-6ead-48e3-9a4b-cde6c6f63c4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B7F"/>
    <a:srgbClr val="C29B1D"/>
    <a:srgbClr val="FFE79B"/>
    <a:srgbClr val="007B6C"/>
    <a:srgbClr val="ABD387"/>
    <a:srgbClr val="F6C6AD"/>
    <a:srgbClr val="FFFFFF"/>
    <a:srgbClr val="F9FF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8759" autoAdjust="0"/>
  </p:normalViewPr>
  <p:slideViewPr>
    <p:cSldViewPr snapToGrid="0">
      <p:cViewPr>
        <p:scale>
          <a:sx n="58" d="100"/>
          <a:sy n="58" d="100"/>
        </p:scale>
        <p:origin x="96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eliya Nikolova" userId="S::aneliya.nikolova@eea.europa.eu::5ff52142-1b9c-430d-b975-3d80c1b68938" providerId="AD" clId="Web-{66920FB7-BF84-A88B-5894-B53D81F9716A}"/>
    <pc:docChg chg="addSld delSld modSld modSection">
      <pc:chgData name="Aneliya Nikolova" userId="S::aneliya.nikolova@eea.europa.eu::5ff52142-1b9c-430d-b975-3d80c1b68938" providerId="AD" clId="Web-{66920FB7-BF84-A88B-5894-B53D81F9716A}" dt="2025-10-03T13:26:24.866" v="626" actId="1076"/>
      <pc:docMkLst>
        <pc:docMk/>
      </pc:docMkLst>
      <pc:sldChg chg="modSp">
        <pc:chgData name="Aneliya Nikolova" userId="S::aneliya.nikolova@eea.europa.eu::5ff52142-1b9c-430d-b975-3d80c1b68938" providerId="AD" clId="Web-{66920FB7-BF84-A88B-5894-B53D81F9716A}" dt="2025-10-03T12:46:36.949" v="20" actId="20577"/>
        <pc:sldMkLst>
          <pc:docMk/>
          <pc:sldMk cId="0" sldId="1821"/>
        </pc:sldMkLst>
        <pc:spChg chg="mod">
          <ac:chgData name="Aneliya Nikolova" userId="S::aneliya.nikolova@eea.europa.eu::5ff52142-1b9c-430d-b975-3d80c1b68938" providerId="AD" clId="Web-{66920FB7-BF84-A88B-5894-B53D81F9716A}" dt="2025-10-03T12:46:36.949" v="20" actId="20577"/>
          <ac:spMkLst>
            <pc:docMk/>
            <pc:sldMk cId="0" sldId="1821"/>
            <ac:spMk id="3" creationId="{434B3DC3-FE25-4341-F848-C67AC8DCF82B}"/>
          </ac:spMkLst>
        </pc:spChg>
      </pc:sldChg>
      <pc:sldChg chg="addSp delSp modSp">
        <pc:chgData name="Aneliya Nikolova" userId="S::aneliya.nikolova@eea.europa.eu::5ff52142-1b9c-430d-b975-3d80c1b68938" providerId="AD" clId="Web-{66920FB7-BF84-A88B-5894-B53D81F9716A}" dt="2025-10-03T13:13:32.315" v="390"/>
        <pc:sldMkLst>
          <pc:docMk/>
          <pc:sldMk cId="631737671" sldId="1864"/>
        </pc:sldMkLst>
        <pc:spChg chg="mod">
          <ac:chgData name="Aneliya Nikolova" userId="S::aneliya.nikolova@eea.europa.eu::5ff52142-1b9c-430d-b975-3d80c1b68938" providerId="AD" clId="Web-{66920FB7-BF84-A88B-5894-B53D81F9716A}" dt="2025-10-03T12:53:40.368" v="113" actId="20577"/>
          <ac:spMkLst>
            <pc:docMk/>
            <pc:sldMk cId="631737671" sldId="1864"/>
            <ac:spMk id="2" creationId="{161DE9F9-3AA5-33A7-4047-4BB024B2E3D3}"/>
          </ac:spMkLst>
        </pc:spChg>
        <pc:graphicFrameChg chg="add mod ord modGraphic">
          <ac:chgData name="Aneliya Nikolova" userId="S::aneliya.nikolova@eea.europa.eu::5ff52142-1b9c-430d-b975-3d80c1b68938" providerId="AD" clId="Web-{66920FB7-BF84-A88B-5894-B53D81F9716A}" dt="2025-10-03T13:13:32.315" v="390"/>
          <ac:graphicFrameMkLst>
            <pc:docMk/>
            <pc:sldMk cId="631737671" sldId="1864"/>
            <ac:graphicFrameMk id="6" creationId="{0EA7EB79-A0F1-4C6A-CFD4-7AE98CDB5F7C}"/>
          </ac:graphicFrameMkLst>
        </pc:graphicFrameChg>
      </pc:sldChg>
      <pc:sldChg chg="addSp delSp modSp">
        <pc:chgData name="Aneliya Nikolova" userId="S::aneliya.nikolova@eea.europa.eu::5ff52142-1b9c-430d-b975-3d80c1b68938" providerId="AD" clId="Web-{66920FB7-BF84-A88B-5894-B53D81F9716A}" dt="2025-10-03T13:23:12.583" v="556" actId="1076"/>
        <pc:sldMkLst>
          <pc:docMk/>
          <pc:sldMk cId="1827192997" sldId="1866"/>
        </pc:sldMkLst>
        <pc:spChg chg="mod">
          <ac:chgData name="Aneliya Nikolova" userId="S::aneliya.nikolova@eea.europa.eu::5ff52142-1b9c-430d-b975-3d80c1b68938" providerId="AD" clId="Web-{66920FB7-BF84-A88B-5894-B53D81F9716A}" dt="2025-10-03T12:53:47.306" v="116" actId="20577"/>
          <ac:spMkLst>
            <pc:docMk/>
            <pc:sldMk cId="1827192997" sldId="1866"/>
            <ac:spMk id="2" creationId="{29E08760-EBDB-77B0-BEA2-8CB1AC88043E}"/>
          </ac:spMkLst>
        </pc:spChg>
        <pc:graphicFrameChg chg="add mod ord modGraphic">
          <ac:chgData name="Aneliya Nikolova" userId="S::aneliya.nikolova@eea.europa.eu::5ff52142-1b9c-430d-b975-3d80c1b68938" providerId="AD" clId="Web-{66920FB7-BF84-A88B-5894-B53D81F9716A}" dt="2025-10-03T13:23:12.583" v="556" actId="1076"/>
          <ac:graphicFrameMkLst>
            <pc:docMk/>
            <pc:sldMk cId="1827192997" sldId="1866"/>
            <ac:graphicFrameMk id="7" creationId="{4A065865-7CB9-4EF6-EA91-7934E93D1BD6}"/>
          </ac:graphicFrameMkLst>
        </pc:graphicFrameChg>
      </pc:sldChg>
      <pc:sldChg chg="addSp delSp modSp">
        <pc:chgData name="Aneliya Nikolova" userId="S::aneliya.nikolova@eea.europa.eu::5ff52142-1b9c-430d-b975-3d80c1b68938" providerId="AD" clId="Web-{66920FB7-BF84-A88B-5894-B53D81F9716A}" dt="2025-10-03T13:25:54.538" v="621" actId="20577"/>
        <pc:sldMkLst>
          <pc:docMk/>
          <pc:sldMk cId="1677548206" sldId="1867"/>
        </pc:sldMkLst>
        <pc:spChg chg="mod">
          <ac:chgData name="Aneliya Nikolova" userId="S::aneliya.nikolova@eea.europa.eu::5ff52142-1b9c-430d-b975-3d80c1b68938" providerId="AD" clId="Web-{66920FB7-BF84-A88B-5894-B53D81F9716A}" dt="2025-10-03T13:25:54.538" v="621" actId="20577"/>
          <ac:spMkLst>
            <pc:docMk/>
            <pc:sldMk cId="1677548206" sldId="1867"/>
            <ac:spMk id="2" creationId="{0E3FD208-D845-FED6-ABB3-51676489E401}"/>
          </ac:spMkLst>
        </pc:spChg>
        <pc:graphicFrameChg chg="add mod ord modGraphic">
          <ac:chgData name="Aneliya Nikolova" userId="S::aneliya.nikolova@eea.europa.eu::5ff52142-1b9c-430d-b975-3d80c1b68938" providerId="AD" clId="Web-{66920FB7-BF84-A88B-5894-B53D81F9716A}" dt="2025-10-03T13:25:38.772" v="620" actId="1076"/>
          <ac:graphicFrameMkLst>
            <pc:docMk/>
            <pc:sldMk cId="1677548206" sldId="1867"/>
            <ac:graphicFrameMk id="7" creationId="{D71D7E40-4F01-0BC1-A418-BBD705FB44C5}"/>
          </ac:graphicFrameMkLst>
        </pc:graphicFrameChg>
      </pc:sldChg>
      <pc:sldChg chg="modSp">
        <pc:chgData name="Aneliya Nikolova" userId="S::aneliya.nikolova@eea.europa.eu::5ff52142-1b9c-430d-b975-3d80c1b68938" providerId="AD" clId="Web-{66920FB7-BF84-A88B-5894-B53D81F9716A}" dt="2025-10-03T13:26:24.866" v="626" actId="1076"/>
        <pc:sldMkLst>
          <pc:docMk/>
          <pc:sldMk cId="1382150822" sldId="1870"/>
        </pc:sldMkLst>
        <pc:spChg chg="mod">
          <ac:chgData name="Aneliya Nikolova" userId="S::aneliya.nikolova@eea.europa.eu::5ff52142-1b9c-430d-b975-3d80c1b68938" providerId="AD" clId="Web-{66920FB7-BF84-A88B-5894-B53D81F9716A}" dt="2025-10-03T13:26:06.303" v="622"/>
          <ac:spMkLst>
            <pc:docMk/>
            <pc:sldMk cId="1382150822" sldId="1870"/>
            <ac:spMk id="2" creationId="{C49AC965-BC71-FCFE-D901-E22D030FEE8B}"/>
          </ac:spMkLst>
        </pc:spChg>
        <pc:spChg chg="mod">
          <ac:chgData name="Aneliya Nikolova" userId="S::aneliya.nikolova@eea.europa.eu::5ff52142-1b9c-430d-b975-3d80c1b68938" providerId="AD" clId="Web-{66920FB7-BF84-A88B-5894-B53D81F9716A}" dt="2025-10-03T13:26:24.772" v="623" actId="1076"/>
          <ac:spMkLst>
            <pc:docMk/>
            <pc:sldMk cId="1382150822" sldId="1870"/>
            <ac:spMk id="3" creationId="{E8BC523A-4036-924C-8F38-969523F90A7E}"/>
          </ac:spMkLst>
        </pc:spChg>
        <pc:spChg chg="mod">
          <ac:chgData name="Aneliya Nikolova" userId="S::aneliya.nikolova@eea.europa.eu::5ff52142-1b9c-430d-b975-3d80c1b68938" providerId="AD" clId="Web-{66920FB7-BF84-A88B-5894-B53D81F9716A}" dt="2025-10-03T13:26:24.804" v="624" actId="1076"/>
          <ac:spMkLst>
            <pc:docMk/>
            <pc:sldMk cId="1382150822" sldId="1870"/>
            <ac:spMk id="4" creationId="{339449A6-1CCB-2D71-DFC7-BBB8B75E83AB}"/>
          </ac:spMkLst>
        </pc:spChg>
        <pc:spChg chg="mod">
          <ac:chgData name="Aneliya Nikolova" userId="S::aneliya.nikolova@eea.europa.eu::5ff52142-1b9c-430d-b975-3d80c1b68938" providerId="AD" clId="Web-{66920FB7-BF84-A88B-5894-B53D81F9716A}" dt="2025-10-03T13:26:24.835" v="625" actId="1076"/>
          <ac:spMkLst>
            <pc:docMk/>
            <pc:sldMk cId="1382150822" sldId="1870"/>
            <ac:spMk id="5" creationId="{22C47C19-BB3A-9048-29F1-C75F34384FE1}"/>
          </ac:spMkLst>
        </pc:spChg>
        <pc:spChg chg="mod">
          <ac:chgData name="Aneliya Nikolova" userId="S::aneliya.nikolova@eea.europa.eu::5ff52142-1b9c-430d-b975-3d80c1b68938" providerId="AD" clId="Web-{66920FB7-BF84-A88B-5894-B53D81F9716A}" dt="2025-10-03T13:26:24.866" v="626" actId="1076"/>
          <ac:spMkLst>
            <pc:docMk/>
            <pc:sldMk cId="1382150822" sldId="1870"/>
            <ac:spMk id="6" creationId="{8EBD46D0-09CA-39FE-EA32-DE78FD5D0C32}"/>
          </ac:spMkLst>
        </pc:spChg>
      </pc:sldChg>
      <pc:sldChg chg="addSp delSp modSp add replId">
        <pc:chgData name="Aneliya Nikolova" userId="S::aneliya.nikolova@eea.europa.eu::5ff52142-1b9c-430d-b975-3d80c1b68938" providerId="AD" clId="Web-{66920FB7-BF84-A88B-5894-B53D81F9716A}" dt="2025-10-03T13:18:00.477" v="395"/>
        <pc:sldMkLst>
          <pc:docMk/>
          <pc:sldMk cId="1591342582" sldId="1871"/>
        </pc:sldMkLst>
        <pc:graphicFrameChg chg="add mod ord modGraphic">
          <ac:chgData name="Aneliya Nikolova" userId="S::aneliya.nikolova@eea.europa.eu::5ff52142-1b9c-430d-b975-3d80c1b68938" providerId="AD" clId="Web-{66920FB7-BF84-A88B-5894-B53D81F9716A}" dt="2025-10-03T13:18:00.477" v="395"/>
          <ac:graphicFrameMkLst>
            <pc:docMk/>
            <pc:sldMk cId="1591342582" sldId="1871"/>
            <ac:graphicFrameMk id="7" creationId="{1EEDD836-C08E-29FD-046A-691E089AF593}"/>
          </ac:graphicFrameMkLst>
        </pc:graphicFrameChg>
      </pc:sldChg>
      <pc:sldChg chg="addSp delSp modSp add replId">
        <pc:chgData name="Aneliya Nikolova" userId="S::aneliya.nikolova@eea.europa.eu::5ff52142-1b9c-430d-b975-3d80c1b68938" providerId="AD" clId="Web-{66920FB7-BF84-A88B-5894-B53D81F9716A}" dt="2025-10-03T13:21:34.705" v="538"/>
        <pc:sldMkLst>
          <pc:docMk/>
          <pc:sldMk cId="2752195384" sldId="1872"/>
        </pc:sldMkLst>
        <pc:graphicFrameChg chg="add mod ord modGraphic">
          <ac:chgData name="Aneliya Nikolova" userId="S::aneliya.nikolova@eea.europa.eu::5ff52142-1b9c-430d-b975-3d80c1b68938" providerId="AD" clId="Web-{66920FB7-BF84-A88B-5894-B53D81F9716A}" dt="2025-10-03T13:21:34.705" v="538"/>
          <ac:graphicFrameMkLst>
            <pc:docMk/>
            <pc:sldMk cId="2752195384" sldId="1872"/>
            <ac:graphicFrameMk id="6" creationId="{F8898F16-8942-BAB8-751B-18B3A6F1FFD1}"/>
          </ac:graphicFrameMkLst>
        </pc:graphicFrameChg>
      </pc:sldChg>
      <pc:sldChg chg="addSp delSp modSp add replId">
        <pc:chgData name="Aneliya Nikolova" userId="S::aneliya.nikolova@eea.europa.eu::5ff52142-1b9c-430d-b975-3d80c1b68938" providerId="AD" clId="Web-{66920FB7-BF84-A88B-5894-B53D81F9716A}" dt="2025-10-03T13:23:23.021" v="560"/>
        <pc:sldMkLst>
          <pc:docMk/>
          <pc:sldMk cId="2358281453" sldId="1873"/>
        </pc:sldMkLst>
        <pc:graphicFrameChg chg="add mod ord modGraphic">
          <ac:chgData name="Aneliya Nikolova" userId="S::aneliya.nikolova@eea.europa.eu::5ff52142-1b9c-430d-b975-3d80c1b68938" providerId="AD" clId="Web-{66920FB7-BF84-A88B-5894-B53D81F9716A}" dt="2025-10-03T13:23:23.021" v="560"/>
          <ac:graphicFrameMkLst>
            <pc:docMk/>
            <pc:sldMk cId="2358281453" sldId="1873"/>
            <ac:graphicFrameMk id="6" creationId="{EC734B60-6EA3-B30A-8313-4D95E91CABA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419268-4AB6-40AE-B5C5-31C405D2B60D}" type="datetimeFigureOut">
              <a:t>10/6/2025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57296-D5E5-4927-A250-AF26A1F7177E}" type="slidenum">
              <a:t>‹#›</a:t>
            </a:fld>
            <a:endParaRPr lang="en-US"/>
          </a:p>
        </p:txBody>
      </p:sp>
    </p:spTree>
    <p:extLst>
      <p:ext uri="{BB962C8B-B14F-4D97-AF65-F5344CB8AC3E}">
        <p14:creationId xmlns:p14="http://schemas.microsoft.com/office/powerpoint/2010/main" val="3019123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1173163"/>
            <a:ext cx="5629275" cy="3167062"/>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77201BC-94E4-4101-962D-54511777D224}" type="slidenum">
              <a:rPr lang="en-GB" smtClean="0"/>
              <a:pPr/>
              <a:t>1</a:t>
            </a:fld>
            <a:endParaRPr lang="en-GB"/>
          </a:p>
        </p:txBody>
      </p:sp>
    </p:spTree>
    <p:extLst>
      <p:ext uri="{BB962C8B-B14F-4D97-AF65-F5344CB8AC3E}">
        <p14:creationId xmlns:p14="http://schemas.microsoft.com/office/powerpoint/2010/main" val="1772990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is organized around 4 thematic areas </a:t>
            </a:r>
          </a:p>
          <a:p>
            <a:endParaRPr lang="en-US" dirty="0"/>
          </a:p>
          <a:p>
            <a:r>
              <a:rPr lang="en-US" dirty="0"/>
              <a:t>For each thematic areas, the six dataflows will be discussed: </a:t>
            </a:r>
          </a:p>
          <a:p>
            <a:pPr marL="171450" indent="-171450">
              <a:buFontTx/>
              <a:buChar char="-"/>
            </a:pPr>
            <a:r>
              <a:rPr lang="en-US" dirty="0"/>
              <a:t>3 on adaptation and 3 on climate finance for both Gov Reg and UNFCCC requirement. </a:t>
            </a:r>
          </a:p>
          <a:p>
            <a:pPr marL="171450" indent="-171450">
              <a:buFontTx/>
              <a:buChar char="-"/>
            </a:pPr>
            <a:r>
              <a:rPr lang="en-US" dirty="0"/>
              <a:t>There is clear synergies between Gov Reg and UNFCCC – It is important to have them in mind for coherency and efficiency reasons</a:t>
            </a:r>
          </a:p>
          <a:p>
            <a:endParaRPr lang="en-US" dirty="0">
              <a:ea typeface="Calibri"/>
              <a:cs typeface="Calibri"/>
            </a:endParaRPr>
          </a:p>
          <a:p>
            <a:r>
              <a:rPr lang="en-US" dirty="0">
                <a:ea typeface="Calibri"/>
                <a:cs typeface="Calibri"/>
              </a:rPr>
              <a:t>The dataflows are at different stages (e.g.: Carbon pricing revenues is operational since 2 years -  Support to dev country is not yet open in Reportnet 3) ; this is something that is considered when looking at the different thematic; In some areas, previous experience from EC CPs is relevant and possible in other areas, we will rely mostly on the experience of the EU Member states for inspiration and learning.</a:t>
            </a:r>
          </a:p>
          <a:p>
            <a:endParaRPr lang="en-US" dirty="0"/>
          </a:p>
          <a:p>
            <a:r>
              <a:rPr lang="en-US" dirty="0"/>
              <a:t>We have a lot of speakers who volunteered to share their experience from EC Contracting parties, from EU Member States, from European institutions (EC, EEA ETC) and CBIT-GSP/UNEP CCC. </a:t>
            </a:r>
          </a:p>
          <a:p>
            <a:r>
              <a:rPr lang="en-US" dirty="0">
                <a:ea typeface="Calibri"/>
                <a:cs typeface="Calibri"/>
              </a:rPr>
              <a:t>It makes the agenda a bit packed, but we hope it will maximize exchanges between you ( that’s one of the main objective); We strived to keep some time for Q&amp;A after each presentation.</a:t>
            </a:r>
          </a:p>
          <a:p>
            <a:endParaRPr lang="en-US" dirty="0">
              <a:ea typeface="Calibri"/>
              <a:cs typeface="Calibri"/>
            </a:endParaRPr>
          </a:p>
          <a:p>
            <a:r>
              <a:rPr lang="en-US" dirty="0">
                <a:ea typeface="Calibri"/>
                <a:cs typeface="Calibri"/>
              </a:rPr>
              <a:t>Sadly, a few speakers could not join in person, they will be online instead.</a:t>
            </a:r>
          </a:p>
          <a:p>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DB57296-D5E5-4927-A250-AF26A1F7177E}" type="slidenum">
              <a:rPr lang="en-DK" smtClean="0"/>
              <a:t>2</a:t>
            </a:fld>
            <a:endParaRPr lang="en-DK"/>
          </a:p>
        </p:txBody>
      </p:sp>
    </p:spTree>
    <p:extLst>
      <p:ext uri="{BB962C8B-B14F-4D97-AF65-F5344CB8AC3E}">
        <p14:creationId xmlns:p14="http://schemas.microsoft.com/office/powerpoint/2010/main" val="482061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in details:</a:t>
            </a:r>
          </a:p>
          <a:p>
            <a:endParaRPr lang="en-US" dirty="0"/>
          </a:p>
          <a:p>
            <a:r>
              <a:rPr lang="en-US" dirty="0"/>
              <a:t>Aneliya and Sladjana will give an overview of the reporting requirement legislation and give a few words about the project as well.</a:t>
            </a:r>
          </a:p>
          <a:p>
            <a:r>
              <a:rPr lang="en-US" dirty="0"/>
              <a:t>Then we will start with the first thematic area: What need to be reported. </a:t>
            </a:r>
          </a:p>
          <a:p>
            <a:endParaRPr lang="en-US" dirty="0"/>
          </a:p>
          <a:p>
            <a:r>
              <a:rPr lang="en-US" dirty="0"/>
              <a:t>Later this afternoon, we will start with what constitute the biggest share of the agenda: sharing of experiences at national level and at EU level.</a:t>
            </a:r>
          </a:p>
          <a:p>
            <a:r>
              <a:rPr lang="en-US" dirty="0"/>
              <a:t>We will continue this thematic tomorrow morning.</a:t>
            </a:r>
          </a:p>
          <a:p>
            <a:endParaRPr lang="en-US" dirty="0"/>
          </a:p>
          <a:p>
            <a:r>
              <a:rPr lang="en-US" dirty="0"/>
              <a:t>BEFORE that, we have a diner together tonight</a:t>
            </a:r>
            <a:endParaRPr lang="en-DK" dirty="0"/>
          </a:p>
        </p:txBody>
      </p:sp>
      <p:sp>
        <p:nvSpPr>
          <p:cNvPr id="4" name="Slide Number Placeholder 3"/>
          <p:cNvSpPr>
            <a:spLocks noGrp="1"/>
          </p:cNvSpPr>
          <p:nvPr>
            <p:ph type="sldNum" sz="quarter" idx="5"/>
          </p:nvPr>
        </p:nvSpPr>
        <p:spPr/>
        <p:txBody>
          <a:bodyPr/>
          <a:lstStyle/>
          <a:p>
            <a:fld id="{CDB57296-D5E5-4927-A250-AF26A1F7177E}" type="slidenum">
              <a:rPr lang="en-DK" smtClean="0"/>
              <a:t>3</a:t>
            </a:fld>
            <a:endParaRPr lang="en-DK"/>
          </a:p>
        </p:txBody>
      </p:sp>
    </p:spTree>
    <p:extLst>
      <p:ext uri="{BB962C8B-B14F-4D97-AF65-F5344CB8AC3E}">
        <p14:creationId xmlns:p14="http://schemas.microsoft.com/office/powerpoint/2010/main" val="1457749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71086-2270-A8DD-39DD-1D253D75F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51B28-F4DD-09A5-7FDE-5240637083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C4FB8-7430-0F77-6158-6B4C750E2EAF}"/>
              </a:ext>
            </a:extLst>
          </p:cNvPr>
          <p:cNvSpPr>
            <a:spLocks noGrp="1"/>
          </p:cNvSpPr>
          <p:nvPr>
            <p:ph type="body" idx="1"/>
          </p:nvPr>
        </p:nvSpPr>
        <p:spPr/>
        <p:txBody>
          <a:bodyPr/>
          <a:lstStyle/>
          <a:p>
            <a:r>
              <a:rPr lang="en-US" dirty="0"/>
              <a:t>Agenda in details:</a:t>
            </a:r>
          </a:p>
          <a:p>
            <a:endParaRPr lang="en-US" dirty="0"/>
          </a:p>
          <a:p>
            <a:r>
              <a:rPr lang="en-US" dirty="0"/>
              <a:t>Aneliya and Sladjana will give an overview of the reporting requirement legislation and give a few words about the project as well.</a:t>
            </a:r>
          </a:p>
          <a:p>
            <a:r>
              <a:rPr lang="en-US" dirty="0"/>
              <a:t>Then we will start with the first thematic area: What need to be reported. </a:t>
            </a:r>
          </a:p>
          <a:p>
            <a:endParaRPr lang="en-US" dirty="0"/>
          </a:p>
          <a:p>
            <a:r>
              <a:rPr lang="en-US" dirty="0"/>
              <a:t>Later this afternoon, we will start with what constitute the biggest share of the agenda: sharing of experiences at national level and at EU level.</a:t>
            </a:r>
          </a:p>
          <a:p>
            <a:r>
              <a:rPr lang="en-US" dirty="0"/>
              <a:t>We will continue this thematic tomorrow morning.</a:t>
            </a:r>
          </a:p>
          <a:p>
            <a:endParaRPr lang="en-US" dirty="0"/>
          </a:p>
          <a:p>
            <a:r>
              <a:rPr lang="en-US" dirty="0"/>
              <a:t>BEFORE that, we have a diner together tonight</a:t>
            </a:r>
            <a:endParaRPr lang="en-DK" dirty="0"/>
          </a:p>
        </p:txBody>
      </p:sp>
      <p:sp>
        <p:nvSpPr>
          <p:cNvPr id="4" name="Slide Number Placeholder 3">
            <a:extLst>
              <a:ext uri="{FF2B5EF4-FFF2-40B4-BE49-F238E27FC236}">
                <a16:creationId xmlns:a16="http://schemas.microsoft.com/office/drawing/2014/main" id="{5FC436BA-00B9-C0FD-E5F9-361F31315C58}"/>
              </a:ext>
            </a:extLst>
          </p:cNvPr>
          <p:cNvSpPr>
            <a:spLocks noGrp="1"/>
          </p:cNvSpPr>
          <p:nvPr>
            <p:ph type="sldNum" sz="quarter" idx="5"/>
          </p:nvPr>
        </p:nvSpPr>
        <p:spPr/>
        <p:txBody>
          <a:bodyPr/>
          <a:lstStyle/>
          <a:p>
            <a:fld id="{CDB57296-D5E5-4927-A250-AF26A1F7177E}" type="slidenum">
              <a:rPr lang="en-DK" smtClean="0"/>
              <a:t>4</a:t>
            </a:fld>
            <a:endParaRPr lang="en-DK"/>
          </a:p>
        </p:txBody>
      </p:sp>
    </p:spTree>
    <p:extLst>
      <p:ext uri="{BB962C8B-B14F-4D97-AF65-F5344CB8AC3E}">
        <p14:creationId xmlns:p14="http://schemas.microsoft.com/office/powerpoint/2010/main" val="2532228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6B116-1330-05AE-A0D2-898333E7E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8AD20-A020-EE14-7182-768F1BAF7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F5B707-CF03-B156-0B4B-552D95BBFD52}"/>
              </a:ext>
            </a:extLst>
          </p:cNvPr>
          <p:cNvSpPr>
            <a:spLocks noGrp="1"/>
          </p:cNvSpPr>
          <p:nvPr>
            <p:ph type="body" idx="1"/>
          </p:nvPr>
        </p:nvSpPr>
        <p:spPr/>
        <p:txBody>
          <a:bodyPr/>
          <a:lstStyle/>
          <a:p>
            <a:r>
              <a:rPr lang="en-US" dirty="0"/>
              <a:t>Agenda in details:</a:t>
            </a:r>
          </a:p>
          <a:p>
            <a:endParaRPr lang="en-US" dirty="0"/>
          </a:p>
          <a:p>
            <a:r>
              <a:rPr lang="en-US" dirty="0"/>
              <a:t>Aneliya and Sladjana will give an overview of the reporting requirement legislation and give a few words about the project as well.</a:t>
            </a:r>
          </a:p>
          <a:p>
            <a:r>
              <a:rPr lang="en-US" dirty="0"/>
              <a:t>Then we will start with the first thematic area: What need to be reported. </a:t>
            </a:r>
          </a:p>
          <a:p>
            <a:endParaRPr lang="en-US" dirty="0"/>
          </a:p>
          <a:p>
            <a:r>
              <a:rPr lang="en-US" dirty="0"/>
              <a:t>Later this afternoon, we will start with what constitute the biggest share of the agenda: sharing of experiences at national level and at EU level.</a:t>
            </a:r>
          </a:p>
          <a:p>
            <a:r>
              <a:rPr lang="en-US" dirty="0"/>
              <a:t>We will continue this thematic tomorrow morning.</a:t>
            </a:r>
          </a:p>
          <a:p>
            <a:endParaRPr lang="en-US" dirty="0"/>
          </a:p>
          <a:p>
            <a:r>
              <a:rPr lang="en-US" dirty="0"/>
              <a:t>BEFORE that, we have a diner together tonight</a:t>
            </a:r>
            <a:endParaRPr lang="en-DK" dirty="0"/>
          </a:p>
        </p:txBody>
      </p:sp>
      <p:sp>
        <p:nvSpPr>
          <p:cNvPr id="4" name="Slide Number Placeholder 3">
            <a:extLst>
              <a:ext uri="{FF2B5EF4-FFF2-40B4-BE49-F238E27FC236}">
                <a16:creationId xmlns:a16="http://schemas.microsoft.com/office/drawing/2014/main" id="{1A4711D2-D706-5244-FA17-AF9F6A53E69C}"/>
              </a:ext>
            </a:extLst>
          </p:cNvPr>
          <p:cNvSpPr>
            <a:spLocks noGrp="1"/>
          </p:cNvSpPr>
          <p:nvPr>
            <p:ph type="sldNum" sz="quarter" idx="5"/>
          </p:nvPr>
        </p:nvSpPr>
        <p:spPr/>
        <p:txBody>
          <a:bodyPr/>
          <a:lstStyle/>
          <a:p>
            <a:fld id="{CDB57296-D5E5-4927-A250-AF26A1F7177E}" type="slidenum">
              <a:rPr lang="en-DK" smtClean="0"/>
              <a:t>5</a:t>
            </a:fld>
            <a:endParaRPr lang="en-DK"/>
          </a:p>
        </p:txBody>
      </p:sp>
    </p:spTree>
    <p:extLst>
      <p:ext uri="{BB962C8B-B14F-4D97-AF65-F5344CB8AC3E}">
        <p14:creationId xmlns:p14="http://schemas.microsoft.com/office/powerpoint/2010/main" val="257692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Tomorrow morning, after the coffee break we will discuss the quality review of the data ; </a:t>
            </a:r>
          </a:p>
          <a:p>
            <a:r>
              <a:rPr lang="en-US" dirty="0"/>
              <a:t>Very important topic to ensure good quality data.</a:t>
            </a:r>
          </a:p>
          <a:p>
            <a:endParaRPr lang="en-US" dirty="0"/>
          </a:p>
          <a:p>
            <a:endParaRPr lang="en-DK" dirty="0"/>
          </a:p>
        </p:txBody>
      </p:sp>
      <p:sp>
        <p:nvSpPr>
          <p:cNvPr id="4" name="Slide Number Placeholder 3"/>
          <p:cNvSpPr>
            <a:spLocks noGrp="1"/>
          </p:cNvSpPr>
          <p:nvPr>
            <p:ph type="sldNum" sz="quarter" idx="5"/>
          </p:nvPr>
        </p:nvSpPr>
        <p:spPr/>
        <p:txBody>
          <a:bodyPr/>
          <a:lstStyle/>
          <a:p>
            <a:fld id="{CDB57296-D5E5-4927-A250-AF26A1F7177E}" type="slidenum">
              <a:rPr lang="en-DK" smtClean="0"/>
              <a:t>6</a:t>
            </a:fld>
            <a:endParaRPr lang="en-DK"/>
          </a:p>
        </p:txBody>
      </p:sp>
    </p:spTree>
    <p:extLst>
      <p:ext uri="{BB962C8B-B14F-4D97-AF65-F5344CB8AC3E}">
        <p14:creationId xmlns:p14="http://schemas.microsoft.com/office/powerpoint/2010/main" val="4051232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5EE57-331F-86B3-23DC-96F2EF106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418E5-360B-0116-0D4C-14CA4BA421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F35B7-03B8-5438-EB79-B5AD180EB99D}"/>
              </a:ext>
            </a:extLst>
          </p:cNvPr>
          <p:cNvSpPr>
            <a:spLocks noGrp="1"/>
          </p:cNvSpPr>
          <p:nvPr>
            <p:ph type="body" idx="1"/>
          </p:nvPr>
        </p:nvSpPr>
        <p:spPr/>
        <p:txBody>
          <a:bodyPr/>
          <a:lstStyle/>
          <a:p>
            <a:r>
              <a:rPr lang="en-US" dirty="0"/>
              <a:t>Tomorrow morning, after the coffee break we will discuss the quality review of the data ; </a:t>
            </a:r>
          </a:p>
          <a:p>
            <a:r>
              <a:rPr lang="en-US" dirty="0"/>
              <a:t>Very important topic to ensure good quality data.</a:t>
            </a:r>
          </a:p>
          <a:p>
            <a:endParaRPr lang="en-US" dirty="0"/>
          </a:p>
          <a:p>
            <a:endParaRPr lang="en-DK" dirty="0"/>
          </a:p>
        </p:txBody>
      </p:sp>
      <p:sp>
        <p:nvSpPr>
          <p:cNvPr id="4" name="Slide Number Placeholder 3">
            <a:extLst>
              <a:ext uri="{FF2B5EF4-FFF2-40B4-BE49-F238E27FC236}">
                <a16:creationId xmlns:a16="http://schemas.microsoft.com/office/drawing/2014/main" id="{CA98F78E-05AA-678B-2C17-887EA9467A4C}"/>
              </a:ext>
            </a:extLst>
          </p:cNvPr>
          <p:cNvSpPr>
            <a:spLocks noGrp="1"/>
          </p:cNvSpPr>
          <p:nvPr>
            <p:ph type="sldNum" sz="quarter" idx="5"/>
          </p:nvPr>
        </p:nvSpPr>
        <p:spPr/>
        <p:txBody>
          <a:bodyPr/>
          <a:lstStyle/>
          <a:p>
            <a:fld id="{CDB57296-D5E5-4927-A250-AF26A1F7177E}" type="slidenum">
              <a:rPr lang="en-DK" smtClean="0"/>
              <a:t>7</a:t>
            </a:fld>
            <a:endParaRPr lang="en-DK"/>
          </a:p>
        </p:txBody>
      </p:sp>
    </p:spTree>
    <p:extLst>
      <p:ext uri="{BB962C8B-B14F-4D97-AF65-F5344CB8AC3E}">
        <p14:creationId xmlns:p14="http://schemas.microsoft.com/office/powerpoint/2010/main" val="2525044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will close the workshop with a last session about the main users of the data and how they are used; </a:t>
            </a:r>
          </a:p>
          <a:p>
            <a:r>
              <a:rPr lang="en-US" dirty="0"/>
              <a:t>Here, we will benefit mostly from the experience of the EU Member States, the EEA and the EC and the UNFCCC</a:t>
            </a:r>
          </a:p>
          <a:p>
            <a:endParaRPr lang="en-US" dirty="0"/>
          </a:p>
          <a:p>
            <a:r>
              <a:rPr lang="en-US" dirty="0"/>
              <a:t>We will strive to keep 10 minutes to close the workshop and then it will be time to run to </a:t>
            </a:r>
            <a:r>
              <a:rPr lang="en-US"/>
              <a:t>the airport </a:t>
            </a:r>
            <a:endParaRPr lang="en-DK" dirty="0"/>
          </a:p>
        </p:txBody>
      </p:sp>
      <p:sp>
        <p:nvSpPr>
          <p:cNvPr id="4" name="Slide Number Placeholder 3"/>
          <p:cNvSpPr>
            <a:spLocks noGrp="1"/>
          </p:cNvSpPr>
          <p:nvPr>
            <p:ph type="sldNum" sz="quarter" idx="5"/>
          </p:nvPr>
        </p:nvSpPr>
        <p:spPr/>
        <p:txBody>
          <a:bodyPr/>
          <a:lstStyle/>
          <a:p>
            <a:fld id="{CDB57296-D5E5-4927-A250-AF26A1F7177E}" type="slidenum">
              <a:rPr lang="en-DK" smtClean="0"/>
              <a:t>8</a:t>
            </a:fld>
            <a:endParaRPr lang="en-DK"/>
          </a:p>
        </p:txBody>
      </p:sp>
    </p:spTree>
    <p:extLst>
      <p:ext uri="{BB962C8B-B14F-4D97-AF65-F5344CB8AC3E}">
        <p14:creationId xmlns:p14="http://schemas.microsoft.com/office/powerpoint/2010/main" val="2029668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14354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86060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30480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883262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20831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12515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97123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34474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94917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737499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92655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40781371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184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364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10/6/2025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75877633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24" r:id="rId12"/>
    <p:sldLayoutId id="2147483725" r:id="rId13"/>
    <p:sldLayoutId id="214748372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t="-9000" b="-9000"/>
          </a:stretch>
        </a:blip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47F1237-6C41-4972-A073-79B619130A0D}"/>
              </a:ext>
            </a:extLst>
          </p:cNvPr>
          <p:cNvSpPr txBox="1">
            <a:spLocks/>
          </p:cNvSpPr>
          <p:nvPr/>
        </p:nvSpPr>
        <p:spPr>
          <a:xfrm>
            <a:off x="6280958" y="2992395"/>
            <a:ext cx="6480441" cy="265834"/>
          </a:xfrm>
          <a:prstGeom prst="rect">
            <a:avLst/>
          </a:prstGeom>
        </p:spPr>
        <p:txBody>
          <a:bodyPr/>
          <a:lstStyle>
            <a:lvl1pPr marL="0" indent="0" algn="l" defTabSz="1125472" rtl="0" eaLnBrk="1" latinLnBrk="0" hangingPunct="1">
              <a:spcBef>
                <a:spcPct val="20000"/>
              </a:spcBef>
              <a:buFont typeface="Arial" pitchFamily="34" charset="0"/>
              <a:buNone/>
              <a:defRPr sz="1100" b="1" kern="1200">
                <a:solidFill>
                  <a:schemeClr val="bg1"/>
                </a:solidFill>
                <a:latin typeface="Calibri" panose="020F0502020204030204" pitchFamily="34" charset="0"/>
                <a:ea typeface="+mn-ea"/>
                <a:cs typeface="Calibri" panose="020F0502020204030204" pitchFamily="34" charset="0"/>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endParaRPr lang="en-GB" sz="1400"/>
          </a:p>
        </p:txBody>
      </p:sp>
      <p:pic>
        <p:nvPicPr>
          <p:cNvPr id="10" name="Picture 4" descr="Text&#10;&#10;Description automatically generated">
            <a:extLst>
              <a:ext uri="{FF2B5EF4-FFF2-40B4-BE49-F238E27FC236}">
                <a16:creationId xmlns:a16="http://schemas.microsoft.com/office/drawing/2014/main" id="{0F5697FB-9CA1-F752-199E-9850765E5985}"/>
              </a:ext>
            </a:extLst>
          </p:cNvPr>
          <p:cNvPicPr>
            <a:picLocks noChangeAspect="1"/>
          </p:cNvPicPr>
          <p:nvPr/>
        </p:nvPicPr>
        <p:blipFill>
          <a:blip r:embed="rId4"/>
          <a:stretch>
            <a:fillRect/>
          </a:stretch>
        </p:blipFill>
        <p:spPr>
          <a:xfrm>
            <a:off x="9521178" y="6143087"/>
            <a:ext cx="2484335" cy="468000"/>
          </a:xfrm>
          <a:prstGeom prst="rect">
            <a:avLst/>
          </a:prstGeom>
        </p:spPr>
      </p:pic>
      <p:sp>
        <p:nvSpPr>
          <p:cNvPr id="2" name="TextBox 1">
            <a:extLst>
              <a:ext uri="{FF2B5EF4-FFF2-40B4-BE49-F238E27FC236}">
                <a16:creationId xmlns:a16="http://schemas.microsoft.com/office/drawing/2014/main" id="{BD7CD3A7-0727-D2BA-454C-C6C1ED81EACA}"/>
              </a:ext>
            </a:extLst>
          </p:cNvPr>
          <p:cNvSpPr txBox="1"/>
          <p:nvPr/>
        </p:nvSpPr>
        <p:spPr>
          <a:xfrm>
            <a:off x="2139950" y="1835038"/>
            <a:ext cx="10052049" cy="584775"/>
          </a:xfrm>
          <a:prstGeom prst="rect">
            <a:avLst/>
          </a:prstGeom>
          <a:solidFill>
            <a:schemeClr val="accent3">
              <a:lumMod val="50000"/>
              <a:alpha val="44000"/>
            </a:schemeClr>
          </a:solidFill>
        </p:spPr>
        <p:txBody>
          <a:bodyPr wrap="square" lIns="91440" tIns="45720" rIns="91440" bIns="45720" rtlCol="0" anchor="t">
            <a:spAutoFit/>
          </a:bodyPr>
          <a:lstStyle/>
          <a:p>
            <a:pPr algn="r"/>
            <a:r>
              <a:rPr lang="en-US" sz="3200" b="1">
                <a:solidFill>
                  <a:schemeClr val="bg1"/>
                </a:solidFill>
                <a:latin typeface="Calibri"/>
                <a:ea typeface="Calibri"/>
                <a:cs typeface="Calibri"/>
              </a:rPr>
              <a:t>Agenda overview</a:t>
            </a:r>
            <a:endParaRPr lang="en-US" sz="3200">
              <a:solidFill>
                <a:schemeClr val="bg1"/>
              </a:solidFill>
              <a:latin typeface="Calibri"/>
              <a:ea typeface="Calibri"/>
              <a:cs typeface="Calibri"/>
            </a:endParaRPr>
          </a:p>
        </p:txBody>
      </p:sp>
      <p:sp>
        <p:nvSpPr>
          <p:cNvPr id="3" name="TextBox 2">
            <a:extLst>
              <a:ext uri="{FF2B5EF4-FFF2-40B4-BE49-F238E27FC236}">
                <a16:creationId xmlns:a16="http://schemas.microsoft.com/office/drawing/2014/main" id="{434B3DC3-FE25-4341-F848-C67AC8DCF82B}"/>
              </a:ext>
            </a:extLst>
          </p:cNvPr>
          <p:cNvSpPr txBox="1"/>
          <p:nvPr/>
        </p:nvSpPr>
        <p:spPr>
          <a:xfrm>
            <a:off x="6733838" y="4932052"/>
            <a:ext cx="5458162" cy="646331"/>
          </a:xfrm>
          <a:prstGeom prst="rect">
            <a:avLst/>
          </a:prstGeom>
          <a:solidFill>
            <a:schemeClr val="accent3">
              <a:lumMod val="50000"/>
              <a:alpha val="54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b="1" dirty="0">
                <a:solidFill>
                  <a:schemeClr val="bg1"/>
                </a:solidFill>
                <a:latin typeface="Calibri"/>
                <a:ea typeface="Calibri"/>
                <a:cs typeface="Calibri"/>
              </a:rPr>
              <a:t>7-9 October 2025</a:t>
            </a:r>
          </a:p>
          <a:p>
            <a:pPr algn="r"/>
            <a:r>
              <a:rPr lang="en-US" b="1" dirty="0">
                <a:solidFill>
                  <a:schemeClr val="bg1"/>
                </a:solidFill>
                <a:latin typeface="Calibri"/>
                <a:ea typeface="Calibri"/>
                <a:cs typeface="Calibri"/>
              </a:rPr>
              <a:t>Sarajevo | Bosnia and Herzegovina</a:t>
            </a:r>
          </a:p>
        </p:txBody>
      </p:sp>
      <p:sp>
        <p:nvSpPr>
          <p:cNvPr id="5" name="TextBox 4">
            <a:extLst>
              <a:ext uri="{FF2B5EF4-FFF2-40B4-BE49-F238E27FC236}">
                <a16:creationId xmlns:a16="http://schemas.microsoft.com/office/drawing/2014/main" id="{0E1E1BFF-DED0-5E15-A284-16EDA01BE0BF}"/>
              </a:ext>
            </a:extLst>
          </p:cNvPr>
          <p:cNvSpPr txBox="1"/>
          <p:nvPr/>
        </p:nvSpPr>
        <p:spPr>
          <a:xfrm rot="-5400000">
            <a:off x="-1081875" y="5380086"/>
            <a:ext cx="2536723" cy="215444"/>
          </a:xfrm>
          <a:prstGeom prst="rect">
            <a:avLst/>
          </a:prstGeom>
          <a:noFill/>
        </p:spPr>
        <p:txBody>
          <a:bodyPr wrap="square" lIns="91440" tIns="45720" rIns="91440" bIns="45720" rtlCol="0" anchor="t">
            <a:spAutoFit/>
          </a:bodyPr>
          <a:lstStyle/>
          <a:p>
            <a:r>
              <a:rPr lang="en-US" sz="800">
                <a:solidFill>
                  <a:schemeClr val="bg1"/>
                </a:solidFill>
                <a:ea typeface="+mn-lt"/>
                <a:cs typeface="+mn-lt"/>
              </a:rPr>
              <a:t>© Paweł </a:t>
            </a:r>
            <a:r>
              <a:rPr lang="en-US" sz="800" err="1">
                <a:solidFill>
                  <a:schemeClr val="bg1"/>
                </a:solidFill>
                <a:ea typeface="+mn-lt"/>
                <a:cs typeface="+mn-lt"/>
              </a:rPr>
              <a:t>Kurzański</a:t>
            </a:r>
            <a:r>
              <a:rPr lang="en-US" sz="800">
                <a:solidFill>
                  <a:schemeClr val="bg1"/>
                </a:solidFill>
                <a:ea typeface="+mn-lt"/>
                <a:cs typeface="+mn-lt"/>
              </a:rPr>
              <a:t>, Well with Nature/EEA</a:t>
            </a:r>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AC965-BC71-FCFE-D901-E22D030FEE8B}"/>
              </a:ext>
            </a:extLst>
          </p:cNvPr>
          <p:cNvSpPr>
            <a:spLocks noGrp="1"/>
          </p:cNvSpPr>
          <p:nvPr>
            <p:ph type="title"/>
          </p:nvPr>
        </p:nvSpPr>
        <p:spPr/>
        <p:txBody>
          <a:bodyPr/>
          <a:lstStyle/>
          <a:p>
            <a:r>
              <a:rPr lang="en-US" sz="4000" dirty="0">
                <a:solidFill>
                  <a:srgbClr val="004B7F"/>
                </a:solidFill>
                <a:latin typeface="Calibri Light"/>
                <a:cs typeface="Calibri"/>
              </a:rPr>
              <a:t>Training agenda</a:t>
            </a:r>
          </a:p>
        </p:txBody>
      </p:sp>
      <p:sp>
        <p:nvSpPr>
          <p:cNvPr id="3" name="Text Placeholder 2">
            <a:extLst>
              <a:ext uri="{FF2B5EF4-FFF2-40B4-BE49-F238E27FC236}">
                <a16:creationId xmlns:a16="http://schemas.microsoft.com/office/drawing/2014/main" id="{E8BC523A-4036-924C-8F38-969523F90A7E}"/>
              </a:ext>
            </a:extLst>
          </p:cNvPr>
          <p:cNvSpPr>
            <a:spLocks noGrp="1"/>
          </p:cNvSpPr>
          <p:nvPr>
            <p:ph type="body" idx="1"/>
          </p:nvPr>
        </p:nvSpPr>
        <p:spPr>
          <a:xfrm>
            <a:off x="6985832" y="1316718"/>
            <a:ext cx="5157787" cy="823912"/>
          </a:xfrm>
        </p:spPr>
        <p:txBody>
          <a:bodyPr/>
          <a:lstStyle/>
          <a:p>
            <a:r>
              <a:rPr lang="en-US" dirty="0">
                <a:latin typeface="Calibri"/>
                <a:ea typeface="Calibri"/>
                <a:cs typeface="Calibri"/>
              </a:rPr>
              <a:t>Twelve data flows:</a:t>
            </a:r>
          </a:p>
        </p:txBody>
      </p:sp>
      <p:sp>
        <p:nvSpPr>
          <p:cNvPr id="4" name="Content Placeholder 3">
            <a:extLst>
              <a:ext uri="{FF2B5EF4-FFF2-40B4-BE49-F238E27FC236}">
                <a16:creationId xmlns:a16="http://schemas.microsoft.com/office/drawing/2014/main" id="{339449A6-1CCB-2D71-DFC7-BBB8B75E83AB}"/>
              </a:ext>
            </a:extLst>
          </p:cNvPr>
          <p:cNvSpPr>
            <a:spLocks noGrp="1"/>
          </p:cNvSpPr>
          <p:nvPr>
            <p:ph sz="half" idx="2"/>
          </p:nvPr>
        </p:nvSpPr>
        <p:spPr>
          <a:xfrm>
            <a:off x="6873279" y="2414125"/>
            <a:ext cx="4864562" cy="3684588"/>
          </a:xfrm>
        </p:spPr>
        <p:txBody>
          <a:bodyPr vert="horz" lIns="91440" tIns="45720" rIns="91440" bIns="45720" rtlCol="0" anchor="t">
            <a:noAutofit/>
          </a:bodyPr>
          <a:lstStyle/>
          <a:p>
            <a:r>
              <a:rPr lang="en-US" sz="1400" b="1" dirty="0">
                <a:solidFill>
                  <a:srgbClr val="4472C4"/>
                </a:solidFill>
                <a:latin typeface="Calibri"/>
                <a:ea typeface="Calibri"/>
                <a:cs typeface="Calibri"/>
              </a:rPr>
              <a:t>GHG Inventories </a:t>
            </a:r>
            <a:endParaRPr lang="en-GB" sz="1400">
              <a:solidFill>
                <a:srgbClr val="4472C4"/>
              </a:solidFill>
              <a:latin typeface="Calibri"/>
              <a:ea typeface="Calibri"/>
              <a:cs typeface="Calibri"/>
            </a:endParaRPr>
          </a:p>
          <a:p>
            <a:r>
              <a:rPr lang="en-US" sz="1400" b="1" dirty="0">
                <a:solidFill>
                  <a:srgbClr val="4472C4"/>
                </a:solidFill>
                <a:latin typeface="Calibri"/>
                <a:ea typeface="Calibri"/>
                <a:cs typeface="Calibri"/>
              </a:rPr>
              <a:t>Approximated GHG Inventories</a:t>
            </a:r>
            <a:endParaRPr lang="en-GB" sz="1400">
              <a:solidFill>
                <a:srgbClr val="4472C4"/>
              </a:solidFill>
              <a:latin typeface="Calibri"/>
              <a:ea typeface="Calibri"/>
              <a:cs typeface="Calibri"/>
            </a:endParaRPr>
          </a:p>
          <a:p>
            <a:r>
              <a:rPr lang="en-US" sz="1400" b="1" dirty="0">
                <a:solidFill>
                  <a:srgbClr val="BF8F00"/>
                </a:solidFill>
                <a:latin typeface="Calibri"/>
                <a:ea typeface="Calibri"/>
                <a:cs typeface="Calibri"/>
              </a:rPr>
              <a:t>NECP IPR:</a:t>
            </a:r>
            <a:r>
              <a:rPr lang="en-US" sz="1400" dirty="0">
                <a:solidFill>
                  <a:srgbClr val="000000"/>
                </a:solidFill>
                <a:latin typeface="Calibri"/>
                <a:ea typeface="Calibri"/>
                <a:cs typeface="Calibri"/>
              </a:rPr>
              <a:t> Integrated </a:t>
            </a:r>
            <a:r>
              <a:rPr lang="en-US" sz="1400" err="1">
                <a:solidFill>
                  <a:srgbClr val="000000"/>
                </a:solidFill>
                <a:latin typeface="Calibri"/>
                <a:ea typeface="Calibri"/>
                <a:cs typeface="Calibri"/>
              </a:rPr>
              <a:t>PaMs</a:t>
            </a:r>
            <a:endParaRPr lang="en-GB" sz="1400">
              <a:solidFill>
                <a:srgbClr val="000000"/>
              </a:solidFill>
              <a:latin typeface="Calibri"/>
              <a:ea typeface="Calibri"/>
              <a:cs typeface="Calibri"/>
            </a:endParaRPr>
          </a:p>
          <a:p>
            <a:r>
              <a:rPr lang="en-US" sz="1400" b="1" dirty="0">
                <a:solidFill>
                  <a:srgbClr val="BF8F00"/>
                </a:solidFill>
                <a:latin typeface="Calibri"/>
                <a:ea typeface="Calibri"/>
                <a:cs typeface="Calibri"/>
              </a:rPr>
              <a:t>NECP IPR:</a:t>
            </a:r>
            <a:r>
              <a:rPr lang="en-US" sz="1400" dirty="0">
                <a:solidFill>
                  <a:srgbClr val="000000"/>
                </a:solidFill>
                <a:latin typeface="Calibri"/>
                <a:ea typeface="Calibri"/>
                <a:cs typeface="Calibri"/>
              </a:rPr>
              <a:t> Progress to Targets GHG Emissions</a:t>
            </a:r>
            <a:endParaRPr lang="en-GB" sz="1400">
              <a:solidFill>
                <a:srgbClr val="000000"/>
              </a:solidFill>
              <a:latin typeface="Calibri"/>
              <a:ea typeface="Calibri"/>
              <a:cs typeface="Calibri"/>
            </a:endParaRPr>
          </a:p>
          <a:p>
            <a:r>
              <a:rPr lang="en-US" sz="1400" b="1" dirty="0">
                <a:solidFill>
                  <a:srgbClr val="BF8F00"/>
                </a:solidFill>
                <a:latin typeface="Calibri"/>
                <a:ea typeface="Calibri"/>
                <a:cs typeface="Calibri"/>
              </a:rPr>
              <a:t>NECP IPR:</a:t>
            </a:r>
            <a:r>
              <a:rPr lang="en-US" sz="1400" dirty="0">
                <a:solidFill>
                  <a:srgbClr val="000000"/>
                </a:solidFill>
                <a:latin typeface="Calibri"/>
                <a:ea typeface="Calibri"/>
                <a:cs typeface="Calibri"/>
              </a:rPr>
              <a:t> Progress to Targets Renewable Energy Systems</a:t>
            </a:r>
            <a:endParaRPr lang="en-GB" sz="1400">
              <a:solidFill>
                <a:srgbClr val="000000"/>
              </a:solidFill>
              <a:latin typeface="Calibri"/>
              <a:ea typeface="Calibri"/>
              <a:cs typeface="Calibri"/>
            </a:endParaRPr>
          </a:p>
          <a:p>
            <a:r>
              <a:rPr lang="en-US" sz="1400" b="1" dirty="0">
                <a:solidFill>
                  <a:srgbClr val="BF8F00"/>
                </a:solidFill>
                <a:latin typeface="Calibri"/>
                <a:ea typeface="Calibri"/>
                <a:cs typeface="Calibri"/>
              </a:rPr>
              <a:t>NECP IPR:</a:t>
            </a:r>
            <a:r>
              <a:rPr lang="en-US" sz="1400" dirty="0">
                <a:solidFill>
                  <a:srgbClr val="000000"/>
                </a:solidFill>
                <a:latin typeface="Calibri"/>
                <a:ea typeface="Calibri"/>
                <a:cs typeface="Calibri"/>
              </a:rPr>
              <a:t> Progress to Targets Energy Efficiency</a:t>
            </a:r>
            <a:endParaRPr lang="en-GB" sz="1400">
              <a:solidFill>
                <a:srgbClr val="000000"/>
              </a:solidFill>
              <a:latin typeface="Calibri"/>
              <a:ea typeface="Calibri"/>
              <a:cs typeface="Calibri"/>
            </a:endParaRPr>
          </a:p>
          <a:p>
            <a:r>
              <a:rPr lang="en-US" sz="1400" b="1" dirty="0">
                <a:solidFill>
                  <a:srgbClr val="BF8F00"/>
                </a:solidFill>
                <a:latin typeface="Calibri"/>
                <a:ea typeface="Calibri"/>
                <a:cs typeface="Calibri"/>
              </a:rPr>
              <a:t>NECP IPR: </a:t>
            </a:r>
            <a:r>
              <a:rPr lang="en-US" sz="1400" dirty="0">
                <a:solidFill>
                  <a:srgbClr val="000000"/>
                </a:solidFill>
                <a:latin typeface="Calibri"/>
                <a:ea typeface="Calibri"/>
                <a:cs typeface="Calibri"/>
              </a:rPr>
              <a:t>Progress to Targets </a:t>
            </a:r>
            <a:r>
              <a:rPr lang="en-US" sz="1400" b="1" dirty="0">
                <a:solidFill>
                  <a:srgbClr val="70AD47"/>
                </a:solidFill>
                <a:latin typeface="Calibri"/>
                <a:ea typeface="Calibri"/>
                <a:cs typeface="Calibri"/>
              </a:rPr>
              <a:t>Adaptation</a:t>
            </a:r>
          </a:p>
          <a:p>
            <a:r>
              <a:rPr lang="en-US" sz="1400" b="1" dirty="0">
                <a:solidFill>
                  <a:srgbClr val="BF8F00"/>
                </a:solidFill>
                <a:latin typeface="Calibri"/>
                <a:ea typeface="Calibri"/>
                <a:cs typeface="Calibri"/>
              </a:rPr>
              <a:t>NECP IPR:</a:t>
            </a:r>
            <a:r>
              <a:rPr lang="en-US" sz="1400" dirty="0">
                <a:solidFill>
                  <a:srgbClr val="000000"/>
                </a:solidFill>
                <a:latin typeface="Calibri"/>
                <a:ea typeface="Calibri"/>
                <a:cs typeface="Calibri"/>
              </a:rPr>
              <a:t> Additional Reporting Obligations RES</a:t>
            </a:r>
            <a:endParaRPr lang="en-GB" sz="1400">
              <a:solidFill>
                <a:srgbClr val="000000"/>
              </a:solidFill>
              <a:latin typeface="Calibri"/>
              <a:ea typeface="Calibri"/>
              <a:cs typeface="Calibri"/>
            </a:endParaRPr>
          </a:p>
          <a:p>
            <a:r>
              <a:rPr lang="en-US" sz="1400" b="1" dirty="0">
                <a:solidFill>
                  <a:srgbClr val="BF8F00"/>
                </a:solidFill>
                <a:latin typeface="Calibri"/>
                <a:ea typeface="Calibri"/>
                <a:cs typeface="Calibri"/>
              </a:rPr>
              <a:t>NECP IPR:</a:t>
            </a:r>
            <a:r>
              <a:rPr lang="en-US" sz="1400" dirty="0">
                <a:solidFill>
                  <a:srgbClr val="000000"/>
                </a:solidFill>
                <a:latin typeface="Calibri"/>
                <a:ea typeface="Calibri"/>
                <a:cs typeface="Calibri"/>
              </a:rPr>
              <a:t> Additional Reporting Obligations EE</a:t>
            </a:r>
            <a:endParaRPr lang="en-GB" sz="1400">
              <a:solidFill>
                <a:srgbClr val="000000"/>
              </a:solidFill>
              <a:latin typeface="Calibri"/>
              <a:ea typeface="Calibri"/>
              <a:cs typeface="Calibri"/>
            </a:endParaRPr>
          </a:p>
          <a:p>
            <a:r>
              <a:rPr lang="en-US" sz="1400" b="1" dirty="0">
                <a:solidFill>
                  <a:srgbClr val="7B7B7B"/>
                </a:solidFill>
                <a:latin typeface="Calibri"/>
                <a:ea typeface="Calibri"/>
                <a:cs typeface="Calibri"/>
              </a:rPr>
              <a:t>GHG Projections</a:t>
            </a:r>
            <a:endParaRPr lang="en-GB" sz="1400" b="1">
              <a:solidFill>
                <a:srgbClr val="7B7B7B"/>
              </a:solidFill>
              <a:latin typeface="Calibri"/>
              <a:ea typeface="Calibri"/>
              <a:cs typeface="Calibri"/>
            </a:endParaRPr>
          </a:p>
          <a:p>
            <a:r>
              <a:rPr lang="en-US" sz="1400" b="1" dirty="0">
                <a:solidFill>
                  <a:srgbClr val="7B7B7B"/>
                </a:solidFill>
                <a:latin typeface="Calibri"/>
                <a:ea typeface="Calibri"/>
                <a:cs typeface="Calibri"/>
              </a:rPr>
              <a:t>National Systems for </a:t>
            </a:r>
            <a:r>
              <a:rPr lang="en-US" sz="1400" b="1" err="1">
                <a:solidFill>
                  <a:srgbClr val="7B7B7B"/>
                </a:solidFill>
                <a:latin typeface="Calibri"/>
                <a:ea typeface="Calibri"/>
                <a:cs typeface="Calibri"/>
              </a:rPr>
              <a:t>PaMs</a:t>
            </a:r>
            <a:r>
              <a:rPr lang="en-US" sz="1400" b="1" dirty="0">
                <a:solidFill>
                  <a:srgbClr val="7B7B7B"/>
                </a:solidFill>
                <a:latin typeface="Calibri"/>
                <a:ea typeface="Calibri"/>
                <a:cs typeface="Calibri"/>
              </a:rPr>
              <a:t> and Projections</a:t>
            </a:r>
            <a:endParaRPr lang="en-GB" sz="1400">
              <a:solidFill>
                <a:srgbClr val="7B7B7B"/>
              </a:solidFill>
              <a:latin typeface="Calibri"/>
              <a:ea typeface="Calibri"/>
              <a:cs typeface="Calibri"/>
            </a:endParaRPr>
          </a:p>
          <a:p>
            <a:r>
              <a:rPr lang="en-US" sz="1400" b="1" dirty="0">
                <a:solidFill>
                  <a:srgbClr val="70AD47"/>
                </a:solidFill>
                <a:latin typeface="Calibri"/>
                <a:ea typeface="Calibri"/>
                <a:cs typeface="Calibri"/>
              </a:rPr>
              <a:t>Climate Adaptation:</a:t>
            </a:r>
            <a:r>
              <a:rPr lang="en-US" sz="1400" dirty="0">
                <a:solidFill>
                  <a:srgbClr val="000000"/>
                </a:solidFill>
                <a:latin typeface="Calibri"/>
                <a:ea typeface="Calibri"/>
                <a:cs typeface="Calibri"/>
              </a:rPr>
              <a:t> National climate change adaptation planning and strategies</a:t>
            </a:r>
          </a:p>
          <a:p>
            <a:endParaRPr lang="en-US" sz="1200" dirty="0">
              <a:solidFill>
                <a:srgbClr val="000000"/>
              </a:solidFill>
              <a:latin typeface="Calibri"/>
              <a:ea typeface="Calibri"/>
              <a:cs typeface="Calibri"/>
            </a:endParaRPr>
          </a:p>
          <a:p>
            <a:endParaRPr lang="en-GB" sz="1800" dirty="0">
              <a:solidFill>
                <a:srgbClr val="BF8F00"/>
              </a:solidFill>
            </a:endParaRPr>
          </a:p>
          <a:p>
            <a:endParaRPr lang="en-US" sz="1800" dirty="0"/>
          </a:p>
        </p:txBody>
      </p:sp>
      <p:sp>
        <p:nvSpPr>
          <p:cNvPr id="5" name="Text Placeholder 4">
            <a:extLst>
              <a:ext uri="{FF2B5EF4-FFF2-40B4-BE49-F238E27FC236}">
                <a16:creationId xmlns:a16="http://schemas.microsoft.com/office/drawing/2014/main" id="{22C47C19-BB3A-9048-29F1-C75F34384FE1}"/>
              </a:ext>
            </a:extLst>
          </p:cNvPr>
          <p:cNvSpPr>
            <a:spLocks noGrp="1"/>
          </p:cNvSpPr>
          <p:nvPr>
            <p:ph type="body" sz="quarter" idx="3"/>
          </p:nvPr>
        </p:nvSpPr>
        <p:spPr>
          <a:xfrm>
            <a:off x="864431" y="1316718"/>
            <a:ext cx="5183188" cy="823912"/>
          </a:xfrm>
        </p:spPr>
        <p:txBody>
          <a:bodyPr/>
          <a:lstStyle/>
          <a:p>
            <a:r>
              <a:rPr lang="en-US" dirty="0">
                <a:latin typeface="Calibri"/>
                <a:ea typeface="Calibri"/>
                <a:cs typeface="Calibri"/>
              </a:rPr>
              <a:t>Training objectives:</a:t>
            </a:r>
          </a:p>
        </p:txBody>
      </p:sp>
      <p:sp>
        <p:nvSpPr>
          <p:cNvPr id="6" name="Content Placeholder 5">
            <a:extLst>
              <a:ext uri="{FF2B5EF4-FFF2-40B4-BE49-F238E27FC236}">
                <a16:creationId xmlns:a16="http://schemas.microsoft.com/office/drawing/2014/main" id="{8EBD46D0-09CA-39FE-EA32-DE78FD5D0C32}"/>
              </a:ext>
            </a:extLst>
          </p:cNvPr>
          <p:cNvSpPr>
            <a:spLocks noGrp="1"/>
          </p:cNvSpPr>
          <p:nvPr>
            <p:ph sz="quarter" idx="4"/>
          </p:nvPr>
        </p:nvSpPr>
        <p:spPr>
          <a:xfrm>
            <a:off x="791406" y="2414125"/>
            <a:ext cx="5549437" cy="3684588"/>
          </a:xfrm>
        </p:spPr>
        <p:txBody>
          <a:bodyPr vert="horz" lIns="91440" tIns="45720" rIns="91440" bIns="45720" rtlCol="0" anchor="t">
            <a:noAutofit/>
          </a:bodyPr>
          <a:lstStyle/>
          <a:p>
            <a:r>
              <a:rPr lang="en-GB" sz="2000" b="1" dirty="0">
                <a:latin typeface="Calibri"/>
                <a:ea typeface="+mn-lt"/>
                <a:cs typeface="+mn-lt"/>
              </a:rPr>
              <a:t>Train the Bosnia and Herzegovina reporting team </a:t>
            </a:r>
            <a:r>
              <a:rPr lang="en-GB" sz="2000" dirty="0">
                <a:latin typeface="Calibri"/>
                <a:ea typeface="+mn-lt"/>
                <a:cs typeface="+mn-lt"/>
              </a:rPr>
              <a:t>to understand reporting obligations and data requirements under the adapted Governance Regulation.</a:t>
            </a:r>
            <a:endParaRPr lang="en-US" sz="2000">
              <a:latin typeface="Calibri"/>
              <a:ea typeface="Calibri"/>
              <a:cs typeface="Calibri"/>
            </a:endParaRPr>
          </a:p>
          <a:p>
            <a:r>
              <a:rPr lang="en-GB" sz="2000" b="1" dirty="0">
                <a:latin typeface="Calibri"/>
                <a:ea typeface="+mn-lt"/>
                <a:cs typeface="+mn-lt"/>
              </a:rPr>
              <a:t>Build practical skills</a:t>
            </a:r>
            <a:r>
              <a:rPr lang="en-GB" sz="2000" dirty="0">
                <a:latin typeface="Calibri"/>
                <a:ea typeface="+mn-lt"/>
                <a:cs typeface="+mn-lt"/>
              </a:rPr>
              <a:t> in using </a:t>
            </a:r>
            <a:r>
              <a:rPr lang="en-GB" sz="2000" err="1">
                <a:latin typeface="Calibri"/>
                <a:ea typeface="+mn-lt"/>
                <a:cs typeface="+mn-lt"/>
              </a:rPr>
              <a:t>Reportnet</a:t>
            </a:r>
            <a:r>
              <a:rPr lang="en-GB" sz="2000" dirty="0">
                <a:latin typeface="Calibri"/>
                <a:ea typeface="+mn-lt"/>
                <a:cs typeface="+mn-lt"/>
              </a:rPr>
              <a:t> 3 through demonstrations, real-data exercises, and hands-on practice.</a:t>
            </a:r>
            <a:endParaRPr lang="en-GB" sz="2000">
              <a:latin typeface="Calibri"/>
              <a:ea typeface="Calibri"/>
              <a:cs typeface="Calibri"/>
            </a:endParaRPr>
          </a:p>
          <a:p>
            <a:r>
              <a:rPr lang="en-GB" sz="2000" b="1" dirty="0">
                <a:latin typeface="Calibri"/>
                <a:ea typeface="+mn-lt"/>
                <a:cs typeface="+mn-lt"/>
              </a:rPr>
              <a:t>Identify challenges and solutions</a:t>
            </a:r>
            <a:r>
              <a:rPr lang="en-GB" sz="2000" dirty="0">
                <a:latin typeface="Calibri"/>
                <a:ea typeface="+mn-lt"/>
                <a:cs typeface="+mn-lt"/>
              </a:rPr>
              <a:t> by engaging participants in interactive activities and discussions.</a:t>
            </a:r>
            <a:endParaRPr lang="en-US" sz="2000">
              <a:latin typeface="Calibri"/>
              <a:ea typeface="Calibri"/>
              <a:cs typeface="Calibri"/>
            </a:endParaRPr>
          </a:p>
          <a:p>
            <a:r>
              <a:rPr lang="en-GB" sz="2000" b="1" dirty="0">
                <a:latin typeface="Calibri"/>
                <a:ea typeface="+mn-lt"/>
                <a:cs typeface="+mn-lt"/>
              </a:rPr>
              <a:t>Foster collaboration</a:t>
            </a:r>
            <a:r>
              <a:rPr lang="en-GB" sz="2000" dirty="0">
                <a:latin typeface="Calibri"/>
                <a:ea typeface="+mn-lt"/>
                <a:cs typeface="+mn-lt"/>
              </a:rPr>
              <a:t> amongst national institutions and international partners to ensure effective coordination and knowledge sharing.</a:t>
            </a:r>
            <a:endParaRPr lang="en-GB" sz="2000">
              <a:latin typeface="Calibri"/>
              <a:ea typeface="Calibri"/>
              <a:cs typeface="Calibri"/>
            </a:endParaRPr>
          </a:p>
          <a:p>
            <a:pPr>
              <a:spcAft>
                <a:spcPts val="1200"/>
              </a:spcAft>
            </a:pPr>
            <a:endParaRPr lang="en-GB" u="sng" dirty="0">
              <a:latin typeface="Calibri"/>
              <a:ea typeface="Calibri"/>
              <a:cs typeface="Calibri"/>
            </a:endParaRPr>
          </a:p>
          <a:p>
            <a:pPr>
              <a:spcAft>
                <a:spcPts val="1200"/>
              </a:spcAft>
            </a:pPr>
            <a:endParaRPr lang="en-US" dirty="0">
              <a:latin typeface="Calibri"/>
              <a:ea typeface="Calibri"/>
              <a:cs typeface="Calibri"/>
            </a:endParaRPr>
          </a:p>
        </p:txBody>
      </p:sp>
    </p:spTree>
    <p:extLst>
      <p:ext uri="{BB962C8B-B14F-4D97-AF65-F5344CB8AC3E}">
        <p14:creationId xmlns:p14="http://schemas.microsoft.com/office/powerpoint/2010/main" val="1382150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66E3-98EA-20F7-5995-E66248462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DE9F9-3AA5-33A7-4047-4BB024B2E3D3}"/>
              </a:ext>
            </a:extLst>
          </p:cNvPr>
          <p:cNvSpPr>
            <a:spLocks noGrp="1"/>
          </p:cNvSpPr>
          <p:nvPr>
            <p:ph type="title"/>
          </p:nvPr>
        </p:nvSpPr>
        <p:spPr>
          <a:xfrm>
            <a:off x="428206" y="0"/>
            <a:ext cx="5791200" cy="1325563"/>
          </a:xfrm>
        </p:spPr>
        <p:txBody>
          <a:bodyPr/>
          <a:lstStyle/>
          <a:p>
            <a:r>
              <a:rPr lang="en-US" sz="4000" dirty="0">
                <a:solidFill>
                  <a:srgbClr val="004B7F"/>
                </a:solidFill>
                <a:latin typeface="Calibri Light"/>
                <a:cs typeface="Calibri"/>
              </a:rPr>
              <a:t>Day 1 – Tuesday 7 October</a:t>
            </a:r>
            <a:endParaRPr lang="en-US" dirty="0">
              <a:solidFill>
                <a:srgbClr val="004B7F"/>
              </a:solidFill>
            </a:endParaRPr>
          </a:p>
        </p:txBody>
      </p:sp>
      <p:graphicFrame>
        <p:nvGraphicFramePr>
          <p:cNvPr id="6" name="Content Placeholder 5">
            <a:extLst>
              <a:ext uri="{FF2B5EF4-FFF2-40B4-BE49-F238E27FC236}">
                <a16:creationId xmlns:a16="http://schemas.microsoft.com/office/drawing/2014/main" id="{0EA7EB79-A0F1-4C6A-CFD4-7AE98CDB5F7C}"/>
              </a:ext>
            </a:extLst>
          </p:cNvPr>
          <p:cNvGraphicFramePr>
            <a:graphicFrameLocks noGrp="1"/>
          </p:cNvGraphicFramePr>
          <p:nvPr>
            <p:ph idx="1"/>
            <p:extLst>
              <p:ext uri="{D42A27DB-BD31-4B8C-83A1-F6EECF244321}">
                <p14:modId xmlns:p14="http://schemas.microsoft.com/office/powerpoint/2010/main" val="248283448"/>
              </p:ext>
            </p:extLst>
          </p:nvPr>
        </p:nvGraphicFramePr>
        <p:xfrm>
          <a:off x="318105" y="1112006"/>
          <a:ext cx="11592065" cy="5161263"/>
        </p:xfrm>
        <a:graphic>
          <a:graphicData uri="http://schemas.openxmlformats.org/drawingml/2006/table">
            <a:tbl>
              <a:tblPr firstRow="1" firstCol="1" bandRow="1">
                <a:tableStyleId>{5C22544A-7EE6-4342-B048-85BDC9FD1C3A}</a:tableStyleId>
              </a:tblPr>
              <a:tblGrid>
                <a:gridCol w="5638894">
                  <a:extLst>
                    <a:ext uri="{9D8B030D-6E8A-4147-A177-3AD203B41FA5}">
                      <a16:colId xmlns:a16="http://schemas.microsoft.com/office/drawing/2014/main" val="453777874"/>
                    </a:ext>
                  </a:extLst>
                </a:gridCol>
                <a:gridCol w="5953171">
                  <a:extLst>
                    <a:ext uri="{9D8B030D-6E8A-4147-A177-3AD203B41FA5}">
                      <a16:colId xmlns:a16="http://schemas.microsoft.com/office/drawing/2014/main" val="4280376197"/>
                    </a:ext>
                  </a:extLst>
                </a:gridCol>
              </a:tblGrid>
              <a:tr h="231352">
                <a:tc gridSpan="2">
                  <a:txBody>
                    <a:bodyPr/>
                    <a:lstStyle/>
                    <a:p>
                      <a:pPr>
                        <a:lnSpc>
                          <a:spcPct val="115000"/>
                        </a:lnSpc>
                        <a:buNone/>
                      </a:pPr>
                      <a:r>
                        <a:rPr lang="en-US" sz="1100" b="1" dirty="0">
                          <a:solidFill>
                            <a:srgbClr val="FFFFFF"/>
                          </a:solidFill>
                          <a:effectLst/>
                          <a:latin typeface="Calibri"/>
                          <a:ea typeface="Calibri"/>
                          <a:cs typeface="Calibri"/>
                        </a:rPr>
                        <a:t>Overview of the 2025 reporting process</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3864"/>
                    </a:solidFill>
                  </a:tcPr>
                </a:tc>
                <a:tc hMerge="1">
                  <a:txBody>
                    <a:bodyPr/>
                    <a:lstStyle/>
                    <a:p>
                      <a:endParaRPr lang="en-US"/>
                    </a:p>
                  </a:txBody>
                  <a:tcPr/>
                </a:tc>
                <a:extLst>
                  <a:ext uri="{0D108BD9-81ED-4DB2-BD59-A6C34878D82A}">
                    <a16:rowId xmlns:a16="http://schemas.microsoft.com/office/drawing/2014/main" val="1289928450"/>
                  </a:ext>
                </a:extLst>
              </a:tr>
              <a:tr h="450528">
                <a:tc>
                  <a:txBody>
                    <a:bodyPr/>
                    <a:lstStyle/>
                    <a:p>
                      <a:pPr>
                        <a:lnSpc>
                          <a:spcPct val="115000"/>
                        </a:lnSpc>
                        <a:buNone/>
                      </a:pPr>
                      <a:r>
                        <a:rPr lang="en-US" sz="1100" dirty="0">
                          <a:effectLst/>
                          <a:latin typeface="Calibri"/>
                          <a:ea typeface="Calibri"/>
                          <a:cs typeface="Calibri"/>
                        </a:rPr>
                        <a:t>08:45-09:00</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Registration and arrival</a:t>
                      </a:r>
                    </a:p>
                    <a:p>
                      <a:pPr>
                        <a:lnSpc>
                          <a:spcPct val="115000"/>
                        </a:lnSpc>
                        <a:buNone/>
                      </a:pPr>
                      <a:r>
                        <a:rPr lang="en-US" sz="1100" dirty="0">
                          <a:effectLst/>
                          <a:latin typeface="Calibri"/>
                          <a:ea typeface="Calibri"/>
                          <a:cs typeface="Calibri"/>
                        </a:rPr>
                        <a:t> </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8681245"/>
                  </a:ext>
                </a:extLst>
              </a:tr>
              <a:tr h="450528">
                <a:tc>
                  <a:txBody>
                    <a:bodyPr/>
                    <a:lstStyle/>
                    <a:p>
                      <a:pPr>
                        <a:lnSpc>
                          <a:spcPct val="115000"/>
                        </a:lnSpc>
                        <a:buNone/>
                      </a:pPr>
                      <a:r>
                        <a:rPr lang="en-US" sz="1100" dirty="0">
                          <a:effectLst/>
                          <a:latin typeface="Calibri"/>
                          <a:ea typeface="Calibri"/>
                          <a:cs typeface="Calibri"/>
                        </a:rPr>
                        <a:t>09:00-09:15</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Opening remarks by the hosts and the Energy Community Secretariat</a:t>
                      </a:r>
                    </a:p>
                    <a:p>
                      <a:pPr>
                        <a:lnSpc>
                          <a:spcPct val="115000"/>
                        </a:lnSpc>
                        <a:buNone/>
                      </a:pPr>
                      <a:r>
                        <a:rPr lang="en-US" sz="1100" dirty="0">
                          <a:effectLst/>
                          <a:latin typeface="Calibri"/>
                          <a:ea typeface="Calibri"/>
                          <a:cs typeface="Calibri"/>
                        </a:rPr>
                        <a:t> </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1852074"/>
                  </a:ext>
                </a:extLst>
              </a:tr>
              <a:tr h="450528">
                <a:tc>
                  <a:txBody>
                    <a:bodyPr/>
                    <a:lstStyle/>
                    <a:p>
                      <a:pPr>
                        <a:lnSpc>
                          <a:spcPct val="115000"/>
                        </a:lnSpc>
                        <a:buNone/>
                      </a:pPr>
                      <a:r>
                        <a:rPr lang="en-US" sz="1100" dirty="0">
                          <a:effectLst/>
                          <a:latin typeface="Calibri"/>
                          <a:ea typeface="Calibri"/>
                          <a:cs typeface="Calibri"/>
                        </a:rPr>
                        <a:t>09:15-09:30</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Overview of the agenda and workshop objectives by EEA</a:t>
                      </a:r>
                    </a:p>
                    <a:p>
                      <a:pPr>
                        <a:lnSpc>
                          <a:spcPct val="115000"/>
                        </a:lnSpc>
                        <a:buNone/>
                      </a:pPr>
                      <a:r>
                        <a:rPr lang="en-US" sz="1100" dirty="0">
                          <a:effectLst/>
                          <a:latin typeface="Calibri"/>
                          <a:ea typeface="Calibri"/>
                          <a:cs typeface="Calibri"/>
                        </a:rPr>
                        <a:t> </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243485"/>
                  </a:ext>
                </a:extLst>
              </a:tr>
              <a:tr h="450528">
                <a:tc>
                  <a:txBody>
                    <a:bodyPr/>
                    <a:lstStyle/>
                    <a:p>
                      <a:pPr>
                        <a:lnSpc>
                          <a:spcPct val="115000"/>
                        </a:lnSpc>
                        <a:buNone/>
                      </a:pPr>
                      <a:r>
                        <a:rPr lang="en-US" sz="1100" dirty="0">
                          <a:effectLst/>
                          <a:latin typeface="Calibri"/>
                          <a:ea typeface="Calibri"/>
                          <a:cs typeface="Calibri"/>
                        </a:rPr>
                        <a:t>09:30-10:00</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Introduction – who is who?</a:t>
                      </a:r>
                    </a:p>
                    <a:p>
                      <a:pPr>
                        <a:lnSpc>
                          <a:spcPct val="115000"/>
                        </a:lnSpc>
                        <a:buNone/>
                      </a:pPr>
                      <a:r>
                        <a:rPr lang="en-US" sz="1100" dirty="0">
                          <a:effectLst/>
                          <a:latin typeface="Calibri"/>
                          <a:ea typeface="Calibri"/>
                          <a:cs typeface="Calibri"/>
                        </a:rPr>
                        <a:t> </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4599111"/>
                  </a:ext>
                </a:extLst>
              </a:tr>
              <a:tr h="774095">
                <a:tc>
                  <a:txBody>
                    <a:bodyPr/>
                    <a:lstStyle/>
                    <a:p>
                      <a:pPr>
                        <a:lnSpc>
                          <a:spcPct val="115000"/>
                        </a:lnSpc>
                        <a:buNone/>
                      </a:pPr>
                      <a:r>
                        <a:rPr lang="en-US" sz="1100" dirty="0">
                          <a:effectLst/>
                          <a:latin typeface="Calibri"/>
                          <a:ea typeface="Calibri"/>
                          <a:cs typeface="Calibri"/>
                        </a:rPr>
                        <a:t>10:00-10:30</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b="1" dirty="0">
                          <a:effectLst/>
                          <a:latin typeface="Calibri"/>
                          <a:ea typeface="Calibri"/>
                          <a:cs typeface="Calibri"/>
                        </a:rPr>
                        <a:t>2025 Reporting roadmap – Current progress, overall quality reports, and future directions</a:t>
                      </a:r>
                      <a:br>
                        <a:rPr lang="en-US" sz="1100" dirty="0">
                          <a:effectLst/>
                        </a:rPr>
                      </a:br>
                      <a:r>
                        <a:rPr lang="en-US" sz="1100" dirty="0">
                          <a:effectLst/>
                          <a:latin typeface="Calibri"/>
                          <a:ea typeface="Calibri"/>
                          <a:cs typeface="Calibri"/>
                        </a:rPr>
                        <a:t>The EEA outlines overall progress regarding 2025 reporting obligations and provides an overview of the aggregated quality results. In addition, the presentation also becomes forward-looking, describing what is to come.</a:t>
                      </a:r>
                    </a:p>
                    <a:p>
                      <a:pPr lvl="0">
                        <a:lnSpc>
                          <a:spcPct val="114999"/>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786858"/>
                  </a:ext>
                </a:extLst>
              </a:tr>
              <a:tr h="231352">
                <a:tc>
                  <a:txBody>
                    <a:bodyPr/>
                    <a:lstStyle/>
                    <a:p>
                      <a:pPr>
                        <a:lnSpc>
                          <a:spcPct val="115000"/>
                        </a:lnSpc>
                        <a:buNone/>
                      </a:pPr>
                      <a:r>
                        <a:rPr lang="en-US" sz="1100" dirty="0">
                          <a:solidFill>
                            <a:srgbClr val="000000"/>
                          </a:solidFill>
                          <a:effectLst/>
                          <a:latin typeface="Calibri"/>
                          <a:ea typeface="Calibri"/>
                          <a:cs typeface="Calibri"/>
                        </a:rPr>
                        <a:t>10:30-10:50</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buNone/>
                      </a:pPr>
                      <a:r>
                        <a:rPr lang="en-US" sz="1100" b="1" dirty="0">
                          <a:solidFill>
                            <a:srgbClr val="000000"/>
                          </a:solidFill>
                          <a:effectLst/>
                          <a:latin typeface="Calibri"/>
                          <a:ea typeface="Calibri"/>
                          <a:cs typeface="Calibri"/>
                        </a:rPr>
                        <a:t>Coffee break – picture time</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3230876004"/>
                  </a:ext>
                </a:extLst>
              </a:tr>
              <a:tr h="580571">
                <a:tc>
                  <a:txBody>
                    <a:bodyPr/>
                    <a:lstStyle/>
                    <a:p>
                      <a:pPr>
                        <a:lnSpc>
                          <a:spcPct val="115000"/>
                        </a:lnSpc>
                        <a:buNone/>
                      </a:pPr>
                      <a:r>
                        <a:rPr lang="en-US" sz="1100" dirty="0">
                          <a:effectLst/>
                          <a:latin typeface="Calibri"/>
                          <a:ea typeface="Calibri"/>
                          <a:cs typeface="Calibri"/>
                        </a:rPr>
                        <a:t>10:50-11:30</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b="1" dirty="0">
                          <a:solidFill>
                            <a:srgbClr val="7030A0"/>
                          </a:solidFill>
                          <a:effectLst/>
                          <a:latin typeface="Calibri"/>
                          <a:ea typeface="Calibri"/>
                          <a:cs typeface="Calibri"/>
                        </a:rPr>
                        <a:t>Bosnia and Herzegovina – reporting successes, challenges, and lessons learned</a:t>
                      </a:r>
                      <a:endParaRPr lang="en-US" sz="1100" dirty="0">
                        <a:effectLst/>
                        <a:latin typeface="Calibri"/>
                        <a:ea typeface="Calibri"/>
                        <a:cs typeface="Calibri"/>
                      </a:endParaRPr>
                    </a:p>
                    <a:p>
                      <a:pPr>
                        <a:lnSpc>
                          <a:spcPct val="115000"/>
                        </a:lnSpc>
                        <a:buNone/>
                      </a:pPr>
                      <a:r>
                        <a:rPr lang="en-US" sz="1100" dirty="0">
                          <a:effectLst/>
                          <a:latin typeface="Calibri"/>
                          <a:ea typeface="Calibri"/>
                          <a:cs typeface="Calibri"/>
                        </a:rPr>
                        <a:t>Bosnia and Herzegovina will describe the process to report under the adapted Governance Regulation and highlight success and challenges.</a:t>
                      </a:r>
                    </a:p>
                    <a:p>
                      <a:pPr lvl="0">
                        <a:lnSpc>
                          <a:spcPct val="114999"/>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940676"/>
                  </a:ext>
                </a:extLst>
              </a:tr>
              <a:tr h="774095">
                <a:tc>
                  <a:txBody>
                    <a:bodyPr/>
                    <a:lstStyle/>
                    <a:p>
                      <a:pPr>
                        <a:lnSpc>
                          <a:spcPct val="115000"/>
                        </a:lnSpc>
                        <a:buNone/>
                      </a:pPr>
                      <a:r>
                        <a:rPr lang="en-US" sz="1100" dirty="0">
                          <a:effectLst/>
                          <a:latin typeface="Calibri"/>
                          <a:ea typeface="Calibri"/>
                          <a:cs typeface="Calibri"/>
                        </a:rPr>
                        <a:t>11:30-12:00</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b="1" dirty="0">
                          <a:solidFill>
                            <a:srgbClr val="7030A0"/>
                          </a:solidFill>
                          <a:effectLst/>
                          <a:latin typeface="Calibri"/>
                          <a:ea typeface="Calibri"/>
                          <a:cs typeface="Calibri"/>
                        </a:rPr>
                        <a:t>Session on EU4ENERGY and UNDP projects</a:t>
                      </a:r>
                      <a:endParaRPr lang="en-US" sz="1100" dirty="0">
                        <a:effectLst/>
                        <a:latin typeface="Calibri"/>
                        <a:ea typeface="Calibri"/>
                        <a:cs typeface="Calibri"/>
                      </a:endParaRPr>
                    </a:p>
                    <a:p>
                      <a:pPr>
                        <a:lnSpc>
                          <a:spcPct val="115000"/>
                        </a:lnSpc>
                        <a:buNone/>
                      </a:pPr>
                      <a:r>
                        <a:rPr lang="en-US" sz="1100" dirty="0">
                          <a:effectLst/>
                          <a:latin typeface="Calibri"/>
                          <a:ea typeface="Calibri"/>
                          <a:cs typeface="Calibri"/>
                        </a:rPr>
                        <a:t>Representatives from EU4ENERGY and UNDP will present on their projects with the aim of identifying potential synergies between their projects and EEA’s support under the adapted Governance Regulation.</a:t>
                      </a:r>
                    </a:p>
                    <a:p>
                      <a:pPr lvl="0">
                        <a:lnSpc>
                          <a:spcPct val="114999"/>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6246055"/>
                  </a:ext>
                </a:extLst>
              </a:tr>
              <a:tr h="231352">
                <a:tc>
                  <a:txBody>
                    <a:bodyPr/>
                    <a:lstStyle/>
                    <a:p>
                      <a:pPr>
                        <a:lnSpc>
                          <a:spcPct val="115000"/>
                        </a:lnSpc>
                        <a:buNone/>
                      </a:pPr>
                      <a:r>
                        <a:rPr lang="en-US" sz="1100" dirty="0">
                          <a:solidFill>
                            <a:srgbClr val="000000"/>
                          </a:solidFill>
                          <a:effectLst/>
                          <a:latin typeface="Calibri"/>
                          <a:ea typeface="Calibri"/>
                          <a:cs typeface="Calibri"/>
                        </a:rPr>
                        <a:t>12:00-12:45</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buNone/>
                      </a:pPr>
                      <a:r>
                        <a:rPr lang="en-US" sz="1100" b="1" dirty="0">
                          <a:solidFill>
                            <a:srgbClr val="000000"/>
                          </a:solidFill>
                          <a:effectLst/>
                          <a:latin typeface="Calibri"/>
                          <a:ea typeface="Calibri"/>
                          <a:cs typeface="Calibri"/>
                        </a:rPr>
                        <a:t>Lunch</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610511757"/>
                  </a:ext>
                </a:extLst>
              </a:tr>
            </a:tbl>
          </a:graphicData>
        </a:graphic>
      </p:graphicFrame>
    </p:spTree>
    <p:extLst>
      <p:ext uri="{BB962C8B-B14F-4D97-AF65-F5344CB8AC3E}">
        <p14:creationId xmlns:p14="http://schemas.microsoft.com/office/powerpoint/2010/main" val="631737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BC914-80DD-1A1A-4F8C-4AD9377BF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C1CE8-C627-D43B-2340-C5349D4C50FB}"/>
              </a:ext>
            </a:extLst>
          </p:cNvPr>
          <p:cNvSpPr>
            <a:spLocks noGrp="1"/>
          </p:cNvSpPr>
          <p:nvPr>
            <p:ph type="title"/>
          </p:nvPr>
        </p:nvSpPr>
        <p:spPr>
          <a:xfrm>
            <a:off x="428206" y="0"/>
            <a:ext cx="5791200" cy="1325563"/>
          </a:xfrm>
        </p:spPr>
        <p:txBody>
          <a:bodyPr/>
          <a:lstStyle/>
          <a:p>
            <a:r>
              <a:rPr lang="en-US" sz="4000" dirty="0">
                <a:solidFill>
                  <a:srgbClr val="004B7F"/>
                </a:solidFill>
                <a:latin typeface="Calibri Light"/>
                <a:cs typeface="Calibri"/>
              </a:rPr>
              <a:t>Day 1 – Tuesday 7 October</a:t>
            </a:r>
            <a:endParaRPr lang="en-US" dirty="0">
              <a:solidFill>
                <a:srgbClr val="004B7F"/>
              </a:solidFill>
            </a:endParaRPr>
          </a:p>
        </p:txBody>
      </p:sp>
      <p:graphicFrame>
        <p:nvGraphicFramePr>
          <p:cNvPr id="7" name="Content Placeholder 6">
            <a:extLst>
              <a:ext uri="{FF2B5EF4-FFF2-40B4-BE49-F238E27FC236}">
                <a16:creationId xmlns:a16="http://schemas.microsoft.com/office/drawing/2014/main" id="{1EEDD836-C08E-29FD-046A-691E089AF593}"/>
              </a:ext>
            </a:extLst>
          </p:cNvPr>
          <p:cNvGraphicFramePr>
            <a:graphicFrameLocks noGrp="1"/>
          </p:cNvGraphicFramePr>
          <p:nvPr>
            <p:ph idx="1"/>
            <p:extLst>
              <p:ext uri="{D42A27DB-BD31-4B8C-83A1-F6EECF244321}">
                <p14:modId xmlns:p14="http://schemas.microsoft.com/office/powerpoint/2010/main" val="113016436"/>
              </p:ext>
            </p:extLst>
          </p:nvPr>
        </p:nvGraphicFramePr>
        <p:xfrm>
          <a:off x="257629" y="1148292"/>
          <a:ext cx="11725156" cy="5545582"/>
        </p:xfrm>
        <a:graphic>
          <a:graphicData uri="http://schemas.openxmlformats.org/drawingml/2006/table">
            <a:tbl>
              <a:tblPr firstRow="1" firstCol="1" bandRow="1">
                <a:tableStyleId>{5C22544A-7EE6-4342-B048-85BDC9FD1C3A}</a:tableStyleId>
              </a:tblPr>
              <a:tblGrid>
                <a:gridCol w="5862578">
                  <a:extLst>
                    <a:ext uri="{9D8B030D-6E8A-4147-A177-3AD203B41FA5}">
                      <a16:colId xmlns:a16="http://schemas.microsoft.com/office/drawing/2014/main" val="2234115934"/>
                    </a:ext>
                  </a:extLst>
                </a:gridCol>
                <a:gridCol w="5862578">
                  <a:extLst>
                    <a:ext uri="{9D8B030D-6E8A-4147-A177-3AD203B41FA5}">
                      <a16:colId xmlns:a16="http://schemas.microsoft.com/office/drawing/2014/main" val="3767287973"/>
                    </a:ext>
                  </a:extLst>
                </a:gridCol>
              </a:tblGrid>
              <a:tr h="180676">
                <a:tc gridSpan="2">
                  <a:txBody>
                    <a:bodyPr/>
                    <a:lstStyle/>
                    <a:p>
                      <a:pPr>
                        <a:lnSpc>
                          <a:spcPct val="115000"/>
                        </a:lnSpc>
                        <a:buNone/>
                      </a:pPr>
                      <a:r>
                        <a:rPr lang="en-US" sz="1100" b="1" dirty="0">
                          <a:solidFill>
                            <a:srgbClr val="FFFFFF"/>
                          </a:solidFill>
                          <a:effectLst/>
                          <a:latin typeface="Calibri"/>
                          <a:ea typeface="Calibri"/>
                          <a:cs typeface="Calibri"/>
                        </a:rPr>
                        <a:t>Group split: Focus on GHG Inventory and Integrated Policies and Measures</a:t>
                      </a:r>
                      <a:br>
                        <a:rPr lang="en-US" sz="1100" dirty="0">
                          <a:solidFill>
                            <a:srgbClr val="FFFFFF"/>
                          </a:solidFill>
                          <a:effectLst/>
                          <a:latin typeface="Calibri"/>
                        </a:rPr>
                      </a:br>
                      <a:r>
                        <a:rPr lang="en-US" sz="1100" b="0" dirty="0">
                          <a:solidFill>
                            <a:srgbClr val="FFFFFF"/>
                          </a:solidFill>
                          <a:effectLst/>
                          <a:latin typeface="Calibri"/>
                          <a:ea typeface="Calibri"/>
                          <a:cs typeface="Calibri"/>
                        </a:rPr>
                        <a:t>Participants will be divided into two groups, with one focusing on GHG Inventory and the other on Integrated Policies and Measures.</a:t>
                      </a:r>
                      <a:endParaRPr lang="en-US" sz="1100" b="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3864"/>
                    </a:solidFill>
                  </a:tcPr>
                </a:tc>
                <a:tc hMerge="1">
                  <a:txBody>
                    <a:bodyPr/>
                    <a:lstStyle/>
                    <a:p>
                      <a:endParaRPr lang="en-US"/>
                    </a:p>
                  </a:txBody>
                  <a:tcPr/>
                </a:tc>
                <a:extLst>
                  <a:ext uri="{0D108BD9-81ED-4DB2-BD59-A6C34878D82A}">
                    <a16:rowId xmlns:a16="http://schemas.microsoft.com/office/drawing/2014/main" val="2463214027"/>
                  </a:ext>
                </a:extLst>
              </a:tr>
              <a:tr h="632366">
                <a:tc rowSpan="2">
                  <a:txBody>
                    <a:bodyPr/>
                    <a:lstStyle/>
                    <a:p>
                      <a:pPr>
                        <a:lnSpc>
                          <a:spcPct val="115000"/>
                        </a:lnSpc>
                        <a:buNone/>
                      </a:pPr>
                      <a:r>
                        <a:rPr lang="en-US" sz="1100" b="0" dirty="0">
                          <a:solidFill>
                            <a:schemeClr val="tx1"/>
                          </a:solidFill>
                          <a:effectLst/>
                          <a:latin typeface="Calibri"/>
                          <a:ea typeface="Calibri"/>
                          <a:cs typeface="Calibri"/>
                        </a:rPr>
                        <a:t>12:45-13:30</a:t>
                      </a:r>
                    </a:p>
                    <a:p>
                      <a:pPr>
                        <a:lnSpc>
                          <a:spcPct val="115000"/>
                        </a:lnSpc>
                        <a:buNone/>
                      </a:pPr>
                      <a:r>
                        <a:rPr lang="en-US" sz="1100" b="1" dirty="0">
                          <a:solidFill>
                            <a:srgbClr val="BF8F00"/>
                          </a:solidFill>
                          <a:effectLst/>
                          <a:latin typeface="Calibri"/>
                          <a:ea typeface="Calibri"/>
                          <a:cs typeface="Calibri"/>
                        </a:rPr>
                        <a:t>NECP IPR reporting</a:t>
                      </a:r>
                      <a:endParaRPr lang="en-US" sz="1100" dirty="0">
                        <a:effectLst/>
                        <a:latin typeface="Calibri"/>
                        <a:ea typeface="Calibri"/>
                        <a:cs typeface="Calibri"/>
                      </a:endParaRPr>
                    </a:p>
                    <a:p>
                      <a:pPr>
                        <a:lnSpc>
                          <a:spcPct val="115000"/>
                        </a:lnSpc>
                        <a:buNone/>
                      </a:pPr>
                      <a:r>
                        <a:rPr lang="en-US" sz="1100" b="1" dirty="0">
                          <a:solidFill>
                            <a:schemeClr val="tx1"/>
                          </a:solidFill>
                          <a:effectLst/>
                          <a:latin typeface="Calibri"/>
                          <a:ea typeface="Calibri"/>
                          <a:cs typeface="Calibri"/>
                        </a:rPr>
                        <a:t>Guidance on reporting ‘Integrated Policies and Measures (</a:t>
                      </a:r>
                      <a:r>
                        <a:rPr lang="en-US" sz="1100" b="1" err="1">
                          <a:solidFill>
                            <a:schemeClr val="tx1"/>
                          </a:solidFill>
                          <a:effectLst/>
                          <a:latin typeface="Calibri"/>
                          <a:ea typeface="Calibri"/>
                          <a:cs typeface="Calibri"/>
                        </a:rPr>
                        <a:t>PaMs</a:t>
                      </a:r>
                      <a:r>
                        <a:rPr lang="en-US" sz="1100" b="1" dirty="0">
                          <a:solidFill>
                            <a:schemeClr val="tx1"/>
                          </a:solidFill>
                          <a:effectLst/>
                          <a:latin typeface="Calibri"/>
                          <a:ea typeface="Calibri"/>
                          <a:cs typeface="Calibri"/>
                        </a:rPr>
                        <a:t>)’</a:t>
                      </a:r>
                      <a:br>
                        <a:rPr lang="en-US" sz="1100" dirty="0">
                          <a:solidFill>
                            <a:srgbClr val="000000"/>
                          </a:solidFill>
                          <a:effectLst/>
                          <a:latin typeface="Calibri"/>
                        </a:rPr>
                      </a:br>
                      <a:r>
                        <a:rPr lang="en-US" sz="1100" b="0" dirty="0">
                          <a:solidFill>
                            <a:schemeClr val="tx1"/>
                          </a:solidFill>
                          <a:effectLst/>
                          <a:latin typeface="Calibri"/>
                          <a:ea typeface="Calibri"/>
                          <a:cs typeface="Calibri"/>
                        </a:rPr>
                        <a:t>The EEA will provide an overview of the reporting obligations for Integrated Policies and Measures (</a:t>
                      </a:r>
                      <a:r>
                        <a:rPr lang="en-US" sz="1100" b="0" err="1">
                          <a:solidFill>
                            <a:schemeClr val="tx1"/>
                          </a:solidFill>
                          <a:effectLst/>
                          <a:latin typeface="Calibri"/>
                          <a:ea typeface="Calibri"/>
                          <a:cs typeface="Calibri"/>
                        </a:rPr>
                        <a:t>PaMs</a:t>
                      </a:r>
                      <a:r>
                        <a:rPr lang="en-US" sz="1100" b="0" dirty="0">
                          <a:solidFill>
                            <a:schemeClr val="tx1"/>
                          </a:solidFill>
                          <a:effectLst/>
                          <a:latin typeface="Calibri"/>
                          <a:ea typeface="Calibri"/>
                          <a:cs typeface="Calibri"/>
                        </a:rPr>
                        <a:t>) and highlight common areas where information is often incomplete or missing based on the quality review of the submitted </a:t>
                      </a:r>
                      <a:r>
                        <a:rPr lang="en-US" sz="1100" b="0" err="1">
                          <a:solidFill>
                            <a:schemeClr val="tx1"/>
                          </a:solidFill>
                          <a:effectLst/>
                          <a:latin typeface="Calibri"/>
                          <a:ea typeface="Calibri"/>
                          <a:cs typeface="Calibri"/>
                        </a:rPr>
                        <a:t>PaMs</a:t>
                      </a:r>
                      <a:r>
                        <a:rPr lang="en-US" sz="1100" b="0" dirty="0">
                          <a:solidFill>
                            <a:schemeClr val="tx1"/>
                          </a:solidFill>
                          <a:effectLst/>
                          <a:latin typeface="Calibri"/>
                          <a:ea typeface="Calibri"/>
                          <a:cs typeface="Calibri"/>
                        </a:rPr>
                        <a:t>.</a:t>
                      </a:r>
                    </a:p>
                    <a:p>
                      <a:pPr>
                        <a:lnSpc>
                          <a:spcPct val="115000"/>
                        </a:lnSpc>
                        <a:buNone/>
                      </a:pPr>
                      <a:endParaRPr lang="en-US" sz="1100" dirty="0">
                        <a:effectLst/>
                        <a:latin typeface="Calibri"/>
                      </a:endParaRPr>
                    </a:p>
                    <a:p>
                      <a:pPr>
                        <a:lnSpc>
                          <a:spcPct val="115000"/>
                        </a:lnSpc>
                        <a:buNone/>
                      </a:pPr>
                      <a:r>
                        <a:rPr lang="en-US" sz="1100" b="1" dirty="0">
                          <a:solidFill>
                            <a:srgbClr val="7030A0"/>
                          </a:solidFill>
                          <a:effectLst/>
                          <a:latin typeface="Calibri"/>
                          <a:ea typeface="Calibri"/>
                          <a:cs typeface="Calibri"/>
                        </a:rPr>
                        <a:t>Bosnia and Herzegovina will present (15 min)</a:t>
                      </a:r>
                      <a:r>
                        <a:rPr lang="en-US" sz="1100" b="0" dirty="0">
                          <a:solidFill>
                            <a:schemeClr val="tx1"/>
                          </a:solidFill>
                          <a:effectLst/>
                          <a:latin typeface="Calibri"/>
                          <a:ea typeface="Calibri"/>
                          <a:cs typeface="Calibri"/>
                        </a:rPr>
                        <a:t> on their </a:t>
                      </a:r>
                      <a:r>
                        <a:rPr lang="en-US" sz="1100" b="0" err="1">
                          <a:solidFill>
                            <a:schemeClr val="tx1"/>
                          </a:solidFill>
                          <a:effectLst/>
                          <a:latin typeface="Calibri"/>
                          <a:ea typeface="Calibri"/>
                          <a:cs typeface="Calibri"/>
                        </a:rPr>
                        <a:t>PaMs</a:t>
                      </a:r>
                      <a:r>
                        <a:rPr lang="en-US" sz="1100" b="0" dirty="0">
                          <a:solidFill>
                            <a:schemeClr val="tx1"/>
                          </a:solidFill>
                          <a:effectLst/>
                          <a:latin typeface="Calibri"/>
                          <a:ea typeface="Calibri"/>
                          <a:cs typeface="Calibri"/>
                        </a:rPr>
                        <a:t> within their NECP, and their systems for </a:t>
                      </a:r>
                      <a:r>
                        <a:rPr lang="en-US" sz="1100" b="0" err="1">
                          <a:solidFill>
                            <a:schemeClr val="tx1"/>
                          </a:solidFill>
                          <a:effectLst/>
                          <a:latin typeface="Calibri"/>
                          <a:ea typeface="Calibri"/>
                          <a:cs typeface="Calibri"/>
                        </a:rPr>
                        <a:t>PaMs</a:t>
                      </a:r>
                      <a:r>
                        <a:rPr lang="en-US" sz="1100" b="0" dirty="0">
                          <a:solidFill>
                            <a:schemeClr val="tx1"/>
                          </a:solidFill>
                          <a:effectLst/>
                          <a:latin typeface="Calibri"/>
                          <a:ea typeface="Calibri"/>
                          <a:cs typeface="Calibri"/>
                        </a:rPr>
                        <a:t> reporting.</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12:45-13:15</a:t>
                      </a:r>
                    </a:p>
                    <a:p>
                      <a:pPr>
                        <a:lnSpc>
                          <a:spcPct val="115000"/>
                        </a:lnSpc>
                        <a:buNone/>
                      </a:pPr>
                      <a:r>
                        <a:rPr lang="en-US" sz="1100" b="1" dirty="0">
                          <a:solidFill>
                            <a:srgbClr val="4472C4"/>
                          </a:solidFill>
                          <a:effectLst/>
                          <a:latin typeface="Calibri"/>
                          <a:ea typeface="Calibri"/>
                          <a:cs typeface="Calibri"/>
                        </a:rPr>
                        <a:t>GHG Inventories</a:t>
                      </a:r>
                      <a:endParaRPr lang="en-US" sz="1100" dirty="0">
                        <a:effectLst/>
                        <a:latin typeface="Calibri"/>
                        <a:ea typeface="Calibri"/>
                        <a:cs typeface="Calibri"/>
                      </a:endParaRPr>
                    </a:p>
                    <a:p>
                      <a:pPr>
                        <a:lnSpc>
                          <a:spcPct val="115000"/>
                        </a:lnSpc>
                        <a:buNone/>
                      </a:pPr>
                      <a:r>
                        <a:rPr lang="en-US" sz="1100" b="1" dirty="0">
                          <a:effectLst/>
                          <a:latin typeface="Calibri"/>
                          <a:ea typeface="Calibri"/>
                          <a:cs typeface="Calibri"/>
                        </a:rPr>
                        <a:t>Guidance on reporting ‘GHG Inventories’</a:t>
                      </a:r>
                      <a:endParaRPr lang="en-US" sz="1100" dirty="0">
                        <a:effectLst/>
                        <a:latin typeface="Calibri"/>
                        <a:ea typeface="Calibri"/>
                        <a:cs typeface="Calibri"/>
                      </a:endParaRPr>
                    </a:p>
                    <a:p>
                      <a:pPr>
                        <a:lnSpc>
                          <a:spcPct val="115000"/>
                        </a:lnSpc>
                        <a:buNone/>
                      </a:pPr>
                      <a:r>
                        <a:rPr lang="en-US" sz="1100" i="1" dirty="0">
                          <a:effectLst/>
                          <a:latin typeface="Calibri"/>
                          <a:ea typeface="Calibri"/>
                          <a:cs typeface="Calibri"/>
                        </a:rPr>
                        <a:t>Virtual presentation – Louise Attard</a:t>
                      </a:r>
                      <a:endParaRPr lang="en-US" sz="1100" dirty="0">
                        <a:effectLst/>
                        <a:latin typeface="Calibri"/>
                        <a:ea typeface="Calibri"/>
                        <a:cs typeface="Calibri"/>
                      </a:endParaRPr>
                    </a:p>
                    <a:p>
                      <a:pPr>
                        <a:lnSpc>
                          <a:spcPct val="115000"/>
                        </a:lnSpc>
                        <a:buNone/>
                      </a:pPr>
                      <a:r>
                        <a:rPr lang="en-US" sz="1100" dirty="0">
                          <a:effectLst/>
                          <a:latin typeface="Calibri"/>
                          <a:ea typeface="Calibri"/>
                          <a:cs typeface="Calibri"/>
                        </a:rPr>
                        <a:t>The EEA will present the reporting requirements under the adapted Governance Regulation, along with additional obligations introduced by the updated Governance Regulation.</a:t>
                      </a:r>
                    </a:p>
                    <a:p>
                      <a:pPr lvl="0">
                        <a:lnSpc>
                          <a:spcPct val="114999"/>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0534624"/>
                  </a:ext>
                </a:extLst>
              </a:tr>
              <a:tr h="722703">
                <a:tc vMerge="1">
                  <a:txBody>
                    <a:bodyPr/>
                    <a:lstStyle/>
                    <a:p>
                      <a:endParaRPr lang="en-US"/>
                    </a:p>
                  </a:txBody>
                  <a:tcPr/>
                </a:tc>
                <a:tc>
                  <a:txBody>
                    <a:bodyPr/>
                    <a:lstStyle/>
                    <a:p>
                      <a:pPr>
                        <a:lnSpc>
                          <a:spcPct val="115000"/>
                        </a:lnSpc>
                        <a:buNone/>
                      </a:pPr>
                      <a:r>
                        <a:rPr lang="en-US" sz="1100" b="1" dirty="0">
                          <a:solidFill>
                            <a:srgbClr val="4471C4"/>
                          </a:solidFill>
                          <a:effectLst/>
                          <a:latin typeface="Calibri"/>
                          <a:ea typeface="Calibri"/>
                          <a:cs typeface="Calibri"/>
                        </a:rPr>
                        <a:t>GHG Inventories</a:t>
                      </a:r>
                      <a:endParaRPr lang="en-US" sz="1100" dirty="0">
                        <a:effectLst/>
                        <a:latin typeface="Calibri"/>
                        <a:ea typeface="Calibri"/>
                        <a:cs typeface="Calibri"/>
                      </a:endParaRPr>
                    </a:p>
                    <a:p>
                      <a:pPr>
                        <a:lnSpc>
                          <a:spcPct val="115000"/>
                        </a:lnSpc>
                        <a:buNone/>
                      </a:pPr>
                      <a:r>
                        <a:rPr lang="en-US" sz="1100" dirty="0">
                          <a:effectLst/>
                          <a:latin typeface="Calibri"/>
                          <a:ea typeface="Calibri"/>
                          <a:cs typeface="Calibri"/>
                        </a:rPr>
                        <a:t>13:15-14:00</a:t>
                      </a:r>
                    </a:p>
                    <a:p>
                      <a:pPr>
                        <a:lnSpc>
                          <a:spcPct val="115000"/>
                        </a:lnSpc>
                        <a:buNone/>
                      </a:pPr>
                      <a:r>
                        <a:rPr lang="en-US" sz="1100" b="1" dirty="0">
                          <a:effectLst/>
                          <a:latin typeface="Calibri"/>
                          <a:ea typeface="Calibri"/>
                          <a:cs typeface="Calibri"/>
                        </a:rPr>
                        <a:t>Real-life experience: Insights from Croatia and Serbia</a:t>
                      </a:r>
                      <a:endParaRPr lang="en-US" sz="1100" dirty="0">
                        <a:effectLst/>
                        <a:latin typeface="Calibri"/>
                        <a:ea typeface="Calibri"/>
                        <a:cs typeface="Calibri"/>
                      </a:endParaRPr>
                    </a:p>
                    <a:p>
                      <a:pPr>
                        <a:lnSpc>
                          <a:spcPct val="115000"/>
                        </a:lnSpc>
                        <a:buNone/>
                      </a:pPr>
                      <a:r>
                        <a:rPr lang="en-US" sz="1100" i="1" dirty="0">
                          <a:effectLst/>
                          <a:latin typeface="Calibri"/>
                          <a:ea typeface="Calibri"/>
                          <a:cs typeface="Calibri"/>
                        </a:rPr>
                        <a:t>Virtual presentations – Tatjana </a:t>
                      </a:r>
                      <a:r>
                        <a:rPr lang="en-US" sz="1100" i="1" err="1">
                          <a:effectLst/>
                          <a:latin typeface="Calibri"/>
                          <a:ea typeface="Calibri"/>
                          <a:cs typeface="Calibri"/>
                        </a:rPr>
                        <a:t>Obučina</a:t>
                      </a:r>
                      <a:r>
                        <a:rPr lang="en-US" sz="1100" i="1" dirty="0">
                          <a:effectLst/>
                          <a:latin typeface="Calibri"/>
                          <a:ea typeface="Calibri"/>
                          <a:cs typeface="Calibri"/>
                        </a:rPr>
                        <a:t> and Ivana Dukić</a:t>
                      </a:r>
                      <a:endParaRPr lang="en-US" sz="1100" dirty="0">
                        <a:effectLst/>
                        <a:latin typeface="Calibri"/>
                        <a:ea typeface="Calibri"/>
                        <a:cs typeface="Calibri"/>
                      </a:endParaRPr>
                    </a:p>
                    <a:p>
                      <a:pPr>
                        <a:lnSpc>
                          <a:spcPct val="115000"/>
                        </a:lnSpc>
                        <a:buNone/>
                      </a:pPr>
                      <a:r>
                        <a:rPr lang="en-US" sz="1100" dirty="0">
                          <a:effectLst/>
                          <a:latin typeface="Calibri"/>
                          <a:ea typeface="Calibri"/>
                          <a:cs typeface="Calibri"/>
                        </a:rPr>
                        <a:t>Tatjana </a:t>
                      </a:r>
                      <a:r>
                        <a:rPr lang="en-US" sz="1100" err="1">
                          <a:effectLst/>
                          <a:latin typeface="Calibri"/>
                          <a:ea typeface="Calibri"/>
                          <a:cs typeface="Calibri"/>
                        </a:rPr>
                        <a:t>Obučina</a:t>
                      </a:r>
                      <a:r>
                        <a:rPr lang="en-US" sz="1100" dirty="0">
                          <a:effectLst/>
                          <a:latin typeface="Calibri"/>
                          <a:ea typeface="Calibri"/>
                          <a:cs typeface="Calibri"/>
                        </a:rPr>
                        <a:t> and Ivana Dukić from Croatia and Serbia, respectively, will share their experience with reporting, inter-institutional coordination, and capacity building needed to meet the reporting requirements on GHG Inventories.</a:t>
                      </a:r>
                    </a:p>
                    <a:p>
                      <a:pPr lvl="0">
                        <a:lnSpc>
                          <a:spcPct val="114999"/>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4465254"/>
                  </a:ext>
                </a:extLst>
              </a:tr>
              <a:tr h="1355065">
                <a:tc>
                  <a:txBody>
                    <a:bodyPr/>
                    <a:lstStyle/>
                    <a:p>
                      <a:pPr>
                        <a:lnSpc>
                          <a:spcPct val="115000"/>
                        </a:lnSpc>
                        <a:buNone/>
                      </a:pPr>
                      <a:r>
                        <a:rPr lang="en-US" sz="1100" b="0" dirty="0">
                          <a:solidFill>
                            <a:schemeClr val="tx1"/>
                          </a:solidFill>
                          <a:effectLst/>
                          <a:latin typeface="Calibri"/>
                          <a:ea typeface="Calibri"/>
                          <a:cs typeface="Calibri"/>
                        </a:rPr>
                        <a:t>13:30-14:30</a:t>
                      </a:r>
                    </a:p>
                    <a:p>
                      <a:pPr>
                        <a:lnSpc>
                          <a:spcPct val="115000"/>
                        </a:lnSpc>
                        <a:buNone/>
                      </a:pPr>
                      <a:r>
                        <a:rPr lang="en-US" sz="1100" b="1" dirty="0">
                          <a:solidFill>
                            <a:srgbClr val="BF8F00"/>
                          </a:solidFill>
                          <a:effectLst/>
                          <a:latin typeface="Calibri"/>
                          <a:ea typeface="Calibri"/>
                          <a:cs typeface="Calibri"/>
                        </a:rPr>
                        <a:t>NECP IPR reporting</a:t>
                      </a:r>
                      <a:endParaRPr lang="en-US" sz="1100">
                        <a:solidFill>
                          <a:schemeClr val="tx1"/>
                        </a:solidFill>
                        <a:effectLst/>
                        <a:latin typeface="Calibri"/>
                        <a:ea typeface="Calibri"/>
                        <a:cs typeface="Calibri"/>
                      </a:endParaRPr>
                    </a:p>
                    <a:p>
                      <a:pPr>
                        <a:lnSpc>
                          <a:spcPct val="115000"/>
                        </a:lnSpc>
                        <a:buNone/>
                      </a:pPr>
                      <a:r>
                        <a:rPr lang="en-US" sz="1100" b="1" dirty="0">
                          <a:solidFill>
                            <a:schemeClr val="tx1"/>
                          </a:solidFill>
                          <a:effectLst/>
                          <a:latin typeface="Calibri"/>
                          <a:ea typeface="Calibri"/>
                          <a:cs typeface="Calibri"/>
                        </a:rPr>
                        <a:t>Real-life experience: Insights from Estonia</a:t>
                      </a:r>
                      <a:endParaRPr lang="en-US" sz="1100">
                        <a:solidFill>
                          <a:schemeClr val="tx1"/>
                        </a:solidFill>
                        <a:effectLst/>
                        <a:latin typeface="Calibri"/>
                        <a:ea typeface="Calibri"/>
                        <a:cs typeface="Calibri"/>
                      </a:endParaRPr>
                    </a:p>
                    <a:p>
                      <a:pPr>
                        <a:lnSpc>
                          <a:spcPct val="115000"/>
                        </a:lnSpc>
                        <a:buNone/>
                      </a:pPr>
                      <a:r>
                        <a:rPr lang="en-US" sz="1100" b="0" i="1" dirty="0">
                          <a:solidFill>
                            <a:schemeClr val="tx1"/>
                          </a:solidFill>
                          <a:effectLst/>
                          <a:latin typeface="Calibri"/>
                          <a:ea typeface="Calibri"/>
                          <a:cs typeface="Calibri"/>
                        </a:rPr>
                        <a:t>Virtual presentation – Cris-Tiina </a:t>
                      </a:r>
                      <a:r>
                        <a:rPr lang="en-US" sz="1100" b="0" i="1" err="1">
                          <a:solidFill>
                            <a:schemeClr val="tx1"/>
                          </a:solidFill>
                          <a:effectLst/>
                          <a:latin typeface="Calibri"/>
                          <a:ea typeface="Calibri"/>
                          <a:cs typeface="Calibri"/>
                        </a:rPr>
                        <a:t>Pärn</a:t>
                      </a:r>
                      <a:br>
                        <a:rPr lang="en-US" sz="1100" b="0" dirty="0">
                          <a:solidFill>
                            <a:srgbClr val="000000"/>
                          </a:solidFill>
                          <a:effectLst/>
                          <a:latin typeface="Calibri"/>
                        </a:rPr>
                      </a:br>
                      <a:r>
                        <a:rPr lang="en-US" sz="1100" b="0" dirty="0">
                          <a:solidFill>
                            <a:schemeClr val="tx1"/>
                          </a:solidFill>
                          <a:effectLst/>
                          <a:latin typeface="Calibri"/>
                          <a:ea typeface="Calibri"/>
                          <a:cs typeface="Calibri"/>
                        </a:rPr>
                        <a:t>C</a:t>
                      </a:r>
                      <a:r>
                        <a:rPr lang="en-US" sz="1100" b="0" dirty="0">
                          <a:solidFill>
                            <a:schemeClr val="tx1"/>
                          </a:solidFill>
                          <a:effectLst/>
                          <a:latin typeface="Calibri"/>
                          <a:ea typeface="Yu Mincho"/>
                        </a:rPr>
                        <a:t>ris-Tiina </a:t>
                      </a:r>
                      <a:r>
                        <a:rPr lang="en-US" sz="1100" b="0" err="1">
                          <a:solidFill>
                            <a:schemeClr val="tx1"/>
                          </a:solidFill>
                          <a:effectLst/>
                          <a:latin typeface="Calibri"/>
                          <a:ea typeface="Yu Mincho"/>
                        </a:rPr>
                        <a:t>Pärn</a:t>
                      </a:r>
                      <a:r>
                        <a:rPr lang="en-US" sz="1100" b="0" dirty="0">
                          <a:solidFill>
                            <a:schemeClr val="tx1"/>
                          </a:solidFill>
                          <a:effectLst/>
                          <a:latin typeface="Calibri"/>
                          <a:ea typeface="Yu Mincho"/>
                        </a:rPr>
                        <a:t> from Estonia will share their experience with r</a:t>
                      </a:r>
                      <a:r>
                        <a:rPr lang="en-US" sz="1100" b="0" dirty="0">
                          <a:solidFill>
                            <a:schemeClr val="tx1"/>
                          </a:solidFill>
                          <a:effectLst/>
                          <a:latin typeface="Calibri"/>
                          <a:ea typeface="Calibri"/>
                          <a:cs typeface="Calibri"/>
                        </a:rPr>
                        <a:t>eporting, inter-institutional coordination, and capacity building needed to meet the reporting requirements on Integrated </a:t>
                      </a:r>
                      <a:r>
                        <a:rPr lang="en-US" sz="1100" b="0" err="1">
                          <a:solidFill>
                            <a:schemeClr val="tx1"/>
                          </a:solidFill>
                          <a:effectLst/>
                          <a:latin typeface="Calibri"/>
                          <a:ea typeface="Calibri"/>
                          <a:cs typeface="Calibri"/>
                        </a:rPr>
                        <a:t>PaMs</a:t>
                      </a:r>
                      <a:r>
                        <a:rPr lang="en-US" sz="1100" b="0" dirty="0">
                          <a:solidFill>
                            <a:schemeClr val="tx1"/>
                          </a:solidFill>
                          <a:effectLst/>
                          <a:latin typeface="Calibri"/>
                          <a:ea typeface="Calibri"/>
                          <a:cs typeface="Calibri"/>
                        </a:rPr>
                        <a:t> and Projections.</a:t>
                      </a:r>
                    </a:p>
                    <a:p>
                      <a:pPr>
                        <a:lnSpc>
                          <a:spcPct val="115000"/>
                        </a:lnSpc>
                        <a:buNone/>
                      </a:pPr>
                      <a:endParaRPr lang="en-US" sz="1100" dirty="0">
                        <a:effectLst/>
                        <a:latin typeface="Calibri"/>
                        <a:ea typeface="Calibri"/>
                        <a:cs typeface="Calibri"/>
                      </a:endParaRPr>
                    </a:p>
                    <a:p>
                      <a:pPr>
                        <a:lnSpc>
                          <a:spcPct val="115000"/>
                        </a:lnSpc>
                        <a:buNone/>
                      </a:pPr>
                      <a:r>
                        <a:rPr lang="en-US" sz="1100" b="1" dirty="0">
                          <a:solidFill>
                            <a:srgbClr val="BF8F00"/>
                          </a:solidFill>
                          <a:effectLst/>
                          <a:latin typeface="Calibri"/>
                          <a:ea typeface="Calibri"/>
                          <a:cs typeface="Calibri"/>
                        </a:rPr>
                        <a:t>NECP IPR reporting</a:t>
                      </a:r>
                      <a:endParaRPr lang="en-US" sz="1100" dirty="0">
                        <a:effectLst/>
                        <a:latin typeface="Calibri"/>
                        <a:ea typeface="Calibri"/>
                        <a:cs typeface="Calibri"/>
                      </a:endParaRPr>
                    </a:p>
                    <a:p>
                      <a:pPr>
                        <a:lnSpc>
                          <a:spcPct val="115000"/>
                        </a:lnSpc>
                        <a:buNone/>
                      </a:pPr>
                      <a:r>
                        <a:rPr lang="en-US" sz="1100" b="1" dirty="0">
                          <a:solidFill>
                            <a:schemeClr val="tx1"/>
                          </a:solidFill>
                          <a:effectLst/>
                          <a:latin typeface="Calibri"/>
                          <a:ea typeface="Calibri"/>
                          <a:cs typeface="Calibri"/>
                        </a:rPr>
                        <a:t>How to Report?</a:t>
                      </a:r>
                      <a:br>
                        <a:rPr lang="en-US" sz="1100" b="0" dirty="0">
                          <a:solidFill>
                            <a:srgbClr val="000000"/>
                          </a:solidFill>
                          <a:effectLst/>
                          <a:latin typeface="Calibri"/>
                        </a:rPr>
                      </a:br>
                      <a:r>
                        <a:rPr lang="en-US" sz="1100" b="0" dirty="0">
                          <a:solidFill>
                            <a:schemeClr val="tx1"/>
                          </a:solidFill>
                          <a:effectLst/>
                          <a:latin typeface="Calibri"/>
                          <a:ea typeface="Calibri"/>
                          <a:cs typeface="Calibri"/>
                        </a:rPr>
                        <a:t>The EEA will guide participants through the process of reporting on </a:t>
                      </a:r>
                      <a:r>
                        <a:rPr lang="en-US" sz="1100" b="0" err="1">
                          <a:solidFill>
                            <a:schemeClr val="tx1"/>
                          </a:solidFill>
                          <a:effectLst/>
                          <a:latin typeface="Calibri"/>
                          <a:ea typeface="Calibri"/>
                          <a:cs typeface="Calibri"/>
                        </a:rPr>
                        <a:t>PaMs</a:t>
                      </a:r>
                      <a:r>
                        <a:rPr lang="en-US" sz="1100" b="0" dirty="0">
                          <a:solidFill>
                            <a:schemeClr val="tx1"/>
                          </a:solidFill>
                          <a:effectLst/>
                          <a:latin typeface="Calibri"/>
                          <a:ea typeface="Calibri"/>
                          <a:cs typeface="Calibri"/>
                        </a:rPr>
                        <a:t> using </a:t>
                      </a:r>
                      <a:r>
                        <a:rPr lang="en-US" sz="1100" b="0" err="1">
                          <a:solidFill>
                            <a:schemeClr val="tx1"/>
                          </a:solidFill>
                          <a:effectLst/>
                          <a:latin typeface="Calibri"/>
                          <a:ea typeface="Calibri"/>
                          <a:cs typeface="Calibri"/>
                        </a:rPr>
                        <a:t>Reportnet</a:t>
                      </a:r>
                      <a:r>
                        <a:rPr lang="en-US" sz="1100" b="0" dirty="0">
                          <a:solidFill>
                            <a:schemeClr val="tx1"/>
                          </a:solidFill>
                          <a:effectLst/>
                          <a:latin typeface="Calibri"/>
                          <a:ea typeface="Calibri"/>
                          <a:cs typeface="Calibri"/>
                        </a:rPr>
                        <a:t>. </a:t>
                      </a:r>
                    </a:p>
                    <a:p>
                      <a:pPr>
                        <a:lnSpc>
                          <a:spcPct val="115000"/>
                        </a:lnSpc>
                        <a:buNone/>
                      </a:pPr>
                      <a:endParaRPr lang="en-US" sz="1100" b="0" dirty="0">
                        <a:solidFill>
                          <a:schemeClr val="tx1"/>
                        </a:solidFill>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b="1" dirty="0">
                          <a:solidFill>
                            <a:srgbClr val="4471C4"/>
                          </a:solidFill>
                          <a:effectLst/>
                          <a:latin typeface="Calibri"/>
                          <a:ea typeface="Calibri"/>
                          <a:cs typeface="Calibri"/>
                        </a:rPr>
                        <a:t>GHG Inventories</a:t>
                      </a:r>
                      <a:endParaRPr lang="en-US" sz="1100" dirty="0">
                        <a:effectLst/>
                        <a:latin typeface="Calibri"/>
                        <a:ea typeface="Calibri"/>
                        <a:cs typeface="Calibri"/>
                      </a:endParaRPr>
                    </a:p>
                    <a:p>
                      <a:pPr>
                        <a:lnSpc>
                          <a:spcPct val="115000"/>
                        </a:lnSpc>
                        <a:buNone/>
                      </a:pPr>
                      <a:r>
                        <a:rPr lang="en-US" sz="1100" dirty="0">
                          <a:effectLst/>
                          <a:latin typeface="Calibri"/>
                          <a:ea typeface="Calibri"/>
                          <a:cs typeface="Calibri"/>
                        </a:rPr>
                        <a:t>14:00-14:30 </a:t>
                      </a:r>
                    </a:p>
                    <a:p>
                      <a:pPr>
                        <a:lnSpc>
                          <a:spcPct val="115000"/>
                        </a:lnSpc>
                        <a:buNone/>
                      </a:pPr>
                      <a:r>
                        <a:rPr lang="en-US" sz="1100" dirty="0">
                          <a:effectLst/>
                          <a:latin typeface="Calibri"/>
                          <a:ea typeface="Calibri"/>
                          <a:cs typeface="Calibri"/>
                        </a:rPr>
                        <a:t>A presentation on the state of play on the GHG Inventory in Bosnia and Herzegovina.</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5743000"/>
                  </a:ext>
                </a:extLst>
              </a:tr>
            </a:tbl>
          </a:graphicData>
        </a:graphic>
      </p:graphicFrame>
    </p:spTree>
    <p:extLst>
      <p:ext uri="{BB962C8B-B14F-4D97-AF65-F5344CB8AC3E}">
        <p14:creationId xmlns:p14="http://schemas.microsoft.com/office/powerpoint/2010/main" val="1591342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2F9A7-8C72-0007-ED08-09CA4D0B3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68CD7-6A51-20E1-DC81-F7E981570CC7}"/>
              </a:ext>
            </a:extLst>
          </p:cNvPr>
          <p:cNvSpPr>
            <a:spLocks noGrp="1"/>
          </p:cNvSpPr>
          <p:nvPr>
            <p:ph type="title"/>
          </p:nvPr>
        </p:nvSpPr>
        <p:spPr>
          <a:xfrm>
            <a:off x="428206" y="0"/>
            <a:ext cx="5791200" cy="1325563"/>
          </a:xfrm>
        </p:spPr>
        <p:txBody>
          <a:bodyPr/>
          <a:lstStyle/>
          <a:p>
            <a:r>
              <a:rPr lang="en-US" sz="4000" dirty="0">
                <a:solidFill>
                  <a:srgbClr val="004B7F"/>
                </a:solidFill>
                <a:latin typeface="Calibri Light"/>
                <a:cs typeface="Calibri"/>
              </a:rPr>
              <a:t>Day 1 – Tuesday 7 October</a:t>
            </a:r>
            <a:endParaRPr lang="en-US" dirty="0">
              <a:solidFill>
                <a:srgbClr val="004B7F"/>
              </a:solidFill>
            </a:endParaRPr>
          </a:p>
        </p:txBody>
      </p:sp>
      <p:graphicFrame>
        <p:nvGraphicFramePr>
          <p:cNvPr id="6" name="Content Placeholder 5">
            <a:extLst>
              <a:ext uri="{FF2B5EF4-FFF2-40B4-BE49-F238E27FC236}">
                <a16:creationId xmlns:a16="http://schemas.microsoft.com/office/drawing/2014/main" id="{F8898F16-8942-BAB8-751B-18B3A6F1FFD1}"/>
              </a:ext>
            </a:extLst>
          </p:cNvPr>
          <p:cNvGraphicFramePr>
            <a:graphicFrameLocks noGrp="1"/>
          </p:cNvGraphicFramePr>
          <p:nvPr>
            <p:ph idx="1"/>
            <p:extLst>
              <p:ext uri="{D42A27DB-BD31-4B8C-83A1-F6EECF244321}">
                <p14:modId xmlns:p14="http://schemas.microsoft.com/office/powerpoint/2010/main" val="3687361100"/>
              </p:ext>
            </p:extLst>
          </p:nvPr>
        </p:nvGraphicFramePr>
        <p:xfrm>
          <a:off x="197152" y="1112006"/>
          <a:ext cx="11821922" cy="4323336"/>
        </p:xfrm>
        <a:graphic>
          <a:graphicData uri="http://schemas.openxmlformats.org/drawingml/2006/table">
            <a:tbl>
              <a:tblPr bandRow="1">
                <a:tableStyleId>{5C22544A-7EE6-4342-B048-85BDC9FD1C3A}</a:tableStyleId>
              </a:tblPr>
              <a:tblGrid>
                <a:gridCol w="5910961">
                  <a:extLst>
                    <a:ext uri="{9D8B030D-6E8A-4147-A177-3AD203B41FA5}">
                      <a16:colId xmlns:a16="http://schemas.microsoft.com/office/drawing/2014/main" val="1669272551"/>
                    </a:ext>
                  </a:extLst>
                </a:gridCol>
                <a:gridCol w="5910961">
                  <a:extLst>
                    <a:ext uri="{9D8B030D-6E8A-4147-A177-3AD203B41FA5}">
                      <a16:colId xmlns:a16="http://schemas.microsoft.com/office/drawing/2014/main" val="2380732808"/>
                    </a:ext>
                  </a:extLst>
                </a:gridCol>
              </a:tblGrid>
              <a:tr h="244165">
                <a:tc>
                  <a:txBody>
                    <a:bodyPr/>
                    <a:lstStyle/>
                    <a:p>
                      <a:pPr rtl="0" fontAlgn="base">
                        <a:lnSpc>
                          <a:spcPts val="1500"/>
                        </a:lnSpc>
                        <a:buNone/>
                      </a:pPr>
                      <a:r>
                        <a:rPr lang="en-US" sz="1100" b="1" dirty="0">
                          <a:solidFill>
                            <a:srgbClr val="000000"/>
                          </a:solidFill>
                          <a:effectLst/>
                          <a:latin typeface="Calibri"/>
                        </a:rPr>
                        <a:t>14:30-14:45</a:t>
                      </a:r>
                      <a:endParaRPr lang="en-US" sz="1100" b="1">
                        <a:solidFill>
                          <a:srgbClr val="FFFFFF"/>
                        </a:solidFill>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solidFill>
                      <a:srgbClr val="BDD6EE"/>
                    </a:solidFill>
                  </a:tcPr>
                </a:tc>
                <a:tc>
                  <a:txBody>
                    <a:bodyPr/>
                    <a:lstStyle/>
                    <a:p>
                      <a:pPr rtl="0" fontAlgn="base">
                        <a:lnSpc>
                          <a:spcPts val="1500"/>
                        </a:lnSpc>
                        <a:buNone/>
                      </a:pPr>
                      <a:r>
                        <a:rPr lang="en-US" sz="1100" b="1" dirty="0">
                          <a:effectLst/>
                          <a:latin typeface="Calibri"/>
                        </a:rPr>
                        <a:t>Coffee break</a:t>
                      </a:r>
                      <a:endParaRPr lang="en-US" sz="1100" dirty="0">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3323446673"/>
                  </a:ext>
                </a:extLst>
              </a:tr>
              <a:tr h="1657047">
                <a:tc>
                  <a:txBody>
                    <a:bodyPr/>
                    <a:lstStyle/>
                    <a:p>
                      <a:pPr rtl="0" fontAlgn="base">
                        <a:lnSpc>
                          <a:spcPts val="1500"/>
                        </a:lnSpc>
                        <a:buNone/>
                      </a:pPr>
                      <a:r>
                        <a:rPr lang="en-US" sz="1100" b="0" dirty="0">
                          <a:solidFill>
                            <a:srgbClr val="000000"/>
                          </a:solidFill>
                          <a:effectLst/>
                          <a:latin typeface="Calibri"/>
                        </a:rPr>
                        <a:t>14:45-15:45</a:t>
                      </a:r>
                      <a:endParaRPr lang="en-US" sz="1100" b="1">
                        <a:solidFill>
                          <a:srgbClr val="FFFFFF"/>
                        </a:solidFill>
                        <a:effectLst/>
                        <a:latin typeface="Calibri"/>
                      </a:endParaRPr>
                    </a:p>
                    <a:p>
                      <a:pPr rtl="0" fontAlgn="base">
                        <a:lnSpc>
                          <a:spcPts val="1500"/>
                        </a:lnSpc>
                        <a:buNone/>
                      </a:pPr>
                      <a:r>
                        <a:rPr lang="en-US" sz="1100" b="1" dirty="0">
                          <a:solidFill>
                            <a:srgbClr val="BF8F00"/>
                          </a:solidFill>
                          <a:effectLst/>
                          <a:latin typeface="Calibri"/>
                        </a:rPr>
                        <a:t>NECP IPR reporting</a:t>
                      </a:r>
                      <a:endParaRPr lang="en-US" sz="1100" b="1">
                        <a:solidFill>
                          <a:srgbClr val="FFFFFF"/>
                        </a:solidFill>
                        <a:effectLst/>
                        <a:latin typeface="Calibri"/>
                      </a:endParaRPr>
                    </a:p>
                    <a:p>
                      <a:pPr rtl="0" fontAlgn="base">
                        <a:lnSpc>
                          <a:spcPts val="1500"/>
                        </a:lnSpc>
                        <a:buNone/>
                      </a:pPr>
                      <a:r>
                        <a:rPr lang="en-US" sz="1100" b="1" dirty="0">
                          <a:solidFill>
                            <a:srgbClr val="000000"/>
                          </a:solidFill>
                          <a:effectLst/>
                          <a:latin typeface="Calibri"/>
                        </a:rPr>
                        <a:t>How to Report?</a:t>
                      </a:r>
                      <a:br>
                        <a:rPr lang="en-US" sz="1100" b="1" dirty="0">
                          <a:solidFill>
                            <a:srgbClr val="FFFFFF"/>
                          </a:solidFill>
                          <a:effectLst/>
                          <a:latin typeface="Calibri"/>
                        </a:rPr>
                      </a:br>
                      <a:r>
                        <a:rPr lang="en-US" sz="1100" b="0" dirty="0">
                          <a:solidFill>
                            <a:srgbClr val="000000"/>
                          </a:solidFill>
                          <a:effectLst/>
                          <a:latin typeface="Calibri"/>
                        </a:rPr>
                        <a:t>The EEA will guide participants through the process of reporting on </a:t>
                      </a:r>
                      <a:r>
                        <a:rPr lang="en-US" sz="1100" b="0" err="1">
                          <a:solidFill>
                            <a:srgbClr val="000000"/>
                          </a:solidFill>
                          <a:effectLst/>
                          <a:latin typeface="Calibri"/>
                        </a:rPr>
                        <a:t>PaMs</a:t>
                      </a:r>
                      <a:r>
                        <a:rPr lang="en-US" sz="1100" b="0" dirty="0">
                          <a:solidFill>
                            <a:srgbClr val="000000"/>
                          </a:solidFill>
                          <a:effectLst/>
                          <a:latin typeface="Calibri"/>
                        </a:rPr>
                        <a:t> using </a:t>
                      </a:r>
                      <a:r>
                        <a:rPr lang="en-US" sz="1100" b="0" err="1">
                          <a:solidFill>
                            <a:srgbClr val="000000"/>
                          </a:solidFill>
                          <a:effectLst/>
                          <a:latin typeface="Calibri"/>
                        </a:rPr>
                        <a:t>Reportnet</a:t>
                      </a:r>
                      <a:r>
                        <a:rPr lang="en-US" sz="1100" b="0" dirty="0">
                          <a:solidFill>
                            <a:srgbClr val="000000"/>
                          </a:solidFill>
                          <a:effectLst/>
                          <a:latin typeface="Calibri"/>
                        </a:rPr>
                        <a:t>. </a:t>
                      </a:r>
                      <a:endParaRPr lang="en-US" sz="1100" b="1">
                        <a:solidFill>
                          <a:srgbClr val="FFFFFF"/>
                        </a:solidFill>
                        <a:effectLst/>
                        <a:latin typeface="Calibri"/>
                      </a:endParaRPr>
                    </a:p>
                    <a:p>
                      <a:pPr rtl="0" fontAlgn="base">
                        <a:lnSpc>
                          <a:spcPts val="1500"/>
                        </a:lnSpc>
                        <a:buNone/>
                      </a:pPr>
                      <a:r>
                        <a:rPr lang="en-US" sz="1100" b="0" dirty="0">
                          <a:solidFill>
                            <a:srgbClr val="000000"/>
                          </a:solidFill>
                          <a:effectLst/>
                          <a:latin typeface="Calibri"/>
                        </a:rPr>
                        <a:t>All participants should have gained access to </a:t>
                      </a:r>
                      <a:r>
                        <a:rPr lang="en-US" sz="1100" b="0" err="1">
                          <a:solidFill>
                            <a:srgbClr val="000000"/>
                          </a:solidFill>
                          <a:effectLst/>
                          <a:latin typeface="Calibri"/>
                        </a:rPr>
                        <a:t>Reportnet</a:t>
                      </a:r>
                      <a:r>
                        <a:rPr lang="en-US" sz="1100" b="0" dirty="0">
                          <a:solidFill>
                            <a:srgbClr val="000000"/>
                          </a:solidFill>
                          <a:effectLst/>
                          <a:latin typeface="Calibri"/>
                        </a:rPr>
                        <a:t> during the prior virtual session and should be able to follow along and complete practical exercises on their laptops.</a:t>
                      </a:r>
                      <a:endParaRPr lang="en-US" sz="1100" b="1">
                        <a:solidFill>
                          <a:srgbClr val="FFFFFF"/>
                        </a:solidFill>
                        <a:effectLst/>
                        <a:latin typeface="Calibri"/>
                      </a:endParaRPr>
                    </a:p>
                    <a:p>
                      <a:pPr rtl="0" fontAlgn="base">
                        <a:lnSpc>
                          <a:spcPts val="1500"/>
                        </a:lnSpc>
                        <a:buNone/>
                      </a:pPr>
                      <a:r>
                        <a:rPr lang="en-US" sz="1100" b="0" dirty="0">
                          <a:solidFill>
                            <a:srgbClr val="000000"/>
                          </a:solidFill>
                          <a:effectLst/>
                          <a:latin typeface="Calibri"/>
                        </a:rPr>
                        <a:t>The EEA will also provide an exercise for each participant to complete, filling in one or more </a:t>
                      </a:r>
                      <a:r>
                        <a:rPr lang="en-US" sz="1100" b="0" err="1">
                          <a:solidFill>
                            <a:srgbClr val="000000"/>
                          </a:solidFill>
                          <a:effectLst/>
                          <a:latin typeface="Calibri"/>
                        </a:rPr>
                        <a:t>PaMs</a:t>
                      </a:r>
                      <a:r>
                        <a:rPr lang="en-US" sz="1100" b="0" dirty="0">
                          <a:solidFill>
                            <a:srgbClr val="000000"/>
                          </a:solidFill>
                          <a:effectLst/>
                          <a:latin typeface="Calibri"/>
                        </a:rPr>
                        <a:t>. EEA staff will be available to answer questions and offer guidance throughout the session.</a:t>
                      </a:r>
                    </a:p>
                    <a:p>
                      <a:pPr lvl="0">
                        <a:lnSpc>
                          <a:spcPts val="1500"/>
                        </a:lnSpc>
                        <a:buNone/>
                      </a:pPr>
                      <a:endParaRPr lang="en-US" sz="1100" b="0" dirty="0">
                        <a:solidFill>
                          <a:srgbClr val="000000"/>
                        </a:solidFill>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tc rowSpan="3">
                  <a:txBody>
                    <a:bodyPr/>
                    <a:lstStyle/>
                    <a:p>
                      <a:pPr rtl="0" fontAlgn="base">
                        <a:lnSpc>
                          <a:spcPts val="1500"/>
                        </a:lnSpc>
                        <a:buNone/>
                      </a:pPr>
                      <a:r>
                        <a:rPr lang="en-US" sz="1100" dirty="0">
                          <a:effectLst/>
                          <a:latin typeface="Calibri"/>
                        </a:rPr>
                        <a:t>14:45 – 16:30</a:t>
                      </a:r>
                    </a:p>
                    <a:p>
                      <a:pPr rtl="0" fontAlgn="base">
                        <a:lnSpc>
                          <a:spcPts val="1500"/>
                        </a:lnSpc>
                        <a:buNone/>
                      </a:pPr>
                      <a:r>
                        <a:rPr lang="en-US" sz="1100" b="1" dirty="0">
                          <a:solidFill>
                            <a:srgbClr val="4471C4"/>
                          </a:solidFill>
                          <a:effectLst/>
                          <a:latin typeface="Calibri"/>
                        </a:rPr>
                        <a:t>GHG Inventories</a:t>
                      </a:r>
                      <a:endParaRPr lang="en-US" sz="1100" dirty="0">
                        <a:effectLst/>
                        <a:latin typeface="Calibri"/>
                      </a:endParaRPr>
                    </a:p>
                    <a:p>
                      <a:pPr rtl="0" fontAlgn="base">
                        <a:lnSpc>
                          <a:spcPts val="1500"/>
                        </a:lnSpc>
                        <a:buNone/>
                      </a:pPr>
                      <a:r>
                        <a:rPr lang="en-US" sz="1100" dirty="0">
                          <a:effectLst/>
                          <a:latin typeface="Calibri"/>
                        </a:rPr>
                        <a:t>GHG Inventories – what needs to be reported? CITEPA will provide a presentation covering in general the National Inventory Reporting.</a:t>
                      </a:r>
                    </a:p>
                    <a:p>
                      <a:pPr lvl="0">
                        <a:lnSpc>
                          <a:spcPts val="1500"/>
                        </a:lnSpc>
                        <a:buNone/>
                      </a:pPr>
                      <a:endParaRPr lang="en-US" sz="1100" dirty="0">
                        <a:effectLst/>
                        <a:latin typeface="Calibri"/>
                      </a:endParaRPr>
                    </a:p>
                    <a:p>
                      <a:pPr rtl="0" fontAlgn="base">
                        <a:lnSpc>
                          <a:spcPts val="1500"/>
                        </a:lnSpc>
                        <a:buNone/>
                      </a:pPr>
                      <a:r>
                        <a:rPr lang="en-US" sz="1100" dirty="0">
                          <a:effectLst/>
                          <a:latin typeface="Calibri"/>
                        </a:rPr>
                        <a:t>National Inventory Document (NID) </a:t>
                      </a:r>
                    </a:p>
                    <a:p>
                      <a:pPr rtl="0" fontAlgn="base">
                        <a:lnSpc>
                          <a:spcPts val="1500"/>
                        </a:lnSpc>
                        <a:buNone/>
                      </a:pPr>
                      <a:r>
                        <a:rPr lang="en-US" sz="1100" dirty="0">
                          <a:effectLst/>
                          <a:latin typeface="Calibri"/>
                        </a:rPr>
                        <a:t>Common Reporting Tables (CRT)</a:t>
                      </a: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9134513"/>
                  </a:ext>
                </a:extLst>
              </a:tr>
              <a:tr h="1040190">
                <a:tc>
                  <a:txBody>
                    <a:bodyPr/>
                    <a:lstStyle/>
                    <a:p>
                      <a:pPr rtl="0" fontAlgn="base">
                        <a:lnSpc>
                          <a:spcPts val="1500"/>
                        </a:lnSpc>
                        <a:buNone/>
                      </a:pPr>
                      <a:r>
                        <a:rPr lang="en-US" sz="1100" b="0" dirty="0">
                          <a:solidFill>
                            <a:srgbClr val="000000"/>
                          </a:solidFill>
                          <a:effectLst/>
                          <a:latin typeface="Calibri"/>
                        </a:rPr>
                        <a:t>15:45-16:00</a:t>
                      </a:r>
                      <a:endParaRPr lang="en-US" sz="1100" b="1">
                        <a:solidFill>
                          <a:srgbClr val="FFFFFF"/>
                        </a:solidFill>
                        <a:effectLst/>
                        <a:latin typeface="Calibri"/>
                      </a:endParaRPr>
                    </a:p>
                    <a:p>
                      <a:pPr rtl="0" fontAlgn="base">
                        <a:lnSpc>
                          <a:spcPts val="1500"/>
                        </a:lnSpc>
                        <a:buNone/>
                      </a:pPr>
                      <a:r>
                        <a:rPr lang="en-US" sz="1100" b="1" dirty="0">
                          <a:solidFill>
                            <a:srgbClr val="BF8F00"/>
                          </a:solidFill>
                          <a:effectLst/>
                          <a:latin typeface="Calibri"/>
                        </a:rPr>
                        <a:t>NECP IPR reporting</a:t>
                      </a:r>
                      <a:endParaRPr lang="en-US" sz="1100" b="1">
                        <a:solidFill>
                          <a:srgbClr val="FFFFFF"/>
                        </a:solidFill>
                        <a:effectLst/>
                        <a:latin typeface="Calibri"/>
                      </a:endParaRPr>
                    </a:p>
                    <a:p>
                      <a:pPr rtl="0" fontAlgn="base">
                        <a:lnSpc>
                          <a:spcPts val="1500"/>
                        </a:lnSpc>
                        <a:buNone/>
                      </a:pPr>
                      <a:r>
                        <a:rPr lang="en-US" sz="1100" b="1" dirty="0">
                          <a:solidFill>
                            <a:srgbClr val="000000"/>
                          </a:solidFill>
                          <a:effectLst/>
                          <a:latin typeface="Calibri"/>
                        </a:rPr>
                        <a:t>Q&amp;A on Integrated </a:t>
                      </a:r>
                      <a:r>
                        <a:rPr lang="en-US" sz="1100" b="1" err="1">
                          <a:solidFill>
                            <a:srgbClr val="000000"/>
                          </a:solidFill>
                          <a:effectLst/>
                          <a:latin typeface="Calibri"/>
                        </a:rPr>
                        <a:t>PaMs</a:t>
                      </a:r>
                      <a:br>
                        <a:rPr lang="en-US" sz="1100" b="1" dirty="0">
                          <a:solidFill>
                            <a:srgbClr val="FFFFFF"/>
                          </a:solidFill>
                          <a:effectLst/>
                          <a:latin typeface="Calibri"/>
                        </a:rPr>
                      </a:br>
                      <a:r>
                        <a:rPr lang="en-US" sz="1100" b="0" dirty="0">
                          <a:solidFill>
                            <a:srgbClr val="000000"/>
                          </a:solidFill>
                          <a:effectLst/>
                          <a:latin typeface="Calibri"/>
                        </a:rPr>
                        <a:t>Participants will have the opportunity to ask questions, and the EEA will address the most common queries. There will also be a (voluntary) quiz.</a:t>
                      </a:r>
                    </a:p>
                    <a:p>
                      <a:pPr lvl="0">
                        <a:lnSpc>
                          <a:spcPts val="1500"/>
                        </a:lnSpc>
                        <a:buNone/>
                      </a:pPr>
                      <a:endParaRPr lang="en-US" sz="1100" b="0" dirty="0">
                        <a:solidFill>
                          <a:srgbClr val="000000"/>
                        </a:solidFill>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3198350415"/>
                  </a:ext>
                </a:extLst>
              </a:tr>
              <a:tr h="858761">
                <a:tc>
                  <a:txBody>
                    <a:bodyPr/>
                    <a:lstStyle/>
                    <a:p>
                      <a:pPr rtl="0" fontAlgn="base">
                        <a:lnSpc>
                          <a:spcPts val="1500"/>
                        </a:lnSpc>
                        <a:buNone/>
                      </a:pPr>
                      <a:r>
                        <a:rPr lang="en-US" sz="1100" b="0" dirty="0">
                          <a:solidFill>
                            <a:srgbClr val="000000"/>
                          </a:solidFill>
                          <a:effectLst/>
                          <a:latin typeface="Calibri"/>
                        </a:rPr>
                        <a:t>16:00-16:30</a:t>
                      </a:r>
                      <a:endParaRPr lang="en-US" sz="1100" b="1">
                        <a:solidFill>
                          <a:srgbClr val="FFFFFF"/>
                        </a:solidFill>
                        <a:effectLst/>
                        <a:latin typeface="Calibri"/>
                      </a:endParaRPr>
                    </a:p>
                    <a:p>
                      <a:pPr rtl="0" fontAlgn="base">
                        <a:lnSpc>
                          <a:spcPts val="1500"/>
                        </a:lnSpc>
                        <a:buNone/>
                      </a:pPr>
                      <a:r>
                        <a:rPr lang="en-US" sz="1100" b="1" dirty="0">
                          <a:solidFill>
                            <a:srgbClr val="767171"/>
                          </a:solidFill>
                          <a:effectLst/>
                          <a:latin typeface="Calibri"/>
                        </a:rPr>
                        <a:t>National Systems for </a:t>
                      </a:r>
                      <a:r>
                        <a:rPr lang="en-US" sz="1100" b="1" err="1">
                          <a:solidFill>
                            <a:srgbClr val="767171"/>
                          </a:solidFill>
                          <a:effectLst/>
                          <a:latin typeface="Calibri"/>
                        </a:rPr>
                        <a:t>PaMs</a:t>
                      </a:r>
                      <a:r>
                        <a:rPr lang="en-US" sz="1100" b="1" dirty="0">
                          <a:solidFill>
                            <a:srgbClr val="767171"/>
                          </a:solidFill>
                          <a:effectLst/>
                          <a:latin typeface="Calibri"/>
                        </a:rPr>
                        <a:t> and Projections</a:t>
                      </a:r>
                      <a:endParaRPr lang="en-US" sz="1100" b="1">
                        <a:solidFill>
                          <a:srgbClr val="FFFFFF"/>
                        </a:solidFill>
                        <a:effectLst/>
                        <a:latin typeface="Calibri"/>
                      </a:endParaRPr>
                    </a:p>
                    <a:p>
                      <a:pPr rtl="0" fontAlgn="base">
                        <a:lnSpc>
                          <a:spcPts val="1500"/>
                        </a:lnSpc>
                        <a:buNone/>
                      </a:pPr>
                      <a:r>
                        <a:rPr lang="en-US" sz="1100" b="0" dirty="0">
                          <a:solidFill>
                            <a:srgbClr val="000000"/>
                          </a:solidFill>
                          <a:effectLst/>
                          <a:latin typeface="Calibri"/>
                        </a:rPr>
                        <a:t>The EEA will give an overview of the reporting obligation on national systems, guiding participants through each step of the process.</a:t>
                      </a:r>
                    </a:p>
                    <a:p>
                      <a:pPr lvl="0">
                        <a:lnSpc>
                          <a:spcPts val="1500"/>
                        </a:lnSpc>
                        <a:buNone/>
                      </a:pPr>
                      <a:endParaRPr lang="en-US" sz="1100" b="0" dirty="0">
                        <a:solidFill>
                          <a:srgbClr val="000000"/>
                        </a:solidFill>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027996683"/>
                  </a:ext>
                </a:extLst>
              </a:tr>
            </a:tbl>
          </a:graphicData>
        </a:graphic>
      </p:graphicFrame>
    </p:spTree>
    <p:extLst>
      <p:ext uri="{BB962C8B-B14F-4D97-AF65-F5344CB8AC3E}">
        <p14:creationId xmlns:p14="http://schemas.microsoft.com/office/powerpoint/2010/main" val="2752195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C913-877A-7889-225E-B1F5A4FB8C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08760-EBDB-77B0-BEA2-8CB1AC88043E}"/>
              </a:ext>
            </a:extLst>
          </p:cNvPr>
          <p:cNvSpPr>
            <a:spLocks noGrp="1"/>
          </p:cNvSpPr>
          <p:nvPr>
            <p:ph type="title"/>
          </p:nvPr>
        </p:nvSpPr>
        <p:spPr>
          <a:xfrm>
            <a:off x="428206" y="0"/>
            <a:ext cx="6404846" cy="1325563"/>
          </a:xfrm>
        </p:spPr>
        <p:txBody>
          <a:bodyPr/>
          <a:lstStyle/>
          <a:p>
            <a:r>
              <a:rPr lang="en-US" sz="4000" dirty="0">
                <a:solidFill>
                  <a:srgbClr val="004B7F"/>
                </a:solidFill>
                <a:latin typeface="Calibri Light"/>
                <a:cs typeface="Calibri"/>
              </a:rPr>
              <a:t>Day 2 – Wednesday 8 October</a:t>
            </a:r>
            <a:endParaRPr lang="en-US" dirty="0">
              <a:solidFill>
                <a:srgbClr val="004B7F"/>
              </a:solidFill>
            </a:endParaRPr>
          </a:p>
        </p:txBody>
      </p:sp>
      <p:graphicFrame>
        <p:nvGraphicFramePr>
          <p:cNvPr id="7" name="Content Placeholder 6">
            <a:extLst>
              <a:ext uri="{FF2B5EF4-FFF2-40B4-BE49-F238E27FC236}">
                <a16:creationId xmlns:a16="http://schemas.microsoft.com/office/drawing/2014/main" id="{4A065865-7CB9-4EF6-EA91-7934E93D1BD6}"/>
              </a:ext>
            </a:extLst>
          </p:cNvPr>
          <p:cNvGraphicFramePr>
            <a:graphicFrameLocks noGrp="1"/>
          </p:cNvGraphicFramePr>
          <p:nvPr>
            <p:ph idx="1"/>
            <p:extLst>
              <p:ext uri="{D42A27DB-BD31-4B8C-83A1-F6EECF244321}">
                <p14:modId xmlns:p14="http://schemas.microsoft.com/office/powerpoint/2010/main" val="388439234"/>
              </p:ext>
            </p:extLst>
          </p:nvPr>
        </p:nvGraphicFramePr>
        <p:xfrm>
          <a:off x="209247" y="966863"/>
          <a:ext cx="11893905" cy="5896734"/>
        </p:xfrm>
        <a:graphic>
          <a:graphicData uri="http://schemas.openxmlformats.org/drawingml/2006/table">
            <a:tbl>
              <a:tblPr firstRow="1" firstCol="1" bandRow="1">
                <a:tableStyleId>{5C22544A-7EE6-4342-B048-85BDC9FD1C3A}</a:tableStyleId>
              </a:tblPr>
              <a:tblGrid>
                <a:gridCol w="5845077">
                  <a:extLst>
                    <a:ext uri="{9D8B030D-6E8A-4147-A177-3AD203B41FA5}">
                      <a16:colId xmlns:a16="http://schemas.microsoft.com/office/drawing/2014/main" val="1302319923"/>
                    </a:ext>
                  </a:extLst>
                </a:gridCol>
                <a:gridCol w="5886268">
                  <a:extLst>
                    <a:ext uri="{9D8B030D-6E8A-4147-A177-3AD203B41FA5}">
                      <a16:colId xmlns:a16="http://schemas.microsoft.com/office/drawing/2014/main" val="1425207583"/>
                    </a:ext>
                  </a:extLst>
                </a:gridCol>
                <a:gridCol w="162560">
                  <a:extLst>
                    <a:ext uri="{9D8B030D-6E8A-4147-A177-3AD203B41FA5}">
                      <a16:colId xmlns:a16="http://schemas.microsoft.com/office/drawing/2014/main" val="3221566304"/>
                    </a:ext>
                  </a:extLst>
                </a:gridCol>
              </a:tblGrid>
              <a:tr h="384603">
                <a:tc gridSpan="2">
                  <a:txBody>
                    <a:bodyPr/>
                    <a:lstStyle/>
                    <a:p>
                      <a:pPr>
                        <a:lnSpc>
                          <a:spcPct val="115000"/>
                        </a:lnSpc>
                        <a:buNone/>
                      </a:pPr>
                      <a:r>
                        <a:rPr lang="en-US" sz="1100" b="1" dirty="0">
                          <a:solidFill>
                            <a:srgbClr val="FFFFFF"/>
                          </a:solidFill>
                          <a:effectLst/>
                          <a:latin typeface="Calibri"/>
                          <a:ea typeface="Calibri"/>
                          <a:cs typeface="Calibri"/>
                        </a:rPr>
                        <a:t>Group split: Focus on Climate Adaptation, GHG Projections, Energy Efficiency, and Approximated Inventories</a:t>
                      </a:r>
                      <a:endParaRPr lang="en-US" sz="1100" dirty="0">
                        <a:effectLst/>
                        <a:latin typeface="Calibri"/>
                        <a:ea typeface="Calibri"/>
                        <a:cs typeface="Calibri"/>
                      </a:endParaRPr>
                    </a:p>
                    <a:p>
                      <a:pPr>
                        <a:lnSpc>
                          <a:spcPct val="115000"/>
                        </a:lnSpc>
                        <a:buNone/>
                      </a:pPr>
                      <a:r>
                        <a:rPr lang="en-US" sz="1100" b="0" dirty="0">
                          <a:solidFill>
                            <a:srgbClr val="FFFFFF"/>
                          </a:solidFill>
                          <a:effectLst/>
                          <a:latin typeface="Calibri"/>
                          <a:ea typeface="Calibri"/>
                          <a:cs typeface="Calibri"/>
                        </a:rPr>
                        <a:t>Participants will be divided into two groups, with one focusing on Climate Adaptation and Energy Efficiency, the other on Approximated Inventories and GHG Projections.</a:t>
                      </a:r>
                      <a:endParaRPr lang="en-US" sz="1100" b="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3864"/>
                    </a:solidFill>
                  </a:tcPr>
                </a:tc>
                <a:tc hMerge="1">
                  <a:txBody>
                    <a:bodyPr/>
                    <a:lstStyle/>
                    <a:p>
                      <a:endParaRPr lang="en-US"/>
                    </a:p>
                  </a:txBody>
                  <a:tcPr/>
                </a:tc>
                <a:tc>
                  <a:txBody>
                    <a:bodyPr/>
                    <a:lstStyle/>
                    <a:p>
                      <a:pPr>
                        <a:buNone/>
                      </a:pPr>
                      <a:endParaRPr lang="en-US" sz="1100" dirty="0">
                        <a:effectLst/>
                        <a:latin typeface="Calibri"/>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950675680"/>
                  </a:ext>
                </a:extLst>
              </a:tr>
              <a:tr h="384603">
                <a:tc>
                  <a:txBody>
                    <a:bodyPr/>
                    <a:lstStyle/>
                    <a:p>
                      <a:pPr>
                        <a:lnSpc>
                          <a:spcPct val="115000"/>
                        </a:lnSpc>
                        <a:buNone/>
                      </a:pPr>
                      <a:r>
                        <a:rPr lang="en-US" sz="1100" dirty="0">
                          <a:effectLst/>
                          <a:latin typeface="Calibri"/>
                          <a:ea typeface="Calibri"/>
                          <a:cs typeface="Calibri"/>
                        </a:rPr>
                        <a:t>08:45-09:00</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Registration and arrival</a:t>
                      </a:r>
                    </a:p>
                    <a:p>
                      <a:pPr>
                        <a:lnSpc>
                          <a:spcPct val="115000"/>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endParaRPr lang="en-US" sz="1100" dirty="0">
                        <a:effectLst/>
                        <a:latin typeface="Calibri"/>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2115966659"/>
                  </a:ext>
                </a:extLst>
              </a:tr>
              <a:tr h="2247525">
                <a:tc rowSpan="3">
                  <a:txBody>
                    <a:bodyPr/>
                    <a:lstStyle/>
                    <a:p>
                      <a:pPr>
                        <a:lnSpc>
                          <a:spcPct val="115000"/>
                        </a:lnSpc>
                        <a:buNone/>
                      </a:pPr>
                      <a:r>
                        <a:rPr lang="en-US" sz="1100" dirty="0">
                          <a:effectLst/>
                          <a:latin typeface="Calibri"/>
                          <a:ea typeface="Calibri"/>
                          <a:cs typeface="Calibri"/>
                        </a:rPr>
                        <a:t>09:00-10:30</a:t>
                      </a:r>
                      <a:r>
                        <a:rPr lang="en-US" sz="1100" dirty="0">
                          <a:effectLst/>
                          <a:latin typeface="Calibri"/>
                        </a:rPr>
                        <a:t>  </a:t>
                      </a:r>
                    </a:p>
                    <a:p>
                      <a:pPr>
                        <a:lnSpc>
                          <a:spcPct val="115000"/>
                        </a:lnSpc>
                        <a:buNone/>
                      </a:pPr>
                      <a:r>
                        <a:rPr lang="en-US" sz="1100" b="1" dirty="0">
                          <a:solidFill>
                            <a:srgbClr val="70AD47"/>
                          </a:solidFill>
                          <a:effectLst/>
                          <a:latin typeface="Calibri"/>
                          <a:ea typeface="Calibri"/>
                          <a:cs typeface="Calibri"/>
                        </a:rPr>
                        <a:t>Climate Adaptation</a:t>
                      </a:r>
                      <a:endParaRPr lang="en-US" sz="1100" dirty="0">
                        <a:effectLst/>
                        <a:latin typeface="Calibri"/>
                        <a:ea typeface="Calibri"/>
                        <a:cs typeface="Calibri"/>
                      </a:endParaRPr>
                    </a:p>
                    <a:p>
                      <a:pPr>
                        <a:lnSpc>
                          <a:spcPct val="115000"/>
                        </a:lnSpc>
                        <a:buNone/>
                      </a:pPr>
                      <a:r>
                        <a:rPr lang="en-US" sz="1100" dirty="0">
                          <a:solidFill>
                            <a:srgbClr val="000000"/>
                          </a:solidFill>
                          <a:effectLst/>
                          <a:latin typeface="Calibri"/>
                          <a:ea typeface="Calibri"/>
                          <a:cs typeface="Calibri"/>
                        </a:rPr>
                        <a:t>Guidance on reporting on </a:t>
                      </a:r>
                      <a:r>
                        <a:rPr lang="en-US" sz="1100" b="1" dirty="0">
                          <a:solidFill>
                            <a:srgbClr val="000000"/>
                          </a:solidFill>
                          <a:effectLst/>
                          <a:latin typeface="Calibri"/>
                          <a:ea typeface="Calibri"/>
                          <a:cs typeface="Calibri"/>
                        </a:rPr>
                        <a:t>‘Adaptation planning and strategies (Art 19)’</a:t>
                      </a:r>
                      <a:r>
                        <a:rPr lang="en-US" sz="1100" dirty="0">
                          <a:solidFill>
                            <a:srgbClr val="000000"/>
                          </a:solidFill>
                          <a:effectLst/>
                          <a:latin typeface="Calibri"/>
                          <a:ea typeface="Calibri"/>
                          <a:cs typeface="Calibri"/>
                        </a:rPr>
                        <a:t> and </a:t>
                      </a:r>
                      <a:r>
                        <a:rPr lang="en-US" sz="1100" b="1" dirty="0">
                          <a:solidFill>
                            <a:srgbClr val="000000"/>
                          </a:solidFill>
                          <a:effectLst/>
                          <a:latin typeface="Calibri"/>
                          <a:ea typeface="Calibri"/>
                          <a:cs typeface="Calibri"/>
                        </a:rPr>
                        <a:t>Progress to Target </a:t>
                      </a:r>
                      <a:r>
                        <a:rPr lang="en-US" sz="1100" b="1" err="1">
                          <a:solidFill>
                            <a:srgbClr val="000000"/>
                          </a:solidFill>
                          <a:effectLst/>
                          <a:latin typeface="Calibri"/>
                          <a:ea typeface="Calibri"/>
                          <a:cs typeface="Calibri"/>
                        </a:rPr>
                        <a:t>Decarbonisation</a:t>
                      </a:r>
                      <a:r>
                        <a:rPr lang="en-US" sz="1100" b="1" dirty="0">
                          <a:solidFill>
                            <a:srgbClr val="000000"/>
                          </a:solidFill>
                          <a:effectLst/>
                          <a:latin typeface="Calibri"/>
                          <a:ea typeface="Calibri"/>
                          <a:cs typeface="Calibri"/>
                        </a:rPr>
                        <a:t>: Adaptation (Art 17)</a:t>
                      </a:r>
                      <a:endParaRPr lang="en-US" sz="1100" b="0" dirty="0">
                        <a:solidFill>
                          <a:schemeClr val="tx1"/>
                        </a:solidFill>
                        <a:effectLst/>
                        <a:latin typeface="Calibri"/>
                        <a:ea typeface="Calibri"/>
                        <a:cs typeface="Calibri"/>
                      </a:endParaRPr>
                    </a:p>
                    <a:p>
                      <a:pPr>
                        <a:lnSpc>
                          <a:spcPct val="115000"/>
                        </a:lnSpc>
                        <a:buNone/>
                      </a:pPr>
                      <a:r>
                        <a:rPr lang="en-US" sz="1100" b="0" dirty="0">
                          <a:solidFill>
                            <a:schemeClr val="tx1"/>
                          </a:solidFill>
                          <a:effectLst/>
                          <a:latin typeface="Calibri"/>
                          <a:ea typeface="Calibri"/>
                          <a:cs typeface="Calibri"/>
                        </a:rPr>
                        <a:t>The EEA will give an overview of the two adaptation reporting obligations, guiding participants through each step of the process. Participants will work together to identify potential information gaps and sources, while also receiving hands-on training on reporting procedures.</a:t>
                      </a:r>
                    </a:p>
                    <a:p>
                      <a:pPr>
                        <a:lnSpc>
                          <a:spcPct val="115000"/>
                        </a:lnSpc>
                        <a:buNone/>
                      </a:pPr>
                      <a:r>
                        <a:rPr lang="en-US" sz="1100" b="0" dirty="0">
                          <a:solidFill>
                            <a:schemeClr val="tx1"/>
                          </a:solidFill>
                          <a:effectLst/>
                          <a:latin typeface="Calibri"/>
                          <a:ea typeface="Calibri"/>
                          <a:cs typeface="Calibri"/>
                        </a:rPr>
                        <a:t> </a:t>
                      </a:r>
                    </a:p>
                    <a:p>
                      <a:pPr>
                        <a:lnSpc>
                          <a:spcPct val="115000"/>
                        </a:lnSpc>
                        <a:buNone/>
                      </a:pPr>
                      <a:r>
                        <a:rPr lang="en-US" sz="1100" b="1" dirty="0">
                          <a:solidFill>
                            <a:srgbClr val="7030A0"/>
                          </a:solidFill>
                          <a:effectLst/>
                          <a:latin typeface="Calibri"/>
                          <a:ea typeface="Calibri"/>
                          <a:cs typeface="Calibri"/>
                        </a:rPr>
                        <a:t>Bosnia and Herzegovina will present (20 min)</a:t>
                      </a:r>
                      <a:r>
                        <a:rPr lang="en-US" sz="1100" dirty="0">
                          <a:solidFill>
                            <a:srgbClr val="7030A0"/>
                          </a:solidFill>
                          <a:effectLst/>
                          <a:latin typeface="Calibri"/>
                          <a:ea typeface="Calibri"/>
                          <a:cs typeface="Calibri"/>
                        </a:rPr>
                        <a:t> </a:t>
                      </a:r>
                      <a:r>
                        <a:rPr lang="en-US" sz="1100" b="0" dirty="0">
                          <a:solidFill>
                            <a:srgbClr val="000000"/>
                          </a:solidFill>
                          <a:effectLst/>
                          <a:latin typeface="Calibri"/>
                          <a:ea typeface="Calibri"/>
                          <a:cs typeface="Calibri"/>
                        </a:rPr>
                        <a:t>their adaptation policies and an overview of adaptation goals in the NECP or other policy documents.</a:t>
                      </a:r>
                      <a:endParaRPr lang="en-US" sz="1100" b="0" dirty="0">
                        <a:effectLst/>
                        <a:latin typeface="Calibri"/>
                        <a:ea typeface="Calibri"/>
                        <a:cs typeface="Calibri"/>
                      </a:endParaRPr>
                    </a:p>
                    <a:p>
                      <a:pPr>
                        <a:lnSpc>
                          <a:spcPct val="115000"/>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09:00-09:45 </a:t>
                      </a:r>
                    </a:p>
                    <a:p>
                      <a:pPr>
                        <a:lnSpc>
                          <a:spcPct val="115000"/>
                        </a:lnSpc>
                        <a:buNone/>
                      </a:pPr>
                      <a:r>
                        <a:rPr lang="en-US" sz="1100" b="1" dirty="0">
                          <a:solidFill>
                            <a:srgbClr val="4472C4"/>
                          </a:solidFill>
                          <a:effectLst/>
                          <a:latin typeface="Calibri"/>
                          <a:ea typeface="Calibri"/>
                          <a:cs typeface="Calibri"/>
                        </a:rPr>
                        <a:t>GHG Annexes </a:t>
                      </a:r>
                      <a:endParaRPr lang="en-US" sz="1100" dirty="0">
                        <a:effectLst/>
                        <a:latin typeface="Calibri"/>
                        <a:ea typeface="Calibri"/>
                        <a:cs typeface="Calibri"/>
                      </a:endParaRPr>
                    </a:p>
                    <a:p>
                      <a:pPr>
                        <a:lnSpc>
                          <a:spcPct val="115000"/>
                        </a:lnSpc>
                        <a:buNone/>
                      </a:pPr>
                      <a:r>
                        <a:rPr lang="en-US" sz="1100" b="1" dirty="0">
                          <a:solidFill>
                            <a:srgbClr val="000000"/>
                          </a:solidFill>
                          <a:effectLst/>
                          <a:latin typeface="Calibri"/>
                          <a:ea typeface="Calibri"/>
                          <a:cs typeface="Calibri"/>
                        </a:rPr>
                        <a:t>Presentation on Annexes of the Implementing Regulation (Annex by Annex), data reporting, and guidelines and discussion. </a:t>
                      </a:r>
                      <a:endParaRPr lang="en-US" sz="1100" dirty="0">
                        <a:effectLst/>
                        <a:latin typeface="Calibri"/>
                        <a:ea typeface="Calibri"/>
                        <a:cs typeface="Calibri"/>
                      </a:endParaRPr>
                    </a:p>
                    <a:p>
                      <a:pPr>
                        <a:lnSpc>
                          <a:spcPct val="115000"/>
                        </a:lnSpc>
                        <a:buNone/>
                      </a:pPr>
                      <a:r>
                        <a:rPr lang="en-US" sz="1100" dirty="0">
                          <a:solidFill>
                            <a:srgbClr val="000000"/>
                          </a:solidFill>
                          <a:effectLst/>
                          <a:latin typeface="Calibri"/>
                          <a:ea typeface="Calibri"/>
                          <a:cs typeface="Calibri"/>
                        </a:rPr>
                        <a:t>CITEPA will provide a presentation covering the Annexes, the data to be reported and guidelines. </a:t>
                      </a:r>
                      <a:endParaRPr lang="en-US" sz="1100" dirty="0">
                        <a:effectLst/>
                        <a:latin typeface="Calibri"/>
                        <a:ea typeface="Calibri"/>
                        <a:cs typeface="Calibri"/>
                      </a:endParaRPr>
                    </a:p>
                    <a:p>
                      <a:pPr>
                        <a:lnSpc>
                          <a:spcPct val="115000"/>
                        </a:lnSpc>
                        <a:buNone/>
                      </a:pPr>
                      <a:br>
                        <a:rPr lang="en-US" sz="1100" dirty="0">
                          <a:effectLst/>
                          <a:latin typeface="Calibri"/>
                        </a:rPr>
                      </a:br>
                      <a:r>
                        <a:rPr lang="en-US" sz="1100" b="1" dirty="0">
                          <a:effectLst/>
                          <a:latin typeface="Calibri"/>
                          <a:ea typeface="Calibri"/>
                          <a:cs typeface="Calibri"/>
                        </a:rPr>
                        <a:t>Discussion on data availability and filling in the Annexes</a:t>
                      </a:r>
                      <a:br>
                        <a:rPr lang="en-US" sz="1100" dirty="0">
                          <a:effectLst/>
                          <a:latin typeface="Calibri"/>
                        </a:rPr>
                      </a:br>
                      <a:r>
                        <a:rPr lang="en-US" sz="1100" dirty="0">
                          <a:effectLst/>
                          <a:latin typeface="Calibri"/>
                          <a:ea typeface="Calibri"/>
                          <a:cs typeface="Calibri"/>
                        </a:rPr>
                        <a:t>A discussion will focus on data availability in Bosnia and Herzegovina and the process for completing the Annexes. The list of required activity data on Annexes will be shared with Bosnia and Herzegovina in advance to help them prepare for the workshop.</a:t>
                      </a:r>
                    </a:p>
                    <a:p>
                      <a:pPr>
                        <a:lnSpc>
                          <a:spcPct val="115000"/>
                        </a:lnSpc>
                        <a:buNone/>
                      </a:pPr>
                      <a:endParaRPr lang="en-US" sz="1100" dirty="0">
                        <a:effectLst/>
                        <a:latin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endParaRPr lang="en-US" sz="1100" dirty="0">
                        <a:effectLst/>
                        <a:latin typeface="Calibri"/>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204729378"/>
                  </a:ext>
                </a:extLst>
              </a:tr>
              <a:tr h="168264">
                <a:tc vMerge="1">
                  <a:txBody>
                    <a:bodyPr/>
                    <a:lstStyle/>
                    <a:p>
                      <a:endParaRPr lang="en-US"/>
                    </a:p>
                  </a:txBody>
                  <a:tcPr/>
                </a:tc>
                <a:tc rowSpan="2">
                  <a:txBody>
                    <a:bodyPr/>
                    <a:lstStyle/>
                    <a:p>
                      <a:pPr>
                        <a:lnSpc>
                          <a:spcPct val="115000"/>
                        </a:lnSpc>
                        <a:buNone/>
                      </a:pPr>
                      <a:r>
                        <a:rPr lang="en-US" sz="1100" dirty="0">
                          <a:effectLst/>
                          <a:latin typeface="Calibri"/>
                          <a:ea typeface="Calibri"/>
                          <a:cs typeface="Calibri"/>
                        </a:rPr>
                        <a:t>09:45-10:30</a:t>
                      </a:r>
                    </a:p>
                    <a:p>
                      <a:pPr>
                        <a:lnSpc>
                          <a:spcPct val="115000"/>
                        </a:lnSpc>
                        <a:buNone/>
                      </a:pPr>
                      <a:r>
                        <a:rPr lang="en-US" sz="1100" b="1" dirty="0">
                          <a:solidFill>
                            <a:srgbClr val="4472C4"/>
                          </a:solidFill>
                          <a:effectLst/>
                          <a:latin typeface="Calibri"/>
                          <a:ea typeface="Calibri"/>
                          <a:cs typeface="Calibri"/>
                        </a:rPr>
                        <a:t>GHG Approximated Inventories</a:t>
                      </a:r>
                      <a:endParaRPr lang="en-US" sz="1100" dirty="0">
                        <a:effectLst/>
                        <a:latin typeface="Calibri"/>
                        <a:ea typeface="Calibri"/>
                        <a:cs typeface="Calibri"/>
                      </a:endParaRPr>
                    </a:p>
                    <a:p>
                      <a:pPr>
                        <a:lnSpc>
                          <a:spcPct val="115000"/>
                        </a:lnSpc>
                        <a:buNone/>
                      </a:pPr>
                      <a:r>
                        <a:rPr lang="en-US" sz="1100" b="1" dirty="0">
                          <a:effectLst/>
                          <a:latin typeface="Calibri"/>
                          <a:ea typeface="Calibri"/>
                          <a:cs typeface="Calibri"/>
                        </a:rPr>
                        <a:t>Obligations in terms of proxy: Context and use</a:t>
                      </a:r>
                      <a:br>
                        <a:rPr lang="en-US" sz="1100" dirty="0">
                          <a:effectLst/>
                          <a:latin typeface="Calibri"/>
                        </a:rPr>
                      </a:br>
                      <a:r>
                        <a:rPr lang="en-US" sz="1100" dirty="0">
                          <a:effectLst/>
                          <a:latin typeface="Calibri"/>
                          <a:ea typeface="Calibri"/>
                          <a:cs typeface="Calibri"/>
                        </a:rPr>
                        <a:t>An overview of the obligations related to proxies, including their context and application.</a:t>
                      </a:r>
                    </a:p>
                    <a:p>
                      <a:pPr lvl="0">
                        <a:lnSpc>
                          <a:spcPct val="114999"/>
                        </a:lnSpc>
                        <a:buNone/>
                      </a:pPr>
                      <a:endParaRPr lang="en-US" sz="1100" dirty="0">
                        <a:effectLst/>
                        <a:latin typeface="Calibri"/>
                        <a:ea typeface="Calibri"/>
                        <a:cs typeface="Calibri"/>
                      </a:endParaRPr>
                    </a:p>
                    <a:p>
                      <a:pPr>
                        <a:lnSpc>
                          <a:spcPct val="115000"/>
                        </a:lnSpc>
                        <a:buNone/>
                      </a:pPr>
                      <a:r>
                        <a:rPr lang="en-US" sz="1100" b="1" dirty="0">
                          <a:effectLst/>
                          <a:latin typeface="Calibri"/>
                          <a:ea typeface="Calibri"/>
                          <a:cs typeface="Calibri"/>
                        </a:rPr>
                        <a:t>Presentation of sectoral methodologies</a:t>
                      </a:r>
                      <a:br>
                        <a:rPr lang="en-US" sz="1100" dirty="0">
                          <a:effectLst/>
                          <a:latin typeface="Calibri"/>
                        </a:rPr>
                      </a:br>
                      <a:r>
                        <a:rPr lang="en-US" sz="1100" dirty="0">
                          <a:effectLst/>
                          <a:latin typeface="Calibri"/>
                          <a:ea typeface="Calibri"/>
                          <a:cs typeface="Calibri"/>
                        </a:rPr>
                        <a:t>An example of sectoral methodologies used in France to compile the proxy will be presented, illustrating the approach and techniques applied.</a:t>
                      </a:r>
                    </a:p>
                    <a:p>
                      <a:pPr>
                        <a:lnSpc>
                          <a:spcPct val="115000"/>
                        </a:lnSpc>
                        <a:buNone/>
                      </a:pPr>
                      <a:endParaRPr lang="en-US" sz="1100" dirty="0">
                        <a:effectLst/>
                        <a:latin typeface="Calibri"/>
                        <a:ea typeface="Calibri"/>
                        <a:cs typeface="Calibri"/>
                      </a:endParaRPr>
                    </a:p>
                    <a:p>
                      <a:pPr>
                        <a:lnSpc>
                          <a:spcPct val="115000"/>
                        </a:lnSpc>
                        <a:buNone/>
                      </a:pPr>
                      <a:r>
                        <a:rPr lang="en-US" sz="1100" b="1" dirty="0">
                          <a:effectLst/>
                          <a:latin typeface="Calibri"/>
                          <a:ea typeface="Calibri"/>
                          <a:cs typeface="Calibri"/>
                        </a:rPr>
                        <a:t>Discussion on data availability</a:t>
                      </a:r>
                      <a:br>
                        <a:rPr lang="en-US" sz="1100" dirty="0">
                          <a:effectLst/>
                          <a:latin typeface="Calibri"/>
                        </a:rPr>
                      </a:br>
                      <a:r>
                        <a:rPr lang="en-US" sz="1100" dirty="0">
                          <a:effectLst/>
                          <a:latin typeface="Calibri"/>
                          <a:ea typeface="Calibri"/>
                          <a:cs typeface="Calibri"/>
                        </a:rPr>
                        <a:t>A roundtable discussion will be held to assess data availability. The list of required activity data on Approximated Inventory will be shared with the Contracting Party in advance to help them prepare for the workshop.</a:t>
                      </a:r>
                    </a:p>
                    <a:p>
                      <a:pPr>
                        <a:lnSpc>
                          <a:spcPct val="115000"/>
                        </a:lnSpc>
                        <a:buNone/>
                      </a:pPr>
                      <a:endParaRPr lang="en-US" sz="1100" dirty="0">
                        <a:effectLst/>
                        <a:latin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endParaRPr lang="en-US" sz="1100" dirty="0">
                        <a:effectLst/>
                        <a:latin typeface="Calibri"/>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653591557"/>
                  </a:ext>
                </a:extLst>
              </a:tr>
              <a:tr h="2331659">
                <a:tc vMerge="1">
                  <a:txBody>
                    <a:bodyPr/>
                    <a:lstStyle/>
                    <a:p>
                      <a:endParaRPr lang="en-US"/>
                    </a:p>
                  </a:txBody>
                  <a:tcPr/>
                </a:tc>
                <a:tc vMerge="1">
                  <a:txBody>
                    <a:bodyPr/>
                    <a:lstStyle/>
                    <a:p>
                      <a:endParaRPr lang="en-US"/>
                    </a:p>
                  </a:txBody>
                  <a:tcPr/>
                </a:tc>
                <a:tc>
                  <a:txBody>
                    <a:bodyPr/>
                    <a:lstStyle/>
                    <a:p>
                      <a:pPr>
                        <a:buNone/>
                      </a:pPr>
                      <a:endParaRPr lang="en-US" sz="1100" dirty="0">
                        <a:effectLst/>
                        <a:latin typeface="Calibri"/>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220344251"/>
                  </a:ext>
                </a:extLst>
              </a:tr>
              <a:tr h="192302">
                <a:tc>
                  <a:txBody>
                    <a:bodyPr/>
                    <a:lstStyle/>
                    <a:p>
                      <a:pPr>
                        <a:lnSpc>
                          <a:spcPct val="115000"/>
                        </a:lnSpc>
                        <a:buNone/>
                      </a:pPr>
                      <a:r>
                        <a:rPr lang="en-US" sz="1100" dirty="0">
                          <a:solidFill>
                            <a:srgbClr val="000000"/>
                          </a:solidFill>
                          <a:effectLst/>
                          <a:latin typeface="Calibri"/>
                          <a:ea typeface="Calibri"/>
                          <a:cs typeface="Calibri"/>
                        </a:rPr>
                        <a:t>10:30-10:45</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buNone/>
                      </a:pPr>
                      <a:r>
                        <a:rPr lang="en-US" sz="1100" b="1" dirty="0">
                          <a:solidFill>
                            <a:srgbClr val="000000"/>
                          </a:solidFill>
                          <a:effectLst/>
                          <a:latin typeface="Calibri"/>
                          <a:ea typeface="Calibri"/>
                          <a:cs typeface="Calibri"/>
                        </a:rPr>
                        <a:t>Coffee break</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buNone/>
                      </a:pPr>
                      <a:endParaRPr lang="en-US" sz="1100" dirty="0">
                        <a:effectLst/>
                        <a:latin typeface="Calibri"/>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181557131"/>
                  </a:ext>
                </a:extLst>
              </a:tr>
            </a:tbl>
          </a:graphicData>
        </a:graphic>
      </p:graphicFrame>
    </p:spTree>
    <p:extLst>
      <p:ext uri="{BB962C8B-B14F-4D97-AF65-F5344CB8AC3E}">
        <p14:creationId xmlns:p14="http://schemas.microsoft.com/office/powerpoint/2010/main" val="1827192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79E7E-7A63-FEB9-C045-8DD880559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9E52A-F0FB-F214-D8B0-34DBB8A739EB}"/>
              </a:ext>
            </a:extLst>
          </p:cNvPr>
          <p:cNvSpPr>
            <a:spLocks noGrp="1"/>
          </p:cNvSpPr>
          <p:nvPr>
            <p:ph type="title"/>
          </p:nvPr>
        </p:nvSpPr>
        <p:spPr>
          <a:xfrm>
            <a:off x="428206" y="0"/>
            <a:ext cx="6404846" cy="1325563"/>
          </a:xfrm>
        </p:spPr>
        <p:txBody>
          <a:bodyPr/>
          <a:lstStyle/>
          <a:p>
            <a:r>
              <a:rPr lang="en-US" sz="4000" dirty="0">
                <a:solidFill>
                  <a:srgbClr val="004B7F"/>
                </a:solidFill>
                <a:latin typeface="Calibri Light"/>
                <a:cs typeface="Calibri"/>
              </a:rPr>
              <a:t>Day 2 – Wednesday 8 October</a:t>
            </a:r>
            <a:endParaRPr lang="en-US" dirty="0">
              <a:solidFill>
                <a:srgbClr val="004B7F"/>
              </a:solidFill>
            </a:endParaRPr>
          </a:p>
        </p:txBody>
      </p:sp>
      <p:graphicFrame>
        <p:nvGraphicFramePr>
          <p:cNvPr id="6" name="Content Placeholder 5">
            <a:extLst>
              <a:ext uri="{FF2B5EF4-FFF2-40B4-BE49-F238E27FC236}">
                <a16:creationId xmlns:a16="http://schemas.microsoft.com/office/drawing/2014/main" id="{EC734B60-6EA3-B30A-8313-4D95E91CABAE}"/>
              </a:ext>
            </a:extLst>
          </p:cNvPr>
          <p:cNvGraphicFramePr>
            <a:graphicFrameLocks noGrp="1"/>
          </p:cNvGraphicFramePr>
          <p:nvPr>
            <p:ph idx="1"/>
            <p:extLst>
              <p:ext uri="{D42A27DB-BD31-4B8C-83A1-F6EECF244321}">
                <p14:modId xmlns:p14="http://schemas.microsoft.com/office/powerpoint/2010/main" val="1406620478"/>
              </p:ext>
            </p:extLst>
          </p:nvPr>
        </p:nvGraphicFramePr>
        <p:xfrm>
          <a:off x="293914" y="1148292"/>
          <a:ext cx="11628394" cy="5370938"/>
        </p:xfrm>
        <a:graphic>
          <a:graphicData uri="http://schemas.openxmlformats.org/drawingml/2006/table">
            <a:tbl>
              <a:tblPr bandRow="1">
                <a:tableStyleId>{5C22544A-7EE6-4342-B048-85BDC9FD1C3A}</a:tableStyleId>
              </a:tblPr>
              <a:tblGrid>
                <a:gridCol w="5814197">
                  <a:extLst>
                    <a:ext uri="{9D8B030D-6E8A-4147-A177-3AD203B41FA5}">
                      <a16:colId xmlns:a16="http://schemas.microsoft.com/office/drawing/2014/main" val="1667189792"/>
                    </a:ext>
                  </a:extLst>
                </a:gridCol>
                <a:gridCol w="5814197">
                  <a:extLst>
                    <a:ext uri="{9D8B030D-6E8A-4147-A177-3AD203B41FA5}">
                      <a16:colId xmlns:a16="http://schemas.microsoft.com/office/drawing/2014/main" val="1944833135"/>
                    </a:ext>
                  </a:extLst>
                </a:gridCol>
              </a:tblGrid>
              <a:tr h="858761">
                <a:tc>
                  <a:txBody>
                    <a:bodyPr/>
                    <a:lstStyle/>
                    <a:p>
                      <a:pPr rtl="0" fontAlgn="base">
                        <a:lnSpc>
                          <a:spcPts val="1200"/>
                        </a:lnSpc>
                        <a:buNone/>
                      </a:pPr>
                      <a:r>
                        <a:rPr lang="en-US" sz="1100" b="0" dirty="0">
                          <a:solidFill>
                            <a:srgbClr val="000000"/>
                          </a:solidFill>
                          <a:effectLst/>
                          <a:latin typeface="Calibri"/>
                        </a:rPr>
                        <a:t>10:45-12:00</a:t>
                      </a:r>
                      <a:endParaRPr lang="en-US" b="0" dirty="0">
                        <a:solidFill>
                          <a:srgbClr val="FFFFFF"/>
                        </a:solidFill>
                        <a:effectLst/>
                        <a:latin typeface="Calibri"/>
                      </a:endParaRPr>
                    </a:p>
                    <a:p>
                      <a:pPr rtl="0" fontAlgn="base">
                        <a:lnSpc>
                          <a:spcPts val="1200"/>
                        </a:lnSpc>
                        <a:buNone/>
                      </a:pPr>
                      <a:r>
                        <a:rPr lang="en-US" sz="1100" b="1" dirty="0">
                          <a:solidFill>
                            <a:srgbClr val="70AD47"/>
                          </a:solidFill>
                          <a:effectLst/>
                          <a:latin typeface="Calibri"/>
                        </a:rPr>
                        <a:t>Climate Adaptation</a:t>
                      </a:r>
                      <a:endParaRPr lang="en-US" b="1" dirty="0">
                        <a:solidFill>
                          <a:srgbClr val="FFFFFF"/>
                        </a:solidFill>
                        <a:effectLst/>
                        <a:latin typeface="Calibri"/>
                      </a:endParaRPr>
                    </a:p>
                    <a:p>
                      <a:pPr rtl="0" fontAlgn="base">
                        <a:lnSpc>
                          <a:spcPts val="1200"/>
                        </a:lnSpc>
                        <a:buNone/>
                      </a:pPr>
                      <a:r>
                        <a:rPr lang="en-US" sz="1100" b="0" dirty="0">
                          <a:solidFill>
                            <a:srgbClr val="000000"/>
                          </a:solidFill>
                          <a:effectLst/>
                          <a:latin typeface="Calibri"/>
                        </a:rPr>
                        <a:t>Continuation on guidance on reporting on ‘Adaptation planning and strategies (Art 19)’ and Progress to Target </a:t>
                      </a:r>
                      <a:r>
                        <a:rPr lang="en-US" sz="1100" b="0" err="1">
                          <a:solidFill>
                            <a:srgbClr val="000000"/>
                          </a:solidFill>
                          <a:effectLst/>
                          <a:latin typeface="Calibri"/>
                        </a:rPr>
                        <a:t>Decarbonisation</a:t>
                      </a:r>
                      <a:r>
                        <a:rPr lang="en-US" sz="1100" b="0" dirty="0">
                          <a:solidFill>
                            <a:srgbClr val="000000"/>
                          </a:solidFill>
                          <a:effectLst/>
                          <a:latin typeface="Calibri"/>
                        </a:rPr>
                        <a:t>: Adaptation (Art 17)</a:t>
                      </a:r>
                      <a:endParaRPr lang="en-US" b="0" dirty="0">
                        <a:solidFill>
                          <a:srgbClr val="FFFFFF"/>
                        </a:solidFill>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100" dirty="0">
                          <a:effectLst/>
                          <a:latin typeface="Calibri"/>
                        </a:rPr>
                        <a:t>10:45-12:00</a:t>
                      </a:r>
                      <a:endParaRPr lang="en-US" dirty="0">
                        <a:effectLst/>
                        <a:latin typeface="Calibri"/>
                      </a:endParaRPr>
                    </a:p>
                    <a:p>
                      <a:pPr rtl="0" fontAlgn="base">
                        <a:lnSpc>
                          <a:spcPts val="1200"/>
                        </a:lnSpc>
                        <a:buNone/>
                      </a:pPr>
                      <a:r>
                        <a:rPr lang="en-US" sz="1100" b="1" dirty="0">
                          <a:solidFill>
                            <a:srgbClr val="4472C4"/>
                          </a:solidFill>
                          <a:effectLst/>
                          <a:latin typeface="Calibri"/>
                        </a:rPr>
                        <a:t>GHG Approximated Inventories</a:t>
                      </a:r>
                      <a:endParaRPr lang="en-US" dirty="0">
                        <a:effectLst/>
                        <a:latin typeface="Calibri"/>
                      </a:endParaRPr>
                    </a:p>
                    <a:p>
                      <a:pPr rtl="0" fontAlgn="base">
                        <a:lnSpc>
                          <a:spcPts val="1200"/>
                        </a:lnSpc>
                        <a:buNone/>
                      </a:pPr>
                      <a:r>
                        <a:rPr lang="en-US" sz="1100" b="1" dirty="0">
                          <a:effectLst/>
                          <a:latin typeface="Calibri"/>
                        </a:rPr>
                        <a:t>Hands-on exercises on proxy compilation</a:t>
                      </a:r>
                      <a:br>
                        <a:rPr lang="en-US" sz="1100" dirty="0">
                          <a:effectLst/>
                          <a:latin typeface="Calibri"/>
                        </a:rPr>
                      </a:br>
                      <a:r>
                        <a:rPr lang="en-US" sz="1100" dirty="0">
                          <a:effectLst/>
                          <a:latin typeface="Calibri"/>
                        </a:rPr>
                        <a:t>Participants will engage in hands-on exercises to practice compiling proxies, applying the methodologies discussed.</a:t>
                      </a:r>
                    </a:p>
                    <a:p>
                      <a:pPr lvl="0">
                        <a:lnSpc>
                          <a:spcPts val="1200"/>
                        </a:lnSpc>
                        <a:buNone/>
                      </a:pPr>
                      <a:endParaRPr lang="en-US" sz="1100" dirty="0">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6308473"/>
                  </a:ext>
                </a:extLst>
              </a:tr>
              <a:tr h="219659">
                <a:tc>
                  <a:txBody>
                    <a:bodyPr/>
                    <a:lstStyle/>
                    <a:p>
                      <a:pPr rtl="0" fontAlgn="base">
                        <a:lnSpc>
                          <a:spcPts val="1200"/>
                        </a:lnSpc>
                        <a:buNone/>
                      </a:pPr>
                      <a:r>
                        <a:rPr lang="en-US" sz="1100" b="1" dirty="0">
                          <a:solidFill>
                            <a:srgbClr val="000000"/>
                          </a:solidFill>
                          <a:effectLst/>
                          <a:latin typeface="Calibri"/>
                        </a:rPr>
                        <a:t>12:00-13:00</a:t>
                      </a:r>
                      <a:endParaRPr lang="en-US" b="1" dirty="0">
                        <a:solidFill>
                          <a:srgbClr val="FFFFFF"/>
                        </a:solidFill>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solidFill>
                      <a:srgbClr val="BDD6EE"/>
                    </a:solidFill>
                  </a:tcPr>
                </a:tc>
                <a:tc>
                  <a:txBody>
                    <a:bodyPr/>
                    <a:lstStyle/>
                    <a:p>
                      <a:pPr rtl="0" fontAlgn="base">
                        <a:lnSpc>
                          <a:spcPts val="1200"/>
                        </a:lnSpc>
                        <a:buNone/>
                      </a:pPr>
                      <a:r>
                        <a:rPr lang="en-US" sz="1100" b="1" dirty="0">
                          <a:effectLst/>
                          <a:latin typeface="Calibri"/>
                        </a:rPr>
                        <a:t>Lunch</a:t>
                      </a:r>
                      <a:endParaRPr lang="en-US" dirty="0">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89029104"/>
                  </a:ext>
                </a:extLst>
              </a:tr>
              <a:tr h="858761">
                <a:tc>
                  <a:txBody>
                    <a:bodyPr/>
                    <a:lstStyle/>
                    <a:p>
                      <a:pPr rtl="0" fontAlgn="base">
                        <a:lnSpc>
                          <a:spcPts val="1200"/>
                        </a:lnSpc>
                        <a:buNone/>
                      </a:pPr>
                      <a:r>
                        <a:rPr lang="en-US" sz="1100" b="0" dirty="0">
                          <a:solidFill>
                            <a:schemeClr val="tx1"/>
                          </a:solidFill>
                          <a:effectLst/>
                          <a:latin typeface="Calibri"/>
                        </a:rPr>
                        <a:t>13:00-14:00</a:t>
                      </a:r>
                      <a:endParaRPr lang="en-US" b="0" dirty="0">
                        <a:solidFill>
                          <a:schemeClr val="tx1"/>
                        </a:solidFill>
                        <a:effectLst/>
                        <a:latin typeface="Calibri"/>
                      </a:endParaRPr>
                    </a:p>
                    <a:p>
                      <a:pPr rtl="0" fontAlgn="base">
                        <a:lnSpc>
                          <a:spcPts val="1200"/>
                        </a:lnSpc>
                        <a:buNone/>
                      </a:pPr>
                      <a:r>
                        <a:rPr lang="en-US" sz="1100" b="1" dirty="0">
                          <a:solidFill>
                            <a:srgbClr val="BF8F00"/>
                          </a:solidFill>
                          <a:effectLst/>
                          <a:latin typeface="Calibri"/>
                        </a:rPr>
                        <a:t>NECP IPR reporting</a:t>
                      </a:r>
                      <a:endParaRPr lang="en-US" b="0">
                        <a:solidFill>
                          <a:schemeClr val="tx1"/>
                        </a:solidFill>
                        <a:effectLst/>
                        <a:latin typeface="Calibri"/>
                      </a:endParaRPr>
                    </a:p>
                    <a:p>
                      <a:pPr rtl="0" fontAlgn="base">
                        <a:lnSpc>
                          <a:spcPts val="1200"/>
                        </a:lnSpc>
                        <a:buNone/>
                      </a:pPr>
                      <a:r>
                        <a:rPr lang="en-US" sz="1100" b="1" dirty="0">
                          <a:solidFill>
                            <a:schemeClr val="tx1"/>
                          </a:solidFill>
                          <a:effectLst/>
                          <a:latin typeface="Calibri"/>
                        </a:rPr>
                        <a:t>Guidance on reporting ‘Energy Efficiency’</a:t>
                      </a:r>
                      <a:br>
                        <a:rPr lang="en-US" sz="1100" b="0" dirty="0">
                          <a:solidFill>
                            <a:srgbClr val="000000"/>
                          </a:solidFill>
                          <a:effectLst/>
                          <a:latin typeface="Calibri"/>
                        </a:rPr>
                      </a:br>
                      <a:r>
                        <a:rPr lang="en-US" sz="1100" b="0" dirty="0">
                          <a:solidFill>
                            <a:schemeClr val="tx1"/>
                          </a:solidFill>
                          <a:effectLst/>
                          <a:latin typeface="Calibri"/>
                        </a:rPr>
                        <a:t>The EEA will provide an overview of the reporting obligations for Renewable Energy and highlight common areas where information is often incomplete or missing.</a:t>
                      </a:r>
                    </a:p>
                    <a:p>
                      <a:pPr lvl="0">
                        <a:lnSpc>
                          <a:spcPts val="1200"/>
                        </a:lnSpc>
                        <a:buNone/>
                      </a:pPr>
                      <a:endParaRPr lang="en-US" sz="1100" b="0" dirty="0">
                        <a:solidFill>
                          <a:schemeClr val="tx1"/>
                        </a:solidFill>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tc rowSpan="2">
                  <a:txBody>
                    <a:bodyPr/>
                    <a:lstStyle/>
                    <a:p>
                      <a:pPr rtl="0" fontAlgn="base">
                        <a:lnSpc>
                          <a:spcPts val="1200"/>
                        </a:lnSpc>
                        <a:buNone/>
                      </a:pPr>
                      <a:r>
                        <a:rPr lang="en-US" sz="1100" dirty="0">
                          <a:effectLst/>
                          <a:latin typeface="Calibri"/>
                        </a:rPr>
                        <a:t>13:00-14:00</a:t>
                      </a:r>
                      <a:endParaRPr lang="en-US" dirty="0">
                        <a:effectLst/>
                        <a:latin typeface="Calibri"/>
                      </a:endParaRPr>
                    </a:p>
                    <a:p>
                      <a:pPr lvl="0">
                        <a:lnSpc>
                          <a:spcPts val="1200"/>
                        </a:lnSpc>
                        <a:buNone/>
                      </a:pPr>
                      <a:r>
                        <a:rPr lang="en-US" sz="1100" b="1" i="0" u="none" strike="noStrike" noProof="0" dirty="0">
                          <a:solidFill>
                            <a:srgbClr val="767171"/>
                          </a:solidFill>
                          <a:effectLst/>
                          <a:latin typeface="Calibri"/>
                        </a:rPr>
                        <a:t>GHG Projections</a:t>
                      </a:r>
                      <a:endParaRPr lang="en-US" dirty="0"/>
                    </a:p>
                    <a:p>
                      <a:pPr rtl="0" fontAlgn="base">
                        <a:lnSpc>
                          <a:spcPts val="1200"/>
                        </a:lnSpc>
                        <a:buNone/>
                      </a:pPr>
                      <a:r>
                        <a:rPr lang="en-US" sz="1100" b="1" dirty="0">
                          <a:solidFill>
                            <a:srgbClr val="7030A0"/>
                          </a:solidFill>
                          <a:effectLst/>
                          <a:latin typeface="Calibri"/>
                        </a:rPr>
                        <a:t>Bosnia and Herzegovina will present (15 min)</a:t>
                      </a:r>
                      <a:r>
                        <a:rPr lang="en-US" sz="1100" dirty="0">
                          <a:solidFill>
                            <a:srgbClr val="7030A0"/>
                          </a:solidFill>
                          <a:effectLst/>
                          <a:latin typeface="Calibri"/>
                        </a:rPr>
                        <a:t> </a:t>
                      </a:r>
                      <a:r>
                        <a:rPr lang="en-US" sz="1100" dirty="0">
                          <a:effectLst/>
                          <a:latin typeface="Calibri"/>
                        </a:rPr>
                        <a:t>their GHG projections in the NECP and how these were created.</a:t>
                      </a:r>
                      <a:endParaRPr lang="en-US" dirty="0">
                        <a:effectLst/>
                        <a:latin typeface="Calibri"/>
                      </a:endParaRPr>
                    </a:p>
                    <a:p>
                      <a:pPr lvl="0">
                        <a:lnSpc>
                          <a:spcPts val="1200"/>
                        </a:lnSpc>
                        <a:buNone/>
                      </a:pPr>
                      <a:endParaRPr lang="en-US" sz="1100" dirty="0">
                        <a:effectLst/>
                        <a:latin typeface="Calibri"/>
                      </a:endParaRPr>
                    </a:p>
                    <a:p>
                      <a:pPr rtl="0" fontAlgn="base">
                        <a:lnSpc>
                          <a:spcPts val="1200"/>
                        </a:lnSpc>
                        <a:buNone/>
                      </a:pPr>
                      <a:r>
                        <a:rPr lang="en-US" sz="1100" dirty="0">
                          <a:effectLst/>
                          <a:latin typeface="Calibri"/>
                        </a:rPr>
                        <a:t>The EEA will present the reporting obligations related to 'Projections', explaining the requirements and highlighting common areas where information is often lacking.</a:t>
                      </a:r>
                      <a:endParaRPr lang="en-US" dirty="0">
                        <a:effectLst/>
                        <a:latin typeface="Calibri"/>
                      </a:endParaRPr>
                    </a:p>
                    <a:p>
                      <a:pPr rtl="0" fontAlgn="base">
                        <a:lnSpc>
                          <a:spcPts val="1200"/>
                        </a:lnSpc>
                        <a:buNone/>
                      </a:pPr>
                      <a:r>
                        <a:rPr lang="en-US" sz="1100" dirty="0">
                          <a:effectLst/>
                          <a:latin typeface="Calibri"/>
                        </a:rPr>
                        <a:t>The presentation will also include the template used for reporting.</a:t>
                      </a:r>
                      <a:endParaRPr lang="en-US" dirty="0">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977642"/>
                  </a:ext>
                </a:extLst>
              </a:tr>
              <a:tr h="1003904">
                <a:tc>
                  <a:txBody>
                    <a:bodyPr/>
                    <a:lstStyle/>
                    <a:p>
                      <a:pPr rtl="0" fontAlgn="base">
                        <a:lnSpc>
                          <a:spcPts val="1200"/>
                        </a:lnSpc>
                        <a:buNone/>
                      </a:pPr>
                      <a:r>
                        <a:rPr lang="en-US" sz="1100" b="0" dirty="0">
                          <a:solidFill>
                            <a:schemeClr val="tx1"/>
                          </a:solidFill>
                          <a:effectLst/>
                          <a:latin typeface="Calibri"/>
                        </a:rPr>
                        <a:t>14:00-14:30</a:t>
                      </a:r>
                      <a:endParaRPr lang="en-US" b="0" dirty="0">
                        <a:solidFill>
                          <a:schemeClr val="tx1"/>
                        </a:solidFill>
                        <a:effectLst/>
                        <a:latin typeface="Calibri"/>
                      </a:endParaRPr>
                    </a:p>
                    <a:p>
                      <a:pPr rtl="0" fontAlgn="base">
                        <a:lnSpc>
                          <a:spcPts val="1200"/>
                        </a:lnSpc>
                        <a:buNone/>
                      </a:pPr>
                      <a:r>
                        <a:rPr lang="en-US" sz="1100" b="1" dirty="0">
                          <a:solidFill>
                            <a:srgbClr val="BF8F00"/>
                          </a:solidFill>
                          <a:effectLst/>
                          <a:latin typeface="Calibri"/>
                        </a:rPr>
                        <a:t>NECP IPR reporting</a:t>
                      </a:r>
                      <a:endParaRPr lang="en-US" b="0">
                        <a:solidFill>
                          <a:schemeClr val="tx1"/>
                        </a:solidFill>
                        <a:effectLst/>
                        <a:latin typeface="Calibri"/>
                      </a:endParaRPr>
                    </a:p>
                    <a:p>
                      <a:pPr rtl="0" fontAlgn="base">
                        <a:lnSpc>
                          <a:spcPts val="1200"/>
                        </a:lnSpc>
                        <a:buNone/>
                      </a:pPr>
                      <a:r>
                        <a:rPr lang="en-US" sz="1100" b="1" dirty="0">
                          <a:solidFill>
                            <a:schemeClr val="tx1"/>
                          </a:solidFill>
                          <a:effectLst/>
                          <a:latin typeface="Calibri"/>
                        </a:rPr>
                        <a:t>Real-life experience: Insights from Spain</a:t>
                      </a:r>
                      <a:endParaRPr lang="en-US" b="1">
                        <a:solidFill>
                          <a:schemeClr val="tx1"/>
                        </a:solidFill>
                        <a:effectLst/>
                        <a:latin typeface="Calibri"/>
                      </a:endParaRPr>
                    </a:p>
                    <a:p>
                      <a:pPr rtl="0" fontAlgn="base">
                        <a:lnSpc>
                          <a:spcPts val="1200"/>
                        </a:lnSpc>
                        <a:buNone/>
                      </a:pPr>
                      <a:r>
                        <a:rPr lang="en-US" sz="1100" b="0" i="1" dirty="0">
                          <a:solidFill>
                            <a:schemeClr val="tx1"/>
                          </a:solidFill>
                          <a:effectLst/>
                          <a:latin typeface="Calibri"/>
                        </a:rPr>
                        <a:t>Virtual presentation – Sofía Rodriguez Pita</a:t>
                      </a:r>
                      <a:endParaRPr lang="en-US" b="0">
                        <a:solidFill>
                          <a:schemeClr val="tx1"/>
                        </a:solidFill>
                        <a:effectLst/>
                        <a:latin typeface="Calibri"/>
                      </a:endParaRPr>
                    </a:p>
                    <a:p>
                      <a:pPr rtl="0" fontAlgn="base">
                        <a:lnSpc>
                          <a:spcPts val="1200"/>
                        </a:lnSpc>
                        <a:buNone/>
                      </a:pPr>
                      <a:r>
                        <a:rPr lang="en-US" sz="1100" b="0" dirty="0">
                          <a:solidFill>
                            <a:schemeClr val="tx1"/>
                          </a:solidFill>
                          <a:effectLst/>
                          <a:latin typeface="Calibri"/>
                        </a:rPr>
                        <a:t>Sofía Rodríguez Pita will share their experience with MS reporting on energy efficiency, with a focus on Annex 16.</a:t>
                      </a:r>
                    </a:p>
                    <a:p>
                      <a:pPr lvl="0">
                        <a:lnSpc>
                          <a:spcPts val="1200"/>
                        </a:lnSpc>
                        <a:buNone/>
                      </a:pPr>
                      <a:endParaRPr lang="en-US" sz="1100" b="0" dirty="0">
                        <a:solidFill>
                          <a:schemeClr val="tx1"/>
                        </a:solidFill>
                        <a:effectLst/>
                        <a:latin typeface="Calibri"/>
                      </a:endParaRPr>
                    </a:p>
                  </a:txBody>
                  <a:tcPr marL="52502" marR="52502" anchor="ctr">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4150671086"/>
                  </a:ext>
                </a:extLst>
              </a:tr>
              <a:tr h="241904">
                <a:tc>
                  <a:txBody>
                    <a:bodyPr/>
                    <a:lstStyle/>
                    <a:p>
                      <a:pPr rtl="0" fontAlgn="base">
                        <a:lnSpc>
                          <a:spcPts val="1200"/>
                        </a:lnSpc>
                        <a:buNone/>
                      </a:pPr>
                      <a:r>
                        <a:rPr lang="en-US" sz="1100" b="1" dirty="0">
                          <a:solidFill>
                            <a:srgbClr val="000000"/>
                          </a:solidFill>
                          <a:effectLst/>
                          <a:latin typeface="Calibri"/>
                        </a:rPr>
                        <a:t>14:30-14:45</a:t>
                      </a:r>
                      <a:endParaRPr lang="en-US" b="1" dirty="0">
                        <a:solidFill>
                          <a:srgbClr val="FFFFFF"/>
                        </a:solidFill>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solidFill>
                      <a:srgbClr val="BDD6EE"/>
                    </a:solidFill>
                  </a:tcPr>
                </a:tc>
                <a:tc>
                  <a:txBody>
                    <a:bodyPr/>
                    <a:lstStyle/>
                    <a:p>
                      <a:pPr rtl="0" fontAlgn="base">
                        <a:lnSpc>
                          <a:spcPts val="1200"/>
                        </a:lnSpc>
                        <a:buNone/>
                      </a:pPr>
                      <a:r>
                        <a:rPr lang="en-US" sz="1100" b="1" dirty="0">
                          <a:effectLst/>
                          <a:latin typeface="Calibri"/>
                        </a:rPr>
                        <a:t>Coffee break</a:t>
                      </a:r>
                      <a:endParaRPr lang="en-US" dirty="0">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3103628258"/>
                  </a:ext>
                </a:extLst>
              </a:tr>
              <a:tr h="1713338">
                <a:tc>
                  <a:txBody>
                    <a:bodyPr/>
                    <a:lstStyle/>
                    <a:p>
                      <a:pPr rtl="0" fontAlgn="base">
                        <a:lnSpc>
                          <a:spcPts val="1200"/>
                        </a:lnSpc>
                        <a:buNone/>
                      </a:pPr>
                      <a:r>
                        <a:rPr lang="en-US" sz="1100" b="0" dirty="0">
                          <a:solidFill>
                            <a:schemeClr val="tx1"/>
                          </a:solidFill>
                          <a:effectLst/>
                          <a:latin typeface="Calibri"/>
                        </a:rPr>
                        <a:t>14:45-16:00</a:t>
                      </a:r>
                      <a:endParaRPr lang="en-US" b="0" dirty="0">
                        <a:solidFill>
                          <a:schemeClr val="tx1"/>
                        </a:solidFill>
                        <a:effectLst/>
                        <a:latin typeface="Calibri"/>
                      </a:endParaRPr>
                    </a:p>
                    <a:p>
                      <a:pPr rtl="0" fontAlgn="base">
                        <a:lnSpc>
                          <a:spcPts val="1200"/>
                        </a:lnSpc>
                        <a:buNone/>
                      </a:pPr>
                      <a:r>
                        <a:rPr lang="en-US" sz="1100" b="1" dirty="0">
                          <a:solidFill>
                            <a:srgbClr val="BF8F00"/>
                          </a:solidFill>
                          <a:effectLst/>
                          <a:latin typeface="Calibri"/>
                        </a:rPr>
                        <a:t>NECP IPR reporting</a:t>
                      </a:r>
                      <a:endParaRPr lang="en-US" b="0">
                        <a:solidFill>
                          <a:schemeClr val="tx1"/>
                        </a:solidFill>
                        <a:effectLst/>
                        <a:latin typeface="Calibri"/>
                      </a:endParaRPr>
                    </a:p>
                    <a:p>
                      <a:pPr rtl="0" fontAlgn="base">
                        <a:lnSpc>
                          <a:spcPts val="1200"/>
                        </a:lnSpc>
                        <a:buNone/>
                      </a:pPr>
                      <a:r>
                        <a:rPr lang="en-US" sz="1100" b="0" dirty="0">
                          <a:solidFill>
                            <a:schemeClr val="tx1"/>
                          </a:solidFill>
                          <a:effectLst/>
                          <a:latin typeface="Calibri"/>
                        </a:rPr>
                        <a:t>How to report?</a:t>
                      </a:r>
                      <a:br>
                        <a:rPr lang="en-US" sz="1100" b="0" dirty="0">
                          <a:solidFill>
                            <a:srgbClr val="000000"/>
                          </a:solidFill>
                          <a:effectLst/>
                          <a:latin typeface="Calibri"/>
                        </a:rPr>
                      </a:br>
                      <a:r>
                        <a:rPr lang="en-US" sz="1100" b="0" dirty="0">
                          <a:solidFill>
                            <a:schemeClr val="tx1"/>
                          </a:solidFill>
                          <a:effectLst/>
                          <a:latin typeface="Calibri"/>
                        </a:rPr>
                        <a:t>The EEA will guide participants through the process of reporting on Energy Efficiency obligations using </a:t>
                      </a:r>
                      <a:r>
                        <a:rPr lang="en-US" sz="1100" b="0" err="1">
                          <a:solidFill>
                            <a:schemeClr val="tx1"/>
                          </a:solidFill>
                          <a:effectLst/>
                          <a:latin typeface="Calibri"/>
                        </a:rPr>
                        <a:t>Reportnet</a:t>
                      </a:r>
                      <a:r>
                        <a:rPr lang="en-US" sz="1100" b="0" dirty="0">
                          <a:solidFill>
                            <a:schemeClr val="tx1"/>
                          </a:solidFill>
                          <a:effectLst/>
                          <a:latin typeface="Calibri"/>
                        </a:rPr>
                        <a:t>.</a:t>
                      </a:r>
                      <a:endParaRPr lang="en-US" b="0">
                        <a:solidFill>
                          <a:schemeClr val="tx1"/>
                        </a:solidFill>
                        <a:effectLst/>
                        <a:latin typeface="Calibri"/>
                      </a:endParaRPr>
                    </a:p>
                    <a:p>
                      <a:pPr lvl="0">
                        <a:lnSpc>
                          <a:spcPts val="1200"/>
                        </a:lnSpc>
                        <a:buNone/>
                      </a:pPr>
                      <a:endParaRPr lang="en-US" sz="1100" b="0" dirty="0">
                        <a:solidFill>
                          <a:schemeClr val="tx1"/>
                        </a:solidFill>
                        <a:effectLst/>
                        <a:latin typeface="Calibri"/>
                      </a:endParaRPr>
                    </a:p>
                    <a:p>
                      <a:pPr rtl="0" fontAlgn="base">
                        <a:lnSpc>
                          <a:spcPts val="1200"/>
                        </a:lnSpc>
                        <a:buNone/>
                      </a:pPr>
                      <a:r>
                        <a:rPr lang="en-US" sz="1100" b="0" dirty="0">
                          <a:solidFill>
                            <a:schemeClr val="tx1"/>
                          </a:solidFill>
                          <a:effectLst/>
                          <a:latin typeface="Calibri"/>
                        </a:rPr>
                        <a:t>An exercise will be provided for each participant to report on these obligations. EEA staff will be available to answer questions and provide guidance throughout the session.</a:t>
                      </a:r>
                      <a:endParaRPr lang="en-US" b="0">
                        <a:solidFill>
                          <a:schemeClr val="tx1"/>
                        </a:solidFill>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tc>
                  <a:txBody>
                    <a:bodyPr/>
                    <a:lstStyle/>
                    <a:p>
                      <a:pPr rtl="0" fontAlgn="base">
                        <a:lnSpc>
                          <a:spcPts val="1200"/>
                        </a:lnSpc>
                        <a:buNone/>
                      </a:pPr>
                      <a:r>
                        <a:rPr lang="en-US" sz="1100" dirty="0">
                          <a:effectLst/>
                          <a:latin typeface="Calibri"/>
                        </a:rPr>
                        <a:t>14:45-16:00</a:t>
                      </a:r>
                      <a:endParaRPr lang="en-US" dirty="0">
                        <a:effectLst/>
                        <a:latin typeface="Calibri"/>
                      </a:endParaRPr>
                    </a:p>
                    <a:p>
                      <a:pPr lvl="0">
                        <a:lnSpc>
                          <a:spcPts val="1200"/>
                        </a:lnSpc>
                        <a:buNone/>
                      </a:pPr>
                      <a:r>
                        <a:rPr lang="en-US" sz="1100" b="1" i="0" u="none" strike="noStrike" noProof="0" dirty="0">
                          <a:solidFill>
                            <a:srgbClr val="767171"/>
                          </a:solidFill>
                          <a:effectLst/>
                          <a:latin typeface="Calibri"/>
                        </a:rPr>
                        <a:t>GHG Projections</a:t>
                      </a:r>
                      <a:endParaRPr lang="en-US" dirty="0"/>
                    </a:p>
                    <a:p>
                      <a:pPr lvl="0">
                        <a:lnSpc>
                          <a:spcPts val="1200"/>
                        </a:lnSpc>
                        <a:buNone/>
                      </a:pPr>
                      <a:r>
                        <a:rPr lang="en-US" sz="1100" b="1" dirty="0">
                          <a:effectLst/>
                          <a:latin typeface="Calibri"/>
                        </a:rPr>
                        <a:t>How to report on Projections?</a:t>
                      </a:r>
                      <a:br>
                        <a:rPr lang="en-US" sz="1100" dirty="0">
                          <a:effectLst/>
                          <a:latin typeface="Calibri"/>
                        </a:rPr>
                      </a:br>
                      <a:r>
                        <a:rPr lang="en-US" sz="1100" dirty="0">
                          <a:effectLst/>
                          <a:latin typeface="Calibri"/>
                        </a:rPr>
                        <a:t>The EEA will guide participants through the process of reporting on Projections obligations using </a:t>
                      </a:r>
                      <a:r>
                        <a:rPr lang="en-US" sz="1100" dirty="0" err="1">
                          <a:effectLst/>
                          <a:latin typeface="Calibri"/>
                        </a:rPr>
                        <a:t>Reportnet</a:t>
                      </a:r>
                      <a:r>
                        <a:rPr lang="en-US" sz="1100" dirty="0">
                          <a:effectLst/>
                          <a:latin typeface="Calibri"/>
                        </a:rPr>
                        <a:t>.</a:t>
                      </a:r>
                      <a:endParaRPr lang="en-US" dirty="0">
                        <a:effectLst/>
                        <a:latin typeface="Calibri"/>
                      </a:endParaRPr>
                    </a:p>
                    <a:p>
                      <a:pPr lvl="0">
                        <a:lnSpc>
                          <a:spcPts val="1200"/>
                        </a:lnSpc>
                        <a:buNone/>
                      </a:pPr>
                      <a:endParaRPr lang="en-US" sz="1100" dirty="0">
                        <a:effectLst/>
                        <a:latin typeface="Calibri"/>
                      </a:endParaRPr>
                    </a:p>
                    <a:p>
                      <a:pPr rtl="0" fontAlgn="base">
                        <a:lnSpc>
                          <a:spcPts val="1200"/>
                        </a:lnSpc>
                        <a:buNone/>
                      </a:pPr>
                      <a:r>
                        <a:rPr lang="en-US" sz="1100" dirty="0">
                          <a:effectLst/>
                          <a:latin typeface="Calibri"/>
                        </a:rPr>
                        <a:t>An exercise will be provided for each participant to report on these obligations. EEA staff will be available to answer questions and provide guidance throughout the session.</a:t>
                      </a:r>
                      <a:endParaRPr lang="en-US" dirty="0">
                        <a:effectLst/>
                        <a:latin typeface="Calibri"/>
                      </a:endParaRPr>
                    </a:p>
                  </a:txBody>
                  <a:tcPr marL="52502" marR="52502">
                    <a:lnL w="10001" cap="flat" cmpd="sng" algn="ctr">
                      <a:solidFill>
                        <a:srgbClr val="000000"/>
                      </a:solidFill>
                      <a:prstDash val="solid"/>
                      <a:round/>
                      <a:headEnd type="none" w="med" len="med"/>
                      <a:tailEnd type="none" w="med" len="med"/>
                    </a:lnL>
                    <a:lnR w="10001" cap="flat" cmpd="sng" algn="ctr">
                      <a:solidFill>
                        <a:srgbClr val="000000"/>
                      </a:solidFill>
                      <a:prstDash val="solid"/>
                      <a:round/>
                      <a:headEnd type="none" w="med" len="med"/>
                      <a:tailEnd type="none" w="med" len="med"/>
                    </a:lnR>
                    <a:lnT w="10001" cap="flat" cmpd="sng" algn="ctr">
                      <a:solidFill>
                        <a:srgbClr val="000000"/>
                      </a:solidFill>
                      <a:prstDash val="solid"/>
                      <a:round/>
                      <a:headEnd type="none" w="med" len="med"/>
                      <a:tailEnd type="none" w="med" len="med"/>
                    </a:lnT>
                    <a:lnB w="10001"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5040576"/>
                  </a:ext>
                </a:extLst>
              </a:tr>
            </a:tbl>
          </a:graphicData>
        </a:graphic>
      </p:graphicFrame>
    </p:spTree>
    <p:extLst>
      <p:ext uri="{BB962C8B-B14F-4D97-AF65-F5344CB8AC3E}">
        <p14:creationId xmlns:p14="http://schemas.microsoft.com/office/powerpoint/2010/main" val="2358281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BCEB2-AE46-B67F-8F98-857DAEAA7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FD208-D845-FED6-ABB3-51676489E401}"/>
              </a:ext>
            </a:extLst>
          </p:cNvPr>
          <p:cNvSpPr>
            <a:spLocks noGrp="1"/>
          </p:cNvSpPr>
          <p:nvPr>
            <p:ph type="title"/>
          </p:nvPr>
        </p:nvSpPr>
        <p:spPr>
          <a:xfrm>
            <a:off x="428206" y="0"/>
            <a:ext cx="6404846" cy="1325563"/>
          </a:xfrm>
        </p:spPr>
        <p:txBody>
          <a:bodyPr/>
          <a:lstStyle/>
          <a:p>
            <a:r>
              <a:rPr lang="en-US" sz="4000" dirty="0">
                <a:solidFill>
                  <a:srgbClr val="004B7F"/>
                </a:solidFill>
                <a:latin typeface="Calibri Light"/>
                <a:cs typeface="Calibri"/>
              </a:rPr>
              <a:t>Day 3 – Thursday 9 October</a:t>
            </a:r>
            <a:endParaRPr lang="en-US" dirty="0">
              <a:solidFill>
                <a:srgbClr val="004B7F"/>
              </a:solidFill>
            </a:endParaRPr>
          </a:p>
        </p:txBody>
      </p:sp>
      <p:graphicFrame>
        <p:nvGraphicFramePr>
          <p:cNvPr id="7" name="Content Placeholder 6">
            <a:extLst>
              <a:ext uri="{FF2B5EF4-FFF2-40B4-BE49-F238E27FC236}">
                <a16:creationId xmlns:a16="http://schemas.microsoft.com/office/drawing/2014/main" id="{D71D7E40-4F01-0BC1-A418-BBD705FB44C5}"/>
              </a:ext>
            </a:extLst>
          </p:cNvPr>
          <p:cNvGraphicFramePr>
            <a:graphicFrameLocks noGrp="1"/>
          </p:cNvGraphicFramePr>
          <p:nvPr>
            <p:ph idx="1"/>
            <p:extLst>
              <p:ext uri="{D42A27DB-BD31-4B8C-83A1-F6EECF244321}">
                <p14:modId xmlns:p14="http://schemas.microsoft.com/office/powerpoint/2010/main" val="750146569"/>
              </p:ext>
            </p:extLst>
          </p:nvPr>
        </p:nvGraphicFramePr>
        <p:xfrm>
          <a:off x="281819" y="845911"/>
          <a:ext cx="11773538" cy="6090031"/>
        </p:xfrm>
        <a:graphic>
          <a:graphicData uri="http://schemas.openxmlformats.org/drawingml/2006/table">
            <a:tbl>
              <a:tblPr firstRow="1" firstCol="1" bandRow="1">
                <a:tableStyleId>{5C22544A-7EE6-4342-B048-85BDC9FD1C3A}</a:tableStyleId>
              </a:tblPr>
              <a:tblGrid>
                <a:gridCol w="5886769">
                  <a:extLst>
                    <a:ext uri="{9D8B030D-6E8A-4147-A177-3AD203B41FA5}">
                      <a16:colId xmlns:a16="http://schemas.microsoft.com/office/drawing/2014/main" val="2668935958"/>
                    </a:ext>
                  </a:extLst>
                </a:gridCol>
                <a:gridCol w="5886769">
                  <a:extLst>
                    <a:ext uri="{9D8B030D-6E8A-4147-A177-3AD203B41FA5}">
                      <a16:colId xmlns:a16="http://schemas.microsoft.com/office/drawing/2014/main" val="2382464924"/>
                    </a:ext>
                  </a:extLst>
                </a:gridCol>
              </a:tblGrid>
              <a:tr h="343984">
                <a:tc gridSpan="2">
                  <a:txBody>
                    <a:bodyPr/>
                    <a:lstStyle/>
                    <a:p>
                      <a:pPr>
                        <a:lnSpc>
                          <a:spcPct val="115000"/>
                        </a:lnSpc>
                        <a:buNone/>
                      </a:pPr>
                      <a:r>
                        <a:rPr lang="en-US" sz="1100" b="1" dirty="0">
                          <a:solidFill>
                            <a:srgbClr val="FFFFFF"/>
                          </a:solidFill>
                          <a:effectLst/>
                          <a:latin typeface="Calibri"/>
                          <a:ea typeface="Calibri"/>
                          <a:cs typeface="Calibri"/>
                        </a:rPr>
                        <a:t>Group split: Focus on Renewable Energy and Progress to GHG Emission Targets</a:t>
                      </a:r>
                      <a:endParaRPr lang="en-US" sz="1100" dirty="0">
                        <a:effectLst/>
                        <a:latin typeface="Calibri"/>
                        <a:ea typeface="Calibri"/>
                        <a:cs typeface="Calibri"/>
                      </a:endParaRPr>
                    </a:p>
                    <a:p>
                      <a:pPr>
                        <a:lnSpc>
                          <a:spcPct val="115000"/>
                        </a:lnSpc>
                        <a:buNone/>
                      </a:pPr>
                      <a:r>
                        <a:rPr lang="en-US" sz="1100" b="0" dirty="0">
                          <a:solidFill>
                            <a:srgbClr val="FFFFFF"/>
                          </a:solidFill>
                          <a:effectLst/>
                          <a:latin typeface="Calibri"/>
                          <a:ea typeface="Calibri"/>
                          <a:cs typeface="Calibri"/>
                        </a:rPr>
                        <a:t>Participants will be divided into thematic groups focusing on Renewable Energy and Progress to GHG Emission Targets.</a:t>
                      </a:r>
                      <a:endParaRPr lang="en-US" sz="1100" b="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3864"/>
                    </a:solidFill>
                  </a:tcPr>
                </a:tc>
                <a:tc hMerge="1">
                  <a:txBody>
                    <a:bodyPr/>
                    <a:lstStyle/>
                    <a:p>
                      <a:endParaRPr lang="en-US"/>
                    </a:p>
                  </a:txBody>
                  <a:tcPr/>
                </a:tc>
                <a:extLst>
                  <a:ext uri="{0D108BD9-81ED-4DB2-BD59-A6C34878D82A}">
                    <a16:rowId xmlns:a16="http://schemas.microsoft.com/office/drawing/2014/main" val="2507599261"/>
                  </a:ext>
                </a:extLst>
              </a:tr>
              <a:tr h="343984">
                <a:tc>
                  <a:txBody>
                    <a:bodyPr/>
                    <a:lstStyle/>
                    <a:p>
                      <a:pPr>
                        <a:lnSpc>
                          <a:spcPct val="115000"/>
                        </a:lnSpc>
                        <a:buNone/>
                      </a:pPr>
                      <a:r>
                        <a:rPr lang="en-US" sz="1100" dirty="0">
                          <a:effectLst/>
                          <a:latin typeface="Calibri"/>
                          <a:ea typeface="Calibri"/>
                          <a:cs typeface="Calibri"/>
                        </a:rPr>
                        <a:t>08:45-09:00</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Registration and arrival</a:t>
                      </a:r>
                    </a:p>
                    <a:p>
                      <a:pPr>
                        <a:lnSpc>
                          <a:spcPct val="115000"/>
                        </a:lnSpc>
                        <a:buNone/>
                      </a:pPr>
                      <a:endParaRPr lang="en-US" sz="1100" dirty="0">
                        <a:effectLst/>
                        <a:latin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658120"/>
                  </a:ext>
                </a:extLst>
              </a:tr>
              <a:tr h="1031953">
                <a:tc rowSpan="2">
                  <a:txBody>
                    <a:bodyPr/>
                    <a:lstStyle/>
                    <a:p>
                      <a:pPr>
                        <a:lnSpc>
                          <a:spcPct val="115000"/>
                        </a:lnSpc>
                        <a:buNone/>
                      </a:pPr>
                      <a:r>
                        <a:rPr lang="en-US" sz="1100" b="0" dirty="0">
                          <a:solidFill>
                            <a:schemeClr val="tx1"/>
                          </a:solidFill>
                          <a:effectLst/>
                          <a:latin typeface="Calibri"/>
                          <a:ea typeface="Calibri"/>
                          <a:cs typeface="Calibri"/>
                        </a:rPr>
                        <a:t>09:00-10:30</a:t>
                      </a:r>
                      <a:br>
                        <a:rPr lang="en-US" sz="1100" dirty="0">
                          <a:effectLst/>
                          <a:latin typeface="Calibri"/>
                        </a:rPr>
                      </a:br>
                      <a:r>
                        <a:rPr lang="en-US" sz="1100" b="1" dirty="0">
                          <a:solidFill>
                            <a:srgbClr val="BF8F00"/>
                          </a:solidFill>
                          <a:effectLst/>
                          <a:latin typeface="Calibri"/>
                          <a:ea typeface="Calibri"/>
                          <a:cs typeface="Calibri"/>
                        </a:rPr>
                        <a:t>NECP IPR reporting</a:t>
                      </a:r>
                      <a:br>
                        <a:rPr lang="en-US" sz="1100" b="0" dirty="0">
                          <a:solidFill>
                            <a:srgbClr val="000000"/>
                          </a:solidFill>
                          <a:effectLst/>
                          <a:latin typeface="Calibri"/>
                        </a:rPr>
                      </a:br>
                      <a:r>
                        <a:rPr lang="en-US" sz="1100" b="1" dirty="0">
                          <a:solidFill>
                            <a:schemeClr val="tx1"/>
                          </a:solidFill>
                          <a:effectLst/>
                          <a:latin typeface="Calibri"/>
                          <a:ea typeface="Calibri"/>
                          <a:cs typeface="Calibri"/>
                        </a:rPr>
                        <a:t>Guidance on reporting ‘Progress to Target GHG Emissions’</a:t>
                      </a:r>
                      <a:br>
                        <a:rPr lang="en-US" sz="1100" b="0" dirty="0">
                          <a:solidFill>
                            <a:srgbClr val="000000"/>
                          </a:solidFill>
                          <a:effectLst/>
                          <a:latin typeface="Calibri"/>
                        </a:rPr>
                      </a:br>
                      <a:r>
                        <a:rPr lang="en-US" sz="1100" b="0" dirty="0">
                          <a:solidFill>
                            <a:schemeClr val="tx1"/>
                          </a:solidFill>
                          <a:effectLst/>
                          <a:latin typeface="Calibri"/>
                          <a:ea typeface="Calibri"/>
                          <a:cs typeface="Calibri"/>
                        </a:rPr>
                        <a:t>The EEA will provide an overview of the reporting obligations for GHG Emissions Progress to Target and highlight common areas where information is often incomplete or missing.</a:t>
                      </a:r>
                    </a:p>
                    <a:p>
                      <a:pPr>
                        <a:lnSpc>
                          <a:spcPct val="115000"/>
                        </a:lnSpc>
                        <a:buNone/>
                      </a:pPr>
                      <a:endParaRPr lang="en-US" sz="1100" b="0" dirty="0">
                        <a:solidFill>
                          <a:schemeClr val="tx1"/>
                        </a:solidFill>
                        <a:effectLst/>
                        <a:latin typeface="Calibri"/>
                        <a:ea typeface="Calibri"/>
                        <a:cs typeface="Calibri"/>
                      </a:endParaRPr>
                    </a:p>
                    <a:p>
                      <a:pPr>
                        <a:lnSpc>
                          <a:spcPct val="115000"/>
                        </a:lnSpc>
                        <a:buNone/>
                      </a:pPr>
                      <a:r>
                        <a:rPr lang="en-US" sz="1100" b="1" dirty="0">
                          <a:solidFill>
                            <a:schemeClr val="tx1"/>
                          </a:solidFill>
                          <a:effectLst/>
                          <a:latin typeface="Calibri"/>
                          <a:ea typeface="Calibri"/>
                          <a:cs typeface="Calibri"/>
                        </a:rPr>
                        <a:t>How to report?</a:t>
                      </a:r>
                      <a:br>
                        <a:rPr lang="en-US" sz="1100" b="0" dirty="0">
                          <a:solidFill>
                            <a:srgbClr val="000000"/>
                          </a:solidFill>
                          <a:effectLst/>
                          <a:latin typeface="Calibri"/>
                        </a:rPr>
                      </a:br>
                      <a:r>
                        <a:rPr lang="en-US" sz="1100" b="0" dirty="0">
                          <a:solidFill>
                            <a:schemeClr val="tx1"/>
                          </a:solidFill>
                          <a:effectLst/>
                          <a:latin typeface="Calibri"/>
                          <a:ea typeface="Calibri"/>
                          <a:cs typeface="Calibri"/>
                        </a:rPr>
                        <a:t>The EEA will guide participants through the process of reporting on Progress to Target GHG Emissions obligations using </a:t>
                      </a:r>
                      <a:r>
                        <a:rPr lang="en-US" sz="1100" b="0" err="1">
                          <a:solidFill>
                            <a:schemeClr val="tx1"/>
                          </a:solidFill>
                          <a:effectLst/>
                          <a:latin typeface="Calibri"/>
                          <a:ea typeface="Calibri"/>
                          <a:cs typeface="Calibri"/>
                        </a:rPr>
                        <a:t>Reportnet</a:t>
                      </a:r>
                      <a:r>
                        <a:rPr lang="en-US" sz="1100" b="0" dirty="0">
                          <a:solidFill>
                            <a:schemeClr val="tx1"/>
                          </a:solidFill>
                          <a:effectLst/>
                          <a:latin typeface="Calibri"/>
                          <a:ea typeface="Calibri"/>
                          <a:cs typeface="Calibri"/>
                        </a:rPr>
                        <a:t>.</a:t>
                      </a:r>
                    </a:p>
                    <a:p>
                      <a:pPr>
                        <a:lnSpc>
                          <a:spcPct val="115000"/>
                        </a:lnSpc>
                        <a:buNone/>
                      </a:pPr>
                      <a:endParaRPr lang="en-US" sz="1100" b="0" dirty="0">
                        <a:solidFill>
                          <a:schemeClr val="tx1"/>
                        </a:solidFill>
                        <a:effectLst/>
                        <a:latin typeface="Calibri"/>
                        <a:ea typeface="Calibri"/>
                        <a:cs typeface="Calibri"/>
                      </a:endParaRPr>
                    </a:p>
                    <a:p>
                      <a:pPr>
                        <a:lnSpc>
                          <a:spcPct val="115000"/>
                        </a:lnSpc>
                        <a:buNone/>
                      </a:pPr>
                      <a:r>
                        <a:rPr lang="en-US" sz="1100" b="0" dirty="0">
                          <a:solidFill>
                            <a:schemeClr val="tx1"/>
                          </a:solidFill>
                          <a:effectLst/>
                          <a:latin typeface="Calibri"/>
                          <a:ea typeface="Calibri"/>
                          <a:cs typeface="Calibri"/>
                        </a:rPr>
                        <a:t>An exercise will be provided for practice. EEA staff will be available to answer questions and provide guidance throughout the session.</a:t>
                      </a:r>
                    </a:p>
                    <a:p>
                      <a:pPr>
                        <a:lnSpc>
                          <a:spcPct val="115000"/>
                        </a:lnSpc>
                        <a:buNone/>
                      </a:pPr>
                      <a:endParaRPr lang="en-US" sz="1100" dirty="0">
                        <a:effectLst/>
                        <a:latin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09:00-10:00</a:t>
                      </a:r>
                    </a:p>
                    <a:p>
                      <a:pPr>
                        <a:lnSpc>
                          <a:spcPct val="115000"/>
                        </a:lnSpc>
                        <a:buNone/>
                      </a:pPr>
                      <a:r>
                        <a:rPr lang="en-US" sz="1100" b="1" dirty="0">
                          <a:solidFill>
                            <a:srgbClr val="BF8F00"/>
                          </a:solidFill>
                          <a:effectLst/>
                          <a:latin typeface="Calibri"/>
                          <a:ea typeface="Calibri"/>
                          <a:cs typeface="Calibri"/>
                        </a:rPr>
                        <a:t>NECP IPR reporting</a:t>
                      </a:r>
                      <a:endParaRPr lang="en-US" sz="1100" dirty="0">
                        <a:effectLst/>
                        <a:latin typeface="Calibri"/>
                        <a:ea typeface="Calibri"/>
                        <a:cs typeface="Calibri"/>
                      </a:endParaRPr>
                    </a:p>
                    <a:p>
                      <a:pPr>
                        <a:lnSpc>
                          <a:spcPct val="115000"/>
                        </a:lnSpc>
                        <a:buNone/>
                      </a:pPr>
                      <a:r>
                        <a:rPr lang="en-US" sz="1100" b="1" dirty="0">
                          <a:effectLst/>
                          <a:latin typeface="Calibri"/>
                          <a:ea typeface="Calibri"/>
                          <a:cs typeface="Calibri"/>
                        </a:rPr>
                        <a:t>Guidance on reporting ‘Renewable Energy’</a:t>
                      </a:r>
                      <a:br>
                        <a:rPr lang="en-US" sz="1100" dirty="0">
                          <a:effectLst/>
                          <a:latin typeface="Calibri"/>
                        </a:rPr>
                      </a:br>
                      <a:r>
                        <a:rPr lang="en-US" sz="1100" dirty="0">
                          <a:effectLst/>
                          <a:latin typeface="Calibri"/>
                          <a:ea typeface="Calibri"/>
                          <a:cs typeface="Calibri"/>
                        </a:rPr>
                        <a:t>The EEA will provide an overview of the reporting obligations for Renewable Energy and highlight common areas where information is often incomplete or missing.</a:t>
                      </a:r>
                    </a:p>
                    <a:p>
                      <a:pPr>
                        <a:lnSpc>
                          <a:spcPct val="115000"/>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1722520"/>
                  </a:ext>
                </a:extLst>
              </a:tr>
              <a:tr h="1203946">
                <a:tc vMerge="1">
                  <a:txBody>
                    <a:bodyPr/>
                    <a:lstStyle/>
                    <a:p>
                      <a:endParaRPr lang="en-US"/>
                    </a:p>
                  </a:txBody>
                  <a:tcPr/>
                </a:tc>
                <a:tc>
                  <a:txBody>
                    <a:bodyPr/>
                    <a:lstStyle/>
                    <a:p>
                      <a:pPr>
                        <a:lnSpc>
                          <a:spcPct val="115000"/>
                        </a:lnSpc>
                        <a:buNone/>
                      </a:pPr>
                      <a:r>
                        <a:rPr lang="en-US" sz="1100" dirty="0">
                          <a:effectLst/>
                          <a:latin typeface="Calibri"/>
                          <a:ea typeface="Calibri"/>
                          <a:cs typeface="Calibri"/>
                        </a:rPr>
                        <a:t>10:00-10:30</a:t>
                      </a:r>
                    </a:p>
                    <a:p>
                      <a:pPr>
                        <a:lnSpc>
                          <a:spcPct val="115000"/>
                        </a:lnSpc>
                        <a:buNone/>
                      </a:pPr>
                      <a:r>
                        <a:rPr lang="en-US" sz="1100" b="1" dirty="0">
                          <a:solidFill>
                            <a:srgbClr val="BF8F00"/>
                          </a:solidFill>
                          <a:effectLst/>
                          <a:latin typeface="Calibri"/>
                          <a:ea typeface="Calibri"/>
                          <a:cs typeface="Calibri"/>
                        </a:rPr>
                        <a:t>NECP IPR reporting</a:t>
                      </a:r>
                      <a:endParaRPr lang="en-US" sz="1100" dirty="0">
                        <a:effectLst/>
                        <a:latin typeface="Calibri"/>
                        <a:ea typeface="Calibri"/>
                        <a:cs typeface="Calibri"/>
                      </a:endParaRPr>
                    </a:p>
                    <a:p>
                      <a:pPr>
                        <a:lnSpc>
                          <a:spcPct val="115000"/>
                        </a:lnSpc>
                        <a:buNone/>
                      </a:pPr>
                      <a:r>
                        <a:rPr lang="en-US" sz="1100" b="1" dirty="0">
                          <a:solidFill>
                            <a:srgbClr val="000000"/>
                          </a:solidFill>
                          <a:effectLst/>
                          <a:latin typeface="Calibri"/>
                          <a:ea typeface="Calibri"/>
                          <a:cs typeface="Calibri"/>
                        </a:rPr>
                        <a:t>Real-life experience: Insights from an EU Member State</a:t>
                      </a:r>
                      <a:r>
                        <a:rPr lang="en-US" sz="1100" b="1" dirty="0">
                          <a:effectLst/>
                          <a:latin typeface="Calibri"/>
                          <a:ea typeface="Calibri"/>
                          <a:cs typeface="Calibri"/>
                        </a:rPr>
                        <a:t> </a:t>
                      </a:r>
                      <a:br>
                        <a:rPr lang="en-US" sz="1100" dirty="0">
                          <a:effectLst/>
                          <a:latin typeface="Calibri"/>
                        </a:rPr>
                      </a:br>
                      <a:r>
                        <a:rPr lang="en-US" sz="1100" dirty="0">
                          <a:effectLst/>
                          <a:latin typeface="Calibri"/>
                          <a:ea typeface="Calibri"/>
                          <a:cs typeface="Calibri"/>
                        </a:rPr>
                        <a:t>VITO  will share insights into the experience with MS data reporting needed to meet the reporting requirements on Renewable Energy.</a:t>
                      </a:r>
                    </a:p>
                    <a:p>
                      <a:pPr>
                        <a:lnSpc>
                          <a:spcPct val="115000"/>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54384205"/>
                  </a:ext>
                </a:extLst>
              </a:tr>
              <a:tr h="171991">
                <a:tc>
                  <a:txBody>
                    <a:bodyPr/>
                    <a:lstStyle/>
                    <a:p>
                      <a:pPr>
                        <a:lnSpc>
                          <a:spcPct val="115000"/>
                        </a:lnSpc>
                        <a:buNone/>
                      </a:pPr>
                      <a:r>
                        <a:rPr lang="en-US" sz="1100" dirty="0">
                          <a:solidFill>
                            <a:srgbClr val="000000"/>
                          </a:solidFill>
                          <a:effectLst/>
                          <a:latin typeface="Calibri"/>
                          <a:ea typeface="Calibri"/>
                          <a:cs typeface="Calibri"/>
                        </a:rPr>
                        <a:t>10:30-10:45</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buNone/>
                      </a:pPr>
                      <a:r>
                        <a:rPr lang="en-US" sz="1100" b="1" dirty="0">
                          <a:solidFill>
                            <a:srgbClr val="000000"/>
                          </a:solidFill>
                          <a:effectLst/>
                          <a:latin typeface="Calibri"/>
                          <a:ea typeface="Calibri"/>
                          <a:cs typeface="Calibri"/>
                        </a:rPr>
                        <a:t>Coffee break</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3309445249"/>
                  </a:ext>
                </a:extLst>
              </a:tr>
              <a:tr h="1547936">
                <a:tc>
                  <a:txBody>
                    <a:bodyPr/>
                    <a:lstStyle/>
                    <a:p>
                      <a:pPr>
                        <a:lnSpc>
                          <a:spcPct val="115000"/>
                        </a:lnSpc>
                        <a:buNone/>
                      </a:pPr>
                      <a:r>
                        <a:rPr lang="en-US" sz="1100" b="0" dirty="0">
                          <a:solidFill>
                            <a:schemeClr val="tx1"/>
                          </a:solidFill>
                          <a:effectLst/>
                          <a:latin typeface="Calibri"/>
                          <a:ea typeface="Calibri"/>
                          <a:cs typeface="Calibri"/>
                        </a:rPr>
                        <a:t>10:45-11:30</a:t>
                      </a:r>
                    </a:p>
                    <a:p>
                      <a:pPr>
                        <a:lnSpc>
                          <a:spcPct val="115000"/>
                        </a:lnSpc>
                        <a:buNone/>
                      </a:pPr>
                      <a:r>
                        <a:rPr lang="en-US" sz="1100" b="1" dirty="0">
                          <a:solidFill>
                            <a:schemeClr val="tx1"/>
                          </a:solidFill>
                          <a:effectLst/>
                          <a:latin typeface="Calibri"/>
                        </a:rPr>
                        <a:t>“Open office” – support on any of the reporting obligations</a:t>
                      </a:r>
                    </a:p>
                    <a:p>
                      <a:pPr>
                        <a:lnSpc>
                          <a:spcPct val="115000"/>
                        </a:lnSpc>
                        <a:buNone/>
                      </a:pPr>
                      <a:r>
                        <a:rPr lang="en-US" sz="1100" b="0" dirty="0">
                          <a:solidFill>
                            <a:schemeClr val="tx1"/>
                          </a:solidFill>
                          <a:effectLst/>
                          <a:latin typeface="Calibri"/>
                        </a:rPr>
                        <a:t>EEA staff will be available to answer questions on any of the reporting obligations dealt with under the training.</a:t>
                      </a:r>
                    </a:p>
                    <a:p>
                      <a:pPr>
                        <a:lnSpc>
                          <a:spcPct val="115000"/>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buNone/>
                      </a:pPr>
                      <a:r>
                        <a:rPr lang="en-US" sz="1100" dirty="0">
                          <a:effectLst/>
                          <a:latin typeface="Calibri"/>
                          <a:ea typeface="Calibri"/>
                          <a:cs typeface="Calibri"/>
                        </a:rPr>
                        <a:t>10:45-12:00</a:t>
                      </a:r>
                    </a:p>
                    <a:p>
                      <a:pPr>
                        <a:lnSpc>
                          <a:spcPct val="115000"/>
                        </a:lnSpc>
                        <a:buNone/>
                      </a:pPr>
                      <a:r>
                        <a:rPr lang="en-US" sz="1100" b="1" dirty="0">
                          <a:solidFill>
                            <a:srgbClr val="BF8F00"/>
                          </a:solidFill>
                          <a:effectLst/>
                          <a:latin typeface="Calibri"/>
                          <a:ea typeface="Calibri"/>
                          <a:cs typeface="Calibri"/>
                        </a:rPr>
                        <a:t>NECP IPR reporting</a:t>
                      </a:r>
                      <a:endParaRPr lang="en-US" sz="1100" dirty="0">
                        <a:effectLst/>
                        <a:latin typeface="Calibri"/>
                        <a:ea typeface="Calibri"/>
                        <a:cs typeface="Calibri"/>
                      </a:endParaRPr>
                    </a:p>
                    <a:p>
                      <a:pPr>
                        <a:lnSpc>
                          <a:spcPct val="115000"/>
                        </a:lnSpc>
                        <a:buNone/>
                      </a:pPr>
                      <a:r>
                        <a:rPr lang="en-US" sz="1100" b="1" dirty="0">
                          <a:effectLst/>
                          <a:latin typeface="Calibri"/>
                          <a:ea typeface="Calibri"/>
                          <a:cs typeface="Calibri"/>
                        </a:rPr>
                        <a:t>How to report?</a:t>
                      </a:r>
                      <a:br>
                        <a:rPr lang="en-US" sz="1100" dirty="0">
                          <a:effectLst/>
                          <a:latin typeface="Calibri"/>
                        </a:rPr>
                      </a:br>
                      <a:r>
                        <a:rPr lang="en-US" sz="1100" dirty="0">
                          <a:effectLst/>
                          <a:latin typeface="Calibri"/>
                          <a:ea typeface="Calibri"/>
                          <a:cs typeface="Calibri"/>
                        </a:rPr>
                        <a:t>The EEA will guide participants through the process of reporting on Renewable Energy obligations using </a:t>
                      </a:r>
                      <a:r>
                        <a:rPr lang="en-US" sz="1100" err="1">
                          <a:effectLst/>
                          <a:latin typeface="Calibri"/>
                          <a:ea typeface="Calibri"/>
                          <a:cs typeface="Calibri"/>
                        </a:rPr>
                        <a:t>Reportnet</a:t>
                      </a:r>
                      <a:r>
                        <a:rPr lang="en-US" sz="1100" dirty="0">
                          <a:effectLst/>
                          <a:latin typeface="Calibri"/>
                          <a:ea typeface="Calibri"/>
                          <a:cs typeface="Calibri"/>
                        </a:rPr>
                        <a:t>.</a:t>
                      </a:r>
                    </a:p>
                    <a:p>
                      <a:pPr>
                        <a:lnSpc>
                          <a:spcPct val="115000"/>
                        </a:lnSpc>
                        <a:buNone/>
                      </a:pPr>
                      <a:endParaRPr lang="en-US" sz="1100" dirty="0">
                        <a:effectLst/>
                        <a:latin typeface="Calibri"/>
                        <a:ea typeface="Calibri"/>
                        <a:cs typeface="Calibri"/>
                      </a:endParaRPr>
                    </a:p>
                    <a:p>
                      <a:pPr>
                        <a:lnSpc>
                          <a:spcPct val="115000"/>
                        </a:lnSpc>
                        <a:buNone/>
                      </a:pPr>
                      <a:r>
                        <a:rPr lang="en-US" sz="1100" dirty="0">
                          <a:effectLst/>
                          <a:latin typeface="Calibri"/>
                          <a:ea typeface="Calibri"/>
                          <a:cs typeface="Calibri"/>
                        </a:rPr>
                        <a:t>An exercise will be provided for practice. EEA staff will be available to answer questions and provide guidance throughout the session.</a:t>
                      </a:r>
                    </a:p>
                    <a:p>
                      <a:pPr>
                        <a:lnSpc>
                          <a:spcPct val="115000"/>
                        </a:lnSpc>
                        <a:buNone/>
                      </a:pP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7038331"/>
                  </a:ext>
                </a:extLst>
              </a:tr>
              <a:tr h="687968">
                <a:tc gridSpan="2">
                  <a:txBody>
                    <a:bodyPr/>
                    <a:lstStyle/>
                    <a:p>
                      <a:pPr>
                        <a:lnSpc>
                          <a:spcPct val="115000"/>
                        </a:lnSpc>
                        <a:buNone/>
                      </a:pPr>
                      <a:r>
                        <a:rPr lang="en-US" sz="1100" b="0" dirty="0">
                          <a:solidFill>
                            <a:schemeClr val="tx1"/>
                          </a:solidFill>
                          <a:effectLst/>
                          <a:latin typeface="Calibri"/>
                          <a:ea typeface="Calibri"/>
                          <a:cs typeface="Calibri"/>
                        </a:rPr>
                        <a:t>12:00-12:30</a:t>
                      </a:r>
                    </a:p>
                    <a:p>
                      <a:pPr>
                        <a:lnSpc>
                          <a:spcPct val="115000"/>
                        </a:lnSpc>
                        <a:buNone/>
                      </a:pPr>
                      <a:r>
                        <a:rPr lang="en-US" sz="1100" b="1" dirty="0">
                          <a:solidFill>
                            <a:srgbClr val="7030A0"/>
                          </a:solidFill>
                          <a:effectLst/>
                          <a:latin typeface="Calibri"/>
                          <a:ea typeface="Calibri"/>
                          <a:cs typeface="Calibri"/>
                        </a:rPr>
                        <a:t>Everyone</a:t>
                      </a:r>
                      <a:endParaRPr lang="en-US" sz="1100" dirty="0">
                        <a:effectLst/>
                        <a:latin typeface="Calibri"/>
                        <a:ea typeface="Calibri"/>
                        <a:cs typeface="Calibri"/>
                      </a:endParaRPr>
                    </a:p>
                    <a:p>
                      <a:pPr>
                        <a:lnSpc>
                          <a:spcPct val="115000"/>
                        </a:lnSpc>
                        <a:buNone/>
                      </a:pPr>
                      <a:r>
                        <a:rPr lang="en-US" sz="1100" b="1" dirty="0">
                          <a:solidFill>
                            <a:schemeClr val="tx1"/>
                          </a:solidFill>
                          <a:effectLst/>
                          <a:latin typeface="Calibri"/>
                          <a:ea typeface="Calibri"/>
                          <a:cs typeface="Calibri"/>
                        </a:rPr>
                        <a:t>Conclusion of the workshop</a:t>
                      </a:r>
                    </a:p>
                    <a:p>
                      <a:pPr>
                        <a:lnSpc>
                          <a:spcPct val="115000"/>
                        </a:lnSpc>
                        <a:buNone/>
                      </a:pPr>
                      <a:r>
                        <a:rPr lang="en-US" sz="1100" b="0" dirty="0">
                          <a:solidFill>
                            <a:schemeClr val="tx1"/>
                          </a:solidFill>
                          <a:effectLst/>
                          <a:latin typeface="Calibri"/>
                          <a:ea typeface="Calibri"/>
                          <a:cs typeface="Calibri"/>
                        </a:rPr>
                        <a:t>The EEA and the </a:t>
                      </a:r>
                      <a:r>
                        <a:rPr lang="en-US" sz="1100" b="0" err="1">
                          <a:solidFill>
                            <a:schemeClr val="tx1"/>
                          </a:solidFill>
                          <a:effectLst/>
                          <a:latin typeface="Calibri"/>
                          <a:ea typeface="Calibri"/>
                          <a:cs typeface="Calibri"/>
                        </a:rPr>
                        <a:t>EnCS</a:t>
                      </a:r>
                      <a:r>
                        <a:rPr lang="en-US" sz="1100" b="0" dirty="0">
                          <a:solidFill>
                            <a:schemeClr val="tx1"/>
                          </a:solidFill>
                          <a:effectLst/>
                          <a:latin typeface="Calibri"/>
                          <a:ea typeface="Calibri"/>
                          <a:cs typeface="Calibri"/>
                        </a:rPr>
                        <a:t> will provide concluding remarks for the workshop and the reporting to come.</a:t>
                      </a: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807768266"/>
                  </a:ext>
                </a:extLst>
              </a:tr>
              <a:tr h="171991">
                <a:tc>
                  <a:txBody>
                    <a:bodyPr/>
                    <a:lstStyle/>
                    <a:p>
                      <a:pPr>
                        <a:lnSpc>
                          <a:spcPct val="115000"/>
                        </a:lnSpc>
                        <a:buNone/>
                      </a:pPr>
                      <a:r>
                        <a:rPr lang="en-US" sz="1100" dirty="0">
                          <a:solidFill>
                            <a:srgbClr val="000000"/>
                          </a:solidFill>
                          <a:effectLst/>
                          <a:latin typeface="Calibri"/>
                          <a:ea typeface="Calibri"/>
                          <a:cs typeface="Calibri"/>
                        </a:rPr>
                        <a:t>12:30-13:30</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buNone/>
                      </a:pPr>
                      <a:r>
                        <a:rPr lang="en-US" sz="1100" b="1" dirty="0">
                          <a:solidFill>
                            <a:srgbClr val="000000"/>
                          </a:solidFill>
                          <a:effectLst/>
                          <a:latin typeface="Calibri"/>
                          <a:ea typeface="Calibri"/>
                          <a:cs typeface="Calibri"/>
                        </a:rPr>
                        <a:t>Lunch</a:t>
                      </a:r>
                      <a:endParaRPr lang="en-US" sz="1100" dirty="0">
                        <a:effectLst/>
                        <a:latin typeface="Calibri"/>
                        <a:ea typeface="Calibri"/>
                        <a:cs typeface="Calibri"/>
                      </a:endParaRPr>
                    </a:p>
                  </a:txBody>
                  <a:tcPr marL="66675" marR="666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218101911"/>
                  </a:ext>
                </a:extLst>
              </a:tr>
            </a:tbl>
          </a:graphicData>
        </a:graphic>
      </p:graphicFrame>
    </p:spTree>
    <p:extLst>
      <p:ext uri="{BB962C8B-B14F-4D97-AF65-F5344CB8AC3E}">
        <p14:creationId xmlns:p14="http://schemas.microsoft.com/office/powerpoint/2010/main" val="16775482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DB09D0-807A-410B-83EB-944D1B3286DA}">
  <ds:schemaRefs>
    <ds:schemaRef ds:uri="http://schemas.openxmlformats.org/package/2006/metadata/core-properties"/>
    <ds:schemaRef ds:uri="http://schemas.microsoft.com/office/2006/metadata/properties"/>
    <ds:schemaRef ds:uri="http://purl.org/dc/dcmitype/"/>
    <ds:schemaRef ds:uri="http://www.w3.org/XML/1998/namespace"/>
    <ds:schemaRef ds:uri="http://purl.org/dc/terms/"/>
    <ds:schemaRef ds:uri="1403fb54-47f0-4125-8d87-6a6e13582a5f"/>
    <ds:schemaRef ds:uri="http://schemas.microsoft.com/office/2006/documentManagement/types"/>
    <ds:schemaRef ds:uri="http://purl.org/dc/elements/1.1/"/>
    <ds:schemaRef ds:uri="http://schemas.microsoft.com/office/infopath/2007/PartnerControls"/>
    <ds:schemaRef ds:uri="340712eb-23a5-460f-9036-c6d10688f9a1"/>
  </ds:schemaRefs>
</ds:datastoreItem>
</file>

<file path=customXml/itemProps2.xml><?xml version="1.0" encoding="utf-8"?>
<ds:datastoreItem xmlns:ds="http://schemas.openxmlformats.org/officeDocument/2006/customXml" ds:itemID="{9CBAD7E5-CFC2-46C6-BDC9-F62AD98FE898}">
  <ds:schemaRefs>
    <ds:schemaRef ds:uri="http://schemas.microsoft.com/sharepoint/v3/contenttype/forms"/>
  </ds:schemaRefs>
</ds:datastoreItem>
</file>

<file path=customXml/itemProps3.xml><?xml version="1.0" encoding="utf-8"?>
<ds:datastoreItem xmlns:ds="http://schemas.openxmlformats.org/officeDocument/2006/customXml" ds:itemID="{590A3AD4-D1DC-452D-9EA4-74541FB4D45A}"/>
</file>

<file path=docProps/app.xml><?xml version="1.0" encoding="utf-8"?>
<Properties xmlns="http://schemas.openxmlformats.org/officeDocument/2006/extended-properties" xmlns:vt="http://schemas.openxmlformats.org/officeDocument/2006/docPropsVTypes">
  <Template>office theme</Template>
  <TotalTime>0</TotalTime>
  <Words>1159</Words>
  <Application>Microsoft Office PowerPoint</Application>
  <PresentationFormat>Widescreen</PresentationFormat>
  <Paragraphs>150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Training agenda</vt:lpstr>
      <vt:lpstr>Day 1 – Tuesday 7 October</vt:lpstr>
      <vt:lpstr>Day 1 – Tuesday 7 October</vt:lpstr>
      <vt:lpstr>Day 1 – Tuesday 7 October</vt:lpstr>
      <vt:lpstr>Day 2 – Wednesday 8 October</vt:lpstr>
      <vt:lpstr>Day 2 – Wednesday 8 October</vt:lpstr>
      <vt:lpstr>Day 3 – Thursday 9 October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 Wretlind</dc:creator>
  <cp:lastModifiedBy>Stephane  Quefelec</cp:lastModifiedBy>
  <cp:revision>147</cp:revision>
  <dcterms:created xsi:type="dcterms:W3CDTF">2024-02-08T10:14:47Z</dcterms:created>
  <dcterms:modified xsi:type="dcterms:W3CDTF">2025-10-07T06:22:57Z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0x010100CA9E40BF7383784999BA1B34A435B410</vt:lpwstr>
  </property>
  <property fmtid="{D5CDD505-2E9C-101B-9397-08002B2CF9AE}" pid="3" name="MediaServiceImageTags">
    <vt:lpwstr/>
  </property>
  <property fmtid="{D5CDD505-2E9C-101B-9397-08002B2CF9AE}" pid="4" name="Order">
    <vt:r8>55300</vt:r8>
  </property>
  <property fmtid="{D5CDD505-2E9C-101B-9397-08002B2CF9AE}" pid="5" name="xd_Signature">
    <vt:bool>false</vt:bool>
  </property>
  <property fmtid="{D5CDD505-2E9C-101B-9397-08002B2CF9AE}" pid="6" name="SharedWithUsers">
    <vt:lpwstr>36;#Stephane  Quefelec;#9;#Per Wretlind;#154;#Marc-Etienne Ridler</vt:lpwstr>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