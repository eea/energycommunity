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4"/>
    <p:sldMasterId id="2147483804" r:id="rId5"/>
  </p:sldMasterIdLst>
  <p:notesMasterIdLst>
    <p:notesMasterId r:id="rId23"/>
  </p:notesMasterIdLst>
  <p:handoutMasterIdLst>
    <p:handoutMasterId r:id="rId24"/>
  </p:handoutMasterIdLst>
  <p:sldIdLst>
    <p:sldId id="1129" r:id="rId6"/>
    <p:sldId id="415" r:id="rId7"/>
    <p:sldId id="1130" r:id="rId8"/>
    <p:sldId id="1131" r:id="rId9"/>
    <p:sldId id="1132" r:id="rId10"/>
    <p:sldId id="1133" r:id="rId11"/>
    <p:sldId id="1135" r:id="rId12"/>
    <p:sldId id="1136" r:id="rId13"/>
    <p:sldId id="1137" r:id="rId14"/>
    <p:sldId id="1138" r:id="rId15"/>
    <p:sldId id="1139" r:id="rId16"/>
    <p:sldId id="1140" r:id="rId17"/>
    <p:sldId id="1141" r:id="rId18"/>
    <p:sldId id="1143" r:id="rId19"/>
    <p:sldId id="1144" r:id="rId20"/>
    <p:sldId id="1145" r:id="rId21"/>
    <p:sldId id="1146" r:id="rId22"/>
  </p:sldIdLst>
  <p:sldSz cx="12192000" cy="6858000"/>
  <p:notesSz cx="6858000" cy="9144000"/>
  <p:defaultTextStyle>
    <a:defPPr>
      <a:defRPr lang="b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C19C4E-730D-D16E-EACE-52FFDD871F2C}" name="Alessandra Barreca" initials="AB" userId="54793511e4c503a0" providerId="Windows Live"/>
  <p188:author id="{87DDEEC5-7573-CBC4-5047-B8DB1C056DF7}" name="Tehnička asistencija" initials="TA" userId="Tehnička asistencija" providerId="None"/>
  <p188:author id="{A588CCCB-FF00-D06A-4811-30C544E64E09}" name="Tehnicka asistencija" initials="TA" userId="Tehnicka asistencija"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U4Energy" initials="EU4Energy" lastIdx="1" clrIdx="0">
    <p:extLst>
      <p:ext uri="{19B8F6BF-5375-455C-9EA6-DF929625EA0E}">
        <p15:presenceInfo xmlns:p15="http://schemas.microsoft.com/office/powerpoint/2012/main" userId="EU4Energ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D24C4C"/>
    <a:srgbClr val="C00000"/>
    <a:srgbClr val="5F2888"/>
    <a:srgbClr val="006699"/>
    <a:srgbClr val="9C5ACE"/>
    <a:srgbClr val="3A1953"/>
    <a:srgbClr val="C7A1E3"/>
    <a:srgbClr val="0739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91" autoAdjust="0"/>
    <p:restoredTop sz="95226" autoAdjust="0"/>
  </p:normalViewPr>
  <p:slideViewPr>
    <p:cSldViewPr snapToGrid="0">
      <p:cViewPr varScale="1">
        <p:scale>
          <a:sx n="92" d="100"/>
          <a:sy n="92" d="100"/>
        </p:scale>
        <p:origin x="672" y="72"/>
      </p:cViewPr>
      <p:guideLst>
        <p:guide orient="horz" pos="2160"/>
        <p:guide pos="3840"/>
      </p:guideLst>
    </p:cSldViewPr>
  </p:slideViewPr>
  <p:notesTextViewPr>
    <p:cViewPr>
      <p:scale>
        <a:sx n="1" d="1"/>
        <a:sy n="1" d="1"/>
      </p:scale>
      <p:origin x="0" y="0"/>
    </p:cViewPr>
  </p:notesTextViewPr>
  <p:sorterViewPr>
    <p:cViewPr varScale="1">
      <p:scale>
        <a:sx n="1" d="1"/>
        <a:sy n="1" d="1"/>
      </p:scale>
      <p:origin x="0" y="-12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6EFAB5-AF6B-48BF-A71D-147D899E95F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EB12744-433F-46C7-BA58-CFB1DE247CA6}">
      <dgm:prSet phldrT="[Text]" custT="1"/>
      <dgm:spPr/>
      <dgm:t>
        <a:bodyPr/>
        <a:lstStyle/>
        <a:p>
          <a:r>
            <a:rPr lang="bs-Latn-BA" sz="1200" noProof="0" dirty="0"/>
            <a:t>1️⃣ </a:t>
          </a:r>
          <a:r>
            <a:rPr lang="en-US" sz="1200" noProof="0" dirty="0"/>
            <a:t>Strategy for Climate Change Adaptation and Low-Carbon Development of Bosnia and Herzegovina (2020–2030)</a:t>
          </a:r>
          <a:endParaRPr lang="bs-Latn-BA" sz="1200" noProof="0" dirty="0"/>
        </a:p>
      </dgm:t>
    </dgm:pt>
    <dgm:pt modelId="{DEC41290-0CA9-4674-B822-E72343CF958A}" type="parTrans" cxnId="{8722331A-D9EB-4A8A-9797-C9ED41D5D5B7}">
      <dgm:prSet/>
      <dgm:spPr/>
      <dgm:t>
        <a:bodyPr/>
        <a:lstStyle/>
        <a:p>
          <a:endParaRPr lang="en-US" sz="1600"/>
        </a:p>
      </dgm:t>
    </dgm:pt>
    <dgm:pt modelId="{7C964CDC-5BEA-4444-B988-4D9E607B57EA}" type="sibTrans" cxnId="{8722331A-D9EB-4A8A-9797-C9ED41D5D5B7}">
      <dgm:prSet/>
      <dgm:spPr/>
      <dgm:t>
        <a:bodyPr/>
        <a:lstStyle/>
        <a:p>
          <a:endParaRPr lang="en-US" sz="1600"/>
        </a:p>
      </dgm:t>
    </dgm:pt>
    <dgm:pt modelId="{CF6398BC-082B-4C45-827D-F6C00307FD86}">
      <dgm:prSet phldrT="[Text]" custT="1"/>
      <dgm:spPr/>
      <dgm:t>
        <a:bodyPr/>
        <a:lstStyle/>
        <a:p>
          <a:pPr>
            <a:lnSpc>
              <a:spcPct val="100000"/>
            </a:lnSpc>
            <a:spcBef>
              <a:spcPts val="300"/>
            </a:spcBef>
            <a:spcAft>
              <a:spcPts val="300"/>
            </a:spcAft>
            <a:buFont typeface="Arial" panose="020B0604020202020204" pitchFamily="34" charset="0"/>
            <a:buChar char="•"/>
          </a:pPr>
          <a:r>
            <a:rPr lang="en-US" sz="1200" noProof="0"/>
            <a:t>The first strategic document that defines adaptation goals and priorities in the sectors of: water, agriculture, forestry, health, infrastructure, and biodiversity.</a:t>
          </a:r>
          <a:endParaRPr lang="bs-Latn-BA" sz="1200" noProof="0" dirty="0"/>
        </a:p>
      </dgm:t>
    </dgm:pt>
    <dgm:pt modelId="{F845D85E-096E-44B3-A9DD-B164850499F2}" type="parTrans" cxnId="{FAFE16FE-AE0F-41DC-A06B-8DEA6BF2EE87}">
      <dgm:prSet/>
      <dgm:spPr/>
      <dgm:t>
        <a:bodyPr/>
        <a:lstStyle/>
        <a:p>
          <a:endParaRPr lang="en-US" sz="1600"/>
        </a:p>
      </dgm:t>
    </dgm:pt>
    <dgm:pt modelId="{9BEC13A2-CF91-4E02-AEF3-5B25D04EA8C1}" type="sibTrans" cxnId="{FAFE16FE-AE0F-41DC-A06B-8DEA6BF2EE87}">
      <dgm:prSet/>
      <dgm:spPr/>
      <dgm:t>
        <a:bodyPr/>
        <a:lstStyle/>
        <a:p>
          <a:endParaRPr lang="en-US" sz="1600"/>
        </a:p>
      </dgm:t>
    </dgm:pt>
    <dgm:pt modelId="{85CD8537-F9B2-4804-915D-938FB4398BCA}">
      <dgm:prSet phldrT="[Text]" custT="1"/>
      <dgm:spPr/>
      <dgm:t>
        <a:bodyPr/>
        <a:lstStyle/>
        <a:p>
          <a:r>
            <a:rPr lang="bs-Latn-BA" sz="1200" noProof="0" dirty="0"/>
            <a:t>2️⃣ </a:t>
          </a:r>
          <a:r>
            <a:rPr lang="en-US" sz="1200" noProof="0" dirty="0"/>
            <a:t>Environmental Protection Strategy and Action Plan of Bosnia and Herzegovina (ESAP BiH 2030+)</a:t>
          </a:r>
          <a:endParaRPr lang="bs-Latn-BA" sz="1200" noProof="0" dirty="0"/>
        </a:p>
      </dgm:t>
    </dgm:pt>
    <dgm:pt modelId="{FE247C8A-669D-43B5-B1F0-AFD1D7AA4038}" type="parTrans" cxnId="{1750F733-7D49-4185-BA9B-98C04B7AFEE8}">
      <dgm:prSet/>
      <dgm:spPr/>
      <dgm:t>
        <a:bodyPr/>
        <a:lstStyle/>
        <a:p>
          <a:endParaRPr lang="en-US" sz="1600"/>
        </a:p>
      </dgm:t>
    </dgm:pt>
    <dgm:pt modelId="{3745175C-108C-41F7-9739-99DC064512E7}" type="sibTrans" cxnId="{1750F733-7D49-4185-BA9B-98C04B7AFEE8}">
      <dgm:prSet/>
      <dgm:spPr/>
      <dgm:t>
        <a:bodyPr/>
        <a:lstStyle/>
        <a:p>
          <a:endParaRPr lang="en-US" sz="1600"/>
        </a:p>
      </dgm:t>
    </dgm:pt>
    <dgm:pt modelId="{99907AB0-613A-495A-A369-1FC7C96B99E7}">
      <dgm:prSet phldrT="[Text]" custT="1"/>
      <dgm:spPr/>
      <dgm:t>
        <a:bodyPr/>
        <a:lstStyle/>
        <a:p>
          <a:pPr>
            <a:lnSpc>
              <a:spcPct val="100000"/>
            </a:lnSpc>
            <a:spcBef>
              <a:spcPts val="300"/>
            </a:spcBef>
            <a:spcAft>
              <a:spcPts val="300"/>
            </a:spcAft>
            <a:buFont typeface="Arial" panose="020B0604020202020204" pitchFamily="34" charset="0"/>
            <a:buChar char="•"/>
          </a:pPr>
          <a:r>
            <a:rPr lang="en-US" sz="1200" noProof="0" dirty="0"/>
            <a:t>An operational document that defines specific measures, activities, and responsible institutions for climate change adaptation.
Focuses on implementation and capacity building in the areas of water, agriculture, forestry, health, and urban planning.
Serves as a bridge between strategic objectives and the practical application of adaptation measures.
Includes progress monitoring indicators and is linked to the NECP MRV system.</a:t>
          </a:r>
          <a:endParaRPr lang="bs-Latn-BA" sz="1200" noProof="0" dirty="0"/>
        </a:p>
      </dgm:t>
    </dgm:pt>
    <dgm:pt modelId="{62AD6E27-99AC-4D02-A5BE-1734692035AC}" type="parTrans" cxnId="{7EFC545E-39CC-4E17-B22D-44BAD2FC1EA4}">
      <dgm:prSet/>
      <dgm:spPr/>
      <dgm:t>
        <a:bodyPr/>
        <a:lstStyle/>
        <a:p>
          <a:endParaRPr lang="en-US" sz="1600"/>
        </a:p>
      </dgm:t>
    </dgm:pt>
    <dgm:pt modelId="{38BA3B8A-A80A-4576-931E-35EB20D6C629}" type="sibTrans" cxnId="{7EFC545E-39CC-4E17-B22D-44BAD2FC1EA4}">
      <dgm:prSet/>
      <dgm:spPr/>
      <dgm:t>
        <a:bodyPr/>
        <a:lstStyle/>
        <a:p>
          <a:endParaRPr lang="en-US" sz="1600"/>
        </a:p>
      </dgm:t>
    </dgm:pt>
    <dgm:pt modelId="{C3DA2BA7-21FD-43C8-BEF5-1221ED15A2F7}">
      <dgm:prSet phldrT="[Text]" custT="1"/>
      <dgm:spPr/>
      <dgm:t>
        <a:bodyPr/>
        <a:lstStyle/>
        <a:p>
          <a:r>
            <a:rPr lang="bs-Latn-BA" sz="1200" noProof="0" dirty="0"/>
            <a:t>3️⃣ </a:t>
          </a:r>
          <a:r>
            <a:rPr lang="en-US" sz="1200" noProof="0" dirty="0"/>
            <a:t>Integrated Energy and Climate Plan of Bosnia and Herzegovina (NECP BiH)</a:t>
          </a:r>
          <a:endParaRPr lang="bs-Latn-BA" sz="1200" noProof="0" dirty="0"/>
        </a:p>
      </dgm:t>
    </dgm:pt>
    <dgm:pt modelId="{949A88EC-0387-4373-96A1-F8C7D32DBA95}" type="parTrans" cxnId="{FC06F86E-AD5C-4086-8FE1-8FEDF315B3A0}">
      <dgm:prSet/>
      <dgm:spPr/>
      <dgm:t>
        <a:bodyPr/>
        <a:lstStyle/>
        <a:p>
          <a:endParaRPr lang="en-US" sz="1600"/>
        </a:p>
      </dgm:t>
    </dgm:pt>
    <dgm:pt modelId="{29196922-A89F-40AF-8BB2-36C9BC48855F}" type="sibTrans" cxnId="{FC06F86E-AD5C-4086-8FE1-8FEDF315B3A0}">
      <dgm:prSet/>
      <dgm:spPr/>
      <dgm:t>
        <a:bodyPr/>
        <a:lstStyle/>
        <a:p>
          <a:endParaRPr lang="en-US" sz="1600"/>
        </a:p>
      </dgm:t>
    </dgm:pt>
    <dgm:pt modelId="{EF5A5D97-FE92-4B2C-847D-BF746ED652D6}">
      <dgm:prSet phldrT="[Text]" custT="1"/>
      <dgm:spPr/>
      <dgm:t>
        <a:bodyPr/>
        <a:lstStyle/>
        <a:p>
          <a:pPr>
            <a:lnSpc>
              <a:spcPct val="100000"/>
            </a:lnSpc>
            <a:spcBef>
              <a:spcPts val="300"/>
            </a:spcBef>
            <a:spcAft>
              <a:spcPts val="300"/>
            </a:spcAft>
            <a:buFont typeface="Arial" panose="020B0604020202020204" pitchFamily="34" charset="0"/>
            <a:buChar char="•"/>
          </a:pPr>
          <a:r>
            <a:rPr lang="en-US" sz="1200" noProof="0" dirty="0"/>
            <a:t>Provides an integrated framework for monitoring, reporting, and verification (MRV) of progress in both adaptation and mitigation.
Includes a chapter on climate change adaptation (in line with Article 19 of Regulation (EU) 2018/1999).
Links adaptation with decarbonization policies, energy security, and research and innovation.
Serves as a key reporting tool to the European Commission and the European Environment Agency (EEA).</a:t>
          </a:r>
          <a:endParaRPr lang="bs-Latn-BA" sz="1200" noProof="0" dirty="0"/>
        </a:p>
      </dgm:t>
    </dgm:pt>
    <dgm:pt modelId="{D532B7FF-8BE4-4175-A759-330929605242}" type="parTrans" cxnId="{02AAF913-B38D-400F-BF0F-5AE8A64BBBB2}">
      <dgm:prSet/>
      <dgm:spPr/>
      <dgm:t>
        <a:bodyPr/>
        <a:lstStyle/>
        <a:p>
          <a:endParaRPr lang="en-US" sz="1600"/>
        </a:p>
      </dgm:t>
    </dgm:pt>
    <dgm:pt modelId="{D1DC6CB8-BE46-46E0-B8D0-367B953F3C76}" type="sibTrans" cxnId="{02AAF913-B38D-400F-BF0F-5AE8A64BBBB2}">
      <dgm:prSet/>
      <dgm:spPr/>
      <dgm:t>
        <a:bodyPr/>
        <a:lstStyle/>
        <a:p>
          <a:endParaRPr lang="en-US" sz="1600"/>
        </a:p>
      </dgm:t>
    </dgm:pt>
    <dgm:pt modelId="{A2D680D9-C593-430A-B2A3-EECDDCB97B34}">
      <dgm:prSet custT="1"/>
      <dgm:spPr/>
      <dgm:t>
        <a:bodyPr/>
        <a:lstStyle/>
        <a:p>
          <a:pPr>
            <a:lnSpc>
              <a:spcPct val="100000"/>
            </a:lnSpc>
            <a:spcBef>
              <a:spcPts val="300"/>
            </a:spcBef>
            <a:spcAft>
              <a:spcPts val="300"/>
            </a:spcAft>
            <a:buFont typeface="Arial" panose="020B0604020202020204" pitchFamily="34" charset="0"/>
            <a:buChar char="•"/>
          </a:pPr>
          <a:r>
            <a:rPr lang="en-US" sz="1200" noProof="0"/>
            <a:t>It establishes the basis for assessing climate risks and vulnerabilities and identifies directions for strengthening resilience.</a:t>
          </a:r>
          <a:endParaRPr lang="bs-Latn-BA" sz="1200" noProof="0" dirty="0"/>
        </a:p>
      </dgm:t>
    </dgm:pt>
    <dgm:pt modelId="{88596874-8829-4E94-8F8C-48680ADA919B}" type="parTrans" cxnId="{C7EE9DFA-0147-4783-9D91-4D3CB6E66BB8}">
      <dgm:prSet/>
      <dgm:spPr/>
      <dgm:t>
        <a:bodyPr/>
        <a:lstStyle/>
        <a:p>
          <a:endParaRPr lang="en-US"/>
        </a:p>
      </dgm:t>
    </dgm:pt>
    <dgm:pt modelId="{2D429FF0-4DDF-4C5E-A099-AB6D1704E3F5}" type="sibTrans" cxnId="{C7EE9DFA-0147-4783-9D91-4D3CB6E66BB8}">
      <dgm:prSet/>
      <dgm:spPr/>
      <dgm:t>
        <a:bodyPr/>
        <a:lstStyle/>
        <a:p>
          <a:endParaRPr lang="en-US"/>
        </a:p>
      </dgm:t>
    </dgm:pt>
    <dgm:pt modelId="{412392DC-FA45-49DE-BA2B-43485DC9B693}">
      <dgm:prSet custT="1"/>
      <dgm:spPr/>
      <dgm:t>
        <a:bodyPr/>
        <a:lstStyle/>
        <a:p>
          <a:pPr>
            <a:lnSpc>
              <a:spcPct val="100000"/>
            </a:lnSpc>
            <a:spcBef>
              <a:spcPts val="300"/>
            </a:spcBef>
            <a:spcAft>
              <a:spcPts val="300"/>
            </a:spcAft>
            <a:buFont typeface="Arial" panose="020B0604020202020204" pitchFamily="34" charset="0"/>
            <a:buChar char="•"/>
          </a:pPr>
          <a:r>
            <a:rPr lang="en-US" sz="1200" noProof="0" dirty="0"/>
            <a:t>Aligned with the EU Strategy on Adaptation to Climate Change (COM(2021)82) and the Paris Agreement.</a:t>
          </a:r>
          <a:endParaRPr lang="bs-Latn-BA" sz="1200" noProof="0" dirty="0"/>
        </a:p>
      </dgm:t>
    </dgm:pt>
    <dgm:pt modelId="{09CA2D57-7C87-46D7-B104-5D88595AF12B}" type="parTrans" cxnId="{6850C86B-D119-4B7B-90CB-0E3CA32D1C1E}">
      <dgm:prSet/>
      <dgm:spPr/>
      <dgm:t>
        <a:bodyPr/>
        <a:lstStyle/>
        <a:p>
          <a:endParaRPr lang="en-US"/>
        </a:p>
      </dgm:t>
    </dgm:pt>
    <dgm:pt modelId="{E1C24600-F5D6-4DFF-A90C-F7355F4A0C77}" type="sibTrans" cxnId="{6850C86B-D119-4B7B-90CB-0E3CA32D1C1E}">
      <dgm:prSet/>
      <dgm:spPr/>
      <dgm:t>
        <a:bodyPr/>
        <a:lstStyle/>
        <a:p>
          <a:endParaRPr lang="en-US"/>
        </a:p>
      </dgm:t>
    </dgm:pt>
    <dgm:pt modelId="{00A926B3-5679-4773-940B-DBA4505DD153}" type="pres">
      <dgm:prSet presAssocID="{0D6EFAB5-AF6B-48BF-A71D-147D899E95F0}" presName="Name0" presStyleCnt="0">
        <dgm:presLayoutVars>
          <dgm:dir/>
          <dgm:animLvl val="lvl"/>
          <dgm:resizeHandles val="exact"/>
        </dgm:presLayoutVars>
      </dgm:prSet>
      <dgm:spPr/>
    </dgm:pt>
    <dgm:pt modelId="{49AE87EC-B460-473A-A1AE-5F083A0EDBC6}" type="pres">
      <dgm:prSet presAssocID="{BEB12744-433F-46C7-BA58-CFB1DE247CA6}" presName="composite" presStyleCnt="0"/>
      <dgm:spPr/>
    </dgm:pt>
    <dgm:pt modelId="{D39F8F9E-381C-4764-9F7D-923B3B9CF81B}" type="pres">
      <dgm:prSet presAssocID="{BEB12744-433F-46C7-BA58-CFB1DE247CA6}" presName="parTx" presStyleLbl="alignNode1" presStyleIdx="0" presStyleCnt="3">
        <dgm:presLayoutVars>
          <dgm:chMax val="0"/>
          <dgm:chPref val="0"/>
          <dgm:bulletEnabled val="1"/>
        </dgm:presLayoutVars>
      </dgm:prSet>
      <dgm:spPr/>
    </dgm:pt>
    <dgm:pt modelId="{8FF5D263-F797-4EEE-9F21-B6EB57A3CE31}" type="pres">
      <dgm:prSet presAssocID="{BEB12744-433F-46C7-BA58-CFB1DE247CA6}" presName="desTx" presStyleLbl="alignAccFollowNode1" presStyleIdx="0" presStyleCnt="3">
        <dgm:presLayoutVars>
          <dgm:bulletEnabled val="1"/>
        </dgm:presLayoutVars>
      </dgm:prSet>
      <dgm:spPr/>
    </dgm:pt>
    <dgm:pt modelId="{50BC2952-93AD-440D-9156-4BF1FEDBD3BC}" type="pres">
      <dgm:prSet presAssocID="{7C964CDC-5BEA-4444-B988-4D9E607B57EA}" presName="space" presStyleCnt="0"/>
      <dgm:spPr/>
    </dgm:pt>
    <dgm:pt modelId="{65BE34EB-7989-4945-AD34-A3452EAD19DB}" type="pres">
      <dgm:prSet presAssocID="{85CD8537-F9B2-4804-915D-938FB4398BCA}" presName="composite" presStyleCnt="0"/>
      <dgm:spPr/>
    </dgm:pt>
    <dgm:pt modelId="{4369104A-170F-4FC0-9852-B9DD72327C08}" type="pres">
      <dgm:prSet presAssocID="{85CD8537-F9B2-4804-915D-938FB4398BCA}" presName="parTx" presStyleLbl="alignNode1" presStyleIdx="1" presStyleCnt="3">
        <dgm:presLayoutVars>
          <dgm:chMax val="0"/>
          <dgm:chPref val="0"/>
          <dgm:bulletEnabled val="1"/>
        </dgm:presLayoutVars>
      </dgm:prSet>
      <dgm:spPr/>
    </dgm:pt>
    <dgm:pt modelId="{D08EFC14-69B5-4614-99EA-51A1A39683C5}" type="pres">
      <dgm:prSet presAssocID="{85CD8537-F9B2-4804-915D-938FB4398BCA}" presName="desTx" presStyleLbl="alignAccFollowNode1" presStyleIdx="1" presStyleCnt="3">
        <dgm:presLayoutVars>
          <dgm:bulletEnabled val="1"/>
        </dgm:presLayoutVars>
      </dgm:prSet>
      <dgm:spPr/>
    </dgm:pt>
    <dgm:pt modelId="{6A1506E9-35B4-42DC-80B4-B8848CA7AA0B}" type="pres">
      <dgm:prSet presAssocID="{3745175C-108C-41F7-9739-99DC064512E7}" presName="space" presStyleCnt="0"/>
      <dgm:spPr/>
    </dgm:pt>
    <dgm:pt modelId="{91D0D317-A51B-40D6-9F31-FD4CEDF425B3}" type="pres">
      <dgm:prSet presAssocID="{C3DA2BA7-21FD-43C8-BEF5-1221ED15A2F7}" presName="composite" presStyleCnt="0"/>
      <dgm:spPr/>
    </dgm:pt>
    <dgm:pt modelId="{35A3A678-82C8-481E-93BA-34B62534050D}" type="pres">
      <dgm:prSet presAssocID="{C3DA2BA7-21FD-43C8-BEF5-1221ED15A2F7}" presName="parTx" presStyleLbl="alignNode1" presStyleIdx="2" presStyleCnt="3">
        <dgm:presLayoutVars>
          <dgm:chMax val="0"/>
          <dgm:chPref val="0"/>
          <dgm:bulletEnabled val="1"/>
        </dgm:presLayoutVars>
      </dgm:prSet>
      <dgm:spPr/>
    </dgm:pt>
    <dgm:pt modelId="{40988756-7EB6-42C4-AC2B-2200B61A0D53}" type="pres">
      <dgm:prSet presAssocID="{C3DA2BA7-21FD-43C8-BEF5-1221ED15A2F7}" presName="desTx" presStyleLbl="alignAccFollowNode1" presStyleIdx="2" presStyleCnt="3">
        <dgm:presLayoutVars>
          <dgm:bulletEnabled val="1"/>
        </dgm:presLayoutVars>
      </dgm:prSet>
      <dgm:spPr/>
    </dgm:pt>
  </dgm:ptLst>
  <dgm:cxnLst>
    <dgm:cxn modelId="{A329050F-683B-4263-9D7D-99227ADAA7D6}" type="presOf" srcId="{A2D680D9-C593-430A-B2A3-EECDDCB97B34}" destId="{8FF5D263-F797-4EEE-9F21-B6EB57A3CE31}" srcOrd="0" destOrd="1" presId="urn:microsoft.com/office/officeart/2005/8/layout/hList1"/>
    <dgm:cxn modelId="{02AAF913-B38D-400F-BF0F-5AE8A64BBBB2}" srcId="{C3DA2BA7-21FD-43C8-BEF5-1221ED15A2F7}" destId="{EF5A5D97-FE92-4B2C-847D-BF746ED652D6}" srcOrd="0" destOrd="0" parTransId="{D532B7FF-8BE4-4175-A759-330929605242}" sibTransId="{D1DC6CB8-BE46-46E0-B8D0-367B953F3C76}"/>
    <dgm:cxn modelId="{8722331A-D9EB-4A8A-9797-C9ED41D5D5B7}" srcId="{0D6EFAB5-AF6B-48BF-A71D-147D899E95F0}" destId="{BEB12744-433F-46C7-BA58-CFB1DE247CA6}" srcOrd="0" destOrd="0" parTransId="{DEC41290-0CA9-4674-B822-E72343CF958A}" sibTransId="{7C964CDC-5BEA-4444-B988-4D9E607B57EA}"/>
    <dgm:cxn modelId="{1750F733-7D49-4185-BA9B-98C04B7AFEE8}" srcId="{0D6EFAB5-AF6B-48BF-A71D-147D899E95F0}" destId="{85CD8537-F9B2-4804-915D-938FB4398BCA}" srcOrd="1" destOrd="0" parTransId="{FE247C8A-669D-43B5-B1F0-AFD1D7AA4038}" sibTransId="{3745175C-108C-41F7-9739-99DC064512E7}"/>
    <dgm:cxn modelId="{6BA7245B-9002-43F7-A1EC-7C9446034C2A}" type="presOf" srcId="{BEB12744-433F-46C7-BA58-CFB1DE247CA6}" destId="{D39F8F9E-381C-4764-9F7D-923B3B9CF81B}" srcOrd="0" destOrd="0" presId="urn:microsoft.com/office/officeart/2005/8/layout/hList1"/>
    <dgm:cxn modelId="{7EFC545E-39CC-4E17-B22D-44BAD2FC1EA4}" srcId="{85CD8537-F9B2-4804-915D-938FB4398BCA}" destId="{99907AB0-613A-495A-A369-1FC7C96B99E7}" srcOrd="0" destOrd="0" parTransId="{62AD6E27-99AC-4D02-A5BE-1734692035AC}" sibTransId="{38BA3B8A-A80A-4576-931E-35EB20D6C629}"/>
    <dgm:cxn modelId="{6850C86B-D119-4B7B-90CB-0E3CA32D1C1E}" srcId="{BEB12744-433F-46C7-BA58-CFB1DE247CA6}" destId="{412392DC-FA45-49DE-BA2B-43485DC9B693}" srcOrd="2" destOrd="0" parTransId="{09CA2D57-7C87-46D7-B104-5D88595AF12B}" sibTransId="{E1C24600-F5D6-4DFF-A90C-F7355F4A0C77}"/>
    <dgm:cxn modelId="{FC06F86E-AD5C-4086-8FE1-8FEDF315B3A0}" srcId="{0D6EFAB5-AF6B-48BF-A71D-147D899E95F0}" destId="{C3DA2BA7-21FD-43C8-BEF5-1221ED15A2F7}" srcOrd="2" destOrd="0" parTransId="{949A88EC-0387-4373-96A1-F8C7D32DBA95}" sibTransId="{29196922-A89F-40AF-8BB2-36C9BC48855F}"/>
    <dgm:cxn modelId="{74E66555-F6C1-4E08-8568-BF15D0F7CD52}" type="presOf" srcId="{C3DA2BA7-21FD-43C8-BEF5-1221ED15A2F7}" destId="{35A3A678-82C8-481E-93BA-34B62534050D}" srcOrd="0" destOrd="0" presId="urn:microsoft.com/office/officeart/2005/8/layout/hList1"/>
    <dgm:cxn modelId="{FE0FBC89-AA7D-4154-A857-3C2764637DC2}" type="presOf" srcId="{0D6EFAB5-AF6B-48BF-A71D-147D899E95F0}" destId="{00A926B3-5679-4773-940B-DBA4505DD153}" srcOrd="0" destOrd="0" presId="urn:microsoft.com/office/officeart/2005/8/layout/hList1"/>
    <dgm:cxn modelId="{3165F8A3-CC98-4199-B0EE-69339F8DA90B}" type="presOf" srcId="{CF6398BC-082B-4C45-827D-F6C00307FD86}" destId="{8FF5D263-F797-4EEE-9F21-B6EB57A3CE31}" srcOrd="0" destOrd="0" presId="urn:microsoft.com/office/officeart/2005/8/layout/hList1"/>
    <dgm:cxn modelId="{EF8A5DCD-24A3-4CCB-8A99-36B2DD8D0434}" type="presOf" srcId="{EF5A5D97-FE92-4B2C-847D-BF746ED652D6}" destId="{40988756-7EB6-42C4-AC2B-2200B61A0D53}" srcOrd="0" destOrd="0" presId="urn:microsoft.com/office/officeart/2005/8/layout/hList1"/>
    <dgm:cxn modelId="{091542CE-30BB-40D3-836C-3BB6F16532CD}" type="presOf" srcId="{99907AB0-613A-495A-A369-1FC7C96B99E7}" destId="{D08EFC14-69B5-4614-99EA-51A1A39683C5}" srcOrd="0" destOrd="0" presId="urn:microsoft.com/office/officeart/2005/8/layout/hList1"/>
    <dgm:cxn modelId="{C6B59CE5-6B6B-4932-9055-5F0B6AACA583}" type="presOf" srcId="{85CD8537-F9B2-4804-915D-938FB4398BCA}" destId="{4369104A-170F-4FC0-9852-B9DD72327C08}" srcOrd="0" destOrd="0" presId="urn:microsoft.com/office/officeart/2005/8/layout/hList1"/>
    <dgm:cxn modelId="{389E74EC-760A-442D-BF4A-0D66A6CDE72D}" type="presOf" srcId="{412392DC-FA45-49DE-BA2B-43485DC9B693}" destId="{8FF5D263-F797-4EEE-9F21-B6EB57A3CE31}" srcOrd="0" destOrd="2" presId="urn:microsoft.com/office/officeart/2005/8/layout/hList1"/>
    <dgm:cxn modelId="{C7EE9DFA-0147-4783-9D91-4D3CB6E66BB8}" srcId="{BEB12744-433F-46C7-BA58-CFB1DE247CA6}" destId="{A2D680D9-C593-430A-B2A3-EECDDCB97B34}" srcOrd="1" destOrd="0" parTransId="{88596874-8829-4E94-8F8C-48680ADA919B}" sibTransId="{2D429FF0-4DDF-4C5E-A099-AB6D1704E3F5}"/>
    <dgm:cxn modelId="{FAFE16FE-AE0F-41DC-A06B-8DEA6BF2EE87}" srcId="{BEB12744-433F-46C7-BA58-CFB1DE247CA6}" destId="{CF6398BC-082B-4C45-827D-F6C00307FD86}" srcOrd="0" destOrd="0" parTransId="{F845D85E-096E-44B3-A9DD-B164850499F2}" sibTransId="{9BEC13A2-CF91-4E02-AEF3-5B25D04EA8C1}"/>
    <dgm:cxn modelId="{4D5C1E65-9A10-418B-8447-A6947EC9EAB6}" type="presParOf" srcId="{00A926B3-5679-4773-940B-DBA4505DD153}" destId="{49AE87EC-B460-473A-A1AE-5F083A0EDBC6}" srcOrd="0" destOrd="0" presId="urn:microsoft.com/office/officeart/2005/8/layout/hList1"/>
    <dgm:cxn modelId="{58146B02-E5D8-457F-AE2E-F70A40415E5E}" type="presParOf" srcId="{49AE87EC-B460-473A-A1AE-5F083A0EDBC6}" destId="{D39F8F9E-381C-4764-9F7D-923B3B9CF81B}" srcOrd="0" destOrd="0" presId="urn:microsoft.com/office/officeart/2005/8/layout/hList1"/>
    <dgm:cxn modelId="{153747DF-F791-4971-AA7F-49B9960B0235}" type="presParOf" srcId="{49AE87EC-B460-473A-A1AE-5F083A0EDBC6}" destId="{8FF5D263-F797-4EEE-9F21-B6EB57A3CE31}" srcOrd="1" destOrd="0" presId="urn:microsoft.com/office/officeart/2005/8/layout/hList1"/>
    <dgm:cxn modelId="{F15D49B3-FCB2-4103-8628-A96FA0C11BA4}" type="presParOf" srcId="{00A926B3-5679-4773-940B-DBA4505DD153}" destId="{50BC2952-93AD-440D-9156-4BF1FEDBD3BC}" srcOrd="1" destOrd="0" presId="urn:microsoft.com/office/officeart/2005/8/layout/hList1"/>
    <dgm:cxn modelId="{2340883C-862E-45BD-AB84-954CD3952341}" type="presParOf" srcId="{00A926B3-5679-4773-940B-DBA4505DD153}" destId="{65BE34EB-7989-4945-AD34-A3452EAD19DB}" srcOrd="2" destOrd="0" presId="urn:microsoft.com/office/officeart/2005/8/layout/hList1"/>
    <dgm:cxn modelId="{98FB0AD6-769D-4F7A-A8E6-2C0880925ED2}" type="presParOf" srcId="{65BE34EB-7989-4945-AD34-A3452EAD19DB}" destId="{4369104A-170F-4FC0-9852-B9DD72327C08}" srcOrd="0" destOrd="0" presId="urn:microsoft.com/office/officeart/2005/8/layout/hList1"/>
    <dgm:cxn modelId="{064F4D48-D90F-4FA0-8EF1-3619037E635E}" type="presParOf" srcId="{65BE34EB-7989-4945-AD34-A3452EAD19DB}" destId="{D08EFC14-69B5-4614-99EA-51A1A39683C5}" srcOrd="1" destOrd="0" presId="urn:microsoft.com/office/officeart/2005/8/layout/hList1"/>
    <dgm:cxn modelId="{643FC0FA-928D-4CC4-9E4B-C34E582BE58C}" type="presParOf" srcId="{00A926B3-5679-4773-940B-DBA4505DD153}" destId="{6A1506E9-35B4-42DC-80B4-B8848CA7AA0B}" srcOrd="3" destOrd="0" presId="urn:microsoft.com/office/officeart/2005/8/layout/hList1"/>
    <dgm:cxn modelId="{BC25A8B9-2EA2-4AB6-91E6-E36D8981B3ED}" type="presParOf" srcId="{00A926B3-5679-4773-940B-DBA4505DD153}" destId="{91D0D317-A51B-40D6-9F31-FD4CEDF425B3}" srcOrd="4" destOrd="0" presId="urn:microsoft.com/office/officeart/2005/8/layout/hList1"/>
    <dgm:cxn modelId="{1ED072B5-981F-4A9D-BFE6-B5DD067CE8EC}" type="presParOf" srcId="{91D0D317-A51B-40D6-9F31-FD4CEDF425B3}" destId="{35A3A678-82C8-481E-93BA-34B62534050D}" srcOrd="0" destOrd="0" presId="urn:microsoft.com/office/officeart/2005/8/layout/hList1"/>
    <dgm:cxn modelId="{47E8C68E-6F48-4DC3-8AFA-7CBFC82CE557}" type="presParOf" srcId="{91D0D317-A51B-40D6-9F31-FD4CEDF425B3}" destId="{40988756-7EB6-42C4-AC2B-2200B61A0D5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F8F9E-381C-4764-9F7D-923B3B9CF81B}">
      <dsp:nvSpPr>
        <dsp:cNvPr id="0" name=""/>
        <dsp:cNvSpPr/>
      </dsp:nvSpPr>
      <dsp:spPr>
        <a:xfrm>
          <a:off x="2617" y="318813"/>
          <a:ext cx="2552070" cy="102082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bs-Latn-BA" sz="1200" kern="1200" noProof="0" dirty="0"/>
            <a:t>1️⃣ </a:t>
          </a:r>
          <a:r>
            <a:rPr lang="en-US" sz="1200" kern="1200" noProof="0" dirty="0"/>
            <a:t>Strategy for Climate Change Adaptation and Low-Carbon Development of Bosnia and Herzegovina (2020–2030)</a:t>
          </a:r>
          <a:endParaRPr lang="bs-Latn-BA" sz="1200" kern="1200" noProof="0" dirty="0"/>
        </a:p>
      </dsp:txBody>
      <dsp:txXfrm>
        <a:off x="2617" y="318813"/>
        <a:ext cx="2552070" cy="1020828"/>
      </dsp:txXfrm>
    </dsp:sp>
    <dsp:sp modelId="{8FF5D263-F797-4EEE-9F21-B6EB57A3CE31}">
      <dsp:nvSpPr>
        <dsp:cNvPr id="0" name=""/>
        <dsp:cNvSpPr/>
      </dsp:nvSpPr>
      <dsp:spPr>
        <a:xfrm>
          <a:off x="2617" y="1339642"/>
          <a:ext cx="2552070" cy="321164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ts val="300"/>
            </a:spcBef>
            <a:spcAft>
              <a:spcPts val="300"/>
            </a:spcAft>
            <a:buFont typeface="Arial" panose="020B0604020202020204" pitchFamily="34" charset="0"/>
            <a:buChar char="•"/>
          </a:pPr>
          <a:r>
            <a:rPr lang="en-US" sz="1200" kern="1200" noProof="0"/>
            <a:t>The first strategic document that defines adaptation goals and priorities in the sectors of: water, agriculture, forestry, health, infrastructure, and biodiversity.</a:t>
          </a:r>
          <a:endParaRPr lang="bs-Latn-BA" sz="1200" kern="1200" noProof="0" dirty="0"/>
        </a:p>
        <a:p>
          <a:pPr marL="114300" lvl="1" indent="-114300" algn="l" defTabSz="533400">
            <a:lnSpc>
              <a:spcPct val="100000"/>
            </a:lnSpc>
            <a:spcBef>
              <a:spcPts val="300"/>
            </a:spcBef>
            <a:spcAft>
              <a:spcPts val="300"/>
            </a:spcAft>
            <a:buFont typeface="Arial" panose="020B0604020202020204" pitchFamily="34" charset="0"/>
            <a:buChar char="•"/>
          </a:pPr>
          <a:r>
            <a:rPr lang="en-US" sz="1200" kern="1200" noProof="0"/>
            <a:t>It establishes the basis for assessing climate risks and vulnerabilities and identifies directions for strengthening resilience.</a:t>
          </a:r>
          <a:endParaRPr lang="bs-Latn-BA" sz="1200" kern="1200" noProof="0" dirty="0"/>
        </a:p>
        <a:p>
          <a:pPr marL="114300" lvl="1" indent="-114300" algn="l" defTabSz="533400">
            <a:lnSpc>
              <a:spcPct val="100000"/>
            </a:lnSpc>
            <a:spcBef>
              <a:spcPts val="300"/>
            </a:spcBef>
            <a:spcAft>
              <a:spcPts val="300"/>
            </a:spcAft>
            <a:buFont typeface="Arial" panose="020B0604020202020204" pitchFamily="34" charset="0"/>
            <a:buChar char="•"/>
          </a:pPr>
          <a:r>
            <a:rPr lang="en-US" sz="1200" kern="1200" noProof="0" dirty="0"/>
            <a:t>Aligned with the EU Strategy on Adaptation to Climate Change (COM(2021)82) and the Paris Agreement.</a:t>
          </a:r>
          <a:endParaRPr lang="bs-Latn-BA" sz="1200" kern="1200" noProof="0" dirty="0"/>
        </a:p>
      </dsp:txBody>
      <dsp:txXfrm>
        <a:off x="2617" y="1339642"/>
        <a:ext cx="2552070" cy="3211649"/>
      </dsp:txXfrm>
    </dsp:sp>
    <dsp:sp modelId="{4369104A-170F-4FC0-9852-B9DD72327C08}">
      <dsp:nvSpPr>
        <dsp:cNvPr id="0" name=""/>
        <dsp:cNvSpPr/>
      </dsp:nvSpPr>
      <dsp:spPr>
        <a:xfrm>
          <a:off x="2911977" y="318813"/>
          <a:ext cx="2552070" cy="102082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bs-Latn-BA" sz="1200" kern="1200" noProof="0" dirty="0"/>
            <a:t>2️⃣ </a:t>
          </a:r>
          <a:r>
            <a:rPr lang="en-US" sz="1200" kern="1200" noProof="0" dirty="0"/>
            <a:t>Environmental Protection Strategy and Action Plan of Bosnia and Herzegovina (ESAP BiH 2030+)</a:t>
          </a:r>
          <a:endParaRPr lang="bs-Latn-BA" sz="1200" kern="1200" noProof="0" dirty="0"/>
        </a:p>
      </dsp:txBody>
      <dsp:txXfrm>
        <a:off x="2911977" y="318813"/>
        <a:ext cx="2552070" cy="1020828"/>
      </dsp:txXfrm>
    </dsp:sp>
    <dsp:sp modelId="{D08EFC14-69B5-4614-99EA-51A1A39683C5}">
      <dsp:nvSpPr>
        <dsp:cNvPr id="0" name=""/>
        <dsp:cNvSpPr/>
      </dsp:nvSpPr>
      <dsp:spPr>
        <a:xfrm>
          <a:off x="2911977" y="1339642"/>
          <a:ext cx="2552070" cy="321164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ts val="300"/>
            </a:spcBef>
            <a:spcAft>
              <a:spcPts val="300"/>
            </a:spcAft>
            <a:buFont typeface="Arial" panose="020B0604020202020204" pitchFamily="34" charset="0"/>
            <a:buChar char="•"/>
          </a:pPr>
          <a:r>
            <a:rPr lang="en-US" sz="1200" kern="1200" noProof="0" dirty="0"/>
            <a:t>An operational document that defines specific measures, activities, and responsible institutions for climate change adaptation.
Focuses on implementation and capacity building in the areas of water, agriculture, forestry, health, and urban planning.
Serves as a bridge between strategic objectives and the practical application of adaptation measures.
Includes progress monitoring indicators and is linked to the NECP MRV system.</a:t>
          </a:r>
          <a:endParaRPr lang="bs-Latn-BA" sz="1200" kern="1200" noProof="0" dirty="0"/>
        </a:p>
      </dsp:txBody>
      <dsp:txXfrm>
        <a:off x="2911977" y="1339642"/>
        <a:ext cx="2552070" cy="3211649"/>
      </dsp:txXfrm>
    </dsp:sp>
    <dsp:sp modelId="{35A3A678-82C8-481E-93BA-34B62534050D}">
      <dsp:nvSpPr>
        <dsp:cNvPr id="0" name=""/>
        <dsp:cNvSpPr/>
      </dsp:nvSpPr>
      <dsp:spPr>
        <a:xfrm>
          <a:off x="5821337" y="318813"/>
          <a:ext cx="2552070" cy="102082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bs-Latn-BA" sz="1200" kern="1200" noProof="0" dirty="0"/>
            <a:t>3️⃣ </a:t>
          </a:r>
          <a:r>
            <a:rPr lang="en-US" sz="1200" kern="1200" noProof="0" dirty="0"/>
            <a:t>Integrated Energy and Climate Plan of Bosnia and Herzegovina (NECP BiH)</a:t>
          </a:r>
          <a:endParaRPr lang="bs-Latn-BA" sz="1200" kern="1200" noProof="0" dirty="0"/>
        </a:p>
      </dsp:txBody>
      <dsp:txXfrm>
        <a:off x="5821337" y="318813"/>
        <a:ext cx="2552070" cy="1020828"/>
      </dsp:txXfrm>
    </dsp:sp>
    <dsp:sp modelId="{40988756-7EB6-42C4-AC2B-2200B61A0D53}">
      <dsp:nvSpPr>
        <dsp:cNvPr id="0" name=""/>
        <dsp:cNvSpPr/>
      </dsp:nvSpPr>
      <dsp:spPr>
        <a:xfrm>
          <a:off x="5821337" y="1339642"/>
          <a:ext cx="2552070" cy="321164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ts val="300"/>
            </a:spcBef>
            <a:spcAft>
              <a:spcPts val="300"/>
            </a:spcAft>
            <a:buFont typeface="Arial" panose="020B0604020202020204" pitchFamily="34" charset="0"/>
            <a:buChar char="•"/>
          </a:pPr>
          <a:r>
            <a:rPr lang="en-US" sz="1200" kern="1200" noProof="0" dirty="0"/>
            <a:t>Provides an integrated framework for monitoring, reporting, and verification (MRV) of progress in both adaptation and mitigation.
Includes a chapter on climate change adaptation (in line with Article 19 of Regulation (EU) 2018/1999).
Links adaptation with decarbonization policies, energy security, and research and innovation.
Serves as a key reporting tool to the European Commission and the European Environment Agency (EEA).</a:t>
          </a:r>
          <a:endParaRPr lang="bs-Latn-BA" sz="1200" kern="1200" noProof="0" dirty="0"/>
        </a:p>
      </dsp:txBody>
      <dsp:txXfrm>
        <a:off x="5821337" y="1339642"/>
        <a:ext cx="2552070" cy="321164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005A74-8192-E243-BF05-19FAA54770A7}"/>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9EE06139-B360-6641-8870-A73A6F312FB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4400B075-6191-2C4A-8193-1A00EE3832A8}" type="datetimeFigureOut">
              <a:rPr lang="en-US" smtClean="0">
                <a:latin typeface="Arial" panose="020B0604020202020204" pitchFamily="34" charset="0"/>
              </a:rPr>
              <a:t>10/8/2025</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9E74DB19-38C5-2248-8123-DFA22CA544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94EF6CDA-6B14-0543-B4E7-3146E832E5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32EFB9-C4E9-5545-821A-1AB601A44092}"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071593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1292C84-C571-9E4B-B574-75AB31C44F0E}" type="datetimeFigureOut">
              <a:rPr lang="en-US" smtClean="0"/>
              <a:pPr/>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EEADBA4F-8DE6-A546-9160-9B04B784B47A}" type="slidenum">
              <a:rPr lang="en-US" smtClean="0"/>
              <a:pPr/>
              <a:t>‹#›</a:t>
            </a:fld>
            <a:endParaRPr lang="en-US"/>
          </a:p>
        </p:txBody>
      </p:sp>
    </p:spTree>
    <p:extLst>
      <p:ext uri="{BB962C8B-B14F-4D97-AF65-F5344CB8AC3E}">
        <p14:creationId xmlns:p14="http://schemas.microsoft.com/office/powerpoint/2010/main" val="365729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DBA4F-8DE6-A546-9160-9B04B784B47A}" type="slidenum">
              <a:rPr lang="en-US" smtClean="0"/>
              <a:pPr/>
              <a:t>1</a:t>
            </a:fld>
            <a:endParaRPr lang="en-US"/>
          </a:p>
        </p:txBody>
      </p:sp>
    </p:spTree>
    <p:extLst>
      <p:ext uri="{BB962C8B-B14F-4D97-AF65-F5344CB8AC3E}">
        <p14:creationId xmlns:p14="http://schemas.microsoft.com/office/powerpoint/2010/main" val="340114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1175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75039-6732-AFB7-5FBA-344FF3AF2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37AED-E27D-4ED9-D8B5-193F5A915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463C5-1F1B-FA24-35CA-7D490EC48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42495D-C41D-AD2A-9B6E-1DCA3FF989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13048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2AE39-C25A-B203-BBF8-A51180671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0A8538-0A5E-BE18-C90F-2D394B969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D49A4-7E7A-AB12-FC25-4E9E4B24A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594059-43CE-546C-2E0F-2B77187830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08425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EAB1-4BB1-EB7A-917C-DFFDFE848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DC6D0-2131-F1E6-F44E-0EEA85E19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AB815-D427-31B2-810E-C134E4DD04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7F4B3F-FEEF-96EE-582D-D98A6CB213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73968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343B-66DD-F621-B16D-8C6909F00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A3C2E-D9D2-E832-DC1B-82F22A67F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46131-ED18-D930-F922-C4CDE1958A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F8E047-F7BA-19B1-6F38-20F916F697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64469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706C-388A-4BF7-BB70-E07591148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74427-B255-F6AA-D8BC-7F0361255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CCF69-AC10-B76E-10A3-CDFEF242F6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9AD01E-1338-EB62-BBFB-4AB30AEB07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54862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7B3E-DAC1-A665-FC18-4960F0006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7675C-8E6A-CD20-46EE-FB183508B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A57D6-17AB-E673-660A-31578BA640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7DFBC9-7D2A-2156-811B-3CAAC0DD7C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54406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D7B98-BEF3-2E71-FCF1-B04ECC688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DA8B7-B304-086F-6FD9-2EEC71809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E3E1B2-EC65-F8D1-F5D4-5C4DBCE8FF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F39EB-926D-2A84-F29E-9CD6FF5A3D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89534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1F9E-857F-1206-8D72-A0DB10734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06265-1884-03BB-15F1-975684263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3090B-EA06-5E97-5921-2F5846B098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CFC0A-59F5-BCB1-A427-EC32D58FA0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78863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30A7-BD3F-6F9F-D815-5542C15D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EE6C9-C4DF-3E23-8C75-D33A7A1E5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7FBAE-E66D-4663-DD73-CDCF9013A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C4DB6-F3C0-8810-552B-F31E963C0E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22947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0E8A-5D15-1DCC-B7C5-F3F4B899E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0281C-84A1-917A-4A44-33DDE7776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03EA7-C324-0A6D-35C4-D9E4542BDD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BD16F0-22EF-5516-F690-9E151F8A09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44858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4D9E-B68C-221A-6408-7E87C29AC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FA65F-0839-F9BA-5DE1-8A0D7ED46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7790B-C2B0-A75C-1F69-81A3EEF23D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9CB4DC-8CD4-AE33-D1C3-D9A1A531F8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44647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64D67-05A2-9F90-3C96-77291F49C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3A12E-3BFF-E830-D591-74EABF18B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8ADFA-DF9B-4454-C864-95AA0F5B5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BE239E-8772-D9A5-1B96-B712D28183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02783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72609-C027-257B-B629-51E1062A5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58C01-AF19-1F49-CEBC-BDDF202CF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BF18B-43B8-CCCE-B54F-2B2D5B1403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1CE9DE-10EB-85C5-37B6-5231ACB4F7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14794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CD563-6173-F5B8-6436-73690EDB4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1C16A-CD57-5E05-6B2A-11383319D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CEC7B-1E5E-07A7-6E23-8204C35D4F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3BA84-47A3-2F74-8383-334CD9D0A3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32444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69C81-8A03-1128-4904-14A2CD678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DCB67-78CA-997A-3BCF-D2296404F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7C141-A62F-CAAF-0508-E8497165D3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F539D4-DCA9-A6B4-FC92-215EB70630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305069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1403467293"/>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08673719"/>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2426375165"/>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33281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914656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12610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79860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511559102"/>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2427161755"/>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56788744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3094362893"/>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06723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16891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6371049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59992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305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13143489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37504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61640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752849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530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42019493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and Objec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8" y="1825625"/>
            <a:ext cx="5328000" cy="3906435"/>
          </a:xfrm>
        </p:spPr>
        <p:txBody>
          <a:bodyPr>
            <a:noAutofit/>
          </a:bodyPr>
          <a:lstStyle>
            <a:lvl1pPr>
              <a:spcAft>
                <a:spcPts val="1800"/>
              </a:spcAft>
              <a:defRPr/>
            </a:lvl1pPr>
            <a:lvl2pPr>
              <a:spcAft>
                <a:spcPts val="1800"/>
              </a:spcAft>
              <a:defRPr/>
            </a:lvl2pPr>
            <a:lvl3pPr>
              <a:spcAft>
                <a:spcPts val="1800"/>
              </a:spcAft>
              <a:defRPr/>
            </a:lvl3pPr>
            <a:lvl4pPr>
              <a:spcAft>
                <a:spcPts val="1800"/>
              </a:spcAft>
              <a:defRPr/>
            </a:lvl4pPr>
            <a:lvl5pPr>
              <a:spcAft>
                <a:spcPts val="18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402250" y="1825625"/>
            <a:ext cx="5328000" cy="3906435"/>
          </a:xfrm>
          <a:noFill/>
        </p:spPr>
        <p:txBody>
          <a:bodyPr>
            <a:noAutofit/>
          </a:bodyPr>
          <a:lstStyle>
            <a:lvl1pPr marL="0" indent="0">
              <a:buNone/>
              <a:defRPr/>
            </a:lvl1pPr>
          </a:lstStyle>
          <a:p>
            <a:pPr lvl="0"/>
            <a:r>
              <a:rPr lang="en-US"/>
              <a:t>Edit Master text styles</a:t>
            </a:r>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a:t>
            </a:fld>
            <a:endParaRPr lang="en-GB" dirty="0"/>
          </a:p>
        </p:txBody>
      </p:sp>
      <p:cxnSp>
        <p:nvCxnSpPr>
          <p:cNvPr id="9" name="Straight Connector 8"/>
          <p:cNvCxnSpPr/>
          <p:nvPr userDrawn="1"/>
        </p:nvCxnSpPr>
        <p:spPr>
          <a:xfrm flipH="1">
            <a:off x="838199" y="0"/>
            <a:ext cx="1" cy="1276357"/>
          </a:xfrm>
          <a:prstGeom prst="line">
            <a:avLst/>
          </a:prstGeom>
          <a:ln w="28575">
            <a:solidFill>
              <a:srgbClr val="90C852"/>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p:nvPr>
        </p:nvSpPr>
        <p:spPr>
          <a:xfrm>
            <a:off x="970722" y="482860"/>
            <a:ext cx="10515600" cy="782357"/>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1025499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2142715553"/>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741211943"/>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604671397"/>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8882329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21220147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2016895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2875953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379080302"/>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457662287"/>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2317527039"/>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4077424559"/>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3839371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324321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1214389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62341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8468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74774639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5286702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3785024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35358725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34875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1409770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2.svg"/><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image" Target="../media/image1.png"/><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heme" Target="../theme/theme2.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5">
            <a:extLst>
              <a:ext uri="{96DAC541-7B7A-43D3-8B79-37D633B846F1}">
                <asvg:svgBlip xmlns:asvg="http://schemas.microsoft.com/office/drawing/2016/SVG/main" r:embed="rId26"/>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9337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90" r:id="rId6"/>
    <p:sldLayoutId id="2147483684" r:id="rId7"/>
    <p:sldLayoutId id="2147483686" r:id="rId8"/>
    <p:sldLayoutId id="2147483689" r:id="rId9"/>
    <p:sldLayoutId id="2147483786" r:id="rId10"/>
    <p:sldLayoutId id="2147483784" r:id="rId11"/>
    <p:sldLayoutId id="2147483785" r:id="rId12"/>
    <p:sldLayoutId id="2147483782" r:id="rId13"/>
    <p:sldLayoutId id="2147483788" r:id="rId14"/>
    <p:sldLayoutId id="2147483789" r:id="rId15"/>
    <p:sldLayoutId id="2147483783" r:id="rId16"/>
    <p:sldLayoutId id="2147483781" r:id="rId17"/>
    <p:sldLayoutId id="2147483685" r:id="rId18"/>
    <p:sldLayoutId id="2147483683" r:id="rId19"/>
    <p:sldLayoutId id="2147483780" r:id="rId20"/>
    <p:sldLayoutId id="2147483787" r:id="rId21"/>
    <p:sldLayoutId id="2147483693" r:id="rId22"/>
    <p:sldLayoutId id="2147483791" r:id="rId23"/>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4">
            <a:extLst>
              <a:ext uri="{96DAC541-7B7A-43D3-8B79-37D633B846F1}">
                <asvg:svgBlip xmlns:asvg="http://schemas.microsoft.com/office/drawing/2016/SVG/main" r:embed="rId25"/>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52551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DCA13E-C3A2-3E13-A9D2-D06FB668E0F4}"/>
              </a:ext>
            </a:extLst>
          </p:cNvPr>
          <p:cNvSpPr/>
          <p:nvPr/>
        </p:nvSpPr>
        <p:spPr>
          <a:xfrm>
            <a:off x="0" y="-8644"/>
            <a:ext cx="12192000" cy="1815352"/>
          </a:xfrm>
          <a:prstGeom prst="rect">
            <a:avLst/>
          </a:prstGeom>
          <a:solidFill>
            <a:schemeClr val="bg2">
              <a:alpha val="4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pic>
        <p:nvPicPr>
          <p:cNvPr id="16" name="Picture 15">
            <a:extLst>
              <a:ext uri="{FF2B5EF4-FFF2-40B4-BE49-F238E27FC236}">
                <a16:creationId xmlns:a16="http://schemas.microsoft.com/office/drawing/2014/main" id="{7252DDF9-34C1-0E34-944C-187145EDE4F6}"/>
              </a:ext>
            </a:extLst>
          </p:cNvPr>
          <p:cNvPicPr>
            <a:picLocks noChangeAspect="1"/>
          </p:cNvPicPr>
          <p:nvPr/>
        </p:nvPicPr>
        <p:blipFill>
          <a:blip r:embed="rId3"/>
          <a:stretch>
            <a:fillRect/>
          </a:stretch>
        </p:blipFill>
        <p:spPr>
          <a:xfrm>
            <a:off x="0" y="5583170"/>
            <a:ext cx="3798795" cy="1221041"/>
          </a:xfrm>
          <a:prstGeom prst="rect">
            <a:avLst/>
          </a:prstGeom>
        </p:spPr>
      </p:pic>
      <p:pic>
        <p:nvPicPr>
          <p:cNvPr id="18" name="Picture 17">
            <a:extLst>
              <a:ext uri="{FF2B5EF4-FFF2-40B4-BE49-F238E27FC236}">
                <a16:creationId xmlns:a16="http://schemas.microsoft.com/office/drawing/2014/main" id="{A712893C-3D05-3913-EBDF-F4D0523CDDBF}"/>
              </a:ext>
            </a:extLst>
          </p:cNvPr>
          <p:cNvPicPr>
            <a:picLocks noChangeAspect="1"/>
          </p:cNvPicPr>
          <p:nvPr/>
        </p:nvPicPr>
        <p:blipFill>
          <a:blip r:embed="rId4"/>
          <a:stretch>
            <a:fillRect/>
          </a:stretch>
        </p:blipFill>
        <p:spPr>
          <a:xfrm>
            <a:off x="10287000" y="5839607"/>
            <a:ext cx="1905000" cy="796516"/>
          </a:xfrm>
          <a:prstGeom prst="rect">
            <a:avLst/>
          </a:prstGeom>
        </p:spPr>
      </p:pic>
      <p:sp>
        <p:nvSpPr>
          <p:cNvPr id="19" name="Text Placeholder 1">
            <a:extLst>
              <a:ext uri="{FF2B5EF4-FFF2-40B4-BE49-F238E27FC236}">
                <a16:creationId xmlns:a16="http://schemas.microsoft.com/office/drawing/2014/main" id="{F82DD464-2BBE-A1C7-347A-F6A3C85E0A59}"/>
              </a:ext>
            </a:extLst>
          </p:cNvPr>
          <p:cNvSpPr>
            <a:spLocks noGrp="1"/>
          </p:cNvSpPr>
          <p:nvPr>
            <p:ph type="body" sz="quarter" idx="11"/>
          </p:nvPr>
        </p:nvSpPr>
        <p:spPr>
          <a:xfrm>
            <a:off x="653498" y="2660668"/>
            <a:ext cx="11022413" cy="995082"/>
          </a:xfrm>
        </p:spPr>
        <p:txBody>
          <a:bodyPr>
            <a:noAutofit/>
          </a:bodyPr>
          <a:lstStyle/>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r>
              <a:rPr lang="en-US" dirty="0"/>
              <a:t>Adaptation policies </a:t>
            </a:r>
            <a:endParaRPr lang="hr-HR" sz="2800" dirty="0"/>
          </a:p>
        </p:txBody>
      </p:sp>
      <p:sp>
        <p:nvSpPr>
          <p:cNvPr id="21" name="Text Placeholder 3">
            <a:extLst>
              <a:ext uri="{FF2B5EF4-FFF2-40B4-BE49-F238E27FC236}">
                <a16:creationId xmlns:a16="http://schemas.microsoft.com/office/drawing/2014/main" id="{3938106F-524F-F7CB-9E2D-BCB6B431CB6E}"/>
              </a:ext>
            </a:extLst>
          </p:cNvPr>
          <p:cNvSpPr>
            <a:spLocks noGrp="1"/>
          </p:cNvSpPr>
          <p:nvPr>
            <p:ph type="body" sz="quarter" idx="14"/>
          </p:nvPr>
        </p:nvSpPr>
        <p:spPr>
          <a:xfrm>
            <a:off x="653498" y="4022638"/>
            <a:ext cx="8063782" cy="363027"/>
          </a:xfrm>
        </p:spPr>
        <p:txBody>
          <a:bodyPr>
            <a:noAutofit/>
          </a:bodyPr>
          <a:lstStyle/>
          <a:p>
            <a:r>
              <a:rPr lang="en-US" sz="2000" b="1" dirty="0"/>
              <a:t>Training on reporting obligations for the adapted</a:t>
            </a:r>
          </a:p>
          <a:p>
            <a:r>
              <a:rPr lang="en-US" sz="2000" b="1" dirty="0"/>
              <a:t>Governance Regulation</a:t>
            </a:r>
            <a:r>
              <a:rPr lang="en-GB" sz="2000" b="1" dirty="0"/>
              <a:t>,</a:t>
            </a:r>
            <a:r>
              <a:rPr lang="bs" sz="2000" b="1" dirty="0"/>
              <a:t> Sarajevo</a:t>
            </a:r>
            <a:r>
              <a:rPr lang="en-GB" sz="2000" b="1" dirty="0"/>
              <a:t>,</a:t>
            </a:r>
            <a:r>
              <a:rPr lang="bs" dirty="0"/>
              <a:t> </a:t>
            </a:r>
            <a:r>
              <a:rPr lang="en-US" sz="2000" b="1" dirty="0"/>
              <a:t>7-9.10.</a:t>
            </a:r>
            <a:r>
              <a:rPr lang="bs" sz="2000" b="1" dirty="0"/>
              <a:t>2025.</a:t>
            </a:r>
            <a:r>
              <a:rPr lang="en-GB" sz="2000" b="1" dirty="0" err="1"/>
              <a:t>godine</a:t>
            </a:r>
            <a:endParaRPr lang="bs" sz="2000" b="1" dirty="0"/>
          </a:p>
        </p:txBody>
      </p:sp>
      <p:sp>
        <p:nvSpPr>
          <p:cNvPr id="22" name="TextBox 21">
            <a:extLst>
              <a:ext uri="{FF2B5EF4-FFF2-40B4-BE49-F238E27FC236}">
                <a16:creationId xmlns:a16="http://schemas.microsoft.com/office/drawing/2014/main" id="{4BBC0072-8617-ADA8-F3A1-9A676F4334C1}"/>
              </a:ext>
            </a:extLst>
          </p:cNvPr>
          <p:cNvSpPr txBox="1"/>
          <p:nvPr/>
        </p:nvSpPr>
        <p:spPr>
          <a:xfrm>
            <a:off x="7870954" y="5853064"/>
            <a:ext cx="2574744" cy="261610"/>
          </a:xfrm>
          <a:prstGeom prst="rect">
            <a:avLst/>
          </a:prstGeom>
          <a:noFill/>
        </p:spPr>
        <p:txBody>
          <a:bodyPr wrap="none" rtlCol="0" anchor="b">
            <a:spAutoFit/>
          </a:bodyPr>
          <a:lstStyle/>
          <a:p>
            <a:pPr algn="l"/>
            <a:r>
              <a:rPr lang="bs" sz="1100" b="0" kern="1200" dirty="0">
                <a:solidFill>
                  <a:schemeClr val="bg1"/>
                </a:solidFill>
                <a:effectLst/>
                <a:latin typeface="Arial" panose="020B0604020202020204" pitchFamily="34" charset="0"/>
                <a:ea typeface="+mn-ea"/>
                <a:cs typeface="Arial" panose="020B0604020202020204" pitchFamily="34" charset="0"/>
              </a:rPr>
              <a:t>Implementira konzorcij predvođen DAI</a:t>
            </a:r>
            <a:endParaRPr lang="en-US" sz="1100" b="0" kern="1200" dirty="0">
              <a:solidFill>
                <a:schemeClr val="bg1"/>
              </a:solidFill>
              <a:effectLst/>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58A8632F-62A4-E51A-8832-07EE8B8DAB73}"/>
              </a:ext>
            </a:extLst>
          </p:cNvPr>
          <p:cNvPicPr>
            <a:picLocks noChangeAspect="1"/>
          </p:cNvPicPr>
          <p:nvPr/>
        </p:nvPicPr>
        <p:blipFill>
          <a:blip r:embed="rId5"/>
          <a:stretch>
            <a:fillRect/>
          </a:stretch>
        </p:blipFill>
        <p:spPr>
          <a:xfrm>
            <a:off x="122798" y="110226"/>
            <a:ext cx="1708227" cy="1588651"/>
          </a:xfrm>
          <a:prstGeom prst="rect">
            <a:avLst/>
          </a:prstGeom>
        </p:spPr>
      </p:pic>
      <p:pic>
        <p:nvPicPr>
          <p:cNvPr id="3" name="Picture 2">
            <a:extLst>
              <a:ext uri="{FF2B5EF4-FFF2-40B4-BE49-F238E27FC236}">
                <a16:creationId xmlns:a16="http://schemas.microsoft.com/office/drawing/2014/main" id="{84BD9BE7-62DF-34B7-EB71-9FD6EB89F57F}"/>
              </a:ext>
            </a:extLst>
          </p:cNvPr>
          <p:cNvPicPr>
            <a:picLocks noChangeAspect="1"/>
          </p:cNvPicPr>
          <p:nvPr/>
        </p:nvPicPr>
        <p:blipFill>
          <a:blip r:embed="rId6"/>
          <a:stretch>
            <a:fillRect/>
          </a:stretch>
        </p:blipFill>
        <p:spPr>
          <a:xfrm>
            <a:off x="10065125" y="107555"/>
            <a:ext cx="2006163" cy="1378010"/>
          </a:xfrm>
          <a:prstGeom prst="rect">
            <a:avLst/>
          </a:prstGeom>
        </p:spPr>
      </p:pic>
      <p:pic>
        <p:nvPicPr>
          <p:cNvPr id="4" name="Picture 3">
            <a:extLst>
              <a:ext uri="{FF2B5EF4-FFF2-40B4-BE49-F238E27FC236}">
                <a16:creationId xmlns:a16="http://schemas.microsoft.com/office/drawing/2014/main" id="{A24105AC-5C20-7FEA-8EE0-BFC0159C18AA}"/>
              </a:ext>
            </a:extLst>
          </p:cNvPr>
          <p:cNvPicPr>
            <a:picLocks noChangeAspect="1"/>
          </p:cNvPicPr>
          <p:nvPr/>
        </p:nvPicPr>
        <p:blipFill>
          <a:blip r:embed="rId7"/>
          <a:stretch>
            <a:fillRect/>
          </a:stretch>
        </p:blipFill>
        <p:spPr>
          <a:xfrm>
            <a:off x="3252364" y="764747"/>
            <a:ext cx="5901683" cy="1715684"/>
          </a:xfrm>
          <a:prstGeom prst="rect">
            <a:avLst/>
          </a:prstGeom>
        </p:spPr>
      </p:pic>
    </p:spTree>
    <p:extLst>
      <p:ext uri="{BB962C8B-B14F-4D97-AF65-F5344CB8AC3E}">
        <p14:creationId xmlns:p14="http://schemas.microsoft.com/office/powerpoint/2010/main" val="3795119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78811DD1-D9EA-1FFF-C4E0-E56D79041C52}"/>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001FE0E3-82C2-3898-3FEC-3D4BD16B94BE}"/>
              </a:ext>
            </a:extLst>
          </p:cNvPr>
          <p:cNvSpPr txBox="1"/>
          <p:nvPr/>
        </p:nvSpPr>
        <p:spPr>
          <a:xfrm>
            <a:off x="216757" y="166929"/>
            <a:ext cx="2499549" cy="1938992"/>
          </a:xfrm>
          <a:prstGeom prst="rect">
            <a:avLst/>
          </a:prstGeom>
          <a:solidFill>
            <a:schemeClr val="bg1"/>
          </a:solidFill>
        </p:spPr>
        <p:txBody>
          <a:bodyPr wrap="square">
            <a:spAutoFit/>
          </a:bodyPr>
          <a:lstStyle/>
          <a:p>
            <a:pPr lvl="0">
              <a:spcBef>
                <a:spcPct val="0"/>
              </a:spcBef>
              <a:defRPr/>
            </a:pPr>
            <a:r>
              <a:rPr lang="en-US" sz="2400" dirty="0"/>
              <a:t>Framework for Climate Change Adaptation in Bosnia and Herzegovina</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FB459A36-7B6A-BF7B-7369-4C36596252C8}"/>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4CC662CF-D4C8-6D85-D22C-34B55DA68003}"/>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86E0F0AF-31CD-6A24-DFA2-58F2B0B7E80A}"/>
              </a:ext>
            </a:extLst>
          </p:cNvPr>
          <p:cNvSpPr txBox="1"/>
          <p:nvPr/>
        </p:nvSpPr>
        <p:spPr>
          <a:xfrm>
            <a:off x="3648634" y="382377"/>
            <a:ext cx="7781366" cy="1015663"/>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Establish an integrated framework for climate change adaptation that connects strategic, planning, and reporting processes in Bosnia and Herzegovina.</a:t>
            </a:r>
            <a:endParaRPr lang="bs-Latn-BA" sz="1600" b="1" dirty="0"/>
          </a:p>
        </p:txBody>
      </p:sp>
      <p:sp>
        <p:nvSpPr>
          <p:cNvPr id="9" name="TextBox 8">
            <a:extLst>
              <a:ext uri="{FF2B5EF4-FFF2-40B4-BE49-F238E27FC236}">
                <a16:creationId xmlns:a16="http://schemas.microsoft.com/office/drawing/2014/main" id="{8C790D17-6896-97BC-5AA7-C270D987A9B6}"/>
              </a:ext>
            </a:extLst>
          </p:cNvPr>
          <p:cNvSpPr txBox="1"/>
          <p:nvPr/>
        </p:nvSpPr>
        <p:spPr>
          <a:xfrm>
            <a:off x="3249420" y="1541037"/>
            <a:ext cx="6096000" cy="369332"/>
          </a:xfrm>
          <a:prstGeom prst="rect">
            <a:avLst/>
          </a:prstGeom>
          <a:noFill/>
        </p:spPr>
        <p:txBody>
          <a:bodyPr wrap="square">
            <a:spAutoFit/>
          </a:bodyPr>
          <a:lstStyle/>
          <a:p>
            <a:r>
              <a:rPr lang="pl-PL" dirty="0"/>
              <a:t>🧭 </a:t>
            </a:r>
            <a:r>
              <a:rPr lang="pl-PL" b="1" dirty="0"/>
              <a:t>Strategic and Planning Framework</a:t>
            </a:r>
            <a:endParaRPr lang="en-US" dirty="0"/>
          </a:p>
        </p:txBody>
      </p:sp>
      <p:graphicFrame>
        <p:nvGraphicFramePr>
          <p:cNvPr id="10" name="Diagram 9">
            <a:extLst>
              <a:ext uri="{FF2B5EF4-FFF2-40B4-BE49-F238E27FC236}">
                <a16:creationId xmlns:a16="http://schemas.microsoft.com/office/drawing/2014/main" id="{A356287E-CBD1-BA88-5A4A-E4AF9AC8796D}"/>
              </a:ext>
            </a:extLst>
          </p:cNvPr>
          <p:cNvGraphicFramePr/>
          <p:nvPr>
            <p:extLst>
              <p:ext uri="{D42A27DB-BD31-4B8C-83A1-F6EECF244321}">
                <p14:modId xmlns:p14="http://schemas.microsoft.com/office/powerpoint/2010/main" val="4116200691"/>
              </p:ext>
            </p:extLst>
          </p:nvPr>
        </p:nvGraphicFramePr>
        <p:xfrm>
          <a:off x="3463078" y="1928476"/>
          <a:ext cx="8376025" cy="48701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819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B214B-BCC6-8D0E-0501-C31E8EB49E6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8D96984-3EE7-F98A-7521-A34FBB366738}"/>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836E88AF-FACF-BFCB-61FF-15EF4AA21677}"/>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502F9423-936A-F4F3-9DE7-3DF6B6E3DA75}"/>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EA4F539-F658-21B2-92FC-1F1179FFA104}"/>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C6818940-9790-4B99-24A3-CC285DF7C227}"/>
              </a:ext>
            </a:extLst>
          </p:cNvPr>
          <p:cNvSpPr txBox="1"/>
          <p:nvPr/>
        </p:nvSpPr>
        <p:spPr>
          <a:xfrm>
            <a:off x="3648634" y="382377"/>
            <a:ext cx="7781366" cy="1015663"/>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Establish an integrated framework for climate change adaptation that connects strategic, planning, and reporting processes in Bosnia and Herzegovina.</a:t>
            </a:r>
            <a:endParaRPr lang="bs-Latn-BA" sz="1600" b="1" dirty="0"/>
          </a:p>
        </p:txBody>
      </p:sp>
      <p:sp>
        <p:nvSpPr>
          <p:cNvPr id="9" name="TextBox 8">
            <a:extLst>
              <a:ext uri="{FF2B5EF4-FFF2-40B4-BE49-F238E27FC236}">
                <a16:creationId xmlns:a16="http://schemas.microsoft.com/office/drawing/2014/main" id="{374DF877-237C-02AB-5D69-308DB62FE121}"/>
              </a:ext>
            </a:extLst>
          </p:cNvPr>
          <p:cNvSpPr txBox="1"/>
          <p:nvPr/>
        </p:nvSpPr>
        <p:spPr>
          <a:xfrm>
            <a:off x="689161" y="3086057"/>
            <a:ext cx="6096000" cy="369332"/>
          </a:xfrm>
          <a:prstGeom prst="rect">
            <a:avLst/>
          </a:prstGeom>
          <a:noFill/>
        </p:spPr>
        <p:txBody>
          <a:bodyPr wrap="square">
            <a:spAutoFit/>
          </a:bodyPr>
          <a:lstStyle/>
          <a:p>
            <a:r>
              <a:rPr lang="en-US" dirty="0"/>
              <a:t>🔗 </a:t>
            </a:r>
            <a:r>
              <a:rPr lang="bs-Latn-BA" b="1" dirty="0" err="1"/>
              <a:t>Interconnection</a:t>
            </a:r>
            <a:r>
              <a:rPr lang="bs-Latn-BA" b="1" dirty="0"/>
              <a:t> </a:t>
            </a:r>
            <a:r>
              <a:rPr lang="bs-Latn-BA" b="1" dirty="0" err="1"/>
              <a:t>of</a:t>
            </a:r>
            <a:r>
              <a:rPr lang="bs-Latn-BA" b="1" dirty="0"/>
              <a:t> </a:t>
            </a:r>
            <a:r>
              <a:rPr lang="bs-Latn-BA" b="1" dirty="0" err="1"/>
              <a:t>documents</a:t>
            </a:r>
            <a:endParaRPr lang="bs-Latn-BA" dirty="0"/>
          </a:p>
        </p:txBody>
      </p:sp>
      <p:graphicFrame>
        <p:nvGraphicFramePr>
          <p:cNvPr id="4" name="Table 3">
            <a:extLst>
              <a:ext uri="{FF2B5EF4-FFF2-40B4-BE49-F238E27FC236}">
                <a16:creationId xmlns:a16="http://schemas.microsoft.com/office/drawing/2014/main" id="{884D95A6-271A-BA84-17E4-084C5336B298}"/>
              </a:ext>
            </a:extLst>
          </p:cNvPr>
          <p:cNvGraphicFramePr>
            <a:graphicFrameLocks noGrp="1"/>
          </p:cNvGraphicFramePr>
          <p:nvPr>
            <p:extLst>
              <p:ext uri="{D42A27DB-BD31-4B8C-83A1-F6EECF244321}">
                <p14:modId xmlns:p14="http://schemas.microsoft.com/office/powerpoint/2010/main" val="2519249079"/>
              </p:ext>
            </p:extLst>
          </p:nvPr>
        </p:nvGraphicFramePr>
        <p:xfrm>
          <a:off x="777081" y="3587277"/>
          <a:ext cx="10637838" cy="1859280"/>
        </p:xfrm>
        <a:graphic>
          <a:graphicData uri="http://schemas.openxmlformats.org/drawingml/2006/table">
            <a:tbl>
              <a:tblPr>
                <a:tableStyleId>{3C2FFA5D-87B4-456A-9821-1D502468CF0F}</a:tableStyleId>
              </a:tblPr>
              <a:tblGrid>
                <a:gridCol w="3545946">
                  <a:extLst>
                    <a:ext uri="{9D8B030D-6E8A-4147-A177-3AD203B41FA5}">
                      <a16:colId xmlns:a16="http://schemas.microsoft.com/office/drawing/2014/main" val="1202546295"/>
                    </a:ext>
                  </a:extLst>
                </a:gridCol>
                <a:gridCol w="3545946">
                  <a:extLst>
                    <a:ext uri="{9D8B030D-6E8A-4147-A177-3AD203B41FA5}">
                      <a16:colId xmlns:a16="http://schemas.microsoft.com/office/drawing/2014/main" val="3513824136"/>
                    </a:ext>
                  </a:extLst>
                </a:gridCol>
                <a:gridCol w="3545946">
                  <a:extLst>
                    <a:ext uri="{9D8B030D-6E8A-4147-A177-3AD203B41FA5}">
                      <a16:colId xmlns:a16="http://schemas.microsoft.com/office/drawing/2014/main" val="3973083055"/>
                    </a:ext>
                  </a:extLst>
                </a:gridCol>
              </a:tblGrid>
              <a:tr h="0">
                <a:tc>
                  <a:txBody>
                    <a:bodyPr/>
                    <a:lstStyle/>
                    <a:p>
                      <a:r>
                        <a:rPr lang="en-US" b="1" noProof="0" dirty="0">
                          <a:solidFill>
                            <a:schemeClr val="bg1"/>
                          </a:solidFill>
                        </a:rPr>
                        <a:t>Document</a:t>
                      </a:r>
                      <a:endParaRPr lang="bs-Latn-BA" b="1" noProof="0" dirty="0">
                        <a:solidFill>
                          <a:schemeClr val="bg1"/>
                        </a:solidFill>
                      </a:endParaRPr>
                    </a:p>
                  </a:txBody>
                  <a:tcPr anchor="ctr">
                    <a:solidFill>
                      <a:schemeClr val="accent1">
                        <a:lumMod val="75000"/>
                      </a:schemeClr>
                    </a:solidFill>
                  </a:tcPr>
                </a:tc>
                <a:tc>
                  <a:txBody>
                    <a:bodyPr/>
                    <a:lstStyle/>
                    <a:p>
                      <a:r>
                        <a:rPr lang="en-US" b="1" noProof="0" dirty="0">
                          <a:solidFill>
                            <a:schemeClr val="bg1"/>
                          </a:solidFill>
                        </a:rPr>
                        <a:t>Role</a:t>
                      </a:r>
                      <a:endParaRPr lang="bs-Latn-BA" b="1" noProof="0" dirty="0">
                        <a:solidFill>
                          <a:schemeClr val="bg1"/>
                        </a:solidFill>
                      </a:endParaRPr>
                    </a:p>
                  </a:txBody>
                  <a:tcPr anchor="ctr">
                    <a:solidFill>
                      <a:schemeClr val="accent1">
                        <a:lumMod val="75000"/>
                      </a:schemeClr>
                    </a:solidFill>
                  </a:tcPr>
                </a:tc>
                <a:tc>
                  <a:txBody>
                    <a:bodyPr/>
                    <a:lstStyle/>
                    <a:p>
                      <a:r>
                        <a:rPr lang="bs-Latn-BA" b="1" noProof="0" dirty="0">
                          <a:solidFill>
                            <a:schemeClr val="bg1"/>
                          </a:solidFill>
                        </a:rPr>
                        <a:t>Fo</a:t>
                      </a:r>
                      <a:r>
                        <a:rPr lang="en-US" b="1" noProof="0" dirty="0">
                          <a:solidFill>
                            <a:schemeClr val="bg1"/>
                          </a:solidFill>
                        </a:rPr>
                        <a:t>c</a:t>
                      </a:r>
                      <a:r>
                        <a:rPr lang="bs-Latn-BA" b="1" noProof="0" dirty="0" err="1">
                          <a:solidFill>
                            <a:schemeClr val="bg1"/>
                          </a:solidFill>
                        </a:rPr>
                        <a:t>us</a:t>
                      </a:r>
                      <a:endParaRPr lang="bs-Latn-BA" b="1" noProof="0"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val="3822855424"/>
                  </a:ext>
                </a:extLst>
              </a:tr>
              <a:tr h="0">
                <a:tc>
                  <a:txBody>
                    <a:bodyPr/>
                    <a:lstStyle/>
                    <a:p>
                      <a:r>
                        <a:rPr lang="en-US" sz="1600" b="1" noProof="0" dirty="0"/>
                        <a:t>Strategy</a:t>
                      </a:r>
                      <a:r>
                        <a:rPr lang="bs-Latn-BA" sz="1600" b="1" noProof="0" dirty="0"/>
                        <a:t> 2020–2030</a:t>
                      </a:r>
                      <a:endParaRPr lang="bs-Latn-BA" sz="1600" noProof="0" dirty="0"/>
                    </a:p>
                  </a:txBody>
                  <a:tcPr anchor="ctr"/>
                </a:tc>
                <a:tc>
                  <a:txBody>
                    <a:bodyPr/>
                    <a:lstStyle/>
                    <a:p>
                      <a:r>
                        <a:rPr lang="en-US" sz="1600" noProof="0" dirty="0"/>
                        <a:t>Strategic framework</a:t>
                      </a:r>
                      <a:endParaRPr lang="bs-Latn-BA" sz="1600" noProof="0" dirty="0"/>
                    </a:p>
                  </a:txBody>
                  <a:tcPr anchor="ctr"/>
                </a:tc>
                <a:tc>
                  <a:txBody>
                    <a:bodyPr/>
                    <a:lstStyle/>
                    <a:p>
                      <a:r>
                        <a:rPr lang="en-US" sz="1600" dirty="0"/>
                        <a:t>Goals and priorities of adaptation</a:t>
                      </a:r>
                      <a:endParaRPr lang="bs-Latn-BA" sz="1600" noProof="0" dirty="0"/>
                    </a:p>
                  </a:txBody>
                  <a:tcPr anchor="ctr"/>
                </a:tc>
                <a:extLst>
                  <a:ext uri="{0D108BD9-81ED-4DB2-BD59-A6C34878D82A}">
                    <a16:rowId xmlns:a16="http://schemas.microsoft.com/office/drawing/2014/main" val="2909135054"/>
                  </a:ext>
                </a:extLst>
              </a:tr>
              <a:tr h="0">
                <a:tc>
                  <a:txBody>
                    <a:bodyPr/>
                    <a:lstStyle/>
                    <a:p>
                      <a:r>
                        <a:rPr lang="bs-Latn-BA" sz="1600" b="1" noProof="0" dirty="0"/>
                        <a:t>ESAP BiH 2030+</a:t>
                      </a:r>
                      <a:endParaRPr lang="bs-Latn-BA" sz="1600" noProof="0" dirty="0"/>
                    </a:p>
                  </a:txBody>
                  <a:tcPr anchor="ctr"/>
                </a:tc>
                <a:tc>
                  <a:txBody>
                    <a:bodyPr/>
                    <a:lstStyle/>
                    <a:p>
                      <a:r>
                        <a:rPr lang="en-US" sz="1600" noProof="0" dirty="0"/>
                        <a:t>Implementation</a:t>
                      </a:r>
                      <a:endParaRPr lang="bs-Latn-BA" sz="1600" noProof="0" dirty="0"/>
                    </a:p>
                  </a:txBody>
                  <a:tcPr anchor="ctr"/>
                </a:tc>
                <a:tc>
                  <a:txBody>
                    <a:bodyPr/>
                    <a:lstStyle/>
                    <a:p>
                      <a:r>
                        <a:rPr lang="en-US" sz="1600" noProof="0" dirty="0"/>
                        <a:t>Operational measures and institutional responsibility</a:t>
                      </a:r>
                      <a:endParaRPr lang="bs-Latn-BA" sz="1600" noProof="0" dirty="0"/>
                    </a:p>
                  </a:txBody>
                  <a:tcPr anchor="ctr"/>
                </a:tc>
                <a:extLst>
                  <a:ext uri="{0D108BD9-81ED-4DB2-BD59-A6C34878D82A}">
                    <a16:rowId xmlns:a16="http://schemas.microsoft.com/office/drawing/2014/main" val="1414375209"/>
                  </a:ext>
                </a:extLst>
              </a:tr>
              <a:tr h="0">
                <a:tc>
                  <a:txBody>
                    <a:bodyPr/>
                    <a:lstStyle/>
                    <a:p>
                      <a:r>
                        <a:rPr lang="bs-Latn-BA" sz="1600" b="1" noProof="0" dirty="0"/>
                        <a:t>NECP BiH</a:t>
                      </a:r>
                      <a:endParaRPr lang="bs-Latn-BA" sz="1600" noProof="0" dirty="0"/>
                    </a:p>
                  </a:txBody>
                  <a:tcPr anchor="ctr"/>
                </a:tc>
                <a:tc>
                  <a:txBody>
                    <a:bodyPr/>
                    <a:lstStyle/>
                    <a:p>
                      <a:r>
                        <a:rPr lang="en-US" sz="1600" noProof="0" dirty="0"/>
                        <a:t>Integration and reporting</a:t>
                      </a:r>
                      <a:endParaRPr lang="bs-Latn-BA" sz="1600" noProof="0" dirty="0"/>
                    </a:p>
                  </a:txBody>
                  <a:tcPr anchor="ctr"/>
                </a:tc>
                <a:tc>
                  <a:txBody>
                    <a:bodyPr/>
                    <a:lstStyle/>
                    <a:p>
                      <a:r>
                        <a:rPr lang="en-US" sz="1600" noProof="0" dirty="0"/>
                        <a:t>Monitoring, evaluation and reporting to the EU</a:t>
                      </a:r>
                      <a:endParaRPr lang="bs-Latn-BA" sz="1600" noProof="0" dirty="0"/>
                    </a:p>
                  </a:txBody>
                  <a:tcPr anchor="ctr"/>
                </a:tc>
                <a:extLst>
                  <a:ext uri="{0D108BD9-81ED-4DB2-BD59-A6C34878D82A}">
                    <a16:rowId xmlns:a16="http://schemas.microsoft.com/office/drawing/2014/main" val="2047827520"/>
                  </a:ext>
                </a:extLst>
              </a:tr>
            </a:tbl>
          </a:graphicData>
        </a:graphic>
      </p:graphicFrame>
      <p:sp>
        <p:nvSpPr>
          <p:cNvPr id="8" name="TextBox 7">
            <a:extLst>
              <a:ext uri="{FF2B5EF4-FFF2-40B4-BE49-F238E27FC236}">
                <a16:creationId xmlns:a16="http://schemas.microsoft.com/office/drawing/2014/main" id="{83145D6C-9557-E750-326B-4734332A9CC7}"/>
              </a:ext>
            </a:extLst>
          </p:cNvPr>
          <p:cNvSpPr txBox="1"/>
          <p:nvPr/>
        </p:nvSpPr>
        <p:spPr>
          <a:xfrm>
            <a:off x="216757" y="166929"/>
            <a:ext cx="2499549" cy="1938992"/>
          </a:xfrm>
          <a:prstGeom prst="rect">
            <a:avLst/>
          </a:prstGeom>
          <a:solidFill>
            <a:schemeClr val="bg1"/>
          </a:solidFill>
        </p:spPr>
        <p:txBody>
          <a:bodyPr wrap="square">
            <a:spAutoFit/>
          </a:bodyPr>
          <a:lstStyle/>
          <a:p>
            <a:pPr lvl="0">
              <a:spcBef>
                <a:spcPct val="0"/>
              </a:spcBef>
              <a:defRPr/>
            </a:pPr>
            <a:r>
              <a:rPr lang="en-US" sz="2400" dirty="0"/>
              <a:t>Framework for Climate Change Adaptation in Bosnia and Herzegovina</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2907977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823D2-0CDF-A16C-9B91-930A3FA890B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15B5653-AA22-61F8-40F9-9C30183FE7FD}"/>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59D89E65-6364-C2BE-2093-D2431CD5201F}"/>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D3A4C79B-F10B-0974-D325-6A272E439BF0}"/>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en-US" sz="2400" dirty="0"/>
              <a:t>Key Adaptation Measures: General Overview</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8834917F-A423-93E8-FAA7-2A14833E5B86}"/>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374A7181-DCF9-AC1E-3E0D-EB1FC8E17061}"/>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B0B83920-3541-C117-4B86-47A0D863665A}"/>
              </a:ext>
            </a:extLst>
          </p:cNvPr>
          <p:cNvSpPr txBox="1"/>
          <p:nvPr/>
        </p:nvSpPr>
        <p:spPr>
          <a:xfrm>
            <a:off x="3648634" y="382377"/>
            <a:ext cx="7781366" cy="1015663"/>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Strengthening the resilience of society, the economy, and ecosystems to climate change through systematic planning, implementation, and reporting</a:t>
            </a:r>
            <a:endParaRPr lang="bs-Latn-BA" sz="1600" b="1" dirty="0"/>
          </a:p>
        </p:txBody>
      </p:sp>
      <p:sp>
        <p:nvSpPr>
          <p:cNvPr id="10" name="TextBox 9">
            <a:extLst>
              <a:ext uri="{FF2B5EF4-FFF2-40B4-BE49-F238E27FC236}">
                <a16:creationId xmlns:a16="http://schemas.microsoft.com/office/drawing/2014/main" id="{0DAA3C2A-0293-3743-65C0-9616C5FD2FF8}"/>
              </a:ext>
            </a:extLst>
          </p:cNvPr>
          <p:cNvSpPr txBox="1"/>
          <p:nvPr/>
        </p:nvSpPr>
        <p:spPr>
          <a:xfrm>
            <a:off x="3500512" y="2162882"/>
            <a:ext cx="7929488" cy="3077766"/>
          </a:xfrm>
          <a:prstGeom prst="rect">
            <a:avLst/>
          </a:prstGeom>
          <a:noFill/>
        </p:spPr>
        <p:txBody>
          <a:bodyPr wrap="square">
            <a:spAutoFit/>
          </a:bodyPr>
          <a:lstStyle/>
          <a:p>
            <a:pPr>
              <a:buNone/>
            </a:pPr>
            <a:r>
              <a:rPr lang="bs-Latn-BA" sz="1600" b="1" dirty="0"/>
              <a:t>🔑 </a:t>
            </a:r>
            <a:r>
              <a:rPr lang="en-US" sz="1600" b="1" dirty="0"/>
              <a:t>General priorities</a:t>
            </a:r>
            <a:endParaRPr lang="bs-Latn-BA" sz="1600" b="1" dirty="0"/>
          </a:p>
          <a:p>
            <a:pPr>
              <a:buNone/>
            </a:pPr>
            <a:endParaRPr lang="bs-Latn-BA" sz="1600" b="1" dirty="0"/>
          </a:p>
          <a:p>
            <a:pPr marL="798513" indent="-285750">
              <a:buFont typeface="Arial" panose="020B0604020202020204" pitchFamily="34" charset="0"/>
              <a:buChar char="•"/>
            </a:pPr>
            <a:r>
              <a:rPr lang="en-US" sz="1400" dirty="0"/>
              <a:t>Integration of adaptation into sectoral and spatial policies.</a:t>
            </a:r>
          </a:p>
          <a:p>
            <a:pPr marL="798513" indent="-285750">
              <a:buFont typeface="Arial" panose="020B0604020202020204" pitchFamily="34" charset="0"/>
              <a:buChar char="•"/>
            </a:pPr>
            <a:r>
              <a:rPr lang="en-US" sz="1400" dirty="0"/>
              <a:t>Establishment of an MRV system for monitoring adaptation measures.</a:t>
            </a:r>
          </a:p>
          <a:p>
            <a:pPr marL="798513" indent="-285750">
              <a:buFont typeface="Arial" panose="020B0604020202020204" pitchFamily="34" charset="0"/>
              <a:buChar char="•"/>
            </a:pPr>
            <a:r>
              <a:rPr lang="en-US" sz="1400" dirty="0"/>
              <a:t>Strengthening institutional coordination and capacity.</a:t>
            </a:r>
          </a:p>
          <a:p>
            <a:pPr marL="798513" indent="-285750">
              <a:buFont typeface="Arial" panose="020B0604020202020204" pitchFamily="34" charset="0"/>
              <a:buChar char="•"/>
            </a:pPr>
            <a:r>
              <a:rPr lang="en-US" sz="1400" dirty="0"/>
              <a:t>Use of nature-based solutions (</a:t>
            </a:r>
            <a:r>
              <a:rPr lang="en-US" sz="1400" dirty="0" err="1"/>
              <a:t>NbS</a:t>
            </a:r>
            <a:r>
              <a:rPr lang="en-US" sz="1400" dirty="0"/>
              <a:t>).</a:t>
            </a:r>
          </a:p>
          <a:p>
            <a:pPr marL="798513" indent="-285750">
              <a:buFont typeface="Arial" panose="020B0604020202020204" pitchFamily="34" charset="0"/>
              <a:buChar char="•"/>
            </a:pPr>
            <a:r>
              <a:rPr lang="en-US" sz="1400" dirty="0"/>
              <a:t>Securing financing and international support for adaptation projects.</a:t>
            </a:r>
            <a:r>
              <a:rPr lang="bs-Latn-BA" sz="1400" dirty="0"/>
              <a:t>.</a:t>
            </a:r>
          </a:p>
          <a:p>
            <a:endParaRPr lang="bs-Latn-BA" dirty="0"/>
          </a:p>
          <a:p>
            <a:pPr>
              <a:buNone/>
            </a:pPr>
            <a:r>
              <a:rPr lang="bs-Latn-BA" sz="1600" b="1" dirty="0"/>
              <a:t>🔗 </a:t>
            </a:r>
            <a:r>
              <a:rPr lang="en-US" sz="1600" b="1" dirty="0"/>
              <a:t>Link with documents</a:t>
            </a:r>
            <a:endParaRPr lang="bs-Latn-BA" sz="1600" b="1" dirty="0"/>
          </a:p>
          <a:p>
            <a:pPr>
              <a:buNone/>
            </a:pPr>
            <a:endParaRPr lang="bs-Latn-BA" sz="1600" b="1" dirty="0"/>
          </a:p>
          <a:p>
            <a:pPr marL="798513" indent="-285750">
              <a:buFont typeface="Arial" panose="020B0604020202020204" pitchFamily="34" charset="0"/>
              <a:buChar char="•"/>
            </a:pPr>
            <a:r>
              <a:rPr lang="en-US" sz="1400" dirty="0"/>
              <a:t>Strategy 2020–2030 – strategic goals and priorities.</a:t>
            </a:r>
          </a:p>
          <a:p>
            <a:pPr marL="798513" indent="-285750">
              <a:buFont typeface="Arial" panose="020B0604020202020204" pitchFamily="34" charset="0"/>
              <a:buChar char="•"/>
            </a:pPr>
            <a:r>
              <a:rPr lang="en-US" sz="1400" dirty="0"/>
              <a:t>ESAP BiH 2030+ – implementation measures by sectors.</a:t>
            </a:r>
          </a:p>
          <a:p>
            <a:pPr marL="798513" indent="-285750">
              <a:buFont typeface="Arial" panose="020B0604020202020204" pitchFamily="34" charset="0"/>
              <a:buChar char="•"/>
            </a:pPr>
            <a:r>
              <a:rPr lang="en-US" sz="1400" dirty="0"/>
              <a:t>NECP BiH – integrated framework for monitoring and reporting to the EU.</a:t>
            </a:r>
            <a:endParaRPr lang="bs-Latn-BA" sz="1400" dirty="0"/>
          </a:p>
        </p:txBody>
      </p:sp>
    </p:spTree>
    <p:extLst>
      <p:ext uri="{BB962C8B-B14F-4D97-AF65-F5344CB8AC3E}">
        <p14:creationId xmlns:p14="http://schemas.microsoft.com/office/powerpoint/2010/main" val="3154130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9AED0-FB00-E7D5-64CC-353130F7660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F0BE425-F175-8077-60C5-E7CC1DC070A5}"/>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0610E46A-47B8-CD23-8529-8330B4389E0A}"/>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16A8EB03-493E-1AE1-425B-476277EFF8B4}"/>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Adaptation in the water sector</a:t>
            </a:r>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D56C8ACE-20CC-3704-EE33-D21F045B2619}"/>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4DA5A067-17D3-0B67-153B-9935E83A0EEB}"/>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170F8449-7477-6EF7-D58B-B21ABD87D731}"/>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en-US" sz="1400" dirty="0"/>
          </a:p>
          <a:p>
            <a:r>
              <a:rPr lang="en-US" sz="1400" dirty="0"/>
              <a:t>Bosnia and Herzegovina is highly sensitive to climate change, which affects precipitation patterns, the occurrence of droughts and floods, and the availability and quality of surface and groundwater. Adaptation measures in the water sector aim to reduce the risk of extreme hydrological events, ensure stable water supply, and increase the resilience of aquatic ecosystems.</a:t>
            </a:r>
            <a:endParaRPr lang="bs-Latn-BA" sz="1400" dirty="0"/>
          </a:p>
        </p:txBody>
      </p:sp>
      <p:sp>
        <p:nvSpPr>
          <p:cNvPr id="10" name="TextBox 9">
            <a:extLst>
              <a:ext uri="{FF2B5EF4-FFF2-40B4-BE49-F238E27FC236}">
                <a16:creationId xmlns:a16="http://schemas.microsoft.com/office/drawing/2014/main" id="{520D742A-97F5-18E0-7DEF-9E64A135F423}"/>
              </a:ext>
            </a:extLst>
          </p:cNvPr>
          <p:cNvSpPr txBox="1"/>
          <p:nvPr/>
        </p:nvSpPr>
        <p:spPr>
          <a:xfrm>
            <a:off x="4527177" y="2646975"/>
            <a:ext cx="6902823" cy="3570208"/>
          </a:xfrm>
          <a:prstGeom prst="rect">
            <a:avLst/>
          </a:prstGeom>
          <a:noFill/>
        </p:spPr>
        <p:txBody>
          <a:bodyPr wrap="square">
            <a:spAutoFit/>
          </a:bodyPr>
          <a:lstStyle/>
          <a:p>
            <a:pPr>
              <a:spcBef>
                <a:spcPts val="300"/>
              </a:spcBef>
              <a:spcAft>
                <a:spcPts val="300"/>
              </a:spcAft>
            </a:pPr>
            <a:r>
              <a:rPr lang="bs-Latn-BA" sz="1400" b="1" dirty="0"/>
              <a:t>1️⃣ </a:t>
            </a:r>
            <a:r>
              <a:rPr lang="bs-Latn-BA" sz="1400" b="1" dirty="0" err="1"/>
              <a:t>Planning</a:t>
            </a:r>
            <a:r>
              <a:rPr lang="bs-Latn-BA" sz="1400" b="1" dirty="0"/>
              <a:t> </a:t>
            </a:r>
            <a:r>
              <a:rPr lang="bs-Latn-BA" sz="1400" b="1" dirty="0" err="1"/>
              <a:t>and</a:t>
            </a:r>
            <a:r>
              <a:rPr lang="bs-Latn-BA" sz="1400" b="1" dirty="0"/>
              <a:t> </a:t>
            </a:r>
            <a:r>
              <a:rPr lang="bs-Latn-BA" sz="1400" b="1" dirty="0" err="1"/>
              <a:t>risk</a:t>
            </a:r>
            <a:r>
              <a:rPr lang="bs-Latn-BA" sz="1400" b="1" dirty="0"/>
              <a:t> management</a:t>
            </a:r>
          </a:p>
          <a:p>
            <a:pPr marL="690563" indent="-285750">
              <a:spcBef>
                <a:spcPts val="300"/>
              </a:spcBef>
              <a:spcAft>
                <a:spcPts val="300"/>
              </a:spcAft>
              <a:buFont typeface="Arial" panose="020B0604020202020204" pitchFamily="34" charset="0"/>
              <a:buChar char="•"/>
            </a:pPr>
            <a:r>
              <a:rPr lang="en-US" sz="1200" dirty="0"/>
              <a:t>Development and implementation of flood and drought risk management plans in accordance with the Water Framework Directive (2000/60/EC) and the Floods Directive (2007/60/EC).</a:t>
            </a:r>
          </a:p>
          <a:p>
            <a:pPr marL="690563" indent="-285750">
              <a:spcBef>
                <a:spcPts val="300"/>
              </a:spcBef>
              <a:spcAft>
                <a:spcPts val="300"/>
              </a:spcAft>
              <a:buFont typeface="Arial" panose="020B0604020202020204" pitchFamily="34" charset="0"/>
              <a:buChar char="•"/>
            </a:pPr>
            <a:r>
              <a:rPr lang="en-US" sz="1200" dirty="0"/>
              <a:t>Integration of climate scenarios and precipitation change models into spatial plans and water policies.</a:t>
            </a:r>
          </a:p>
          <a:p>
            <a:pPr marL="690563" indent="-285750">
              <a:spcBef>
                <a:spcPts val="300"/>
              </a:spcBef>
              <a:spcAft>
                <a:spcPts val="300"/>
              </a:spcAft>
              <a:buFont typeface="Arial" panose="020B0604020202020204" pitchFamily="34" charset="0"/>
              <a:buChar char="•"/>
            </a:pPr>
            <a:r>
              <a:rPr lang="en-US" sz="1200" dirty="0"/>
              <a:t>Revision of state and entity water management strategies to align with climate projections.</a:t>
            </a:r>
          </a:p>
          <a:p>
            <a:pPr marL="404813">
              <a:spcBef>
                <a:spcPts val="300"/>
              </a:spcBef>
              <a:spcAft>
                <a:spcPts val="300"/>
              </a:spcAft>
            </a:pPr>
            <a:endParaRPr lang="bs-Latn-BA" sz="1400" dirty="0"/>
          </a:p>
          <a:p>
            <a:pPr>
              <a:spcBef>
                <a:spcPts val="300"/>
              </a:spcBef>
              <a:spcAft>
                <a:spcPts val="300"/>
              </a:spcAft>
            </a:pPr>
            <a:r>
              <a:rPr lang="bs-Latn-BA" sz="1400" b="1" dirty="0"/>
              <a:t>2️⃣ </a:t>
            </a:r>
            <a:r>
              <a:rPr lang="en-US" sz="1400" b="1" dirty="0"/>
              <a:t>Monitoring and early warning system</a:t>
            </a:r>
            <a:endParaRPr lang="bs-Latn-BA" sz="1400" b="1" dirty="0"/>
          </a:p>
          <a:p>
            <a:pPr marL="690563" indent="-287338">
              <a:spcBef>
                <a:spcPts val="300"/>
              </a:spcBef>
              <a:spcAft>
                <a:spcPts val="300"/>
              </a:spcAft>
              <a:buFont typeface="Arial" panose="020B0604020202020204" pitchFamily="34" charset="0"/>
              <a:buChar char="•"/>
            </a:pPr>
            <a:r>
              <a:rPr lang="en-US" sz="1200" dirty="0"/>
              <a:t>Modernization of the hydrometeorological network and strengthening of early warning systems for floods and droughts.</a:t>
            </a:r>
          </a:p>
          <a:p>
            <a:pPr marL="690563" indent="-287338">
              <a:spcBef>
                <a:spcPts val="300"/>
              </a:spcBef>
              <a:spcAft>
                <a:spcPts val="300"/>
              </a:spcAft>
              <a:buFont typeface="Arial" panose="020B0604020202020204" pitchFamily="34" charset="0"/>
              <a:buChar char="•"/>
            </a:pPr>
            <a:r>
              <a:rPr lang="en-US" sz="1200" dirty="0"/>
              <a:t>Digitalization of data collection and processing, integration with INSPIRE standards and the NECP MRV system.</a:t>
            </a:r>
          </a:p>
          <a:p>
            <a:pPr marL="690563" indent="-287338">
              <a:spcBef>
                <a:spcPts val="300"/>
              </a:spcBef>
              <a:spcAft>
                <a:spcPts val="300"/>
              </a:spcAft>
              <a:buFont typeface="Arial" panose="020B0604020202020204" pitchFamily="34" charset="0"/>
              <a:buChar char="•"/>
            </a:pPr>
            <a:r>
              <a:rPr lang="en-US" sz="1200" dirty="0"/>
              <a:t>Establishment of a shared database for climate and hydrological indicators.</a:t>
            </a:r>
            <a:endParaRPr lang="bs-Latn-BA" sz="1200" dirty="0"/>
          </a:p>
        </p:txBody>
      </p:sp>
      <p:sp>
        <p:nvSpPr>
          <p:cNvPr id="8" name="TextBox 7">
            <a:extLst>
              <a:ext uri="{FF2B5EF4-FFF2-40B4-BE49-F238E27FC236}">
                <a16:creationId xmlns:a16="http://schemas.microsoft.com/office/drawing/2014/main" id="{1DFA02D8-C597-87F7-6C65-AE67D4DEE1B4}"/>
              </a:ext>
            </a:extLst>
          </p:cNvPr>
          <p:cNvSpPr txBox="1"/>
          <p:nvPr/>
        </p:nvSpPr>
        <p:spPr>
          <a:xfrm>
            <a:off x="3648634" y="20974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2050" name="Picture 2" descr="Generated image">
            <a:extLst>
              <a:ext uri="{FF2B5EF4-FFF2-40B4-BE49-F238E27FC236}">
                <a16:creationId xmlns:a16="http://schemas.microsoft.com/office/drawing/2014/main" id="{2DCE5938-7186-F81B-484C-6250F265F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977" y="1702050"/>
            <a:ext cx="2499549" cy="3749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905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6EC02-B7ED-E3FB-ACB4-C519410B107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A31B69-81C6-C85B-CCC6-FCF4E1048D65}"/>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6D38BB23-2EFD-A1E6-4710-CEEA2116656B}"/>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B0C67DAF-EE5D-4D85-F8D3-7BE3E743E349}"/>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DCE56A8-DCAC-959C-E0DC-264BA64DBAC7}"/>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1924BC54-4B38-9F7A-8298-74F552DD0D65}"/>
              </a:ext>
            </a:extLst>
          </p:cNvPr>
          <p:cNvSpPr txBox="1"/>
          <p:nvPr/>
        </p:nvSpPr>
        <p:spPr>
          <a:xfrm>
            <a:off x="4527177" y="2646975"/>
            <a:ext cx="6902823" cy="3354765"/>
          </a:xfrm>
          <a:prstGeom prst="rect">
            <a:avLst/>
          </a:prstGeom>
          <a:noFill/>
        </p:spPr>
        <p:txBody>
          <a:bodyPr wrap="square">
            <a:spAutoFit/>
          </a:bodyPr>
          <a:lstStyle/>
          <a:p>
            <a:pPr>
              <a:spcBef>
                <a:spcPts val="300"/>
              </a:spcBef>
              <a:spcAft>
                <a:spcPts val="300"/>
              </a:spcAft>
            </a:pPr>
            <a:r>
              <a:rPr lang="bs-Latn-BA" sz="1400" b="1" dirty="0"/>
              <a:t>3️⃣ </a:t>
            </a:r>
            <a:r>
              <a:rPr lang="bs-Latn-BA" sz="1400" b="1" dirty="0" err="1"/>
              <a:t>Preservation</a:t>
            </a:r>
            <a:r>
              <a:rPr lang="bs-Latn-BA" sz="1400" b="1" dirty="0"/>
              <a:t> </a:t>
            </a:r>
            <a:r>
              <a:rPr lang="bs-Latn-BA" sz="1400" b="1" dirty="0" err="1"/>
              <a:t>of</a:t>
            </a:r>
            <a:r>
              <a:rPr lang="bs-Latn-BA" sz="1400" b="1" dirty="0"/>
              <a:t> </a:t>
            </a:r>
            <a:r>
              <a:rPr lang="bs-Latn-BA" sz="1400" b="1" dirty="0" err="1"/>
              <a:t>aquatic</a:t>
            </a:r>
            <a:r>
              <a:rPr lang="bs-Latn-BA" sz="1400" b="1" dirty="0"/>
              <a:t> </a:t>
            </a:r>
            <a:r>
              <a:rPr lang="bs-Latn-BA" sz="1400" b="1" dirty="0" err="1"/>
              <a:t>ecosystems</a:t>
            </a:r>
            <a:endParaRPr lang="bs-Latn-BA" sz="1400" b="1" dirty="0"/>
          </a:p>
          <a:p>
            <a:pPr marL="690563" indent="-285750">
              <a:spcBef>
                <a:spcPts val="300"/>
              </a:spcBef>
              <a:spcAft>
                <a:spcPts val="300"/>
              </a:spcAft>
              <a:buFont typeface="Arial" panose="020B0604020202020204" pitchFamily="34" charset="0"/>
              <a:buChar char="•"/>
            </a:pPr>
            <a:r>
              <a:rPr lang="en-US" sz="1200" dirty="0"/>
              <a:t>Restoration and protection of river corridors, wetlands, and floodplains as natural barriers against floods.</a:t>
            </a:r>
          </a:p>
          <a:p>
            <a:pPr marL="690563" indent="-285750">
              <a:spcBef>
                <a:spcPts val="300"/>
              </a:spcBef>
              <a:spcAft>
                <a:spcPts val="300"/>
              </a:spcAft>
              <a:buFont typeface="Arial" panose="020B0604020202020204" pitchFamily="34" charset="0"/>
              <a:buChar char="•"/>
            </a:pPr>
            <a:r>
              <a:rPr lang="en-US" sz="1200" dirty="0"/>
              <a:t>Implementation of Nature-based Solutions (</a:t>
            </a:r>
            <a:r>
              <a:rPr lang="en-US" sz="1200" dirty="0" err="1"/>
              <a:t>NbS</a:t>
            </a:r>
            <a:r>
              <a:rPr lang="en-US" sz="1200" dirty="0"/>
              <a:t>) – natural water retention, greening of riverbanks.</a:t>
            </a:r>
          </a:p>
          <a:p>
            <a:pPr marL="690563" indent="-285750">
              <a:spcBef>
                <a:spcPts val="300"/>
              </a:spcBef>
              <a:spcAft>
                <a:spcPts val="300"/>
              </a:spcAft>
              <a:buFont typeface="Arial" panose="020B0604020202020204" pitchFamily="34" charset="0"/>
              <a:buChar char="•"/>
            </a:pPr>
            <a:r>
              <a:rPr lang="en-US" sz="1200" dirty="0"/>
              <a:t>Control of land use to prevent erosion and reduce water pollution.</a:t>
            </a:r>
          </a:p>
          <a:p>
            <a:pPr marL="404813">
              <a:spcBef>
                <a:spcPts val="300"/>
              </a:spcBef>
              <a:spcAft>
                <a:spcPts val="300"/>
              </a:spcAft>
            </a:pPr>
            <a:endParaRPr lang="bs-Latn-BA" sz="1200" dirty="0"/>
          </a:p>
          <a:p>
            <a:pPr>
              <a:spcBef>
                <a:spcPts val="300"/>
              </a:spcBef>
              <a:spcAft>
                <a:spcPts val="300"/>
              </a:spcAft>
            </a:pPr>
            <a:r>
              <a:rPr lang="bs-Latn-BA" sz="1400" b="1" dirty="0"/>
              <a:t>4️⃣ </a:t>
            </a:r>
            <a:r>
              <a:rPr lang="bs-Latn-BA" sz="1400" b="1" dirty="0" err="1"/>
              <a:t>Transboundary</a:t>
            </a:r>
            <a:r>
              <a:rPr lang="bs-Latn-BA" sz="1400" b="1" dirty="0"/>
              <a:t> </a:t>
            </a:r>
            <a:r>
              <a:rPr lang="bs-Latn-BA" sz="1400" b="1" dirty="0" err="1"/>
              <a:t>and</a:t>
            </a:r>
            <a:r>
              <a:rPr lang="bs-Latn-BA" sz="1400" b="1" dirty="0"/>
              <a:t> </a:t>
            </a:r>
            <a:r>
              <a:rPr lang="bs-Latn-BA" sz="1400" b="1" dirty="0" err="1"/>
              <a:t>institutional</a:t>
            </a:r>
            <a:r>
              <a:rPr lang="bs-Latn-BA" sz="1400" b="1" dirty="0"/>
              <a:t> </a:t>
            </a:r>
            <a:r>
              <a:rPr lang="bs-Latn-BA" sz="1400" b="1" dirty="0" err="1"/>
              <a:t>cooperation</a:t>
            </a:r>
            <a:endParaRPr lang="bs-Latn-BA" sz="1400" b="1" dirty="0"/>
          </a:p>
          <a:p>
            <a:pPr marL="690563" indent="-285750">
              <a:spcBef>
                <a:spcPts val="300"/>
              </a:spcBef>
              <a:spcAft>
                <a:spcPts val="300"/>
              </a:spcAft>
              <a:buFont typeface="Arial" panose="020B0604020202020204" pitchFamily="34" charset="0"/>
              <a:buChar char="•"/>
            </a:pPr>
            <a:r>
              <a:rPr lang="en-US" sz="1200" dirty="0"/>
              <a:t>Strengthening cooperation with neighboring countries through international river basin commissions (Sava, Drina, Una).</a:t>
            </a:r>
          </a:p>
          <a:p>
            <a:pPr marL="690563" indent="-285750">
              <a:spcBef>
                <a:spcPts val="300"/>
              </a:spcBef>
              <a:spcAft>
                <a:spcPts val="300"/>
              </a:spcAft>
              <a:buFont typeface="Arial" panose="020B0604020202020204" pitchFamily="34" charset="0"/>
              <a:buChar char="•"/>
            </a:pPr>
            <a:r>
              <a:rPr lang="en-US" sz="1200" dirty="0"/>
              <a:t>Alignment with the EU Water Framework Directive and EIONET/EEA reporting standards.</a:t>
            </a:r>
          </a:p>
          <a:p>
            <a:pPr marL="690563" indent="-285750">
              <a:spcBef>
                <a:spcPts val="300"/>
              </a:spcBef>
              <a:spcAft>
                <a:spcPts val="300"/>
              </a:spcAft>
              <a:buFont typeface="Arial" panose="020B0604020202020204" pitchFamily="34" charset="0"/>
              <a:buChar char="•"/>
            </a:pPr>
            <a:r>
              <a:rPr lang="en-US" sz="1200" dirty="0"/>
              <a:t>Enhancing coordination between ministries, water agencies, and civil protection authorities.</a:t>
            </a:r>
            <a:endParaRPr lang="bs-Latn-BA" sz="1200" dirty="0"/>
          </a:p>
        </p:txBody>
      </p:sp>
      <p:sp>
        <p:nvSpPr>
          <p:cNvPr id="2" name="TextBox 1">
            <a:extLst>
              <a:ext uri="{FF2B5EF4-FFF2-40B4-BE49-F238E27FC236}">
                <a16:creationId xmlns:a16="http://schemas.microsoft.com/office/drawing/2014/main" id="{0FA77D8A-A228-D1E7-874F-9C8184B9A0CC}"/>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Adaptation in the water sector</a:t>
            </a:r>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1" name="Picture 2" descr="Generated image">
            <a:extLst>
              <a:ext uri="{FF2B5EF4-FFF2-40B4-BE49-F238E27FC236}">
                <a16:creationId xmlns:a16="http://schemas.microsoft.com/office/drawing/2014/main" id="{7638320D-6DCF-3298-F5A4-DD5101C454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977" y="1702050"/>
            <a:ext cx="2499549" cy="37493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529DCAF-2A20-7D00-2EC9-73A045AEA6F2}"/>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en-US" sz="1400" dirty="0"/>
          </a:p>
          <a:p>
            <a:r>
              <a:rPr lang="en-US" sz="1400" dirty="0"/>
              <a:t>Bosnia and Herzegovina is highly sensitive to climate change, which affects precipitation patterns, the occurrence of droughts and floods, and the availability and quality of surface and groundwater. Adaptation measures in the water sector aim to reduce the risk of extreme hydrological events, ensure stable water supply, and increase the resilience of aquatic ecosystems.</a:t>
            </a:r>
            <a:endParaRPr lang="bs-Latn-BA" sz="1400" dirty="0"/>
          </a:p>
        </p:txBody>
      </p:sp>
      <p:sp>
        <p:nvSpPr>
          <p:cNvPr id="13" name="TextBox 12">
            <a:extLst>
              <a:ext uri="{FF2B5EF4-FFF2-40B4-BE49-F238E27FC236}">
                <a16:creationId xmlns:a16="http://schemas.microsoft.com/office/drawing/2014/main" id="{1A091B2A-8495-B640-39C5-D093FE6C44DE}"/>
              </a:ext>
            </a:extLst>
          </p:cNvPr>
          <p:cNvSpPr txBox="1"/>
          <p:nvPr/>
        </p:nvSpPr>
        <p:spPr>
          <a:xfrm>
            <a:off x="3648634" y="20974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spTree>
    <p:extLst>
      <p:ext uri="{BB962C8B-B14F-4D97-AF65-F5344CB8AC3E}">
        <p14:creationId xmlns:p14="http://schemas.microsoft.com/office/powerpoint/2010/main" val="2228571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AE561-5BE8-6669-F2F2-C2683B2F487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A448F64-3386-ECB0-D88D-3BE786C2181E}"/>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D0280026-34CF-86D6-5847-B12D1D61CD6F}"/>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CA7FB298-9151-CE09-3991-CC944CBFA029}"/>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0B304F6D-F11A-9C19-BD0B-6A1077054153}"/>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26BDB8B6-06A2-B691-DD6E-4290E53157E3}"/>
              </a:ext>
            </a:extLst>
          </p:cNvPr>
          <p:cNvSpPr txBox="1"/>
          <p:nvPr/>
        </p:nvSpPr>
        <p:spPr>
          <a:xfrm>
            <a:off x="3648634" y="382377"/>
            <a:ext cx="7781366" cy="1854354"/>
          </a:xfrm>
          <a:prstGeom prst="rect">
            <a:avLst/>
          </a:prstGeom>
          <a:noFill/>
        </p:spPr>
        <p:txBody>
          <a:bodyPr wrap="square">
            <a:spAutoFit/>
          </a:bodyPr>
          <a:lstStyle/>
          <a:p>
            <a:r>
              <a:rPr lang="bs-Latn-BA" sz="1600" b="1" dirty="0"/>
              <a:t>🔗 </a:t>
            </a:r>
            <a:r>
              <a:rPr lang="en-US" sz="1600" b="1" dirty="0"/>
              <a:t>Link with strategic documents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Adaptation Strategy 2020–2030: </a:t>
            </a:r>
            <a:r>
              <a:rPr lang="en-US" sz="1400" dirty="0"/>
              <a:t>defined water as a priority sector for adaptation.</a:t>
            </a:r>
          </a:p>
          <a:p>
            <a:pPr marL="860425" indent="-285750">
              <a:spcBef>
                <a:spcPts val="300"/>
              </a:spcBef>
              <a:spcAft>
                <a:spcPts val="300"/>
              </a:spcAft>
              <a:buFont typeface="Arial" panose="020B0604020202020204" pitchFamily="34" charset="0"/>
              <a:buChar char="•"/>
            </a:pPr>
            <a:r>
              <a:rPr lang="en-US" sz="1400" b="1" dirty="0"/>
              <a:t>ESAP BiH 2030+: </a:t>
            </a:r>
            <a:r>
              <a:rPr lang="en-US" sz="1400" dirty="0"/>
              <a:t>includes 28 measures and 12 projects related to water resources, floods, droughts, and water quality.</a:t>
            </a:r>
          </a:p>
          <a:p>
            <a:pPr marL="860425" indent="-285750">
              <a:spcBef>
                <a:spcPts val="300"/>
              </a:spcBef>
              <a:spcAft>
                <a:spcPts val="300"/>
              </a:spcAft>
              <a:buFont typeface="Arial" panose="020B0604020202020204" pitchFamily="34" charset="0"/>
              <a:buChar char="•"/>
            </a:pPr>
            <a:r>
              <a:rPr lang="en-US" sz="1400" b="1" dirty="0"/>
              <a:t>NECP BiH: </a:t>
            </a:r>
            <a:r>
              <a:rPr lang="en-US" sz="1400" dirty="0"/>
              <a:t>through the Adaptation Report foresees an indicator framework for resilience to hydrological risks and losses.</a:t>
            </a:r>
            <a:endParaRPr lang="bs-Latn-BA" sz="1400" dirty="0"/>
          </a:p>
        </p:txBody>
      </p:sp>
      <p:sp>
        <p:nvSpPr>
          <p:cNvPr id="2" name="TextBox 1">
            <a:extLst>
              <a:ext uri="{FF2B5EF4-FFF2-40B4-BE49-F238E27FC236}">
                <a16:creationId xmlns:a16="http://schemas.microsoft.com/office/drawing/2014/main" id="{EE69BF42-4B0A-FEAD-E05E-33FA5F4DDE01}"/>
              </a:ext>
            </a:extLst>
          </p:cNvPr>
          <p:cNvSpPr txBox="1"/>
          <p:nvPr/>
        </p:nvSpPr>
        <p:spPr>
          <a:xfrm>
            <a:off x="3648634" y="2958090"/>
            <a:ext cx="7781366" cy="2516073"/>
          </a:xfrm>
          <a:prstGeom prst="rect">
            <a:avLst/>
          </a:prstGeom>
          <a:noFill/>
        </p:spPr>
        <p:txBody>
          <a:bodyPr wrap="square">
            <a:spAutoFit/>
          </a:bodyPr>
          <a:lstStyle/>
          <a:p>
            <a:r>
              <a:rPr lang="bs-Latn-BA" sz="1600" b="1" dirty="0"/>
              <a:t>📊 </a:t>
            </a:r>
            <a:r>
              <a:rPr lang="en-US" sz="1600" b="1" dirty="0"/>
              <a:t>Reporting and indicators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Adaptation Report (EU 2018/1999, Article 19): </a:t>
            </a:r>
            <a:r>
              <a:rPr lang="en-US" sz="1400" dirty="0"/>
              <a:t>presentation of climate risks, vulnerabilities, and implemented measures.</a:t>
            </a:r>
          </a:p>
          <a:p>
            <a:pPr marL="860425" indent="-285750">
              <a:spcBef>
                <a:spcPts val="300"/>
              </a:spcBef>
              <a:spcAft>
                <a:spcPts val="300"/>
              </a:spcAft>
              <a:buFont typeface="Arial" panose="020B0604020202020204" pitchFamily="34" charset="0"/>
              <a:buChar char="•"/>
            </a:pPr>
            <a:r>
              <a:rPr lang="en-US" sz="1400" b="1" dirty="0" err="1"/>
              <a:t>PaMs</a:t>
            </a:r>
            <a:r>
              <a:rPr lang="en-US" sz="1400" b="1" dirty="0"/>
              <a:t> Report: </a:t>
            </a:r>
            <a:r>
              <a:rPr lang="en-US" sz="1400" dirty="0"/>
              <a:t>description of implemented measures from ESAP and their effects.</a:t>
            </a:r>
          </a:p>
          <a:p>
            <a:pPr marL="860425" indent="-285750">
              <a:spcBef>
                <a:spcPts val="300"/>
              </a:spcBef>
              <a:spcAft>
                <a:spcPts val="300"/>
              </a:spcAft>
              <a:buFont typeface="Arial" panose="020B0604020202020204" pitchFamily="34" charset="0"/>
              <a:buChar char="•"/>
            </a:pPr>
            <a:r>
              <a:rPr lang="en-US" sz="1400" b="1" dirty="0"/>
              <a:t>Relevant indicators:</a:t>
            </a:r>
          </a:p>
          <a:p>
            <a:pPr marL="1317625" indent="-285750">
              <a:spcBef>
                <a:spcPts val="300"/>
              </a:spcBef>
              <a:spcAft>
                <a:spcPts val="300"/>
              </a:spcAft>
              <a:buFont typeface="Courier New" panose="02070309020205020404" pitchFamily="49" charset="0"/>
              <a:buChar char="o"/>
            </a:pPr>
            <a:r>
              <a:rPr lang="en-US" sz="1200" dirty="0"/>
              <a:t>Number of updated flood and drought risk plans.</a:t>
            </a:r>
          </a:p>
          <a:p>
            <a:pPr marL="1317625" indent="-285750">
              <a:spcBef>
                <a:spcPts val="300"/>
              </a:spcBef>
              <a:spcAft>
                <a:spcPts val="300"/>
              </a:spcAft>
              <a:buFont typeface="Courier New" panose="02070309020205020404" pitchFamily="49" charset="0"/>
              <a:buChar char="o"/>
            </a:pPr>
            <a:r>
              <a:rPr lang="en-US" sz="1200" dirty="0"/>
              <a:t>Area of restored aquatic and wetland ecosystems.</a:t>
            </a:r>
          </a:p>
          <a:p>
            <a:pPr marL="1317625" indent="-285750">
              <a:spcBef>
                <a:spcPts val="300"/>
              </a:spcBef>
              <a:spcAft>
                <a:spcPts val="300"/>
              </a:spcAft>
              <a:buFont typeface="Courier New" panose="02070309020205020404" pitchFamily="49" charset="0"/>
              <a:buChar char="o"/>
            </a:pPr>
            <a:r>
              <a:rPr lang="en-US" sz="1200" dirty="0"/>
              <a:t>Number of operational early warning stations.</a:t>
            </a:r>
            <a:endParaRPr lang="bs-Latn-BA" sz="1200" dirty="0"/>
          </a:p>
        </p:txBody>
      </p:sp>
      <p:sp>
        <p:nvSpPr>
          <p:cNvPr id="8" name="TextBox 7">
            <a:extLst>
              <a:ext uri="{FF2B5EF4-FFF2-40B4-BE49-F238E27FC236}">
                <a16:creationId xmlns:a16="http://schemas.microsoft.com/office/drawing/2014/main" id="{AD3B3F51-C064-3944-577C-D9992B726D5E}"/>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Adaptation in the water sector</a:t>
            </a:r>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9" name="Picture 2" descr="Generated image">
            <a:extLst>
              <a:ext uri="{FF2B5EF4-FFF2-40B4-BE49-F238E27FC236}">
                <a16:creationId xmlns:a16="http://schemas.microsoft.com/office/drawing/2014/main" id="{6B0CAA5D-B4BF-E3C7-2715-AA6348B3B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977" y="1702050"/>
            <a:ext cx="2499549" cy="3749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52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EA5C-D91C-6D34-A09B-46730E26177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342D0A4-BDEC-D877-92CF-C4CAA694FF64}"/>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07347ACF-329D-2C0B-383A-9882E61EECBA}"/>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AB2A2632-73E6-7673-7449-71911423DD95}"/>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Adaptation in the agriculture sector</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9B876497-EAAE-345C-22FC-6F69B1C88404}"/>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72ACC93-C8BC-142D-3800-E091BCFDEA2F}"/>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EEA00AD8-600E-8DED-6385-9BB2B568EB08}"/>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en-US" sz="1400" dirty="0"/>
          </a:p>
          <a:p>
            <a:r>
              <a:rPr lang="en-US" sz="1400" dirty="0"/>
              <a:t>Agriculture in Bosnia and Herzegovina is highly exposed to the impacts of climate change, particularly to changes in precipitation patterns, rising temperatures, increased frequency of droughts, and extreme weather events. Climate change directly affects yields, the availability of water for irrigation, and soil quality, thereby threatening food security and the income of rural populations.</a:t>
            </a:r>
            <a:endParaRPr lang="bs-Latn-BA" sz="1400" dirty="0"/>
          </a:p>
        </p:txBody>
      </p:sp>
      <p:sp>
        <p:nvSpPr>
          <p:cNvPr id="10" name="TextBox 9">
            <a:extLst>
              <a:ext uri="{FF2B5EF4-FFF2-40B4-BE49-F238E27FC236}">
                <a16:creationId xmlns:a16="http://schemas.microsoft.com/office/drawing/2014/main" id="{62FF8770-18D2-A6B7-12CA-3C366EEBCDEC}"/>
              </a:ext>
            </a:extLst>
          </p:cNvPr>
          <p:cNvSpPr txBox="1"/>
          <p:nvPr/>
        </p:nvSpPr>
        <p:spPr>
          <a:xfrm>
            <a:off x="4527177" y="2646975"/>
            <a:ext cx="6902823" cy="3016210"/>
          </a:xfrm>
          <a:prstGeom prst="rect">
            <a:avLst/>
          </a:prstGeom>
          <a:noFill/>
        </p:spPr>
        <p:txBody>
          <a:bodyPr wrap="square">
            <a:spAutoFit/>
          </a:bodyPr>
          <a:lstStyle/>
          <a:p>
            <a:r>
              <a:rPr lang="bs-Latn-BA" sz="1400" dirty="0"/>
              <a:t>1️⃣ </a:t>
            </a:r>
            <a:r>
              <a:rPr lang="en-US" sz="1400" b="1" dirty="0"/>
              <a:t>Risk management and planning</a:t>
            </a:r>
            <a:endParaRPr lang="bs-Latn-BA" sz="1400" b="1" dirty="0"/>
          </a:p>
          <a:p>
            <a:endParaRPr lang="bs-Latn-BA" sz="1400" dirty="0"/>
          </a:p>
          <a:p>
            <a:pPr marL="627063" indent="-223838">
              <a:buFont typeface="Arial" panose="020B0604020202020204" pitchFamily="34" charset="0"/>
              <a:buChar char="•"/>
            </a:pPr>
            <a:r>
              <a:rPr lang="en-US" sz="1200" dirty="0"/>
              <a:t>Development and implementation of agriculture adaptation plans in line with climate scenarios.</a:t>
            </a:r>
          </a:p>
          <a:p>
            <a:pPr marL="627063" indent="-223838">
              <a:buFont typeface="Arial" panose="020B0604020202020204" pitchFamily="34" charset="0"/>
              <a:buChar char="•"/>
            </a:pPr>
            <a:r>
              <a:rPr lang="en-US" sz="1200" dirty="0"/>
              <a:t>Introduction of climate risk insurance for agricultural producers (droughts, floods, frost).</a:t>
            </a:r>
          </a:p>
          <a:p>
            <a:pPr marL="627063" indent="-223838">
              <a:buFont typeface="Arial" panose="020B0604020202020204" pitchFamily="34" charset="0"/>
              <a:buChar char="•"/>
            </a:pPr>
            <a:r>
              <a:rPr lang="en-US" sz="1200" dirty="0"/>
              <a:t>Promotion of conservation agriculture, including reduced soil tillage, planting of shelterbelts, and crop rotation.</a:t>
            </a:r>
          </a:p>
          <a:p>
            <a:pPr marL="627063" indent="-223838">
              <a:buFont typeface="Arial" panose="020B0604020202020204" pitchFamily="34" charset="0"/>
              <a:buChar char="•"/>
            </a:pPr>
            <a:r>
              <a:rPr lang="en-US" sz="1200" dirty="0"/>
              <a:t>Integration of climate criteria into subsidies and rural development </a:t>
            </a:r>
            <a:r>
              <a:rPr lang="en-US" sz="1200" dirty="0" err="1"/>
              <a:t>programmes</a:t>
            </a:r>
            <a:r>
              <a:rPr lang="en-US" sz="1200" dirty="0"/>
              <a:t>.</a:t>
            </a:r>
          </a:p>
          <a:p>
            <a:pPr marL="627063" indent="-223838">
              <a:buFont typeface="Arial" panose="020B0604020202020204" pitchFamily="34" charset="0"/>
              <a:buChar char="•"/>
            </a:pPr>
            <a:endParaRPr lang="bs-Latn-BA" sz="1400" dirty="0"/>
          </a:p>
          <a:p>
            <a:r>
              <a:rPr lang="bs-Latn-BA" sz="1400" dirty="0"/>
              <a:t>2️⃣ </a:t>
            </a:r>
            <a:r>
              <a:rPr lang="en-US" sz="1400" b="1" dirty="0"/>
              <a:t>Efficient use of water and land</a:t>
            </a:r>
            <a:endParaRPr lang="bs-Latn-BA" sz="1400" b="1" dirty="0"/>
          </a:p>
          <a:p>
            <a:endParaRPr lang="bs-Latn-BA" sz="1400" dirty="0"/>
          </a:p>
          <a:p>
            <a:pPr marL="627063" indent="-223838">
              <a:buFont typeface="Arial" panose="020B0604020202020204" pitchFamily="34" charset="0"/>
              <a:buChar char="•"/>
            </a:pPr>
            <a:r>
              <a:rPr lang="en-US" sz="1200" dirty="0"/>
              <a:t>Modernization of irrigation systems and transition to drip irrigation technologies.</a:t>
            </a:r>
          </a:p>
          <a:p>
            <a:pPr marL="627063" indent="-223838">
              <a:buFont typeface="Arial" panose="020B0604020202020204" pitchFamily="34" charset="0"/>
              <a:buChar char="•"/>
            </a:pPr>
            <a:r>
              <a:rPr lang="en-US" sz="1200" dirty="0"/>
              <a:t>Introduction of efficient soil moisture management and humus preservation techniques.</a:t>
            </a:r>
          </a:p>
          <a:p>
            <a:pPr marL="627063" indent="-223838">
              <a:buFont typeface="Arial" panose="020B0604020202020204" pitchFamily="34" charset="0"/>
              <a:buChar char="•"/>
            </a:pPr>
            <a:r>
              <a:rPr lang="en-US" sz="1200" dirty="0"/>
              <a:t>Use of resilient crop varieties and species adapted to changing climatic conditions.</a:t>
            </a:r>
          </a:p>
          <a:p>
            <a:pPr marL="627063" indent="-223838">
              <a:buFont typeface="Arial" panose="020B0604020202020204" pitchFamily="34" charset="0"/>
              <a:buChar char="•"/>
            </a:pPr>
            <a:r>
              <a:rPr lang="en-US" sz="1200" dirty="0"/>
              <a:t>Promotion of agroforestry systems that contribute to microclimatic stability.</a:t>
            </a:r>
            <a:endParaRPr lang="bs-Latn-BA" sz="1200" dirty="0"/>
          </a:p>
        </p:txBody>
      </p:sp>
      <p:sp>
        <p:nvSpPr>
          <p:cNvPr id="4" name="TextBox 3">
            <a:extLst>
              <a:ext uri="{FF2B5EF4-FFF2-40B4-BE49-F238E27FC236}">
                <a16:creationId xmlns:a16="http://schemas.microsoft.com/office/drawing/2014/main" id="{D0822364-C0C3-4CCD-16F1-C5C1B813DC43}"/>
              </a:ext>
            </a:extLst>
          </p:cNvPr>
          <p:cNvSpPr txBox="1"/>
          <p:nvPr/>
        </p:nvSpPr>
        <p:spPr>
          <a:xfrm>
            <a:off x="3648634" y="20974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5122" name="Picture 2" descr="Generated image">
            <a:extLst>
              <a:ext uri="{FF2B5EF4-FFF2-40B4-BE49-F238E27FC236}">
                <a16:creationId xmlns:a16="http://schemas.microsoft.com/office/drawing/2014/main" id="{5D3880CE-0B04-1998-B186-8C38D19947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15" y="1717439"/>
            <a:ext cx="2499549" cy="3749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225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9DD5-E7B0-BCE9-31C3-84C5218E705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D8F5E4B-BB9A-1034-E175-38C1B7ABD956}"/>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8A8959DA-F4FC-8106-FE5A-41E9D52E5389}"/>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EE0EBB4C-64E7-3220-AC58-6098C50043A3}"/>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806B4859-4C19-0481-E807-F21A1002E3BF}"/>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7DDE53D3-B458-8839-134B-AFBA6494CA10}"/>
              </a:ext>
            </a:extLst>
          </p:cNvPr>
          <p:cNvSpPr txBox="1"/>
          <p:nvPr/>
        </p:nvSpPr>
        <p:spPr>
          <a:xfrm>
            <a:off x="4527177" y="2646975"/>
            <a:ext cx="6902823" cy="2646878"/>
          </a:xfrm>
          <a:prstGeom prst="rect">
            <a:avLst/>
          </a:prstGeom>
          <a:noFill/>
        </p:spPr>
        <p:txBody>
          <a:bodyPr wrap="square">
            <a:spAutoFit/>
          </a:bodyPr>
          <a:lstStyle/>
          <a:p>
            <a:r>
              <a:rPr lang="bs-Latn-BA" sz="1400" dirty="0"/>
              <a:t>3️⃣ </a:t>
            </a:r>
            <a:r>
              <a:rPr lang="bs-Latn-BA" sz="1400" b="1" dirty="0" err="1"/>
              <a:t>Strengthening</a:t>
            </a:r>
            <a:r>
              <a:rPr lang="bs-Latn-BA" sz="1400" b="1" dirty="0"/>
              <a:t> </a:t>
            </a:r>
            <a:r>
              <a:rPr lang="bs-Latn-BA" sz="1400" b="1" dirty="0" err="1"/>
              <a:t>knowledge</a:t>
            </a:r>
            <a:r>
              <a:rPr lang="bs-Latn-BA" sz="1400" b="1" dirty="0"/>
              <a:t> </a:t>
            </a:r>
            <a:r>
              <a:rPr lang="bs-Latn-BA" sz="1400" b="1" dirty="0" err="1"/>
              <a:t>and</a:t>
            </a:r>
            <a:r>
              <a:rPr lang="bs-Latn-BA" sz="1400" b="1" dirty="0"/>
              <a:t> </a:t>
            </a:r>
            <a:r>
              <a:rPr lang="bs-Latn-BA" sz="1400" b="1" dirty="0" err="1"/>
              <a:t>capacities</a:t>
            </a:r>
            <a:endParaRPr lang="bs-Latn-BA" sz="1400" b="1" dirty="0"/>
          </a:p>
          <a:p>
            <a:endParaRPr lang="bs-Latn-BA" sz="1400" dirty="0"/>
          </a:p>
          <a:p>
            <a:pPr marL="511175" indent="-171450">
              <a:buFont typeface="Arial" panose="020B0604020202020204" pitchFamily="34" charset="0"/>
              <a:buChar char="•"/>
            </a:pPr>
            <a:r>
              <a:rPr lang="bs-Latn-BA" sz="1200" dirty="0"/>
              <a:t>Edukacija po</a:t>
            </a:r>
            <a:r>
              <a:rPr lang="en-US" sz="1200" dirty="0"/>
              <a:t>Training farmers on adaptive practices and management of climate risks.</a:t>
            </a:r>
          </a:p>
          <a:p>
            <a:pPr marL="511175" indent="-171450">
              <a:buFont typeface="Arial" panose="020B0604020202020204" pitchFamily="34" charset="0"/>
              <a:buChar char="•"/>
            </a:pPr>
            <a:r>
              <a:rPr lang="en-US" sz="1200" dirty="0"/>
              <a:t>Establishing </a:t>
            </a:r>
            <a:r>
              <a:rPr lang="en-US" sz="1200" dirty="0" err="1"/>
              <a:t>agro</a:t>
            </a:r>
            <a:r>
              <a:rPr lang="en-US" sz="1200" dirty="0"/>
              <a:t>-climatic services and advisory </a:t>
            </a:r>
            <a:r>
              <a:rPr lang="en-US" sz="1200" dirty="0" err="1"/>
              <a:t>centres</a:t>
            </a:r>
            <a:r>
              <a:rPr lang="en-US" sz="1200" dirty="0"/>
              <a:t> for farmers.</a:t>
            </a:r>
          </a:p>
          <a:p>
            <a:pPr marL="511175" indent="-171450">
              <a:buFont typeface="Arial" panose="020B0604020202020204" pitchFamily="34" charset="0"/>
              <a:buChar char="•"/>
            </a:pPr>
            <a:r>
              <a:rPr lang="en-US" sz="1200" dirty="0"/>
              <a:t>Strengthening research institutions in the field of agroecology and climate resilience.</a:t>
            </a:r>
            <a:endParaRPr lang="bs-Latn-BA" sz="1200" dirty="0"/>
          </a:p>
          <a:p>
            <a:pPr marL="404813"/>
            <a:endParaRPr lang="bs-Latn-BA" sz="1400" dirty="0"/>
          </a:p>
          <a:p>
            <a:r>
              <a:rPr lang="bs-Latn-BA" sz="1400" dirty="0"/>
              <a:t>4️⃣ </a:t>
            </a:r>
            <a:r>
              <a:rPr lang="en-US" sz="1400" b="1" dirty="0"/>
              <a:t>Monitoring, reporting and community support</a:t>
            </a:r>
            <a:endParaRPr lang="bs-Latn-BA" sz="1400" b="1" dirty="0"/>
          </a:p>
          <a:p>
            <a:endParaRPr lang="bs-Latn-BA" sz="1400" dirty="0"/>
          </a:p>
          <a:p>
            <a:pPr marL="511175" indent="-169863">
              <a:buFont typeface="Arial" panose="020B0604020202020204" pitchFamily="34" charset="0"/>
              <a:buChar char="•"/>
            </a:pPr>
            <a:r>
              <a:rPr lang="en-US" sz="1200" dirty="0"/>
              <a:t>Establishment of an MRV system for monitoring adaptation measures in agriculture (within the NECP MRV framework).</a:t>
            </a:r>
          </a:p>
          <a:p>
            <a:pPr marL="511175" indent="-169863">
              <a:buFont typeface="Arial" panose="020B0604020202020204" pitchFamily="34" charset="0"/>
              <a:buChar char="•"/>
            </a:pPr>
            <a:r>
              <a:rPr lang="en-US" sz="1200" dirty="0"/>
              <a:t>Involvement of local communities in planning and implementing resilience measures.</a:t>
            </a:r>
          </a:p>
          <a:p>
            <a:pPr marL="511175" indent="-169863">
              <a:buFont typeface="Arial" panose="020B0604020202020204" pitchFamily="34" charset="0"/>
              <a:buChar char="•"/>
            </a:pPr>
            <a:r>
              <a:rPr lang="en-US" sz="1200" dirty="0"/>
              <a:t>Development of financial mechanisms and funds for adaptation (Green Climate Fund, IFAD, EIB).</a:t>
            </a:r>
            <a:endParaRPr lang="bs-Latn-BA" sz="1200" dirty="0"/>
          </a:p>
        </p:txBody>
      </p:sp>
      <p:sp>
        <p:nvSpPr>
          <p:cNvPr id="9" name="TextBox 8">
            <a:extLst>
              <a:ext uri="{FF2B5EF4-FFF2-40B4-BE49-F238E27FC236}">
                <a16:creationId xmlns:a16="http://schemas.microsoft.com/office/drawing/2014/main" id="{2E22DDC2-DF6D-B086-FE42-67A9D3D71762}"/>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Adaptation in the agriculture sector</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11" name="TextBox 10">
            <a:extLst>
              <a:ext uri="{FF2B5EF4-FFF2-40B4-BE49-F238E27FC236}">
                <a16:creationId xmlns:a16="http://schemas.microsoft.com/office/drawing/2014/main" id="{FAC2639F-FC7E-3BCE-AB9C-6EB429D1941C}"/>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en-US" sz="1400" dirty="0"/>
          </a:p>
          <a:p>
            <a:r>
              <a:rPr lang="en-US" sz="1400" dirty="0"/>
              <a:t>Agriculture in Bosnia and Herzegovina is highly exposed to the impacts of climate change, particularly to changes in precipitation patterns, rising temperatures, increased frequency of droughts, and extreme weather events. Climate change directly affects yields, the availability of water for irrigation, and soil quality, thereby threatening food security and the income of rural populations.</a:t>
            </a:r>
            <a:endParaRPr lang="bs-Latn-BA" sz="1400" dirty="0"/>
          </a:p>
        </p:txBody>
      </p:sp>
      <p:sp>
        <p:nvSpPr>
          <p:cNvPr id="12" name="TextBox 11">
            <a:extLst>
              <a:ext uri="{FF2B5EF4-FFF2-40B4-BE49-F238E27FC236}">
                <a16:creationId xmlns:a16="http://schemas.microsoft.com/office/drawing/2014/main" id="{C5CBEA63-783B-BF37-D41D-6365BDBF065D}"/>
              </a:ext>
            </a:extLst>
          </p:cNvPr>
          <p:cNvSpPr txBox="1"/>
          <p:nvPr/>
        </p:nvSpPr>
        <p:spPr>
          <a:xfrm>
            <a:off x="3648634" y="20974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13" name="Picture 2" descr="Generated image">
            <a:extLst>
              <a:ext uri="{FF2B5EF4-FFF2-40B4-BE49-F238E27FC236}">
                <a16:creationId xmlns:a16="http://schemas.microsoft.com/office/drawing/2014/main" id="{8623872C-7860-7A8C-9FE5-69DCA4249F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15" y="1717439"/>
            <a:ext cx="2499549" cy="3749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989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D68D-1F43-AA4D-323C-B8EAC39D159B}"/>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8D36A8-B135-3EE5-B28F-159B376C1561}"/>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5459858C-31EC-350C-5E9A-035E9873B82C}"/>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74A870E8-615F-46B7-E427-F14F09035CD3}"/>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670A3EDB-946C-74CF-5596-F71E9B704789}"/>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FA1CD7A0-80EE-986D-C9C6-5D9AB83F1F41}"/>
              </a:ext>
            </a:extLst>
          </p:cNvPr>
          <p:cNvSpPr txBox="1"/>
          <p:nvPr/>
        </p:nvSpPr>
        <p:spPr>
          <a:xfrm>
            <a:off x="3648634" y="382377"/>
            <a:ext cx="7781366" cy="2069797"/>
          </a:xfrm>
          <a:prstGeom prst="rect">
            <a:avLst/>
          </a:prstGeom>
          <a:noFill/>
        </p:spPr>
        <p:txBody>
          <a:bodyPr wrap="square">
            <a:spAutoFit/>
          </a:bodyPr>
          <a:lstStyle/>
          <a:p>
            <a:r>
              <a:rPr lang="bs-Latn-BA" sz="1600" b="1" dirty="0"/>
              <a:t>🔗 </a:t>
            </a:r>
            <a:r>
              <a:rPr lang="en-US" sz="1600" b="1" dirty="0"/>
              <a:t>Link with strategic documents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Climate Change Adaptation Strategy 2020–2030: </a:t>
            </a:r>
            <a:r>
              <a:rPr lang="en-US" sz="1400" dirty="0"/>
              <a:t>identifies agriculture as a key sector for the resilience of rural communities.</a:t>
            </a:r>
          </a:p>
          <a:p>
            <a:pPr marL="860425" indent="-285750">
              <a:spcBef>
                <a:spcPts val="300"/>
              </a:spcBef>
              <a:spcAft>
                <a:spcPts val="300"/>
              </a:spcAft>
              <a:buFont typeface="Arial" panose="020B0604020202020204" pitchFamily="34" charset="0"/>
              <a:buChar char="•"/>
            </a:pPr>
            <a:r>
              <a:rPr lang="en-US" sz="1400" b="1" dirty="0"/>
              <a:t>ESAP BiH 2030+: </a:t>
            </a:r>
            <a:r>
              <a:rPr lang="en-US" sz="1400" dirty="0"/>
              <a:t>foresees 22 measures and 8 priority projects in agriculture (irrigation, soil conservation, climate-resilient varieties).</a:t>
            </a:r>
          </a:p>
          <a:p>
            <a:pPr marL="860425" indent="-285750">
              <a:spcBef>
                <a:spcPts val="300"/>
              </a:spcBef>
              <a:spcAft>
                <a:spcPts val="300"/>
              </a:spcAft>
              <a:buFont typeface="Arial" panose="020B0604020202020204" pitchFamily="34" charset="0"/>
              <a:buChar char="•"/>
            </a:pPr>
            <a:r>
              <a:rPr lang="en-US" sz="1400" b="1" dirty="0"/>
              <a:t>NECP BiH: </a:t>
            </a:r>
            <a:r>
              <a:rPr lang="en-US" sz="1400" dirty="0"/>
              <a:t>defines a framework for assessing the resilience of the agricultural sector and reducing vulnerability.</a:t>
            </a:r>
            <a:endParaRPr lang="bs-Latn-BA" sz="1400" dirty="0"/>
          </a:p>
        </p:txBody>
      </p:sp>
      <p:sp>
        <p:nvSpPr>
          <p:cNvPr id="2" name="TextBox 1">
            <a:extLst>
              <a:ext uri="{FF2B5EF4-FFF2-40B4-BE49-F238E27FC236}">
                <a16:creationId xmlns:a16="http://schemas.microsoft.com/office/drawing/2014/main" id="{A6394D5C-CC00-37CD-559E-9603CC2C1989}"/>
              </a:ext>
            </a:extLst>
          </p:cNvPr>
          <p:cNvSpPr txBox="1"/>
          <p:nvPr/>
        </p:nvSpPr>
        <p:spPr>
          <a:xfrm>
            <a:off x="4186520" y="2958090"/>
            <a:ext cx="7781366" cy="2900794"/>
          </a:xfrm>
          <a:prstGeom prst="rect">
            <a:avLst/>
          </a:prstGeom>
          <a:noFill/>
        </p:spPr>
        <p:txBody>
          <a:bodyPr wrap="square">
            <a:spAutoFit/>
          </a:bodyPr>
          <a:lstStyle/>
          <a:p>
            <a:r>
              <a:rPr lang="bs-Latn-BA" sz="1600" b="1" dirty="0"/>
              <a:t>📊 </a:t>
            </a:r>
            <a:r>
              <a:rPr lang="en-US" sz="1600" b="1" dirty="0"/>
              <a:t>Reporting and indicators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Adaptation Report (EU 2018/1999, Article 19): </a:t>
            </a:r>
            <a:r>
              <a:rPr lang="en-US" sz="1400" dirty="0"/>
              <a:t>assessment of risks and vulnerabilities in agriculture, and adaptation measures.</a:t>
            </a:r>
          </a:p>
          <a:p>
            <a:pPr marL="860425" indent="-285750">
              <a:spcBef>
                <a:spcPts val="300"/>
              </a:spcBef>
              <a:spcAft>
                <a:spcPts val="300"/>
              </a:spcAft>
              <a:buFont typeface="Arial" panose="020B0604020202020204" pitchFamily="34" charset="0"/>
              <a:buChar char="•"/>
            </a:pPr>
            <a:r>
              <a:rPr lang="en-US" sz="1400" b="1" dirty="0" err="1"/>
              <a:t>PaMs</a:t>
            </a:r>
            <a:r>
              <a:rPr lang="en-US" sz="1400" b="1" dirty="0"/>
              <a:t> Report: </a:t>
            </a:r>
            <a:r>
              <a:rPr lang="en-US" sz="1400" dirty="0"/>
              <a:t>presentation of adaptation measures in agriculture with effects on emissions and resilience.</a:t>
            </a:r>
          </a:p>
          <a:p>
            <a:pPr marL="860425" indent="-285750">
              <a:spcBef>
                <a:spcPts val="300"/>
              </a:spcBef>
              <a:spcAft>
                <a:spcPts val="300"/>
              </a:spcAft>
              <a:buFont typeface="Arial" panose="020B0604020202020204" pitchFamily="34" charset="0"/>
              <a:buChar char="•"/>
            </a:pPr>
            <a:r>
              <a:rPr lang="en-US" sz="1400" b="1" dirty="0"/>
              <a:t>Relevant indicators:</a:t>
            </a:r>
          </a:p>
          <a:p>
            <a:pPr marL="1255713" indent="-285750">
              <a:spcBef>
                <a:spcPts val="300"/>
              </a:spcBef>
              <a:spcAft>
                <a:spcPts val="300"/>
              </a:spcAft>
              <a:buFont typeface="Courier New" panose="02070309020205020404" pitchFamily="49" charset="0"/>
              <a:buChar char="o"/>
            </a:pPr>
            <a:r>
              <a:rPr lang="en-US" sz="1200" dirty="0"/>
              <a:t>Area of land under conservation practices.</a:t>
            </a:r>
          </a:p>
          <a:p>
            <a:pPr marL="1255713" indent="-285750">
              <a:spcBef>
                <a:spcPts val="300"/>
              </a:spcBef>
              <a:spcAft>
                <a:spcPts val="300"/>
              </a:spcAft>
              <a:buFont typeface="Courier New" panose="02070309020205020404" pitchFamily="49" charset="0"/>
              <a:buChar char="o"/>
            </a:pPr>
            <a:r>
              <a:rPr lang="en-US" sz="1200" dirty="0"/>
              <a:t>Number of producers covered by climate insurance.</a:t>
            </a:r>
          </a:p>
          <a:p>
            <a:pPr marL="1255713" indent="-285750">
              <a:spcBef>
                <a:spcPts val="300"/>
              </a:spcBef>
              <a:spcAft>
                <a:spcPts val="300"/>
              </a:spcAft>
              <a:buFont typeface="Courier New" panose="02070309020205020404" pitchFamily="49" charset="0"/>
              <a:buChar char="o"/>
            </a:pPr>
            <a:r>
              <a:rPr lang="en-US" sz="1200" dirty="0"/>
              <a:t>Amount of rehabilitated irrigated area.</a:t>
            </a:r>
          </a:p>
          <a:p>
            <a:pPr marL="1255713" indent="-285750">
              <a:spcBef>
                <a:spcPts val="300"/>
              </a:spcBef>
              <a:spcAft>
                <a:spcPts val="300"/>
              </a:spcAft>
              <a:buFont typeface="Courier New" panose="02070309020205020404" pitchFamily="49" charset="0"/>
              <a:buChar char="o"/>
            </a:pPr>
            <a:r>
              <a:rPr lang="en-US" sz="1200" dirty="0"/>
              <a:t>Number of functional </a:t>
            </a:r>
            <a:r>
              <a:rPr lang="en-US" sz="1200" dirty="0" err="1"/>
              <a:t>agro</a:t>
            </a:r>
            <a:r>
              <a:rPr lang="en-US" sz="1200" dirty="0"/>
              <a:t>-climatic stations and services.</a:t>
            </a:r>
            <a:endParaRPr lang="bs-Latn-BA" sz="1100" dirty="0"/>
          </a:p>
        </p:txBody>
      </p:sp>
      <p:sp>
        <p:nvSpPr>
          <p:cNvPr id="9" name="TextBox 8">
            <a:extLst>
              <a:ext uri="{FF2B5EF4-FFF2-40B4-BE49-F238E27FC236}">
                <a16:creationId xmlns:a16="http://schemas.microsoft.com/office/drawing/2014/main" id="{3D52DF80-CC7A-07CD-3FAE-609656F87E13}"/>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Adaptation in the agriculture sector</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1" name="Picture 2" descr="Generated image">
            <a:extLst>
              <a:ext uri="{FF2B5EF4-FFF2-40B4-BE49-F238E27FC236}">
                <a16:creationId xmlns:a16="http://schemas.microsoft.com/office/drawing/2014/main" id="{B3BB4A91-B63A-F8A4-ACF1-083537EA1E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15" y="1717439"/>
            <a:ext cx="2499549" cy="3749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88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6B954-D690-838B-9081-1F8C136A7B3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AC10C8-5BCF-C61C-E385-CAF3887A4741}"/>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97B1B579-D029-CA0A-6AB7-53C5F153B434}"/>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6356A600-1D8B-BA15-09E8-4C2772F81465}"/>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en-US" sz="2400" dirty="0"/>
              <a:t>Adaptation in forestry, land, and natural ecosystems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BAAC5B0F-35C6-6DD9-A823-213A076C5A91}"/>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667657E2-ECDB-6D7E-B86F-E11E5D0553AC}"/>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72A183C2-139D-6414-46CA-4CF0EC8D92DF}"/>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bs-Latn-BA" sz="1400" dirty="0"/>
          </a:p>
          <a:p>
            <a:r>
              <a:rPr lang="en-US" sz="1400" dirty="0"/>
              <a:t>Bosnia and Herzegovina is highly dependent on forest ecosystems, which cover more than 50% of its territory and play a key role in absorbing carbon dioxide, protecting soil, regulating water flows, and preserving biodiversity. Climate change increases the risk of forest fires, droughts, soil erosion, and the spread of invasive species, while land degradation reduces the capacity of natural carbon sinks and the resilience of ecosystems.</a:t>
            </a:r>
            <a:endParaRPr lang="bs-Latn-BA" sz="1400" dirty="0"/>
          </a:p>
        </p:txBody>
      </p:sp>
      <p:sp>
        <p:nvSpPr>
          <p:cNvPr id="10" name="TextBox 9">
            <a:extLst>
              <a:ext uri="{FF2B5EF4-FFF2-40B4-BE49-F238E27FC236}">
                <a16:creationId xmlns:a16="http://schemas.microsoft.com/office/drawing/2014/main" id="{FC5A8CF4-3146-6030-55CB-C1215143D4C1}"/>
              </a:ext>
            </a:extLst>
          </p:cNvPr>
          <p:cNvSpPr txBox="1"/>
          <p:nvPr/>
        </p:nvSpPr>
        <p:spPr>
          <a:xfrm>
            <a:off x="4527177" y="2987635"/>
            <a:ext cx="6902823" cy="3354765"/>
          </a:xfrm>
          <a:prstGeom prst="rect">
            <a:avLst/>
          </a:prstGeom>
          <a:noFill/>
        </p:spPr>
        <p:txBody>
          <a:bodyPr wrap="square">
            <a:spAutoFit/>
          </a:bodyPr>
          <a:lstStyle/>
          <a:p>
            <a:r>
              <a:rPr lang="bs-Latn-BA" sz="1400" dirty="0"/>
              <a:t>1️⃣ </a:t>
            </a:r>
            <a:r>
              <a:rPr lang="bs-Latn-BA" sz="1400" b="1" dirty="0" err="1"/>
              <a:t>Sustainable</a:t>
            </a:r>
            <a:r>
              <a:rPr lang="bs-Latn-BA" sz="1400" b="1" dirty="0"/>
              <a:t> </a:t>
            </a:r>
            <a:r>
              <a:rPr lang="bs-Latn-BA" sz="1400" b="1" dirty="0" err="1"/>
              <a:t>forest</a:t>
            </a:r>
            <a:r>
              <a:rPr lang="bs-Latn-BA" sz="1400" b="1" dirty="0"/>
              <a:t> </a:t>
            </a:r>
            <a:r>
              <a:rPr lang="bs-Latn-BA" sz="1400" b="1" dirty="0" err="1"/>
              <a:t>resource</a:t>
            </a:r>
            <a:r>
              <a:rPr lang="bs-Latn-BA" sz="1400" b="1" dirty="0"/>
              <a:t> management</a:t>
            </a:r>
            <a:endParaRPr lang="en-US" sz="1400" b="1" dirty="0"/>
          </a:p>
          <a:p>
            <a:endParaRPr lang="bs-Latn-BA" sz="1400" dirty="0"/>
          </a:p>
          <a:p>
            <a:pPr marL="573088" indent="-171450">
              <a:buFont typeface="Arial" panose="020B0604020202020204" pitchFamily="34" charset="0"/>
              <a:buChar char="•"/>
            </a:pPr>
            <a:r>
              <a:rPr lang="en-US" sz="1200" dirty="0"/>
              <a:t>Afforestation of degraded and landslide-affected areas, and revitalization of forests with native species resistant to climate change.</a:t>
            </a:r>
          </a:p>
          <a:p>
            <a:pPr marL="573088" indent="-171450">
              <a:buFont typeface="Arial" panose="020B0604020202020204" pitchFamily="34" charset="0"/>
              <a:buChar char="•"/>
            </a:pPr>
            <a:r>
              <a:rPr lang="en-US" sz="1200" dirty="0"/>
              <a:t>Application of selective logging and ecosystem-based planning to maintain the stability and resilience of forest stands.</a:t>
            </a:r>
          </a:p>
          <a:p>
            <a:pPr marL="573088" indent="-171450">
              <a:buFont typeface="Arial" panose="020B0604020202020204" pitchFamily="34" charset="0"/>
              <a:buChar char="•"/>
            </a:pPr>
            <a:r>
              <a:rPr lang="en-US" sz="1200" dirty="0"/>
              <a:t>Strengthening the capacity for forest health monitoring through satellite observation and national forest inventories.</a:t>
            </a:r>
          </a:p>
          <a:p>
            <a:pPr marL="401638"/>
            <a:endParaRPr lang="en-US" sz="1200" dirty="0"/>
          </a:p>
          <a:p>
            <a:r>
              <a:rPr lang="bs-Latn-BA" sz="1400" dirty="0"/>
              <a:t>2️⃣ </a:t>
            </a:r>
            <a:r>
              <a:rPr lang="en-US" sz="1400" b="1" dirty="0"/>
              <a:t>Prevention of fires and spread of harmful organisms</a:t>
            </a:r>
          </a:p>
          <a:p>
            <a:endParaRPr lang="bs-Latn-BA" sz="1400" dirty="0"/>
          </a:p>
          <a:p>
            <a:pPr marL="573088" indent="-171450">
              <a:buFont typeface="Arial" panose="020B0604020202020204" pitchFamily="34" charset="0"/>
              <a:buChar char="•"/>
            </a:pPr>
            <a:r>
              <a:rPr lang="en-US" sz="1200" dirty="0"/>
              <a:t>Establishment of integrated early warning and coordination systems between forestry and civil institutions.</a:t>
            </a:r>
          </a:p>
          <a:p>
            <a:pPr marL="573088" indent="-171450">
              <a:buFont typeface="Arial" panose="020B0604020202020204" pitchFamily="34" charset="0"/>
              <a:buChar char="•"/>
            </a:pPr>
            <a:r>
              <a:rPr lang="en-US" sz="1200" dirty="0"/>
              <a:t>Monitoring and control of invasive and harmful organisms spreading due to changes in temperature and humidity.</a:t>
            </a:r>
          </a:p>
          <a:p>
            <a:pPr marL="573088" indent="-171450">
              <a:buFont typeface="Arial" panose="020B0604020202020204" pitchFamily="34" charset="0"/>
              <a:buChar char="•"/>
            </a:pPr>
            <a:r>
              <a:rPr lang="en-US" sz="1200" dirty="0"/>
              <a:t>Education of local communities and development of fire management plans at the level of municipalities and nature parks.</a:t>
            </a:r>
            <a:endParaRPr lang="bs-Latn-BA" sz="1200" dirty="0"/>
          </a:p>
        </p:txBody>
      </p:sp>
      <p:sp>
        <p:nvSpPr>
          <p:cNvPr id="9" name="TextBox 8">
            <a:extLst>
              <a:ext uri="{FF2B5EF4-FFF2-40B4-BE49-F238E27FC236}">
                <a16:creationId xmlns:a16="http://schemas.microsoft.com/office/drawing/2014/main" id="{DED0AE14-8D93-8C3D-E525-57A527389735}"/>
              </a:ext>
            </a:extLst>
          </p:cNvPr>
          <p:cNvSpPr txBox="1"/>
          <p:nvPr/>
        </p:nvSpPr>
        <p:spPr>
          <a:xfrm>
            <a:off x="3648634" y="24022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8194" name="Picture 2" descr="Generated image">
            <a:extLst>
              <a:ext uri="{FF2B5EF4-FFF2-40B4-BE49-F238E27FC236}">
                <a16:creationId xmlns:a16="http://schemas.microsoft.com/office/drawing/2014/main" id="{DD6E27FA-39A3-932A-F576-73D20FE6D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13" y="2013593"/>
            <a:ext cx="2542310" cy="3813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210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9E46-6C7D-EB5D-D4E3-33ED6356C73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58DFA51-D44F-29A6-9253-66C0746AC9D9}"/>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843C2266-4387-C9AC-9197-E0EF3E57DEE2}"/>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B7D9912E-AE61-9F27-FB76-37F91A69EFEC}"/>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0F7D744-5710-5F5C-FF4F-F2A7D149E972}"/>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9FF3949B-C2EB-8425-A39D-45D42F9AF7A1}"/>
              </a:ext>
            </a:extLst>
          </p:cNvPr>
          <p:cNvSpPr txBox="1"/>
          <p:nvPr/>
        </p:nvSpPr>
        <p:spPr>
          <a:xfrm>
            <a:off x="4527177" y="2987635"/>
            <a:ext cx="6902823" cy="3331681"/>
          </a:xfrm>
          <a:prstGeom prst="rect">
            <a:avLst/>
          </a:prstGeom>
          <a:noFill/>
        </p:spPr>
        <p:txBody>
          <a:bodyPr wrap="square">
            <a:spAutoFit/>
          </a:bodyPr>
          <a:lstStyle/>
          <a:p>
            <a:r>
              <a:rPr lang="bs-Latn-BA" sz="1400" dirty="0"/>
              <a:t>3️⃣ </a:t>
            </a:r>
            <a:r>
              <a:rPr lang="en-US" sz="1400" b="1" dirty="0"/>
              <a:t>Balance of emissions and removals in the LULUCF sector</a:t>
            </a:r>
          </a:p>
          <a:p>
            <a:endParaRPr lang="bs-Latn-BA" sz="1400" dirty="0"/>
          </a:p>
          <a:p>
            <a:pPr marL="573088" indent="-169863">
              <a:spcBef>
                <a:spcPts val="300"/>
              </a:spcBef>
              <a:spcAft>
                <a:spcPts val="300"/>
              </a:spcAft>
              <a:buFont typeface="Arial" panose="020B0604020202020204" pitchFamily="34" charset="0"/>
              <a:buChar char="•"/>
            </a:pPr>
            <a:r>
              <a:rPr lang="en-US" sz="1200" dirty="0"/>
              <a:t>Establishment of a monitoring, reporting, and verification (MRV) system for the carbon emissions and removals balance, in line with EU Regulation 2018/841.</a:t>
            </a:r>
          </a:p>
          <a:p>
            <a:pPr marL="573088" indent="-169863">
              <a:spcBef>
                <a:spcPts val="300"/>
              </a:spcBef>
              <a:spcAft>
                <a:spcPts val="300"/>
              </a:spcAft>
              <a:buFont typeface="Arial" panose="020B0604020202020204" pitchFamily="34" charset="0"/>
              <a:buChar char="•"/>
            </a:pPr>
            <a:r>
              <a:rPr lang="en-US" sz="1200" dirty="0"/>
              <a:t>Inclusion of land and forest carbon sinks in national climate targets and the NECP framework.</a:t>
            </a:r>
          </a:p>
          <a:p>
            <a:pPr marL="573088" indent="-169863">
              <a:spcBef>
                <a:spcPts val="300"/>
              </a:spcBef>
              <a:spcAft>
                <a:spcPts val="300"/>
              </a:spcAft>
              <a:buFont typeface="Arial" panose="020B0604020202020204" pitchFamily="34" charset="0"/>
              <a:buChar char="•"/>
            </a:pPr>
            <a:r>
              <a:rPr lang="en-US" sz="1200" dirty="0"/>
              <a:t>Development of a national database on carbon sinks and land use.</a:t>
            </a:r>
          </a:p>
          <a:p>
            <a:pPr marL="403225">
              <a:spcBef>
                <a:spcPts val="300"/>
              </a:spcBef>
              <a:spcAft>
                <a:spcPts val="300"/>
              </a:spcAft>
            </a:pPr>
            <a:endParaRPr lang="bs-Latn-BA" sz="1400" dirty="0"/>
          </a:p>
          <a:p>
            <a:r>
              <a:rPr lang="bs-Latn-BA" sz="1400" dirty="0"/>
              <a:t>4️⃣ </a:t>
            </a:r>
            <a:r>
              <a:rPr lang="en-US" sz="1400" b="1" dirty="0"/>
              <a:t>Ecosystem-based approaches and biodiversity protection</a:t>
            </a:r>
          </a:p>
          <a:p>
            <a:endParaRPr lang="bs-Latn-BA" sz="1400" dirty="0"/>
          </a:p>
          <a:p>
            <a:pPr marL="573088" indent="-171450">
              <a:spcBef>
                <a:spcPts val="300"/>
              </a:spcBef>
              <a:spcAft>
                <a:spcPts val="300"/>
              </a:spcAft>
              <a:buFont typeface="Arial" panose="020B0604020202020204" pitchFamily="34" charset="0"/>
              <a:buChar char="•"/>
            </a:pPr>
            <a:r>
              <a:rPr lang="en-US" sz="1200" dirty="0"/>
              <a:t>Promotion of nature-based solutions (</a:t>
            </a:r>
            <a:r>
              <a:rPr lang="en-US" sz="1200" dirty="0" err="1"/>
              <a:t>NbS</a:t>
            </a:r>
            <a:r>
              <a:rPr lang="en-US" sz="1200" dirty="0"/>
              <a:t>) for soil stabilization, erosion prevention, and conservation of wetland and mountain ecosystems.</a:t>
            </a:r>
          </a:p>
          <a:p>
            <a:pPr marL="573088" indent="-171450">
              <a:spcBef>
                <a:spcPts val="300"/>
              </a:spcBef>
              <a:spcAft>
                <a:spcPts val="300"/>
              </a:spcAft>
              <a:buFont typeface="Arial" panose="020B0604020202020204" pitchFamily="34" charset="0"/>
              <a:buChar char="•"/>
            </a:pPr>
            <a:r>
              <a:rPr lang="en-US" sz="1200" dirty="0"/>
              <a:t>Establishment of new protected areas and corridors for ecosystem connectivity.</a:t>
            </a:r>
          </a:p>
          <a:p>
            <a:pPr marL="573088" indent="-171450">
              <a:spcBef>
                <a:spcPts val="300"/>
              </a:spcBef>
              <a:spcAft>
                <a:spcPts val="300"/>
              </a:spcAft>
              <a:buFont typeface="Arial" panose="020B0604020202020204" pitchFamily="34" charset="0"/>
              <a:buChar char="•"/>
            </a:pPr>
            <a:r>
              <a:rPr lang="en-US" sz="1200" dirty="0"/>
              <a:t>Integration of climate risks into management plans for protected areas.</a:t>
            </a:r>
            <a:endParaRPr lang="bs-Latn-BA" sz="1200" dirty="0"/>
          </a:p>
        </p:txBody>
      </p:sp>
      <p:sp>
        <p:nvSpPr>
          <p:cNvPr id="9" name="TextBox 8">
            <a:extLst>
              <a:ext uri="{FF2B5EF4-FFF2-40B4-BE49-F238E27FC236}">
                <a16:creationId xmlns:a16="http://schemas.microsoft.com/office/drawing/2014/main" id="{E10654A1-31D6-82A2-4BAF-2C89173310DD}"/>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en-US" sz="2400" dirty="0"/>
              <a:t>Adaptation in forestry, land, and natural ecosystems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11" name="TextBox 10">
            <a:extLst>
              <a:ext uri="{FF2B5EF4-FFF2-40B4-BE49-F238E27FC236}">
                <a16:creationId xmlns:a16="http://schemas.microsoft.com/office/drawing/2014/main" id="{1F94071B-C473-8980-3FCD-BA516B2F9B48}"/>
              </a:ext>
            </a:extLst>
          </p:cNvPr>
          <p:cNvSpPr txBox="1"/>
          <p:nvPr/>
        </p:nvSpPr>
        <p:spPr>
          <a:xfrm>
            <a:off x="3648634" y="382377"/>
            <a:ext cx="7781366" cy="1631216"/>
          </a:xfrm>
          <a:prstGeom prst="rect">
            <a:avLst/>
          </a:prstGeom>
          <a:noFill/>
        </p:spPr>
        <p:txBody>
          <a:bodyPr wrap="square">
            <a:spAutoFit/>
          </a:bodyPr>
          <a:lstStyle/>
          <a:p>
            <a:r>
              <a:rPr lang="bs-Latn-BA" sz="1600" b="1" dirty="0"/>
              <a:t>💧 </a:t>
            </a:r>
            <a:r>
              <a:rPr lang="en-US" sz="1600" b="1" dirty="0"/>
              <a:t>Context</a:t>
            </a:r>
            <a:endParaRPr lang="bs-Latn-BA" sz="1600" b="1" dirty="0"/>
          </a:p>
          <a:p>
            <a:endParaRPr lang="bs-Latn-BA" sz="1400" dirty="0"/>
          </a:p>
          <a:p>
            <a:r>
              <a:rPr lang="en-US" sz="1400" dirty="0"/>
              <a:t>Bosnia and Herzegovina is highly dependent on forest ecosystems, which cover more than 50% of its territory and play a key role in absorbing carbon dioxide, protecting soil, regulating water flows, and preserving biodiversity. Climate change increases the risk of forest fires, droughts, soil erosion, and the spread of invasive species, while land degradation reduces the capacity of natural carbon sinks and the resilience of ecosystems.</a:t>
            </a:r>
            <a:endParaRPr lang="bs-Latn-BA" sz="1400" dirty="0"/>
          </a:p>
        </p:txBody>
      </p:sp>
      <p:sp>
        <p:nvSpPr>
          <p:cNvPr id="12" name="TextBox 11">
            <a:extLst>
              <a:ext uri="{FF2B5EF4-FFF2-40B4-BE49-F238E27FC236}">
                <a16:creationId xmlns:a16="http://schemas.microsoft.com/office/drawing/2014/main" id="{BA17CB70-69E6-BD9A-9CF5-BFC7DCDFD765}"/>
              </a:ext>
            </a:extLst>
          </p:cNvPr>
          <p:cNvSpPr txBox="1"/>
          <p:nvPr/>
        </p:nvSpPr>
        <p:spPr>
          <a:xfrm>
            <a:off x="3648634" y="2402249"/>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13" name="Picture 2" descr="Generated image">
            <a:extLst>
              <a:ext uri="{FF2B5EF4-FFF2-40B4-BE49-F238E27FC236}">
                <a16:creationId xmlns:a16="http://schemas.microsoft.com/office/drawing/2014/main" id="{838FB981-CF2E-9BCE-468D-2AB31EA605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13" y="2013593"/>
            <a:ext cx="2542310" cy="3813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160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9805-C539-4BC8-629C-C7EC1870EBB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710453-F727-5443-607D-2C9D71D5C346}"/>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E40C8C5F-4A89-8583-3AE8-043AA24C71CA}"/>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FC08147A-A615-30B9-36DF-5D6BF93376F3}"/>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19DE80BE-F901-6761-BA91-3E3BF3C6D79E}"/>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435BA6F3-88CD-C582-1D1F-3D1F83B84E7F}"/>
              </a:ext>
            </a:extLst>
          </p:cNvPr>
          <p:cNvSpPr txBox="1"/>
          <p:nvPr/>
        </p:nvSpPr>
        <p:spPr>
          <a:xfrm>
            <a:off x="3648634" y="382377"/>
            <a:ext cx="7781366" cy="2069797"/>
          </a:xfrm>
          <a:prstGeom prst="rect">
            <a:avLst/>
          </a:prstGeom>
          <a:noFill/>
        </p:spPr>
        <p:txBody>
          <a:bodyPr wrap="square">
            <a:spAutoFit/>
          </a:bodyPr>
          <a:lstStyle/>
          <a:p>
            <a:r>
              <a:rPr lang="bs-Latn-BA" sz="1600" b="1" dirty="0"/>
              <a:t>🔗 </a:t>
            </a:r>
            <a:r>
              <a:rPr lang="en-US" sz="1600" b="1" dirty="0"/>
              <a:t>Link with strategic documents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Adaptation Strategy 2020–2030: </a:t>
            </a:r>
            <a:r>
              <a:rPr lang="en-US" sz="1400" dirty="0"/>
              <a:t>defines forestry and land as key components of climate change resilience.</a:t>
            </a:r>
          </a:p>
          <a:p>
            <a:pPr marL="860425" indent="-285750">
              <a:spcBef>
                <a:spcPts val="300"/>
              </a:spcBef>
              <a:spcAft>
                <a:spcPts val="300"/>
              </a:spcAft>
              <a:buFont typeface="Arial" panose="020B0604020202020204" pitchFamily="34" charset="0"/>
              <a:buChar char="•"/>
            </a:pPr>
            <a:r>
              <a:rPr lang="en-US" sz="1400" b="1" dirty="0"/>
              <a:t>ESAP BiH 2030+: </a:t>
            </a:r>
            <a:r>
              <a:rPr lang="en-US" sz="1400" dirty="0"/>
              <a:t>includes 22 measures for restoring degraded land, preventing erosion, and increasing CO₂ sinks.</a:t>
            </a:r>
          </a:p>
          <a:p>
            <a:pPr marL="860425" indent="-285750">
              <a:spcBef>
                <a:spcPts val="300"/>
              </a:spcBef>
              <a:spcAft>
                <a:spcPts val="300"/>
              </a:spcAft>
              <a:buFont typeface="Arial" panose="020B0604020202020204" pitchFamily="34" charset="0"/>
              <a:buChar char="•"/>
            </a:pPr>
            <a:r>
              <a:rPr lang="en-US" sz="1400" b="1" dirty="0"/>
              <a:t>NECP BiH: </a:t>
            </a:r>
            <a:r>
              <a:rPr lang="en-US" sz="1400" dirty="0"/>
              <a:t>foresees LULUCF indicators within the Adaptation Report, including changes in forest area and carbon sinks.</a:t>
            </a:r>
            <a:endParaRPr lang="bs-Latn-BA" sz="1400" dirty="0"/>
          </a:p>
        </p:txBody>
      </p:sp>
      <p:sp>
        <p:nvSpPr>
          <p:cNvPr id="2" name="TextBox 1">
            <a:extLst>
              <a:ext uri="{FF2B5EF4-FFF2-40B4-BE49-F238E27FC236}">
                <a16:creationId xmlns:a16="http://schemas.microsoft.com/office/drawing/2014/main" id="{21EF6A79-638A-8A74-8395-2988E91AFD20}"/>
              </a:ext>
            </a:extLst>
          </p:cNvPr>
          <p:cNvSpPr txBox="1"/>
          <p:nvPr/>
        </p:nvSpPr>
        <p:spPr>
          <a:xfrm>
            <a:off x="4186520" y="2958090"/>
            <a:ext cx="7781366" cy="2823850"/>
          </a:xfrm>
          <a:prstGeom prst="rect">
            <a:avLst/>
          </a:prstGeom>
          <a:noFill/>
        </p:spPr>
        <p:txBody>
          <a:bodyPr wrap="square">
            <a:spAutoFit/>
          </a:bodyPr>
          <a:lstStyle/>
          <a:p>
            <a:r>
              <a:rPr lang="bs-Latn-BA" sz="1600" b="1" dirty="0"/>
              <a:t>📊 </a:t>
            </a:r>
            <a:r>
              <a:rPr lang="en-US" sz="1600" b="1" dirty="0"/>
              <a:t>Reporting and indicators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LULUCF Report (EU 2018/841)</a:t>
            </a:r>
            <a:r>
              <a:rPr lang="en-US" sz="1400" dirty="0"/>
              <a:t>: balance of emissions and removals in the land use, land-use change and forestry sector.</a:t>
            </a:r>
          </a:p>
          <a:p>
            <a:pPr marL="860425" indent="-285750">
              <a:spcBef>
                <a:spcPts val="300"/>
              </a:spcBef>
              <a:spcAft>
                <a:spcPts val="300"/>
              </a:spcAft>
              <a:buFont typeface="Arial" panose="020B0604020202020204" pitchFamily="34" charset="0"/>
              <a:buChar char="•"/>
            </a:pPr>
            <a:r>
              <a:rPr lang="en-US" sz="1400" b="1" dirty="0"/>
              <a:t>Adaptation Report (EU 2018/1999, Article 19)</a:t>
            </a:r>
            <a:r>
              <a:rPr lang="en-US" sz="1400" dirty="0"/>
              <a:t>: overview of risks and measures for forestry, land, and ecosystems.</a:t>
            </a:r>
          </a:p>
          <a:p>
            <a:pPr marL="860425" indent="-285750">
              <a:spcBef>
                <a:spcPts val="300"/>
              </a:spcBef>
              <a:spcAft>
                <a:spcPts val="300"/>
              </a:spcAft>
              <a:buFont typeface="Arial" panose="020B0604020202020204" pitchFamily="34" charset="0"/>
              <a:buChar char="•"/>
            </a:pPr>
            <a:r>
              <a:rPr lang="en-US" sz="1400" b="1" dirty="0"/>
              <a:t>Relevant indicators</a:t>
            </a:r>
            <a:r>
              <a:rPr lang="en-US" sz="1400" dirty="0"/>
              <a:t>:</a:t>
            </a:r>
          </a:p>
          <a:p>
            <a:pPr marL="1317625" indent="-285750">
              <a:spcBef>
                <a:spcPts val="300"/>
              </a:spcBef>
              <a:spcAft>
                <a:spcPts val="300"/>
              </a:spcAft>
              <a:buFont typeface="Courier New" panose="02070309020205020404" pitchFamily="49" charset="0"/>
              <a:buChar char="o"/>
            </a:pPr>
            <a:r>
              <a:rPr lang="en-US" sz="1200" dirty="0"/>
              <a:t>Area of reforested and revitalized land (ha).</a:t>
            </a:r>
          </a:p>
          <a:p>
            <a:pPr marL="1317625" indent="-285750">
              <a:spcBef>
                <a:spcPts val="300"/>
              </a:spcBef>
              <a:spcAft>
                <a:spcPts val="300"/>
              </a:spcAft>
              <a:buFont typeface="Courier New" panose="02070309020205020404" pitchFamily="49" charset="0"/>
              <a:buChar char="o"/>
            </a:pPr>
            <a:r>
              <a:rPr lang="en-US" sz="1200" dirty="0"/>
              <a:t>Area under natural protection (% of territory).</a:t>
            </a:r>
          </a:p>
          <a:p>
            <a:pPr marL="1317625" indent="-285750">
              <a:spcBef>
                <a:spcPts val="300"/>
              </a:spcBef>
              <a:spcAft>
                <a:spcPts val="300"/>
              </a:spcAft>
              <a:buFont typeface="Courier New" panose="02070309020205020404" pitchFamily="49" charset="0"/>
              <a:buChar char="o"/>
            </a:pPr>
            <a:r>
              <a:rPr lang="en-US" sz="1200" dirty="0"/>
              <a:t>Number of reported and remediated fires in forest </a:t>
            </a:r>
            <a:r>
              <a:rPr lang="en-US" sz="1200" dirty="0" err="1"/>
              <a:t>areas.Net</a:t>
            </a:r>
            <a:r>
              <a:rPr lang="en-US" sz="1200" dirty="0"/>
              <a:t> CO₂ sink in the LULUCF sector (Gg </a:t>
            </a:r>
            <a:r>
              <a:rPr lang="en-US" sz="1200" dirty="0" err="1"/>
              <a:t>CO₂eq</a:t>
            </a:r>
            <a:r>
              <a:rPr lang="en-US" sz="1200" dirty="0"/>
              <a:t>).</a:t>
            </a:r>
            <a:endParaRPr lang="bs-Latn-BA" sz="1050" dirty="0"/>
          </a:p>
        </p:txBody>
      </p:sp>
      <p:sp>
        <p:nvSpPr>
          <p:cNvPr id="8" name="TextBox 7">
            <a:extLst>
              <a:ext uri="{FF2B5EF4-FFF2-40B4-BE49-F238E27FC236}">
                <a16:creationId xmlns:a16="http://schemas.microsoft.com/office/drawing/2014/main" id="{CE6606E2-F63F-E9D5-1DE9-4C91D793A458}"/>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en-US" sz="2400" dirty="0"/>
              <a:t>Adaptation in forestry, land, and natural ecosystems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0" name="Picture 2" descr="Generated image">
            <a:extLst>
              <a:ext uri="{FF2B5EF4-FFF2-40B4-BE49-F238E27FC236}">
                <a16:creationId xmlns:a16="http://schemas.microsoft.com/office/drawing/2014/main" id="{6E041459-0404-5299-53AE-95F3FD19C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13" y="2013593"/>
            <a:ext cx="2542310" cy="3813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58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AD768-437C-0649-268B-F984BAE748C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B9DCEA3-8761-9A7C-321B-37C1DE58CE1F}"/>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8500B094-E413-8C59-08D8-4A0D84058179}"/>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A72DB8E1-9BE3-4798-C746-12932A0BABBE}"/>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181BB6A-AC3E-6CFD-B1BE-91AA7CDCF612}"/>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43DD6042-F3CD-0F12-AAFB-6A5AEAA126CB}"/>
              </a:ext>
            </a:extLst>
          </p:cNvPr>
          <p:cNvSpPr txBox="1"/>
          <p:nvPr/>
        </p:nvSpPr>
        <p:spPr>
          <a:xfrm>
            <a:off x="4527177" y="2700762"/>
            <a:ext cx="6902823" cy="3970318"/>
          </a:xfrm>
          <a:prstGeom prst="rect">
            <a:avLst/>
          </a:prstGeom>
          <a:noFill/>
        </p:spPr>
        <p:txBody>
          <a:bodyPr wrap="square">
            <a:spAutoFit/>
          </a:bodyPr>
          <a:lstStyle/>
          <a:p>
            <a:r>
              <a:rPr lang="bs-Latn-BA" sz="1400" dirty="0"/>
              <a:t>1️⃣ </a:t>
            </a:r>
            <a:r>
              <a:rPr lang="en-US" sz="1400" b="1" dirty="0"/>
              <a:t>Integrated planning and infrastructure resilience</a:t>
            </a:r>
            <a:endParaRPr lang="bs-Latn-BA" sz="1400" b="1" dirty="0"/>
          </a:p>
          <a:p>
            <a:endParaRPr lang="bs-Latn-BA" sz="1400" dirty="0"/>
          </a:p>
          <a:p>
            <a:pPr marL="573088" indent="-171450">
              <a:buFont typeface="Arial" panose="020B0604020202020204" pitchFamily="34" charset="0"/>
              <a:buChar char="•"/>
            </a:pPr>
            <a:r>
              <a:rPr lang="en-US" sz="1200" dirty="0"/>
              <a:t>Integration of climate risks and scenarios into spatial and urban planning.</a:t>
            </a:r>
          </a:p>
          <a:p>
            <a:pPr marL="573088" indent="-171450">
              <a:buFont typeface="Arial" panose="020B0604020202020204" pitchFamily="34" charset="0"/>
              <a:buChar char="•"/>
            </a:pPr>
            <a:r>
              <a:rPr lang="en-US" sz="1200" dirty="0"/>
              <a:t>Adjustment of infrastructure design standards (roads, bridges, sewerage) to extreme weather conditions.</a:t>
            </a:r>
          </a:p>
          <a:p>
            <a:pPr marL="573088" indent="-171450">
              <a:buFont typeface="Arial" panose="020B0604020202020204" pitchFamily="34" charset="0"/>
              <a:buChar char="•"/>
            </a:pPr>
            <a:r>
              <a:rPr lang="en-US" sz="1200" dirty="0"/>
              <a:t>Introduction of mandatory climate resilience assessments for public investments.</a:t>
            </a:r>
          </a:p>
          <a:p>
            <a:pPr marL="401638"/>
            <a:endParaRPr lang="bs-Latn-BA" sz="1400" dirty="0"/>
          </a:p>
          <a:p>
            <a:r>
              <a:rPr lang="bs-Latn-BA" sz="1400" dirty="0"/>
              <a:t>2️⃣ </a:t>
            </a:r>
            <a:r>
              <a:rPr lang="en-US" sz="1400" b="1" dirty="0"/>
              <a:t>Green and blue infrastructure</a:t>
            </a:r>
            <a:endParaRPr lang="bs-Latn-BA" sz="1400" b="1" dirty="0"/>
          </a:p>
          <a:p>
            <a:endParaRPr lang="bs-Latn-BA" sz="1400" dirty="0"/>
          </a:p>
          <a:p>
            <a:pPr marL="573088" indent="-171450">
              <a:buFont typeface="Arial" panose="020B0604020202020204" pitchFamily="34" charset="0"/>
              <a:buChar char="•"/>
            </a:pPr>
            <a:r>
              <a:rPr lang="en-US" sz="1200" dirty="0"/>
              <a:t>Development of green areas, parks, and urban forests to reduce the urban heat island effect.</a:t>
            </a:r>
          </a:p>
          <a:p>
            <a:pPr marL="573088" indent="-171450">
              <a:buFont typeface="Arial" panose="020B0604020202020204" pitchFamily="34" charset="0"/>
              <a:buChar char="•"/>
            </a:pPr>
            <a:r>
              <a:rPr lang="en-US" sz="1200" dirty="0"/>
              <a:t>Establishment of drainage and water retention systems (blue-green solutions).</a:t>
            </a:r>
          </a:p>
          <a:p>
            <a:pPr marL="573088" indent="-171450">
              <a:buFont typeface="Arial" panose="020B0604020202020204" pitchFamily="34" charset="0"/>
              <a:buChar char="•"/>
            </a:pPr>
            <a:r>
              <a:rPr lang="en-US" sz="1200" dirty="0"/>
              <a:t>Promotion of energy-efficient and resilient buildings.</a:t>
            </a:r>
          </a:p>
          <a:p>
            <a:pPr marL="401638"/>
            <a:endParaRPr lang="bs-Latn-BA" sz="1200" dirty="0"/>
          </a:p>
          <a:p>
            <a:r>
              <a:rPr lang="bs-Latn-BA" sz="1400" dirty="0"/>
              <a:t>3️⃣ </a:t>
            </a:r>
            <a:r>
              <a:rPr lang="en-US" sz="1400" b="1" dirty="0"/>
              <a:t>Health and climate resilience of communities</a:t>
            </a:r>
            <a:endParaRPr lang="bs-Latn-BA" sz="1400" b="1" dirty="0"/>
          </a:p>
          <a:p>
            <a:endParaRPr lang="bs-Latn-BA" sz="1200" dirty="0"/>
          </a:p>
          <a:p>
            <a:pPr marL="573088" indent="-171450">
              <a:buFont typeface="Arial" panose="020B0604020202020204" pitchFamily="34" charset="0"/>
              <a:buChar char="•"/>
            </a:pPr>
            <a:r>
              <a:rPr lang="en-US" sz="1200" dirty="0"/>
              <a:t>Development of health protection plans against heatwaves, pollution, and floods.</a:t>
            </a:r>
          </a:p>
          <a:p>
            <a:pPr marL="573088" indent="-171450">
              <a:buFont typeface="Arial" panose="020B0604020202020204" pitchFamily="34" charset="0"/>
              <a:buChar char="•"/>
            </a:pPr>
            <a:r>
              <a:rPr lang="en-US" sz="1200" dirty="0"/>
              <a:t>Strengthening of public health and disease surveillance systems related to climate impacts.</a:t>
            </a:r>
          </a:p>
          <a:p>
            <a:pPr marL="573088" indent="-171450">
              <a:buFont typeface="Arial" panose="020B0604020202020204" pitchFamily="34" charset="0"/>
              <a:buChar char="•"/>
            </a:pPr>
            <a:r>
              <a:rPr lang="en-US" sz="1200" dirty="0"/>
              <a:t>Public education on risks and preventive measures.</a:t>
            </a:r>
            <a:endParaRPr lang="bs-Latn-BA" sz="1200" dirty="0"/>
          </a:p>
          <a:p>
            <a:pPr marL="403225"/>
            <a:endParaRPr lang="bs-Latn-BA" sz="1200" dirty="0"/>
          </a:p>
        </p:txBody>
      </p:sp>
      <p:sp>
        <p:nvSpPr>
          <p:cNvPr id="9" name="TextBox 8">
            <a:extLst>
              <a:ext uri="{FF2B5EF4-FFF2-40B4-BE49-F238E27FC236}">
                <a16:creationId xmlns:a16="http://schemas.microsoft.com/office/drawing/2014/main" id="{A4887AA5-F887-2983-E8C0-0BDBECFCD8F9}"/>
              </a:ext>
            </a:extLst>
          </p:cNvPr>
          <p:cNvSpPr txBox="1"/>
          <p:nvPr/>
        </p:nvSpPr>
        <p:spPr>
          <a:xfrm>
            <a:off x="216757" y="166929"/>
            <a:ext cx="2499549" cy="1938992"/>
          </a:xfrm>
          <a:prstGeom prst="rect">
            <a:avLst/>
          </a:prstGeom>
          <a:solidFill>
            <a:schemeClr val="bg1"/>
          </a:solidFill>
        </p:spPr>
        <p:txBody>
          <a:bodyPr wrap="square">
            <a:spAutoFit/>
          </a:bodyPr>
          <a:lstStyle/>
          <a:p>
            <a:pPr lvl="0">
              <a:spcBef>
                <a:spcPct val="0"/>
              </a:spcBef>
              <a:defRPr/>
            </a:pPr>
            <a:r>
              <a:rPr lang="en-US" sz="2400" dirty="0"/>
              <a:t>Adaptation in infrastructure, urban development and health</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11" name="TextBox 10">
            <a:extLst>
              <a:ext uri="{FF2B5EF4-FFF2-40B4-BE49-F238E27FC236}">
                <a16:creationId xmlns:a16="http://schemas.microsoft.com/office/drawing/2014/main" id="{CEEB6F97-2FB5-6D38-3EC4-239C8B6BAE26}"/>
              </a:ext>
            </a:extLst>
          </p:cNvPr>
          <p:cNvSpPr txBox="1"/>
          <p:nvPr/>
        </p:nvSpPr>
        <p:spPr>
          <a:xfrm>
            <a:off x="3648634" y="382377"/>
            <a:ext cx="7781366" cy="1415772"/>
          </a:xfrm>
          <a:prstGeom prst="rect">
            <a:avLst/>
          </a:prstGeom>
          <a:noFill/>
        </p:spPr>
        <p:txBody>
          <a:bodyPr wrap="square">
            <a:spAutoFit/>
          </a:bodyPr>
          <a:lstStyle/>
          <a:p>
            <a:r>
              <a:rPr lang="bs-Latn-BA" sz="1600" b="1" dirty="0"/>
              <a:t>💧 </a:t>
            </a:r>
            <a:r>
              <a:rPr lang="en-US" sz="1600" b="1" dirty="0"/>
              <a:t>Context</a:t>
            </a:r>
            <a:endParaRPr lang="bs-Latn-BA" sz="1600" b="1" dirty="0"/>
          </a:p>
          <a:p>
            <a:endParaRPr lang="bs-Latn-BA" sz="1400" dirty="0"/>
          </a:p>
          <a:p>
            <a:r>
              <a:rPr lang="en-US" sz="1400" dirty="0"/>
              <a:t>Bosnia and Herzegovina is increasingly exposed to extreme weather conditions — heatwaves, floods, landslides, and air pollution. These factors threaten public health, urban infrastructure, and quality of life. Adaptation in this sector aims to make cities, settlements, and health systems more resilient to climate change and extreme events.</a:t>
            </a:r>
            <a:endParaRPr lang="bs-Latn-BA" sz="1400" dirty="0"/>
          </a:p>
        </p:txBody>
      </p:sp>
      <p:sp>
        <p:nvSpPr>
          <p:cNvPr id="12" name="TextBox 11">
            <a:extLst>
              <a:ext uri="{FF2B5EF4-FFF2-40B4-BE49-F238E27FC236}">
                <a16:creationId xmlns:a16="http://schemas.microsoft.com/office/drawing/2014/main" id="{C16D06BB-38C4-7127-93F6-C4E56D4BFC97}"/>
              </a:ext>
            </a:extLst>
          </p:cNvPr>
          <p:cNvSpPr txBox="1"/>
          <p:nvPr/>
        </p:nvSpPr>
        <p:spPr>
          <a:xfrm>
            <a:off x="3648634" y="2043661"/>
            <a:ext cx="6096000" cy="369332"/>
          </a:xfrm>
          <a:prstGeom prst="rect">
            <a:avLst/>
          </a:prstGeom>
          <a:noFill/>
        </p:spPr>
        <p:txBody>
          <a:bodyPr wrap="square">
            <a:spAutoFit/>
          </a:bodyPr>
          <a:lstStyle/>
          <a:p>
            <a:r>
              <a:rPr lang="bs-Latn-BA" sz="1800" b="1" dirty="0"/>
              <a:t>🔹 </a:t>
            </a:r>
            <a:r>
              <a:rPr lang="en-US" sz="1800" b="1" dirty="0"/>
              <a:t>Key adaptation measures</a:t>
            </a:r>
            <a:endParaRPr lang="bs-Latn-BA" sz="1800" b="1" dirty="0"/>
          </a:p>
        </p:txBody>
      </p:sp>
      <p:pic>
        <p:nvPicPr>
          <p:cNvPr id="13" name="Picture 2" descr="Generated image">
            <a:extLst>
              <a:ext uri="{FF2B5EF4-FFF2-40B4-BE49-F238E27FC236}">
                <a16:creationId xmlns:a16="http://schemas.microsoft.com/office/drawing/2014/main" id="{46FF909E-3B14-E34F-2C61-4CD43D602D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061" y="2191779"/>
            <a:ext cx="2548421" cy="3822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8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B0A1-280B-9C24-ECAE-807465BB34E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C5FB536-C807-47D7-1340-7ABDECD4804F}"/>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BED810B5-688A-562F-63F8-0457E3337483}"/>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08B58731-414E-6D7F-6BF4-CE940115A83A}"/>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107DA678-D042-BB2F-8832-956A0022FEC6}"/>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11F37677-52DD-2181-6DAD-482A5D6E6218}"/>
              </a:ext>
            </a:extLst>
          </p:cNvPr>
          <p:cNvSpPr txBox="1"/>
          <p:nvPr/>
        </p:nvSpPr>
        <p:spPr>
          <a:xfrm>
            <a:off x="3648634" y="382377"/>
            <a:ext cx="7781366" cy="2069797"/>
          </a:xfrm>
          <a:prstGeom prst="rect">
            <a:avLst/>
          </a:prstGeom>
          <a:noFill/>
        </p:spPr>
        <p:txBody>
          <a:bodyPr wrap="square">
            <a:spAutoFit/>
          </a:bodyPr>
          <a:lstStyle/>
          <a:p>
            <a:r>
              <a:rPr lang="bs-Latn-BA" sz="1600" b="1" dirty="0"/>
              <a:t>🔗 </a:t>
            </a:r>
            <a:r>
              <a:rPr lang="en-US" sz="1600" b="1" dirty="0"/>
              <a:t>Link with strategic documents</a:t>
            </a:r>
            <a:endParaRPr lang="bs-Latn-BA" sz="1600" b="1" dirty="0"/>
          </a:p>
          <a:p>
            <a:endParaRPr lang="bs-Latn-BA" sz="1600" b="1" dirty="0"/>
          </a:p>
          <a:p>
            <a:pPr marL="860425" indent="-285750">
              <a:spcBef>
                <a:spcPts val="300"/>
              </a:spcBef>
              <a:spcAft>
                <a:spcPts val="300"/>
              </a:spcAft>
              <a:buFont typeface="Arial" panose="020B0604020202020204" pitchFamily="34" charset="0"/>
              <a:buChar char="•"/>
            </a:pPr>
            <a:r>
              <a:rPr lang="en-US" sz="1400" b="1" dirty="0"/>
              <a:t>Adaptation Strategy to Climate Change 2020–2030: </a:t>
            </a:r>
            <a:r>
              <a:rPr lang="en-US" sz="1400" dirty="0"/>
              <a:t>includes measures in health, urban planning, and infrastructure.</a:t>
            </a:r>
          </a:p>
          <a:p>
            <a:pPr marL="860425" indent="-285750">
              <a:spcBef>
                <a:spcPts val="300"/>
              </a:spcBef>
              <a:spcAft>
                <a:spcPts val="300"/>
              </a:spcAft>
              <a:buFont typeface="Arial" panose="020B0604020202020204" pitchFamily="34" charset="0"/>
              <a:buChar char="•"/>
            </a:pPr>
            <a:r>
              <a:rPr lang="en-US" sz="1400" b="1" dirty="0"/>
              <a:t>ESAP BiH 2030+: </a:t>
            </a:r>
            <a:r>
              <a:rPr lang="en-US" sz="1400" dirty="0"/>
              <a:t>includes activities for strengthening the resilience of cities, infrastructure, and public health.</a:t>
            </a:r>
          </a:p>
          <a:p>
            <a:pPr marL="860425" indent="-285750">
              <a:spcBef>
                <a:spcPts val="300"/>
              </a:spcBef>
              <a:spcAft>
                <a:spcPts val="300"/>
              </a:spcAft>
              <a:buFont typeface="Arial" panose="020B0604020202020204" pitchFamily="34" charset="0"/>
              <a:buChar char="•"/>
            </a:pPr>
            <a:r>
              <a:rPr lang="en-US" sz="1400" b="1" dirty="0"/>
              <a:t>NECP BiH (Adaptation Report): </a:t>
            </a:r>
            <a:r>
              <a:rPr lang="en-US" sz="1400" dirty="0"/>
              <a:t>defines resilience indicators for urban and health sectors.</a:t>
            </a:r>
            <a:endParaRPr lang="bs-Latn-BA" sz="1400" dirty="0"/>
          </a:p>
        </p:txBody>
      </p:sp>
      <p:sp>
        <p:nvSpPr>
          <p:cNvPr id="2" name="TextBox 1">
            <a:extLst>
              <a:ext uri="{FF2B5EF4-FFF2-40B4-BE49-F238E27FC236}">
                <a16:creationId xmlns:a16="http://schemas.microsoft.com/office/drawing/2014/main" id="{58BC6D3D-4244-4BB8-E5C7-CE109F20DD33}"/>
              </a:ext>
            </a:extLst>
          </p:cNvPr>
          <p:cNvSpPr txBox="1"/>
          <p:nvPr/>
        </p:nvSpPr>
        <p:spPr>
          <a:xfrm>
            <a:off x="4186520" y="2958090"/>
            <a:ext cx="7781366" cy="2731517"/>
          </a:xfrm>
          <a:prstGeom prst="rect">
            <a:avLst/>
          </a:prstGeom>
          <a:noFill/>
        </p:spPr>
        <p:txBody>
          <a:bodyPr wrap="square">
            <a:spAutoFit/>
          </a:bodyPr>
          <a:lstStyle/>
          <a:p>
            <a:r>
              <a:rPr lang="bs-Latn-BA" sz="1600" b="1" dirty="0"/>
              <a:t>📊 </a:t>
            </a:r>
            <a:r>
              <a:rPr lang="en-US" sz="1600" b="1" dirty="0"/>
              <a:t>Reporting and indicators</a:t>
            </a:r>
            <a:endParaRPr lang="bs-Latn-BA" sz="1600" b="1" dirty="0"/>
          </a:p>
          <a:p>
            <a:endParaRPr lang="bs-Latn-BA" sz="1600" b="1" dirty="0"/>
          </a:p>
          <a:p>
            <a:pPr marL="798513" indent="-285750">
              <a:spcBef>
                <a:spcPts val="300"/>
              </a:spcBef>
              <a:spcAft>
                <a:spcPts val="300"/>
              </a:spcAft>
              <a:buFont typeface="Arial" panose="020B0604020202020204" pitchFamily="34" charset="0"/>
              <a:buChar char="•"/>
            </a:pPr>
            <a:r>
              <a:rPr lang="en-US" sz="1400" b="1" dirty="0"/>
              <a:t>Adaptation Report: </a:t>
            </a:r>
            <a:r>
              <a:rPr lang="en-US" sz="1400" dirty="0"/>
              <a:t>overview of measures for strengthening the resilience of infrastructure, buildings, and public health.</a:t>
            </a:r>
          </a:p>
          <a:p>
            <a:pPr marL="798513" indent="-285750">
              <a:spcBef>
                <a:spcPts val="300"/>
              </a:spcBef>
              <a:spcAft>
                <a:spcPts val="300"/>
              </a:spcAft>
              <a:buFont typeface="Arial" panose="020B0604020202020204" pitchFamily="34" charset="0"/>
              <a:buChar char="•"/>
            </a:pPr>
            <a:r>
              <a:rPr lang="en-US" sz="1400" b="1" dirty="0"/>
              <a:t>Energy and Air Quality Progress Report: </a:t>
            </a:r>
            <a:r>
              <a:rPr lang="en-US" sz="1400" dirty="0"/>
              <a:t>indicators of air quality, population exposure, and adaptation of urban systems.</a:t>
            </a:r>
          </a:p>
          <a:p>
            <a:pPr marL="798513" indent="-285750">
              <a:spcBef>
                <a:spcPts val="300"/>
              </a:spcBef>
              <a:spcAft>
                <a:spcPts val="300"/>
              </a:spcAft>
              <a:buFont typeface="Arial" panose="020B0604020202020204" pitchFamily="34" charset="0"/>
              <a:buChar char="•"/>
            </a:pPr>
            <a:r>
              <a:rPr lang="en-US" sz="1400" b="1" dirty="0"/>
              <a:t>Relevant indicators:</a:t>
            </a:r>
          </a:p>
          <a:p>
            <a:pPr marL="1255713" indent="-285750">
              <a:spcBef>
                <a:spcPts val="300"/>
              </a:spcBef>
              <a:spcAft>
                <a:spcPts val="300"/>
              </a:spcAft>
              <a:buFont typeface="Courier New" panose="02070309020205020404" pitchFamily="49" charset="0"/>
              <a:buChar char="o"/>
            </a:pPr>
            <a:r>
              <a:rPr lang="en-US" sz="1200" dirty="0"/>
              <a:t>Number of urban plans incorporating climate risks.</a:t>
            </a:r>
          </a:p>
          <a:p>
            <a:pPr marL="1255713" indent="-285750">
              <a:spcBef>
                <a:spcPts val="300"/>
              </a:spcBef>
              <a:spcAft>
                <a:spcPts val="300"/>
              </a:spcAft>
              <a:buFont typeface="Courier New" panose="02070309020205020404" pitchFamily="49" charset="0"/>
              <a:buChar char="o"/>
            </a:pPr>
            <a:r>
              <a:rPr lang="en-US" sz="1200" dirty="0"/>
              <a:t>Area of green zones in urban areas.</a:t>
            </a:r>
          </a:p>
          <a:p>
            <a:pPr marL="1255713" indent="-285750">
              <a:spcBef>
                <a:spcPts val="300"/>
              </a:spcBef>
              <a:spcAft>
                <a:spcPts val="300"/>
              </a:spcAft>
              <a:buFont typeface="Courier New" panose="02070309020205020404" pitchFamily="49" charset="0"/>
              <a:buChar char="o"/>
            </a:pPr>
            <a:r>
              <a:rPr lang="en-US" sz="1200" dirty="0"/>
              <a:t>Number of health protection plans addressing heatwaves and floods.</a:t>
            </a:r>
            <a:endParaRPr lang="bs-Latn-BA" sz="1100" dirty="0"/>
          </a:p>
        </p:txBody>
      </p:sp>
      <p:sp>
        <p:nvSpPr>
          <p:cNvPr id="9" name="TextBox 8">
            <a:extLst>
              <a:ext uri="{FF2B5EF4-FFF2-40B4-BE49-F238E27FC236}">
                <a16:creationId xmlns:a16="http://schemas.microsoft.com/office/drawing/2014/main" id="{5F979E05-360B-6274-EE0D-C84C6670399A}"/>
              </a:ext>
            </a:extLst>
          </p:cNvPr>
          <p:cNvSpPr txBox="1"/>
          <p:nvPr/>
        </p:nvSpPr>
        <p:spPr>
          <a:xfrm>
            <a:off x="216757" y="166929"/>
            <a:ext cx="2499549" cy="1938992"/>
          </a:xfrm>
          <a:prstGeom prst="rect">
            <a:avLst/>
          </a:prstGeom>
          <a:solidFill>
            <a:schemeClr val="bg1"/>
          </a:solidFill>
        </p:spPr>
        <p:txBody>
          <a:bodyPr wrap="square">
            <a:spAutoFit/>
          </a:bodyPr>
          <a:lstStyle/>
          <a:p>
            <a:pPr lvl="0">
              <a:spcBef>
                <a:spcPct val="0"/>
              </a:spcBef>
              <a:defRPr/>
            </a:pPr>
            <a:r>
              <a:rPr lang="en-US" sz="2400" dirty="0"/>
              <a:t>Adaptation in infrastructure, urban development and health</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0" name="Picture 2" descr="Generated image">
            <a:extLst>
              <a:ext uri="{FF2B5EF4-FFF2-40B4-BE49-F238E27FC236}">
                <a16:creationId xmlns:a16="http://schemas.microsoft.com/office/drawing/2014/main" id="{01B5684A-27E7-5743-509F-39F08F6113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061" y="2191779"/>
            <a:ext cx="2548421" cy="3822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868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3576A-30D9-8EA3-B976-6970C795714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E6B769D-5368-DF55-E6E5-3049140B6D5A}"/>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8FCB5E3C-8F8B-CC97-31FE-A79D08943B82}"/>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AAAEDC59-066F-F05B-06B4-5B10BC44E4F3}"/>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E40BB9A3-2E31-6482-A7B8-D0081ED28F6B}"/>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11F5A724-CE1F-5199-FFB2-DF26B5E696E7}"/>
              </a:ext>
            </a:extLst>
          </p:cNvPr>
          <p:cNvSpPr txBox="1"/>
          <p:nvPr/>
        </p:nvSpPr>
        <p:spPr>
          <a:xfrm>
            <a:off x="3648634" y="382377"/>
            <a:ext cx="7781366" cy="3516347"/>
          </a:xfrm>
          <a:prstGeom prst="rect">
            <a:avLst/>
          </a:prstGeom>
          <a:noFill/>
        </p:spPr>
        <p:txBody>
          <a:bodyPr wrap="square">
            <a:spAutoFit/>
          </a:bodyPr>
          <a:lstStyle/>
          <a:p>
            <a:r>
              <a:rPr lang="bs-Latn-BA" sz="1600" dirty="0"/>
              <a:t>⚙️ </a:t>
            </a:r>
            <a:r>
              <a:rPr lang="bs-Latn-BA" sz="1600" b="1" dirty="0" err="1"/>
              <a:t>Systemic</a:t>
            </a:r>
            <a:r>
              <a:rPr lang="bs-Latn-BA" sz="1600" b="1" dirty="0"/>
              <a:t> </a:t>
            </a:r>
            <a:r>
              <a:rPr lang="bs-Latn-BA" sz="1600" b="1" dirty="0" err="1"/>
              <a:t>Measures</a:t>
            </a:r>
            <a:endParaRPr lang="bs-Latn-BA" sz="1600" b="1" dirty="0"/>
          </a:p>
          <a:p>
            <a:endParaRPr lang="bs-Latn-BA" sz="1600" dirty="0"/>
          </a:p>
          <a:p>
            <a:pPr marL="627063" indent="-285750">
              <a:spcBef>
                <a:spcPts val="300"/>
              </a:spcBef>
              <a:spcAft>
                <a:spcPts val="300"/>
              </a:spcAft>
              <a:buFont typeface="Arial" panose="020B0604020202020204" pitchFamily="34" charset="0"/>
              <a:buChar char="•"/>
            </a:pPr>
            <a:r>
              <a:rPr lang="en-US" sz="1400" dirty="0"/>
              <a:t>Establishment of a Monitoring, Reporting and Verification (MRV) system for climate change adaptation, integrated within the framework of the Integrated Energy and Climate Plan of Bosnia and Herzegovina (NECP BiH).</a:t>
            </a:r>
          </a:p>
          <a:p>
            <a:pPr marL="627063" indent="-285750">
              <a:spcBef>
                <a:spcPts val="300"/>
              </a:spcBef>
              <a:spcAft>
                <a:spcPts val="300"/>
              </a:spcAft>
              <a:buFont typeface="Arial" panose="020B0604020202020204" pitchFamily="34" charset="0"/>
              <a:buChar char="•"/>
            </a:pPr>
            <a:r>
              <a:rPr lang="en-US" sz="1400" dirty="0"/>
              <a:t>Development of a central database on climate risks and vulnerabilities in accordance with INSPIRE standards and connection with EU and regional networks.</a:t>
            </a:r>
          </a:p>
          <a:p>
            <a:pPr marL="627063" indent="-285750">
              <a:spcBef>
                <a:spcPts val="300"/>
              </a:spcBef>
              <a:spcAft>
                <a:spcPts val="300"/>
              </a:spcAft>
              <a:buFont typeface="Arial" panose="020B0604020202020204" pitchFamily="34" charset="0"/>
              <a:buChar char="•"/>
            </a:pPr>
            <a:r>
              <a:rPr lang="en-US" sz="1400" dirty="0"/>
              <a:t>Establishment of an intersectoral coordination mechanism for adaptation involving institutions from the sectors of environment, energy, agriculture, health, water, and spatial planning.</a:t>
            </a:r>
          </a:p>
          <a:p>
            <a:pPr marL="627063" indent="-285750">
              <a:spcBef>
                <a:spcPts val="300"/>
              </a:spcBef>
              <a:spcAft>
                <a:spcPts val="300"/>
              </a:spcAft>
              <a:buFont typeface="Arial" panose="020B0604020202020204" pitchFamily="34" charset="0"/>
              <a:buChar char="•"/>
            </a:pPr>
            <a:r>
              <a:rPr lang="en-US" sz="1400" dirty="0"/>
              <a:t>Integration of adaptation measures into public investment systems, budget planning, and assessment of climate risk costs.</a:t>
            </a:r>
          </a:p>
          <a:p>
            <a:pPr marL="627063" indent="-285750">
              <a:spcBef>
                <a:spcPts val="300"/>
              </a:spcBef>
              <a:spcAft>
                <a:spcPts val="300"/>
              </a:spcAft>
              <a:buFont typeface="Arial" panose="020B0604020202020204" pitchFamily="34" charset="0"/>
              <a:buChar char="•"/>
            </a:pPr>
            <a:r>
              <a:rPr lang="en-US" sz="1400" dirty="0"/>
              <a:t>Inclusion of climate adaptation topics in educational curricula, research projects, and professional training programs for public officials.</a:t>
            </a:r>
            <a:endParaRPr lang="bs-Latn-BA" sz="1400" dirty="0"/>
          </a:p>
        </p:txBody>
      </p:sp>
      <p:sp>
        <p:nvSpPr>
          <p:cNvPr id="2" name="TextBox 1">
            <a:extLst>
              <a:ext uri="{FF2B5EF4-FFF2-40B4-BE49-F238E27FC236}">
                <a16:creationId xmlns:a16="http://schemas.microsoft.com/office/drawing/2014/main" id="{1BF4DF49-A910-ACD2-2D99-AB4C845F0D6D}"/>
              </a:ext>
            </a:extLst>
          </p:cNvPr>
          <p:cNvSpPr txBox="1"/>
          <p:nvPr/>
        </p:nvSpPr>
        <p:spPr>
          <a:xfrm>
            <a:off x="3648634" y="4003495"/>
            <a:ext cx="7781366" cy="2000548"/>
          </a:xfrm>
          <a:prstGeom prst="rect">
            <a:avLst/>
          </a:prstGeom>
          <a:noFill/>
        </p:spPr>
        <p:txBody>
          <a:bodyPr wrap="square">
            <a:spAutoFit/>
          </a:bodyPr>
          <a:lstStyle/>
          <a:p>
            <a:r>
              <a:rPr lang="bs-Latn-BA" sz="1600" b="1" dirty="0"/>
              <a:t>📊 </a:t>
            </a:r>
            <a:r>
              <a:rPr lang="en-US" sz="1600" b="1" dirty="0"/>
              <a:t>Reporting and indicators</a:t>
            </a:r>
            <a:endParaRPr lang="bs-Latn-BA" sz="1600" b="1" dirty="0"/>
          </a:p>
          <a:p>
            <a:endParaRPr lang="bs-Latn-BA" sz="1600" b="1" dirty="0"/>
          </a:p>
          <a:p>
            <a:pPr marL="798513" indent="-285750">
              <a:buFont typeface="Arial" panose="020B0604020202020204" pitchFamily="34" charset="0"/>
              <a:buChar char="•"/>
            </a:pPr>
            <a:r>
              <a:rPr lang="en-US" sz="1400" b="1" dirty="0"/>
              <a:t>Adaptation Report: </a:t>
            </a:r>
            <a:r>
              <a:rPr lang="en-US" sz="1400" dirty="0"/>
              <a:t>presents institutional progress, coordination, and implemented measures.</a:t>
            </a:r>
          </a:p>
          <a:p>
            <a:pPr marL="798513" indent="-285750">
              <a:buFont typeface="Arial" panose="020B0604020202020204" pitchFamily="34" charset="0"/>
              <a:buChar char="•"/>
            </a:pPr>
            <a:r>
              <a:rPr lang="en-US" sz="1400" b="1" dirty="0" err="1"/>
              <a:t>PaMs</a:t>
            </a:r>
            <a:r>
              <a:rPr lang="en-US" sz="1400" b="1" dirty="0"/>
              <a:t> Report: </a:t>
            </a:r>
            <a:r>
              <a:rPr lang="en-US" sz="1400" dirty="0"/>
              <a:t>covers systemic and horizontal activities related to climate adaptation.</a:t>
            </a:r>
          </a:p>
          <a:p>
            <a:pPr marL="798513" indent="-285750">
              <a:buFont typeface="Arial" panose="020B0604020202020204" pitchFamily="34" charset="0"/>
              <a:buChar char="•"/>
            </a:pPr>
            <a:r>
              <a:rPr lang="en-US" sz="1400" b="1" dirty="0"/>
              <a:t>Relevant indicators:</a:t>
            </a:r>
          </a:p>
          <a:p>
            <a:pPr marL="1371600" indent="-285750">
              <a:buFont typeface="Courier New" panose="02070309020205020404" pitchFamily="49" charset="0"/>
              <a:buChar char="o"/>
            </a:pPr>
            <a:r>
              <a:rPr lang="en-US" sz="1200" dirty="0"/>
              <a:t>Number of established MRV mechanisms for adaptation;</a:t>
            </a:r>
          </a:p>
          <a:p>
            <a:pPr marL="1371600" indent="-285750">
              <a:buFont typeface="Courier New" panose="02070309020205020404" pitchFamily="49" charset="0"/>
              <a:buChar char="o"/>
            </a:pPr>
            <a:r>
              <a:rPr lang="en-US" sz="1200" dirty="0"/>
              <a:t>Number of institutions involved in the coordination system;</a:t>
            </a:r>
          </a:p>
          <a:p>
            <a:pPr marL="1371600" indent="-285750">
              <a:buFont typeface="Courier New" panose="02070309020205020404" pitchFamily="49" charset="0"/>
              <a:buChar char="o"/>
            </a:pPr>
            <a:r>
              <a:rPr lang="en-US" sz="1200" dirty="0"/>
              <a:t>Number of projects that integrate adaptation into budget planning.</a:t>
            </a:r>
            <a:endParaRPr lang="bs-Latn-BA" sz="1050" dirty="0"/>
          </a:p>
        </p:txBody>
      </p:sp>
      <p:sp>
        <p:nvSpPr>
          <p:cNvPr id="8" name="TextBox 7">
            <a:extLst>
              <a:ext uri="{FF2B5EF4-FFF2-40B4-BE49-F238E27FC236}">
                <a16:creationId xmlns:a16="http://schemas.microsoft.com/office/drawing/2014/main" id="{40AB9F2A-D71E-6754-466B-89834F0C9B43}"/>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Institutional and horizontal measures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7413" name="Picture 5" descr="Generated image">
            <a:extLst>
              <a:ext uri="{FF2B5EF4-FFF2-40B4-BE49-F238E27FC236}">
                <a16:creationId xmlns:a16="http://schemas.microsoft.com/office/drawing/2014/main" id="{95295616-8A90-FA83-A450-D9ACDEABD0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306" y="1927458"/>
            <a:ext cx="228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185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6F69-AB00-8A45-1404-0E30E0922FF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36CC63D-5A32-FEE6-0AA9-3F51CD1D3C6E}"/>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382EE39B-C554-D477-C41B-D29F991E326F}"/>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D75D2F42-A796-39BD-2D35-71208FB3E108}"/>
              </a:ext>
            </a:extLst>
          </p:cNvPr>
          <p:cNvSpPr/>
          <p:nvPr/>
        </p:nvSpPr>
        <p:spPr>
          <a:xfrm>
            <a:off x="7001025" y="4624421"/>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EA115BF2-58E4-E50D-CDF6-D05E4B60A5CB}"/>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F5BF9F4C-0906-40EE-AF96-A9B657F2620A}"/>
              </a:ext>
            </a:extLst>
          </p:cNvPr>
          <p:cNvSpPr txBox="1"/>
          <p:nvPr/>
        </p:nvSpPr>
        <p:spPr>
          <a:xfrm>
            <a:off x="3648633" y="830612"/>
            <a:ext cx="8326609" cy="4985980"/>
          </a:xfrm>
          <a:prstGeom prst="rect">
            <a:avLst/>
          </a:prstGeom>
          <a:noFill/>
        </p:spPr>
        <p:txBody>
          <a:bodyPr wrap="square">
            <a:spAutoFit/>
          </a:bodyPr>
          <a:lstStyle/>
          <a:p>
            <a:r>
              <a:rPr lang="bs-Latn-BA" sz="1600" dirty="0"/>
              <a:t>🌍 </a:t>
            </a:r>
            <a:r>
              <a:rPr lang="en-US" sz="1600" dirty="0"/>
              <a:t>Three processes</a:t>
            </a:r>
            <a:endParaRPr lang="bs-Latn-BA" sz="1600" dirty="0"/>
          </a:p>
          <a:p>
            <a:endParaRPr lang="en-US" sz="1600" dirty="0"/>
          </a:p>
          <a:p>
            <a:r>
              <a:rPr lang="en-US" sz="1400" dirty="0"/>
              <a:t>The Adaptation Strategy, ESAP BiH 2030+, and NECP BiH together form a framework for strengthening the resilience of society, the economy, and ecosystems.</a:t>
            </a:r>
            <a:r>
              <a:rPr lang="bs-Latn-BA" sz="1400" dirty="0"/>
              <a:t>, ESAP BiH 2030+ i NECP BiH zajedno čine okvir za jačanje otpornosti društva, privrede i ekosistema.</a:t>
            </a:r>
          </a:p>
          <a:p>
            <a:endParaRPr lang="en-US" sz="1600" dirty="0"/>
          </a:p>
          <a:p>
            <a:endParaRPr lang="bs-Latn-BA" sz="1600" dirty="0"/>
          </a:p>
          <a:p>
            <a:r>
              <a:rPr lang="bs-Latn-BA" sz="1600" dirty="0"/>
              <a:t>⚙️ </a:t>
            </a:r>
            <a:r>
              <a:rPr lang="bs-Latn-BA" sz="1600" dirty="0" err="1"/>
              <a:t>Guidelines</a:t>
            </a:r>
            <a:r>
              <a:rPr lang="bs-Latn-BA" sz="1600" dirty="0"/>
              <a:t> </a:t>
            </a:r>
            <a:r>
              <a:rPr lang="bs-Latn-BA" sz="1600" dirty="0" err="1"/>
              <a:t>for</a:t>
            </a:r>
            <a:r>
              <a:rPr lang="bs-Latn-BA" sz="1600" dirty="0"/>
              <a:t> </a:t>
            </a:r>
            <a:r>
              <a:rPr lang="bs-Latn-BA" sz="1600" dirty="0" err="1"/>
              <a:t>Further</a:t>
            </a:r>
            <a:r>
              <a:rPr lang="bs-Latn-BA" sz="1600" dirty="0"/>
              <a:t> Development</a:t>
            </a:r>
          </a:p>
          <a:p>
            <a:endParaRPr lang="bs-Latn-BA" sz="1600" dirty="0"/>
          </a:p>
          <a:p>
            <a:pPr marL="627063" indent="-285750">
              <a:spcBef>
                <a:spcPts val="300"/>
              </a:spcBef>
              <a:spcAft>
                <a:spcPts val="300"/>
              </a:spcAft>
              <a:buFont typeface="Arial" panose="020B0604020202020204" pitchFamily="34" charset="0"/>
              <a:buChar char="•"/>
            </a:pPr>
            <a:r>
              <a:rPr lang="en-US" sz="1400" dirty="0"/>
              <a:t>Establish a coordinated adaptation system (institutions, MRV, databases).</a:t>
            </a:r>
          </a:p>
          <a:p>
            <a:pPr marL="627063" indent="-285750">
              <a:spcBef>
                <a:spcPts val="300"/>
              </a:spcBef>
              <a:spcAft>
                <a:spcPts val="300"/>
              </a:spcAft>
              <a:buFont typeface="Arial" panose="020B0604020202020204" pitchFamily="34" charset="0"/>
              <a:buChar char="•"/>
            </a:pPr>
            <a:r>
              <a:rPr lang="en-US" sz="1400" dirty="0"/>
              <a:t>Integrate climate risks into planning and public investments.</a:t>
            </a:r>
          </a:p>
          <a:p>
            <a:pPr marL="627063" indent="-285750">
              <a:spcBef>
                <a:spcPts val="300"/>
              </a:spcBef>
              <a:spcAft>
                <a:spcPts val="300"/>
              </a:spcAft>
              <a:buFont typeface="Arial" panose="020B0604020202020204" pitchFamily="34" charset="0"/>
              <a:buChar char="•"/>
            </a:pPr>
            <a:r>
              <a:rPr lang="en-US" sz="1400" dirty="0"/>
              <a:t>Strengthen education, research, and cooperation with EU initiatives.</a:t>
            </a:r>
          </a:p>
          <a:p>
            <a:pPr marL="627063" indent="-285750">
              <a:spcBef>
                <a:spcPts val="300"/>
              </a:spcBef>
              <a:spcAft>
                <a:spcPts val="300"/>
              </a:spcAft>
              <a:buFont typeface="Arial" panose="020B0604020202020204" pitchFamily="34" charset="0"/>
              <a:buChar char="•"/>
            </a:pPr>
            <a:r>
              <a:rPr lang="en-US" sz="1400" dirty="0"/>
              <a:t>The Adaptation Strategy, ESAP BiH 2030+, NECP BiH, and the forthcoming Long-Term Strategy together form a comprehensive framework for strengthening the resilience of society, the economy, and ecosystems, while further integrating and aligning the national adaptation policy framework.</a:t>
            </a:r>
          </a:p>
          <a:p>
            <a:endParaRPr lang="bs-Latn-BA" sz="1600" dirty="0"/>
          </a:p>
          <a:p>
            <a:r>
              <a:rPr lang="bs-Latn-BA" sz="1600" dirty="0"/>
              <a:t>📈 </a:t>
            </a:r>
            <a:r>
              <a:rPr lang="bs-Latn-BA" sz="1600" dirty="0" err="1"/>
              <a:t>Message</a:t>
            </a:r>
            <a:r>
              <a:rPr lang="bs-Latn-BA" sz="1600" dirty="0"/>
              <a:t>:</a:t>
            </a:r>
          </a:p>
          <a:p>
            <a:endParaRPr lang="bs-Latn-BA" sz="1600" dirty="0"/>
          </a:p>
          <a:p>
            <a:r>
              <a:rPr lang="en-US" sz="1400" dirty="0"/>
              <a:t>“Adaptation must become an integral part of all development policies in Bosnia and Herzegovina.”</a:t>
            </a:r>
            <a:endParaRPr lang="bs-Latn-BA" sz="1200" dirty="0"/>
          </a:p>
        </p:txBody>
      </p:sp>
      <p:sp>
        <p:nvSpPr>
          <p:cNvPr id="8" name="TextBox 7">
            <a:extLst>
              <a:ext uri="{FF2B5EF4-FFF2-40B4-BE49-F238E27FC236}">
                <a16:creationId xmlns:a16="http://schemas.microsoft.com/office/drawing/2014/main" id="{42E66E8E-A48D-9BAB-C910-3C8D1C1F90BC}"/>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bs-Latn-BA" sz="2400"/>
              <a:t>Conclusions</a:t>
            </a:r>
            <a:r>
              <a:rPr lang="bs-Latn-BA" sz="2400" dirty="0"/>
              <a:t> </a:t>
            </a:r>
            <a:r>
              <a:rPr lang="bs-Latn-BA" sz="2400" dirty="0" err="1"/>
              <a:t>and</a:t>
            </a:r>
            <a:r>
              <a:rPr lang="bs-Latn-BA" sz="2400" dirty="0"/>
              <a:t> </a:t>
            </a:r>
            <a:r>
              <a:rPr lang="bs-Latn-BA" sz="2400" dirty="0" err="1"/>
              <a:t>Guidelines</a:t>
            </a:r>
            <a:endParaRPr lang="bs-Latn-BA" sz="2400" dirty="0"/>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3601225133"/>
      </p:ext>
    </p:extLst>
  </p:cSld>
  <p:clrMapOvr>
    <a:masterClrMapping/>
  </p:clrMapOvr>
</p:sld>
</file>

<file path=ppt/theme/theme1.xml><?xml version="1.0" encoding="utf-8"?>
<a:theme xmlns:a="http://schemas.openxmlformats.org/drawingml/2006/main" name="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2.xml><?xml version="1.0" encoding="utf-8"?>
<a:theme xmlns:a="http://schemas.openxmlformats.org/drawingml/2006/main" name="1_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FAB716-C975-E841-9027-B5D433233620}">
  <we:reference id="b0430364-2ab6-47cd-907e-f8b72239b204" version="3.6.75.0" store="EXCatalog" storeType="EXCatalog"/>
  <we:alternateReferences>
    <we:reference id="WA200000729" version="3.6.75.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A489C5-7C26-4BB3-BA6B-B391E0A07E0E}">
  <ds:schemaRefs>
    <ds:schemaRef ds:uri="112abd94-4676-43d0-9ada-c6aee51e5f84"/>
    <ds:schemaRef ds:uri="21b96c4b-431b-4a2c-9cee-fbdc6210ba9c"/>
    <ds:schemaRef ds:uri="a5ef6e76-0b70-4e5a-a01b-501d28be60df"/>
    <ds:schemaRef ds:uri="c487dd7b-52d8-44d7-9025-0427c417060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1CF7C15-B39C-405E-8037-5708383EF63F}"/>
</file>

<file path=customXml/itemProps3.xml><?xml version="1.0" encoding="utf-8"?>
<ds:datastoreItem xmlns:ds="http://schemas.openxmlformats.org/officeDocument/2006/customXml" ds:itemID="{4A60407A-3A6A-443A-BDC5-B322C26861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Short presentation July22-DAIET20001</Template>
  <TotalTime>9436</TotalTime>
  <Words>2801</Words>
  <Application>Microsoft Office PowerPoint</Application>
  <PresentationFormat>Widescreen</PresentationFormat>
  <Paragraphs>318</Paragraphs>
  <Slides>17</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Cambria</vt:lpstr>
      <vt:lpstr>Courier New</vt:lpstr>
      <vt:lpstr>Wingdings</vt:lpstr>
      <vt:lpstr>DAI Master theme</vt:lpstr>
      <vt:lpstr>1_DAI Master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Donald Lunan</dc:creator>
  <cp:keywords/>
  <dc:description/>
  <cp:lastModifiedBy>goran krstovic</cp:lastModifiedBy>
  <cp:revision>187</cp:revision>
  <dcterms:created xsi:type="dcterms:W3CDTF">2022-08-04T23:18:15Z</dcterms:created>
  <dcterms:modified xsi:type="dcterms:W3CDTF">2025-10-08T07:18:46Z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188000</vt:r8>
  </property>
  <property fmtid="{D5CDD505-2E9C-101B-9397-08002B2CF9AE}" pid="5" name="xd_Signature">
    <vt:bool>false</vt:bool>
  </property>
  <property fmtid="{D5CDD505-2E9C-101B-9397-08002B2CF9AE}" pid="6" name="SharedWithUsers">
    <vt:lpwstr>259;#William Gee;#21;#Catherine Wallis;#19;#Sofia Martinez</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