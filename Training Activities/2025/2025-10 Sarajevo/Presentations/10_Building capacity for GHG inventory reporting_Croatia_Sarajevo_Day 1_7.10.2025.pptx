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  <p:sldMasterId id="2147483660" r:id="rId5"/>
  </p:sldMasterIdLst>
  <p:notesMasterIdLst>
    <p:notesMasterId r:id="rId20"/>
  </p:notesMasterIdLst>
  <p:sldIdLst>
    <p:sldId id="257" r:id="rId6"/>
    <p:sldId id="258" r:id="rId7"/>
    <p:sldId id="298" r:id="rId8"/>
    <p:sldId id="261" r:id="rId9"/>
    <p:sldId id="264" r:id="rId10"/>
    <p:sldId id="263" r:id="rId11"/>
    <p:sldId id="299" r:id="rId12"/>
    <p:sldId id="265" r:id="rId13"/>
    <p:sldId id="300" r:id="rId14"/>
    <p:sldId id="295" r:id="rId15"/>
    <p:sldId id="266" r:id="rId16"/>
    <p:sldId id="296" r:id="rId17"/>
    <p:sldId id="297" r:id="rId18"/>
    <p:sldId id="259" r:id="rId19"/>
  </p:sldIdLst>
  <p:sldSz cx="12192000" cy="6858000"/>
  <p:notesSz cx="6858000" cy="9144000"/>
  <p:embeddedFontLst>
    <p:embeddedFont>
      <p:font typeface="ＭＳ Ｐゴシック" panose="020B0600070205080204" pitchFamily="34" charset="-128"/>
      <p:regular r:id="rId21"/>
    </p:embeddedFont>
    <p:embeddedFont>
      <p:font typeface="VladaRHSerif Bk" panose="02000000000000000000" charset="-18"/>
      <p:regular r:id="rId22"/>
      <p:italic r:id="rId23"/>
    </p:embeddedFont>
    <p:embeddedFont>
      <p:font typeface="VladaRHSerif Bld" panose="02000000000000000000" charset="-18"/>
      <p:bold r:id="rId24"/>
      <p:boldItalic r:id="rId25"/>
    </p:embeddedFont>
    <p:embeddedFont>
      <p:font typeface="VladaRHSerif Lt" panose="02000000000000000000" charset="-18"/>
      <p:regular r:id="rId26"/>
      <p:italic r:id="rId27"/>
    </p:embeddedFont>
    <p:embeddedFont>
      <p:font typeface="VladaRHSerif Reg" panose="02000000000000000000" charset="-18"/>
      <p:regular r:id="rId28"/>
      <p:italic r:id="rId29"/>
    </p:embeddedFont>
  </p:embeddedFontLst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B738B-AC3F-4A34-B803-32FA28642E8F}" type="datetimeFigureOut">
              <a:rPr lang="hr-HR" smtClean="0"/>
              <a:t>3.10.2025.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42D88E-36C9-4A52-A296-93CCDB8B18EC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0297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2D88E-36C9-4A52-A296-93CCDB8B18EC}" type="slidenum">
              <a:rPr lang="hr-HR" smtClean="0"/>
              <a:t>13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56739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2682241" y="2594610"/>
            <a:ext cx="8612427" cy="83439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000" b="0" i="0">
                <a:latin typeface="VladaRHSerif Lt" panose="02000000000000000000" pitchFamily="50" charset="-18"/>
                <a:ea typeface="VladaRHSerif Lt" panose="02000000000000000000" pitchFamily="50" charset="-18"/>
                <a:cs typeface="VladaRHSerif Lt" panose="02000000000000000000" pitchFamily="50" charset="-18"/>
              </a:defRPr>
            </a:lvl1pPr>
          </a:lstStyle>
          <a:p>
            <a:r>
              <a:rPr lang="en-US" dirty="0" err="1"/>
              <a:t>Tema</a:t>
            </a:r>
            <a:r>
              <a:rPr lang="en-US" dirty="0"/>
              <a:t> </a:t>
            </a:r>
            <a:r>
              <a:rPr lang="en-US" dirty="0" err="1"/>
              <a:t>prezentacije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82241" y="3543300"/>
            <a:ext cx="8612427" cy="1463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 b="1" i="0">
                <a:latin typeface="VladaRHSerif Bld" panose="02000000000000000000" pitchFamily="50" charset="-18"/>
                <a:ea typeface="VladaRHSerif Bld" panose="02000000000000000000" pitchFamily="50" charset="-18"/>
                <a:cs typeface="VladaRHSerif Bld" panose="02000000000000000000" pitchFamily="50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Podnaslov</a:t>
            </a:r>
            <a:r>
              <a:rPr lang="en-US" dirty="0"/>
              <a:t> </a:t>
            </a:r>
            <a:r>
              <a:rPr lang="en-US" dirty="0" err="1"/>
              <a:t>prezentacije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682241" y="5577938"/>
            <a:ext cx="8612427" cy="244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VladaRHSerif Reg" panose="02000000000000000000" pitchFamily="50" charset="-18"/>
                <a:ea typeface="VladaRHSerif Reg" panose="02000000000000000000" pitchFamily="50" charset="-18"/>
                <a:cs typeface="VladaRHSerif Reg" panose="02000000000000000000" pitchFamily="50" charset="-1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hr-HR" dirty="0"/>
              <a:t>Zavoda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1" hasCustomPrompt="1"/>
          </p:nvPr>
        </p:nvSpPr>
        <p:spPr>
          <a:xfrm>
            <a:off x="2682241" y="6226666"/>
            <a:ext cx="8612427" cy="2385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VladaRHSerif Lt" panose="02000000000000000000" pitchFamily="50" charset="-18"/>
                <a:ea typeface="VladaRHSerif Lt" panose="02000000000000000000" pitchFamily="50" charset="-18"/>
                <a:cs typeface="VladaRHSerif Lt" panose="02000000000000000000" pitchFamily="50" charset="-1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Zagreb, </a:t>
            </a:r>
            <a:r>
              <a:rPr lang="hr-HR" dirty="0"/>
              <a:t>24</a:t>
            </a:r>
            <a:r>
              <a:rPr lang="en-US" dirty="0"/>
              <a:t>.12.20</a:t>
            </a:r>
            <a:r>
              <a:rPr lang="hr-HR" dirty="0"/>
              <a:t>24</a:t>
            </a:r>
            <a:r>
              <a:rPr lang="en-US" dirty="0"/>
              <a:t>.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2" hasCustomPrompt="1"/>
          </p:nvPr>
        </p:nvSpPr>
        <p:spPr>
          <a:xfrm>
            <a:off x="2682241" y="5288157"/>
            <a:ext cx="8612427" cy="244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VladaRHSerif Bk" panose="02000000000000000000" pitchFamily="50" charset="-18"/>
                <a:ea typeface="VladaRHSerif Bk" panose="02000000000000000000" pitchFamily="50" charset="-18"/>
                <a:cs typeface="VladaRHSerif Bk" panose="02000000000000000000" pitchFamily="50" charset="-1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 dirty="0"/>
              <a:t>Autor prezentacije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796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DE38-7FB6-4B2B-AAB8-F3F4584C88F7}" type="datetimeFigureOut">
              <a:rPr lang="hr-HR" smtClean="0"/>
              <a:t>3.10.2025.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90B7-8222-4E2E-BD05-BE082CB0458B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40728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DE38-7FB6-4B2B-AAB8-F3F4584C88F7}" type="datetimeFigureOut">
              <a:rPr lang="hr-HR" smtClean="0"/>
              <a:t>3.10.2025.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90B7-8222-4E2E-BD05-BE082CB0458B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55284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DE38-7FB6-4B2B-AAB8-F3F4584C88F7}" type="datetimeFigureOut">
              <a:rPr lang="hr-HR" smtClean="0"/>
              <a:t>3.10.2025.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90B7-8222-4E2E-BD05-BE082CB0458B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62700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DE38-7FB6-4B2B-AAB8-F3F4584C88F7}" type="datetimeFigureOut">
              <a:rPr lang="hr-HR" smtClean="0"/>
              <a:t>3.10.2025.</a:t>
            </a:fld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90B7-8222-4E2E-BD05-BE082CB0458B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39552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DE38-7FB6-4B2B-AAB8-F3F4584C88F7}" type="datetimeFigureOut">
              <a:rPr lang="hr-HR" smtClean="0"/>
              <a:t>3.10.2025.</a:t>
            </a:fld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90B7-8222-4E2E-BD05-BE082CB0458B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38247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DE38-7FB6-4B2B-AAB8-F3F4584C88F7}" type="datetimeFigureOut">
              <a:rPr lang="hr-HR" smtClean="0"/>
              <a:t>3.10.2025.</a:t>
            </a:fld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90B7-8222-4E2E-BD05-BE082CB0458B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52268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DE38-7FB6-4B2B-AAB8-F3F4584C88F7}" type="datetimeFigureOut">
              <a:rPr lang="hr-HR" smtClean="0"/>
              <a:t>3.10.2025.</a:t>
            </a:fld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90B7-8222-4E2E-BD05-BE082CB0458B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98414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DE38-7FB6-4B2B-AAB8-F3F4584C88F7}" type="datetimeFigureOut">
              <a:rPr lang="hr-HR" smtClean="0"/>
              <a:t>3.10.2025.</a:t>
            </a:fld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90B7-8222-4E2E-BD05-BE082CB0458B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45179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DE38-7FB6-4B2B-AAB8-F3F4584C88F7}" type="datetimeFigureOut">
              <a:rPr lang="hr-HR" smtClean="0"/>
              <a:t>3.10.2025.</a:t>
            </a:fld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90B7-8222-4E2E-BD05-BE082CB0458B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99205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DE38-7FB6-4B2B-AAB8-F3F4584C88F7}" type="datetimeFigureOut">
              <a:rPr lang="hr-HR" smtClean="0"/>
              <a:t>3.10.2025.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90B7-8222-4E2E-BD05-BE082CB0458B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75578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DE38-7FB6-4B2B-AAB8-F3F4584C88F7}" type="datetimeFigureOut">
              <a:rPr lang="hr-HR" smtClean="0"/>
              <a:t>3.10.2025.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90B7-8222-4E2E-BD05-BE082CB0458B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853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1"/>
          <a:stretch/>
        </p:blipFill>
        <p:spPr>
          <a:xfrm>
            <a:off x="-12700" y="0"/>
            <a:ext cx="13695042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2045" y="-1"/>
            <a:ext cx="4748092" cy="163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668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7388"/>
            <a:ext cx="11401168" cy="548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3340" y="365125"/>
            <a:ext cx="100604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r-HR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340" y="1825625"/>
            <a:ext cx="1006045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r-H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858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VladaRHSerif Lt" panose="02000000000000000000" pitchFamily="50" charset="-18"/>
                <a:ea typeface="VladaRHSerif Lt" panose="02000000000000000000" pitchFamily="50" charset="-18"/>
              </a:defRPr>
            </a:lvl1pPr>
          </a:lstStyle>
          <a:p>
            <a:fld id="{29B7DE38-7FB6-4B2B-AAB8-F3F4584C88F7}" type="datetimeFigureOut">
              <a:rPr lang="hr-HR" smtClean="0"/>
              <a:pPr/>
              <a:t>3.10.2025.</a:t>
            </a:fld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07302" y="6356350"/>
            <a:ext cx="5773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VladaRHSerif Lt" panose="02000000000000000000" pitchFamily="50" charset="-18"/>
                <a:ea typeface="VladaRHSerif Lt" panose="02000000000000000000" pitchFamily="50" charset="-18"/>
              </a:defRPr>
            </a:lvl1pPr>
          </a:lstStyle>
          <a:p>
            <a:fld id="{AB9690B7-8222-4E2E-BD05-BE082CB0458B}" type="slidenum">
              <a:rPr lang="hr-HR" smtClean="0"/>
              <a:pPr/>
              <a:t>‹#›</a:t>
            </a:fld>
            <a:endParaRPr lang="hr-HR" dirty="0"/>
          </a:p>
        </p:txBody>
      </p:sp>
      <p:sp>
        <p:nvSpPr>
          <p:cNvPr id="8" name="Rectangle 9"/>
          <p:cNvSpPr>
            <a:spLocks noChangeArrowheads="1"/>
          </p:cNvSpPr>
          <p:nvPr userDrawn="1"/>
        </p:nvSpPr>
        <p:spPr bwMode="auto">
          <a:xfrm>
            <a:off x="7736217" y="6289048"/>
            <a:ext cx="375455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r" eaLnBrk="1" hangingPunct="1"/>
            <a:r>
              <a:rPr lang="en-US" altLang="en-US" sz="1100" dirty="0">
                <a:solidFill>
                  <a:srgbClr val="767171"/>
                </a:solidFill>
                <a:latin typeface="VladaRHSerif Lt" panose="02000000000000000000" pitchFamily="50" charset="-18"/>
                <a:ea typeface="VladaRHSerif Lt" panose="02000000000000000000" pitchFamily="50" charset="-18"/>
                <a:cs typeface="VladaRHSerif Reg" panose="020B0502040204020203" pitchFamily="34" charset="0"/>
              </a:rPr>
              <a:t>Ministry of Environmental Protection and Green Transition</a:t>
            </a:r>
            <a:br>
              <a:rPr lang="hr-HR" altLang="en-US" sz="1100" dirty="0">
                <a:solidFill>
                  <a:srgbClr val="767171"/>
                </a:solidFill>
                <a:latin typeface="VladaRHSerif Lt" panose="02000000000000000000" pitchFamily="50" charset="-18"/>
                <a:ea typeface="VladaRHSerif Lt" panose="02000000000000000000" pitchFamily="50" charset="-18"/>
                <a:cs typeface="VladaRHSerif Reg" panose="020B0502040204020203" pitchFamily="34" charset="0"/>
              </a:rPr>
            </a:br>
            <a:r>
              <a:rPr lang="hr-HR" altLang="en-US" sz="1100" dirty="0">
                <a:solidFill>
                  <a:srgbClr val="767171"/>
                </a:solidFill>
                <a:latin typeface="VladaRHSerif Lt" panose="02000000000000000000" pitchFamily="50" charset="-18"/>
                <a:ea typeface="VladaRHSerif Lt" panose="02000000000000000000" pitchFamily="50" charset="-18"/>
                <a:cs typeface="VladaRHSerif Reg" panose="020B0502040204020203" pitchFamily="34" charset="0"/>
              </a:rPr>
              <a:t>Institute for </a:t>
            </a:r>
            <a:r>
              <a:rPr lang="hr-HR" altLang="en-US" sz="1100" dirty="0" err="1">
                <a:solidFill>
                  <a:srgbClr val="767171"/>
                </a:solidFill>
                <a:latin typeface="VladaRHSerif Lt" panose="02000000000000000000" pitchFamily="50" charset="-18"/>
                <a:ea typeface="VladaRHSerif Lt" panose="02000000000000000000" pitchFamily="50" charset="-18"/>
                <a:cs typeface="VladaRHSerif Reg" panose="020B0502040204020203" pitchFamily="34" charset="0"/>
              </a:rPr>
              <a:t>Environment</a:t>
            </a:r>
            <a:r>
              <a:rPr lang="hr-HR" altLang="en-US" sz="1100" dirty="0">
                <a:solidFill>
                  <a:srgbClr val="767171"/>
                </a:solidFill>
                <a:latin typeface="VladaRHSerif Lt" panose="02000000000000000000" pitchFamily="50" charset="-18"/>
                <a:ea typeface="VladaRHSerif Lt" panose="02000000000000000000" pitchFamily="50" charset="-18"/>
                <a:cs typeface="VladaRHSerif Reg" panose="020B0502040204020203" pitchFamily="34" charset="0"/>
              </a:rPr>
              <a:t> </a:t>
            </a:r>
            <a:r>
              <a:rPr lang="hr-HR" altLang="en-US" sz="1100" dirty="0" err="1">
                <a:solidFill>
                  <a:srgbClr val="767171"/>
                </a:solidFill>
                <a:latin typeface="VladaRHSerif Lt" panose="02000000000000000000" pitchFamily="50" charset="-18"/>
                <a:ea typeface="VladaRHSerif Lt" panose="02000000000000000000" pitchFamily="50" charset="-18"/>
                <a:cs typeface="VladaRHSerif Reg" panose="020B0502040204020203" pitchFamily="34" charset="0"/>
              </a:rPr>
              <a:t>and</a:t>
            </a:r>
            <a:r>
              <a:rPr lang="hr-HR" altLang="en-US" sz="1100" dirty="0">
                <a:solidFill>
                  <a:srgbClr val="767171"/>
                </a:solidFill>
                <a:latin typeface="VladaRHSerif Lt" panose="02000000000000000000" pitchFamily="50" charset="-18"/>
                <a:ea typeface="VladaRHSerif Lt" panose="02000000000000000000" pitchFamily="50" charset="-18"/>
                <a:cs typeface="VladaRHSerif Reg" panose="020B0502040204020203" pitchFamily="34" charset="0"/>
              </a:rPr>
              <a:t> Nature</a:t>
            </a:r>
            <a:endParaRPr lang="en-US" altLang="en-US" sz="1100" dirty="0">
              <a:solidFill>
                <a:srgbClr val="767171"/>
              </a:solidFill>
              <a:latin typeface="VladaRHSerif Lt" panose="02000000000000000000" pitchFamily="50" charset="-18"/>
              <a:ea typeface="VladaRHSerif Lt" panose="02000000000000000000" pitchFamily="50" charset="-18"/>
              <a:cs typeface="VladaRHSerif Reg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487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VladaRHSerif Lt" panose="02000000000000000000" pitchFamily="50" charset="-18"/>
          <a:ea typeface="VladaRHSerif Lt" panose="02000000000000000000" pitchFamily="50" charset="-1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ladaRHSerif Reg" panose="02000000000000000000" pitchFamily="50" charset="-18"/>
          <a:ea typeface="VladaRHSerif Reg" panose="02000000000000000000" pitchFamily="50" charset="-1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ladaRHSerif Reg" panose="02000000000000000000" pitchFamily="50" charset="-18"/>
          <a:ea typeface="VladaRHSerif Reg" panose="02000000000000000000" pitchFamily="50" charset="-1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ladaRHSerif Reg" panose="02000000000000000000" pitchFamily="50" charset="-18"/>
          <a:ea typeface="VladaRHSerif Reg" panose="02000000000000000000" pitchFamily="50" charset="-1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ladaRHSerif Reg" panose="02000000000000000000" pitchFamily="50" charset="-18"/>
          <a:ea typeface="VladaRHSerif Reg" panose="02000000000000000000" pitchFamily="50" charset="-1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ladaRHSerif Reg" panose="02000000000000000000" pitchFamily="50" charset="-18"/>
          <a:ea typeface="VladaRHSerif Reg" panose="02000000000000000000" pitchFamily="50" charset="-1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hyperlink" Target="https://narodne-novine.nn.hr/clanci/sluzbeni/2025_04_67_855.html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82241" y="1987781"/>
            <a:ext cx="9354588" cy="834390"/>
          </a:xfrm>
        </p:spPr>
        <p:txBody>
          <a:bodyPr>
            <a:normAutofit fontScale="90000"/>
          </a:bodyPr>
          <a:lstStyle/>
          <a:p>
            <a:r>
              <a:rPr lang="hr-HR" dirty="0"/>
              <a:t>B</a:t>
            </a:r>
            <a:r>
              <a:rPr lang="en-US" dirty="0" err="1"/>
              <a:t>uilding</a:t>
            </a:r>
            <a:r>
              <a:rPr lang="en-US" dirty="0"/>
              <a:t> capacity for GHG Inventory reporting</a:t>
            </a:r>
            <a:endParaRPr lang="hr-H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82240" y="3071011"/>
            <a:ext cx="8612427" cy="724252"/>
          </a:xfrm>
        </p:spPr>
        <p:txBody>
          <a:bodyPr>
            <a:normAutofit/>
          </a:bodyPr>
          <a:lstStyle/>
          <a:p>
            <a:r>
              <a:rPr lang="hr-HR" sz="2400" dirty="0"/>
              <a:t>Real-life experience: Insights from the Croatia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2240" y="5327447"/>
            <a:ext cx="8612427" cy="333520"/>
          </a:xfrm>
        </p:spPr>
        <p:txBody>
          <a:bodyPr/>
          <a:lstStyle/>
          <a:p>
            <a:r>
              <a:rPr lang="hr-HR" dirty="0"/>
              <a:t>Head of Air Protection and Climate Activities Service</a:t>
            </a:r>
          </a:p>
          <a:p>
            <a:endParaRPr lang="hr-HR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rPr lang="hr-HR" dirty="0"/>
              <a:t>Sarajevo, 7-9  October, 2025.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12"/>
          </p:nvPr>
        </p:nvSpPr>
        <p:spPr>
          <a:xfrm>
            <a:off x="2682240" y="5017278"/>
            <a:ext cx="8612427" cy="244609"/>
          </a:xfrm>
        </p:spPr>
        <p:txBody>
          <a:bodyPr/>
          <a:lstStyle/>
          <a:p>
            <a:r>
              <a:rPr lang="hr-HR" dirty="0"/>
              <a:t>Tatjana Obučina</a:t>
            </a:r>
          </a:p>
        </p:txBody>
      </p:sp>
    </p:spTree>
    <p:extLst>
      <p:ext uri="{BB962C8B-B14F-4D97-AF65-F5344CB8AC3E}">
        <p14:creationId xmlns:p14="http://schemas.microsoft.com/office/powerpoint/2010/main" val="1672907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0BCF3A0-55E2-4ABF-AB6D-CCE727FE1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546" y="222153"/>
            <a:ext cx="10060459" cy="877558"/>
          </a:xfrm>
        </p:spPr>
        <p:txBody>
          <a:bodyPr/>
          <a:lstStyle/>
          <a:p>
            <a:r>
              <a:rPr lang="hr-HR" dirty="0"/>
              <a:t>Content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CF21A60-7C84-987C-5161-76567686A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4547" y="1219949"/>
            <a:ext cx="10060459" cy="4351338"/>
          </a:xfrm>
        </p:spPr>
        <p:txBody>
          <a:bodyPr/>
          <a:lstStyle/>
          <a:p>
            <a:r>
              <a:rPr lang="hr-HR" dirty="0"/>
              <a:t>What do we need?</a:t>
            </a:r>
          </a:p>
          <a:p>
            <a:r>
              <a:rPr lang="hr-HR" dirty="0"/>
              <a:t>Legal framework</a:t>
            </a:r>
          </a:p>
          <a:p>
            <a:r>
              <a:rPr lang="hr-HR" dirty="0"/>
              <a:t>Institutional arrangements</a:t>
            </a:r>
          </a:p>
          <a:p>
            <a:r>
              <a:rPr lang="hr-HR" dirty="0"/>
              <a:t>Finance</a:t>
            </a:r>
          </a:p>
          <a:p>
            <a:r>
              <a:rPr lang="hr-HR" dirty="0"/>
              <a:t>Capacity</a:t>
            </a:r>
          </a:p>
          <a:p>
            <a:r>
              <a:rPr lang="hr-HR" dirty="0"/>
              <a:t>Real-life experience - strenghts</a:t>
            </a:r>
            <a:endParaRPr lang="en-US" dirty="0"/>
          </a:p>
          <a:p>
            <a:r>
              <a:rPr lang="hr-HR" dirty="0"/>
              <a:t>Real-life experience - weaknesses</a:t>
            </a:r>
            <a:endParaRPr lang="en-US" dirty="0"/>
          </a:p>
          <a:p>
            <a:r>
              <a:rPr lang="hr-HR" dirty="0"/>
              <a:t>Real-life experience - obstacles</a:t>
            </a:r>
            <a:endParaRPr lang="en-US" dirty="0"/>
          </a:p>
          <a:p>
            <a:endParaRPr lang="hr-HR" dirty="0"/>
          </a:p>
          <a:p>
            <a:endParaRPr lang="hr-H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90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C1139-438E-C883-068B-62257283A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4FC9B4F-D14F-B15B-1FA1-8F4986A18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546" y="222153"/>
            <a:ext cx="10060459" cy="877558"/>
          </a:xfrm>
        </p:spPr>
        <p:txBody>
          <a:bodyPr/>
          <a:lstStyle/>
          <a:p>
            <a:r>
              <a:rPr lang="hr-HR" dirty="0"/>
              <a:t>What do we need?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E32D7FC-E24D-0F90-499A-D626B4165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4547" y="1219949"/>
            <a:ext cx="10060459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21DC8F5-5745-2C3E-5217-781B1A67C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315" y="2130640"/>
            <a:ext cx="1866283" cy="16553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042A3EF-B23B-579E-942B-76FE38B16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911" y="2120725"/>
            <a:ext cx="1338761" cy="15351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CF1A40A-652B-D17A-0FCF-2E3269F842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155" y="2213673"/>
            <a:ext cx="1655368" cy="165536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91CCEE1-9430-042B-5BAB-64D79133D6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390" y="1966187"/>
            <a:ext cx="1935138" cy="193513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0F6B892-E20B-9A9E-D0F6-847747F982A8}"/>
              </a:ext>
            </a:extLst>
          </p:cNvPr>
          <p:cNvSpPr txBox="1"/>
          <p:nvPr/>
        </p:nvSpPr>
        <p:spPr>
          <a:xfrm>
            <a:off x="1664256" y="4221418"/>
            <a:ext cx="18002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000" b="1" dirty="0"/>
              <a:t>LEGAL FRAMEWORK</a:t>
            </a:r>
          </a:p>
          <a:p>
            <a:pPr algn="ctr"/>
            <a:r>
              <a:rPr lang="hr-HR" sz="2000" b="1" dirty="0"/>
              <a:t>(PROCEDURES)</a:t>
            </a:r>
          </a:p>
          <a:p>
            <a:pPr algn="ctr"/>
            <a:endParaRPr lang="hr-HR" sz="2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E25BAF-A591-2079-F08E-865CE4A24E8A}"/>
              </a:ext>
            </a:extLst>
          </p:cNvPr>
          <p:cNvSpPr txBox="1"/>
          <p:nvPr/>
        </p:nvSpPr>
        <p:spPr>
          <a:xfrm>
            <a:off x="4036660" y="4178901"/>
            <a:ext cx="2007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000" b="1" dirty="0"/>
              <a:t>INSTITUTIONAL</a:t>
            </a:r>
          </a:p>
          <a:p>
            <a:pPr algn="ctr"/>
            <a:r>
              <a:rPr lang="hr-HR" sz="2000" b="1" dirty="0"/>
              <a:t>ARRANGEMENTS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BD2605-7CCB-D3BD-08F2-A48FFFCFD24D}"/>
              </a:ext>
            </a:extLst>
          </p:cNvPr>
          <p:cNvSpPr txBox="1"/>
          <p:nvPr/>
        </p:nvSpPr>
        <p:spPr>
          <a:xfrm>
            <a:off x="9109808" y="4138339"/>
            <a:ext cx="18002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000" b="1" dirty="0"/>
              <a:t>CAPACITY</a:t>
            </a:r>
          </a:p>
          <a:p>
            <a:pPr algn="ctr"/>
            <a:endParaRPr lang="hr-HR" sz="20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49A106-3AD2-2CD1-B970-310F38D07B1E}"/>
              </a:ext>
            </a:extLst>
          </p:cNvPr>
          <p:cNvSpPr txBox="1"/>
          <p:nvPr/>
        </p:nvSpPr>
        <p:spPr>
          <a:xfrm>
            <a:off x="6604037" y="4138339"/>
            <a:ext cx="18002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000" b="1" dirty="0"/>
              <a:t>FINANCE</a:t>
            </a:r>
          </a:p>
          <a:p>
            <a:pPr algn="ctr"/>
            <a:endParaRPr lang="hr-HR" sz="2000" b="1" dirty="0"/>
          </a:p>
        </p:txBody>
      </p:sp>
    </p:spTree>
    <p:extLst>
      <p:ext uri="{BB962C8B-B14F-4D97-AF65-F5344CB8AC3E}">
        <p14:creationId xmlns:p14="http://schemas.microsoft.com/office/powerpoint/2010/main" val="628324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C505D-5F1D-2453-4A78-FBC2F62FC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9A5FA7D-F2D4-83FE-61E9-86660719E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546" y="119164"/>
            <a:ext cx="10060459" cy="877558"/>
          </a:xfrm>
        </p:spPr>
        <p:txBody>
          <a:bodyPr>
            <a:normAutofit/>
          </a:bodyPr>
          <a:lstStyle/>
          <a:p>
            <a:r>
              <a:rPr lang="hr-HR" dirty="0"/>
              <a:t>     Legal framework                                  (1/2)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20E6FFF-EBB2-D4D7-766B-27FA06353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4547" y="1219949"/>
            <a:ext cx="10060459" cy="4351338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hr-HR" dirty="0"/>
              <a:t>International  (UNFCCC, PA)</a:t>
            </a:r>
          </a:p>
          <a:p>
            <a:pPr indent="128588"/>
            <a:r>
              <a:rPr lang="hr-HR" sz="1600" dirty="0"/>
              <a:t>  COP , CMA Decisions</a:t>
            </a:r>
          </a:p>
          <a:p>
            <a:pPr indent="0">
              <a:buNone/>
            </a:pPr>
            <a:endParaRPr lang="hr-HR" sz="1600" dirty="0"/>
          </a:p>
          <a:p>
            <a:pPr marL="285750" indent="-285750">
              <a:buFontTx/>
              <a:buChar char="-"/>
            </a:pPr>
            <a:r>
              <a:rPr lang="hr-HR" dirty="0"/>
              <a:t>EU legislation</a:t>
            </a:r>
          </a:p>
          <a:p>
            <a:pPr indent="128588"/>
            <a:r>
              <a:rPr lang="hr-HR" sz="1600" dirty="0"/>
              <a:t>  Governanace Regulation (EU) 2018/1999</a:t>
            </a:r>
          </a:p>
          <a:p>
            <a:pPr indent="220663"/>
            <a:r>
              <a:rPr lang="hr-HR" sz="1600" dirty="0"/>
              <a:t>Implementing Regulations  </a:t>
            </a:r>
          </a:p>
          <a:p>
            <a:pPr indent="220663"/>
            <a:endParaRPr lang="hr-HR" sz="1600" dirty="0"/>
          </a:p>
          <a:p>
            <a:pPr marL="285750" indent="-285750">
              <a:buFontTx/>
              <a:buChar char="-"/>
            </a:pPr>
            <a:r>
              <a:rPr lang="hr-HR" dirty="0"/>
              <a:t>National</a:t>
            </a:r>
          </a:p>
          <a:p>
            <a:pPr indent="38100">
              <a:lnSpc>
                <a:spcPct val="100000"/>
              </a:lnSpc>
              <a:spcBef>
                <a:spcPts val="0"/>
              </a:spcBef>
              <a:defRPr/>
            </a:pPr>
            <a:r>
              <a:rPr lang="hr-HR" sz="1600" dirty="0">
                <a:solidFill>
                  <a:srgbClr val="333F50"/>
                </a:solidFill>
              </a:rPr>
              <a:t>   Act on Climate Change and Ozone Protection Layer (OG 67/2025)  - New!!!</a:t>
            </a:r>
          </a:p>
          <a:p>
            <a:pPr marL="44450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hr-HR" sz="1600" dirty="0">
                <a:solidFill>
                  <a:srgbClr val="333F50"/>
                </a:solidFill>
                <a:hlinkClick r:id="rId2"/>
              </a:rPr>
              <a:t>https://narodne-novine.nn.hr/clanci/sluzbeni/2025_04_67_855.html</a:t>
            </a:r>
            <a:r>
              <a:rPr lang="hr-HR" sz="1600" dirty="0">
                <a:solidFill>
                  <a:srgbClr val="333F50"/>
                </a:solidFill>
              </a:rPr>
              <a:t> </a:t>
            </a:r>
          </a:p>
          <a:p>
            <a:pPr marL="449263" indent="-182563">
              <a:defRPr/>
            </a:pPr>
            <a:r>
              <a:rPr lang="en-US" altLang="sr-Latn-RS" sz="1600" dirty="0"/>
              <a:t>Regulation on the Monitoring of Greenhouse Gas Emissions, Policies and Mitigation measures in the Republic of Croatia (Official Gazette, No. </a:t>
            </a:r>
            <a:r>
              <a:rPr lang="hr-HR" altLang="sr-Latn-RS" sz="1600" dirty="0"/>
              <a:t>5</a:t>
            </a:r>
            <a:r>
              <a:rPr lang="en-US" altLang="sr-Latn-RS" sz="1600" dirty="0"/>
              <a:t>/201</a:t>
            </a:r>
            <a:r>
              <a:rPr lang="hr-HR" altLang="sr-Latn-RS" sz="1600" dirty="0"/>
              <a:t>7</a:t>
            </a:r>
            <a:endParaRPr lang="hr-HR" sz="1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A21C6D3-CEAD-A05A-A707-862B5AF4BC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322" y="176276"/>
            <a:ext cx="822896" cy="82289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B0D281A-68A3-E4E8-4D37-3B1CE8AE1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4561" y="1160813"/>
            <a:ext cx="1159129" cy="7727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DAFCF8-C07C-51DE-1FEC-D018888D93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3462" y="1049991"/>
            <a:ext cx="609972" cy="9085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BEF19A-F136-37C8-48D7-363FA3BF1E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6709" y="2561938"/>
            <a:ext cx="746725" cy="4978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846B02-A14C-0007-EB71-460EA62E4F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6710" y="3953079"/>
            <a:ext cx="746725" cy="54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876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3F674-8DAF-8F99-BD87-E8C775C72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48C7793-59C0-737E-55A3-948C1769B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770" y="1080856"/>
            <a:ext cx="10466323" cy="40835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r-HR" sz="1800" dirty="0">
                <a:solidFill>
                  <a:srgbClr val="0070C0"/>
                </a:solidFill>
              </a:rPr>
              <a:t>Act on Climate Change and Ozone Protection Layer (OG 67/2025)</a:t>
            </a:r>
          </a:p>
          <a:p>
            <a:pPr marL="457200" indent="-457200">
              <a:lnSpc>
                <a:spcPct val="120000"/>
              </a:lnSpc>
              <a:buAutoNum type="arabicParenBoth"/>
            </a:pPr>
            <a:r>
              <a:rPr lang="hr-HR" sz="1800" b="1" dirty="0"/>
              <a:t>Monitoring and </a:t>
            </a:r>
            <a:r>
              <a:rPr lang="en-US" sz="1800" b="1" dirty="0"/>
              <a:t>Reporting </a:t>
            </a:r>
            <a:r>
              <a:rPr lang="en-US" sz="1800" dirty="0"/>
              <a:t>for the purpose of implementing obligations under the Convention</a:t>
            </a:r>
            <a:r>
              <a:rPr lang="hr-HR" sz="1800" dirty="0"/>
              <a:t>, PA</a:t>
            </a:r>
            <a:r>
              <a:rPr lang="en-US" sz="1800" dirty="0"/>
              <a:t> and EU legislation</a:t>
            </a:r>
            <a:r>
              <a:rPr lang="hr-HR" sz="1800" dirty="0"/>
              <a:t> are places in </a:t>
            </a:r>
            <a:r>
              <a:rPr lang="en-US" altLang="sr-Latn-RS" sz="1800" b="1" dirty="0">
                <a:cs typeface="Arial" charset="0"/>
              </a:rPr>
              <a:t>Chapter III</a:t>
            </a:r>
            <a:r>
              <a:rPr lang="hr-HR" altLang="sr-Latn-RS" sz="1800" dirty="0">
                <a:cs typeface="Arial" charset="0"/>
              </a:rPr>
              <a:t>: </a:t>
            </a:r>
            <a:r>
              <a:rPr lang="hr-HR" altLang="sr-Latn-RS" sz="1800" b="1" i="1" dirty="0">
                <a:cs typeface="Arial" charset="0"/>
              </a:rPr>
              <a:t>M</a:t>
            </a:r>
            <a:r>
              <a:rPr lang="en-US" altLang="sr-Latn-RS" sz="1800" b="1" i="1" dirty="0" err="1">
                <a:cs typeface="Arial" charset="0"/>
              </a:rPr>
              <a:t>onitoring</a:t>
            </a:r>
            <a:r>
              <a:rPr lang="en-US" altLang="sr-Latn-RS" sz="1800" b="1" i="1" dirty="0">
                <a:cs typeface="Arial" charset="0"/>
              </a:rPr>
              <a:t> </a:t>
            </a:r>
            <a:r>
              <a:rPr lang="hr-HR" altLang="sr-Latn-RS" sz="1800" b="1" i="1" dirty="0">
                <a:cs typeface="Arial" charset="0"/>
              </a:rPr>
              <a:t>and reporting of </a:t>
            </a:r>
            <a:r>
              <a:rPr lang="en-US" altLang="sr-Latn-RS" sz="1800" b="1" i="1" dirty="0">
                <a:cs typeface="Arial" charset="0"/>
              </a:rPr>
              <a:t>greenhouse gas emissions</a:t>
            </a:r>
            <a:endParaRPr lang="hr-HR" altLang="sr-Latn-RS" sz="1800" b="1" i="1" dirty="0">
              <a:cs typeface="Arial" charset="0"/>
            </a:endParaRPr>
          </a:p>
          <a:p>
            <a:pPr marL="0" indent="0">
              <a:buNone/>
              <a:tabLst>
                <a:tab pos="361950" algn="l"/>
              </a:tabLst>
            </a:pPr>
            <a:r>
              <a:rPr lang="hr-HR" sz="1800" dirty="0"/>
              <a:t>(2)    </a:t>
            </a:r>
            <a:r>
              <a:rPr lang="en-GB" sz="1800" b="1" dirty="0"/>
              <a:t>Legal arrangements </a:t>
            </a:r>
            <a:r>
              <a:rPr lang="en-GB" sz="1800" dirty="0"/>
              <a:t>on the national system are placed in the </a:t>
            </a:r>
            <a:r>
              <a:rPr lang="hr-HR" sz="1800" b="1" dirty="0"/>
              <a:t>Art.</a:t>
            </a:r>
            <a:r>
              <a:rPr lang="en-GB" sz="1800" b="1" dirty="0"/>
              <a:t> 2</a:t>
            </a:r>
            <a:r>
              <a:rPr lang="hr-HR" sz="1800" b="1" dirty="0"/>
              <a:t>1-25.</a:t>
            </a:r>
            <a:endParaRPr lang="hr-HR" sz="1800" dirty="0"/>
          </a:p>
          <a:p>
            <a:pPr marL="449263" indent="-92075">
              <a:buNone/>
              <a:tabLst>
                <a:tab pos="449263" algn="l"/>
              </a:tabLst>
            </a:pPr>
            <a:r>
              <a:rPr lang="hr-HR" sz="1800" dirty="0"/>
              <a:t> </a:t>
            </a:r>
            <a:r>
              <a:rPr lang="en-GB" sz="1800" dirty="0"/>
              <a:t>It is prescribed that state authority responsible for the environmental </a:t>
            </a:r>
            <a:r>
              <a:rPr lang="hr-HR" sz="1800" dirty="0"/>
              <a:t> </a:t>
            </a:r>
            <a:r>
              <a:rPr lang="en-GB" sz="1800" dirty="0"/>
              <a:t>protection establishes National system</a:t>
            </a:r>
            <a:r>
              <a:rPr lang="hr-HR" sz="1800" dirty="0"/>
              <a:t>s:</a:t>
            </a:r>
          </a:p>
          <a:p>
            <a:pPr marL="725488" indent="-284163"/>
            <a:r>
              <a:rPr lang="en-US" sz="1800" b="1" dirty="0"/>
              <a:t>National system for </a:t>
            </a:r>
            <a:r>
              <a:rPr lang="hr-HR" sz="1800" b="1" dirty="0"/>
              <a:t>GHG inventory </a:t>
            </a:r>
          </a:p>
          <a:p>
            <a:pPr marL="725488" indent="-284163"/>
            <a:r>
              <a:rPr lang="en-US" sz="1800" b="1" dirty="0"/>
              <a:t>National monitoring system for emission reduction policies and measures and projections</a:t>
            </a:r>
            <a:endParaRPr lang="hr-HR" sz="1800" b="1" dirty="0"/>
          </a:p>
          <a:p>
            <a:pPr marL="0" indent="0">
              <a:buNone/>
            </a:pPr>
            <a:r>
              <a:rPr lang="en-US" sz="1800" dirty="0">
                <a:solidFill>
                  <a:srgbClr val="0563C1"/>
                </a:solidFill>
              </a:rPr>
              <a:t>Regulation on the Monitoring of Greenhouse Gas Emissions, Policies and Mitigation measures in the Croatia</a:t>
            </a:r>
            <a:r>
              <a:rPr lang="hr-HR" sz="1800" dirty="0">
                <a:solidFill>
                  <a:srgbClr val="0563C1"/>
                </a:solidFill>
              </a:rPr>
              <a:t> (OG 5/17)</a:t>
            </a:r>
          </a:p>
          <a:p>
            <a:pPr marL="714375" indent="-265113"/>
            <a:r>
              <a:rPr lang="en-US" sz="1600" dirty="0"/>
              <a:t>roles of authorized bodies and other involved stakeholders</a:t>
            </a:r>
            <a:endParaRPr lang="hr-HR" sz="1600" dirty="0"/>
          </a:p>
          <a:p>
            <a:pPr marL="714375" indent="-265113"/>
            <a:r>
              <a:rPr lang="hr-HR" sz="1600" dirty="0"/>
              <a:t>methodologies, deadlines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0CA8515-3EC1-F111-DBE3-48F962AC56E8}"/>
              </a:ext>
            </a:extLst>
          </p:cNvPr>
          <p:cNvSpPr txBox="1">
            <a:spLocks/>
          </p:cNvSpPr>
          <p:nvPr/>
        </p:nvSpPr>
        <p:spPr>
          <a:xfrm>
            <a:off x="1254546" y="119164"/>
            <a:ext cx="10060459" cy="877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ladaRHSerif Lt" panose="02000000000000000000" pitchFamily="50" charset="-18"/>
                <a:ea typeface="VladaRHSerif Lt" panose="02000000000000000000" pitchFamily="50" charset="-18"/>
                <a:cs typeface="+mj-cs"/>
              </a:defRPr>
            </a:lvl1pPr>
          </a:lstStyle>
          <a:p>
            <a:r>
              <a:rPr lang="hr-HR" dirty="0"/>
              <a:t>     Legal framework                                   (2/2)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390E201-8DDA-71AA-81A7-12F4D870B1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63" y="119164"/>
            <a:ext cx="822896" cy="8228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F6EEF72-D645-437D-A663-1FBAE4CBB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597" y="949145"/>
            <a:ext cx="746725" cy="5416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5CA62E7-78FD-92B1-40A4-B6929AE15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5546" y="4592797"/>
            <a:ext cx="1923992" cy="171363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231389D-25CA-9E0F-2484-FFA3B1BA86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6674" y="5093181"/>
            <a:ext cx="1554461" cy="136792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32F6885-BFFB-6B35-0EEE-D49C3FE5AD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9431" y="4937373"/>
            <a:ext cx="1835443" cy="13690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9BA6B51-403A-679B-9FEE-125FACEB78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2162" y="4874984"/>
            <a:ext cx="1426597" cy="143145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AB526C6-DEBD-6149-A838-91D3DC727C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8580" y="4993272"/>
            <a:ext cx="1627180" cy="131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03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FE8D8-6165-87BD-C5CE-76855AB62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F21AE67-239E-817B-0697-A3BF14640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546" y="143844"/>
            <a:ext cx="10060459" cy="877558"/>
          </a:xfrm>
        </p:spPr>
        <p:txBody>
          <a:bodyPr/>
          <a:lstStyle/>
          <a:p>
            <a:r>
              <a:rPr lang="hr-HR" dirty="0"/>
              <a:t>         Institutional arrangements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37A637B-34C5-31E7-03B1-7B29A168A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4545" y="1179969"/>
            <a:ext cx="10060459" cy="4351338"/>
          </a:xfrm>
        </p:spPr>
        <p:txBody>
          <a:bodyPr>
            <a:normAutofit fontScale="70000" lnSpcReduction="20000"/>
          </a:bodyPr>
          <a:lstStyle/>
          <a:p>
            <a:pPr indent="0">
              <a:lnSpc>
                <a:spcPct val="120000"/>
              </a:lnSpc>
              <a:buNone/>
            </a:pPr>
            <a:r>
              <a:rPr lang="hr-HR" dirty="0"/>
              <a:t>Institutional arrangements  =  functional NC</a:t>
            </a:r>
          </a:p>
          <a:p>
            <a:pPr marL="685800" indent="-457200">
              <a:lnSpc>
                <a:spcPct val="120000"/>
              </a:lnSpc>
            </a:pPr>
            <a:r>
              <a:rPr lang="en-US" dirty="0"/>
              <a:t>National System for </a:t>
            </a:r>
            <a:r>
              <a:rPr lang="hr-HR" dirty="0"/>
              <a:t>estimation</a:t>
            </a:r>
            <a:r>
              <a:rPr lang="en-US" dirty="0"/>
              <a:t> and </a:t>
            </a:r>
            <a:r>
              <a:rPr lang="hr-HR" dirty="0"/>
              <a:t>r</a:t>
            </a:r>
            <a:r>
              <a:rPr lang="en-US" dirty="0" err="1"/>
              <a:t>eporting</a:t>
            </a:r>
            <a:r>
              <a:rPr lang="en-US" dirty="0"/>
              <a:t> of </a:t>
            </a:r>
            <a:r>
              <a:rPr lang="hr-HR" dirty="0"/>
              <a:t>a</a:t>
            </a:r>
            <a:r>
              <a:rPr lang="en-US" dirty="0" err="1"/>
              <a:t>nthropogenic</a:t>
            </a:r>
            <a:r>
              <a:rPr lang="en-US" dirty="0"/>
              <a:t> GHG </a:t>
            </a:r>
            <a:r>
              <a:rPr lang="hr-HR" dirty="0"/>
              <a:t>e</a:t>
            </a:r>
            <a:r>
              <a:rPr lang="en-US" dirty="0"/>
              <a:t>missions by </a:t>
            </a:r>
            <a:r>
              <a:rPr lang="hr-HR" dirty="0"/>
              <a:t>s</a:t>
            </a:r>
            <a:r>
              <a:rPr lang="en-US" dirty="0" err="1"/>
              <a:t>ources</a:t>
            </a:r>
            <a:r>
              <a:rPr lang="en-US" dirty="0"/>
              <a:t> and </a:t>
            </a:r>
            <a:r>
              <a:rPr lang="hr-HR" dirty="0"/>
              <a:t>r</a:t>
            </a:r>
            <a:r>
              <a:rPr lang="en-US" dirty="0" err="1"/>
              <a:t>emovals</a:t>
            </a:r>
            <a:r>
              <a:rPr lang="en-US" dirty="0"/>
              <a:t> by </a:t>
            </a:r>
            <a:r>
              <a:rPr lang="hr-HR" dirty="0"/>
              <a:t>s</a:t>
            </a:r>
            <a:r>
              <a:rPr lang="en-US" dirty="0"/>
              <a:t>inks</a:t>
            </a:r>
            <a:endParaRPr lang="hr-HR" dirty="0"/>
          </a:p>
          <a:p>
            <a:pPr indent="0">
              <a:buNone/>
            </a:pPr>
            <a:r>
              <a:rPr lang="hr-HR" sz="2000" b="1" dirty="0">
                <a:solidFill>
                  <a:schemeClr val="accent1">
                    <a:lumMod val="75000"/>
                  </a:schemeClr>
                </a:solidFill>
              </a:rPr>
              <a:t>           (1)</a:t>
            </a:r>
            <a:r>
              <a:rPr lang="hr-HR" sz="2000" b="1" dirty="0"/>
              <a:t>    </a:t>
            </a:r>
            <a:r>
              <a:rPr lang="hr-HR" sz="2000" b="1" dirty="0">
                <a:solidFill>
                  <a:schemeClr val="accent1">
                    <a:lumMod val="75000"/>
                  </a:schemeClr>
                </a:solidFill>
              </a:rPr>
              <a:t>The Ministry of Environmental Protection and Green Transition (MEPGT)</a:t>
            </a:r>
          </a:p>
          <a:p>
            <a:pPr marL="989013" indent="-274638">
              <a:lnSpc>
                <a:spcPct val="120000"/>
              </a:lnSpc>
            </a:pPr>
            <a:r>
              <a:rPr lang="en-US" sz="2000" dirty="0"/>
              <a:t>National focal point under the UNFCCC with overall responsibility for the functioning of the national system in a sustainable manner</a:t>
            </a:r>
            <a:endParaRPr lang="hr-HR" sz="2000" dirty="0"/>
          </a:p>
          <a:p>
            <a:pPr indent="0">
              <a:buNone/>
            </a:pPr>
            <a:r>
              <a:rPr lang="hr-HR" sz="2000" b="1" dirty="0">
                <a:solidFill>
                  <a:schemeClr val="accent1">
                    <a:lumMod val="75000"/>
                  </a:schemeClr>
                </a:solidFill>
              </a:rPr>
              <a:t>           (2)    Institute for Environment and Nature </a:t>
            </a:r>
          </a:p>
          <a:p>
            <a:pPr marL="989013" lvl="0" indent="-274638"/>
            <a:r>
              <a:rPr lang="en-US" sz="2000" dirty="0"/>
              <a:t>organization of </a:t>
            </a:r>
            <a:r>
              <a:rPr lang="hr-HR" sz="2000" dirty="0"/>
              <a:t>GHG </a:t>
            </a:r>
            <a:r>
              <a:rPr lang="en-US" sz="2000" dirty="0"/>
              <a:t>inventories</a:t>
            </a:r>
            <a:r>
              <a:rPr lang="hr-HR" sz="2000" dirty="0"/>
              <a:t>, r</a:t>
            </a:r>
            <a:r>
              <a:rPr lang="en-US" sz="2000" dirty="0" err="1"/>
              <a:t>eporting</a:t>
            </a:r>
            <a:r>
              <a:rPr lang="en-US" sz="2000" dirty="0"/>
              <a:t> to the EU (EIONET, Reportnet3)</a:t>
            </a:r>
            <a:r>
              <a:rPr lang="hr-HR" sz="2000" dirty="0"/>
              <a:t>, </a:t>
            </a:r>
            <a:r>
              <a:rPr lang="en-US" sz="2000" dirty="0"/>
              <a:t>collection of data </a:t>
            </a:r>
            <a:r>
              <a:rPr lang="hr-HR" sz="2000" dirty="0"/>
              <a:t>and QA/QC activities, data archiving, participating in the review process</a:t>
            </a:r>
          </a:p>
          <a:p>
            <a:pPr indent="395288">
              <a:buNone/>
            </a:pPr>
            <a:r>
              <a:rPr lang="hr-HR" sz="2000" b="1" dirty="0">
                <a:solidFill>
                  <a:schemeClr val="accent1">
                    <a:lumMod val="75000"/>
                  </a:schemeClr>
                </a:solidFill>
              </a:rPr>
              <a:t>  (3)   Authorized Institution</a:t>
            </a:r>
          </a:p>
          <a:p>
            <a:pPr marL="989013" indent="-274638"/>
            <a:r>
              <a:rPr lang="en-US" sz="2000" dirty="0"/>
              <a:t>A legal entity that must possess an Authorization to perform inventory </a:t>
            </a:r>
            <a:endParaRPr lang="hr-HR" sz="2000" dirty="0"/>
          </a:p>
          <a:p>
            <a:pPr marL="989013" lvl="0" indent="-274638"/>
            <a:r>
              <a:rPr lang="hr-HR" sz="2000" dirty="0"/>
              <a:t>Inventory </a:t>
            </a:r>
            <a:r>
              <a:rPr lang="en-US" sz="2000" dirty="0"/>
              <a:t>calculation and preparation</a:t>
            </a:r>
            <a:endParaRPr lang="hr-HR" sz="2000" dirty="0"/>
          </a:p>
          <a:p>
            <a:pPr indent="395288">
              <a:buNone/>
            </a:pPr>
            <a:r>
              <a:rPr lang="hr-HR" sz="2000" b="1" dirty="0">
                <a:solidFill>
                  <a:schemeClr val="accent1">
                    <a:lumMod val="75000"/>
                  </a:schemeClr>
                </a:solidFill>
              </a:rPr>
              <a:t>  (4)</a:t>
            </a:r>
            <a:r>
              <a:rPr lang="hr-HR" sz="2000" b="1" dirty="0"/>
              <a:t>  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Committee for inter-sectorial coordination for a national system for monitoring greenhouse gases </a:t>
            </a:r>
            <a:endParaRPr lang="hr-HR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989013" indent="-274638"/>
            <a:r>
              <a:rPr lang="en-US" sz="2000" dirty="0"/>
              <a:t>is responsible for monitoring the preparation</a:t>
            </a:r>
            <a:r>
              <a:rPr lang="hr-HR" sz="2000" dirty="0"/>
              <a:t>  and aproval</a:t>
            </a:r>
            <a:r>
              <a:rPr lang="en-US" sz="2000" dirty="0"/>
              <a:t> of </a:t>
            </a:r>
            <a:r>
              <a:rPr lang="hr-HR" sz="2000" dirty="0"/>
              <a:t>GHG Inventory</a:t>
            </a:r>
            <a:endParaRPr lang="en-US" sz="2000" dirty="0"/>
          </a:p>
          <a:p>
            <a:pPr marL="989013" indent="-274638"/>
            <a:r>
              <a:rPr lang="en-US" sz="2000" dirty="0"/>
              <a:t>work of the </a:t>
            </a:r>
            <a:r>
              <a:rPr lang="en-US" sz="2000" dirty="0" err="1"/>
              <a:t>Commi</a:t>
            </a:r>
            <a:r>
              <a:rPr lang="hr-HR" sz="2000" dirty="0"/>
              <a:t>ttee</a:t>
            </a:r>
            <a:r>
              <a:rPr lang="en-US" sz="2000" dirty="0"/>
              <a:t> is coordinated by </a:t>
            </a:r>
            <a:r>
              <a:rPr lang="hr-HR" sz="2000" dirty="0"/>
              <a:t>MEPGT</a:t>
            </a:r>
          </a:p>
          <a:p>
            <a:pPr marL="989013" indent="-274638"/>
            <a:endParaRPr lang="hr-HR" sz="1600" dirty="0"/>
          </a:p>
          <a:p>
            <a:pPr indent="0">
              <a:buNone/>
            </a:pPr>
            <a:endParaRPr lang="hr-HR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B2D2AB-1FF3-1110-F330-8584991FA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673" y="98447"/>
            <a:ext cx="989371" cy="87755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D4FEC37-A02C-9C6A-071C-D7CC5BE60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8964" y="347807"/>
            <a:ext cx="746725" cy="54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204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4F740-C839-B2B4-A23B-EBD102B6E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8EAC686-C084-5D8A-C7C8-046D8D52D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546" y="143844"/>
            <a:ext cx="10060459" cy="877558"/>
          </a:xfrm>
        </p:spPr>
        <p:txBody>
          <a:bodyPr/>
          <a:lstStyle/>
          <a:p>
            <a:r>
              <a:rPr lang="hr-HR" dirty="0"/>
              <a:t>        Finance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45BB7C8-ECFC-A2F0-CA8D-9563992823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8497" y="1225365"/>
            <a:ext cx="1980934" cy="346560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8D950BB-9477-6AC4-5009-8F36744CF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8964" y="347807"/>
            <a:ext cx="746725" cy="5416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812668-31AC-71FE-B7A8-2F582DB8A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546" y="82432"/>
            <a:ext cx="1000382" cy="10003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87BF18A-9A4A-980B-D08A-316201EE8305}"/>
              </a:ext>
            </a:extLst>
          </p:cNvPr>
          <p:cNvSpPr txBox="1"/>
          <p:nvPr/>
        </p:nvSpPr>
        <p:spPr>
          <a:xfrm>
            <a:off x="1482571" y="1225365"/>
            <a:ext cx="7659209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dirty="0">
                <a:latin typeface="VladaRHSerif Bld" panose="02000000000000000000" charset="-18"/>
                <a:ea typeface="VladaRHSerif Bld" panose="02000000000000000000" charset="-18"/>
              </a:rPr>
              <a:t>S</a:t>
            </a:r>
            <a:r>
              <a:rPr lang="en-US" dirty="0" err="1">
                <a:latin typeface="VladaRHSerif Bld" panose="02000000000000000000" charset="-18"/>
                <a:ea typeface="VladaRHSerif Bld" panose="02000000000000000000" charset="-18"/>
              </a:rPr>
              <a:t>alaries</a:t>
            </a:r>
            <a:r>
              <a:rPr lang="en-US" dirty="0">
                <a:latin typeface="VladaRHSerif Bld" panose="02000000000000000000" charset="-18"/>
                <a:ea typeface="VladaRHSerif Bld" panose="02000000000000000000" charset="-18"/>
              </a:rPr>
              <a:t> for civil servants - state budget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dirty="0">
                <a:latin typeface="VladaRHSerif Bld" panose="02000000000000000000" charset="-18"/>
                <a:ea typeface="VladaRHSerif Bld" panose="02000000000000000000" charset="-18"/>
              </a:rPr>
              <a:t>For financing </a:t>
            </a:r>
            <a:r>
              <a:rPr lang="en-US" dirty="0">
                <a:latin typeface="VladaRHSerif Bld" panose="02000000000000000000" charset="-18"/>
                <a:ea typeface="VladaRHSerif Bld" panose="02000000000000000000" charset="-18"/>
              </a:rPr>
              <a:t>Inventory </a:t>
            </a:r>
            <a:r>
              <a:rPr lang="hr-HR" dirty="0">
                <a:latin typeface="VladaRHSerif Bld" panose="02000000000000000000" charset="-18"/>
                <a:ea typeface="VladaRHSerif Bld" panose="02000000000000000000" charset="-18"/>
              </a:rPr>
              <a:t>(outsourced)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dirty="0">
                <a:latin typeface="VladaRHSerif Bld" panose="02000000000000000000" charset="-18"/>
                <a:ea typeface="VladaRHSerif Bld" panose="02000000000000000000" charset="-18"/>
              </a:rPr>
              <a:t>Projects for Inventory Improvements -</a:t>
            </a:r>
            <a:r>
              <a:rPr lang="en-US" dirty="0">
                <a:latin typeface="VladaRHSerif Bld" panose="02000000000000000000" charset="-18"/>
                <a:ea typeface="VladaRHSerif Bld" panose="02000000000000000000" charset="-18"/>
              </a:rPr>
              <a:t> revenues from auction rights (Article 1</a:t>
            </a:r>
            <a:r>
              <a:rPr lang="hr-HR" dirty="0">
                <a:latin typeface="VladaRHSerif Bld" panose="02000000000000000000" charset="-18"/>
                <a:ea typeface="VladaRHSerif Bld" panose="02000000000000000000" charset="-18"/>
              </a:rPr>
              <a:t>1</a:t>
            </a:r>
            <a:r>
              <a:rPr lang="en-US" dirty="0">
                <a:latin typeface="VladaRHSerif Bld" panose="02000000000000000000" charset="-18"/>
                <a:ea typeface="VladaRHSerif Bld" panose="02000000000000000000" charset="-18"/>
              </a:rPr>
              <a:t>0 of the Law)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dirty="0">
              <a:latin typeface="VladaRHSerif Bld" panose="02000000000000000000" charset="-18"/>
              <a:ea typeface="VladaRHSerif Bld" panose="02000000000000000000" charset="-1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VladaRHSerif Bld" panose="02000000000000000000" charset="-18"/>
                <a:ea typeface="VladaRHSerif Bld" panose="02000000000000000000" charset="-18"/>
              </a:rPr>
              <a:t>Ensure continuous funding</a:t>
            </a:r>
          </a:p>
          <a:p>
            <a:pPr>
              <a:lnSpc>
                <a:spcPct val="150000"/>
              </a:lnSpc>
            </a:pPr>
            <a:endParaRPr lang="en-US" dirty="0">
              <a:latin typeface="VladaRHSerif Bld" panose="02000000000000000000" charset="-18"/>
              <a:ea typeface="VladaRHSerif Bld" panose="02000000000000000000" charset="-18"/>
            </a:endParaRPr>
          </a:p>
          <a:p>
            <a:pPr>
              <a:lnSpc>
                <a:spcPct val="150000"/>
              </a:lnSpc>
            </a:pPr>
            <a:r>
              <a:rPr lang="hr-HR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158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1FCDB-71C9-EB20-A9FB-3F6FF3276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B00BF1A-F09C-6AC9-E36F-53EB25D81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546" y="143844"/>
            <a:ext cx="10060459" cy="877558"/>
          </a:xfrm>
        </p:spPr>
        <p:txBody>
          <a:bodyPr/>
          <a:lstStyle/>
          <a:p>
            <a:r>
              <a:rPr lang="hr-HR" dirty="0"/>
              <a:t>        Capacity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945F312-AE23-47BB-DE4F-F10E36815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4547" y="1219949"/>
            <a:ext cx="10060459" cy="4351338"/>
          </a:xfrm>
        </p:spPr>
        <p:txBody>
          <a:bodyPr>
            <a:normAutofit/>
          </a:bodyPr>
          <a:lstStyle/>
          <a:p>
            <a:pPr indent="0">
              <a:buNone/>
            </a:pPr>
            <a:r>
              <a:rPr lang="hr-HR" sz="2000" dirty="0"/>
              <a:t>The most chalenge !!!!</a:t>
            </a:r>
          </a:p>
          <a:p>
            <a:pPr indent="0">
              <a:buNone/>
            </a:pPr>
            <a:r>
              <a:rPr lang="hr-HR" sz="1800" dirty="0"/>
              <a:t>Inventory Team </a:t>
            </a:r>
            <a:endParaRPr lang="en-US" sz="1800" dirty="0"/>
          </a:p>
          <a:p>
            <a:pPr marL="514350" indent="-285750">
              <a:buFont typeface="Wingdings" panose="05000000000000000000" pitchFamily="2" charset="2"/>
              <a:buChar char="q"/>
            </a:pPr>
            <a:r>
              <a:rPr lang="en-US" sz="1600" dirty="0"/>
              <a:t>Sector experts - different areas of expertise</a:t>
            </a:r>
          </a:p>
          <a:p>
            <a:pPr indent="312738">
              <a:buNone/>
            </a:pPr>
            <a:r>
              <a:rPr lang="hr-HR" sz="1600" dirty="0"/>
              <a:t>-  </a:t>
            </a:r>
            <a:r>
              <a:rPr lang="en-US" sz="1600" dirty="0"/>
              <a:t>Generalist (QA/QC)</a:t>
            </a:r>
          </a:p>
          <a:p>
            <a:pPr indent="312738">
              <a:buNone/>
            </a:pPr>
            <a:r>
              <a:rPr lang="hr-HR" sz="1600" dirty="0"/>
              <a:t>-  </a:t>
            </a:r>
            <a:r>
              <a:rPr lang="en-US" sz="1600" dirty="0" err="1"/>
              <a:t>Energ</a:t>
            </a:r>
            <a:r>
              <a:rPr lang="hr-HR" sz="1600" dirty="0"/>
              <a:t>y</a:t>
            </a:r>
            <a:endParaRPr lang="en-US" sz="1600" dirty="0"/>
          </a:p>
          <a:p>
            <a:pPr indent="312738">
              <a:buNone/>
            </a:pPr>
            <a:r>
              <a:rPr lang="hr-HR" sz="1600" dirty="0"/>
              <a:t>-  </a:t>
            </a:r>
            <a:r>
              <a:rPr lang="en-US" sz="1600" dirty="0"/>
              <a:t>Industrial processes</a:t>
            </a:r>
          </a:p>
          <a:p>
            <a:pPr indent="312738">
              <a:buNone/>
            </a:pPr>
            <a:r>
              <a:rPr lang="hr-HR" sz="1600" dirty="0"/>
              <a:t>-  </a:t>
            </a:r>
            <a:r>
              <a:rPr lang="en-US" sz="1600" dirty="0"/>
              <a:t>Agriculture</a:t>
            </a:r>
          </a:p>
          <a:p>
            <a:pPr indent="312738">
              <a:buNone/>
            </a:pPr>
            <a:r>
              <a:rPr lang="hr-HR" sz="1600" dirty="0"/>
              <a:t>-  </a:t>
            </a:r>
            <a:r>
              <a:rPr lang="en-US" sz="1600" dirty="0"/>
              <a:t>LULUCF</a:t>
            </a:r>
          </a:p>
          <a:p>
            <a:pPr indent="312738">
              <a:buNone/>
            </a:pPr>
            <a:r>
              <a:rPr lang="hr-HR" sz="1600" dirty="0"/>
              <a:t>-  </a:t>
            </a:r>
            <a:r>
              <a:rPr lang="en-US" sz="1600" dirty="0"/>
              <a:t>Waste</a:t>
            </a:r>
          </a:p>
          <a:p>
            <a:pPr indent="312738">
              <a:buNone/>
            </a:pPr>
            <a:r>
              <a:rPr lang="hr-HR" sz="1600" dirty="0"/>
              <a:t>-  </a:t>
            </a:r>
            <a:r>
              <a:rPr lang="en-US" sz="1600" dirty="0"/>
              <a:t>Uncertainty and key sources</a:t>
            </a:r>
            <a:endParaRPr lang="hr-HR"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885A1D-FED5-9178-8486-94F787207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964" y="347807"/>
            <a:ext cx="746725" cy="5416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A82C7C-08ED-BD19-2F6D-A34670116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546" y="122512"/>
            <a:ext cx="746725" cy="8562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6C9A333-EB99-0F74-534C-C9AC2A3F36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855" y="2586950"/>
            <a:ext cx="3900225" cy="21581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0393905-8760-77D7-74AE-F91A3E91C3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658" y="889414"/>
            <a:ext cx="1223512" cy="122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252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9D613-3235-12FF-9A15-650C74EA3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2727E2C-1C9B-5D6A-2838-906F31E2E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546" y="143844"/>
            <a:ext cx="10060459" cy="877558"/>
          </a:xfrm>
        </p:spPr>
        <p:txBody>
          <a:bodyPr/>
          <a:lstStyle/>
          <a:p>
            <a:r>
              <a:rPr lang="hr-HR" dirty="0"/>
              <a:t>             Croatian Inventory team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8C72AA-CE3D-5A14-3563-83D58647A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372" y="165179"/>
            <a:ext cx="746725" cy="5416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01B104D-CEE1-9BD9-B944-04B539E27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420" y="165179"/>
            <a:ext cx="1302188" cy="72054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E3FD4DD-AD00-AEE7-0127-71F40AC5879C}"/>
              </a:ext>
            </a:extLst>
          </p:cNvPr>
          <p:cNvSpPr txBox="1"/>
          <p:nvPr/>
        </p:nvSpPr>
        <p:spPr>
          <a:xfrm>
            <a:off x="3142960" y="2201662"/>
            <a:ext cx="1748901" cy="55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r-HR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F4F97D-2A1C-5FBA-15A8-53B124ED2751}"/>
              </a:ext>
            </a:extLst>
          </p:cNvPr>
          <p:cNvSpPr txBox="1"/>
          <p:nvPr/>
        </p:nvSpPr>
        <p:spPr>
          <a:xfrm>
            <a:off x="1146420" y="1750217"/>
            <a:ext cx="2951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400" b="1" dirty="0">
                <a:ea typeface="VladaRHSerif Reg" panose="02000000000000000000" charset="-18"/>
              </a:rPr>
              <a:t>Directorate for Climate Transition</a:t>
            </a:r>
          </a:p>
          <a:p>
            <a:pPr marL="285750" indent="-200025">
              <a:buFont typeface="Arial" panose="020B0604020202020204" pitchFamily="34" charset="0"/>
              <a:buChar char="•"/>
            </a:pPr>
            <a:r>
              <a:rPr lang="hr-HR" sz="1200" dirty="0">
                <a:ea typeface="VladaRHSerif Reg" panose="02000000000000000000" charset="-18"/>
              </a:rPr>
              <a:t>National Focal Point  - UNFCCC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0F0EDD-4D52-36BA-39CA-896CA99A64E4}"/>
              </a:ext>
            </a:extLst>
          </p:cNvPr>
          <p:cNvSpPr txBox="1"/>
          <p:nvPr/>
        </p:nvSpPr>
        <p:spPr>
          <a:xfrm>
            <a:off x="8894128" y="1020362"/>
            <a:ext cx="2529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VladaRHSerif Reg" panose="02000000000000000000" charset="-18"/>
                <a:ea typeface="VladaRHSerif Reg" panose="02000000000000000000" charset="-18"/>
              </a:rPr>
              <a:t>Committee for inter-sectorial coordination for a national system for monitoring </a:t>
            </a:r>
            <a:r>
              <a:rPr lang="hr-HR" sz="1200" dirty="0">
                <a:latin typeface="VladaRHSerif Reg" panose="02000000000000000000" charset="-18"/>
                <a:ea typeface="VladaRHSerif Reg" panose="02000000000000000000" charset="-18"/>
              </a:rPr>
              <a:t>GHG</a:t>
            </a:r>
          </a:p>
        </p:txBody>
      </p:sp>
      <p:pic>
        <p:nvPicPr>
          <p:cNvPr id="1026" name="Picture 1" descr="Description: cid:image001.jpg@01CCE58E.3912EC80">
            <a:extLst>
              <a:ext uri="{FF2B5EF4-FFF2-40B4-BE49-F238E27FC236}">
                <a16:creationId xmlns:a16="http://schemas.microsoft.com/office/drawing/2014/main" id="{7921A6FC-0359-AF86-340F-36B8159FB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928" y="1010112"/>
            <a:ext cx="909666" cy="650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34F0A85-6246-0E6E-DA23-52C555A77FFC}"/>
              </a:ext>
            </a:extLst>
          </p:cNvPr>
          <p:cNvSpPr txBox="1"/>
          <p:nvPr/>
        </p:nvSpPr>
        <p:spPr>
          <a:xfrm>
            <a:off x="8763409" y="1811364"/>
            <a:ext cx="334185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hr-HR" sz="1100" dirty="0">
                <a:latin typeface="VladaRHSerif Reg" panose="02000000000000000000" charset="-18"/>
                <a:ea typeface="VladaRHSerif Reg" panose="02000000000000000000" charset="-18"/>
              </a:rPr>
              <a:t>Work is coordinated by MEPGT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hr-HR" sz="1100" dirty="0">
              <a:latin typeface="VladaRHSerif Reg" panose="02000000000000000000" charset="-18"/>
              <a:ea typeface="VladaRHSerif Reg" panose="02000000000000000000" charset="-1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r-HR" sz="1100" dirty="0">
                <a:latin typeface="VladaRHSerif Reg" panose="02000000000000000000" charset="-18"/>
                <a:ea typeface="VladaRHSerif Reg" panose="02000000000000000000" charset="-18"/>
              </a:rPr>
              <a:t>38 representatives from varius govermental and public institutions and acadamy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hr-HR" sz="1100" dirty="0">
              <a:latin typeface="VladaRHSerif Reg" panose="02000000000000000000" charset="-18"/>
              <a:ea typeface="VladaRHSerif Reg" panose="02000000000000000000" charset="-1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hr-HR" sz="1100" dirty="0">
              <a:latin typeface="VladaRHSerif Reg" panose="02000000000000000000" charset="-18"/>
              <a:ea typeface="VladaRHSerif Reg" panose="02000000000000000000" charset="-18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E9D064E-8720-6735-083A-2573290E19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4874" y="955843"/>
            <a:ext cx="2882246" cy="677204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43F3800-184C-A185-89F7-A532E2F1BC79}"/>
              </a:ext>
            </a:extLst>
          </p:cNvPr>
          <p:cNvSpPr txBox="1"/>
          <p:nvPr/>
        </p:nvSpPr>
        <p:spPr>
          <a:xfrm>
            <a:off x="5720505" y="1064428"/>
            <a:ext cx="2452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400" dirty="0"/>
              <a:t>EKONERG, </a:t>
            </a:r>
            <a:r>
              <a:rPr lang="hr-HR" sz="1200" dirty="0"/>
              <a:t>legal entity</a:t>
            </a:r>
          </a:p>
          <a:p>
            <a:r>
              <a:rPr lang="hr-HR" sz="1400" dirty="0">
                <a:latin typeface="VladaRHSerif Reg" panose="02000000000000000000" charset="-18"/>
                <a:ea typeface="VladaRHSerif Reg" panose="02000000000000000000" charset="-18"/>
              </a:rPr>
              <a:t>Authorised Institution</a:t>
            </a: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D2936760-D4DE-00AC-DFD3-D88068CE19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031385"/>
              </p:ext>
            </p:extLst>
          </p:nvPr>
        </p:nvGraphicFramePr>
        <p:xfrm>
          <a:off x="4830692" y="1996438"/>
          <a:ext cx="3341850" cy="33089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7967">
                  <a:extLst>
                    <a:ext uri="{9D8B030D-6E8A-4147-A177-3AD203B41FA5}">
                      <a16:colId xmlns:a16="http://schemas.microsoft.com/office/drawing/2014/main" val="2041073942"/>
                    </a:ext>
                  </a:extLst>
                </a:gridCol>
                <a:gridCol w="2383883">
                  <a:extLst>
                    <a:ext uri="{9D8B030D-6E8A-4147-A177-3AD203B41FA5}">
                      <a16:colId xmlns:a16="http://schemas.microsoft.com/office/drawing/2014/main" val="3641910678"/>
                    </a:ext>
                  </a:extLst>
                </a:gridCol>
              </a:tblGrid>
              <a:tr h="352020">
                <a:tc>
                  <a:txBody>
                    <a:bodyPr/>
                    <a:lstStyle/>
                    <a:p>
                      <a:r>
                        <a:rPr lang="hr-HR" sz="1200" dirty="0"/>
                        <a:t>Generalist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/>
                        <a:t>Iva Švedek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9491"/>
                  </a:ext>
                </a:extLst>
              </a:tr>
              <a:tr h="352020">
                <a:tc>
                  <a:txBody>
                    <a:bodyPr/>
                    <a:lstStyle/>
                    <a:p>
                      <a:r>
                        <a:rPr lang="hr-HR" sz="1200" dirty="0"/>
                        <a:t>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/>
                        <a:t>Iva Švedek, Valentina Delija Ružić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207897"/>
                  </a:ext>
                </a:extLst>
              </a:tr>
              <a:tr h="352020">
                <a:tc>
                  <a:txBody>
                    <a:bodyPr/>
                    <a:lstStyle/>
                    <a:p>
                      <a:r>
                        <a:rPr lang="hr-HR" sz="1200" dirty="0"/>
                        <a:t>IPPU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/>
                        <a:t>Renata Kos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951857"/>
                  </a:ext>
                </a:extLst>
              </a:tr>
              <a:tr h="352020">
                <a:tc>
                  <a:txBody>
                    <a:bodyPr/>
                    <a:lstStyle/>
                    <a:p>
                      <a:r>
                        <a:rPr lang="hr-HR" sz="1200" dirty="0"/>
                        <a:t>Agriculture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/>
                        <a:t>Berislav Marković, Karlo Pešić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151366"/>
                  </a:ext>
                </a:extLst>
              </a:tr>
              <a:tr h="598433">
                <a:tc>
                  <a:txBody>
                    <a:bodyPr/>
                    <a:lstStyle/>
                    <a:p>
                      <a:r>
                        <a:rPr lang="hr-HR" sz="1200" dirty="0"/>
                        <a:t>LULUCF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/>
                        <a:t>Delfa Radoš, Stjepan Hima, Karlo Pešić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903091"/>
                  </a:ext>
                </a:extLst>
              </a:tr>
              <a:tr h="352020">
                <a:tc>
                  <a:txBody>
                    <a:bodyPr/>
                    <a:lstStyle/>
                    <a:p>
                      <a:r>
                        <a:rPr lang="hr-HR" sz="1200" dirty="0"/>
                        <a:t>Waste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/>
                        <a:t>Andrea Hublin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317378"/>
                  </a:ext>
                </a:extLst>
              </a:tr>
              <a:tr h="598433">
                <a:tc>
                  <a:txBody>
                    <a:bodyPr/>
                    <a:lstStyle/>
                    <a:p>
                      <a:pPr>
                        <a:tabLst/>
                      </a:pPr>
                      <a:r>
                        <a:rPr lang="hr-HR" sz="1200" dirty="0"/>
                        <a:t>Uncertainty &amp; 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/>
                        <a:t>Karlo Pešić, Iva Švedek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24378"/>
                  </a:ext>
                </a:extLst>
              </a:tr>
              <a:tr h="352020">
                <a:tc>
                  <a:txBody>
                    <a:bodyPr/>
                    <a:lstStyle/>
                    <a:p>
                      <a:r>
                        <a:rPr lang="hr-HR" sz="1200" dirty="0"/>
                        <a:t>Pollutants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/>
                        <a:t>Mirela Poljanac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454955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60323D40-F681-BEF8-CF12-80C01B8464FC}"/>
              </a:ext>
            </a:extLst>
          </p:cNvPr>
          <p:cNvSpPr txBox="1"/>
          <p:nvPr/>
        </p:nvSpPr>
        <p:spPr>
          <a:xfrm>
            <a:off x="1146420" y="2252872"/>
            <a:ext cx="315457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Sector for financing, implementation and monitoring of the reduction of </a:t>
            </a:r>
            <a:r>
              <a:rPr lang="hr-HR" sz="12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GHG </a:t>
            </a:r>
            <a:r>
              <a:rPr lang="en-GB" sz="12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emissions</a:t>
            </a:r>
            <a:endParaRPr lang="hr-HR" sz="1200" dirty="0">
              <a:effectLst/>
              <a:latin typeface="Calibri" panose="020F0502020204030204" pitchFamily="34" charset="0"/>
              <a:ea typeface="Aptos" panose="020B0004020202020204" pitchFamily="34" charset="0"/>
            </a:endParaRPr>
          </a:p>
          <a:p>
            <a:pPr marL="285750" indent="-200025">
              <a:buFont typeface="Arial" panose="020B0604020202020204" pitchFamily="34" charset="0"/>
              <a:buChar char="•"/>
            </a:pPr>
            <a:r>
              <a:rPr lang="hr-HR" sz="1050" dirty="0">
                <a:latin typeface="VladaRHSerif Reg" panose="02000000000000000000" charset="-18"/>
                <a:ea typeface="VladaRHSerif Reg" panose="02000000000000000000" charset="-18"/>
              </a:rPr>
              <a:t>Submmision to UNFCCC, </a:t>
            </a:r>
          </a:p>
          <a:p>
            <a:pPr marL="285750" indent="-200025">
              <a:buFont typeface="Arial" panose="020B0604020202020204" pitchFamily="34" charset="0"/>
              <a:buChar char="•"/>
            </a:pPr>
            <a:r>
              <a:rPr lang="hr-HR" sz="1050" dirty="0">
                <a:latin typeface="VladaRHSerif Reg" panose="02000000000000000000" charset="-18"/>
                <a:ea typeface="VladaRHSerif Reg" panose="02000000000000000000" charset="-18"/>
              </a:rPr>
              <a:t>Review coordination (UNFCCC)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3B2A9E-F3F3-7224-58D8-6D7EA1CC1332}"/>
              </a:ext>
            </a:extLst>
          </p:cNvPr>
          <p:cNvSpPr txBox="1"/>
          <p:nvPr/>
        </p:nvSpPr>
        <p:spPr>
          <a:xfrm>
            <a:off x="1134874" y="3256341"/>
            <a:ext cx="315457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Institute for Environment and Nature</a:t>
            </a:r>
            <a:endParaRPr lang="hr-HR" sz="1400" b="1" dirty="0">
              <a:effectLst/>
              <a:latin typeface="Calibri" panose="020F0502020204030204" pitchFamily="34" charset="0"/>
              <a:ea typeface="Aptos" panose="020B0004020202020204" pitchFamily="34" charset="0"/>
            </a:endParaRPr>
          </a:p>
          <a:p>
            <a:pPr marL="285750" indent="-200025">
              <a:buFont typeface="Arial" panose="020B0604020202020204" pitchFamily="34" charset="0"/>
              <a:buChar char="•"/>
            </a:pPr>
            <a:r>
              <a:rPr lang="hr-HR" sz="1050" dirty="0">
                <a:latin typeface="VladaRHSerif Reg" panose="02000000000000000000" charset="-18"/>
                <a:ea typeface="VladaRHSerif Reg" panose="02000000000000000000" charset="-18"/>
              </a:rPr>
              <a:t>NFP to EEA </a:t>
            </a:r>
          </a:p>
          <a:p>
            <a:pPr marL="285750" indent="-200025">
              <a:buFont typeface="Arial" panose="020B0604020202020204" pitchFamily="34" charset="0"/>
              <a:buChar char="•"/>
            </a:pPr>
            <a:r>
              <a:rPr lang="hr-HR" sz="1050" dirty="0">
                <a:latin typeface="VladaRHSerif Reg" panose="02000000000000000000" charset="-18"/>
                <a:ea typeface="VladaRHSerif Reg" panose="02000000000000000000" charset="-18"/>
              </a:rPr>
              <a:t>Election of Authorised Institution, Director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F362EE-D8E2-37A3-D646-8CD07120DE8B}"/>
              </a:ext>
            </a:extLst>
          </p:cNvPr>
          <p:cNvSpPr txBox="1"/>
          <p:nvPr/>
        </p:nvSpPr>
        <p:spPr>
          <a:xfrm>
            <a:off x="1146420" y="3952179"/>
            <a:ext cx="31545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Air Protection and Climate Activities Service</a:t>
            </a:r>
            <a:endParaRPr lang="hr-HR" sz="1200" dirty="0">
              <a:effectLst/>
              <a:latin typeface="Calibri" panose="020F0502020204030204" pitchFamily="34" charset="0"/>
              <a:ea typeface="Aptos" panose="020B0004020202020204" pitchFamily="34" charset="0"/>
            </a:endParaRPr>
          </a:p>
          <a:p>
            <a:pPr marL="285750" indent="-200025">
              <a:buFont typeface="Arial" panose="020B0604020202020204" pitchFamily="34" charset="0"/>
              <a:buChar char="•"/>
            </a:pPr>
            <a:r>
              <a:rPr lang="hr-HR" sz="1050" dirty="0">
                <a:latin typeface="VladaRHSerif Reg" panose="02000000000000000000" charset="-18"/>
                <a:ea typeface="VladaRHSerif Reg" panose="02000000000000000000" charset="-18"/>
              </a:rPr>
              <a:t>Lead Reporter, Tatjana Obučina</a:t>
            </a:r>
          </a:p>
          <a:p>
            <a:pPr marL="285750" indent="-200025">
              <a:buFont typeface="Arial" panose="020B0604020202020204" pitchFamily="34" charset="0"/>
              <a:buChar char="•"/>
            </a:pPr>
            <a:r>
              <a:rPr lang="hr-HR" sz="1050" dirty="0">
                <a:latin typeface="VladaRHSerif Reg" panose="02000000000000000000" charset="-18"/>
                <a:ea typeface="VladaRHSerif Reg" panose="02000000000000000000" charset="-18"/>
              </a:rPr>
              <a:t>Project Leader, Tatjana Obučina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3DE2EA4-E09D-074D-45E0-854474D732B5}"/>
              </a:ext>
            </a:extLst>
          </p:cNvPr>
          <p:cNvSpPr txBox="1"/>
          <p:nvPr/>
        </p:nvSpPr>
        <p:spPr>
          <a:xfrm>
            <a:off x="1134874" y="4617239"/>
            <a:ext cx="334185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Emissions Monitoring and Reporting Department</a:t>
            </a:r>
            <a:endParaRPr lang="hr-HR" sz="12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266700" indent="-180975">
              <a:buFont typeface="Arial" panose="020B0604020202020204" pitchFamily="34" charset="0"/>
              <a:buChar char="•"/>
            </a:pPr>
            <a:r>
              <a:rPr lang="hr-HR" sz="1050" dirty="0">
                <a:latin typeface="VladaRHSerif Reg" panose="02000000000000000000" charset="-18"/>
                <a:ea typeface="VladaRHSerif Reg" panose="02000000000000000000" charset="-18"/>
              </a:rPr>
              <a:t>Data Collection, Iva Prgomet Ernst</a:t>
            </a:r>
          </a:p>
          <a:p>
            <a:pPr marL="266700" indent="-180975">
              <a:buFont typeface="Arial" panose="020B0604020202020204" pitchFamily="34" charset="0"/>
              <a:buChar char="•"/>
            </a:pPr>
            <a:r>
              <a:rPr lang="hr-HR" sz="1050" dirty="0">
                <a:latin typeface="VladaRHSerif Reg" panose="02000000000000000000" charset="-18"/>
                <a:ea typeface="VladaRHSerif Reg" panose="02000000000000000000" charset="-18"/>
              </a:rPr>
              <a:t>QA/QC, Iva Prgomet Ernst</a:t>
            </a:r>
          </a:p>
          <a:p>
            <a:pPr marL="266700" indent="-180975">
              <a:buFont typeface="Arial" panose="020B0604020202020204" pitchFamily="34" charset="0"/>
              <a:buChar char="•"/>
            </a:pPr>
            <a:r>
              <a:rPr lang="hr-HR" sz="1050" dirty="0">
                <a:latin typeface="VladaRHSerif Reg" panose="02000000000000000000" charset="-18"/>
                <a:ea typeface="VladaRHSerif Reg" panose="02000000000000000000" charset="-18"/>
              </a:rPr>
              <a:t>Data Archiving</a:t>
            </a:r>
          </a:p>
          <a:p>
            <a:pPr marL="266700" indent="-180975">
              <a:buFont typeface="Arial" panose="020B0604020202020204" pitchFamily="34" charset="0"/>
              <a:buChar char="•"/>
            </a:pPr>
            <a:r>
              <a:rPr lang="hr-HR" sz="1050" dirty="0">
                <a:latin typeface="VladaRHSerif Reg" panose="02000000000000000000" charset="-18"/>
                <a:ea typeface="VladaRHSerif Reg" panose="02000000000000000000" charset="-18"/>
              </a:rPr>
              <a:t>Improvement proposals</a:t>
            </a:r>
          </a:p>
          <a:p>
            <a:pPr marL="266700" indent="-180975">
              <a:buFont typeface="Arial" panose="020B0604020202020204" pitchFamily="34" charset="0"/>
              <a:buChar char="•"/>
            </a:pPr>
            <a:r>
              <a:rPr lang="hr-HR" sz="1050" dirty="0">
                <a:latin typeface="VladaRHSerif Reg" panose="02000000000000000000" charset="-18"/>
                <a:ea typeface="VladaRHSerif Reg" panose="02000000000000000000" charset="-18"/>
              </a:rPr>
              <a:t>Review coordination (EK)</a:t>
            </a:r>
          </a:p>
          <a:p>
            <a:pPr marL="266700" indent="-180975">
              <a:buFont typeface="Arial" panose="020B0604020202020204" pitchFamily="34" charset="0"/>
              <a:buChar char="•"/>
            </a:pPr>
            <a:endParaRPr lang="hr-HR" sz="1050" dirty="0">
              <a:latin typeface="VladaRHSerif Reg" panose="02000000000000000000" charset="-18"/>
              <a:ea typeface="VladaRHSerif Reg" panose="02000000000000000000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924112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04E6F-61BB-75FA-11A5-B158493F8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9E901EE-A5DA-1B72-46C3-19DC5CC5C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546" y="143844"/>
            <a:ext cx="10060459" cy="877558"/>
          </a:xfrm>
        </p:spPr>
        <p:txBody>
          <a:bodyPr/>
          <a:lstStyle/>
          <a:p>
            <a:r>
              <a:rPr lang="hr-HR" dirty="0"/>
              <a:t>       Capacity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AF91657-2810-3FF1-A579-BE2F84CCE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4545" y="1059028"/>
            <a:ext cx="10060459" cy="4351338"/>
          </a:xfrm>
        </p:spPr>
        <p:txBody>
          <a:bodyPr>
            <a:normAutofit/>
          </a:bodyPr>
          <a:lstStyle/>
          <a:p>
            <a:pPr indent="0">
              <a:buNone/>
            </a:pPr>
            <a:endParaRPr lang="hr-HR" sz="2000" dirty="0"/>
          </a:p>
          <a:p>
            <a:pPr indent="0">
              <a:buNone/>
            </a:pPr>
            <a:endParaRPr lang="hr-HR"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E6F72E-9E44-0430-2490-CCF599D7A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964" y="347807"/>
            <a:ext cx="746725" cy="5416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7DBEA63-6067-61BA-B408-77EB192EC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039" y="106465"/>
            <a:ext cx="746725" cy="8562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705F7F-17FD-83EC-84A3-EFB1213ACC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63" y="3429000"/>
            <a:ext cx="1598341" cy="15743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E4FBB22-04BD-8471-4DED-71F33BC34D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932" y="3301174"/>
            <a:ext cx="1496601" cy="1496601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AF7CA8-BC74-811C-44BF-A912D6554C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9502" y="3455806"/>
            <a:ext cx="2406158" cy="16041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8B8D6A-6B11-0103-9964-D832F7078880}"/>
              </a:ext>
            </a:extLst>
          </p:cNvPr>
          <p:cNvSpPr txBox="1"/>
          <p:nvPr/>
        </p:nvSpPr>
        <p:spPr>
          <a:xfrm>
            <a:off x="1417757" y="1166359"/>
            <a:ext cx="829441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2400" dirty="0">
                <a:latin typeface="VladaRHSerif Bld" panose="02000000000000000000" charset="-18"/>
                <a:ea typeface="VladaRHSerif Bld" panose="02000000000000000000" charset="-18"/>
              </a:rPr>
              <a:t>-  </a:t>
            </a:r>
            <a:r>
              <a:rPr lang="hr-HR" sz="2400" dirty="0">
                <a:latin typeface="VladaRHSerif Reg" panose="02000000000000000000" charset="-18"/>
                <a:ea typeface="VladaRHSerif Reg" panose="02000000000000000000" charset="-18"/>
              </a:rPr>
              <a:t>t</a:t>
            </a:r>
            <a:r>
              <a:rPr lang="en-US" sz="2400" dirty="0">
                <a:latin typeface="VladaRHSerif Reg" panose="02000000000000000000" charset="-18"/>
                <a:ea typeface="VladaRHSerif Reg" panose="02000000000000000000" charset="-18"/>
              </a:rPr>
              <a:t>he National System is made up of PEOPLE!!! </a:t>
            </a:r>
            <a:endParaRPr lang="hr-HR" sz="2400" dirty="0">
              <a:latin typeface="VladaRHSerif Reg" panose="02000000000000000000" charset="-18"/>
              <a:ea typeface="VladaRHSerif Reg" panose="02000000000000000000" charset="-18"/>
            </a:endParaRPr>
          </a:p>
          <a:p>
            <a:endParaRPr lang="hr-HR" sz="2400" dirty="0">
              <a:latin typeface="VladaRHSerif Reg" panose="02000000000000000000" charset="-18"/>
              <a:ea typeface="VladaRHSerif Reg" panose="02000000000000000000" charset="-18"/>
            </a:endParaRPr>
          </a:p>
          <a:p>
            <a:r>
              <a:rPr lang="hr-HR" sz="2400" dirty="0">
                <a:latin typeface="VladaRHSerif Reg" panose="02000000000000000000" charset="-18"/>
                <a:ea typeface="VladaRHSerif Reg" panose="02000000000000000000" charset="-18"/>
              </a:rPr>
              <a:t>-  c</a:t>
            </a:r>
            <a:r>
              <a:rPr lang="en-US" sz="2400" dirty="0" err="1">
                <a:latin typeface="VladaRHSerif Reg" panose="02000000000000000000" charset="-18"/>
                <a:ea typeface="VladaRHSerif Reg" panose="02000000000000000000" charset="-18"/>
              </a:rPr>
              <a:t>ontinuously</a:t>
            </a:r>
            <a:r>
              <a:rPr lang="en-US" sz="2400" dirty="0">
                <a:latin typeface="VladaRHSerif Reg" panose="02000000000000000000" charset="-18"/>
                <a:ea typeface="VladaRHSerif Reg" panose="02000000000000000000" charset="-18"/>
              </a:rPr>
              <a:t> work on the System</a:t>
            </a:r>
            <a:r>
              <a:rPr lang="hr-HR" sz="2400" dirty="0">
                <a:latin typeface="VladaRHSerif Reg" panose="02000000000000000000" charset="-18"/>
                <a:ea typeface="VladaRHSerif Reg" panose="02000000000000000000" charset="-18"/>
              </a:rPr>
              <a:t> </a:t>
            </a:r>
            <a:r>
              <a:rPr lang="en-US" sz="2400" dirty="0">
                <a:latin typeface="VladaRHSerif Reg" panose="02000000000000000000" charset="-18"/>
                <a:ea typeface="VladaRHSerif Reg" panose="02000000000000000000" charset="-18"/>
              </a:rPr>
              <a:t>!!!! </a:t>
            </a:r>
            <a:endParaRPr lang="hr-HR" sz="2400" dirty="0">
              <a:latin typeface="VladaRHSerif Reg" panose="02000000000000000000" charset="-18"/>
              <a:ea typeface="VladaRHSerif Reg" panose="02000000000000000000" charset="-18"/>
            </a:endParaRPr>
          </a:p>
          <a:p>
            <a:endParaRPr lang="hr-HR" sz="2400" dirty="0">
              <a:latin typeface="VladaRHSerif Reg" panose="02000000000000000000" charset="-18"/>
              <a:ea typeface="VladaRHSerif Reg" panose="02000000000000000000" charset="-18"/>
            </a:endParaRPr>
          </a:p>
          <a:p>
            <a:r>
              <a:rPr lang="hr-HR" sz="2400" dirty="0">
                <a:latin typeface="VladaRHSerif Reg" panose="02000000000000000000" charset="-18"/>
                <a:ea typeface="VladaRHSerif Reg" panose="02000000000000000000" charset="-18"/>
              </a:rPr>
              <a:t>-  m</a:t>
            </a:r>
            <a:r>
              <a:rPr lang="en-US" sz="2400" dirty="0" err="1">
                <a:latin typeface="VladaRHSerif Reg" panose="02000000000000000000" charset="-18"/>
                <a:ea typeface="VladaRHSerif Reg" panose="02000000000000000000" charset="-18"/>
              </a:rPr>
              <a:t>aintain</a:t>
            </a:r>
            <a:r>
              <a:rPr lang="en-US" sz="2400" dirty="0">
                <a:latin typeface="VladaRHSerif Reg" panose="02000000000000000000" charset="-18"/>
                <a:ea typeface="VladaRHSerif Reg" panose="02000000000000000000" charset="-18"/>
              </a:rPr>
              <a:t> </a:t>
            </a:r>
            <a:r>
              <a:rPr lang="hr-HR" sz="2400" dirty="0">
                <a:latin typeface="VladaRHSerif Reg" panose="02000000000000000000" charset="-18"/>
                <a:ea typeface="VladaRHSerif Reg" panose="02000000000000000000" charset="-18"/>
              </a:rPr>
              <a:t>it </a:t>
            </a:r>
            <a:r>
              <a:rPr lang="en-US" sz="2400" dirty="0">
                <a:latin typeface="VladaRHSerif Reg" panose="02000000000000000000" charset="-18"/>
                <a:ea typeface="VladaRHSerif Reg" panose="02000000000000000000" charset="-18"/>
              </a:rPr>
              <a:t>and IMPROVE it</a:t>
            </a:r>
            <a:r>
              <a:rPr lang="hr-HR" sz="2400" dirty="0">
                <a:latin typeface="VladaRHSerif Reg" panose="02000000000000000000" charset="-18"/>
                <a:ea typeface="VladaRHSerif Reg" panose="02000000000000000000" charset="-18"/>
              </a:rPr>
              <a:t>!!!</a:t>
            </a:r>
          </a:p>
        </p:txBody>
      </p:sp>
    </p:spTree>
    <p:extLst>
      <p:ext uri="{BB962C8B-B14F-4D97-AF65-F5344CB8AC3E}">
        <p14:creationId xmlns:p14="http://schemas.microsoft.com/office/powerpoint/2010/main" val="2880555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E2E5F-2B12-B1A5-FCA9-3BA58E89C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F95215D-11BF-F27B-D25F-402FAD314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4546" y="1197034"/>
            <a:ext cx="10060459" cy="4106486"/>
          </a:xfrm>
        </p:spPr>
        <p:txBody>
          <a:bodyPr>
            <a:normAutofit/>
          </a:bodyPr>
          <a:lstStyle/>
          <a:p>
            <a:pPr>
              <a:tabLst>
                <a:tab pos="8248650" algn="l"/>
              </a:tabLst>
            </a:pPr>
            <a:r>
              <a:rPr lang="hr-HR" sz="2200" dirty="0"/>
              <a:t>Croatia </a:t>
            </a:r>
            <a:r>
              <a:rPr lang="hr-HR" sz="2200" b="1" dirty="0"/>
              <a:t>meets</a:t>
            </a:r>
            <a:r>
              <a:rPr lang="hr-HR" sz="2200" dirty="0"/>
              <a:t> reporting obligations - </a:t>
            </a:r>
            <a:r>
              <a:rPr lang="hr-HR" sz="2200" dirty="0">
                <a:sym typeface="Wingdings" panose="05000000000000000000" pitchFamily="2" charset="2"/>
              </a:rPr>
              <a:t></a:t>
            </a:r>
          </a:p>
          <a:p>
            <a:pPr>
              <a:tabLst>
                <a:tab pos="8248650" algn="l"/>
              </a:tabLst>
            </a:pPr>
            <a:r>
              <a:rPr lang="hr-HR" altLang="sr-Latn-RS" sz="2200" dirty="0">
                <a:cs typeface="Arial" panose="020B0604020202020204" pitchFamily="34" charset="0"/>
              </a:rPr>
              <a:t>Croatia </a:t>
            </a:r>
            <a:r>
              <a:rPr lang="hr-HR" altLang="sr-Latn-RS" sz="2200" b="1" dirty="0">
                <a:cs typeface="Arial" panose="020B0604020202020204" pitchFamily="34" charset="0"/>
              </a:rPr>
              <a:t>has </a:t>
            </a:r>
            <a:r>
              <a:rPr lang="en-US" altLang="sr-Latn-RS" sz="2200" b="1" dirty="0">
                <a:cs typeface="Arial" panose="020B0604020202020204" pitchFamily="34" charset="0"/>
              </a:rPr>
              <a:t>established </a:t>
            </a:r>
            <a:r>
              <a:rPr lang="en-US" altLang="sr-Latn-RS" sz="2200" dirty="0">
                <a:cs typeface="Arial" panose="020B0604020202020204" pitchFamily="34" charset="0"/>
              </a:rPr>
              <a:t>national system with all legal and institutional</a:t>
            </a:r>
            <a:r>
              <a:rPr lang="hr-HR" altLang="sr-Latn-RS" sz="2200" dirty="0">
                <a:cs typeface="Arial" panose="020B0604020202020204" pitchFamily="34" charset="0"/>
              </a:rPr>
              <a:t> arrangements </a:t>
            </a:r>
            <a:r>
              <a:rPr lang="en-US" altLang="sr-Latn-RS" sz="2200" dirty="0">
                <a:cs typeface="Arial" panose="020B0604020202020204" pitchFamily="34" charset="0"/>
              </a:rPr>
              <a:t>with clear tasks  breakdown between participating institutions </a:t>
            </a:r>
            <a:r>
              <a:rPr lang="hr-HR" sz="2200" dirty="0">
                <a:sym typeface="Wingdings" panose="05000000000000000000" pitchFamily="2" charset="2"/>
              </a:rPr>
              <a:t></a:t>
            </a:r>
            <a:r>
              <a:rPr lang="hr-HR" sz="2200" dirty="0"/>
              <a:t>   </a:t>
            </a:r>
          </a:p>
          <a:p>
            <a:r>
              <a:rPr lang="hr-HR" sz="2200" dirty="0">
                <a:cs typeface="Arial" panose="020B0604020202020204" pitchFamily="34" charset="0"/>
              </a:rPr>
              <a:t>Croatia has </a:t>
            </a:r>
            <a:r>
              <a:rPr lang="en-US" sz="2200" dirty="0">
                <a:cs typeface="Arial" panose="020B0604020202020204" pitchFamily="34" charset="0"/>
              </a:rPr>
              <a:t>established Committee for national system </a:t>
            </a:r>
            <a:r>
              <a:rPr lang="hr-HR" sz="2200" dirty="0">
                <a:cs typeface="Arial" panose="020B0604020202020204" pitchFamily="34" charset="0"/>
              </a:rPr>
              <a:t>– (verification)  </a:t>
            </a:r>
            <a:r>
              <a:rPr lang="hr-HR" sz="2200" dirty="0">
                <a:cs typeface="Arial" panose="020B0604020202020204" pitchFamily="34" charset="0"/>
                <a:sym typeface="Wingdings" panose="05000000000000000000" pitchFamily="2" charset="2"/>
              </a:rPr>
              <a:t></a:t>
            </a:r>
            <a:endParaRPr lang="hr-HR" sz="2200" dirty="0">
              <a:cs typeface="Arial" panose="020B0604020202020204" pitchFamily="34" charset="0"/>
            </a:endParaRPr>
          </a:p>
          <a:p>
            <a:r>
              <a:rPr lang="hr-HR" sz="2200" dirty="0"/>
              <a:t>Croatia </a:t>
            </a:r>
            <a:r>
              <a:rPr lang="hr-HR" sz="2200" b="1" dirty="0"/>
              <a:t>has ensured </a:t>
            </a:r>
            <a:r>
              <a:rPr lang="en-US" sz="2200" b="1" dirty="0"/>
              <a:t>financial means </a:t>
            </a:r>
            <a:r>
              <a:rPr lang="en-US" sz="2200" dirty="0"/>
              <a:t>for necessary researches are available from</a:t>
            </a:r>
            <a:r>
              <a:rPr lang="hr-HR" sz="2200" dirty="0"/>
              <a:t> auctioning revenues </a:t>
            </a:r>
            <a:r>
              <a:rPr lang="hr-HR" sz="2200" dirty="0">
                <a:sym typeface="Wingdings" panose="05000000000000000000" pitchFamily="2" charset="2"/>
              </a:rPr>
              <a:t></a:t>
            </a:r>
            <a:endParaRPr lang="hr-HR" sz="2200" dirty="0"/>
          </a:p>
          <a:p>
            <a:r>
              <a:rPr lang="en-US" sz="2200" dirty="0"/>
              <a:t>Authorized Institution </a:t>
            </a:r>
            <a:r>
              <a:rPr lang="hr-HR" sz="2200" dirty="0"/>
              <a:t>is </a:t>
            </a:r>
            <a:r>
              <a:rPr lang="en-US" sz="2200" dirty="0"/>
              <a:t>elected for </a:t>
            </a:r>
            <a:r>
              <a:rPr lang="en-US" sz="2200" b="1" dirty="0"/>
              <a:t>three</a:t>
            </a:r>
            <a:r>
              <a:rPr lang="hr-HR" sz="2200" b="1" dirty="0"/>
              <a:t> </a:t>
            </a:r>
            <a:r>
              <a:rPr lang="en-US" sz="2200" b="1" dirty="0"/>
              <a:t>year</a:t>
            </a:r>
            <a:r>
              <a:rPr lang="hr-HR" sz="2200" b="1" dirty="0"/>
              <a:t>s</a:t>
            </a:r>
            <a:r>
              <a:rPr lang="en-US" sz="2200" b="1" dirty="0"/>
              <a:t> period </a:t>
            </a:r>
            <a:r>
              <a:rPr lang="en-US" sz="2200" dirty="0"/>
              <a:t>by public tender</a:t>
            </a:r>
            <a:r>
              <a:rPr lang="hr-HR" sz="2200" dirty="0"/>
              <a:t> </a:t>
            </a:r>
            <a:r>
              <a:rPr lang="hr-HR" sz="2200" dirty="0">
                <a:sym typeface="Wingdings" panose="05000000000000000000" pitchFamily="2" charset="2"/>
              </a:rPr>
              <a:t> </a:t>
            </a:r>
          </a:p>
          <a:p>
            <a:pPr marL="0" indent="0">
              <a:buNone/>
            </a:pPr>
            <a:r>
              <a:rPr lang="hr-HR" sz="2200" dirty="0"/>
              <a:t>    (3 years contract ensures </a:t>
            </a:r>
            <a:r>
              <a:rPr lang="en-US" sz="2200" dirty="0"/>
              <a:t>a more or less comfortable inventory cycle</a:t>
            </a:r>
            <a:r>
              <a:rPr lang="hr-HR" sz="2200" dirty="0"/>
              <a:t>)</a:t>
            </a:r>
          </a:p>
          <a:p>
            <a:r>
              <a:rPr lang="hr-HR" sz="2200" dirty="0"/>
              <a:t>A g</a:t>
            </a:r>
            <a:r>
              <a:rPr lang="en-US" sz="2200" dirty="0" err="1"/>
              <a:t>ood</a:t>
            </a:r>
            <a:r>
              <a:rPr lang="en-US" sz="2200" dirty="0"/>
              <a:t> cooperation with research institutions</a:t>
            </a:r>
            <a:r>
              <a:rPr lang="hr-HR" sz="2200" dirty="0"/>
              <a:t> is </a:t>
            </a:r>
            <a:r>
              <a:rPr lang="en-US" sz="2200" dirty="0"/>
              <a:t>established </a:t>
            </a:r>
            <a:r>
              <a:rPr lang="hr-HR" sz="2200" dirty="0">
                <a:sym typeface="Wingdings" panose="05000000000000000000" pitchFamily="2" charset="2"/>
              </a:rPr>
              <a:t></a:t>
            </a:r>
          </a:p>
          <a:p>
            <a:endParaRPr lang="hr-HR" sz="2000" dirty="0">
              <a:sym typeface="Wingdings" panose="05000000000000000000" pitchFamily="2" charset="2"/>
            </a:endParaRPr>
          </a:p>
          <a:p>
            <a:pPr marL="0" lvl="0" indent="0">
              <a:buNone/>
            </a:pPr>
            <a:endParaRPr lang="hr-HR" sz="160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A554A4D-7141-A121-15C0-07BFE3CF705D}"/>
              </a:ext>
            </a:extLst>
          </p:cNvPr>
          <p:cNvSpPr txBox="1">
            <a:spLocks/>
          </p:cNvSpPr>
          <p:nvPr/>
        </p:nvSpPr>
        <p:spPr>
          <a:xfrm>
            <a:off x="1254546" y="133997"/>
            <a:ext cx="10060459" cy="877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ladaRHSerif Lt" panose="02000000000000000000" pitchFamily="50" charset="-18"/>
                <a:ea typeface="VladaRHSerif Lt" panose="02000000000000000000" pitchFamily="50" charset="-18"/>
                <a:cs typeface="+mj-cs"/>
              </a:defRPr>
            </a:lvl1pPr>
          </a:lstStyle>
          <a:p>
            <a:r>
              <a:rPr lang="hr-HR" dirty="0"/>
              <a:t>Real-life experience - strenghts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69F20A0-CB15-A146-4CCF-547F5146C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474" y="284468"/>
            <a:ext cx="746725" cy="54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936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9F746-A574-CFE7-C478-7E8D057D8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A6CAAC6-1284-3F98-EB1F-FE73BE327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4545" y="1116357"/>
            <a:ext cx="10060459" cy="4083571"/>
          </a:xfrm>
        </p:spPr>
        <p:txBody>
          <a:bodyPr>
            <a:normAutofit/>
          </a:bodyPr>
          <a:lstStyle/>
          <a:p>
            <a:r>
              <a:rPr lang="hr-HR" sz="2400" dirty="0"/>
              <a:t>Inventory preparation – out-soursed  </a:t>
            </a:r>
            <a:r>
              <a:rPr lang="hr-HR" sz="2400" dirty="0">
                <a:sym typeface="Wingdings" panose="05000000000000000000" pitchFamily="2" charset="2"/>
              </a:rPr>
              <a:t> </a:t>
            </a:r>
          </a:p>
          <a:p>
            <a:r>
              <a:rPr lang="hr-HR" sz="2400" dirty="0">
                <a:sym typeface="Wingdings" panose="05000000000000000000" pitchFamily="2" charset="2"/>
              </a:rPr>
              <a:t>K</a:t>
            </a:r>
            <a:r>
              <a:rPr lang="en-US" sz="2400" dirty="0">
                <a:sym typeface="Wingdings" panose="05000000000000000000" pitchFamily="2" charset="2"/>
              </a:rPr>
              <a:t>now-how is in the hands of a private consultant</a:t>
            </a:r>
            <a:r>
              <a:rPr lang="hr-HR" sz="2400" dirty="0">
                <a:sym typeface="Wingdings" panose="05000000000000000000" pitchFamily="2" charset="2"/>
              </a:rPr>
              <a:t>s </a:t>
            </a:r>
          </a:p>
          <a:p>
            <a:r>
              <a:rPr lang="hr-HR" sz="2400" dirty="0">
                <a:sym typeface="Wingdings" panose="05000000000000000000" pitchFamily="2" charset="2"/>
              </a:rPr>
              <a:t>T</a:t>
            </a:r>
            <a:r>
              <a:rPr lang="en-US" sz="2400" dirty="0">
                <a:sym typeface="Wingdings" panose="05000000000000000000" pitchFamily="2" charset="2"/>
              </a:rPr>
              <a:t>here is not much room for action outside the contract</a:t>
            </a:r>
            <a:r>
              <a:rPr lang="hr-HR" sz="2400" dirty="0">
                <a:sym typeface="Wingdings" panose="05000000000000000000" pitchFamily="2" charset="2"/>
              </a:rPr>
              <a:t> </a:t>
            </a:r>
          </a:p>
          <a:p>
            <a:r>
              <a:rPr lang="en-US" sz="2400" dirty="0">
                <a:solidFill>
                  <a:prstClr val="black"/>
                </a:solidFill>
                <a:ea typeface="ＭＳ Ｐゴシック" charset="0"/>
                <a:cs typeface="Segoe UI" panose="020B0502040204020203" pitchFamily="34" charset="0"/>
              </a:rPr>
              <a:t>If you outsource Inventory </a:t>
            </a:r>
            <a:r>
              <a:rPr lang="hr-HR" sz="2400" dirty="0">
                <a:solidFill>
                  <a:prstClr val="black"/>
                </a:solidFill>
                <a:ea typeface="ＭＳ Ｐゴシック" charset="0"/>
                <a:cs typeface="Segoe UI" panose="020B0502040204020203" pitchFamily="34" charset="0"/>
              </a:rPr>
              <a:t>preparation </a:t>
            </a:r>
            <a:r>
              <a:rPr lang="en-US" sz="2400" dirty="0">
                <a:solidFill>
                  <a:prstClr val="black"/>
                </a:solidFill>
                <a:ea typeface="ＭＳ Ｐゴシック" charset="0"/>
                <a:cs typeface="Segoe UI" panose="020B0502040204020203" pitchFamily="34" charset="0"/>
              </a:rPr>
              <a:t>you can expect change request for additional payments</a:t>
            </a:r>
            <a:r>
              <a:rPr lang="hr-HR" sz="2400" dirty="0">
                <a:solidFill>
                  <a:prstClr val="black"/>
                </a:solidFill>
                <a:ea typeface="ＭＳ Ｐゴシック" charset="0"/>
                <a:cs typeface="Segoe UI" panose="020B0502040204020203" pitchFamily="34" charset="0"/>
              </a:rPr>
              <a:t> </a:t>
            </a:r>
            <a:r>
              <a:rPr lang="hr-HR" sz="2400" dirty="0">
                <a:sym typeface="Wingdings" panose="05000000000000000000" pitchFamily="2" charset="2"/>
              </a:rPr>
              <a:t></a:t>
            </a:r>
            <a:endParaRPr lang="hr-HR" sz="2400" dirty="0"/>
          </a:p>
          <a:p>
            <a:endParaRPr lang="hr-HR" sz="1600" dirty="0"/>
          </a:p>
          <a:p>
            <a:pPr marL="0" lvl="0" indent="0">
              <a:buNone/>
            </a:pPr>
            <a:endParaRPr lang="hr-HR" sz="160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E7A1623-14AE-835F-78AC-BF38A96D6A3A}"/>
              </a:ext>
            </a:extLst>
          </p:cNvPr>
          <p:cNvSpPr txBox="1">
            <a:spLocks/>
          </p:cNvSpPr>
          <p:nvPr/>
        </p:nvSpPr>
        <p:spPr>
          <a:xfrm>
            <a:off x="1254546" y="119164"/>
            <a:ext cx="10060459" cy="877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ladaRHSerif Lt" panose="02000000000000000000" pitchFamily="50" charset="-18"/>
                <a:ea typeface="VladaRHSerif Lt" panose="02000000000000000000" pitchFamily="50" charset="-18"/>
                <a:cs typeface="+mj-cs"/>
              </a:defRPr>
            </a:lvl1pPr>
          </a:lstStyle>
          <a:p>
            <a:r>
              <a:rPr lang="hr-HR" dirty="0"/>
              <a:t>         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9C1BCC7-0296-EEF5-04F6-6C0AB67E7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5314" y="287139"/>
            <a:ext cx="746725" cy="5416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B94525-8B50-0E87-66AF-E975D1258AD3}"/>
              </a:ext>
            </a:extLst>
          </p:cNvPr>
          <p:cNvSpPr txBox="1">
            <a:spLocks/>
          </p:cNvSpPr>
          <p:nvPr/>
        </p:nvSpPr>
        <p:spPr>
          <a:xfrm>
            <a:off x="1352201" y="3754"/>
            <a:ext cx="10060459" cy="877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ladaRHSerif Lt" panose="02000000000000000000" pitchFamily="50" charset="-18"/>
                <a:ea typeface="VladaRHSerif Lt" panose="02000000000000000000" pitchFamily="50" charset="-18"/>
                <a:cs typeface="+mj-cs"/>
              </a:defRPr>
            </a:lvl1pPr>
          </a:lstStyle>
          <a:p>
            <a:r>
              <a:rPr lang="hr-HR" dirty="0"/>
              <a:t>Real-life experience - weaknesses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873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2460F-C290-FFF1-999C-832B948B2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AAA312C-E195-D974-93AB-72ECA1A4D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4545" y="1116357"/>
            <a:ext cx="10348570" cy="4083571"/>
          </a:xfrm>
        </p:spPr>
        <p:txBody>
          <a:bodyPr>
            <a:normAutofit/>
          </a:bodyPr>
          <a:lstStyle/>
          <a:p>
            <a:r>
              <a:rPr lang="hr-HR" sz="2000" dirty="0"/>
              <a:t>C</a:t>
            </a:r>
            <a:r>
              <a:rPr lang="en-US" sz="2000" dirty="0" err="1"/>
              <a:t>ivil</a:t>
            </a:r>
            <a:r>
              <a:rPr lang="en-US" sz="2000" dirty="0"/>
              <a:t> service is not a dream job</a:t>
            </a:r>
            <a:r>
              <a:rPr lang="hr-HR" sz="2000" dirty="0"/>
              <a:t> </a:t>
            </a:r>
            <a:r>
              <a:rPr lang="hr-HR" sz="2000" dirty="0">
                <a:sym typeface="Wingdings" panose="05000000000000000000" pitchFamily="2" charset="2"/>
              </a:rPr>
              <a:t></a:t>
            </a:r>
            <a:endParaRPr lang="hr-HR" sz="2000" dirty="0"/>
          </a:p>
          <a:p>
            <a:r>
              <a:rPr lang="hr-HR" sz="2000" dirty="0"/>
              <a:t>I</a:t>
            </a:r>
            <a:r>
              <a:rPr lang="en-US" sz="2000" dirty="0" err="1"/>
              <a:t>nsufficient</a:t>
            </a:r>
            <a:r>
              <a:rPr lang="en-US" sz="2000" dirty="0"/>
              <a:t> number of experts in public institutions </a:t>
            </a:r>
            <a:r>
              <a:rPr lang="hr-HR" sz="2000" dirty="0"/>
              <a:t> </a:t>
            </a:r>
            <a:r>
              <a:rPr lang="hr-HR" sz="2000" dirty="0">
                <a:sym typeface="Wingdings" panose="05000000000000000000" pitchFamily="2" charset="2"/>
              </a:rPr>
              <a:t></a:t>
            </a:r>
            <a:endParaRPr lang="hr-HR" sz="2000" dirty="0"/>
          </a:p>
          <a:p>
            <a:r>
              <a:rPr lang="hr-HR" sz="2000" dirty="0"/>
              <a:t>F</a:t>
            </a:r>
            <a:r>
              <a:rPr lang="en-US" sz="2000" dirty="0" err="1"/>
              <a:t>requent</a:t>
            </a:r>
            <a:r>
              <a:rPr lang="en-US" sz="2000" dirty="0"/>
              <a:t> changes of expert in public institutions</a:t>
            </a:r>
            <a:r>
              <a:rPr lang="hr-HR" sz="2000" dirty="0"/>
              <a:t>  </a:t>
            </a:r>
            <a:r>
              <a:rPr lang="hr-HR" sz="2000" dirty="0">
                <a:sym typeface="Wingdings" panose="05000000000000000000" pitchFamily="2" charset="2"/>
              </a:rPr>
              <a:t></a:t>
            </a:r>
          </a:p>
          <a:p>
            <a:r>
              <a:rPr lang="hr-HR" sz="2000" dirty="0"/>
              <a:t>A s</a:t>
            </a:r>
            <a:r>
              <a:rPr lang="en-US" sz="2000" dirty="0"/>
              <a:t>low and lengthy recruitment process</a:t>
            </a:r>
            <a:endParaRPr lang="hr-HR" sz="2000" dirty="0"/>
          </a:p>
          <a:p>
            <a:r>
              <a:rPr lang="hr-HR" sz="2000" dirty="0"/>
              <a:t>L</a:t>
            </a:r>
            <a:r>
              <a:rPr lang="en-US" sz="2000" dirty="0" err="1"/>
              <a:t>ong</a:t>
            </a:r>
            <a:r>
              <a:rPr lang="en-US" sz="2000" dirty="0"/>
              <a:t> period needed for obtaining of necessary knowledge to be</a:t>
            </a:r>
            <a:r>
              <a:rPr lang="hr-HR" sz="2000" dirty="0"/>
              <a:t>come</a:t>
            </a:r>
            <a:r>
              <a:rPr lang="en-US" sz="2000" dirty="0"/>
              <a:t> </a:t>
            </a:r>
            <a:r>
              <a:rPr lang="en-US" sz="2000" dirty="0" err="1"/>
              <a:t>inve</a:t>
            </a:r>
            <a:r>
              <a:rPr lang="hr-HR" sz="2000" dirty="0"/>
              <a:t>ntory experts   </a:t>
            </a:r>
            <a:r>
              <a:rPr lang="hr-HR" sz="2000" dirty="0">
                <a:sym typeface="Wingdings" panose="05000000000000000000" pitchFamily="2" charset="2"/>
              </a:rPr>
              <a:t></a:t>
            </a:r>
          </a:p>
          <a:p>
            <a:r>
              <a:rPr lang="hr-HR" sz="2000" dirty="0">
                <a:sym typeface="Wingdings" panose="05000000000000000000" pitchFamily="2" charset="2"/>
              </a:rPr>
              <a:t>K</a:t>
            </a:r>
            <a:r>
              <a:rPr lang="en-US" sz="2000" dirty="0" err="1">
                <a:sym typeface="Wingdings" panose="05000000000000000000" pitchFamily="2" charset="2"/>
              </a:rPr>
              <a:t>nowledge</a:t>
            </a:r>
            <a:r>
              <a:rPr lang="en-US" sz="2000" dirty="0">
                <a:sym typeface="Wingdings" panose="05000000000000000000" pitchFamily="2" charset="2"/>
              </a:rPr>
              <a:t> transfer is a long-term process</a:t>
            </a:r>
            <a:endParaRPr lang="hr-HR" sz="2000" dirty="0">
              <a:sym typeface="Wingdings" panose="05000000000000000000" pitchFamily="2" charset="2"/>
            </a:endParaRPr>
          </a:p>
          <a:p>
            <a:r>
              <a:rPr lang="hr-HR" sz="2000" dirty="0">
                <a:sym typeface="Wingdings" panose="05000000000000000000" pitchFamily="2" charset="2"/>
              </a:rPr>
              <a:t>I</a:t>
            </a:r>
            <a:r>
              <a:rPr lang="en-US" sz="2000" dirty="0">
                <a:sym typeface="Wingdings" panose="05000000000000000000" pitchFamily="2" charset="2"/>
              </a:rPr>
              <a:t>t is necessary to have a parallel system in order not to endanger the functioning of the NS and the preparation of the Inventory</a:t>
            </a:r>
            <a:endParaRPr lang="hr-HR" sz="2000" dirty="0">
              <a:sym typeface="Wingdings" panose="05000000000000000000" pitchFamily="2" charset="2"/>
            </a:endParaRPr>
          </a:p>
          <a:p>
            <a:pPr marL="0" lvl="0" indent="0">
              <a:buNone/>
            </a:pPr>
            <a:endParaRPr lang="hr-HR" sz="160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6344300-5C27-381E-FFF5-848AB76FDF03}"/>
              </a:ext>
            </a:extLst>
          </p:cNvPr>
          <p:cNvSpPr txBox="1">
            <a:spLocks/>
          </p:cNvSpPr>
          <p:nvPr/>
        </p:nvSpPr>
        <p:spPr>
          <a:xfrm>
            <a:off x="1254546" y="119164"/>
            <a:ext cx="10060459" cy="877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ladaRHSerif Lt" panose="02000000000000000000" pitchFamily="50" charset="-18"/>
                <a:ea typeface="VladaRHSerif Lt" panose="02000000000000000000" pitchFamily="50" charset="-18"/>
                <a:cs typeface="+mj-cs"/>
              </a:defRPr>
            </a:lvl1pPr>
          </a:lstStyle>
          <a:p>
            <a:r>
              <a:rPr lang="hr-HR" dirty="0"/>
              <a:t>         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52B20D5-7604-104D-3B91-92C56DF22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314" y="287139"/>
            <a:ext cx="746725" cy="5416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58F549-08F2-4FB2-8945-433203A951A1}"/>
              </a:ext>
            </a:extLst>
          </p:cNvPr>
          <p:cNvSpPr txBox="1">
            <a:spLocks/>
          </p:cNvSpPr>
          <p:nvPr/>
        </p:nvSpPr>
        <p:spPr>
          <a:xfrm>
            <a:off x="1343323" y="119164"/>
            <a:ext cx="10060459" cy="877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ladaRHSerif Lt" panose="02000000000000000000" pitchFamily="50" charset="-18"/>
                <a:ea typeface="VladaRHSerif Lt" panose="02000000000000000000" pitchFamily="50" charset="-18"/>
                <a:cs typeface="+mj-cs"/>
              </a:defRPr>
            </a:lvl1pPr>
          </a:lstStyle>
          <a:p>
            <a:r>
              <a:rPr lang="hr-HR" dirty="0"/>
              <a:t>Real-life experience - obstacles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E56EFC-A1D6-4AB9-702A-8AF253639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2105" y="4163627"/>
            <a:ext cx="1594790" cy="167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861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340" y="1902980"/>
            <a:ext cx="10060459" cy="1325563"/>
          </a:xfrm>
        </p:spPr>
        <p:txBody>
          <a:bodyPr>
            <a:normAutofit/>
          </a:bodyPr>
          <a:lstStyle/>
          <a:p>
            <a:pPr algn="ctr"/>
            <a:r>
              <a:rPr lang="hr-HR" sz="3600" dirty="0" err="1"/>
              <a:t>Thank</a:t>
            </a:r>
            <a:r>
              <a:rPr lang="hr-HR" sz="3600" dirty="0"/>
              <a:t> </a:t>
            </a:r>
            <a:r>
              <a:rPr lang="hr-HR" sz="3600" dirty="0" err="1"/>
              <a:t>you</a:t>
            </a:r>
            <a:r>
              <a:rPr lang="hr-HR" sz="3600" dirty="0"/>
              <a:t> for </a:t>
            </a:r>
            <a:r>
              <a:rPr lang="hr-HR" sz="3600" dirty="0" err="1"/>
              <a:t>your</a:t>
            </a:r>
            <a:r>
              <a:rPr lang="hr-HR" sz="3600" dirty="0"/>
              <a:t> </a:t>
            </a:r>
            <a:r>
              <a:rPr lang="hr-HR" sz="3600" dirty="0" err="1"/>
              <a:t>attention</a:t>
            </a:r>
            <a:r>
              <a:rPr lang="hr-HR" sz="3600" dirty="0"/>
              <a:t>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340" y="3574473"/>
            <a:ext cx="10060459" cy="2602490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/>
              <a:t>Ministry of Environmental Protection and Green Transition</a:t>
            </a:r>
            <a:br>
              <a:rPr lang="hr-HR" sz="1400" dirty="0"/>
            </a:br>
            <a:r>
              <a:rPr lang="hr-HR" sz="1400" dirty="0"/>
              <a:t>Institute for Environment and Nature</a:t>
            </a:r>
            <a:br>
              <a:rPr lang="hr-HR" sz="1400" dirty="0"/>
            </a:br>
            <a:r>
              <a:rPr lang="hr-HR" sz="1400" dirty="0"/>
              <a:t>Radnička 80/7, 10 000 Zagreb, Croatia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hr-HR" sz="1400" dirty="0"/>
              <a:t>E-mail: tatjana.obucina@mzozt.hr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876434010"/>
      </p:ext>
    </p:extLst>
  </p:cSld>
  <p:clrMapOvr>
    <a:masterClrMapping/>
  </p:clrMapOvr>
</p:sld>
</file>

<file path=ppt/theme/theme1.xml><?xml version="1.0" encoding="utf-8"?>
<a:theme xmlns:a="http://schemas.openxmlformats.org/drawingml/2006/main" name="Zavod PPT engleski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5FDB7EB9-1FB5-4D1B-95F6-ED845CDBB414}" vid="{C375E277-823B-450D-87DE-78810B2DF3AD}"/>
    </a:ext>
  </a:extLst>
</a:theme>
</file>

<file path=ppt/theme/theme2.xml><?xml version="1.0" encoding="utf-8"?>
<a:theme xmlns:a="http://schemas.openxmlformats.org/drawingml/2006/main" name="Ostale stran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5FDB7EB9-1FB5-4D1B-95F6-ED845CDBB414}" vid="{9E0A8DCD-CE2F-4F00-9042-F325948861E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9E40BF7383784999BA1B34A435B410" ma:contentTypeVersion="0" ma:contentTypeDescription="Create a new document." ma:contentTypeScope="" ma:versionID="a4651880fff225387c0ad42ddaada4a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D58C84-FF83-41B2-8FC4-2B73DFD0C99C}"/>
</file>

<file path=customXml/itemProps2.xml><?xml version="1.0" encoding="utf-8"?>
<ds:datastoreItem xmlns:ds="http://schemas.openxmlformats.org/officeDocument/2006/customXml" ds:itemID="{39B49C7E-FB9D-47CB-9FBB-F1153C45136F}">
  <ds:schemaRefs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1b77ffca-e2f1-49c2-aba6-8eeb46b5e985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CAD2C54-8009-49BB-A340-990ED76E1BA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Prezentacija MZOZT Zavod template_EN_widescreen</Template>
  <TotalTime>713</TotalTime>
  <Words>989</Words>
  <Application>Microsoft Office PowerPoint</Application>
  <PresentationFormat>Widescreen</PresentationFormat>
  <Paragraphs>149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ＭＳ Ｐゴシック</vt:lpstr>
      <vt:lpstr>VladaRHSerif Lt</vt:lpstr>
      <vt:lpstr>VladaRHSerif Reg</vt:lpstr>
      <vt:lpstr>Calibri</vt:lpstr>
      <vt:lpstr>Arial</vt:lpstr>
      <vt:lpstr>VladaRHSerif Bld</vt:lpstr>
      <vt:lpstr>Wingdings</vt:lpstr>
      <vt:lpstr>VladaRHSerif Bk</vt:lpstr>
      <vt:lpstr>Times New Roman</vt:lpstr>
      <vt:lpstr>Aptos</vt:lpstr>
      <vt:lpstr>Zavod PPT engleski</vt:lpstr>
      <vt:lpstr>Ostale stranice</vt:lpstr>
      <vt:lpstr>Building capacity for GHG Inventory reporting</vt:lpstr>
      <vt:lpstr>Content</vt:lpstr>
      <vt:lpstr>What do we need?</vt:lpstr>
      <vt:lpstr>     Legal framework                                  (1/2)</vt:lpstr>
      <vt:lpstr>PowerPoint Presentation</vt:lpstr>
      <vt:lpstr>         Institutional arrangements</vt:lpstr>
      <vt:lpstr>        Finance</vt:lpstr>
      <vt:lpstr>        Capacity</vt:lpstr>
      <vt:lpstr>             Croatian Inventory team</vt:lpstr>
      <vt:lpstr>       Capacity</vt:lpstr>
      <vt:lpstr>PowerPoint Presentation</vt:lpstr>
      <vt:lpstr>PowerPoint Presentation</vt:lpstr>
      <vt:lpstr>PowerPoint Presentation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Tatjana Obučina</dc:creator>
  <cp:lastModifiedBy>Tatjana Obučina</cp:lastModifiedBy>
  <cp:revision>10</cp:revision>
  <dcterms:created xsi:type="dcterms:W3CDTF">2025-01-20T06:29:20Z</dcterms:created>
  <dcterms:modified xsi:type="dcterms:W3CDTF">2025-10-03T13:11:18Z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0x010100CA9E40BF7383784999BA1B34A435B410</vt:lpwstr>
  </property>
  <property fmtid="{D5CDD505-2E9C-101B-9397-08002B2CF9AE}" pid="3" name="MediaServiceImageTags">
    <vt:lpwstr/>
  </property>
  <property fmtid="{D5CDD505-2E9C-101B-9397-08002B2CF9AE}" pid="4" name="Order">
    <vt:r8>187700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</Properties>
</file>