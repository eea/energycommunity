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7" r:id="rId5"/>
  </p:sldMasterIdLst>
  <p:notesMasterIdLst>
    <p:notesMasterId r:id="rId22"/>
  </p:notesMasterIdLst>
  <p:sldIdLst>
    <p:sldId id="1821" r:id="rId6"/>
    <p:sldId id="1864" r:id="rId7"/>
    <p:sldId id="1917" r:id="rId8"/>
    <p:sldId id="1931" r:id="rId9"/>
    <p:sldId id="1919" r:id="rId10"/>
    <p:sldId id="1920" r:id="rId11"/>
    <p:sldId id="1933" r:id="rId12"/>
    <p:sldId id="1934" r:id="rId13"/>
    <p:sldId id="1973" r:id="rId14"/>
    <p:sldId id="1921" r:id="rId15"/>
    <p:sldId id="1923" r:id="rId16"/>
    <p:sldId id="1927" r:id="rId17"/>
    <p:sldId id="1928" r:id="rId18"/>
    <p:sldId id="1900" r:id="rId19"/>
    <p:sldId id="1922" r:id="rId20"/>
    <p:sldId id="1932" r:id="rId21"/>
  </p:sldIdLst>
  <p:sldSz cx="12192000" cy="6858000"/>
  <p:notesSz cx="6858000" cy="9144000"/>
  <p:custDataLst>
    <p:tags r:id="rId23"/>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153CA3-841C-4A7C-A692-3956BB3BBB9C}" v="2" dt="2025-10-07T07:21:12.3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138"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 Wretlind" userId="bcb024af-6ead-48e3-9a4b-cde6c6f63c4a" providerId="ADAL" clId="{C6E259FF-F6A0-49B8-82F6-C55B97A5A0CE}"/>
    <pc:docChg chg="modSld">
      <pc:chgData name="Per Wretlind" userId="bcb024af-6ead-48e3-9a4b-cde6c6f63c4a" providerId="ADAL" clId="{C6E259FF-F6A0-49B8-82F6-C55B97A5A0CE}" dt="2025-10-07T07:21:12.361" v="108"/>
      <pc:docMkLst>
        <pc:docMk/>
      </pc:docMkLst>
      <pc:sldChg chg="modSp mod">
        <pc:chgData name="Per Wretlind" userId="bcb024af-6ead-48e3-9a4b-cde6c6f63c4a" providerId="ADAL" clId="{C6E259FF-F6A0-49B8-82F6-C55B97A5A0CE}" dt="2025-10-03T11:00:58.427" v="106" actId="14100"/>
        <pc:sldMkLst>
          <pc:docMk/>
          <pc:sldMk cId="0" sldId="1821"/>
        </pc:sldMkLst>
        <pc:spChg chg="mod">
          <ac:chgData name="Per Wretlind" userId="bcb024af-6ead-48e3-9a4b-cde6c6f63c4a" providerId="ADAL" clId="{C6E259FF-F6A0-49B8-82F6-C55B97A5A0CE}" dt="2025-10-03T11:00:51.519" v="104" actId="14100"/>
          <ac:spMkLst>
            <pc:docMk/>
            <pc:sldMk cId="0" sldId="1821"/>
            <ac:spMk id="3" creationId="{749397E4-2E56-7B7D-D0B2-569DA75B1284}"/>
          </ac:spMkLst>
        </pc:spChg>
        <pc:spChg chg="mod">
          <ac:chgData name="Per Wretlind" userId="bcb024af-6ead-48e3-9a4b-cde6c6f63c4a" providerId="ADAL" clId="{C6E259FF-F6A0-49B8-82F6-C55B97A5A0CE}" dt="2025-10-03T11:00:58.427" v="106" actId="14100"/>
          <ac:spMkLst>
            <pc:docMk/>
            <pc:sldMk cId="0" sldId="1821"/>
            <ac:spMk id="12" creationId="{4D15442C-DBDC-52FD-7A3B-49F125B6FEB4}"/>
          </ac:spMkLst>
        </pc:spChg>
      </pc:sldChg>
      <pc:sldChg chg="modAnim">
        <pc:chgData name="Per Wretlind" userId="bcb024af-6ead-48e3-9a4b-cde6c6f63c4a" providerId="ADAL" clId="{C6E259FF-F6A0-49B8-82F6-C55B97A5A0CE}" dt="2025-10-07T07:21:12.361" v="108"/>
        <pc:sldMkLst>
          <pc:docMk/>
          <pc:sldMk cId="2708256818" sldId="193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AD2002-8BF4-4752-943F-C42B397B04ED}" type="doc">
      <dgm:prSet loTypeId="urn:microsoft.com/office/officeart/2005/8/layout/process3" loCatId="process" qsTypeId="urn:microsoft.com/office/officeart/2005/8/quickstyle/simple1" qsCatId="simple" csTypeId="urn:microsoft.com/office/officeart/2005/8/colors/accent1_2" csCatId="accent1" phldr="1"/>
      <dgm:spPr/>
    </dgm:pt>
    <dgm:pt modelId="{8428FFEE-D862-48EA-8F59-2C82FC887797}">
      <dgm:prSet phldrT="[Text]"/>
      <dgm:spPr>
        <a:solidFill>
          <a:schemeClr val="bg1">
            <a:lumMod val="65000"/>
          </a:schemeClr>
        </a:solidFill>
      </dgm:spPr>
      <dgm:t>
        <a:bodyPr/>
        <a:lstStyle/>
        <a:p>
          <a:r>
            <a:rPr lang="en-SE" dirty="0"/>
            <a:t>Nomination of Lead Reporters</a:t>
          </a:r>
          <a:endParaRPr lang="en-DK" dirty="0"/>
        </a:p>
      </dgm:t>
    </dgm:pt>
    <dgm:pt modelId="{FF7C48EE-9C6E-4DD7-B164-F4FC780ADB13}" type="parTrans" cxnId="{4BC733B2-34AB-49C4-9410-91A299E42B9D}">
      <dgm:prSet/>
      <dgm:spPr/>
      <dgm:t>
        <a:bodyPr/>
        <a:lstStyle/>
        <a:p>
          <a:endParaRPr lang="en-DK"/>
        </a:p>
      </dgm:t>
    </dgm:pt>
    <dgm:pt modelId="{12BE71E2-C611-441E-81EB-F3CC91657906}" type="sibTrans" cxnId="{4BC733B2-34AB-49C4-9410-91A299E42B9D}">
      <dgm:prSet/>
      <dgm:spPr/>
      <dgm:t>
        <a:bodyPr/>
        <a:lstStyle/>
        <a:p>
          <a:endParaRPr lang="en-DK"/>
        </a:p>
      </dgm:t>
    </dgm:pt>
    <dgm:pt modelId="{9F592AF9-62B2-4F7F-A587-5D8D3974B7B5}">
      <dgm:prSet phldrT="[Text]"/>
      <dgm:spPr>
        <a:solidFill>
          <a:schemeClr val="accent5">
            <a:lumMod val="75000"/>
          </a:schemeClr>
        </a:solidFill>
      </dgm:spPr>
      <dgm:t>
        <a:bodyPr/>
        <a:lstStyle/>
        <a:p>
          <a:r>
            <a:rPr lang="en-SE" dirty="0" err="1"/>
            <a:t>Reportnet</a:t>
          </a:r>
          <a:r>
            <a:rPr lang="en-SE" dirty="0"/>
            <a:t> open for submission</a:t>
          </a:r>
          <a:endParaRPr lang="en-DK" dirty="0"/>
        </a:p>
      </dgm:t>
    </dgm:pt>
    <dgm:pt modelId="{C7F176ED-D5F4-4765-9971-02F7C9B01814}" type="parTrans" cxnId="{A4CACD24-A3BC-4C40-8DA6-36207412D56F}">
      <dgm:prSet/>
      <dgm:spPr/>
      <dgm:t>
        <a:bodyPr/>
        <a:lstStyle/>
        <a:p>
          <a:endParaRPr lang="en-DK"/>
        </a:p>
      </dgm:t>
    </dgm:pt>
    <dgm:pt modelId="{8115ED36-FD17-4E69-A59D-B72037C18D73}" type="sibTrans" cxnId="{A4CACD24-A3BC-4C40-8DA6-36207412D56F}">
      <dgm:prSet/>
      <dgm:spPr/>
      <dgm:t>
        <a:bodyPr/>
        <a:lstStyle/>
        <a:p>
          <a:endParaRPr lang="en-DK"/>
        </a:p>
      </dgm:t>
    </dgm:pt>
    <dgm:pt modelId="{04F26C1C-A46C-4624-9281-D64D9966019C}">
      <dgm:prSet phldrT="[Text]"/>
      <dgm:spPr>
        <a:solidFill>
          <a:schemeClr val="accent6">
            <a:lumMod val="75000"/>
          </a:schemeClr>
        </a:solidFill>
      </dgm:spPr>
      <dgm:t>
        <a:bodyPr/>
        <a:lstStyle/>
        <a:p>
          <a:r>
            <a:rPr lang="en-SE" dirty="0"/>
            <a:t>Quality control process</a:t>
          </a:r>
          <a:endParaRPr lang="en-DK" dirty="0"/>
        </a:p>
      </dgm:t>
    </dgm:pt>
    <dgm:pt modelId="{A6A25F7F-E53F-46FE-8CDC-C6D515676E40}" type="parTrans" cxnId="{74B9C629-7912-49BB-A05C-01FF848F620E}">
      <dgm:prSet/>
      <dgm:spPr/>
      <dgm:t>
        <a:bodyPr/>
        <a:lstStyle/>
        <a:p>
          <a:endParaRPr lang="en-DK"/>
        </a:p>
      </dgm:t>
    </dgm:pt>
    <dgm:pt modelId="{949D7530-227F-452F-A507-495C844FD07A}" type="sibTrans" cxnId="{74B9C629-7912-49BB-A05C-01FF848F620E}">
      <dgm:prSet/>
      <dgm:spPr/>
      <dgm:t>
        <a:bodyPr/>
        <a:lstStyle/>
        <a:p>
          <a:endParaRPr lang="en-DK"/>
        </a:p>
      </dgm:t>
    </dgm:pt>
    <dgm:pt modelId="{EACB4C85-E915-4791-A84F-DBC99AAB0852}">
      <dgm:prSet custT="1"/>
      <dgm:spPr/>
      <dgm:t>
        <a:bodyPr/>
        <a:lstStyle/>
        <a:p>
          <a:r>
            <a:rPr lang="en-SE" sz="1600" dirty="0"/>
            <a:t>Nominations to </a:t>
          </a:r>
          <a:r>
            <a:rPr lang="en-SE" sz="1600" dirty="0" err="1"/>
            <a:t>EnCS</a:t>
          </a:r>
          <a:endParaRPr lang="en-DK" sz="1600" dirty="0"/>
        </a:p>
      </dgm:t>
    </dgm:pt>
    <dgm:pt modelId="{DF6B1108-F357-411B-AD30-796E3C4B2DE7}" type="parTrans" cxnId="{E0A3C39E-1E0D-45C8-B2F1-FB2C0370F154}">
      <dgm:prSet/>
      <dgm:spPr/>
      <dgm:t>
        <a:bodyPr/>
        <a:lstStyle/>
        <a:p>
          <a:endParaRPr lang="en-DK"/>
        </a:p>
      </dgm:t>
    </dgm:pt>
    <dgm:pt modelId="{864DF142-BCE6-45E5-9B5C-1A4F7FF63383}" type="sibTrans" cxnId="{E0A3C39E-1E0D-45C8-B2F1-FB2C0370F154}">
      <dgm:prSet/>
      <dgm:spPr/>
      <dgm:t>
        <a:bodyPr/>
        <a:lstStyle/>
        <a:p>
          <a:endParaRPr lang="en-DK"/>
        </a:p>
      </dgm:t>
    </dgm:pt>
    <dgm:pt modelId="{3E979DB7-34CE-4637-BAC7-1725BE0CFC6B}">
      <dgm:prSet custT="1"/>
      <dgm:spPr/>
      <dgm:t>
        <a:bodyPr/>
        <a:lstStyle/>
        <a:p>
          <a:r>
            <a:rPr lang="en-SE" sz="1600" dirty="0"/>
            <a:t>EEA grants access to </a:t>
          </a:r>
          <a:r>
            <a:rPr lang="en-SE" sz="1600" dirty="0" err="1"/>
            <a:t>Reportnet</a:t>
          </a:r>
          <a:endParaRPr lang="en-DK" sz="1600" dirty="0"/>
        </a:p>
      </dgm:t>
    </dgm:pt>
    <dgm:pt modelId="{8C248E4C-77BE-49A5-8B1F-0F7EF80AC7B7}" type="parTrans" cxnId="{9F6D20FA-89AF-4647-97E2-AC721B7289A9}">
      <dgm:prSet/>
      <dgm:spPr/>
      <dgm:t>
        <a:bodyPr/>
        <a:lstStyle/>
        <a:p>
          <a:endParaRPr lang="en-DK"/>
        </a:p>
      </dgm:t>
    </dgm:pt>
    <dgm:pt modelId="{33C1055D-D696-4398-B44F-A25534FDD534}" type="sibTrans" cxnId="{9F6D20FA-89AF-4647-97E2-AC721B7289A9}">
      <dgm:prSet/>
      <dgm:spPr/>
      <dgm:t>
        <a:bodyPr/>
        <a:lstStyle/>
        <a:p>
          <a:endParaRPr lang="en-DK"/>
        </a:p>
      </dgm:t>
    </dgm:pt>
    <dgm:pt modelId="{4D54B4C8-81EC-42AF-AA62-56BB8D077447}">
      <dgm:prSet custT="1"/>
      <dgm:spPr/>
      <dgm:t>
        <a:bodyPr/>
        <a:lstStyle/>
        <a:p>
          <a:r>
            <a:rPr lang="en-SE" sz="1600" dirty="0"/>
            <a:t>EU Login</a:t>
          </a:r>
          <a:endParaRPr lang="en-DK" sz="1600" dirty="0"/>
        </a:p>
      </dgm:t>
    </dgm:pt>
    <dgm:pt modelId="{081F5DB0-5477-49D0-BD12-D373858D74A7}" type="parTrans" cxnId="{17D9CEB0-3D8F-44B7-A7EE-74E0FF5CF34D}">
      <dgm:prSet/>
      <dgm:spPr/>
      <dgm:t>
        <a:bodyPr/>
        <a:lstStyle/>
        <a:p>
          <a:endParaRPr lang="en-DK"/>
        </a:p>
      </dgm:t>
    </dgm:pt>
    <dgm:pt modelId="{8211D78B-59F6-4EC5-9108-098B74535BC6}" type="sibTrans" cxnId="{17D9CEB0-3D8F-44B7-A7EE-74E0FF5CF34D}">
      <dgm:prSet/>
      <dgm:spPr/>
      <dgm:t>
        <a:bodyPr/>
        <a:lstStyle/>
        <a:p>
          <a:endParaRPr lang="en-DK"/>
        </a:p>
      </dgm:t>
    </dgm:pt>
    <dgm:pt modelId="{CA1347CF-76D0-42A9-B712-2BA7AF748508}">
      <dgm:prSet custT="1"/>
      <dgm:spPr/>
      <dgm:t>
        <a:bodyPr/>
        <a:lstStyle/>
        <a:p>
          <a:r>
            <a:rPr lang="en-SE" sz="1600" dirty="0"/>
            <a:t>Opened from the beginning of March</a:t>
          </a:r>
          <a:endParaRPr lang="en-DK" sz="1600" dirty="0"/>
        </a:p>
      </dgm:t>
    </dgm:pt>
    <dgm:pt modelId="{CD1DD5C1-1E67-4A8C-A3B7-2DC9AEADA8F2}" type="parTrans" cxnId="{8FEF2604-0E02-44AC-A070-7FCD8E4E087A}">
      <dgm:prSet/>
      <dgm:spPr/>
      <dgm:t>
        <a:bodyPr/>
        <a:lstStyle/>
        <a:p>
          <a:endParaRPr lang="en-DK"/>
        </a:p>
      </dgm:t>
    </dgm:pt>
    <dgm:pt modelId="{994A9ABC-DC07-4851-8E68-670B907C0053}" type="sibTrans" cxnId="{8FEF2604-0E02-44AC-A070-7FCD8E4E087A}">
      <dgm:prSet/>
      <dgm:spPr/>
      <dgm:t>
        <a:bodyPr/>
        <a:lstStyle/>
        <a:p>
          <a:endParaRPr lang="en-DK"/>
        </a:p>
      </dgm:t>
    </dgm:pt>
    <dgm:pt modelId="{90FA6B11-9FB8-4EA8-BF5A-7535E2ECE8DC}">
      <dgm:prSet custT="1"/>
      <dgm:spPr/>
      <dgm:t>
        <a:bodyPr/>
        <a:lstStyle/>
        <a:p>
          <a:r>
            <a:rPr lang="en-SE" sz="1600" dirty="0"/>
            <a:t>Conducted at EEA</a:t>
          </a:r>
          <a:endParaRPr lang="en-DK" sz="1600" dirty="0"/>
        </a:p>
      </dgm:t>
    </dgm:pt>
    <dgm:pt modelId="{D510EAC1-3DAF-405D-8217-0516E8EC3CCB}" type="parTrans" cxnId="{5841D546-A845-42F3-B5D9-D95CB24846A2}">
      <dgm:prSet/>
      <dgm:spPr/>
      <dgm:t>
        <a:bodyPr/>
        <a:lstStyle/>
        <a:p>
          <a:endParaRPr lang="en-DK"/>
        </a:p>
      </dgm:t>
    </dgm:pt>
    <dgm:pt modelId="{3315A100-2AD1-441B-96B8-B96AD7366027}" type="sibTrans" cxnId="{5841D546-A845-42F3-B5D9-D95CB24846A2}">
      <dgm:prSet/>
      <dgm:spPr/>
      <dgm:t>
        <a:bodyPr/>
        <a:lstStyle/>
        <a:p>
          <a:endParaRPr lang="en-DK"/>
        </a:p>
      </dgm:t>
    </dgm:pt>
    <dgm:pt modelId="{9B2D80A4-3B51-48F8-B045-85B73984A2C4}">
      <dgm:prSet custT="1"/>
      <dgm:spPr/>
      <dgm:t>
        <a:bodyPr/>
        <a:lstStyle/>
        <a:p>
          <a:r>
            <a:rPr lang="en-SE" sz="1600" dirty="0"/>
            <a:t>Aim is to complement and improve, not to find errors</a:t>
          </a:r>
          <a:endParaRPr lang="en-DK" sz="1600" dirty="0"/>
        </a:p>
      </dgm:t>
    </dgm:pt>
    <dgm:pt modelId="{77DD7EF5-A174-48E6-8B60-FD3AEFDB046F}" type="parTrans" cxnId="{8238F3AA-C648-4943-9497-EF3F5E979E65}">
      <dgm:prSet/>
      <dgm:spPr/>
      <dgm:t>
        <a:bodyPr/>
        <a:lstStyle/>
        <a:p>
          <a:endParaRPr lang="en-DK"/>
        </a:p>
      </dgm:t>
    </dgm:pt>
    <dgm:pt modelId="{E3AC0B40-E993-4D7D-A815-B2BDDE3BF47B}" type="sibTrans" cxnId="{8238F3AA-C648-4943-9497-EF3F5E979E65}">
      <dgm:prSet/>
      <dgm:spPr/>
      <dgm:t>
        <a:bodyPr/>
        <a:lstStyle/>
        <a:p>
          <a:endParaRPr lang="en-DK"/>
        </a:p>
      </dgm:t>
    </dgm:pt>
    <dgm:pt modelId="{5B84B9C0-E6DD-46B8-A29F-CCA1D1A7BC29}">
      <dgm:prSet custT="1"/>
      <dgm:spPr/>
      <dgm:t>
        <a:bodyPr/>
        <a:lstStyle/>
        <a:p>
          <a:r>
            <a:rPr lang="en-SE" sz="1600" dirty="0"/>
            <a:t>Dialogue between the EEA and CPs</a:t>
          </a:r>
          <a:endParaRPr lang="en-DK" sz="1600" dirty="0"/>
        </a:p>
      </dgm:t>
    </dgm:pt>
    <dgm:pt modelId="{A7EF3E4D-2D00-4EA8-B77E-9FC351A450CE}" type="parTrans" cxnId="{607E2F67-A5FA-4959-9BC9-85ABBFD61F5C}">
      <dgm:prSet/>
      <dgm:spPr/>
      <dgm:t>
        <a:bodyPr/>
        <a:lstStyle/>
        <a:p>
          <a:endParaRPr lang="en-DK"/>
        </a:p>
      </dgm:t>
    </dgm:pt>
    <dgm:pt modelId="{2CF1BEDC-4194-4AD7-BE79-034F21219496}" type="sibTrans" cxnId="{607E2F67-A5FA-4959-9BC9-85ABBFD61F5C}">
      <dgm:prSet/>
      <dgm:spPr/>
      <dgm:t>
        <a:bodyPr/>
        <a:lstStyle/>
        <a:p>
          <a:endParaRPr lang="en-DK"/>
        </a:p>
      </dgm:t>
    </dgm:pt>
    <dgm:pt modelId="{B09C1616-DC96-4496-A819-BED930C11BA1}">
      <dgm:prSet custT="1"/>
      <dgm:spPr/>
      <dgm:t>
        <a:bodyPr/>
        <a:lstStyle/>
        <a:p>
          <a:r>
            <a:rPr lang="en-SE" sz="1600" dirty="0"/>
            <a:t>Will not close for submissions</a:t>
          </a:r>
          <a:endParaRPr lang="en-DK" sz="1600" dirty="0"/>
        </a:p>
      </dgm:t>
    </dgm:pt>
    <dgm:pt modelId="{7D4E9DD9-9D7C-4523-B663-F7A740217AF6}" type="parTrans" cxnId="{D02D1DE4-07F9-4D95-9170-90307D6FB7BF}">
      <dgm:prSet/>
      <dgm:spPr/>
      <dgm:t>
        <a:bodyPr/>
        <a:lstStyle/>
        <a:p>
          <a:endParaRPr lang="en-DK"/>
        </a:p>
      </dgm:t>
    </dgm:pt>
    <dgm:pt modelId="{8DC6214B-EECA-4C31-8D5D-A7AB69957E51}" type="sibTrans" cxnId="{D02D1DE4-07F9-4D95-9170-90307D6FB7BF}">
      <dgm:prSet/>
      <dgm:spPr/>
      <dgm:t>
        <a:bodyPr/>
        <a:lstStyle/>
        <a:p>
          <a:endParaRPr lang="en-DK"/>
        </a:p>
      </dgm:t>
    </dgm:pt>
    <dgm:pt modelId="{AA7ADA3B-7686-4EC2-BA37-E289FF3B32E5}">
      <dgm:prSet custT="1"/>
      <dgm:spPr/>
      <dgm:t>
        <a:bodyPr/>
        <a:lstStyle/>
        <a:p>
          <a:r>
            <a:rPr lang="en-SE" sz="1600" dirty="0"/>
            <a:t>Re-submissions possible</a:t>
          </a:r>
          <a:endParaRPr lang="en-DK" sz="1600" dirty="0"/>
        </a:p>
      </dgm:t>
    </dgm:pt>
    <dgm:pt modelId="{B368ABBF-6593-4C23-967C-BB3AC70D761A}" type="parTrans" cxnId="{D1B6D6A8-0EFA-47AF-85F1-405F3ACD72CF}">
      <dgm:prSet/>
      <dgm:spPr/>
      <dgm:t>
        <a:bodyPr/>
        <a:lstStyle/>
        <a:p>
          <a:endParaRPr lang="en-DK"/>
        </a:p>
      </dgm:t>
    </dgm:pt>
    <dgm:pt modelId="{017462E5-185F-4116-97BD-4F7D3CD2C5D7}" type="sibTrans" cxnId="{D1B6D6A8-0EFA-47AF-85F1-405F3ACD72CF}">
      <dgm:prSet/>
      <dgm:spPr/>
      <dgm:t>
        <a:bodyPr/>
        <a:lstStyle/>
        <a:p>
          <a:endParaRPr lang="en-DK"/>
        </a:p>
      </dgm:t>
    </dgm:pt>
    <dgm:pt modelId="{7A291D9B-C78B-4A62-B267-A6C367FEB85F}">
      <dgm:prSet custT="1"/>
      <dgm:spPr/>
      <dgm:t>
        <a:bodyPr/>
        <a:lstStyle/>
        <a:p>
          <a:r>
            <a:rPr lang="da-DK" sz="1600" dirty="0"/>
            <a:t>Lead reporters coordinate with supporting reporters</a:t>
          </a:r>
          <a:endParaRPr lang="en-DK" sz="1600" dirty="0"/>
        </a:p>
      </dgm:t>
    </dgm:pt>
    <dgm:pt modelId="{21809C5C-4488-4256-9785-554CC42E9EE4}" type="parTrans" cxnId="{1172491A-D6D6-4258-B039-795979C6EC0B}">
      <dgm:prSet/>
      <dgm:spPr/>
      <dgm:t>
        <a:bodyPr/>
        <a:lstStyle/>
        <a:p>
          <a:endParaRPr lang="en-DK"/>
        </a:p>
      </dgm:t>
    </dgm:pt>
    <dgm:pt modelId="{9D206267-5824-4936-8334-A8687867EB8F}" type="sibTrans" cxnId="{1172491A-D6D6-4258-B039-795979C6EC0B}">
      <dgm:prSet/>
      <dgm:spPr/>
      <dgm:t>
        <a:bodyPr/>
        <a:lstStyle/>
        <a:p>
          <a:endParaRPr lang="en-DK"/>
        </a:p>
      </dgm:t>
    </dgm:pt>
    <dgm:pt modelId="{FB64DAE0-8037-42FD-B173-1FF1618612C3}" type="pres">
      <dgm:prSet presAssocID="{74AD2002-8BF4-4752-943F-C42B397B04ED}" presName="linearFlow" presStyleCnt="0">
        <dgm:presLayoutVars>
          <dgm:dir/>
          <dgm:animLvl val="lvl"/>
          <dgm:resizeHandles val="exact"/>
        </dgm:presLayoutVars>
      </dgm:prSet>
      <dgm:spPr/>
    </dgm:pt>
    <dgm:pt modelId="{83872BCD-C1CE-431C-9CE8-EE1FE6C8BB0D}" type="pres">
      <dgm:prSet presAssocID="{8428FFEE-D862-48EA-8F59-2C82FC887797}" presName="composite" presStyleCnt="0"/>
      <dgm:spPr/>
    </dgm:pt>
    <dgm:pt modelId="{17D21A24-BDAC-48E3-9AA4-F14CF35FFE07}" type="pres">
      <dgm:prSet presAssocID="{8428FFEE-D862-48EA-8F59-2C82FC887797}" presName="parTx" presStyleLbl="node1" presStyleIdx="0" presStyleCnt="3">
        <dgm:presLayoutVars>
          <dgm:chMax val="0"/>
          <dgm:chPref val="0"/>
          <dgm:bulletEnabled val="1"/>
        </dgm:presLayoutVars>
      </dgm:prSet>
      <dgm:spPr/>
    </dgm:pt>
    <dgm:pt modelId="{D33C0158-8D25-432B-B344-036A1AF18639}" type="pres">
      <dgm:prSet presAssocID="{8428FFEE-D862-48EA-8F59-2C82FC887797}" presName="parSh" presStyleLbl="node1" presStyleIdx="0" presStyleCnt="3"/>
      <dgm:spPr/>
    </dgm:pt>
    <dgm:pt modelId="{3C184FFB-A351-459C-BB30-79D0AFEC4E3C}" type="pres">
      <dgm:prSet presAssocID="{8428FFEE-D862-48EA-8F59-2C82FC887797}" presName="desTx" presStyleLbl="fgAcc1" presStyleIdx="0" presStyleCnt="3">
        <dgm:presLayoutVars>
          <dgm:bulletEnabled val="1"/>
        </dgm:presLayoutVars>
      </dgm:prSet>
      <dgm:spPr/>
    </dgm:pt>
    <dgm:pt modelId="{3A97AE01-9167-4FA5-B75C-3221C5E326AB}" type="pres">
      <dgm:prSet presAssocID="{12BE71E2-C611-441E-81EB-F3CC91657906}" presName="sibTrans" presStyleLbl="sibTrans2D1" presStyleIdx="0" presStyleCnt="2"/>
      <dgm:spPr/>
    </dgm:pt>
    <dgm:pt modelId="{19AD3B3F-1924-4B55-BD9D-B28E08799153}" type="pres">
      <dgm:prSet presAssocID="{12BE71E2-C611-441E-81EB-F3CC91657906}" presName="connTx" presStyleLbl="sibTrans2D1" presStyleIdx="0" presStyleCnt="2"/>
      <dgm:spPr/>
    </dgm:pt>
    <dgm:pt modelId="{F1ACE977-E552-45D7-A1DE-C40CF78A2271}" type="pres">
      <dgm:prSet presAssocID="{9F592AF9-62B2-4F7F-A587-5D8D3974B7B5}" presName="composite" presStyleCnt="0"/>
      <dgm:spPr/>
    </dgm:pt>
    <dgm:pt modelId="{65BEC9AB-A941-4A3F-ADFE-DAAC060DB0DB}" type="pres">
      <dgm:prSet presAssocID="{9F592AF9-62B2-4F7F-A587-5D8D3974B7B5}" presName="parTx" presStyleLbl="node1" presStyleIdx="0" presStyleCnt="3">
        <dgm:presLayoutVars>
          <dgm:chMax val="0"/>
          <dgm:chPref val="0"/>
          <dgm:bulletEnabled val="1"/>
        </dgm:presLayoutVars>
      </dgm:prSet>
      <dgm:spPr/>
    </dgm:pt>
    <dgm:pt modelId="{71C773A9-854A-413A-8E6D-57D3D6276A89}" type="pres">
      <dgm:prSet presAssocID="{9F592AF9-62B2-4F7F-A587-5D8D3974B7B5}" presName="parSh" presStyleLbl="node1" presStyleIdx="1" presStyleCnt="3"/>
      <dgm:spPr/>
    </dgm:pt>
    <dgm:pt modelId="{29FCF5C0-98CD-42F1-BD16-2AC568B174DA}" type="pres">
      <dgm:prSet presAssocID="{9F592AF9-62B2-4F7F-A587-5D8D3974B7B5}" presName="desTx" presStyleLbl="fgAcc1" presStyleIdx="1" presStyleCnt="3">
        <dgm:presLayoutVars>
          <dgm:bulletEnabled val="1"/>
        </dgm:presLayoutVars>
      </dgm:prSet>
      <dgm:spPr/>
    </dgm:pt>
    <dgm:pt modelId="{357BEE49-CEFD-4848-B38E-0A3881543342}" type="pres">
      <dgm:prSet presAssocID="{8115ED36-FD17-4E69-A59D-B72037C18D73}" presName="sibTrans" presStyleLbl="sibTrans2D1" presStyleIdx="1" presStyleCnt="2"/>
      <dgm:spPr/>
    </dgm:pt>
    <dgm:pt modelId="{53E38130-9626-45BC-BD03-1E590DA69A3A}" type="pres">
      <dgm:prSet presAssocID="{8115ED36-FD17-4E69-A59D-B72037C18D73}" presName="connTx" presStyleLbl="sibTrans2D1" presStyleIdx="1" presStyleCnt="2"/>
      <dgm:spPr/>
    </dgm:pt>
    <dgm:pt modelId="{8B08EBB1-B1C5-44EC-9AA5-B1EEDB9EDB98}" type="pres">
      <dgm:prSet presAssocID="{04F26C1C-A46C-4624-9281-D64D9966019C}" presName="composite" presStyleCnt="0"/>
      <dgm:spPr/>
    </dgm:pt>
    <dgm:pt modelId="{9DFA5CB5-6594-4DF9-8CFA-4CE529AA8687}" type="pres">
      <dgm:prSet presAssocID="{04F26C1C-A46C-4624-9281-D64D9966019C}" presName="parTx" presStyleLbl="node1" presStyleIdx="1" presStyleCnt="3">
        <dgm:presLayoutVars>
          <dgm:chMax val="0"/>
          <dgm:chPref val="0"/>
          <dgm:bulletEnabled val="1"/>
        </dgm:presLayoutVars>
      </dgm:prSet>
      <dgm:spPr/>
    </dgm:pt>
    <dgm:pt modelId="{77C9BF74-F521-4BD8-B31D-3A48AF6F1EBE}" type="pres">
      <dgm:prSet presAssocID="{04F26C1C-A46C-4624-9281-D64D9966019C}" presName="parSh" presStyleLbl="node1" presStyleIdx="2" presStyleCnt="3"/>
      <dgm:spPr/>
    </dgm:pt>
    <dgm:pt modelId="{D925BF9C-C5F5-44F3-9470-DF3A945FA052}" type="pres">
      <dgm:prSet presAssocID="{04F26C1C-A46C-4624-9281-D64D9966019C}" presName="desTx" presStyleLbl="fgAcc1" presStyleIdx="2" presStyleCnt="3">
        <dgm:presLayoutVars>
          <dgm:bulletEnabled val="1"/>
        </dgm:presLayoutVars>
      </dgm:prSet>
      <dgm:spPr/>
    </dgm:pt>
  </dgm:ptLst>
  <dgm:cxnLst>
    <dgm:cxn modelId="{8FEF2604-0E02-44AC-A070-7FCD8E4E087A}" srcId="{9F592AF9-62B2-4F7F-A587-5D8D3974B7B5}" destId="{CA1347CF-76D0-42A9-B712-2BA7AF748508}" srcOrd="0" destOrd="0" parTransId="{CD1DD5C1-1E67-4A8C-A3B7-2DC9AEADA8F2}" sibTransId="{994A9ABC-DC07-4851-8E68-670B907C0053}"/>
    <dgm:cxn modelId="{1172491A-D6D6-4258-B039-795979C6EC0B}" srcId="{8428FFEE-D862-48EA-8F59-2C82FC887797}" destId="{7A291D9B-C78B-4A62-B267-A6C367FEB85F}" srcOrd="3" destOrd="0" parTransId="{21809C5C-4488-4256-9785-554CC42E9EE4}" sibTransId="{9D206267-5824-4936-8334-A8687867EB8F}"/>
    <dgm:cxn modelId="{B24F2E1D-3F11-4954-965E-00FCA7A4CAF5}" type="presOf" srcId="{5B84B9C0-E6DD-46B8-A29F-CCA1D1A7BC29}" destId="{D925BF9C-C5F5-44F3-9470-DF3A945FA052}" srcOrd="0" destOrd="1" presId="urn:microsoft.com/office/officeart/2005/8/layout/process3"/>
    <dgm:cxn modelId="{A4CACD24-A3BC-4C40-8DA6-36207412D56F}" srcId="{74AD2002-8BF4-4752-943F-C42B397B04ED}" destId="{9F592AF9-62B2-4F7F-A587-5D8D3974B7B5}" srcOrd="1" destOrd="0" parTransId="{C7F176ED-D5F4-4765-9971-02F7C9B01814}" sibTransId="{8115ED36-FD17-4E69-A59D-B72037C18D73}"/>
    <dgm:cxn modelId="{74B9C629-7912-49BB-A05C-01FF848F620E}" srcId="{74AD2002-8BF4-4752-943F-C42B397B04ED}" destId="{04F26C1C-A46C-4624-9281-D64D9966019C}" srcOrd="2" destOrd="0" parTransId="{A6A25F7F-E53F-46FE-8CDC-C6D515676E40}" sibTransId="{949D7530-227F-452F-A507-495C844FD07A}"/>
    <dgm:cxn modelId="{53FBB731-29DA-46C5-96E0-D16271F4576C}" type="presOf" srcId="{12BE71E2-C611-441E-81EB-F3CC91657906}" destId="{3A97AE01-9167-4FA5-B75C-3221C5E326AB}" srcOrd="0" destOrd="0" presId="urn:microsoft.com/office/officeart/2005/8/layout/process3"/>
    <dgm:cxn modelId="{501C4738-A25B-4AD4-B219-31A9B36617E9}" type="presOf" srcId="{3E979DB7-34CE-4637-BAC7-1725BE0CFC6B}" destId="{3C184FFB-A351-459C-BB30-79D0AFEC4E3C}" srcOrd="0" destOrd="1" presId="urn:microsoft.com/office/officeart/2005/8/layout/process3"/>
    <dgm:cxn modelId="{61FE683B-FFA4-4F18-97DC-AEBFBE1C596E}" type="presOf" srcId="{4D54B4C8-81EC-42AF-AA62-56BB8D077447}" destId="{3C184FFB-A351-459C-BB30-79D0AFEC4E3C}" srcOrd="0" destOrd="2" presId="urn:microsoft.com/office/officeart/2005/8/layout/process3"/>
    <dgm:cxn modelId="{E7A21E5E-4C65-4A34-926B-438BD41DC5B0}" type="presOf" srcId="{AA7ADA3B-7686-4EC2-BA37-E289FF3B32E5}" destId="{D925BF9C-C5F5-44F3-9470-DF3A945FA052}" srcOrd="0" destOrd="2" presId="urn:microsoft.com/office/officeart/2005/8/layout/process3"/>
    <dgm:cxn modelId="{DE836E46-BEBE-42C2-A88B-2EDC145F2F54}" type="presOf" srcId="{12BE71E2-C611-441E-81EB-F3CC91657906}" destId="{19AD3B3F-1924-4B55-BD9D-B28E08799153}" srcOrd="1" destOrd="0" presId="urn:microsoft.com/office/officeart/2005/8/layout/process3"/>
    <dgm:cxn modelId="{5841D546-A845-42F3-B5D9-D95CB24846A2}" srcId="{04F26C1C-A46C-4624-9281-D64D9966019C}" destId="{90FA6B11-9FB8-4EA8-BF5A-7535E2ECE8DC}" srcOrd="0" destOrd="0" parTransId="{D510EAC1-3DAF-405D-8217-0516E8EC3CCB}" sibTransId="{3315A100-2AD1-441B-96B8-B96AD7366027}"/>
    <dgm:cxn modelId="{607E2F67-A5FA-4959-9BC9-85ABBFD61F5C}" srcId="{04F26C1C-A46C-4624-9281-D64D9966019C}" destId="{5B84B9C0-E6DD-46B8-A29F-CCA1D1A7BC29}" srcOrd="1" destOrd="0" parTransId="{A7EF3E4D-2D00-4EA8-B77E-9FC351A450CE}" sibTransId="{2CF1BEDC-4194-4AD7-BE79-034F21219496}"/>
    <dgm:cxn modelId="{C74E2675-7131-419B-8B2C-7B500ED81F74}" type="presOf" srcId="{7A291D9B-C78B-4A62-B267-A6C367FEB85F}" destId="{3C184FFB-A351-459C-BB30-79D0AFEC4E3C}" srcOrd="0" destOrd="3" presId="urn:microsoft.com/office/officeart/2005/8/layout/process3"/>
    <dgm:cxn modelId="{E3491659-19EF-4A10-8786-EE92F3596A2A}" type="presOf" srcId="{9F592AF9-62B2-4F7F-A587-5D8D3974B7B5}" destId="{65BEC9AB-A941-4A3F-ADFE-DAAC060DB0DB}" srcOrd="0" destOrd="0" presId="urn:microsoft.com/office/officeart/2005/8/layout/process3"/>
    <dgm:cxn modelId="{FAB38381-BEDD-4733-88ED-7123790C296B}" type="presOf" srcId="{8115ED36-FD17-4E69-A59D-B72037C18D73}" destId="{357BEE49-CEFD-4848-B38E-0A3881543342}" srcOrd="0" destOrd="0" presId="urn:microsoft.com/office/officeart/2005/8/layout/process3"/>
    <dgm:cxn modelId="{5500168C-F698-4CBF-99CD-6CEAE3685855}" type="presOf" srcId="{04F26C1C-A46C-4624-9281-D64D9966019C}" destId="{77C9BF74-F521-4BD8-B31D-3A48AF6F1EBE}" srcOrd="1" destOrd="0" presId="urn:microsoft.com/office/officeart/2005/8/layout/process3"/>
    <dgm:cxn modelId="{5CD3188C-391A-458B-8846-8F9D43BFB5F5}" type="presOf" srcId="{8428FFEE-D862-48EA-8F59-2C82FC887797}" destId="{17D21A24-BDAC-48E3-9AA4-F14CF35FFE07}" srcOrd="0" destOrd="0" presId="urn:microsoft.com/office/officeart/2005/8/layout/process3"/>
    <dgm:cxn modelId="{E0A3C39E-1E0D-45C8-B2F1-FB2C0370F154}" srcId="{8428FFEE-D862-48EA-8F59-2C82FC887797}" destId="{EACB4C85-E915-4791-A84F-DBC99AAB0852}" srcOrd="0" destOrd="0" parTransId="{DF6B1108-F357-411B-AD30-796E3C4B2DE7}" sibTransId="{864DF142-BCE6-45E5-9B5C-1A4F7FF63383}"/>
    <dgm:cxn modelId="{71AA45A0-9F80-454A-99D9-FD983871D751}" type="presOf" srcId="{CA1347CF-76D0-42A9-B712-2BA7AF748508}" destId="{29FCF5C0-98CD-42F1-BD16-2AC568B174DA}" srcOrd="0" destOrd="0" presId="urn:microsoft.com/office/officeart/2005/8/layout/process3"/>
    <dgm:cxn modelId="{CD702BA5-B4E6-42BD-8F00-B4FB1F57B8B7}" type="presOf" srcId="{8115ED36-FD17-4E69-A59D-B72037C18D73}" destId="{53E38130-9626-45BC-BD03-1E590DA69A3A}" srcOrd="1" destOrd="0" presId="urn:microsoft.com/office/officeart/2005/8/layout/process3"/>
    <dgm:cxn modelId="{DE812BA5-66AB-4F11-8B68-CCDF0A3CDA9F}" type="presOf" srcId="{9B2D80A4-3B51-48F8-B045-85B73984A2C4}" destId="{D925BF9C-C5F5-44F3-9470-DF3A945FA052}" srcOrd="0" destOrd="3" presId="urn:microsoft.com/office/officeart/2005/8/layout/process3"/>
    <dgm:cxn modelId="{D1B6D6A8-0EFA-47AF-85F1-405F3ACD72CF}" srcId="{04F26C1C-A46C-4624-9281-D64D9966019C}" destId="{AA7ADA3B-7686-4EC2-BA37-E289FF3B32E5}" srcOrd="2" destOrd="0" parTransId="{B368ABBF-6593-4C23-967C-BB3AC70D761A}" sibTransId="{017462E5-185F-4116-97BD-4F7D3CD2C5D7}"/>
    <dgm:cxn modelId="{8238F3AA-C648-4943-9497-EF3F5E979E65}" srcId="{04F26C1C-A46C-4624-9281-D64D9966019C}" destId="{9B2D80A4-3B51-48F8-B045-85B73984A2C4}" srcOrd="3" destOrd="0" parTransId="{77DD7EF5-A174-48E6-8B60-FD3AEFDB046F}" sibTransId="{E3AC0B40-E993-4D7D-A815-B2BDDE3BF47B}"/>
    <dgm:cxn modelId="{17D9CEB0-3D8F-44B7-A7EE-74E0FF5CF34D}" srcId="{8428FFEE-D862-48EA-8F59-2C82FC887797}" destId="{4D54B4C8-81EC-42AF-AA62-56BB8D077447}" srcOrd="2" destOrd="0" parTransId="{081F5DB0-5477-49D0-BD12-D373858D74A7}" sibTransId="{8211D78B-59F6-4EC5-9108-098B74535BC6}"/>
    <dgm:cxn modelId="{4BC733B2-34AB-49C4-9410-91A299E42B9D}" srcId="{74AD2002-8BF4-4752-943F-C42B397B04ED}" destId="{8428FFEE-D862-48EA-8F59-2C82FC887797}" srcOrd="0" destOrd="0" parTransId="{FF7C48EE-9C6E-4DD7-B164-F4FC780ADB13}" sibTransId="{12BE71E2-C611-441E-81EB-F3CC91657906}"/>
    <dgm:cxn modelId="{7B038CB3-4F02-4589-8520-992C67D9D5DA}" type="presOf" srcId="{EACB4C85-E915-4791-A84F-DBC99AAB0852}" destId="{3C184FFB-A351-459C-BB30-79D0AFEC4E3C}" srcOrd="0" destOrd="0" presId="urn:microsoft.com/office/officeart/2005/8/layout/process3"/>
    <dgm:cxn modelId="{2DD091CB-9EA9-4B25-A6BB-B3AFB8F72867}" type="presOf" srcId="{B09C1616-DC96-4496-A819-BED930C11BA1}" destId="{29FCF5C0-98CD-42F1-BD16-2AC568B174DA}" srcOrd="0" destOrd="1" presId="urn:microsoft.com/office/officeart/2005/8/layout/process3"/>
    <dgm:cxn modelId="{B21A53D0-5881-42AE-BB32-A283B326BB60}" type="presOf" srcId="{9F592AF9-62B2-4F7F-A587-5D8D3974B7B5}" destId="{71C773A9-854A-413A-8E6D-57D3D6276A89}" srcOrd="1" destOrd="0" presId="urn:microsoft.com/office/officeart/2005/8/layout/process3"/>
    <dgm:cxn modelId="{16F1C5D0-40C2-43DD-AD6E-EFFF3EBCDF61}" type="presOf" srcId="{04F26C1C-A46C-4624-9281-D64D9966019C}" destId="{9DFA5CB5-6594-4DF9-8CFA-4CE529AA8687}" srcOrd="0" destOrd="0" presId="urn:microsoft.com/office/officeart/2005/8/layout/process3"/>
    <dgm:cxn modelId="{01A3E6E1-AD58-4707-8C88-1E3A0EF67F98}" type="presOf" srcId="{8428FFEE-D862-48EA-8F59-2C82FC887797}" destId="{D33C0158-8D25-432B-B344-036A1AF18639}" srcOrd="1" destOrd="0" presId="urn:microsoft.com/office/officeart/2005/8/layout/process3"/>
    <dgm:cxn modelId="{D02D1DE4-07F9-4D95-9170-90307D6FB7BF}" srcId="{9F592AF9-62B2-4F7F-A587-5D8D3974B7B5}" destId="{B09C1616-DC96-4496-A819-BED930C11BA1}" srcOrd="1" destOrd="0" parTransId="{7D4E9DD9-9D7C-4523-B663-F7A740217AF6}" sibTransId="{8DC6214B-EECA-4C31-8D5D-A7AB69957E51}"/>
    <dgm:cxn modelId="{9F6D20FA-89AF-4647-97E2-AC721B7289A9}" srcId="{8428FFEE-D862-48EA-8F59-2C82FC887797}" destId="{3E979DB7-34CE-4637-BAC7-1725BE0CFC6B}" srcOrd="1" destOrd="0" parTransId="{8C248E4C-77BE-49A5-8B1F-0F7EF80AC7B7}" sibTransId="{33C1055D-D696-4398-B44F-A25534FDD534}"/>
    <dgm:cxn modelId="{2F837FFE-E1C7-48EC-B377-B5CCF67DAC9A}" type="presOf" srcId="{90FA6B11-9FB8-4EA8-BF5A-7535E2ECE8DC}" destId="{D925BF9C-C5F5-44F3-9470-DF3A945FA052}" srcOrd="0" destOrd="0" presId="urn:microsoft.com/office/officeart/2005/8/layout/process3"/>
    <dgm:cxn modelId="{01BAACFE-D310-40E9-BA46-CBF0539A3AD8}" type="presOf" srcId="{74AD2002-8BF4-4752-943F-C42B397B04ED}" destId="{FB64DAE0-8037-42FD-B173-1FF1618612C3}" srcOrd="0" destOrd="0" presId="urn:microsoft.com/office/officeart/2005/8/layout/process3"/>
    <dgm:cxn modelId="{70AB8411-E1E2-41C1-AC4B-D2E4763483D5}" type="presParOf" srcId="{FB64DAE0-8037-42FD-B173-1FF1618612C3}" destId="{83872BCD-C1CE-431C-9CE8-EE1FE6C8BB0D}" srcOrd="0" destOrd="0" presId="urn:microsoft.com/office/officeart/2005/8/layout/process3"/>
    <dgm:cxn modelId="{B3EDBB52-9132-4369-8A11-D26882013052}" type="presParOf" srcId="{83872BCD-C1CE-431C-9CE8-EE1FE6C8BB0D}" destId="{17D21A24-BDAC-48E3-9AA4-F14CF35FFE07}" srcOrd="0" destOrd="0" presId="urn:microsoft.com/office/officeart/2005/8/layout/process3"/>
    <dgm:cxn modelId="{860078C3-07F8-4189-9D9D-DA81939CA3BD}" type="presParOf" srcId="{83872BCD-C1CE-431C-9CE8-EE1FE6C8BB0D}" destId="{D33C0158-8D25-432B-B344-036A1AF18639}" srcOrd="1" destOrd="0" presId="urn:microsoft.com/office/officeart/2005/8/layout/process3"/>
    <dgm:cxn modelId="{7D3618A6-429D-46CA-A81D-90F9792F1A0A}" type="presParOf" srcId="{83872BCD-C1CE-431C-9CE8-EE1FE6C8BB0D}" destId="{3C184FFB-A351-459C-BB30-79D0AFEC4E3C}" srcOrd="2" destOrd="0" presId="urn:microsoft.com/office/officeart/2005/8/layout/process3"/>
    <dgm:cxn modelId="{B35AD903-1C12-40E7-93C1-2AB4D5BAF89C}" type="presParOf" srcId="{FB64DAE0-8037-42FD-B173-1FF1618612C3}" destId="{3A97AE01-9167-4FA5-B75C-3221C5E326AB}" srcOrd="1" destOrd="0" presId="urn:microsoft.com/office/officeart/2005/8/layout/process3"/>
    <dgm:cxn modelId="{80BB9EF6-E71D-4CDE-AE57-E69508C1EDC4}" type="presParOf" srcId="{3A97AE01-9167-4FA5-B75C-3221C5E326AB}" destId="{19AD3B3F-1924-4B55-BD9D-B28E08799153}" srcOrd="0" destOrd="0" presId="urn:microsoft.com/office/officeart/2005/8/layout/process3"/>
    <dgm:cxn modelId="{C77B725B-4768-4E9F-AD8E-D31F0A75212A}" type="presParOf" srcId="{FB64DAE0-8037-42FD-B173-1FF1618612C3}" destId="{F1ACE977-E552-45D7-A1DE-C40CF78A2271}" srcOrd="2" destOrd="0" presId="urn:microsoft.com/office/officeart/2005/8/layout/process3"/>
    <dgm:cxn modelId="{0A28D00E-A263-4135-B358-E6EE537F5DA8}" type="presParOf" srcId="{F1ACE977-E552-45D7-A1DE-C40CF78A2271}" destId="{65BEC9AB-A941-4A3F-ADFE-DAAC060DB0DB}" srcOrd="0" destOrd="0" presId="urn:microsoft.com/office/officeart/2005/8/layout/process3"/>
    <dgm:cxn modelId="{97181DF2-353C-41DB-8C2E-62DD85D8051D}" type="presParOf" srcId="{F1ACE977-E552-45D7-A1DE-C40CF78A2271}" destId="{71C773A9-854A-413A-8E6D-57D3D6276A89}" srcOrd="1" destOrd="0" presId="urn:microsoft.com/office/officeart/2005/8/layout/process3"/>
    <dgm:cxn modelId="{250F15EE-F54A-4C0C-8573-B81E3A81B1EF}" type="presParOf" srcId="{F1ACE977-E552-45D7-A1DE-C40CF78A2271}" destId="{29FCF5C0-98CD-42F1-BD16-2AC568B174DA}" srcOrd="2" destOrd="0" presId="urn:microsoft.com/office/officeart/2005/8/layout/process3"/>
    <dgm:cxn modelId="{EC9A84A1-F6D7-4972-95CF-55EAF0A4791A}" type="presParOf" srcId="{FB64DAE0-8037-42FD-B173-1FF1618612C3}" destId="{357BEE49-CEFD-4848-B38E-0A3881543342}" srcOrd="3" destOrd="0" presId="urn:microsoft.com/office/officeart/2005/8/layout/process3"/>
    <dgm:cxn modelId="{EA156F74-E471-46D9-8574-2407A13CC12D}" type="presParOf" srcId="{357BEE49-CEFD-4848-B38E-0A3881543342}" destId="{53E38130-9626-45BC-BD03-1E590DA69A3A}" srcOrd="0" destOrd="0" presId="urn:microsoft.com/office/officeart/2005/8/layout/process3"/>
    <dgm:cxn modelId="{5CC5661E-0EC5-4384-9324-C55492CECCFF}" type="presParOf" srcId="{FB64DAE0-8037-42FD-B173-1FF1618612C3}" destId="{8B08EBB1-B1C5-44EC-9AA5-B1EEDB9EDB98}" srcOrd="4" destOrd="0" presId="urn:microsoft.com/office/officeart/2005/8/layout/process3"/>
    <dgm:cxn modelId="{91E03A29-FE4D-4789-95EA-A54BA9FC8286}" type="presParOf" srcId="{8B08EBB1-B1C5-44EC-9AA5-B1EEDB9EDB98}" destId="{9DFA5CB5-6594-4DF9-8CFA-4CE529AA8687}" srcOrd="0" destOrd="0" presId="urn:microsoft.com/office/officeart/2005/8/layout/process3"/>
    <dgm:cxn modelId="{935BD936-7E57-4CBC-85DE-A8F811AA2C87}" type="presParOf" srcId="{8B08EBB1-B1C5-44EC-9AA5-B1EEDB9EDB98}" destId="{77C9BF74-F521-4BD8-B31D-3A48AF6F1EBE}" srcOrd="1" destOrd="0" presId="urn:microsoft.com/office/officeart/2005/8/layout/process3"/>
    <dgm:cxn modelId="{E979C68B-C736-4CF4-BC17-C81570F6BA7D}" type="presParOf" srcId="{8B08EBB1-B1C5-44EC-9AA5-B1EEDB9EDB98}" destId="{D925BF9C-C5F5-44F3-9470-DF3A945FA052}"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5CF3B6-68DC-4218-9BFB-09914D8F2DF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CC6D852-DAE0-41DD-B0B0-5E6CEBF9641D}">
      <dgm:prSet custT="1"/>
      <dgm:spPr/>
      <dgm:t>
        <a:bodyPr/>
        <a:lstStyle/>
        <a:p>
          <a:pPr rtl="0"/>
          <a:r>
            <a:rPr lang="en-US" sz="2400" b="1" dirty="0">
              <a:latin typeface="Calibri"/>
              <a:ea typeface="Calibri"/>
              <a:cs typeface="Calibri"/>
            </a:rPr>
            <a:t>The QA/QC process: </a:t>
          </a:r>
          <a:br>
            <a:rPr lang="en-US" sz="2400" dirty="0">
              <a:latin typeface="Calibri"/>
              <a:ea typeface="Calibri"/>
              <a:cs typeface="Calibri"/>
            </a:rPr>
          </a:br>
          <a:r>
            <a:rPr lang="en-US" sz="2400" dirty="0">
              <a:latin typeface="Calibri"/>
              <a:ea typeface="Calibri"/>
              <a:cs typeface="Calibri"/>
            </a:rPr>
            <a:t>- Helps you improve the quality of your data and hence the quality of the Energy Community level data (and beyond)</a:t>
          </a:r>
          <a:br>
            <a:rPr lang="en-US" sz="2400" dirty="0">
              <a:latin typeface="Calibri"/>
              <a:ea typeface="Calibri"/>
              <a:cs typeface="Calibri"/>
            </a:rPr>
          </a:br>
          <a:r>
            <a:rPr lang="en-US" sz="2400" dirty="0">
              <a:latin typeface="Calibri"/>
              <a:ea typeface="Calibri"/>
              <a:cs typeface="Calibri"/>
            </a:rPr>
            <a:t>- Contributes to the transparency objective</a:t>
          </a:r>
          <a:br>
            <a:rPr lang="en-US" sz="2400" dirty="0">
              <a:latin typeface="Calibri"/>
              <a:ea typeface="Calibri"/>
              <a:cs typeface="Calibri"/>
            </a:rPr>
          </a:br>
          <a:r>
            <a:rPr lang="en-US" sz="2400" dirty="0">
              <a:latin typeface="Calibri"/>
              <a:ea typeface="Calibri"/>
              <a:cs typeface="Calibri"/>
            </a:rPr>
            <a:t>- Supports the improvement of the process </a:t>
          </a:r>
        </a:p>
      </dgm:t>
    </dgm:pt>
    <dgm:pt modelId="{CAC777D4-C04B-45C0-AA43-94044515D1F2}" type="parTrans" cxnId="{D8CED9D0-111B-4668-834B-E6D291ED0CD1}">
      <dgm:prSet/>
      <dgm:spPr/>
      <dgm:t>
        <a:bodyPr/>
        <a:lstStyle/>
        <a:p>
          <a:endParaRPr lang="en-US" sz="2400"/>
        </a:p>
      </dgm:t>
    </dgm:pt>
    <dgm:pt modelId="{60F44F0E-11BB-489F-9B1E-11008F994C27}" type="sibTrans" cxnId="{D8CED9D0-111B-4668-834B-E6D291ED0CD1}">
      <dgm:prSet/>
      <dgm:spPr/>
      <dgm:t>
        <a:bodyPr/>
        <a:lstStyle/>
        <a:p>
          <a:endParaRPr lang="en-US" sz="2400"/>
        </a:p>
      </dgm:t>
    </dgm:pt>
    <dgm:pt modelId="{291EFE7E-251E-4FD0-9F10-360245008492}" type="pres">
      <dgm:prSet presAssocID="{625CF3B6-68DC-4218-9BFB-09914D8F2DF9}" presName="linear" presStyleCnt="0">
        <dgm:presLayoutVars>
          <dgm:animLvl val="lvl"/>
          <dgm:resizeHandles val="exact"/>
        </dgm:presLayoutVars>
      </dgm:prSet>
      <dgm:spPr/>
    </dgm:pt>
    <dgm:pt modelId="{F4DC317D-2974-4B3F-B3C6-F3D55892A5E6}" type="pres">
      <dgm:prSet presAssocID="{6CC6D852-DAE0-41DD-B0B0-5E6CEBF9641D}" presName="parentText" presStyleLbl="node1" presStyleIdx="0" presStyleCnt="1" custScaleY="425137" custLinFactNeighborY="-11469">
        <dgm:presLayoutVars>
          <dgm:chMax val="0"/>
          <dgm:bulletEnabled val="1"/>
        </dgm:presLayoutVars>
      </dgm:prSet>
      <dgm:spPr/>
    </dgm:pt>
  </dgm:ptLst>
  <dgm:cxnLst>
    <dgm:cxn modelId="{2C7E504B-2A7B-4B19-A398-8A39C8C6896B}" type="presOf" srcId="{625CF3B6-68DC-4218-9BFB-09914D8F2DF9}" destId="{291EFE7E-251E-4FD0-9F10-360245008492}" srcOrd="0" destOrd="0" presId="urn:microsoft.com/office/officeart/2005/8/layout/vList2"/>
    <dgm:cxn modelId="{2EF9D07C-90F5-4166-A00F-B9FDE8825E2D}" type="presOf" srcId="{6CC6D852-DAE0-41DD-B0B0-5E6CEBF9641D}" destId="{F4DC317D-2974-4B3F-B3C6-F3D55892A5E6}" srcOrd="0" destOrd="0" presId="urn:microsoft.com/office/officeart/2005/8/layout/vList2"/>
    <dgm:cxn modelId="{D8CED9D0-111B-4668-834B-E6D291ED0CD1}" srcId="{625CF3B6-68DC-4218-9BFB-09914D8F2DF9}" destId="{6CC6D852-DAE0-41DD-B0B0-5E6CEBF9641D}" srcOrd="0" destOrd="0" parTransId="{CAC777D4-C04B-45C0-AA43-94044515D1F2}" sibTransId="{60F44F0E-11BB-489F-9B1E-11008F994C27}"/>
    <dgm:cxn modelId="{5A627EA6-72C6-4B3A-809D-B10223281E67}" type="presParOf" srcId="{291EFE7E-251E-4FD0-9F10-360245008492}" destId="{F4DC317D-2974-4B3F-B3C6-F3D55892A5E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C0158-8D25-432B-B344-036A1AF18639}">
      <dsp:nvSpPr>
        <dsp:cNvPr id="0" name=""/>
        <dsp:cNvSpPr/>
      </dsp:nvSpPr>
      <dsp:spPr>
        <a:xfrm>
          <a:off x="5399" y="851763"/>
          <a:ext cx="2455161" cy="1404925"/>
        </a:xfrm>
        <a:prstGeom prst="roundRect">
          <a:avLst>
            <a:gd name="adj" fmla="val 10000"/>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91440" numCol="1" spcCol="1270" anchor="t" anchorCtr="0">
          <a:noAutofit/>
        </a:bodyPr>
        <a:lstStyle/>
        <a:p>
          <a:pPr marL="0" lvl="0" indent="0" algn="l" defTabSz="1066800">
            <a:lnSpc>
              <a:spcPct val="90000"/>
            </a:lnSpc>
            <a:spcBef>
              <a:spcPct val="0"/>
            </a:spcBef>
            <a:spcAft>
              <a:spcPct val="35000"/>
            </a:spcAft>
            <a:buNone/>
          </a:pPr>
          <a:r>
            <a:rPr lang="en-SE" sz="2400" kern="1200" dirty="0"/>
            <a:t>Nomination of Lead Reporters</a:t>
          </a:r>
          <a:endParaRPr lang="en-DK" sz="2400" kern="1200" dirty="0"/>
        </a:p>
      </dsp:txBody>
      <dsp:txXfrm>
        <a:off x="5399" y="851763"/>
        <a:ext cx="2455161" cy="936617"/>
      </dsp:txXfrm>
    </dsp:sp>
    <dsp:sp modelId="{3C184FFB-A351-459C-BB30-79D0AFEC4E3C}">
      <dsp:nvSpPr>
        <dsp:cNvPr id="0" name=""/>
        <dsp:cNvSpPr/>
      </dsp:nvSpPr>
      <dsp:spPr>
        <a:xfrm>
          <a:off x="508264" y="1788381"/>
          <a:ext cx="2455161" cy="22842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SE" sz="1600" kern="1200" dirty="0"/>
            <a:t>Nominations to </a:t>
          </a:r>
          <a:r>
            <a:rPr lang="en-SE" sz="1600" kern="1200" dirty="0" err="1"/>
            <a:t>EnCS</a:t>
          </a:r>
          <a:endParaRPr lang="en-DK" sz="1600" kern="1200" dirty="0"/>
        </a:p>
        <a:p>
          <a:pPr marL="171450" lvl="1" indent="-171450" algn="l" defTabSz="711200">
            <a:lnSpc>
              <a:spcPct val="90000"/>
            </a:lnSpc>
            <a:spcBef>
              <a:spcPct val="0"/>
            </a:spcBef>
            <a:spcAft>
              <a:spcPct val="15000"/>
            </a:spcAft>
            <a:buChar char="•"/>
          </a:pPr>
          <a:r>
            <a:rPr lang="en-SE" sz="1600" kern="1200" dirty="0"/>
            <a:t>EEA grants access to </a:t>
          </a:r>
          <a:r>
            <a:rPr lang="en-SE" sz="1600" kern="1200" dirty="0" err="1"/>
            <a:t>Reportnet</a:t>
          </a:r>
          <a:endParaRPr lang="en-DK" sz="1600" kern="1200" dirty="0"/>
        </a:p>
        <a:p>
          <a:pPr marL="171450" lvl="1" indent="-171450" algn="l" defTabSz="711200">
            <a:lnSpc>
              <a:spcPct val="90000"/>
            </a:lnSpc>
            <a:spcBef>
              <a:spcPct val="0"/>
            </a:spcBef>
            <a:spcAft>
              <a:spcPct val="15000"/>
            </a:spcAft>
            <a:buChar char="•"/>
          </a:pPr>
          <a:r>
            <a:rPr lang="en-SE" sz="1600" kern="1200" dirty="0"/>
            <a:t>EU Login</a:t>
          </a:r>
          <a:endParaRPr lang="en-DK" sz="1600" kern="1200" dirty="0"/>
        </a:p>
        <a:p>
          <a:pPr marL="171450" lvl="1" indent="-171450" algn="l" defTabSz="711200">
            <a:lnSpc>
              <a:spcPct val="90000"/>
            </a:lnSpc>
            <a:spcBef>
              <a:spcPct val="0"/>
            </a:spcBef>
            <a:spcAft>
              <a:spcPct val="15000"/>
            </a:spcAft>
            <a:buChar char="•"/>
          </a:pPr>
          <a:r>
            <a:rPr lang="da-DK" sz="1600" kern="1200" dirty="0"/>
            <a:t>Lead reporters coordinate with supporting reporters</a:t>
          </a:r>
          <a:endParaRPr lang="en-DK" sz="1600" kern="1200" dirty="0"/>
        </a:p>
      </dsp:txBody>
      <dsp:txXfrm>
        <a:off x="575166" y="1855283"/>
        <a:ext cx="2321357" cy="2150396"/>
      </dsp:txXfrm>
    </dsp:sp>
    <dsp:sp modelId="{3A97AE01-9167-4FA5-B75C-3221C5E326AB}">
      <dsp:nvSpPr>
        <dsp:cNvPr id="0" name=""/>
        <dsp:cNvSpPr/>
      </dsp:nvSpPr>
      <dsp:spPr>
        <a:xfrm>
          <a:off x="2832755" y="1014440"/>
          <a:ext cx="789050" cy="6112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DK" sz="1900" kern="1200"/>
        </a:p>
      </dsp:txBody>
      <dsp:txXfrm>
        <a:off x="2832755" y="1136693"/>
        <a:ext cx="605671" cy="366758"/>
      </dsp:txXfrm>
    </dsp:sp>
    <dsp:sp modelId="{71C773A9-854A-413A-8E6D-57D3D6276A89}">
      <dsp:nvSpPr>
        <dsp:cNvPr id="0" name=""/>
        <dsp:cNvSpPr/>
      </dsp:nvSpPr>
      <dsp:spPr>
        <a:xfrm>
          <a:off x="3949335" y="851763"/>
          <a:ext cx="2455161" cy="1404925"/>
        </a:xfrm>
        <a:prstGeom prst="roundRect">
          <a:avLst>
            <a:gd name="adj" fmla="val 10000"/>
          </a:avLst>
        </a:prstGeom>
        <a:solidFill>
          <a:schemeClr val="accent5">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91440" numCol="1" spcCol="1270" anchor="t" anchorCtr="0">
          <a:noAutofit/>
        </a:bodyPr>
        <a:lstStyle/>
        <a:p>
          <a:pPr marL="0" lvl="0" indent="0" algn="l" defTabSz="1066800">
            <a:lnSpc>
              <a:spcPct val="90000"/>
            </a:lnSpc>
            <a:spcBef>
              <a:spcPct val="0"/>
            </a:spcBef>
            <a:spcAft>
              <a:spcPct val="35000"/>
            </a:spcAft>
            <a:buNone/>
          </a:pPr>
          <a:r>
            <a:rPr lang="en-SE" sz="2400" kern="1200" dirty="0" err="1"/>
            <a:t>Reportnet</a:t>
          </a:r>
          <a:r>
            <a:rPr lang="en-SE" sz="2400" kern="1200" dirty="0"/>
            <a:t> open for submission</a:t>
          </a:r>
          <a:endParaRPr lang="en-DK" sz="2400" kern="1200" dirty="0"/>
        </a:p>
      </dsp:txBody>
      <dsp:txXfrm>
        <a:off x="3949335" y="851763"/>
        <a:ext cx="2455161" cy="936617"/>
      </dsp:txXfrm>
    </dsp:sp>
    <dsp:sp modelId="{29FCF5C0-98CD-42F1-BD16-2AC568B174DA}">
      <dsp:nvSpPr>
        <dsp:cNvPr id="0" name=""/>
        <dsp:cNvSpPr/>
      </dsp:nvSpPr>
      <dsp:spPr>
        <a:xfrm>
          <a:off x="4452200" y="1788381"/>
          <a:ext cx="2455161" cy="22842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SE" sz="1600" kern="1200" dirty="0"/>
            <a:t>Opened from the beginning of March</a:t>
          </a:r>
          <a:endParaRPr lang="en-DK" sz="1600" kern="1200" dirty="0"/>
        </a:p>
        <a:p>
          <a:pPr marL="171450" lvl="1" indent="-171450" algn="l" defTabSz="711200">
            <a:lnSpc>
              <a:spcPct val="90000"/>
            </a:lnSpc>
            <a:spcBef>
              <a:spcPct val="0"/>
            </a:spcBef>
            <a:spcAft>
              <a:spcPct val="15000"/>
            </a:spcAft>
            <a:buChar char="•"/>
          </a:pPr>
          <a:r>
            <a:rPr lang="en-SE" sz="1600" kern="1200" dirty="0"/>
            <a:t>Will not close for submissions</a:t>
          </a:r>
          <a:endParaRPr lang="en-DK" sz="1600" kern="1200" dirty="0"/>
        </a:p>
      </dsp:txBody>
      <dsp:txXfrm>
        <a:off x="4519102" y="1855283"/>
        <a:ext cx="2321357" cy="2150396"/>
      </dsp:txXfrm>
    </dsp:sp>
    <dsp:sp modelId="{357BEE49-CEFD-4848-B38E-0A3881543342}">
      <dsp:nvSpPr>
        <dsp:cNvPr id="0" name=""/>
        <dsp:cNvSpPr/>
      </dsp:nvSpPr>
      <dsp:spPr>
        <a:xfrm>
          <a:off x="6776691" y="1014440"/>
          <a:ext cx="789050" cy="6112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DK" sz="1900" kern="1200"/>
        </a:p>
      </dsp:txBody>
      <dsp:txXfrm>
        <a:off x="6776691" y="1136693"/>
        <a:ext cx="605671" cy="366758"/>
      </dsp:txXfrm>
    </dsp:sp>
    <dsp:sp modelId="{77C9BF74-F521-4BD8-B31D-3A48AF6F1EBE}">
      <dsp:nvSpPr>
        <dsp:cNvPr id="0" name=""/>
        <dsp:cNvSpPr/>
      </dsp:nvSpPr>
      <dsp:spPr>
        <a:xfrm>
          <a:off x="7893272" y="851763"/>
          <a:ext cx="2455161" cy="1404925"/>
        </a:xfrm>
        <a:prstGeom prst="roundRect">
          <a:avLst>
            <a:gd name="adj" fmla="val 10000"/>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91440" numCol="1" spcCol="1270" anchor="t" anchorCtr="0">
          <a:noAutofit/>
        </a:bodyPr>
        <a:lstStyle/>
        <a:p>
          <a:pPr marL="0" lvl="0" indent="0" algn="l" defTabSz="1066800">
            <a:lnSpc>
              <a:spcPct val="90000"/>
            </a:lnSpc>
            <a:spcBef>
              <a:spcPct val="0"/>
            </a:spcBef>
            <a:spcAft>
              <a:spcPct val="35000"/>
            </a:spcAft>
            <a:buNone/>
          </a:pPr>
          <a:r>
            <a:rPr lang="en-SE" sz="2400" kern="1200" dirty="0"/>
            <a:t>Quality control process</a:t>
          </a:r>
          <a:endParaRPr lang="en-DK" sz="2400" kern="1200" dirty="0"/>
        </a:p>
      </dsp:txBody>
      <dsp:txXfrm>
        <a:off x="7893272" y="851763"/>
        <a:ext cx="2455161" cy="936617"/>
      </dsp:txXfrm>
    </dsp:sp>
    <dsp:sp modelId="{D925BF9C-C5F5-44F3-9470-DF3A945FA052}">
      <dsp:nvSpPr>
        <dsp:cNvPr id="0" name=""/>
        <dsp:cNvSpPr/>
      </dsp:nvSpPr>
      <dsp:spPr>
        <a:xfrm>
          <a:off x="8396136" y="1788381"/>
          <a:ext cx="2455161" cy="22842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SE" sz="1600" kern="1200" dirty="0"/>
            <a:t>Conducted at EEA</a:t>
          </a:r>
          <a:endParaRPr lang="en-DK" sz="1600" kern="1200" dirty="0"/>
        </a:p>
        <a:p>
          <a:pPr marL="171450" lvl="1" indent="-171450" algn="l" defTabSz="711200">
            <a:lnSpc>
              <a:spcPct val="90000"/>
            </a:lnSpc>
            <a:spcBef>
              <a:spcPct val="0"/>
            </a:spcBef>
            <a:spcAft>
              <a:spcPct val="15000"/>
            </a:spcAft>
            <a:buChar char="•"/>
          </a:pPr>
          <a:r>
            <a:rPr lang="en-SE" sz="1600" kern="1200" dirty="0"/>
            <a:t>Dialogue between the EEA and CPs</a:t>
          </a:r>
          <a:endParaRPr lang="en-DK" sz="1600" kern="1200" dirty="0"/>
        </a:p>
        <a:p>
          <a:pPr marL="171450" lvl="1" indent="-171450" algn="l" defTabSz="711200">
            <a:lnSpc>
              <a:spcPct val="90000"/>
            </a:lnSpc>
            <a:spcBef>
              <a:spcPct val="0"/>
            </a:spcBef>
            <a:spcAft>
              <a:spcPct val="15000"/>
            </a:spcAft>
            <a:buChar char="•"/>
          </a:pPr>
          <a:r>
            <a:rPr lang="en-SE" sz="1600" kern="1200" dirty="0"/>
            <a:t>Re-submissions possible</a:t>
          </a:r>
          <a:endParaRPr lang="en-DK" sz="1600" kern="1200" dirty="0"/>
        </a:p>
        <a:p>
          <a:pPr marL="171450" lvl="1" indent="-171450" algn="l" defTabSz="711200">
            <a:lnSpc>
              <a:spcPct val="90000"/>
            </a:lnSpc>
            <a:spcBef>
              <a:spcPct val="0"/>
            </a:spcBef>
            <a:spcAft>
              <a:spcPct val="15000"/>
            </a:spcAft>
            <a:buChar char="•"/>
          </a:pPr>
          <a:r>
            <a:rPr lang="en-SE" sz="1600" kern="1200" dirty="0"/>
            <a:t>Aim is to complement and improve, not to find errors</a:t>
          </a:r>
          <a:endParaRPr lang="en-DK" sz="1600" kern="1200" dirty="0"/>
        </a:p>
      </dsp:txBody>
      <dsp:txXfrm>
        <a:off x="8463038" y="1855283"/>
        <a:ext cx="2321357" cy="2150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C317D-2974-4B3F-B3C6-F3D55892A5E6}">
      <dsp:nvSpPr>
        <dsp:cNvPr id="0" name=""/>
        <dsp:cNvSpPr/>
      </dsp:nvSpPr>
      <dsp:spPr>
        <a:xfrm>
          <a:off x="0" y="0"/>
          <a:ext cx="10302143" cy="21864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1" kern="1200" dirty="0">
              <a:latin typeface="Calibri"/>
              <a:ea typeface="Calibri"/>
              <a:cs typeface="Calibri"/>
            </a:rPr>
            <a:t>The QA/QC process: </a:t>
          </a:r>
          <a:br>
            <a:rPr lang="en-US" sz="2400" kern="1200" dirty="0">
              <a:latin typeface="Calibri"/>
              <a:ea typeface="Calibri"/>
              <a:cs typeface="Calibri"/>
            </a:rPr>
          </a:br>
          <a:r>
            <a:rPr lang="en-US" sz="2400" kern="1200" dirty="0">
              <a:latin typeface="Calibri"/>
              <a:ea typeface="Calibri"/>
              <a:cs typeface="Calibri"/>
            </a:rPr>
            <a:t>- Helps you improve the quality of your data and hence the quality of the Energy Community level data (and beyond)</a:t>
          </a:r>
          <a:br>
            <a:rPr lang="en-US" sz="2400" kern="1200" dirty="0">
              <a:latin typeface="Calibri"/>
              <a:ea typeface="Calibri"/>
              <a:cs typeface="Calibri"/>
            </a:rPr>
          </a:br>
          <a:r>
            <a:rPr lang="en-US" sz="2400" kern="1200" dirty="0">
              <a:latin typeface="Calibri"/>
              <a:ea typeface="Calibri"/>
              <a:cs typeface="Calibri"/>
            </a:rPr>
            <a:t>- Contributes to the transparency objective</a:t>
          </a:r>
          <a:br>
            <a:rPr lang="en-US" sz="2400" kern="1200" dirty="0">
              <a:latin typeface="Calibri"/>
              <a:ea typeface="Calibri"/>
              <a:cs typeface="Calibri"/>
            </a:rPr>
          </a:br>
          <a:r>
            <a:rPr lang="en-US" sz="2400" kern="1200" dirty="0">
              <a:latin typeface="Calibri"/>
              <a:ea typeface="Calibri"/>
              <a:cs typeface="Calibri"/>
            </a:rPr>
            <a:t>- Supports the improvement of the process </a:t>
          </a:r>
        </a:p>
      </dsp:txBody>
      <dsp:txXfrm>
        <a:off x="106735" y="106735"/>
        <a:ext cx="10088673" cy="1972997"/>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F8F40-AB11-4026-B2C7-9270D9FFF1F8}" type="datetimeFigureOut">
              <a:rPr lang="en-DK" smtClean="0"/>
              <a:t>07/10/2025</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E0F3C7-EF41-4749-8D80-5F0119961675}" type="slidenum">
              <a:rPr lang="en-DK" smtClean="0"/>
              <a:t>‹#›</a:t>
            </a:fld>
            <a:endParaRPr lang="en-DK"/>
          </a:p>
        </p:txBody>
      </p:sp>
    </p:spTree>
    <p:extLst>
      <p:ext uri="{BB962C8B-B14F-4D97-AF65-F5344CB8AC3E}">
        <p14:creationId xmlns:p14="http://schemas.microsoft.com/office/powerpoint/2010/main" val="2108134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ur-lex.europa.eu/legal-content/EN/TXT/PDF/?uri=CELEX:32018R1999&amp;from=E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eea.europa.eu/en/about/who-we-are/projects-and-cooperation-agreements/energy-community"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ur-lex.europa.eu/legal-content/EN/TXT/PDF/?uri=CELEX:32018R1999&amp;from=E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eea.europa.eu/en/about/who-we-are/projects-and-cooperation-agreements/energy-community"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ur-lex.europa.eu/legal-content/EN/TXT/PDF/?uri=CELEX:32018R1999&amp;from=EN"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eea.europa.eu/en/about/who-we-are/projects-and-cooperation-agreements/energy-community"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ur-lex.europa.eu/legal-content/EN/TXT/PDF/?uri=CELEX:32018R1999&amp;from=EN"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eea.europa.eu/en/about/who-we-are/projects-and-cooperation-agreements/energy-community"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ur-lex.europa.eu/legal-content/EN/TXT/PDF/?uri=CELEX:32018R1999&amp;from=EN"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www.eea.europa.eu/en/about/who-we-are/projects-and-cooperation-agreements/energy-community"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ur-lex.europa.eu/legal-content/EN/TXT/PDF/?uri=CELEX:32018R1999&amp;from=EN"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www.eea.europa.eu/en/about/who-we-are/projects-and-cooperation-agreements/energy-community"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1173163"/>
            <a:ext cx="5629275" cy="316706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77201BC-94E4-4101-962D-54511777D224}" type="slidenum">
              <a:rPr lang="en-GB" smtClean="0"/>
              <a:pPr/>
              <a:t>1</a:t>
            </a:fld>
            <a:endParaRPr lang="en-GB"/>
          </a:p>
        </p:txBody>
      </p:sp>
    </p:spTree>
    <p:extLst>
      <p:ext uri="{BB962C8B-B14F-4D97-AF65-F5344CB8AC3E}">
        <p14:creationId xmlns:p14="http://schemas.microsoft.com/office/powerpoint/2010/main" val="1772990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Energy Community’s CPs, the adapted </a:t>
            </a:r>
            <a:r>
              <a:rPr lang="en-US">
                <a:hlinkClick r:id="rId3"/>
              </a:rPr>
              <a:t>Governance Regulation</a:t>
            </a:r>
            <a:r>
              <a:rPr lang="en-US"/>
              <a:t> sets common rules for planning, reporting and monitoring on energy and climate policies and targets, including via National Energy and Climate Plans. Targeted support is needed to ensure compliance, e.g. the quality of reported data, its comparability with EU data, and its</a:t>
            </a:r>
            <a:r>
              <a:rPr lang="en-US" dirty="0">
                <a:hlinkClick r:id="rId4"/>
              </a:rPr>
              <a:t> </a:t>
            </a:r>
            <a:r>
              <a:rPr lang="en-US"/>
              <a:t>appropriate compilation and analysis. The reporting requirements come gradually, with the first new obligations being introduced in 2023. These include reporting on national greenhouse gas policies and measures, national climate change adaptation planning and strategies, and the description of the national system for reporting on policies and measures and projections of anthropogenic GHG emissions. This will be expanded to include numerous data flows, including the greenhouse gas inventories and information on support to developing countries.</a:t>
            </a:r>
          </a:p>
          <a:p>
            <a:r>
              <a:rPr lang="en-US"/>
              <a:t>The nine CPs are the six West Balkan CPs of Albania, Bosnia and Herzegovina, North Macedonia, Kosovo, Montenegro, and Serbia, as well as the three Eastern Partnership members of the Energy Community: Georgia, the Republic of Moldova and Ukraine. The project includes both virtual and in-person training sessions where the targeted technical assistance will be provided.</a:t>
            </a:r>
          </a:p>
          <a:p>
            <a:r>
              <a:rPr lang="en-US"/>
              <a:t>A key partner of this community is the Energy Community Secretariat, which is coordinating the full scope of reporting under the adapted Governance Regulation and which will collect all final data sets for further communication. Moreover, the Secretariat is a key partner in the coordination of technical assistance of the project and aligning it with the broader support provided by the Energy Community Secretariat.</a:t>
            </a:r>
          </a:p>
        </p:txBody>
      </p:sp>
      <p:sp>
        <p:nvSpPr>
          <p:cNvPr id="4" name="Slide Number Placeholder 3"/>
          <p:cNvSpPr>
            <a:spLocks noGrp="1"/>
          </p:cNvSpPr>
          <p:nvPr>
            <p:ph type="sldNum" sz="quarter" idx="5"/>
          </p:nvPr>
        </p:nvSpPr>
        <p:spPr/>
        <p:txBody>
          <a:bodyPr/>
          <a:lstStyle/>
          <a:p>
            <a:fld id="{CDB57296-D5E5-4927-A250-AF26A1F7177E}" type="slidenum">
              <a:rPr lang="en-US"/>
              <a:t>5</a:t>
            </a:fld>
            <a:endParaRPr lang="en-US"/>
          </a:p>
        </p:txBody>
      </p:sp>
    </p:spTree>
    <p:extLst>
      <p:ext uri="{BB962C8B-B14F-4D97-AF65-F5344CB8AC3E}">
        <p14:creationId xmlns:p14="http://schemas.microsoft.com/office/powerpoint/2010/main" val="4031400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Energy Community’s CPs, the adapted </a:t>
            </a:r>
            <a:r>
              <a:rPr lang="en-US">
                <a:hlinkClick r:id="rId3"/>
              </a:rPr>
              <a:t>Governance Regulation</a:t>
            </a:r>
            <a:r>
              <a:rPr lang="en-US"/>
              <a:t> sets common rules for planning, reporting and monitoring on energy and climate policies and targets, including via National Energy and Climate Plans. Targeted support is needed to ensure compliance, e.g. the quality of reported data, its comparability with EU data, and its</a:t>
            </a:r>
            <a:r>
              <a:rPr lang="en-US" dirty="0">
                <a:hlinkClick r:id="rId4"/>
              </a:rPr>
              <a:t> </a:t>
            </a:r>
            <a:r>
              <a:rPr lang="en-US"/>
              <a:t>appropriate compilation and analysis. The reporting requirements come gradually, with the first new obligations being introduced in 2023. These include reporting on national greenhouse gas policies and measures, national climate change adaptation planning and strategies, and the description of the national system for reporting on policies and measures and projections of anthropogenic GHG emissions. This will be expanded to include numerous data flows, including the greenhouse gas inventories and information on support to developing countries.</a:t>
            </a:r>
          </a:p>
          <a:p>
            <a:r>
              <a:rPr lang="en-US"/>
              <a:t>The nine CPs are the six West Balkan CPs of Albania, Bosnia and Herzegovina, North Macedonia, Kosovo, Montenegro, and Serbia, as well as the three Eastern Partnership members of the Energy Community: Georgia, the Republic of Moldova and Ukraine. The project includes both virtual and in-person training sessions where the targeted technical assistance will be provided.</a:t>
            </a:r>
          </a:p>
          <a:p>
            <a:r>
              <a:rPr lang="en-US"/>
              <a:t>A key partner of this community is the Energy Community Secretariat, which is coordinating the full scope of reporting under the adapted Governance Regulation and which will collect all final data sets for further communication. Moreover, the Secretariat is a key partner in the coordination of technical assistance of the project and aligning it with the broader support provided by the Energy Community Secretariat.</a:t>
            </a:r>
          </a:p>
        </p:txBody>
      </p:sp>
      <p:sp>
        <p:nvSpPr>
          <p:cNvPr id="4" name="Slide Number Placeholder 3"/>
          <p:cNvSpPr>
            <a:spLocks noGrp="1"/>
          </p:cNvSpPr>
          <p:nvPr>
            <p:ph type="sldNum" sz="quarter" idx="5"/>
          </p:nvPr>
        </p:nvSpPr>
        <p:spPr/>
        <p:txBody>
          <a:bodyPr/>
          <a:lstStyle/>
          <a:p>
            <a:fld id="{CDB57296-D5E5-4927-A250-AF26A1F7177E}" type="slidenum">
              <a:rPr lang="en-US"/>
              <a:t>6</a:t>
            </a:fld>
            <a:endParaRPr lang="en-US"/>
          </a:p>
        </p:txBody>
      </p:sp>
    </p:spTree>
    <p:extLst>
      <p:ext uri="{BB962C8B-B14F-4D97-AF65-F5344CB8AC3E}">
        <p14:creationId xmlns:p14="http://schemas.microsoft.com/office/powerpoint/2010/main" val="1933991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past 2025, we need to look at the reporting calendar.</a:t>
            </a:r>
          </a:p>
          <a:p>
            <a:r>
              <a:rPr lang="en-US"/>
              <a:t>2026 – not an intense reporting year in terms of </a:t>
            </a:r>
            <a:r>
              <a:rPr lang="en-US" err="1"/>
              <a:t>GovReg</a:t>
            </a:r>
            <a:r>
              <a:rPr lang="en-US"/>
              <a:t> data. However the inventory and the financial data needs to be reported. And this is the first year that this need to be reported without the BTR funds being available just before, as the BTR deadline is first in the end of that year. </a:t>
            </a:r>
          </a:p>
          <a:p>
            <a:r>
              <a:rPr lang="en-US"/>
              <a:t>Underlines the importance of creating a GHG Inventory system that is able to generate this once per year.</a:t>
            </a:r>
          </a:p>
          <a:p>
            <a:endParaRPr lang="en-US"/>
          </a:p>
          <a:p>
            <a:r>
              <a:rPr lang="en-US"/>
              <a:t>2027 – this is an intense year. The same reporting that you have done this year comes again. Having gone through the QC process, and with the pre-loading of existing data, this will significantly speed up the process.</a:t>
            </a:r>
          </a:p>
          <a:p>
            <a:r>
              <a:rPr lang="en-US"/>
              <a:t>The Comprehensive Review on the GHG Inventory – as the name implies, this is a more comprehensive review of the GHG Inventories. Again, very useful, but will demand time from your inventory teams.</a:t>
            </a:r>
          </a:p>
        </p:txBody>
      </p:sp>
      <p:sp>
        <p:nvSpPr>
          <p:cNvPr id="4" name="Slide Number Placeholder 3"/>
          <p:cNvSpPr>
            <a:spLocks noGrp="1"/>
          </p:cNvSpPr>
          <p:nvPr>
            <p:ph type="sldNum" sz="quarter" idx="5"/>
          </p:nvPr>
        </p:nvSpPr>
        <p:spPr/>
        <p:txBody>
          <a:bodyPr/>
          <a:lstStyle/>
          <a:p>
            <a:fld id="{CDB57296-D5E5-4927-A250-AF26A1F7177E}" type="slidenum">
              <a:rPr lang="en-US"/>
              <a:t>7</a:t>
            </a:fld>
            <a:endParaRPr lang="en-US"/>
          </a:p>
        </p:txBody>
      </p:sp>
    </p:spTree>
    <p:extLst>
      <p:ext uri="{BB962C8B-B14F-4D97-AF65-F5344CB8AC3E}">
        <p14:creationId xmlns:p14="http://schemas.microsoft.com/office/powerpoint/2010/main" val="1933991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CF9D4-D4C7-25D9-F3A1-952612E43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0F5A9-B51A-2F99-E16D-960332197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98146-A5C0-7427-C9F5-B65C282BEB1A}"/>
              </a:ext>
            </a:extLst>
          </p:cNvPr>
          <p:cNvSpPr>
            <a:spLocks noGrp="1"/>
          </p:cNvSpPr>
          <p:nvPr>
            <p:ph type="body" idx="1"/>
          </p:nvPr>
        </p:nvSpPr>
        <p:spPr/>
        <p:txBody>
          <a:bodyPr/>
          <a:lstStyle/>
          <a:p>
            <a:r>
              <a:rPr lang="en-US"/>
              <a:t>Looking past 2025, we need to look at the reporting calendar.</a:t>
            </a:r>
          </a:p>
          <a:p>
            <a:r>
              <a:rPr lang="en-US"/>
              <a:t>2026 – not an intense reporting year in terms of </a:t>
            </a:r>
            <a:r>
              <a:rPr lang="en-US" err="1"/>
              <a:t>GovReg</a:t>
            </a:r>
            <a:r>
              <a:rPr lang="en-US"/>
              <a:t> data. However the inventory and the financial data needs to be reported. And this is the first year that this need to be reported without the BTR funds being available just before, as the BTR deadline is first in the end of that year. </a:t>
            </a:r>
          </a:p>
          <a:p>
            <a:r>
              <a:rPr lang="en-US"/>
              <a:t>Underlines the importance of creating a GHG Inventory system that is able to generate this once per year.</a:t>
            </a:r>
          </a:p>
          <a:p>
            <a:endParaRPr lang="en-US"/>
          </a:p>
          <a:p>
            <a:r>
              <a:rPr lang="en-US"/>
              <a:t>2027 – this is an intense year. The same reporting that you have done this year comes again. Having gone through the QC process, and with the pre-loading of existing data, this will significantly speed up the process.</a:t>
            </a:r>
          </a:p>
          <a:p>
            <a:r>
              <a:rPr lang="en-US"/>
              <a:t>The Comprehensive Review on the GHG Inventory – as the name implies, this is a more comprehensive review of the GHG Inventories. Again, very useful, but will demand time from your inventory teams.</a:t>
            </a:r>
          </a:p>
        </p:txBody>
      </p:sp>
      <p:sp>
        <p:nvSpPr>
          <p:cNvPr id="4" name="Slide Number Placeholder 3">
            <a:extLst>
              <a:ext uri="{FF2B5EF4-FFF2-40B4-BE49-F238E27FC236}">
                <a16:creationId xmlns:a16="http://schemas.microsoft.com/office/drawing/2014/main" id="{252D7938-459A-FB4C-19E4-CC820FA3FF00}"/>
              </a:ext>
            </a:extLst>
          </p:cNvPr>
          <p:cNvSpPr>
            <a:spLocks noGrp="1"/>
          </p:cNvSpPr>
          <p:nvPr>
            <p:ph type="sldNum" sz="quarter" idx="5"/>
          </p:nvPr>
        </p:nvSpPr>
        <p:spPr/>
        <p:txBody>
          <a:bodyPr/>
          <a:lstStyle/>
          <a:p>
            <a:fld id="{CDB57296-D5E5-4927-A250-AF26A1F7177E}" type="slidenum">
              <a:rPr lang="en-US"/>
              <a:t>8</a:t>
            </a:fld>
            <a:endParaRPr lang="en-US"/>
          </a:p>
        </p:txBody>
      </p:sp>
    </p:spTree>
    <p:extLst>
      <p:ext uri="{BB962C8B-B14F-4D97-AF65-F5344CB8AC3E}">
        <p14:creationId xmlns:p14="http://schemas.microsoft.com/office/powerpoint/2010/main" val="2514901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chart shows the </a:t>
            </a:r>
            <a:r>
              <a:rPr lang="en-US" b="1"/>
              <a:t>percentage of submissions</a:t>
            </a:r>
            <a:r>
              <a:rPr lang="en-US"/>
              <a:t> (on time, late, and not submitted) by deadline. The width of each silo's base is proportional to the number of dataflows associated with that deadline, visually reflecting the reporting load.</a:t>
            </a:r>
          </a:p>
          <a:p>
            <a:r>
              <a:rPr lang="en-US"/>
              <a:t>There is a </a:t>
            </a:r>
            <a:r>
              <a:rPr lang="en-US" b="1"/>
              <a:t>notable increase in on-time submissions</a:t>
            </a:r>
            <a:r>
              <a:rPr lang="en-US"/>
              <a:t> (green bars) in recent deadlines — a </a:t>
            </a:r>
            <a:r>
              <a:rPr lang="en-US" b="1"/>
              <a:t>positive trend</a:t>
            </a:r>
            <a:r>
              <a:rPr lang="en-US"/>
              <a:t> that should be reinforced.</a:t>
            </a:r>
          </a:p>
          <a:p>
            <a:endParaRPr lang="en-DK"/>
          </a:p>
        </p:txBody>
      </p:sp>
      <p:sp>
        <p:nvSpPr>
          <p:cNvPr id="4" name="Slide Number Placeholder 3"/>
          <p:cNvSpPr>
            <a:spLocks noGrp="1"/>
          </p:cNvSpPr>
          <p:nvPr>
            <p:ph type="sldNum" sz="quarter" idx="5"/>
          </p:nvPr>
        </p:nvSpPr>
        <p:spPr/>
        <p:txBody>
          <a:bodyPr/>
          <a:lstStyle/>
          <a:p>
            <a:fld id="{CDB57296-D5E5-4927-A250-AF26A1F7177E}" type="slidenum">
              <a:rPr lang="en-DK" smtClean="0"/>
              <a:t>9</a:t>
            </a:fld>
            <a:endParaRPr lang="en-DK"/>
          </a:p>
        </p:txBody>
      </p:sp>
    </p:spTree>
    <p:extLst>
      <p:ext uri="{BB962C8B-B14F-4D97-AF65-F5344CB8AC3E}">
        <p14:creationId xmlns:p14="http://schemas.microsoft.com/office/powerpoint/2010/main" val="2179094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Energy Community’s CPs, the adapted </a:t>
            </a:r>
            <a:r>
              <a:rPr lang="en-US">
                <a:hlinkClick r:id="rId3"/>
              </a:rPr>
              <a:t>Governance Regulation</a:t>
            </a:r>
            <a:r>
              <a:rPr lang="en-US"/>
              <a:t> sets common rules for planning, reporting and monitoring on energy and climate policies and targets, including via National Energy and Climate Plans. Targeted support is needed to ensure compliance, e.g. the quality of reported data, its comparability with EU data, and its</a:t>
            </a:r>
            <a:r>
              <a:rPr lang="en-US" dirty="0">
                <a:hlinkClick r:id="rId4"/>
              </a:rPr>
              <a:t> </a:t>
            </a:r>
            <a:r>
              <a:rPr lang="en-US"/>
              <a:t>appropriate compilation and analysis. The reporting requirements come gradually, with the first new obligations being introduced in 2023. These include reporting on national greenhouse gas policies and measures, national climate change adaptation planning and strategies, and the description of the national system for reporting on policies and measures and projections of anthropogenic GHG emissions. This will be expanded to include numerous data flows, including the greenhouse gas inventories and information on support to developing countries.</a:t>
            </a:r>
          </a:p>
          <a:p>
            <a:r>
              <a:rPr lang="en-US"/>
              <a:t>The nine CPs are the six West Balkan CPs of Albania, Bosnia and Herzegovina, North Macedonia, Kosovo, Montenegro, and Serbia, as well as the three Eastern Partnership members of the Energy Community: Georgia, the Republic of Moldova and Ukraine. The project includes both virtual and in-person training sessions where the targeted technical assistance will be provided.</a:t>
            </a:r>
          </a:p>
          <a:p>
            <a:r>
              <a:rPr lang="en-US"/>
              <a:t>A key partner of this community is the Energy Community Secretariat, which is coordinating the full scope of reporting under the adapted Governance Regulation and which will collect all final data sets for further communication. Moreover, the Secretariat is a key partner in the coordination of technical assistance of the project and aligning it with the broader support provided by the Energy Community Secretariat.</a:t>
            </a:r>
          </a:p>
        </p:txBody>
      </p:sp>
      <p:sp>
        <p:nvSpPr>
          <p:cNvPr id="4" name="Slide Number Placeholder 3"/>
          <p:cNvSpPr>
            <a:spLocks noGrp="1"/>
          </p:cNvSpPr>
          <p:nvPr>
            <p:ph type="sldNum" sz="quarter" idx="5"/>
          </p:nvPr>
        </p:nvSpPr>
        <p:spPr/>
        <p:txBody>
          <a:bodyPr/>
          <a:lstStyle/>
          <a:p>
            <a:fld id="{CDB57296-D5E5-4927-A250-AF26A1F7177E}" type="slidenum">
              <a:rPr lang="en-US"/>
              <a:t>11</a:t>
            </a:fld>
            <a:endParaRPr lang="en-US"/>
          </a:p>
        </p:txBody>
      </p:sp>
    </p:spTree>
    <p:extLst>
      <p:ext uri="{BB962C8B-B14F-4D97-AF65-F5344CB8AC3E}">
        <p14:creationId xmlns:p14="http://schemas.microsoft.com/office/powerpoint/2010/main" val="260501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Energy Community’s CPs, the adapted </a:t>
            </a:r>
            <a:r>
              <a:rPr lang="en-US">
                <a:hlinkClick r:id="rId3"/>
              </a:rPr>
              <a:t>Governance Regulation</a:t>
            </a:r>
            <a:r>
              <a:rPr lang="en-US"/>
              <a:t> sets common rules for planning, reporting and monitoring on energy and climate policies and targets, including via National Energy and Climate Plans. Targeted support is needed to ensure compliance, e.g. the quality of reported data, its comparability with EU data, and its</a:t>
            </a:r>
            <a:r>
              <a:rPr lang="en-US" dirty="0">
                <a:hlinkClick r:id="rId4"/>
              </a:rPr>
              <a:t> </a:t>
            </a:r>
            <a:r>
              <a:rPr lang="en-US"/>
              <a:t>appropriate compilation and analysis. The reporting requirements come gradually, with the first new obligations being introduced in 2023. These include reporting on national greenhouse gas policies and measures, national climate change adaptation planning and strategies, and the description of the national system for reporting on policies and measures and projections of anthropogenic GHG emissions. This will be expanded to include numerous data flows, including the greenhouse gas inventories and information on support to developing countries.</a:t>
            </a:r>
          </a:p>
          <a:p>
            <a:r>
              <a:rPr lang="en-US"/>
              <a:t>The nine CPs are the six West Balkan CPs of Albania, Bosnia and Herzegovina, North Macedonia, Kosovo, Montenegro, and Serbia, as well as the three Eastern Partnership members of the Energy Community: Georgia, the Republic of Moldova and Ukraine. The project includes both virtual and in-person training sessions where the targeted technical assistance will be provided.</a:t>
            </a:r>
          </a:p>
          <a:p>
            <a:r>
              <a:rPr lang="en-US"/>
              <a:t>A key partner of this community is the Energy Community Secretariat, which is coordinating the full scope of reporting under the adapted Governance Regulation and which will collect all final data sets for further communication. Moreover, the Secretariat is a key partner in the coordination of technical assistance of the project and aligning it with the broader support provided by the Energy Community Secretariat.</a:t>
            </a:r>
          </a:p>
        </p:txBody>
      </p:sp>
      <p:sp>
        <p:nvSpPr>
          <p:cNvPr id="4" name="Slide Number Placeholder 3"/>
          <p:cNvSpPr>
            <a:spLocks noGrp="1"/>
          </p:cNvSpPr>
          <p:nvPr>
            <p:ph type="sldNum" sz="quarter" idx="5"/>
          </p:nvPr>
        </p:nvSpPr>
        <p:spPr/>
        <p:txBody>
          <a:bodyPr/>
          <a:lstStyle/>
          <a:p>
            <a:fld id="{CDB57296-D5E5-4927-A250-AF26A1F7177E}" type="slidenum">
              <a:rPr lang="en-US"/>
              <a:t>12</a:t>
            </a:fld>
            <a:endParaRPr lang="en-US"/>
          </a:p>
        </p:txBody>
      </p:sp>
    </p:spTree>
    <p:extLst>
      <p:ext uri="{BB962C8B-B14F-4D97-AF65-F5344CB8AC3E}">
        <p14:creationId xmlns:p14="http://schemas.microsoft.com/office/powerpoint/2010/main" val="3272914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1C072-C218-475C-AF86-EE9290D79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CB6D6-C362-B101-D355-4B77D3E56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331AF-C294-2665-7C7A-469C761E1668}"/>
              </a:ext>
            </a:extLst>
          </p:cNvPr>
          <p:cNvSpPr>
            <a:spLocks noGrp="1"/>
          </p:cNvSpPr>
          <p:nvPr>
            <p:ph type="body" idx="1"/>
          </p:nvPr>
        </p:nvSpPr>
        <p:spPr/>
        <p:txBody>
          <a:bodyPr/>
          <a:lstStyle/>
          <a:p>
            <a:r>
              <a:rPr lang="en-US"/>
              <a:t>For the Energy Community’s CPs, the adapted </a:t>
            </a:r>
            <a:r>
              <a:rPr lang="en-US">
                <a:hlinkClick r:id="rId3"/>
              </a:rPr>
              <a:t>Governance Regulation</a:t>
            </a:r>
            <a:r>
              <a:rPr lang="en-US"/>
              <a:t> sets common rules for planning, reporting and monitoring on energy and climate policies and targets, including via National Energy and Climate Plans. Targeted support is needed to ensure compliance, e.g. the quality of reported data, its comparability with EU data, and its</a:t>
            </a:r>
            <a:r>
              <a:rPr lang="en-US" dirty="0">
                <a:hlinkClick r:id="rId4"/>
              </a:rPr>
              <a:t> </a:t>
            </a:r>
            <a:r>
              <a:rPr lang="en-US"/>
              <a:t>appropriate compilation and analysis. The reporting requirements come gradually, with the first new obligations being introduced in 2023. These include reporting on national greenhouse gas policies and measures, national climate change adaptation planning and strategies, and the description of the national system for reporting on policies and measures and projections of anthropogenic GHG emissions. This will be expanded to include numerous data flows, including the greenhouse gas inventories and information on support to developing countries.</a:t>
            </a:r>
          </a:p>
          <a:p>
            <a:r>
              <a:rPr lang="en-US"/>
              <a:t>The nine CPs are the six West Balkan CPs of Albania, Bosnia and Herzegovina, North Macedonia, Kosovo, Montenegro, and Serbia, as well as the three Eastern Partnership members of the Energy Community: Georgia, the Republic of Moldova and Ukraine. The project includes both virtual and in-person training sessions where the targeted technical assistance will be provided.</a:t>
            </a:r>
          </a:p>
          <a:p>
            <a:r>
              <a:rPr lang="en-US"/>
              <a:t>A key partner of this community is the Energy Community Secretariat, which is coordinating the full scope of reporting under the adapted Governance Regulation and which will collect all final data sets for further communication. Moreover, the Secretariat is a key partner in the coordination of technical assistance of the project and aligning it with the broader support provided by the Energy Community Secretariat.</a:t>
            </a:r>
          </a:p>
        </p:txBody>
      </p:sp>
      <p:sp>
        <p:nvSpPr>
          <p:cNvPr id="4" name="Slide Number Placeholder 3">
            <a:extLst>
              <a:ext uri="{FF2B5EF4-FFF2-40B4-BE49-F238E27FC236}">
                <a16:creationId xmlns:a16="http://schemas.microsoft.com/office/drawing/2014/main" id="{CC44D48F-E995-5CFC-DDEB-C5D14AB21CCA}"/>
              </a:ext>
            </a:extLst>
          </p:cNvPr>
          <p:cNvSpPr>
            <a:spLocks noGrp="1"/>
          </p:cNvSpPr>
          <p:nvPr>
            <p:ph type="sldNum" sz="quarter" idx="5"/>
          </p:nvPr>
        </p:nvSpPr>
        <p:spPr/>
        <p:txBody>
          <a:bodyPr/>
          <a:lstStyle/>
          <a:p>
            <a:fld id="{CDB57296-D5E5-4927-A250-AF26A1F7177E}" type="slidenum">
              <a:rPr lang="en-US"/>
              <a:t>13</a:t>
            </a:fld>
            <a:endParaRPr lang="en-US"/>
          </a:p>
        </p:txBody>
      </p:sp>
    </p:spTree>
    <p:extLst>
      <p:ext uri="{BB962C8B-B14F-4D97-AF65-F5344CB8AC3E}">
        <p14:creationId xmlns:p14="http://schemas.microsoft.com/office/powerpoint/2010/main" val="1969738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SO: How do we plan and conduct QA/QC on data we receive from you ?</a:t>
            </a:r>
          </a:p>
          <a:p>
            <a:pPr marL="0" indent="0">
              <a:buFontTx/>
              <a:buNone/>
            </a:pPr>
            <a:endParaRPr lang="en-US"/>
          </a:p>
          <a:p>
            <a:pPr marL="0" indent="0">
              <a:buFontTx/>
              <a:buNone/>
            </a:pPr>
            <a:r>
              <a:rPr lang="en-US"/>
              <a:t>General schema applicable to all the dataflows and data type (textual or numerical):</a:t>
            </a:r>
          </a:p>
          <a:p>
            <a:pPr marL="0" indent="0">
              <a:buFontTx/>
              <a:buNone/>
            </a:pPr>
            <a:endParaRPr lang="en-US"/>
          </a:p>
          <a:p>
            <a:pPr marL="0" indent="0">
              <a:buFontTx/>
              <a:buNone/>
            </a:pPr>
            <a:r>
              <a:rPr lang="en-US"/>
              <a:t>Three steps to ensure better quality :</a:t>
            </a:r>
          </a:p>
          <a:p>
            <a:pPr marL="171450" indent="-171450">
              <a:buFontTx/>
              <a:buChar char="-"/>
            </a:pPr>
            <a:r>
              <a:rPr lang="en-US"/>
              <a:t>Upstream action: guidelines and training</a:t>
            </a:r>
          </a:p>
          <a:p>
            <a:pPr marL="171450" indent="-171450">
              <a:buFontTx/>
              <a:buChar char="-"/>
            </a:pPr>
            <a:r>
              <a:rPr lang="en-US"/>
              <a:t>Automatic QA/QC in Reportnet 3: Embedded in the system: Blockers, warning, errors =&gt; </a:t>
            </a:r>
          </a:p>
          <a:p>
            <a:pPr marL="171450" indent="-171450">
              <a:buFontTx/>
              <a:buChar char="-"/>
            </a:pPr>
            <a:r>
              <a:rPr lang="en-US"/>
              <a:t>Manual QA/QC after release: human eye to validate the data =&gt; perhaps everything is perfect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B57296-D5E5-4927-A250-AF26A1F7177E}"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2496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ea typeface="Calibri"/>
                <a:cs typeface="Calibri"/>
              </a:rPr>
              <a:t>All what was said before is the general framework we apply </a:t>
            </a:r>
          </a:p>
          <a:p>
            <a:pPr lvl="1"/>
            <a:endParaRPr lang="en-US">
              <a:ea typeface="Calibri"/>
              <a:cs typeface="Calibri"/>
            </a:endParaRPr>
          </a:p>
          <a:p>
            <a:pPr lvl="1"/>
            <a:r>
              <a:rPr lang="en-US">
                <a:ea typeface="Calibri"/>
                <a:cs typeface="Calibri"/>
              </a:rPr>
              <a:t>To recap; the intention is:</a:t>
            </a:r>
          </a:p>
          <a:p>
            <a:pPr lvl="1"/>
            <a:r>
              <a:rPr lang="en-US">
                <a:ea typeface="Calibri"/>
                <a:cs typeface="Calibri"/>
              </a:rPr>
              <a:t>the intention is to help you improving the quality of your data =&gt; EU data and world level environmental information – Of very crucial importance in the context of such a </a:t>
            </a:r>
            <a:r>
              <a:rPr lang="en-US" err="1">
                <a:ea typeface="Calibri"/>
                <a:cs typeface="Calibri"/>
              </a:rPr>
              <a:t>glaobal</a:t>
            </a:r>
            <a:r>
              <a:rPr lang="en-US">
                <a:ea typeface="Calibri"/>
                <a:cs typeface="Calibri"/>
              </a:rPr>
              <a:t> env issue like climate change</a:t>
            </a:r>
          </a:p>
          <a:p>
            <a:pPr lvl="1"/>
            <a:r>
              <a:rPr lang="en-US">
                <a:ea typeface="Calibri"/>
                <a:cs typeface="Calibri"/>
              </a:rPr>
              <a:t>Contribution to transparency</a:t>
            </a:r>
          </a:p>
          <a:p>
            <a:pPr lvl="1"/>
            <a:r>
              <a:rPr lang="en-US">
                <a:ea typeface="Calibri"/>
                <a:cs typeface="Calibri"/>
              </a:rPr>
              <a:t>Improve the quality of the processes</a:t>
            </a:r>
          </a:p>
          <a:p>
            <a:pPr lvl="1"/>
            <a:endParaRPr lang="en-US">
              <a:ea typeface="Calibri"/>
              <a:cs typeface="Calibri"/>
            </a:endParaRPr>
          </a:p>
          <a:p>
            <a:pPr lvl="1"/>
            <a:r>
              <a:rPr lang="en-US">
                <a:ea typeface="Calibri"/>
                <a:cs typeface="Calibri"/>
              </a:rPr>
              <a:t>BUT: Each dataflow is specific and requires specific QA/QC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B57296-D5E5-4927-A250-AF26A1F7177E}"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6127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64552-DFA6-CD2B-08B4-EB3FE0365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76693-4844-20B0-2A0E-95CE13A27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6C9DF-0B84-AE23-7348-57F49240E1B3}"/>
              </a:ext>
            </a:extLst>
          </p:cNvPr>
          <p:cNvSpPr>
            <a:spLocks noGrp="1"/>
          </p:cNvSpPr>
          <p:nvPr>
            <p:ph type="body" idx="1"/>
          </p:nvPr>
        </p:nvSpPr>
        <p:spPr/>
        <p:txBody>
          <a:bodyPr/>
          <a:lstStyle/>
          <a:p>
            <a:r>
              <a:rPr lang="en-US" dirty="0"/>
              <a:t>For the Energy Community’s CPs, the adapted </a:t>
            </a:r>
            <a:r>
              <a:rPr lang="en-US" dirty="0">
                <a:hlinkClick r:id="rId3"/>
              </a:rPr>
              <a:t>Governance Regulation</a:t>
            </a:r>
            <a:r>
              <a:rPr lang="en-US" dirty="0"/>
              <a:t> sets common rules for planning, reporting and monitoring on energy and climate policies and targets, including via National Energy and Climate Plans. Targeted support is needed to ensure compliance, e.g. the quality of reported data, its comparability with EU data, and its</a:t>
            </a:r>
            <a:r>
              <a:rPr lang="en-US" dirty="0">
                <a:hlinkClick r:id="rId4"/>
              </a:rPr>
              <a:t> </a:t>
            </a:r>
            <a:r>
              <a:rPr lang="en-US" dirty="0"/>
              <a:t>appropriate compilation and analysis. The reporting requirements come gradually, with the first new obligations being introduced in 2023. These include reporting on national greenhouse gas policies and measures, national climate change adaptation planning and strategies, and the description of the national system for reporting on policies and measures and projections of anthropogenic GHG emissions. This will be expanded to include numerous data flows, including the greenhouse gas inventories and information on support to developing countries.</a:t>
            </a:r>
          </a:p>
          <a:p>
            <a:r>
              <a:rPr lang="en-US" dirty="0"/>
              <a:t>The nine CPs are the six West Balkan CPs of Albania, Bosnia and Herzegovina, North Macedonia, Kosovo, Montenegro, and Serbia, as well as the three Eastern Partnership members of the Energy Community: Georgia, the Republic of Moldova and Ukraine. The project includes both virtual and in-person training sessions where the targeted technical assistance will be provided.</a:t>
            </a:r>
          </a:p>
          <a:p>
            <a:r>
              <a:rPr lang="en-US" dirty="0"/>
              <a:t>A key partner of this community is the Energy Community Secretariat, which is coordinating the full scope of reporting under the adapted Governance Regulation and which will collect all final data sets for further communication. Moreover, the Secretariat is a key partner in the coordination of technical assistance of the project and aligning it with the broader support provided by the Energy Community Secretariat.</a:t>
            </a:r>
          </a:p>
        </p:txBody>
      </p:sp>
      <p:sp>
        <p:nvSpPr>
          <p:cNvPr id="4" name="Slide Number Placeholder 3">
            <a:extLst>
              <a:ext uri="{FF2B5EF4-FFF2-40B4-BE49-F238E27FC236}">
                <a16:creationId xmlns:a16="http://schemas.microsoft.com/office/drawing/2014/main" id="{94D4F0B8-BFFE-379F-3048-1A1D316FE080}"/>
              </a:ext>
            </a:extLst>
          </p:cNvPr>
          <p:cNvSpPr>
            <a:spLocks noGrp="1"/>
          </p:cNvSpPr>
          <p:nvPr>
            <p:ph type="sldNum" sz="quarter" idx="5"/>
          </p:nvPr>
        </p:nvSpPr>
        <p:spPr/>
        <p:txBody>
          <a:bodyPr/>
          <a:lstStyle/>
          <a:p>
            <a:fld id="{CDB57296-D5E5-4927-A250-AF26A1F7177E}" type="slidenum">
              <a:rPr lang="en-US"/>
              <a:t>16</a:t>
            </a:fld>
            <a:endParaRPr lang="en-US"/>
          </a:p>
        </p:txBody>
      </p:sp>
    </p:spTree>
    <p:extLst>
      <p:ext uri="{BB962C8B-B14F-4D97-AF65-F5344CB8AC3E}">
        <p14:creationId xmlns:p14="http://schemas.microsoft.com/office/powerpoint/2010/main" val="261135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69C00-28F4-1198-0968-BF00EDA99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F198AF36-7050-D95D-5E7C-0A2384136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DE6F86A9-ED57-0DEE-C5BC-8103972A83DA}"/>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5" name="Footer Placeholder 4">
            <a:extLst>
              <a:ext uri="{FF2B5EF4-FFF2-40B4-BE49-F238E27FC236}">
                <a16:creationId xmlns:a16="http://schemas.microsoft.com/office/drawing/2014/main" id="{31904DAE-3643-3FB6-03FC-3631E736EDB7}"/>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83240FD-2ADB-49B6-9DF9-EEE2899B3C8C}"/>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7066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E8935-D862-1196-D415-30AC86E0EF6C}"/>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F8AF7C3F-5838-F510-664A-16285709E5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8CB424A3-E747-9885-0C38-E41780A1BBAE}"/>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5" name="Footer Placeholder 4">
            <a:extLst>
              <a:ext uri="{FF2B5EF4-FFF2-40B4-BE49-F238E27FC236}">
                <a16:creationId xmlns:a16="http://schemas.microsoft.com/office/drawing/2014/main" id="{D849FC4A-7ABD-EB2A-5445-633934376EE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ECC3C180-7EA4-254A-97D1-020C1ABD6F75}"/>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722013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2BBFF-8E69-E8F7-436C-9BE963AC69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21A0FBE9-F645-514E-9651-DF10ABF35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E27B3C-7E9C-5548-DC51-F175AF7DACCF}"/>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5" name="Footer Placeholder 4">
            <a:extLst>
              <a:ext uri="{FF2B5EF4-FFF2-40B4-BE49-F238E27FC236}">
                <a16:creationId xmlns:a16="http://schemas.microsoft.com/office/drawing/2014/main" id="{5E250BDE-7ECD-F348-C12F-056D01F78B0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FB96505E-EF24-4C37-977E-39112EA0B78B}"/>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277232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605C7-8B7F-03A1-5173-3BBAF5331B44}"/>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E7A322EB-FDCB-4895-E61D-60B9E7F5C5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944D8117-AB48-8BF1-2C92-4E8D71865A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B56D4497-6D05-28B0-989C-A002FE8EDBBC}"/>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6" name="Footer Placeholder 5">
            <a:extLst>
              <a:ext uri="{FF2B5EF4-FFF2-40B4-BE49-F238E27FC236}">
                <a16:creationId xmlns:a16="http://schemas.microsoft.com/office/drawing/2014/main" id="{7EB4E1F3-FCDA-7B28-22F0-9964DD20E2E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5DA995EC-8C7E-0587-B6B7-500B3E1C48E3}"/>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2696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8F9C-7941-7CFA-233C-0AC1C60D5C4E}"/>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16B51CA7-7E75-2DD8-6524-831FD7AE29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2B0B2F-910D-55E0-7684-628EBACED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5455F8B4-887B-050A-E9B1-31C61BF32A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C9CD95-2A9D-C616-2F01-9CDBF008A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648E6BFE-5F66-3A4E-7119-E47799FF7FA0}"/>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8" name="Footer Placeholder 7">
            <a:extLst>
              <a:ext uri="{FF2B5EF4-FFF2-40B4-BE49-F238E27FC236}">
                <a16:creationId xmlns:a16="http://schemas.microsoft.com/office/drawing/2014/main" id="{C082F011-CCCF-C38A-8C2F-4C5499A6D7D8}"/>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AA3310E1-A35F-F4C8-1F6C-451E9B992480}"/>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766906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DE06-0179-D602-FF4F-E2A133B8A732}"/>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5A335734-F39C-830F-2D03-B5323F203EF9}"/>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4" name="Footer Placeholder 3">
            <a:extLst>
              <a:ext uri="{FF2B5EF4-FFF2-40B4-BE49-F238E27FC236}">
                <a16:creationId xmlns:a16="http://schemas.microsoft.com/office/drawing/2014/main" id="{9B836A91-9A8C-346F-2EC7-4A9CD221A2A8}"/>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8660CE00-2562-304A-B3A4-17CC002F0CDF}"/>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2109233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D74BBC-9123-F52E-6695-261E5123A1FC}"/>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3" name="Footer Placeholder 2">
            <a:extLst>
              <a:ext uri="{FF2B5EF4-FFF2-40B4-BE49-F238E27FC236}">
                <a16:creationId xmlns:a16="http://schemas.microsoft.com/office/drawing/2014/main" id="{A1D361E2-BDE4-71F0-21F4-FBC8C6853549}"/>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4CC57206-01C4-B91E-1791-898CA5FFC355}"/>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25702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B118-C267-22C3-DDC0-505EE13F8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CCC222C5-CFDB-CFBB-EC31-99DF9B2E93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E4AC447D-8CA2-31CA-9D6B-E047F1D6C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13B0D-CA64-A743-A9D9-78E54EA56824}"/>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6" name="Footer Placeholder 5">
            <a:extLst>
              <a:ext uri="{FF2B5EF4-FFF2-40B4-BE49-F238E27FC236}">
                <a16:creationId xmlns:a16="http://schemas.microsoft.com/office/drawing/2014/main" id="{7AC4BB08-86BD-9FD1-A72E-11469196C5E6}"/>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F28AA603-AFFC-EF24-7087-9B2A958238D6}"/>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6147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9C78-BA7C-EBFC-77C2-E3A213D43C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A9FBF5B6-A448-752D-D48B-8D01502948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A5825C9B-9BFB-3899-2099-17C7DF30A8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695A9-CC2D-E054-18A5-2336539F477A}"/>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6" name="Footer Placeholder 5">
            <a:extLst>
              <a:ext uri="{FF2B5EF4-FFF2-40B4-BE49-F238E27FC236}">
                <a16:creationId xmlns:a16="http://schemas.microsoft.com/office/drawing/2014/main" id="{B8E0B5D4-56BC-F27D-CC37-61E7BFA53DF3}"/>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F6A9DB84-4A9F-D10C-18E8-EF144E440CBF}"/>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83578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36CB-CD18-E769-67FB-EC53F46AF5C4}"/>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ECC8FF5B-1071-647A-81EA-299B315D73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9FD5E34C-C59C-3BBB-1418-F1E4DCF002AD}"/>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5" name="Footer Placeholder 4">
            <a:extLst>
              <a:ext uri="{FF2B5EF4-FFF2-40B4-BE49-F238E27FC236}">
                <a16:creationId xmlns:a16="http://schemas.microsoft.com/office/drawing/2014/main" id="{7E2D2E27-A1E6-2DFF-6D51-EA4722E8A110}"/>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47280E1D-E652-2F22-B629-BBAC51E98446}"/>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67401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6BAAC-3688-FCC1-DC84-63C9959615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70B87F1-D11C-9A89-DECB-523D6597FF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EF692EE2-075E-6166-C942-7A41E16D7792}"/>
              </a:ext>
            </a:extLst>
          </p:cNvPr>
          <p:cNvSpPr>
            <a:spLocks noGrp="1"/>
          </p:cNvSpPr>
          <p:nvPr>
            <p:ph type="dt" sz="half" idx="10"/>
          </p:nvPr>
        </p:nvSpPr>
        <p:spPr/>
        <p:txBody>
          <a:bodyPr/>
          <a:lstStyle/>
          <a:p>
            <a:fld id="{F50A88AC-4321-4C6F-8B61-674A6CD713DB}" type="datetimeFigureOut">
              <a:rPr lang="en-DK" smtClean="0"/>
              <a:t>07/10/2025</a:t>
            </a:fld>
            <a:endParaRPr lang="en-DK"/>
          </a:p>
        </p:txBody>
      </p:sp>
      <p:sp>
        <p:nvSpPr>
          <p:cNvPr id="5" name="Footer Placeholder 4">
            <a:extLst>
              <a:ext uri="{FF2B5EF4-FFF2-40B4-BE49-F238E27FC236}">
                <a16:creationId xmlns:a16="http://schemas.microsoft.com/office/drawing/2014/main" id="{B8F57EAD-0488-1A82-C99A-D9AF868E2378}"/>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E4E3CDF-9067-D697-42E1-EAC66D939B12}"/>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378325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21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30236185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17835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00911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63068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651786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65552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449784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267405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253803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621001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729888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587235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24537835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0625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66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Negative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A9E58F-F0E4-446A-9BDE-731A333E6E3D}"/>
              </a:ext>
            </a:extLst>
          </p:cNvPr>
          <p:cNvSpPr/>
          <p:nvPr userDrawn="1"/>
        </p:nvSpPr>
        <p:spPr>
          <a:xfrm>
            <a:off x="0" y="0"/>
            <a:ext cx="12192000" cy="6858000"/>
          </a:xfrm>
          <a:prstGeom prst="rect">
            <a:avLst/>
          </a:prstGeom>
          <a:solidFill>
            <a:srgbClr val="004B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3" name="Picture 2" descr="Text&#10;&#10;Description automatically generated">
            <a:extLst>
              <a:ext uri="{FF2B5EF4-FFF2-40B4-BE49-F238E27FC236}">
                <a16:creationId xmlns:a16="http://schemas.microsoft.com/office/drawing/2014/main" id="{EECD597F-8AA8-4E51-9146-C063CEB955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10754" y="6019900"/>
            <a:ext cx="3057655" cy="576000"/>
          </a:xfrm>
          <a:prstGeom prst="rect">
            <a:avLst/>
          </a:prstGeom>
        </p:spPr>
      </p:pic>
    </p:spTree>
    <p:extLst>
      <p:ext uri="{BB962C8B-B14F-4D97-AF65-F5344CB8AC3E}">
        <p14:creationId xmlns:p14="http://schemas.microsoft.com/office/powerpoint/2010/main" val="2826657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AD578A-B33E-9094-1E1E-C615E5428A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36ECD111-6437-1EA9-5FEF-3C060C027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95758952-93EB-7637-A6AB-79C54EB63B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0A88AC-4321-4C6F-8B61-674A6CD713DB}" type="datetimeFigureOut">
              <a:rPr lang="en-DK" smtClean="0"/>
              <a:t>07/10/2025</a:t>
            </a:fld>
            <a:endParaRPr lang="en-DK"/>
          </a:p>
        </p:txBody>
      </p:sp>
      <p:sp>
        <p:nvSpPr>
          <p:cNvPr id="5" name="Footer Placeholder 4">
            <a:extLst>
              <a:ext uri="{FF2B5EF4-FFF2-40B4-BE49-F238E27FC236}">
                <a16:creationId xmlns:a16="http://schemas.microsoft.com/office/drawing/2014/main" id="{5D9E4FE8-5470-1F11-B04C-30238BF80A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K"/>
          </a:p>
        </p:txBody>
      </p:sp>
      <p:sp>
        <p:nvSpPr>
          <p:cNvPr id="6" name="Slide Number Placeholder 5">
            <a:extLst>
              <a:ext uri="{FF2B5EF4-FFF2-40B4-BE49-F238E27FC236}">
                <a16:creationId xmlns:a16="http://schemas.microsoft.com/office/drawing/2014/main" id="{C6FEE008-27DC-D6BE-E2D5-99DBBE61B6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540985-5B8E-4E4D-A5A8-E685E0017CBF}" type="slidenum">
              <a:rPr lang="en-DK" smtClean="0"/>
              <a:t>‹#›</a:t>
            </a:fld>
            <a:endParaRPr lang="en-DK"/>
          </a:p>
        </p:txBody>
      </p:sp>
    </p:spTree>
    <p:extLst>
      <p:ext uri="{BB962C8B-B14F-4D97-AF65-F5344CB8AC3E}">
        <p14:creationId xmlns:p14="http://schemas.microsoft.com/office/powerpoint/2010/main" val="2456464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97727549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t="-17000" b="-17000"/>
          </a:stretch>
        </a:blip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47F1237-6C41-4972-A073-79B619130A0D}"/>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endParaRPr lang="en-GB" sz="1400" dirty="0"/>
          </a:p>
        </p:txBody>
      </p:sp>
      <p:pic>
        <p:nvPicPr>
          <p:cNvPr id="10" name="Picture 4" descr="Text&#10;&#10;Description automatically generated">
            <a:extLst>
              <a:ext uri="{FF2B5EF4-FFF2-40B4-BE49-F238E27FC236}">
                <a16:creationId xmlns:a16="http://schemas.microsoft.com/office/drawing/2014/main" id="{0F5697FB-9CA1-F752-199E-9850765E5985}"/>
              </a:ext>
            </a:extLst>
          </p:cNvPr>
          <p:cNvPicPr>
            <a:picLocks noChangeAspect="1"/>
          </p:cNvPicPr>
          <p:nvPr/>
        </p:nvPicPr>
        <p:blipFill>
          <a:blip r:embed="rId4"/>
          <a:stretch>
            <a:fillRect/>
          </a:stretch>
        </p:blipFill>
        <p:spPr>
          <a:xfrm>
            <a:off x="9635478" y="6257780"/>
            <a:ext cx="2484335" cy="468000"/>
          </a:xfrm>
          <a:prstGeom prst="rect">
            <a:avLst/>
          </a:prstGeom>
        </p:spPr>
      </p:pic>
      <p:sp>
        <p:nvSpPr>
          <p:cNvPr id="2" name="TextBox 1">
            <a:extLst>
              <a:ext uri="{FF2B5EF4-FFF2-40B4-BE49-F238E27FC236}">
                <a16:creationId xmlns:a16="http://schemas.microsoft.com/office/drawing/2014/main" id="{BD7CD3A7-0727-D2BA-454C-C6C1ED81EACA}"/>
              </a:ext>
            </a:extLst>
          </p:cNvPr>
          <p:cNvSpPr txBox="1"/>
          <p:nvPr/>
        </p:nvSpPr>
        <p:spPr>
          <a:xfrm>
            <a:off x="1" y="892455"/>
            <a:ext cx="12191999" cy="1200329"/>
          </a:xfrm>
          <a:prstGeom prst="rect">
            <a:avLst/>
          </a:prstGeom>
          <a:solidFill>
            <a:schemeClr val="accent3">
              <a:lumMod val="50000"/>
              <a:alpha val="44000"/>
            </a:schemeClr>
          </a:solidFill>
        </p:spPr>
        <p:txBody>
          <a:bodyPr wrap="square" lIns="91440" tIns="45720" rIns="91440" bIns="45720" rtlCol="0" anchor="t">
            <a:spAutoFit/>
          </a:bodyPr>
          <a:lstStyle/>
          <a:p>
            <a:pPr algn="r"/>
            <a:r>
              <a:rPr lang="en-US" sz="3600" b="1">
                <a:solidFill>
                  <a:schemeClr val="bg1"/>
                </a:solidFill>
              </a:rPr>
              <a:t>Reporting under the adapted</a:t>
            </a:r>
            <a:r>
              <a:rPr lang="en-SE" sz="3600" b="1" dirty="0">
                <a:solidFill>
                  <a:schemeClr val="bg1"/>
                </a:solidFill>
              </a:rPr>
              <a:t> Governance Regulation</a:t>
            </a:r>
            <a:r>
              <a:rPr lang="da-DK" sz="3600" b="1" dirty="0">
                <a:solidFill>
                  <a:schemeClr val="bg1"/>
                </a:solidFill>
              </a:rPr>
              <a:t> –</a:t>
            </a:r>
          </a:p>
          <a:p>
            <a:pPr algn="r"/>
            <a:r>
              <a:rPr lang="da-DK" sz="3600" b="1" dirty="0">
                <a:solidFill>
                  <a:schemeClr val="bg1"/>
                </a:solidFill>
              </a:rPr>
              <a:t>Introduction </a:t>
            </a:r>
          </a:p>
        </p:txBody>
      </p:sp>
      <p:sp>
        <p:nvSpPr>
          <p:cNvPr id="12" name="TextBox 11">
            <a:extLst>
              <a:ext uri="{FF2B5EF4-FFF2-40B4-BE49-F238E27FC236}">
                <a16:creationId xmlns:a16="http://schemas.microsoft.com/office/drawing/2014/main" id="{4D15442C-DBDC-52FD-7A3B-49F125B6FEB4}"/>
              </a:ext>
            </a:extLst>
          </p:cNvPr>
          <p:cNvSpPr txBox="1"/>
          <p:nvPr/>
        </p:nvSpPr>
        <p:spPr>
          <a:xfrm>
            <a:off x="7302758" y="2569338"/>
            <a:ext cx="4877669" cy="400110"/>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da-DK" sz="2000" b="1" dirty="0">
                <a:solidFill>
                  <a:schemeClr val="bg1"/>
                </a:solidFill>
                <a:ea typeface="Calibri"/>
                <a:cs typeface="Calibri"/>
              </a:rPr>
              <a:t>National Training in Bosnia and Herzegovina</a:t>
            </a:r>
            <a:endParaRPr lang="en-US" sz="2000" b="1" dirty="0">
              <a:solidFill>
                <a:schemeClr val="bg1"/>
              </a:solidFill>
              <a:ea typeface="Calibri"/>
              <a:cs typeface="Calibri"/>
            </a:endParaRPr>
          </a:p>
        </p:txBody>
      </p:sp>
      <p:sp>
        <p:nvSpPr>
          <p:cNvPr id="3" name="TextBox 2">
            <a:extLst>
              <a:ext uri="{FF2B5EF4-FFF2-40B4-BE49-F238E27FC236}">
                <a16:creationId xmlns:a16="http://schemas.microsoft.com/office/drawing/2014/main" id="{749397E4-2E56-7B7D-D0B2-569DA75B1284}"/>
              </a:ext>
            </a:extLst>
          </p:cNvPr>
          <p:cNvSpPr txBox="1"/>
          <p:nvPr/>
        </p:nvSpPr>
        <p:spPr>
          <a:xfrm>
            <a:off x="8664160" y="4932052"/>
            <a:ext cx="3527840" cy="923330"/>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da-DK" b="1" dirty="0">
                <a:solidFill>
                  <a:schemeClr val="bg1"/>
                </a:solidFill>
              </a:rPr>
              <a:t>7-9</a:t>
            </a:r>
            <a:r>
              <a:rPr lang="en-US" b="1" dirty="0">
                <a:solidFill>
                  <a:schemeClr val="bg1"/>
                </a:solidFill>
              </a:rPr>
              <a:t> October 2025</a:t>
            </a:r>
            <a:endParaRPr lang="en-US" b="1" dirty="0">
              <a:solidFill>
                <a:schemeClr val="bg1"/>
              </a:solidFill>
              <a:ea typeface="Calibri" panose="020F0502020204030204"/>
              <a:cs typeface="Calibri" panose="020F0502020204030204"/>
            </a:endParaRPr>
          </a:p>
          <a:p>
            <a:pPr algn="r"/>
            <a:r>
              <a:rPr lang="da-DK" b="1" dirty="0">
                <a:solidFill>
                  <a:schemeClr val="bg1"/>
                </a:solidFill>
              </a:rPr>
              <a:t>Sarajevo, Bosnia and Herzegovina</a:t>
            </a:r>
            <a:endParaRPr lang="en-US" b="1" dirty="0">
              <a:solidFill>
                <a:schemeClr val="bg1"/>
              </a:solidFill>
              <a:ea typeface="Calibri"/>
              <a:cs typeface="Calibri"/>
            </a:endParaRPr>
          </a:p>
          <a:p>
            <a:pPr algn="r"/>
            <a:r>
              <a:rPr lang="en-SE" dirty="0">
                <a:solidFill>
                  <a:schemeClr val="bg1"/>
                </a:solidFill>
              </a:rPr>
              <a:t>In-person training</a:t>
            </a:r>
            <a:endParaRPr lang="en-US" dirty="0">
              <a:solidFill>
                <a:schemeClr val="bg1"/>
              </a:solidFill>
            </a:endParaRPr>
          </a:p>
        </p:txBody>
      </p:sp>
      <p:sp>
        <p:nvSpPr>
          <p:cNvPr id="5" name="TextBox 4">
            <a:extLst>
              <a:ext uri="{FF2B5EF4-FFF2-40B4-BE49-F238E27FC236}">
                <a16:creationId xmlns:a16="http://schemas.microsoft.com/office/drawing/2014/main" id="{6BF243DC-BF7E-B575-A07C-409722B9D345}"/>
              </a:ext>
            </a:extLst>
          </p:cNvPr>
          <p:cNvSpPr txBox="1"/>
          <p:nvPr/>
        </p:nvSpPr>
        <p:spPr>
          <a:xfrm rot="16200000">
            <a:off x="-1243715" y="5285679"/>
            <a:ext cx="2698563" cy="215444"/>
          </a:xfrm>
          <a:prstGeom prst="rect">
            <a:avLst/>
          </a:prstGeom>
          <a:noFill/>
        </p:spPr>
        <p:txBody>
          <a:bodyPr wrap="square" lIns="91440" tIns="45720" rIns="91440" bIns="45720" rtlCol="0" anchor="t">
            <a:spAutoFit/>
          </a:bodyPr>
          <a:lstStyle/>
          <a:p>
            <a:r>
              <a:rPr lang="en-US" sz="800" dirty="0">
                <a:solidFill>
                  <a:schemeClr val="bg1"/>
                </a:solidFill>
              </a:rPr>
              <a:t>© Wolf-Dietrich </a:t>
            </a:r>
            <a:r>
              <a:rPr lang="en-US" sz="800" err="1">
                <a:solidFill>
                  <a:schemeClr val="bg1"/>
                </a:solidFill>
              </a:rPr>
              <a:t>Hufenbach</a:t>
            </a:r>
            <a:r>
              <a:rPr lang="en-US" sz="800" dirty="0">
                <a:solidFill>
                  <a:schemeClr val="bg1"/>
                </a:solidFill>
              </a:rPr>
              <a:t>, </a:t>
            </a:r>
            <a:r>
              <a:rPr lang="en-US" sz="800" err="1">
                <a:solidFill>
                  <a:schemeClr val="bg1"/>
                </a:solidFill>
              </a:rPr>
              <a:t>Environment&amp;Me</a:t>
            </a:r>
            <a:r>
              <a:rPr lang="en-US" sz="800" dirty="0">
                <a:solidFill>
                  <a:schemeClr val="bg1"/>
                </a:solidFill>
              </a:rPr>
              <a:t> 2025 / EEA</a:t>
            </a:r>
            <a:endParaRPr lang="en-US" sz="800">
              <a:solidFill>
                <a:schemeClr val="bg1"/>
              </a:solidFill>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66E3-98EA-20F7-5995-E66248462694}"/>
            </a:ext>
          </a:extLst>
        </p:cNvPr>
        <p:cNvGrpSpPr/>
        <p:nvPr/>
      </p:nvGrpSpPr>
      <p:grpSpPr>
        <a:xfrm>
          <a:off x="0" y="0"/>
          <a:ext cx="0" cy="0"/>
          <a:chOff x="0" y="0"/>
          <a:chExt cx="0" cy="0"/>
        </a:xfrm>
      </p:grpSpPr>
      <p:pic>
        <p:nvPicPr>
          <p:cNvPr id="3" name="Picture 2" descr="A road next to a river&#10;&#10;AI-generated content may be incorrect.">
            <a:extLst>
              <a:ext uri="{FF2B5EF4-FFF2-40B4-BE49-F238E27FC236}">
                <a16:creationId xmlns:a16="http://schemas.microsoft.com/office/drawing/2014/main" id="{45C4045C-AD96-C20A-7557-FAE3C70882C3}"/>
              </a:ext>
            </a:extLst>
          </p:cNvPr>
          <p:cNvPicPr>
            <a:picLocks noChangeAspect="1"/>
          </p:cNvPicPr>
          <p:nvPr/>
        </p:nvPicPr>
        <p:blipFill>
          <a:blip r:embed="rId2"/>
          <a:srcRect r="41888"/>
          <a:stretch>
            <a:fillRect/>
          </a:stretch>
        </p:blipFill>
        <p:spPr>
          <a:xfrm>
            <a:off x="6878230" y="0"/>
            <a:ext cx="5313780" cy="6858000"/>
          </a:xfrm>
          <a:prstGeom prst="rect">
            <a:avLst/>
          </a:prstGeom>
        </p:spPr>
      </p:pic>
      <p:sp>
        <p:nvSpPr>
          <p:cNvPr id="2" name="Title 1">
            <a:extLst>
              <a:ext uri="{FF2B5EF4-FFF2-40B4-BE49-F238E27FC236}">
                <a16:creationId xmlns:a16="http://schemas.microsoft.com/office/drawing/2014/main" id="{161DE9F9-3AA5-33A7-4047-4BB024B2E3D3}"/>
              </a:ext>
            </a:extLst>
          </p:cNvPr>
          <p:cNvSpPr>
            <a:spLocks noGrp="1"/>
          </p:cNvSpPr>
          <p:nvPr>
            <p:ph type="title"/>
          </p:nvPr>
        </p:nvSpPr>
        <p:spPr>
          <a:xfrm>
            <a:off x="428206" y="0"/>
            <a:ext cx="5791200" cy="1325563"/>
          </a:xfrm>
        </p:spPr>
        <p:txBody>
          <a:bodyPr/>
          <a:lstStyle/>
          <a:p>
            <a:r>
              <a:rPr lang="en-US" sz="4000" dirty="0">
                <a:solidFill>
                  <a:srgbClr val="007B6C"/>
                </a:solidFill>
                <a:latin typeface="Calibri Light"/>
                <a:cs typeface="Calibri"/>
              </a:rPr>
              <a:t>Session outline</a:t>
            </a:r>
            <a:endParaRPr lang="en-US" dirty="0">
              <a:solidFill>
                <a:schemeClr val="bg1"/>
              </a:solidFill>
            </a:endParaRPr>
          </a:p>
        </p:txBody>
      </p:sp>
      <p:sp>
        <p:nvSpPr>
          <p:cNvPr id="6" name="Text Placeholder 1">
            <a:extLst>
              <a:ext uri="{FF2B5EF4-FFF2-40B4-BE49-F238E27FC236}">
                <a16:creationId xmlns:a16="http://schemas.microsoft.com/office/drawing/2014/main" id="{225504AE-759B-D01F-02FD-ACC941CA3EB2}"/>
              </a:ext>
            </a:extLst>
          </p:cNvPr>
          <p:cNvSpPr txBox="1">
            <a:spLocks/>
          </p:cNvSpPr>
          <p:nvPr/>
        </p:nvSpPr>
        <p:spPr>
          <a:xfrm>
            <a:off x="518903" y="1325563"/>
            <a:ext cx="5791200" cy="4711902"/>
          </a:xfrm>
          <a:prstGeom prst="rect">
            <a:avLst/>
          </a:prstGeom>
        </p:spPr>
        <p:txBody>
          <a:bodyPr lIns="91440" tIns="45720" rIns="91440" bIns="45720" anchor="t"/>
          <a:lstStyle>
            <a:defPPr>
              <a:defRPr lang="en-DK"/>
            </a:defPPr>
            <a:lvl1pPr>
              <a:defRPr sz="2000">
                <a:solidFill>
                  <a:srgbClr val="000000"/>
                </a:solidFill>
                <a:latin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1. T</a:t>
            </a:r>
            <a:r>
              <a:rPr lang="en-SE" dirty="0"/>
              <a:t>our de table</a:t>
            </a:r>
            <a:r>
              <a:rPr lang="en-US" dirty="0"/>
              <a:t> – who’s in the room</a:t>
            </a:r>
          </a:p>
          <a:p>
            <a:endParaRPr lang="en-US" dirty="0"/>
          </a:p>
          <a:p>
            <a:r>
              <a:rPr lang="en-US" dirty="0"/>
              <a:t>2. The adapted Governance Regulation</a:t>
            </a:r>
          </a:p>
          <a:p>
            <a:pPr lvl="1"/>
            <a:r>
              <a:rPr lang="en-US" dirty="0"/>
              <a:t>Overview of reporting obligations</a:t>
            </a:r>
            <a:endParaRPr lang="en-US" dirty="0">
              <a:ea typeface="Calibri"/>
              <a:cs typeface="Calibri"/>
            </a:endParaRPr>
          </a:p>
          <a:p>
            <a:pPr lvl="1"/>
            <a:r>
              <a:rPr lang="en-US" dirty="0"/>
              <a:t>Institutional set-up and roles</a:t>
            </a:r>
            <a:endParaRPr lang="en-US" dirty="0">
              <a:ea typeface="Calibri"/>
              <a:cs typeface="Calibri"/>
            </a:endParaRPr>
          </a:p>
          <a:p>
            <a:pPr lvl="1"/>
            <a:r>
              <a:rPr lang="en-US" dirty="0"/>
              <a:t>Quality control process</a:t>
            </a:r>
          </a:p>
          <a:p>
            <a:endParaRPr lang="en-US" dirty="0"/>
          </a:p>
          <a:p>
            <a:r>
              <a:rPr lang="en-US" dirty="0"/>
              <a:t>3. Reporting platform: </a:t>
            </a:r>
            <a:r>
              <a:rPr lang="en-US" dirty="0" err="1"/>
              <a:t>Reportnet</a:t>
            </a:r>
            <a:r>
              <a:rPr lang="en-US" dirty="0"/>
              <a:t> 3</a:t>
            </a:r>
            <a:endParaRPr lang="en-US" dirty="0">
              <a:ea typeface="Calibri"/>
            </a:endParaRPr>
          </a:p>
          <a:p>
            <a:endParaRPr lang="en-US" dirty="0"/>
          </a:p>
          <a:p>
            <a:r>
              <a:rPr lang="en-US" dirty="0"/>
              <a:t>4. Import/Export functionality – coherence with UNFCCC reporting</a:t>
            </a:r>
          </a:p>
          <a:p>
            <a:endParaRPr lang="en-US" dirty="0"/>
          </a:p>
          <a:p>
            <a:endParaRPr lang="en-US" dirty="0"/>
          </a:p>
          <a:p>
            <a:endParaRPr lang="en-US" dirty="0"/>
          </a:p>
          <a:p>
            <a:endParaRPr lang="en-US" dirty="0"/>
          </a:p>
          <a:p>
            <a:endParaRPr lang="en-GB" dirty="0"/>
          </a:p>
          <a:p>
            <a:pPr lvl="1"/>
            <a:endParaRPr lang="en-GB" dirty="0"/>
          </a:p>
        </p:txBody>
      </p:sp>
      <p:sp>
        <p:nvSpPr>
          <p:cNvPr id="7" name="TextBox 6">
            <a:extLst>
              <a:ext uri="{FF2B5EF4-FFF2-40B4-BE49-F238E27FC236}">
                <a16:creationId xmlns:a16="http://schemas.microsoft.com/office/drawing/2014/main" id="{3B3F3969-3CD4-D72B-9BD0-57F4800BA577}"/>
              </a:ext>
            </a:extLst>
          </p:cNvPr>
          <p:cNvSpPr txBox="1"/>
          <p:nvPr/>
        </p:nvSpPr>
        <p:spPr>
          <a:xfrm rot="5400000">
            <a:off x="10732498" y="5400315"/>
            <a:ext cx="2698563" cy="215444"/>
          </a:xfrm>
          <a:prstGeom prst="rect">
            <a:avLst/>
          </a:prstGeom>
          <a:noFill/>
        </p:spPr>
        <p:txBody>
          <a:bodyPr wrap="square" lIns="91440" tIns="45720" rIns="91440" bIns="45720" rtlCol="0" anchor="t">
            <a:spAutoFit/>
          </a:bodyPr>
          <a:lstStyle/>
          <a:p>
            <a:r>
              <a:rPr lang="en-US" sz="800" dirty="0">
                <a:solidFill>
                  <a:schemeClr val="bg1"/>
                </a:solidFill>
              </a:rPr>
              <a:t>© Wolf-Dietrich </a:t>
            </a:r>
            <a:r>
              <a:rPr lang="en-US" sz="800" err="1">
                <a:solidFill>
                  <a:schemeClr val="bg1"/>
                </a:solidFill>
              </a:rPr>
              <a:t>Hufenbach</a:t>
            </a:r>
            <a:r>
              <a:rPr lang="en-US" sz="800" dirty="0">
                <a:solidFill>
                  <a:schemeClr val="bg1"/>
                </a:solidFill>
              </a:rPr>
              <a:t>, </a:t>
            </a:r>
            <a:r>
              <a:rPr lang="en-US" sz="800" err="1">
                <a:solidFill>
                  <a:schemeClr val="bg1"/>
                </a:solidFill>
              </a:rPr>
              <a:t>Environment&amp;Me</a:t>
            </a:r>
            <a:r>
              <a:rPr lang="en-US" sz="800" dirty="0">
                <a:solidFill>
                  <a:schemeClr val="bg1"/>
                </a:solidFill>
              </a:rPr>
              <a:t> 2025 / EEA</a:t>
            </a:r>
            <a:endParaRPr lang="en-US" sz="800">
              <a:solidFill>
                <a:schemeClr val="bg1"/>
              </a:solidFill>
              <a:ea typeface="Calibri"/>
              <a:cs typeface="Calibri"/>
            </a:endParaRPr>
          </a:p>
        </p:txBody>
      </p:sp>
    </p:spTree>
    <p:extLst>
      <p:ext uri="{BB962C8B-B14F-4D97-AF65-F5344CB8AC3E}">
        <p14:creationId xmlns:p14="http://schemas.microsoft.com/office/powerpoint/2010/main" val="631737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43FCDA63-538C-4FB3-911D-7DF75B599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Freeform: Shape 1042">
            <a:extLst>
              <a:ext uri="{FF2B5EF4-FFF2-40B4-BE49-F238E27FC236}">
                <a16:creationId xmlns:a16="http://schemas.microsoft.com/office/drawing/2014/main" id="{C0F36B17-8009-453B-9C49-36A9D6F9D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5765387 w 12192000"/>
              <a:gd name="connsiteY0" fmla="*/ 552984 h 6858000"/>
              <a:gd name="connsiteX1" fmla="*/ 5743549 w 12192000"/>
              <a:gd name="connsiteY1" fmla="*/ 567982 h 6858000"/>
              <a:gd name="connsiteX2" fmla="*/ 5865186 w 12192000"/>
              <a:gd name="connsiteY2" fmla="*/ 624212 h 6858000"/>
              <a:gd name="connsiteX3" fmla="*/ 5674970 w 12192000"/>
              <a:gd name="connsiteY3" fmla="*/ 594618 h 6858000"/>
              <a:gd name="connsiteX4" fmla="*/ 5671722 w 12192000"/>
              <a:gd name="connsiteY4" fmla="*/ 613739 h 6858000"/>
              <a:gd name="connsiteX5" fmla="*/ 5887746 w 12192000"/>
              <a:gd name="connsiteY5" fmla="*/ 686133 h 6858000"/>
              <a:gd name="connsiteX6" fmla="*/ 5868434 w 12192000"/>
              <a:gd name="connsiteY6" fmla="*/ 697289 h 6858000"/>
              <a:gd name="connsiteX7" fmla="*/ 5753657 w 12192000"/>
              <a:gd name="connsiteY7" fmla="*/ 669287 h 6858000"/>
              <a:gd name="connsiteX8" fmla="*/ 5730555 w 12192000"/>
              <a:gd name="connsiteY8" fmla="*/ 676572 h 6858000"/>
              <a:gd name="connsiteX9" fmla="*/ 5741924 w 12192000"/>
              <a:gd name="connsiteY9" fmla="*/ 710491 h 6858000"/>
              <a:gd name="connsiteX10" fmla="*/ 5791735 w 12192000"/>
              <a:gd name="connsiteY10" fmla="*/ 723695 h 6858000"/>
              <a:gd name="connsiteX11" fmla="*/ 5869339 w 12192000"/>
              <a:gd name="connsiteY11" fmla="*/ 803376 h 6858000"/>
              <a:gd name="connsiteX12" fmla="*/ 5751851 w 12192000"/>
              <a:gd name="connsiteY12" fmla="*/ 793813 h 6858000"/>
              <a:gd name="connsiteX13" fmla="*/ 5731096 w 12192000"/>
              <a:gd name="connsiteY13" fmla="*/ 813164 h 6858000"/>
              <a:gd name="connsiteX14" fmla="*/ 5723155 w 12192000"/>
              <a:gd name="connsiteY14" fmla="*/ 838206 h 6858000"/>
              <a:gd name="connsiteX15" fmla="*/ 5677677 w 12192000"/>
              <a:gd name="connsiteY15" fmla="*/ 858922 h 6858000"/>
              <a:gd name="connsiteX16" fmla="*/ 5749146 w 12192000"/>
              <a:gd name="connsiteY16" fmla="*/ 882143 h 6858000"/>
              <a:gd name="connsiteX17" fmla="*/ 5672804 w 12192000"/>
              <a:gd name="connsiteY17" fmla="*/ 882143 h 6858000"/>
              <a:gd name="connsiteX18" fmla="*/ 5626987 w 12192000"/>
              <a:gd name="connsiteY18" fmla="*/ 862565 h 6858000"/>
              <a:gd name="connsiteX19" fmla="*/ 5611575 w 12192000"/>
              <a:gd name="connsiteY19" fmla="*/ 860624 h 6858000"/>
              <a:gd name="connsiteX20" fmla="*/ 5629275 w 12192000"/>
              <a:gd name="connsiteY20" fmla="*/ 904875 h 6858000"/>
              <a:gd name="connsiteX21" fmla="*/ 5648325 w 12192000"/>
              <a:gd name="connsiteY21" fmla="*/ 981075 h 6858000"/>
              <a:gd name="connsiteX22" fmla="*/ 5646577 w 12192000"/>
              <a:gd name="connsiteY22" fmla="*/ 1001285 h 6858000"/>
              <a:gd name="connsiteX23" fmla="*/ 5653179 w 12192000"/>
              <a:gd name="connsiteY23" fmla="*/ 1004447 h 6858000"/>
              <a:gd name="connsiteX24" fmla="*/ 5710342 w 12192000"/>
              <a:gd name="connsiteY24" fmla="*/ 1041501 h 6858000"/>
              <a:gd name="connsiteX25" fmla="*/ 5685076 w 12192000"/>
              <a:gd name="connsiteY25" fmla="*/ 1084982 h 6858000"/>
              <a:gd name="connsiteX26" fmla="*/ 5788666 w 12192000"/>
              <a:gd name="connsiteY26" fmla="*/ 1132334 h 6858000"/>
              <a:gd name="connsiteX27" fmla="*/ 5814113 w 12192000"/>
              <a:gd name="connsiteY27" fmla="*/ 1179230 h 6858000"/>
              <a:gd name="connsiteX28" fmla="*/ 5782171 w 12192000"/>
              <a:gd name="connsiteY28" fmla="*/ 1175133 h 6858000"/>
              <a:gd name="connsiteX29" fmla="*/ 5754739 w 12192000"/>
              <a:gd name="connsiteY29" fmla="*/ 1184011 h 6858000"/>
              <a:gd name="connsiteX30" fmla="*/ 5766109 w 12192000"/>
              <a:gd name="connsiteY30" fmla="*/ 1243656 h 6858000"/>
              <a:gd name="connsiteX31" fmla="*/ 5912470 w 12192000"/>
              <a:gd name="connsiteY31" fmla="*/ 1320604 h 6858000"/>
              <a:gd name="connsiteX32" fmla="*/ 5925644 w 12192000"/>
              <a:gd name="connsiteY32" fmla="*/ 1345645 h 6858000"/>
              <a:gd name="connsiteX33" fmla="*/ 5908138 w 12192000"/>
              <a:gd name="connsiteY33" fmla="*/ 1363402 h 6858000"/>
              <a:gd name="connsiteX34" fmla="*/ 5860855 w 12192000"/>
              <a:gd name="connsiteY34" fmla="*/ 1372508 h 6858000"/>
              <a:gd name="connsiteX35" fmla="*/ 5927087 w 12192000"/>
              <a:gd name="connsiteY35" fmla="*/ 1457878 h 6858000"/>
              <a:gd name="connsiteX36" fmla="*/ 5951271 w 12192000"/>
              <a:gd name="connsiteY36" fmla="*/ 1481553 h 6858000"/>
              <a:gd name="connsiteX37" fmla="*/ 5992599 w 12192000"/>
              <a:gd name="connsiteY37" fmla="*/ 1518207 h 6858000"/>
              <a:gd name="connsiteX38" fmla="*/ 5993321 w 12192000"/>
              <a:gd name="connsiteY38" fmla="*/ 1529362 h 6858000"/>
              <a:gd name="connsiteX39" fmla="*/ 5937015 w 12192000"/>
              <a:gd name="connsiteY39" fmla="*/ 1568746 h 6858000"/>
              <a:gd name="connsiteX40" fmla="*/ 5835410 w 12192000"/>
              <a:gd name="connsiteY40" fmla="*/ 1558045 h 6858000"/>
              <a:gd name="connsiteX41" fmla="*/ 5985561 w 12192000"/>
              <a:gd name="connsiteY41" fmla="*/ 1616780 h 6858000"/>
              <a:gd name="connsiteX42" fmla="*/ 5499552 w 12192000"/>
              <a:gd name="connsiteY42" fmla="*/ 1476774 h 6858000"/>
              <a:gd name="connsiteX43" fmla="*/ 5530593 w 12192000"/>
              <a:gd name="connsiteY43" fmla="*/ 1513425 h 6858000"/>
              <a:gd name="connsiteX44" fmla="*/ 5700597 w 12192000"/>
              <a:gd name="connsiteY44" fmla="*/ 1609949 h 6858000"/>
              <a:gd name="connsiteX45" fmla="*/ 5748782 w 12192000"/>
              <a:gd name="connsiteY45" fmla="*/ 1670507 h 6858000"/>
              <a:gd name="connsiteX46" fmla="*/ 5799315 w 12192000"/>
              <a:gd name="connsiteY46" fmla="*/ 1703970 h 6858000"/>
              <a:gd name="connsiteX47" fmla="*/ 5870240 w 12192000"/>
              <a:gd name="connsiteY47" fmla="*/ 1703289 h 6858000"/>
              <a:gd name="connsiteX48" fmla="*/ 5920591 w 12192000"/>
              <a:gd name="connsiteY48" fmla="*/ 1754738 h 6858000"/>
              <a:gd name="connsiteX49" fmla="*/ 5868074 w 12192000"/>
              <a:gd name="connsiteY49" fmla="*/ 1765665 h 6858000"/>
              <a:gd name="connsiteX50" fmla="*/ 5806533 w 12192000"/>
              <a:gd name="connsiteY50" fmla="*/ 1757242 h 6858000"/>
              <a:gd name="connsiteX51" fmla="*/ 5673706 w 12192000"/>
              <a:gd name="connsiteY51" fmla="*/ 1759972 h 6858000"/>
              <a:gd name="connsiteX52" fmla="*/ 5597548 w 12192000"/>
              <a:gd name="connsiteY52" fmla="*/ 1769990 h 6858000"/>
              <a:gd name="connsiteX53" fmla="*/ 5422491 w 12192000"/>
              <a:gd name="connsiteY53" fmla="*/ 1752916 h 6858000"/>
              <a:gd name="connsiteX54" fmla="*/ 5432778 w 12192000"/>
              <a:gd name="connsiteY54" fmla="*/ 1796626 h 6858000"/>
              <a:gd name="connsiteX55" fmla="*/ 5426281 w 12192000"/>
              <a:gd name="connsiteY55" fmla="*/ 1834644 h 6858000"/>
              <a:gd name="connsiteX56" fmla="*/ 5423754 w 12192000"/>
              <a:gd name="connsiteY56" fmla="*/ 1917282 h 6858000"/>
              <a:gd name="connsiteX57" fmla="*/ 5425378 w 12192000"/>
              <a:gd name="connsiteY57" fmla="*/ 1930714 h 6858000"/>
              <a:gd name="connsiteX58" fmla="*/ 5386217 w 12192000"/>
              <a:gd name="connsiteY58" fmla="*/ 1939365 h 6858000"/>
              <a:gd name="connsiteX59" fmla="*/ 5619566 w 12192000"/>
              <a:gd name="connsiteY59" fmla="*/ 2111243 h 6858000"/>
              <a:gd name="connsiteX60" fmla="*/ 5463640 w 12192000"/>
              <a:gd name="connsiteY60" fmla="*/ 2067533 h 6858000"/>
              <a:gd name="connsiteX61" fmla="*/ 5442523 w 12192000"/>
              <a:gd name="connsiteY61" fmla="*/ 2139700 h 6858000"/>
              <a:gd name="connsiteX62" fmla="*/ 5515794 w 12192000"/>
              <a:gd name="connsiteY62" fmla="*/ 2203898 h 6858000"/>
              <a:gd name="connsiteX63" fmla="*/ 5542865 w 12192000"/>
              <a:gd name="connsiteY63" fmla="*/ 2330929 h 6858000"/>
              <a:gd name="connsiteX64" fmla="*/ 5529691 w 12192000"/>
              <a:gd name="connsiteY64" fmla="*/ 2447031 h 6858000"/>
              <a:gd name="connsiteX65" fmla="*/ 5498289 w 12192000"/>
              <a:gd name="connsiteY65" fmla="*/ 2483910 h 6858000"/>
              <a:gd name="connsiteX66" fmla="*/ 5452810 w 12192000"/>
              <a:gd name="connsiteY66" fmla="*/ 2550157 h 6858000"/>
              <a:gd name="connsiteX67" fmla="*/ 5424658 w 12192000"/>
              <a:gd name="connsiteY67" fmla="*/ 2591135 h 6858000"/>
              <a:gd name="connsiteX68" fmla="*/ 5326841 w 12192000"/>
              <a:gd name="connsiteY68" fmla="*/ 2575200 h 6858000"/>
              <a:gd name="connsiteX69" fmla="*/ 5457322 w 12192000"/>
              <a:gd name="connsiteY69" fmla="*/ 2679238 h 6858000"/>
              <a:gd name="connsiteX70" fmla="*/ 5351566 w 12192000"/>
              <a:gd name="connsiteY70" fmla="*/ 2666261 h 6858000"/>
              <a:gd name="connsiteX71" fmla="*/ 5317096 w 12192000"/>
              <a:gd name="connsiteY71" fmla="*/ 2673546 h 6858000"/>
              <a:gd name="connsiteX72" fmla="*/ 5336768 w 12192000"/>
              <a:gd name="connsiteY72" fmla="*/ 2707238 h 6858000"/>
              <a:gd name="connsiteX73" fmla="*/ 5414369 w 12192000"/>
              <a:gd name="connsiteY73" fmla="*/ 2764378 h 6858000"/>
              <a:gd name="connsiteX74" fmla="*/ 5574268 w 12192000"/>
              <a:gd name="connsiteY74" fmla="*/ 2919184 h 6858000"/>
              <a:gd name="connsiteX75" fmla="*/ 5419422 w 12192000"/>
              <a:gd name="connsiteY75" fmla="*/ 2848157 h 6858000"/>
              <a:gd name="connsiteX76" fmla="*/ 5582568 w 12192000"/>
              <a:gd name="connsiteY76" fmla="*/ 3007285 h 6858000"/>
              <a:gd name="connsiteX77" fmla="*/ 5618844 w 12192000"/>
              <a:gd name="connsiteY77" fmla="*/ 3060100 h 6858000"/>
              <a:gd name="connsiteX78" fmla="*/ 5692115 w 12192000"/>
              <a:gd name="connsiteY78" fmla="*/ 3191228 h 6858000"/>
              <a:gd name="connsiteX79" fmla="*/ 5688506 w 12192000"/>
              <a:gd name="connsiteY79" fmla="*/ 3206025 h 6858000"/>
              <a:gd name="connsiteX80" fmla="*/ 5603864 w 12192000"/>
              <a:gd name="connsiteY80" fmla="*/ 3184854 h 6858000"/>
              <a:gd name="connsiteX81" fmla="*/ 5713591 w 12192000"/>
              <a:gd name="connsiteY81" fmla="*/ 3295040 h 6858000"/>
              <a:gd name="connsiteX82" fmla="*/ 5826927 w 12192000"/>
              <a:gd name="connsiteY82" fmla="*/ 3379724 h 6858000"/>
              <a:gd name="connsiteX83" fmla="*/ 5746436 w 12192000"/>
              <a:gd name="connsiteY83" fmla="*/ 3366750 h 6858000"/>
              <a:gd name="connsiteX84" fmla="*/ 5635807 w 12192000"/>
              <a:gd name="connsiteY84" fmla="*/ 3318259 h 6858000"/>
              <a:gd name="connsiteX85" fmla="*/ 5597367 w 12192000"/>
              <a:gd name="connsiteY85" fmla="*/ 3336472 h 6858000"/>
              <a:gd name="connsiteX86" fmla="*/ 5702221 w 12192000"/>
              <a:gd name="connsiteY86" fmla="*/ 3416605 h 6858000"/>
              <a:gd name="connsiteX87" fmla="*/ 5762317 w 12192000"/>
              <a:gd name="connsiteY87" fmla="*/ 3453714 h 6858000"/>
              <a:gd name="connsiteX88" fmla="*/ 5786319 w 12192000"/>
              <a:gd name="connsiteY88" fmla="*/ 3482169 h 6858000"/>
              <a:gd name="connsiteX89" fmla="*/ 5854901 w 12192000"/>
              <a:gd name="connsiteY89" fmla="*/ 3583703 h 6858000"/>
              <a:gd name="connsiteX90" fmla="*/ 6056305 w 12192000"/>
              <a:gd name="connsiteY90" fmla="*/ 3694570 h 6858000"/>
              <a:gd name="connsiteX91" fmla="*/ 6244716 w 12192000"/>
              <a:gd name="connsiteY91" fmla="*/ 3832301 h 6858000"/>
              <a:gd name="connsiteX92" fmla="*/ 6391802 w 12192000"/>
              <a:gd name="connsiteY92" fmla="*/ 3918125 h 6858000"/>
              <a:gd name="connsiteX93" fmla="*/ 6763572 w 12192000"/>
              <a:gd name="connsiteY93" fmla="*/ 4028537 h 6858000"/>
              <a:gd name="connsiteX94" fmla="*/ 8173592 w 12192000"/>
              <a:gd name="connsiteY94" fmla="*/ 3279560 h 6858000"/>
              <a:gd name="connsiteX95" fmla="*/ 8191458 w 12192000"/>
              <a:gd name="connsiteY95" fmla="*/ 3257248 h 6858000"/>
              <a:gd name="connsiteX96" fmla="*/ 8259856 w 12192000"/>
              <a:gd name="connsiteY96" fmla="*/ 3173245 h 6858000"/>
              <a:gd name="connsiteX97" fmla="*/ 8317969 w 12192000"/>
              <a:gd name="connsiteY97" fmla="*/ 3097663 h 6858000"/>
              <a:gd name="connsiteX98" fmla="*/ 8287650 w 12192000"/>
              <a:gd name="connsiteY98" fmla="*/ 3072166 h 6858000"/>
              <a:gd name="connsiteX99" fmla="*/ 8328617 w 12192000"/>
              <a:gd name="connsiteY99" fmla="*/ 3000000 h 6858000"/>
              <a:gd name="connsiteX100" fmla="*/ 8458917 w 12192000"/>
              <a:gd name="connsiteY100" fmla="*/ 2777583 h 6858000"/>
              <a:gd name="connsiteX101" fmla="*/ 8516125 w 12192000"/>
              <a:gd name="connsiteY101" fmla="*/ 2728639 h 6858000"/>
              <a:gd name="connsiteX102" fmla="*/ 8585788 w 12192000"/>
              <a:gd name="connsiteY102" fmla="*/ 2605478 h 6858000"/>
              <a:gd name="connsiteX103" fmla="*/ 8595714 w 12192000"/>
              <a:gd name="connsiteY103" fmla="*/ 2577023 h 6858000"/>
              <a:gd name="connsiteX104" fmla="*/ 8581457 w 12192000"/>
              <a:gd name="connsiteY104" fmla="*/ 2540823 h 6858000"/>
              <a:gd name="connsiteX105" fmla="*/ 8570809 w 12192000"/>
              <a:gd name="connsiteY105" fmla="*/ 2504399 h 6858000"/>
              <a:gd name="connsiteX106" fmla="*/ 8584705 w 12192000"/>
              <a:gd name="connsiteY106" fmla="*/ 2493699 h 6858000"/>
              <a:gd name="connsiteX107" fmla="*/ 8674038 w 12192000"/>
              <a:gd name="connsiteY107" fmla="*/ 2475260 h 6858000"/>
              <a:gd name="connsiteX108" fmla="*/ 8622243 w 12192000"/>
              <a:gd name="connsiteY108" fmla="*/ 2406054 h 6858000"/>
              <a:gd name="connsiteX109" fmla="*/ 8530925 w 12192000"/>
              <a:gd name="connsiteY109" fmla="*/ 2302926 h 6858000"/>
              <a:gd name="connsiteX110" fmla="*/ 8489417 w 12192000"/>
              <a:gd name="connsiteY110" fmla="*/ 2229622 h 6858000"/>
              <a:gd name="connsiteX111" fmla="*/ 8484543 w 12192000"/>
              <a:gd name="connsiteY111" fmla="*/ 2164058 h 6858000"/>
              <a:gd name="connsiteX112" fmla="*/ 8402970 w 12192000"/>
              <a:gd name="connsiteY112" fmla="*/ 2125358 h 6858000"/>
              <a:gd name="connsiteX113" fmla="*/ 8479670 w 12192000"/>
              <a:gd name="connsiteY113" fmla="*/ 1986716 h 6858000"/>
              <a:gd name="connsiteX114" fmla="*/ 8487432 w 12192000"/>
              <a:gd name="connsiteY114" fmla="*/ 1958032 h 6858000"/>
              <a:gd name="connsiteX115" fmla="*/ 8441412 w 12192000"/>
              <a:gd name="connsiteY115" fmla="*/ 1855361 h 6858000"/>
              <a:gd name="connsiteX116" fmla="*/ 8433831 w 12192000"/>
              <a:gd name="connsiteY116" fmla="*/ 1838969 h 6858000"/>
              <a:gd name="connsiteX117" fmla="*/ 8416868 w 12192000"/>
              <a:gd name="connsiteY117" fmla="*/ 1806187 h 6858000"/>
              <a:gd name="connsiteX118" fmla="*/ 8368140 w 12192000"/>
              <a:gd name="connsiteY118" fmla="*/ 1798219 h 6858000"/>
              <a:gd name="connsiteX119" fmla="*/ 8393405 w 12192000"/>
              <a:gd name="connsiteY119" fmla="*/ 1774999 h 6858000"/>
              <a:gd name="connsiteX120" fmla="*/ 8442495 w 12192000"/>
              <a:gd name="connsiteY120" fmla="*/ 1696458 h 6858000"/>
              <a:gd name="connsiteX121" fmla="*/ 8409828 w 12192000"/>
              <a:gd name="connsiteY121" fmla="*/ 1621332 h 6858000"/>
              <a:gd name="connsiteX122" fmla="*/ 8407664 w 12192000"/>
              <a:gd name="connsiteY122" fmla="*/ 1579899 h 6858000"/>
              <a:gd name="connsiteX123" fmla="*/ 8462707 w 12192000"/>
              <a:gd name="connsiteY123" fmla="*/ 1526857 h 6858000"/>
              <a:gd name="connsiteX124" fmla="*/ 8504215 w 12192000"/>
              <a:gd name="connsiteY124" fmla="*/ 1505913 h 6858000"/>
              <a:gd name="connsiteX125" fmla="*/ 8523345 w 12192000"/>
              <a:gd name="connsiteY125" fmla="*/ 1475863 h 6858000"/>
              <a:gd name="connsiteX126" fmla="*/ 8500786 w 12192000"/>
              <a:gd name="connsiteY126" fmla="*/ 1450820 h 6858000"/>
              <a:gd name="connsiteX127" fmla="*/ 8400624 w 12192000"/>
              <a:gd name="connsiteY127" fmla="*/ 1391176 h 6858000"/>
              <a:gd name="connsiteX128" fmla="*/ 8454585 w 12192000"/>
              <a:gd name="connsiteY128" fmla="*/ 1341319 h 6858000"/>
              <a:gd name="connsiteX129" fmla="*/ 8172509 w 12192000"/>
              <a:gd name="connsiteY129" fmla="*/ 1106153 h 6858000"/>
              <a:gd name="connsiteX130" fmla="*/ 8138399 w 12192000"/>
              <a:gd name="connsiteY130" fmla="*/ 1070184 h 6858000"/>
              <a:gd name="connsiteX131" fmla="*/ 7957388 w 12192000"/>
              <a:gd name="connsiteY131" fmla="*/ 982992 h 6858000"/>
              <a:gd name="connsiteX132" fmla="*/ 7771142 w 12192000"/>
              <a:gd name="connsiteY132" fmla="*/ 921300 h 6858000"/>
              <a:gd name="connsiteX133" fmla="*/ 7900539 w 12192000"/>
              <a:gd name="connsiteY133" fmla="*/ 791082 h 6858000"/>
              <a:gd name="connsiteX134" fmla="*/ 7702923 w 12192000"/>
              <a:gd name="connsiteY134" fmla="*/ 760803 h 6858000"/>
              <a:gd name="connsiteX135" fmla="*/ 7683614 w 12192000"/>
              <a:gd name="connsiteY135" fmla="*/ 761714 h 6858000"/>
              <a:gd name="connsiteX136" fmla="*/ 7295600 w 12192000"/>
              <a:gd name="connsiteY136" fmla="*/ 741680 h 6858000"/>
              <a:gd name="connsiteX137" fmla="*/ 6739388 w 12192000"/>
              <a:gd name="connsiteY137" fmla="*/ 675206 h 6858000"/>
              <a:gd name="connsiteX138" fmla="*/ 6279006 w 12192000"/>
              <a:gd name="connsiteY138" fmla="*/ 635367 h 6858000"/>
              <a:gd name="connsiteX139" fmla="*/ 5788847 w 12192000"/>
              <a:gd name="connsiteY139" fmla="*/ 557964 h 6858000"/>
              <a:gd name="connsiteX140" fmla="*/ 5765387 w 12192000"/>
              <a:gd name="connsiteY140" fmla="*/ 552984 h 6858000"/>
              <a:gd name="connsiteX141" fmla="*/ 0 w 12192000"/>
              <a:gd name="connsiteY141" fmla="*/ 0 h 6858000"/>
              <a:gd name="connsiteX142" fmla="*/ 768106 w 12192000"/>
              <a:gd name="connsiteY142" fmla="*/ 0 h 6858000"/>
              <a:gd name="connsiteX143" fmla="*/ 767098 w 12192000"/>
              <a:gd name="connsiteY143" fmla="*/ 10118 h 6858000"/>
              <a:gd name="connsiteX144" fmla="*/ 756850 w 12192000"/>
              <a:gd name="connsiteY144" fmla="*/ 43654 h 6858000"/>
              <a:gd name="connsiteX145" fmla="*/ 768357 w 12192000"/>
              <a:gd name="connsiteY145" fmla="*/ 76852 h 6858000"/>
              <a:gd name="connsiteX146" fmla="*/ 882077 w 12192000"/>
              <a:gd name="connsiteY146" fmla="*/ 237315 h 6858000"/>
              <a:gd name="connsiteX147" fmla="*/ 761133 w 12192000"/>
              <a:gd name="connsiteY147" fmla="*/ 282106 h 6858000"/>
              <a:gd name="connsiteX148" fmla="*/ 753907 w 12192000"/>
              <a:gd name="connsiteY148" fmla="*/ 357988 h 6858000"/>
              <a:gd name="connsiteX149" fmla="*/ 692364 w 12192000"/>
              <a:gd name="connsiteY149" fmla="*/ 442830 h 6858000"/>
              <a:gd name="connsiteX150" fmla="*/ 556972 w 12192000"/>
              <a:gd name="connsiteY150" fmla="*/ 562188 h 6858000"/>
              <a:gd name="connsiteX151" fmla="*/ 480177 w 12192000"/>
              <a:gd name="connsiteY151" fmla="*/ 642286 h 6858000"/>
              <a:gd name="connsiteX152" fmla="*/ 612627 w 12192000"/>
              <a:gd name="connsiteY152" fmla="*/ 663627 h 6858000"/>
              <a:gd name="connsiteX153" fmla="*/ 633230 w 12192000"/>
              <a:gd name="connsiteY153" fmla="*/ 676011 h 6858000"/>
              <a:gd name="connsiteX154" fmla="*/ 617443 w 12192000"/>
              <a:gd name="connsiteY154" fmla="*/ 718168 h 6858000"/>
              <a:gd name="connsiteX155" fmla="*/ 596304 w 12192000"/>
              <a:gd name="connsiteY155" fmla="*/ 760064 h 6858000"/>
              <a:gd name="connsiteX156" fmla="*/ 611021 w 12192000"/>
              <a:gd name="connsiteY156" fmla="*/ 792998 h 6858000"/>
              <a:gd name="connsiteX157" fmla="*/ 714308 w 12192000"/>
              <a:gd name="connsiteY157" fmla="*/ 935543 h 6858000"/>
              <a:gd name="connsiteX158" fmla="*/ 799128 w 12192000"/>
              <a:gd name="connsiteY158" fmla="*/ 992190 h 6858000"/>
              <a:gd name="connsiteX159" fmla="*/ 992317 w 12192000"/>
              <a:gd name="connsiteY159" fmla="*/ 1249612 h 6858000"/>
              <a:gd name="connsiteX160" fmla="*/ 1053058 w 12192000"/>
              <a:gd name="connsiteY160" fmla="*/ 1333136 h 6858000"/>
              <a:gd name="connsiteX161" fmla="*/ 1008104 w 12192000"/>
              <a:gd name="connsiteY161" fmla="*/ 1362645 h 6858000"/>
              <a:gd name="connsiteX162" fmla="*/ 1094265 w 12192000"/>
              <a:gd name="connsiteY162" fmla="*/ 1450123 h 6858000"/>
              <a:gd name="connsiteX163" fmla="*/ 1195677 w 12192000"/>
              <a:gd name="connsiteY163" fmla="*/ 1547347 h 6858000"/>
              <a:gd name="connsiteX164" fmla="*/ 1222166 w 12192000"/>
              <a:gd name="connsiteY164" fmla="*/ 1573170 h 6858000"/>
              <a:gd name="connsiteX165" fmla="*/ 3312738 w 12192000"/>
              <a:gd name="connsiteY165" fmla="*/ 2440024 h 6858000"/>
              <a:gd name="connsiteX166" fmla="*/ 3863944 w 12192000"/>
              <a:gd name="connsiteY166" fmla="*/ 2312235 h 6858000"/>
              <a:gd name="connsiteX167" fmla="*/ 4082022 w 12192000"/>
              <a:gd name="connsiteY167" fmla="*/ 2212904 h 6858000"/>
              <a:gd name="connsiteX168" fmla="*/ 4361371 w 12192000"/>
              <a:gd name="connsiteY168" fmla="*/ 2053496 h 6858000"/>
              <a:gd name="connsiteX169" fmla="*/ 4659987 w 12192000"/>
              <a:gd name="connsiteY169" fmla="*/ 1925180 h 6858000"/>
              <a:gd name="connsiteX170" fmla="*/ 4761667 w 12192000"/>
              <a:gd name="connsiteY170" fmla="*/ 1807667 h 6858000"/>
              <a:gd name="connsiteX171" fmla="*/ 4797253 w 12192000"/>
              <a:gd name="connsiteY171" fmla="*/ 1774733 h 6858000"/>
              <a:gd name="connsiteX172" fmla="*/ 4886356 w 12192000"/>
              <a:gd name="connsiteY172" fmla="*/ 1731784 h 6858000"/>
              <a:gd name="connsiteX173" fmla="*/ 5041818 w 12192000"/>
              <a:gd name="connsiteY173" fmla="*/ 1639039 h 6858000"/>
              <a:gd name="connsiteX174" fmla="*/ 4984824 w 12192000"/>
              <a:gd name="connsiteY174" fmla="*/ 1617960 h 6858000"/>
              <a:gd name="connsiteX175" fmla="*/ 4820800 w 12192000"/>
              <a:gd name="connsiteY175" fmla="*/ 1674082 h 6858000"/>
              <a:gd name="connsiteX176" fmla="*/ 4701459 w 12192000"/>
              <a:gd name="connsiteY176" fmla="*/ 1689099 h 6858000"/>
              <a:gd name="connsiteX177" fmla="*/ 4869498 w 12192000"/>
              <a:gd name="connsiteY177" fmla="*/ 1591086 h 6858000"/>
              <a:gd name="connsiteX178" fmla="*/ 5032185 w 12192000"/>
              <a:gd name="connsiteY178" fmla="*/ 1463559 h 6858000"/>
              <a:gd name="connsiteX179" fmla="*/ 4906692 w 12192000"/>
              <a:gd name="connsiteY179" fmla="*/ 1488062 h 6858000"/>
              <a:gd name="connsiteX180" fmla="*/ 4901340 w 12192000"/>
              <a:gd name="connsiteY180" fmla="*/ 1470936 h 6858000"/>
              <a:gd name="connsiteX181" fmla="*/ 5009976 w 12192000"/>
              <a:gd name="connsiteY181" fmla="*/ 1319171 h 6858000"/>
              <a:gd name="connsiteX182" fmla="*/ 5063760 w 12192000"/>
              <a:gd name="connsiteY182" fmla="*/ 1258044 h 6858000"/>
              <a:gd name="connsiteX183" fmla="*/ 5305648 w 12192000"/>
              <a:gd name="connsiteY183" fmla="*/ 1073871 h 6858000"/>
              <a:gd name="connsiteX184" fmla="*/ 5076067 w 12192000"/>
              <a:gd name="connsiteY184" fmla="*/ 1156077 h 6858000"/>
              <a:gd name="connsiteX185" fmla="*/ 5313141 w 12192000"/>
              <a:gd name="connsiteY185" fmla="*/ 976907 h 6858000"/>
              <a:gd name="connsiteX186" fmla="*/ 5428196 w 12192000"/>
              <a:gd name="connsiteY186" fmla="*/ 910774 h 6858000"/>
              <a:gd name="connsiteX187" fmla="*/ 5457363 w 12192000"/>
              <a:gd name="connsiteY187" fmla="*/ 871779 h 6858000"/>
              <a:gd name="connsiteX188" fmla="*/ 5406256 w 12192000"/>
              <a:gd name="connsiteY188" fmla="*/ 863347 h 6858000"/>
              <a:gd name="connsiteX189" fmla="*/ 5249456 w 12192000"/>
              <a:gd name="connsiteY189" fmla="*/ 878367 h 6858000"/>
              <a:gd name="connsiteX190" fmla="*/ 5442914 w 12192000"/>
              <a:gd name="connsiteY190" fmla="*/ 757955 h 6858000"/>
              <a:gd name="connsiteX191" fmla="*/ 5297887 w 12192000"/>
              <a:gd name="connsiteY191" fmla="*/ 776398 h 6858000"/>
              <a:gd name="connsiteX192" fmla="*/ 5256146 w 12192000"/>
              <a:gd name="connsiteY192" fmla="*/ 728971 h 6858000"/>
              <a:gd name="connsiteX193" fmla="*/ 5188716 w 12192000"/>
              <a:gd name="connsiteY193" fmla="*/ 652298 h 6858000"/>
              <a:gd name="connsiteX194" fmla="*/ 5142160 w 12192000"/>
              <a:gd name="connsiteY194" fmla="*/ 609614 h 6858000"/>
              <a:gd name="connsiteX195" fmla="*/ 5122626 w 12192000"/>
              <a:gd name="connsiteY195" fmla="*/ 475239 h 6858000"/>
              <a:gd name="connsiteX196" fmla="*/ 5162763 w 12192000"/>
              <a:gd name="connsiteY196" fmla="*/ 328215 h 6858000"/>
              <a:gd name="connsiteX197" fmla="*/ 5271399 w 12192000"/>
              <a:gd name="connsiteY197" fmla="*/ 253914 h 6858000"/>
              <a:gd name="connsiteX198" fmla="*/ 5240091 w 12192000"/>
              <a:gd name="connsiteY198" fmla="*/ 170389 h 6858000"/>
              <a:gd name="connsiteX199" fmla="*/ 5008904 w 12192000"/>
              <a:gd name="connsiteY199" fmla="*/ 220979 h 6858000"/>
              <a:gd name="connsiteX200" fmla="*/ 5354881 w 12192000"/>
              <a:gd name="connsiteY200" fmla="*/ 22050 h 6858000"/>
              <a:gd name="connsiteX201" fmla="*/ 5296818 w 12192000"/>
              <a:gd name="connsiteY201" fmla="*/ 12038 h 6858000"/>
              <a:gd name="connsiteX202" fmla="*/ 5297018 w 12192000"/>
              <a:gd name="connsiteY202" fmla="*/ 3177 h 6858000"/>
              <a:gd name="connsiteX203" fmla="*/ 5298067 w 12192000"/>
              <a:gd name="connsiteY203" fmla="*/ 0 h 6858000"/>
              <a:gd name="connsiteX204" fmla="*/ 8958468 w 12192000"/>
              <a:gd name="connsiteY204" fmla="*/ 0 h 6858000"/>
              <a:gd name="connsiteX205" fmla="*/ 8936439 w 12192000"/>
              <a:gd name="connsiteY205" fmla="*/ 18562 h 6858000"/>
              <a:gd name="connsiteX206" fmla="*/ 8934304 w 12192000"/>
              <a:gd name="connsiteY206" fmla="*/ 46608 h 6858000"/>
              <a:gd name="connsiteX207" fmla="*/ 9027240 w 12192000"/>
              <a:gd name="connsiteY207" fmla="*/ 113638 h 6858000"/>
              <a:gd name="connsiteX208" fmla="*/ 8854734 w 12192000"/>
              <a:gd name="connsiteY208" fmla="*/ 193826 h 6858000"/>
              <a:gd name="connsiteX209" fmla="*/ 8815880 w 12192000"/>
              <a:gd name="connsiteY209" fmla="*/ 227493 h 6858000"/>
              <a:gd name="connsiteX210" fmla="*/ 8848828 w 12192000"/>
              <a:gd name="connsiteY210" fmla="*/ 267894 h 6858000"/>
              <a:gd name="connsiteX211" fmla="*/ 8920315 w 12192000"/>
              <a:gd name="connsiteY211" fmla="*/ 296052 h 6858000"/>
              <a:gd name="connsiteX212" fmla="*/ 9015115 w 12192000"/>
              <a:gd name="connsiteY212" fmla="*/ 367363 h 6858000"/>
              <a:gd name="connsiteX213" fmla="*/ 9011388 w 12192000"/>
              <a:gd name="connsiteY213" fmla="*/ 423067 h 6858000"/>
              <a:gd name="connsiteX214" fmla="*/ 8955127 w 12192000"/>
              <a:gd name="connsiteY214" fmla="*/ 524068 h 6858000"/>
              <a:gd name="connsiteX215" fmla="*/ 9039672 w 12192000"/>
              <a:gd name="connsiteY215" fmla="*/ 629661 h 6858000"/>
              <a:gd name="connsiteX216" fmla="*/ 9083187 w 12192000"/>
              <a:gd name="connsiteY216" fmla="*/ 660880 h 6858000"/>
              <a:gd name="connsiteX217" fmla="*/ 8999263 w 12192000"/>
              <a:gd name="connsiteY217" fmla="*/ 671592 h 6858000"/>
              <a:gd name="connsiteX218" fmla="*/ 8970048 w 12192000"/>
              <a:gd name="connsiteY218" fmla="*/ 715664 h 6858000"/>
              <a:gd name="connsiteX219" fmla="*/ 8956992 w 12192000"/>
              <a:gd name="connsiteY219" fmla="*/ 737702 h 6858000"/>
              <a:gd name="connsiteX220" fmla="*/ 8877733 w 12192000"/>
              <a:gd name="connsiteY220" fmla="*/ 875737 h 6858000"/>
              <a:gd name="connsiteX221" fmla="*/ 8891100 w 12192000"/>
              <a:gd name="connsiteY221" fmla="*/ 914300 h 6858000"/>
              <a:gd name="connsiteX222" fmla="*/ 9023199 w 12192000"/>
              <a:gd name="connsiteY222" fmla="*/ 1100695 h 6858000"/>
              <a:gd name="connsiteX223" fmla="*/ 8882708 w 12192000"/>
              <a:gd name="connsiteY223" fmla="*/ 1152725 h 6858000"/>
              <a:gd name="connsiteX224" fmla="*/ 8874315 w 12192000"/>
              <a:gd name="connsiteY224" fmla="*/ 1240870 h 6858000"/>
              <a:gd name="connsiteX225" fmla="*/ 8802826 w 12192000"/>
              <a:gd name="connsiteY225" fmla="*/ 1339424 h 6858000"/>
              <a:gd name="connsiteX226" fmla="*/ 8645552 w 12192000"/>
              <a:gd name="connsiteY226" fmla="*/ 1478072 h 6858000"/>
              <a:gd name="connsiteX227" fmla="*/ 8556347 w 12192000"/>
              <a:gd name="connsiteY227" fmla="*/ 1571114 h 6858000"/>
              <a:gd name="connsiteX228" fmla="*/ 8710202 w 12192000"/>
              <a:gd name="connsiteY228" fmla="*/ 1595904 h 6858000"/>
              <a:gd name="connsiteX229" fmla="*/ 8734135 w 12192000"/>
              <a:gd name="connsiteY229" fmla="*/ 1610290 h 6858000"/>
              <a:gd name="connsiteX230" fmla="*/ 8715797 w 12192000"/>
              <a:gd name="connsiteY230" fmla="*/ 1659260 h 6858000"/>
              <a:gd name="connsiteX231" fmla="*/ 8691242 w 12192000"/>
              <a:gd name="connsiteY231" fmla="*/ 1707927 h 6858000"/>
              <a:gd name="connsiteX232" fmla="*/ 8708337 w 12192000"/>
              <a:gd name="connsiteY232" fmla="*/ 1746183 h 6858000"/>
              <a:gd name="connsiteX233" fmla="*/ 8828316 w 12192000"/>
              <a:gd name="connsiteY233" fmla="*/ 1911765 h 6858000"/>
              <a:gd name="connsiteX234" fmla="*/ 8926844 w 12192000"/>
              <a:gd name="connsiteY234" fmla="*/ 1977567 h 6858000"/>
              <a:gd name="connsiteX235" fmla="*/ 9151255 w 12192000"/>
              <a:gd name="connsiteY235" fmla="*/ 2276592 h 6858000"/>
              <a:gd name="connsiteX236" fmla="*/ 9221812 w 12192000"/>
              <a:gd name="connsiteY236" fmla="*/ 2373614 h 6858000"/>
              <a:gd name="connsiteX237" fmla="*/ 9169593 w 12192000"/>
              <a:gd name="connsiteY237" fmla="*/ 2407892 h 6858000"/>
              <a:gd name="connsiteX238" fmla="*/ 9269679 w 12192000"/>
              <a:gd name="connsiteY238" fmla="*/ 2509507 h 6858000"/>
              <a:gd name="connsiteX239" fmla="*/ 9387480 w 12192000"/>
              <a:gd name="connsiteY239" fmla="*/ 2622444 h 6858000"/>
              <a:gd name="connsiteX240" fmla="*/ 9418250 w 12192000"/>
              <a:gd name="connsiteY240" fmla="*/ 2652440 h 6858000"/>
              <a:gd name="connsiteX241" fmla="*/ 11846684 w 12192000"/>
              <a:gd name="connsiteY241" fmla="*/ 3659389 h 6858000"/>
              <a:gd name="connsiteX242" fmla="*/ 12172890 w 12192000"/>
              <a:gd name="connsiteY242" fmla="*/ 3610878 h 6858000"/>
              <a:gd name="connsiteX243" fmla="*/ 12192000 w 12192000"/>
              <a:gd name="connsiteY243" fmla="*/ 3605403 h 6858000"/>
              <a:gd name="connsiteX244" fmla="*/ 12192000 w 12192000"/>
              <a:gd name="connsiteY244" fmla="*/ 6858000 h 6858000"/>
              <a:gd name="connsiteX245" fmla="*/ 2667892 w 12192000"/>
              <a:gd name="connsiteY245" fmla="*/ 6858000 h 6858000"/>
              <a:gd name="connsiteX246" fmla="*/ 2654380 w 12192000"/>
              <a:gd name="connsiteY246" fmla="*/ 6849405 h 6858000"/>
              <a:gd name="connsiteX247" fmla="*/ 2517472 w 12192000"/>
              <a:gd name="connsiteY247" fmla="*/ 6768410 h 6858000"/>
              <a:gd name="connsiteX248" fmla="*/ 2863768 w 12192000"/>
              <a:gd name="connsiteY248" fmla="*/ 6678867 h 6858000"/>
              <a:gd name="connsiteX249" fmla="*/ 3200332 w 12192000"/>
              <a:gd name="connsiteY249" fmla="*/ 6552312 h 6858000"/>
              <a:gd name="connsiteX250" fmla="*/ 3263755 w 12192000"/>
              <a:gd name="connsiteY250" fmla="*/ 6500106 h 6858000"/>
              <a:gd name="connsiteX251" fmla="*/ 3788234 w 12192000"/>
              <a:gd name="connsiteY251" fmla="*/ 6158777 h 6858000"/>
              <a:gd name="connsiteX252" fmla="*/ 3687901 w 12192000"/>
              <a:gd name="connsiteY252" fmla="*/ 6086412 h 6858000"/>
              <a:gd name="connsiteX253" fmla="*/ 3874137 w 12192000"/>
              <a:gd name="connsiteY253" fmla="*/ 5999841 h 6858000"/>
              <a:gd name="connsiteX254" fmla="*/ 3916083 w 12192000"/>
              <a:gd name="connsiteY254" fmla="*/ 5963494 h 6858000"/>
              <a:gd name="connsiteX255" fmla="*/ 3880513 w 12192000"/>
              <a:gd name="connsiteY255" fmla="*/ 5919878 h 6858000"/>
              <a:gd name="connsiteX256" fmla="*/ 3803335 w 12192000"/>
              <a:gd name="connsiteY256" fmla="*/ 5889479 h 6858000"/>
              <a:gd name="connsiteX257" fmla="*/ 3700990 w 12192000"/>
              <a:gd name="connsiteY257" fmla="*/ 5812491 h 6858000"/>
              <a:gd name="connsiteX258" fmla="*/ 3705014 w 12192000"/>
              <a:gd name="connsiteY258" fmla="*/ 5752353 h 6858000"/>
              <a:gd name="connsiteX259" fmla="*/ 3765753 w 12192000"/>
              <a:gd name="connsiteY259" fmla="*/ 5643313 h 6858000"/>
              <a:gd name="connsiteX260" fmla="*/ 3674479 w 12192000"/>
              <a:gd name="connsiteY260" fmla="*/ 5529315 h 6858000"/>
              <a:gd name="connsiteX261" fmla="*/ 3627501 w 12192000"/>
              <a:gd name="connsiteY261" fmla="*/ 5495612 h 6858000"/>
              <a:gd name="connsiteX262" fmla="*/ 3718104 w 12192000"/>
              <a:gd name="connsiteY262" fmla="*/ 5484048 h 6858000"/>
              <a:gd name="connsiteX263" fmla="*/ 3749644 w 12192000"/>
              <a:gd name="connsiteY263" fmla="*/ 5436467 h 6858000"/>
              <a:gd name="connsiteX264" fmla="*/ 3763740 w 12192000"/>
              <a:gd name="connsiteY264" fmla="*/ 5412675 h 6858000"/>
              <a:gd name="connsiteX265" fmla="*/ 3849307 w 12192000"/>
              <a:gd name="connsiteY265" fmla="*/ 5263654 h 6858000"/>
              <a:gd name="connsiteX266" fmla="*/ 3834876 w 12192000"/>
              <a:gd name="connsiteY266" fmla="*/ 5222021 h 6858000"/>
              <a:gd name="connsiteX267" fmla="*/ 3692263 w 12192000"/>
              <a:gd name="connsiteY267" fmla="*/ 5020790 h 6858000"/>
              <a:gd name="connsiteX268" fmla="*/ 3843936 w 12192000"/>
              <a:gd name="connsiteY268" fmla="*/ 4964619 h 6858000"/>
              <a:gd name="connsiteX269" fmla="*/ 3852997 w 12192000"/>
              <a:gd name="connsiteY269" fmla="*/ 4869458 h 6858000"/>
              <a:gd name="connsiteX270" fmla="*/ 3930177 w 12192000"/>
              <a:gd name="connsiteY270" fmla="*/ 4763060 h 6858000"/>
              <a:gd name="connsiteX271" fmla="*/ 4099968 w 12192000"/>
              <a:gd name="connsiteY271" fmla="*/ 4613376 h 6858000"/>
              <a:gd name="connsiteX272" fmla="*/ 4196274 w 12192000"/>
              <a:gd name="connsiteY272" fmla="*/ 4512928 h 6858000"/>
              <a:gd name="connsiteX273" fmla="*/ 4030173 w 12192000"/>
              <a:gd name="connsiteY273" fmla="*/ 4486165 h 6858000"/>
              <a:gd name="connsiteX274" fmla="*/ 4004335 w 12192000"/>
              <a:gd name="connsiteY274" fmla="*/ 4470634 h 6858000"/>
              <a:gd name="connsiteX275" fmla="*/ 4024133 w 12192000"/>
              <a:gd name="connsiteY275" fmla="*/ 4417767 h 6858000"/>
              <a:gd name="connsiteX276" fmla="*/ 4050642 w 12192000"/>
              <a:gd name="connsiteY276" fmla="*/ 4365226 h 6858000"/>
              <a:gd name="connsiteX277" fmla="*/ 4032186 w 12192000"/>
              <a:gd name="connsiteY277" fmla="*/ 4323924 h 6858000"/>
              <a:gd name="connsiteX278" fmla="*/ 3902658 w 12192000"/>
              <a:gd name="connsiteY278" fmla="*/ 4145163 h 6858000"/>
              <a:gd name="connsiteX279" fmla="*/ 3796288 w 12192000"/>
              <a:gd name="connsiteY279" fmla="*/ 4074123 h 6858000"/>
              <a:gd name="connsiteX280" fmla="*/ 3554015 w 12192000"/>
              <a:gd name="connsiteY280" fmla="*/ 3751298 h 6858000"/>
              <a:gd name="connsiteX281" fmla="*/ 3477841 w 12192000"/>
              <a:gd name="connsiteY281" fmla="*/ 3646554 h 6858000"/>
              <a:gd name="connsiteX282" fmla="*/ 3534217 w 12192000"/>
              <a:gd name="connsiteY282" fmla="*/ 3609547 h 6858000"/>
              <a:gd name="connsiteX283" fmla="*/ 3426164 w 12192000"/>
              <a:gd name="connsiteY283" fmla="*/ 3499844 h 6858000"/>
              <a:gd name="connsiteX284" fmla="*/ 3298987 w 12192000"/>
              <a:gd name="connsiteY284" fmla="*/ 3377918 h 6858000"/>
              <a:gd name="connsiteX285" fmla="*/ 3265768 w 12192000"/>
              <a:gd name="connsiteY285" fmla="*/ 3345534 h 6858000"/>
              <a:gd name="connsiteX286" fmla="*/ 698533 w 12192000"/>
              <a:gd name="connsiteY286" fmla="*/ 2257448 h 6858000"/>
              <a:gd name="connsiteX287" fmla="*/ 644044 w 12192000"/>
              <a:gd name="connsiteY287" fmla="*/ 2258439 h 6858000"/>
              <a:gd name="connsiteX288" fmla="*/ 121106 w 12192000"/>
              <a:gd name="connsiteY288" fmla="*/ 2359734 h 6858000"/>
              <a:gd name="connsiteX289" fmla="*/ 0 w 12192000"/>
              <a:gd name="connsiteY289" fmla="*/ 240215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12192000" h="6858000">
                <a:moveTo>
                  <a:pt x="5765387" y="552984"/>
                </a:moveTo>
                <a:cubicBezTo>
                  <a:pt x="5757491" y="552728"/>
                  <a:pt x="5749866" y="555802"/>
                  <a:pt x="5743549" y="567982"/>
                </a:cubicBezTo>
                <a:cubicBezTo>
                  <a:pt x="5777117" y="600080"/>
                  <a:pt x="5819889" y="588014"/>
                  <a:pt x="5865186" y="624212"/>
                </a:cubicBezTo>
                <a:cubicBezTo>
                  <a:pt x="5791555" y="612828"/>
                  <a:pt x="5733261" y="603722"/>
                  <a:pt x="5674970" y="594618"/>
                </a:cubicBezTo>
                <a:cubicBezTo>
                  <a:pt x="5673886" y="600991"/>
                  <a:pt x="5672804" y="607366"/>
                  <a:pt x="5671722" y="613739"/>
                </a:cubicBezTo>
                <a:cubicBezTo>
                  <a:pt x="5746257" y="627171"/>
                  <a:pt x="5815197" y="661774"/>
                  <a:pt x="5887746" y="686133"/>
                </a:cubicBezTo>
                <a:cubicBezTo>
                  <a:pt x="5881068" y="701160"/>
                  <a:pt x="5874392" y="698199"/>
                  <a:pt x="5868434" y="697289"/>
                </a:cubicBezTo>
                <a:cubicBezTo>
                  <a:pt x="5829634" y="691369"/>
                  <a:pt x="5790832" y="685452"/>
                  <a:pt x="5753657" y="669287"/>
                </a:cubicBezTo>
                <a:cubicBezTo>
                  <a:pt x="5745355" y="665643"/>
                  <a:pt x="5735248" y="665643"/>
                  <a:pt x="5730555" y="676572"/>
                </a:cubicBezTo>
                <a:cubicBezTo>
                  <a:pt x="5723878" y="692053"/>
                  <a:pt x="5733442" y="702070"/>
                  <a:pt x="5741924" y="710491"/>
                </a:cubicBezTo>
                <a:cubicBezTo>
                  <a:pt x="5756724" y="725062"/>
                  <a:pt x="5774589" y="720965"/>
                  <a:pt x="5791735" y="723695"/>
                </a:cubicBezTo>
                <a:cubicBezTo>
                  <a:pt x="5837394" y="730753"/>
                  <a:pt x="5859232" y="752836"/>
                  <a:pt x="5869339" y="803376"/>
                </a:cubicBezTo>
                <a:cubicBezTo>
                  <a:pt x="5829273" y="782886"/>
                  <a:pt x="5790652" y="808156"/>
                  <a:pt x="5751851" y="793813"/>
                </a:cubicBezTo>
                <a:cubicBezTo>
                  <a:pt x="5741745" y="790172"/>
                  <a:pt x="5725683" y="795634"/>
                  <a:pt x="5731096" y="813164"/>
                </a:cubicBezTo>
                <a:cubicBezTo>
                  <a:pt x="5736150" y="829555"/>
                  <a:pt x="5752933" y="841392"/>
                  <a:pt x="5723155" y="838206"/>
                </a:cubicBezTo>
                <a:cubicBezTo>
                  <a:pt x="5701860" y="835929"/>
                  <a:pt x="5660171" y="854369"/>
                  <a:pt x="5677677" y="858922"/>
                </a:cubicBezTo>
                <a:cubicBezTo>
                  <a:pt x="5699694" y="864614"/>
                  <a:pt x="5721172" y="872810"/>
                  <a:pt x="5749146" y="882143"/>
                </a:cubicBezTo>
                <a:cubicBezTo>
                  <a:pt x="5718283" y="897394"/>
                  <a:pt x="5696085" y="894207"/>
                  <a:pt x="5672804" y="882143"/>
                </a:cubicBezTo>
                <a:cubicBezTo>
                  <a:pt x="5658728" y="874858"/>
                  <a:pt x="5642530" y="866776"/>
                  <a:pt x="5626987" y="862565"/>
                </a:cubicBezTo>
                <a:lnTo>
                  <a:pt x="5611575" y="860624"/>
                </a:lnTo>
                <a:lnTo>
                  <a:pt x="5629275" y="904875"/>
                </a:lnTo>
                <a:cubicBezTo>
                  <a:pt x="5636975" y="929899"/>
                  <a:pt x="5648325" y="981075"/>
                  <a:pt x="5648325" y="981075"/>
                </a:cubicBezTo>
                <a:lnTo>
                  <a:pt x="5646577" y="1001285"/>
                </a:lnTo>
                <a:lnTo>
                  <a:pt x="5653179" y="1004447"/>
                </a:lnTo>
                <a:cubicBezTo>
                  <a:pt x="5672649" y="1015232"/>
                  <a:pt x="5691732" y="1027443"/>
                  <a:pt x="5710342" y="1041501"/>
                </a:cubicBezTo>
                <a:cubicBezTo>
                  <a:pt x="5704025" y="1052200"/>
                  <a:pt x="5671903" y="1082706"/>
                  <a:pt x="5685076" y="1084982"/>
                </a:cubicBezTo>
                <a:cubicBezTo>
                  <a:pt x="5722072" y="1091584"/>
                  <a:pt x="5754918" y="1113894"/>
                  <a:pt x="5788666" y="1132334"/>
                </a:cubicBezTo>
                <a:cubicBezTo>
                  <a:pt x="5803286" y="1140301"/>
                  <a:pt x="5820971" y="1150775"/>
                  <a:pt x="5814113" y="1179230"/>
                </a:cubicBezTo>
                <a:cubicBezTo>
                  <a:pt x="5801661" y="1187198"/>
                  <a:pt x="5792457" y="1176043"/>
                  <a:pt x="5782171" y="1175133"/>
                </a:cubicBezTo>
                <a:cubicBezTo>
                  <a:pt x="5771703" y="1174223"/>
                  <a:pt x="5748241" y="1180140"/>
                  <a:pt x="5754739" y="1184011"/>
                </a:cubicBezTo>
                <a:cubicBezTo>
                  <a:pt x="5784336" y="1201540"/>
                  <a:pt x="5731096" y="1243656"/>
                  <a:pt x="5766109" y="1243656"/>
                </a:cubicBezTo>
                <a:cubicBezTo>
                  <a:pt x="5824761" y="1243883"/>
                  <a:pt x="5855983" y="1318554"/>
                  <a:pt x="5912470" y="1320604"/>
                </a:cubicBezTo>
                <a:cubicBezTo>
                  <a:pt x="5921493" y="1320830"/>
                  <a:pt x="5925825" y="1334034"/>
                  <a:pt x="5925644" y="1345645"/>
                </a:cubicBezTo>
                <a:cubicBezTo>
                  <a:pt x="5925644" y="1359532"/>
                  <a:pt x="5917343" y="1362036"/>
                  <a:pt x="5908138" y="1363402"/>
                </a:cubicBezTo>
                <a:cubicBezTo>
                  <a:pt x="5894061" y="1365450"/>
                  <a:pt x="5879444" y="1345645"/>
                  <a:pt x="5860855" y="1372508"/>
                </a:cubicBezTo>
                <a:cubicBezTo>
                  <a:pt x="5894242" y="1388215"/>
                  <a:pt x="5927629" y="1403924"/>
                  <a:pt x="5927087" y="1457878"/>
                </a:cubicBezTo>
                <a:cubicBezTo>
                  <a:pt x="5926908" y="1472447"/>
                  <a:pt x="5940804" y="1477911"/>
                  <a:pt x="5951271" y="1481553"/>
                </a:cubicBezTo>
                <a:cubicBezTo>
                  <a:pt x="5968597" y="1487473"/>
                  <a:pt x="5983213" y="1497945"/>
                  <a:pt x="5992599" y="1518207"/>
                </a:cubicBezTo>
                <a:cubicBezTo>
                  <a:pt x="5992418" y="1522076"/>
                  <a:pt x="5992238" y="1526174"/>
                  <a:pt x="5993321" y="1529362"/>
                </a:cubicBezTo>
                <a:cubicBezTo>
                  <a:pt x="5990253" y="1578306"/>
                  <a:pt x="5964988" y="1576939"/>
                  <a:pt x="5937015" y="1568746"/>
                </a:cubicBezTo>
                <a:cubicBezTo>
                  <a:pt x="5903627" y="1558728"/>
                  <a:pt x="5870601" y="1540515"/>
                  <a:pt x="5835410" y="1558045"/>
                </a:cubicBezTo>
                <a:cubicBezTo>
                  <a:pt x="5885040" y="1581493"/>
                  <a:pt x="5938999" y="1583315"/>
                  <a:pt x="5985561" y="1616780"/>
                </a:cubicBezTo>
                <a:cubicBezTo>
                  <a:pt x="5815197" y="1622927"/>
                  <a:pt x="5664684" y="1517295"/>
                  <a:pt x="5499552" y="1476774"/>
                </a:cubicBezTo>
                <a:cubicBezTo>
                  <a:pt x="5505146" y="1503863"/>
                  <a:pt x="5518501" y="1509327"/>
                  <a:pt x="5530593" y="1513425"/>
                </a:cubicBezTo>
                <a:cubicBezTo>
                  <a:pt x="5591592" y="1533915"/>
                  <a:pt x="5645011" y="1574665"/>
                  <a:pt x="5700597" y="1609949"/>
                </a:cubicBezTo>
                <a:cubicBezTo>
                  <a:pt x="5723516" y="1624519"/>
                  <a:pt x="5740121" y="1639091"/>
                  <a:pt x="5748782" y="1670507"/>
                </a:cubicBezTo>
                <a:cubicBezTo>
                  <a:pt x="5756544" y="1698963"/>
                  <a:pt x="5771522" y="1712167"/>
                  <a:pt x="5799315" y="1703970"/>
                </a:cubicBezTo>
                <a:cubicBezTo>
                  <a:pt x="5821873" y="1697141"/>
                  <a:pt x="5846597" y="1700783"/>
                  <a:pt x="5870240" y="1703289"/>
                </a:cubicBezTo>
                <a:cubicBezTo>
                  <a:pt x="5897491" y="1706020"/>
                  <a:pt x="5927991" y="1738119"/>
                  <a:pt x="5920591" y="1754738"/>
                </a:cubicBezTo>
                <a:cubicBezTo>
                  <a:pt x="5907958" y="1782967"/>
                  <a:pt x="5886844" y="1768852"/>
                  <a:pt x="5868074" y="1765665"/>
                </a:cubicBezTo>
                <a:cubicBezTo>
                  <a:pt x="5846778" y="1761795"/>
                  <a:pt x="5807256" y="1753826"/>
                  <a:pt x="5806533" y="1757242"/>
                </a:cubicBezTo>
                <a:cubicBezTo>
                  <a:pt x="5792636" y="1828042"/>
                  <a:pt x="5694821" y="1766350"/>
                  <a:pt x="5673706" y="1759972"/>
                </a:cubicBezTo>
                <a:cubicBezTo>
                  <a:pt x="5647358" y="1752006"/>
                  <a:pt x="5622635" y="1766576"/>
                  <a:pt x="5597548" y="1769990"/>
                </a:cubicBezTo>
                <a:cubicBezTo>
                  <a:pt x="5575169" y="1773177"/>
                  <a:pt x="5448658" y="1782967"/>
                  <a:pt x="5422491" y="1752916"/>
                </a:cubicBezTo>
                <a:cubicBezTo>
                  <a:pt x="5418882" y="1776364"/>
                  <a:pt x="5426460" y="1785926"/>
                  <a:pt x="5432778" y="1796626"/>
                </a:cubicBezTo>
                <a:cubicBezTo>
                  <a:pt x="5441620" y="1811878"/>
                  <a:pt x="5443065" y="1822578"/>
                  <a:pt x="5426281" y="1834644"/>
                </a:cubicBezTo>
                <a:cubicBezTo>
                  <a:pt x="5378455" y="1869248"/>
                  <a:pt x="5379178" y="1870385"/>
                  <a:pt x="5423754" y="1917282"/>
                </a:cubicBezTo>
                <a:cubicBezTo>
                  <a:pt x="5425921" y="1919330"/>
                  <a:pt x="5425017" y="1926161"/>
                  <a:pt x="5425378" y="1930714"/>
                </a:cubicBezTo>
                <a:cubicBezTo>
                  <a:pt x="5413647" y="1937998"/>
                  <a:pt x="5399932" y="1919786"/>
                  <a:pt x="5386217" y="1939365"/>
                </a:cubicBezTo>
                <a:cubicBezTo>
                  <a:pt x="5445952" y="2025417"/>
                  <a:pt x="5537091" y="2046587"/>
                  <a:pt x="5619566" y="2111243"/>
                </a:cubicBezTo>
                <a:cubicBezTo>
                  <a:pt x="5552792" y="2132642"/>
                  <a:pt x="5512726" y="2057972"/>
                  <a:pt x="5463640" y="2067533"/>
                </a:cubicBezTo>
                <a:cubicBezTo>
                  <a:pt x="5439094" y="2090982"/>
                  <a:pt x="5512005" y="2128545"/>
                  <a:pt x="5442523" y="2139700"/>
                </a:cubicBezTo>
                <a:cubicBezTo>
                  <a:pt x="5472663" y="2160188"/>
                  <a:pt x="5495041" y="2180220"/>
                  <a:pt x="5515794" y="2203898"/>
                </a:cubicBezTo>
                <a:cubicBezTo>
                  <a:pt x="5552792" y="2246241"/>
                  <a:pt x="5560010" y="2274014"/>
                  <a:pt x="5542865" y="2330929"/>
                </a:cubicBezTo>
                <a:cubicBezTo>
                  <a:pt x="5531676" y="2368264"/>
                  <a:pt x="5515253" y="2402640"/>
                  <a:pt x="5529691" y="2447031"/>
                </a:cubicBezTo>
                <a:cubicBezTo>
                  <a:pt x="5539796" y="2477537"/>
                  <a:pt x="5535826" y="2497570"/>
                  <a:pt x="5498289" y="2483910"/>
                </a:cubicBezTo>
                <a:cubicBezTo>
                  <a:pt x="5457864" y="2469340"/>
                  <a:pt x="5442704" y="2496659"/>
                  <a:pt x="5452810" y="2550157"/>
                </a:cubicBezTo>
                <a:cubicBezTo>
                  <a:pt x="5459307" y="2584534"/>
                  <a:pt x="5452449" y="2595005"/>
                  <a:pt x="5424658" y="2591135"/>
                </a:cubicBezTo>
                <a:cubicBezTo>
                  <a:pt x="5393976" y="2586810"/>
                  <a:pt x="5364740" y="2564271"/>
                  <a:pt x="5326841" y="2575200"/>
                </a:cubicBezTo>
                <a:cubicBezTo>
                  <a:pt x="5357159" y="2637577"/>
                  <a:pt x="5421950" y="2619820"/>
                  <a:pt x="5457322" y="2679238"/>
                </a:cubicBezTo>
                <a:cubicBezTo>
                  <a:pt x="5415093" y="2679464"/>
                  <a:pt x="5382787" y="2679238"/>
                  <a:pt x="5351566" y="2666261"/>
                </a:cubicBezTo>
                <a:cubicBezTo>
                  <a:pt x="5338571" y="2661024"/>
                  <a:pt x="5324314" y="2655562"/>
                  <a:pt x="5317096" y="2673546"/>
                </a:cubicBezTo>
                <a:cubicBezTo>
                  <a:pt x="5308613" y="2695173"/>
                  <a:pt x="5326119" y="2703369"/>
                  <a:pt x="5336768" y="2707238"/>
                </a:cubicBezTo>
                <a:cubicBezTo>
                  <a:pt x="5366726" y="2718166"/>
                  <a:pt x="5389645" y="2744118"/>
                  <a:pt x="5414369" y="2764378"/>
                </a:cubicBezTo>
                <a:cubicBezTo>
                  <a:pt x="5468692" y="2808772"/>
                  <a:pt x="5528248" y="2845879"/>
                  <a:pt x="5574268" y="2919184"/>
                </a:cubicBezTo>
                <a:cubicBezTo>
                  <a:pt x="5516335" y="2900516"/>
                  <a:pt x="5473203" y="2857035"/>
                  <a:pt x="5419422" y="2848157"/>
                </a:cubicBezTo>
                <a:cubicBezTo>
                  <a:pt x="5465985" y="2914859"/>
                  <a:pt x="5525902" y="2958795"/>
                  <a:pt x="5582568" y="3007285"/>
                </a:cubicBezTo>
                <a:cubicBezTo>
                  <a:pt x="5598811" y="3020945"/>
                  <a:pt x="5615234" y="3030279"/>
                  <a:pt x="5618844" y="3060100"/>
                </a:cubicBezTo>
                <a:cubicBezTo>
                  <a:pt x="5625883" y="3117925"/>
                  <a:pt x="5646997" y="3165732"/>
                  <a:pt x="5692115" y="3191228"/>
                </a:cubicBezTo>
                <a:cubicBezTo>
                  <a:pt x="5692475" y="3191457"/>
                  <a:pt x="5689949" y="3200109"/>
                  <a:pt x="5688506" y="3206025"/>
                </a:cubicBezTo>
                <a:cubicBezTo>
                  <a:pt x="5660893" y="3207848"/>
                  <a:pt x="5639057" y="3173699"/>
                  <a:pt x="5603864" y="3184854"/>
                </a:cubicBezTo>
                <a:cubicBezTo>
                  <a:pt x="5637613" y="3231295"/>
                  <a:pt x="5665767" y="3272957"/>
                  <a:pt x="5713591" y="3295040"/>
                </a:cubicBezTo>
                <a:cubicBezTo>
                  <a:pt x="5751851" y="3312567"/>
                  <a:pt x="5799134" y="3322812"/>
                  <a:pt x="5826927" y="3379724"/>
                </a:cubicBezTo>
                <a:cubicBezTo>
                  <a:pt x="5794623" y="3390881"/>
                  <a:pt x="5770619" y="3376768"/>
                  <a:pt x="5746436" y="3366750"/>
                </a:cubicBezTo>
                <a:cubicBezTo>
                  <a:pt x="5709440" y="3351269"/>
                  <a:pt x="5672804" y="3333741"/>
                  <a:pt x="5635807" y="3318259"/>
                </a:cubicBezTo>
                <a:cubicBezTo>
                  <a:pt x="5621731" y="3312340"/>
                  <a:pt x="5606392" y="3308241"/>
                  <a:pt x="5597367" y="3336472"/>
                </a:cubicBezTo>
                <a:cubicBezTo>
                  <a:pt x="5644471" y="3342391"/>
                  <a:pt x="5672624" y="3380636"/>
                  <a:pt x="5702221" y="3416605"/>
                </a:cubicBezTo>
                <a:cubicBezTo>
                  <a:pt x="5718825" y="3436867"/>
                  <a:pt x="5732361" y="3463958"/>
                  <a:pt x="5762317" y="3453714"/>
                </a:cubicBezTo>
                <a:cubicBezTo>
                  <a:pt x="5778019" y="3448251"/>
                  <a:pt x="5787944" y="3463501"/>
                  <a:pt x="5786319" y="3482169"/>
                </a:cubicBezTo>
                <a:cubicBezTo>
                  <a:pt x="5780365" y="3547962"/>
                  <a:pt x="5817001" y="3570954"/>
                  <a:pt x="5854901" y="3583703"/>
                </a:cubicBezTo>
                <a:cubicBezTo>
                  <a:pt x="5926728" y="3607607"/>
                  <a:pt x="5986464" y="3663836"/>
                  <a:pt x="6056305" y="3694570"/>
                </a:cubicBezTo>
                <a:cubicBezTo>
                  <a:pt x="6124163" y="3724393"/>
                  <a:pt x="6176680" y="3795192"/>
                  <a:pt x="6244716" y="3832301"/>
                </a:cubicBezTo>
                <a:cubicBezTo>
                  <a:pt x="6293986" y="3859164"/>
                  <a:pt x="6341089" y="3893766"/>
                  <a:pt x="6391802" y="3918125"/>
                </a:cubicBezTo>
                <a:cubicBezTo>
                  <a:pt x="6511814" y="3975722"/>
                  <a:pt x="6634174" y="4021935"/>
                  <a:pt x="6763572" y="4028537"/>
                </a:cubicBezTo>
                <a:cubicBezTo>
                  <a:pt x="6870411" y="4033774"/>
                  <a:pt x="7797129" y="4028766"/>
                  <a:pt x="8173592" y="3279560"/>
                </a:cubicBezTo>
                <a:cubicBezTo>
                  <a:pt x="8180811" y="3275916"/>
                  <a:pt x="8188931" y="3266355"/>
                  <a:pt x="8191458" y="3257248"/>
                </a:cubicBezTo>
                <a:cubicBezTo>
                  <a:pt x="8203550" y="3214677"/>
                  <a:pt x="8233147" y="3196237"/>
                  <a:pt x="8259856" y="3173245"/>
                </a:cubicBezTo>
                <a:cubicBezTo>
                  <a:pt x="8283318" y="3152983"/>
                  <a:pt x="8308224" y="3131812"/>
                  <a:pt x="8317969" y="3097663"/>
                </a:cubicBezTo>
                <a:cubicBezTo>
                  <a:pt x="8330783" y="3052133"/>
                  <a:pt x="8294328" y="3089468"/>
                  <a:pt x="8287650" y="3072166"/>
                </a:cubicBezTo>
                <a:cubicBezTo>
                  <a:pt x="8301546" y="3048491"/>
                  <a:pt x="8323023" y="3026863"/>
                  <a:pt x="8328617" y="3000000"/>
                </a:cubicBezTo>
                <a:cubicBezTo>
                  <a:pt x="8349009" y="2903020"/>
                  <a:pt x="8393045" y="2832447"/>
                  <a:pt x="8458917" y="2777583"/>
                </a:cubicBezTo>
                <a:cubicBezTo>
                  <a:pt x="8477866" y="2761875"/>
                  <a:pt x="8490318" y="2733190"/>
                  <a:pt x="8516125" y="2728639"/>
                </a:cubicBezTo>
                <a:cubicBezTo>
                  <a:pt x="8573515" y="2718621"/>
                  <a:pt x="8555468" y="2640309"/>
                  <a:pt x="8585788" y="2605478"/>
                </a:cubicBezTo>
                <a:cubicBezTo>
                  <a:pt x="8591563" y="2598874"/>
                  <a:pt x="8596796" y="2585900"/>
                  <a:pt x="8595714" y="2577023"/>
                </a:cubicBezTo>
                <a:cubicBezTo>
                  <a:pt x="8594091" y="2564271"/>
                  <a:pt x="8587232" y="2552206"/>
                  <a:pt x="8581457" y="2540823"/>
                </a:cubicBezTo>
                <a:cubicBezTo>
                  <a:pt x="8575501" y="2529441"/>
                  <a:pt x="8566478" y="2519424"/>
                  <a:pt x="8570809" y="2504399"/>
                </a:cubicBezTo>
                <a:cubicBezTo>
                  <a:pt x="8572612" y="2498253"/>
                  <a:pt x="8571351" y="2476854"/>
                  <a:pt x="8584705" y="2493699"/>
                </a:cubicBezTo>
                <a:cubicBezTo>
                  <a:pt x="8621340" y="2539914"/>
                  <a:pt x="8642637" y="2496205"/>
                  <a:pt x="8674038" y="2475260"/>
                </a:cubicBezTo>
                <a:cubicBezTo>
                  <a:pt x="8648772" y="2453632"/>
                  <a:pt x="8626033" y="2438380"/>
                  <a:pt x="8622243" y="2406054"/>
                </a:cubicBezTo>
                <a:cubicBezTo>
                  <a:pt x="8614483" y="2339351"/>
                  <a:pt x="8581278" y="2308846"/>
                  <a:pt x="8530925" y="2302926"/>
                </a:cubicBezTo>
                <a:cubicBezTo>
                  <a:pt x="8549513" y="2238501"/>
                  <a:pt x="8549513" y="2238501"/>
                  <a:pt x="8489417" y="2229622"/>
                </a:cubicBezTo>
                <a:cubicBezTo>
                  <a:pt x="8512517" y="2188645"/>
                  <a:pt x="8512517" y="2178173"/>
                  <a:pt x="8484543" y="2164058"/>
                </a:cubicBezTo>
                <a:cubicBezTo>
                  <a:pt x="8457653" y="2150626"/>
                  <a:pt x="8427876" y="2146073"/>
                  <a:pt x="8402970" y="2125358"/>
                </a:cubicBezTo>
                <a:cubicBezTo>
                  <a:pt x="8425891" y="2072997"/>
                  <a:pt x="8432387" y="2012214"/>
                  <a:pt x="8479670" y="1986716"/>
                </a:cubicBezTo>
                <a:cubicBezTo>
                  <a:pt x="8487070" y="1982846"/>
                  <a:pt x="8492123" y="1967138"/>
                  <a:pt x="8487432" y="1958032"/>
                </a:cubicBezTo>
                <a:cubicBezTo>
                  <a:pt x="8470286" y="1925023"/>
                  <a:pt x="8494830" y="1862417"/>
                  <a:pt x="8441412" y="1855361"/>
                </a:cubicBezTo>
                <a:cubicBezTo>
                  <a:pt x="8434733" y="1854678"/>
                  <a:pt x="8428597" y="1847847"/>
                  <a:pt x="8433831" y="1838969"/>
                </a:cubicBezTo>
                <a:cubicBezTo>
                  <a:pt x="8451879" y="1808009"/>
                  <a:pt x="8430041" y="1810057"/>
                  <a:pt x="8416868" y="1806187"/>
                </a:cubicBezTo>
                <a:cubicBezTo>
                  <a:pt x="8400985" y="1801408"/>
                  <a:pt x="8382938" y="1815066"/>
                  <a:pt x="8368140" y="1798219"/>
                </a:cubicBezTo>
                <a:cubicBezTo>
                  <a:pt x="8371569" y="1780462"/>
                  <a:pt x="8384382" y="1780689"/>
                  <a:pt x="8393405" y="1774999"/>
                </a:cubicBezTo>
                <a:cubicBezTo>
                  <a:pt x="8419754" y="1758607"/>
                  <a:pt x="8441231" y="1739030"/>
                  <a:pt x="8442495" y="1696458"/>
                </a:cubicBezTo>
                <a:cubicBezTo>
                  <a:pt x="8443396" y="1662083"/>
                  <a:pt x="8446284" y="1631805"/>
                  <a:pt x="8409828" y="1621332"/>
                </a:cubicBezTo>
                <a:cubicBezTo>
                  <a:pt x="8394669" y="1617006"/>
                  <a:pt x="8399001" y="1592193"/>
                  <a:pt x="8407664" y="1579899"/>
                </a:cubicBezTo>
                <a:cubicBezTo>
                  <a:pt x="8423184" y="1558045"/>
                  <a:pt x="8435996" y="1528906"/>
                  <a:pt x="8462707" y="1526857"/>
                </a:cubicBezTo>
                <a:cubicBezTo>
                  <a:pt x="8478949" y="1525492"/>
                  <a:pt x="8491402" y="1516384"/>
                  <a:pt x="8504215" y="1505913"/>
                </a:cubicBezTo>
                <a:cubicBezTo>
                  <a:pt x="8513419" y="1498398"/>
                  <a:pt x="8524428" y="1492025"/>
                  <a:pt x="8523345" y="1475863"/>
                </a:cubicBezTo>
                <a:cubicBezTo>
                  <a:pt x="8522262" y="1460382"/>
                  <a:pt x="8511615" y="1454008"/>
                  <a:pt x="8500786" y="1450820"/>
                </a:cubicBezTo>
                <a:cubicBezTo>
                  <a:pt x="8464691" y="1440577"/>
                  <a:pt x="8430764" y="1425551"/>
                  <a:pt x="8400624" y="1391176"/>
                </a:cubicBezTo>
                <a:cubicBezTo>
                  <a:pt x="8420657" y="1372963"/>
                  <a:pt x="8439787" y="1359759"/>
                  <a:pt x="8454585" y="1341319"/>
                </a:cubicBezTo>
                <a:cubicBezTo>
                  <a:pt x="8490318" y="1296701"/>
                  <a:pt x="8187668" y="1156238"/>
                  <a:pt x="8172509" y="1106153"/>
                </a:cubicBezTo>
                <a:cubicBezTo>
                  <a:pt x="8167817" y="1090673"/>
                  <a:pt x="8151755" y="1074738"/>
                  <a:pt x="8138399" y="1070184"/>
                </a:cubicBezTo>
                <a:cubicBezTo>
                  <a:pt x="8075777" y="1048785"/>
                  <a:pt x="8021456" y="1000749"/>
                  <a:pt x="7957388" y="982992"/>
                </a:cubicBezTo>
                <a:cubicBezTo>
                  <a:pt x="7896929" y="966147"/>
                  <a:pt x="7837375" y="943608"/>
                  <a:pt x="7771142" y="921300"/>
                </a:cubicBezTo>
                <a:cubicBezTo>
                  <a:pt x="7811747" y="865296"/>
                  <a:pt x="7883756" y="871899"/>
                  <a:pt x="7900539" y="791082"/>
                </a:cubicBezTo>
                <a:cubicBezTo>
                  <a:pt x="7835028" y="770137"/>
                  <a:pt x="7766090" y="794042"/>
                  <a:pt x="7702923" y="760803"/>
                </a:cubicBezTo>
                <a:cubicBezTo>
                  <a:pt x="7697509" y="757845"/>
                  <a:pt x="7690109" y="760803"/>
                  <a:pt x="7683614" y="761714"/>
                </a:cubicBezTo>
                <a:cubicBezTo>
                  <a:pt x="7553493" y="779471"/>
                  <a:pt x="7423915" y="763991"/>
                  <a:pt x="7295600" y="741680"/>
                </a:cubicBezTo>
                <a:cubicBezTo>
                  <a:pt x="7110798" y="709810"/>
                  <a:pt x="6925273" y="689548"/>
                  <a:pt x="6739388" y="675206"/>
                </a:cubicBezTo>
                <a:cubicBezTo>
                  <a:pt x="6585807" y="663367"/>
                  <a:pt x="6431866" y="658132"/>
                  <a:pt x="6279006" y="635367"/>
                </a:cubicBezTo>
                <a:cubicBezTo>
                  <a:pt x="6115501" y="611009"/>
                  <a:pt x="5952175" y="583462"/>
                  <a:pt x="5788847" y="557964"/>
                </a:cubicBezTo>
                <a:cubicBezTo>
                  <a:pt x="5781448" y="556825"/>
                  <a:pt x="5773282" y="553240"/>
                  <a:pt x="5765387" y="552984"/>
                </a:cubicBezTo>
                <a:close/>
                <a:moveTo>
                  <a:pt x="0" y="0"/>
                </a:moveTo>
                <a:lnTo>
                  <a:pt x="768106" y="0"/>
                </a:lnTo>
                <a:lnTo>
                  <a:pt x="767098" y="10118"/>
                </a:lnTo>
                <a:cubicBezTo>
                  <a:pt x="765697" y="22412"/>
                  <a:pt x="763205" y="34103"/>
                  <a:pt x="756850" y="43654"/>
                </a:cubicBezTo>
                <a:cubicBezTo>
                  <a:pt x="749894" y="54193"/>
                  <a:pt x="757386" y="72374"/>
                  <a:pt x="768357" y="76852"/>
                </a:cubicBezTo>
                <a:cubicBezTo>
                  <a:pt x="838462" y="106364"/>
                  <a:pt x="848094" y="176713"/>
                  <a:pt x="882077" y="237315"/>
                </a:cubicBezTo>
                <a:cubicBezTo>
                  <a:pt x="845150" y="261290"/>
                  <a:pt x="801001" y="266560"/>
                  <a:pt x="761133" y="282106"/>
                </a:cubicBezTo>
                <a:cubicBezTo>
                  <a:pt x="719657" y="298442"/>
                  <a:pt x="719657" y="310562"/>
                  <a:pt x="753907" y="357988"/>
                </a:cubicBezTo>
                <a:cubicBezTo>
                  <a:pt x="664804" y="368265"/>
                  <a:pt x="664804" y="368265"/>
                  <a:pt x="692364" y="442830"/>
                </a:cubicBezTo>
                <a:cubicBezTo>
                  <a:pt x="617709" y="449681"/>
                  <a:pt x="568477" y="484987"/>
                  <a:pt x="556972" y="562188"/>
                </a:cubicBezTo>
                <a:cubicBezTo>
                  <a:pt x="551352" y="599602"/>
                  <a:pt x="517637" y="617254"/>
                  <a:pt x="480177" y="642286"/>
                </a:cubicBezTo>
                <a:cubicBezTo>
                  <a:pt x="526734" y="666528"/>
                  <a:pt x="558310" y="717115"/>
                  <a:pt x="612627" y="663627"/>
                </a:cubicBezTo>
                <a:cubicBezTo>
                  <a:pt x="632427" y="644130"/>
                  <a:pt x="630557" y="668898"/>
                  <a:pt x="633230" y="676011"/>
                </a:cubicBezTo>
                <a:cubicBezTo>
                  <a:pt x="639651" y="693400"/>
                  <a:pt x="626274" y="704995"/>
                  <a:pt x="617443" y="718168"/>
                </a:cubicBezTo>
                <a:cubicBezTo>
                  <a:pt x="608881" y="731343"/>
                  <a:pt x="598711" y="745306"/>
                  <a:pt x="596304" y="760064"/>
                </a:cubicBezTo>
                <a:cubicBezTo>
                  <a:pt x="594700" y="770339"/>
                  <a:pt x="602459" y="785355"/>
                  <a:pt x="611021" y="792998"/>
                </a:cubicBezTo>
                <a:cubicBezTo>
                  <a:pt x="655975" y="833311"/>
                  <a:pt x="629217" y="923949"/>
                  <a:pt x="714308" y="935543"/>
                </a:cubicBezTo>
                <a:cubicBezTo>
                  <a:pt x="752570" y="940811"/>
                  <a:pt x="771032" y="974010"/>
                  <a:pt x="799128" y="992190"/>
                </a:cubicBezTo>
                <a:cubicBezTo>
                  <a:pt x="896793" y="1055689"/>
                  <a:pt x="962082" y="1137368"/>
                  <a:pt x="992317" y="1249612"/>
                </a:cubicBezTo>
                <a:cubicBezTo>
                  <a:pt x="1000611" y="1280703"/>
                  <a:pt x="1032454" y="1305735"/>
                  <a:pt x="1053058" y="1333136"/>
                </a:cubicBezTo>
                <a:cubicBezTo>
                  <a:pt x="1043156" y="1353160"/>
                  <a:pt x="989106" y="1309949"/>
                  <a:pt x="1008104" y="1362645"/>
                </a:cubicBezTo>
                <a:cubicBezTo>
                  <a:pt x="1022553" y="1402169"/>
                  <a:pt x="1059480" y="1426672"/>
                  <a:pt x="1094265" y="1450123"/>
                </a:cubicBezTo>
                <a:cubicBezTo>
                  <a:pt x="1133866" y="1476733"/>
                  <a:pt x="1177749" y="1498075"/>
                  <a:pt x="1195677" y="1547347"/>
                </a:cubicBezTo>
                <a:cubicBezTo>
                  <a:pt x="1199423" y="1557887"/>
                  <a:pt x="1211463" y="1568953"/>
                  <a:pt x="1222166" y="1573170"/>
                </a:cubicBezTo>
                <a:cubicBezTo>
                  <a:pt x="1780331" y="2440289"/>
                  <a:pt x="3154333" y="2446085"/>
                  <a:pt x="3312738" y="2440024"/>
                </a:cubicBezTo>
                <a:cubicBezTo>
                  <a:pt x="3504591" y="2432384"/>
                  <a:pt x="3686008" y="2378897"/>
                  <a:pt x="3863944" y="2312235"/>
                </a:cubicBezTo>
                <a:cubicBezTo>
                  <a:pt x="3939135" y="2284043"/>
                  <a:pt x="4008972" y="2243995"/>
                  <a:pt x="4082022" y="2212904"/>
                </a:cubicBezTo>
                <a:cubicBezTo>
                  <a:pt x="4182897" y="2169955"/>
                  <a:pt x="4260761" y="2088012"/>
                  <a:pt x="4361371" y="2053496"/>
                </a:cubicBezTo>
                <a:cubicBezTo>
                  <a:pt x="4464921" y="2017925"/>
                  <a:pt x="4553490" y="1952846"/>
                  <a:pt x="4659987" y="1925180"/>
                </a:cubicBezTo>
                <a:cubicBezTo>
                  <a:pt x="4716177" y="1910425"/>
                  <a:pt x="4770494" y="1883815"/>
                  <a:pt x="4761667" y="1807667"/>
                </a:cubicBezTo>
                <a:cubicBezTo>
                  <a:pt x="4759257" y="1786061"/>
                  <a:pt x="4773973" y="1768410"/>
                  <a:pt x="4797253" y="1774733"/>
                </a:cubicBezTo>
                <a:cubicBezTo>
                  <a:pt x="4841669" y="1786589"/>
                  <a:pt x="4861738" y="1755234"/>
                  <a:pt x="4886356" y="1731784"/>
                </a:cubicBezTo>
                <a:cubicBezTo>
                  <a:pt x="4930237" y="1690154"/>
                  <a:pt x="4971978" y="1645890"/>
                  <a:pt x="5041818" y="1639039"/>
                </a:cubicBezTo>
                <a:cubicBezTo>
                  <a:pt x="5028440" y="1606365"/>
                  <a:pt x="5005695" y="1611110"/>
                  <a:pt x="4984824" y="1617960"/>
                </a:cubicBezTo>
                <a:cubicBezTo>
                  <a:pt x="4929971" y="1635878"/>
                  <a:pt x="4875653" y="1656165"/>
                  <a:pt x="4820800" y="1674082"/>
                </a:cubicBezTo>
                <a:cubicBezTo>
                  <a:pt x="4784945" y="1685677"/>
                  <a:pt x="4749356" y="1702012"/>
                  <a:pt x="4701459" y="1689099"/>
                </a:cubicBezTo>
                <a:cubicBezTo>
                  <a:pt x="4742668" y="1623230"/>
                  <a:pt x="4812771" y="1611373"/>
                  <a:pt x="4869498" y="1591086"/>
                </a:cubicBezTo>
                <a:cubicBezTo>
                  <a:pt x="4940404" y="1565528"/>
                  <a:pt x="4982147" y="1517309"/>
                  <a:pt x="5032185" y="1463559"/>
                </a:cubicBezTo>
                <a:cubicBezTo>
                  <a:pt x="4980006" y="1450649"/>
                  <a:pt x="4947630" y="1490172"/>
                  <a:pt x="4906692" y="1488062"/>
                </a:cubicBezTo>
                <a:cubicBezTo>
                  <a:pt x="4904550" y="1481215"/>
                  <a:pt x="4900805" y="1471202"/>
                  <a:pt x="4901340" y="1470936"/>
                </a:cubicBezTo>
                <a:cubicBezTo>
                  <a:pt x="4968234" y="1441427"/>
                  <a:pt x="4999539" y="1386097"/>
                  <a:pt x="5009976" y="1319171"/>
                </a:cubicBezTo>
                <a:cubicBezTo>
                  <a:pt x="5015328" y="1284656"/>
                  <a:pt x="5039677" y="1273853"/>
                  <a:pt x="5063760" y="1258044"/>
                </a:cubicBezTo>
                <a:cubicBezTo>
                  <a:pt x="5147777" y="1201922"/>
                  <a:pt x="5236613" y="1151071"/>
                  <a:pt x="5305648" y="1073871"/>
                </a:cubicBezTo>
                <a:cubicBezTo>
                  <a:pt x="5225910" y="1084147"/>
                  <a:pt x="5161960" y="1134471"/>
                  <a:pt x="5076067" y="1156077"/>
                </a:cubicBezTo>
                <a:cubicBezTo>
                  <a:pt x="5144298" y="1071235"/>
                  <a:pt x="5232600" y="1028288"/>
                  <a:pt x="5313141" y="976907"/>
                </a:cubicBezTo>
                <a:cubicBezTo>
                  <a:pt x="5349798" y="953458"/>
                  <a:pt x="5383779" y="923421"/>
                  <a:pt x="5428196" y="910774"/>
                </a:cubicBezTo>
                <a:cubicBezTo>
                  <a:pt x="5443985" y="906295"/>
                  <a:pt x="5469939" y="896809"/>
                  <a:pt x="5457363" y="871779"/>
                </a:cubicBezTo>
                <a:cubicBezTo>
                  <a:pt x="5446661" y="850965"/>
                  <a:pt x="5425523" y="857286"/>
                  <a:pt x="5406256" y="863347"/>
                </a:cubicBezTo>
                <a:cubicBezTo>
                  <a:pt x="5359965" y="878367"/>
                  <a:pt x="5312069" y="878629"/>
                  <a:pt x="5249456" y="878367"/>
                </a:cubicBezTo>
                <a:cubicBezTo>
                  <a:pt x="5301901" y="809597"/>
                  <a:pt x="5397963" y="830149"/>
                  <a:pt x="5442914" y="757955"/>
                </a:cubicBezTo>
                <a:cubicBezTo>
                  <a:pt x="5386723" y="745306"/>
                  <a:pt x="5343376" y="771392"/>
                  <a:pt x="5297887" y="776398"/>
                </a:cubicBezTo>
                <a:cubicBezTo>
                  <a:pt x="5256683" y="780877"/>
                  <a:pt x="5246513" y="768758"/>
                  <a:pt x="5256146" y="728971"/>
                </a:cubicBezTo>
                <a:cubicBezTo>
                  <a:pt x="5271129" y="667053"/>
                  <a:pt x="5248653" y="635435"/>
                  <a:pt x="5188716" y="652298"/>
                </a:cubicBezTo>
                <a:cubicBezTo>
                  <a:pt x="5133062" y="668107"/>
                  <a:pt x="5127175" y="644922"/>
                  <a:pt x="5142160" y="609614"/>
                </a:cubicBezTo>
                <a:cubicBezTo>
                  <a:pt x="5163564" y="558237"/>
                  <a:pt x="5139216" y="518450"/>
                  <a:pt x="5122626" y="475239"/>
                </a:cubicBezTo>
                <a:cubicBezTo>
                  <a:pt x="5097205" y="409367"/>
                  <a:pt x="5107908" y="377223"/>
                  <a:pt x="5162763" y="328215"/>
                </a:cubicBezTo>
                <a:cubicBezTo>
                  <a:pt x="5193532" y="300811"/>
                  <a:pt x="5226711" y="277627"/>
                  <a:pt x="5271399" y="253914"/>
                </a:cubicBezTo>
                <a:cubicBezTo>
                  <a:pt x="5168381" y="241003"/>
                  <a:pt x="5276483" y="197528"/>
                  <a:pt x="5240091" y="170389"/>
                </a:cubicBezTo>
                <a:cubicBezTo>
                  <a:pt x="5167310" y="159323"/>
                  <a:pt x="5107908" y="245745"/>
                  <a:pt x="5008904" y="220979"/>
                </a:cubicBezTo>
                <a:cubicBezTo>
                  <a:pt x="5131187" y="146147"/>
                  <a:pt x="5266315" y="121645"/>
                  <a:pt x="5354881" y="22050"/>
                </a:cubicBezTo>
                <a:cubicBezTo>
                  <a:pt x="5334546" y="-611"/>
                  <a:pt x="5314210" y="20468"/>
                  <a:pt x="5296818" y="12038"/>
                </a:cubicBezTo>
                <a:cubicBezTo>
                  <a:pt x="5297085" y="9403"/>
                  <a:pt x="5296884" y="6109"/>
                  <a:pt x="5297018" y="3177"/>
                </a:cubicBezTo>
                <a:lnTo>
                  <a:pt x="5298067" y="0"/>
                </a:lnTo>
                <a:lnTo>
                  <a:pt x="8958468" y="0"/>
                </a:lnTo>
                <a:lnTo>
                  <a:pt x="8936439" y="18562"/>
                </a:lnTo>
                <a:cubicBezTo>
                  <a:pt x="8928025" y="29598"/>
                  <a:pt x="8926611" y="39110"/>
                  <a:pt x="8934304" y="46608"/>
                </a:cubicBezTo>
                <a:cubicBezTo>
                  <a:pt x="8959791" y="71400"/>
                  <a:pt x="8992737" y="89152"/>
                  <a:pt x="9027240" y="113638"/>
                </a:cubicBezTo>
                <a:cubicBezTo>
                  <a:pt x="8975330" y="159853"/>
                  <a:pt x="8916899" y="180054"/>
                  <a:pt x="8854734" y="193826"/>
                </a:cubicBezTo>
                <a:cubicBezTo>
                  <a:pt x="8836083" y="198111"/>
                  <a:pt x="8817746" y="206680"/>
                  <a:pt x="8815880" y="227493"/>
                </a:cubicBezTo>
                <a:cubicBezTo>
                  <a:pt x="8814017" y="249223"/>
                  <a:pt x="8832977" y="257791"/>
                  <a:pt x="8848828" y="267894"/>
                </a:cubicBezTo>
                <a:cubicBezTo>
                  <a:pt x="8870895" y="281971"/>
                  <a:pt x="8892342" y="294216"/>
                  <a:pt x="8920315" y="296052"/>
                </a:cubicBezTo>
                <a:cubicBezTo>
                  <a:pt x="8966319" y="298806"/>
                  <a:pt x="8988385" y="337982"/>
                  <a:pt x="9015115" y="367363"/>
                </a:cubicBezTo>
                <a:cubicBezTo>
                  <a:pt x="9030034" y="383892"/>
                  <a:pt x="9037496" y="417251"/>
                  <a:pt x="9011388" y="423067"/>
                </a:cubicBezTo>
                <a:cubicBezTo>
                  <a:pt x="8948601" y="437148"/>
                  <a:pt x="8953575" y="477853"/>
                  <a:pt x="8955127" y="524068"/>
                </a:cubicBezTo>
                <a:cubicBezTo>
                  <a:pt x="8957303" y="581304"/>
                  <a:pt x="8994292" y="607624"/>
                  <a:pt x="9039672" y="629661"/>
                </a:cubicBezTo>
                <a:cubicBezTo>
                  <a:pt x="9055213" y="637312"/>
                  <a:pt x="9077279" y="637006"/>
                  <a:pt x="9083187" y="660880"/>
                </a:cubicBezTo>
                <a:cubicBezTo>
                  <a:pt x="9057699" y="683528"/>
                  <a:pt x="9026617" y="665166"/>
                  <a:pt x="8999263" y="671592"/>
                </a:cubicBezTo>
                <a:cubicBezTo>
                  <a:pt x="8976575" y="676794"/>
                  <a:pt x="8938965" y="674041"/>
                  <a:pt x="8970048" y="715664"/>
                </a:cubicBezTo>
                <a:cubicBezTo>
                  <a:pt x="8979063" y="727601"/>
                  <a:pt x="8968494" y="736784"/>
                  <a:pt x="8956992" y="737702"/>
                </a:cubicBezTo>
                <a:cubicBezTo>
                  <a:pt x="8864991" y="747189"/>
                  <a:pt x="8907262" y="831359"/>
                  <a:pt x="8877733" y="875737"/>
                </a:cubicBezTo>
                <a:cubicBezTo>
                  <a:pt x="8869654" y="887979"/>
                  <a:pt x="8878357" y="909097"/>
                  <a:pt x="8891100" y="914300"/>
                </a:cubicBezTo>
                <a:cubicBezTo>
                  <a:pt x="8972534" y="948581"/>
                  <a:pt x="8983724" y="1030299"/>
                  <a:pt x="9023199" y="1100695"/>
                </a:cubicBezTo>
                <a:cubicBezTo>
                  <a:pt x="8980304" y="1128545"/>
                  <a:pt x="8929020" y="1134666"/>
                  <a:pt x="8882708" y="1152725"/>
                </a:cubicBezTo>
                <a:cubicBezTo>
                  <a:pt x="8834530" y="1171701"/>
                  <a:pt x="8834530" y="1185780"/>
                  <a:pt x="8874315" y="1240870"/>
                </a:cubicBezTo>
                <a:cubicBezTo>
                  <a:pt x="8770812" y="1252808"/>
                  <a:pt x="8770812" y="1252808"/>
                  <a:pt x="8802826" y="1339424"/>
                </a:cubicBezTo>
                <a:cubicBezTo>
                  <a:pt x="8716105" y="1347382"/>
                  <a:pt x="8658917" y="1388394"/>
                  <a:pt x="8645552" y="1478072"/>
                </a:cubicBezTo>
                <a:cubicBezTo>
                  <a:pt x="8639024" y="1521532"/>
                  <a:pt x="8599861" y="1542037"/>
                  <a:pt x="8556347" y="1571114"/>
                </a:cubicBezTo>
                <a:cubicBezTo>
                  <a:pt x="8610428" y="1599274"/>
                  <a:pt x="8647106" y="1658037"/>
                  <a:pt x="8710202" y="1595904"/>
                </a:cubicBezTo>
                <a:cubicBezTo>
                  <a:pt x="8733202" y="1573257"/>
                  <a:pt x="8731030" y="1602027"/>
                  <a:pt x="8734135" y="1610290"/>
                </a:cubicBezTo>
                <a:cubicBezTo>
                  <a:pt x="8741594" y="1630489"/>
                  <a:pt x="8726054" y="1643958"/>
                  <a:pt x="8715797" y="1659260"/>
                </a:cubicBezTo>
                <a:cubicBezTo>
                  <a:pt x="8705851" y="1674564"/>
                  <a:pt x="8694038" y="1690784"/>
                  <a:pt x="8691242" y="1707927"/>
                </a:cubicBezTo>
                <a:cubicBezTo>
                  <a:pt x="8689378" y="1719862"/>
                  <a:pt x="8698391" y="1737306"/>
                  <a:pt x="8708337" y="1746183"/>
                </a:cubicBezTo>
                <a:cubicBezTo>
                  <a:pt x="8760556" y="1793011"/>
                  <a:pt x="8729474" y="1898297"/>
                  <a:pt x="8828316" y="1911765"/>
                </a:cubicBezTo>
                <a:cubicBezTo>
                  <a:pt x="8872762" y="1917884"/>
                  <a:pt x="8894207" y="1956449"/>
                  <a:pt x="8926844" y="1977567"/>
                </a:cubicBezTo>
                <a:cubicBezTo>
                  <a:pt x="9040293" y="2051328"/>
                  <a:pt x="9116134" y="2146208"/>
                  <a:pt x="9151255" y="2276592"/>
                </a:cubicBezTo>
                <a:cubicBezTo>
                  <a:pt x="9160890" y="2312707"/>
                  <a:pt x="9197879" y="2341785"/>
                  <a:pt x="9221812" y="2373614"/>
                </a:cubicBezTo>
                <a:cubicBezTo>
                  <a:pt x="9210310" y="2396875"/>
                  <a:pt x="9147525" y="2346680"/>
                  <a:pt x="9169593" y="2407892"/>
                </a:cubicBezTo>
                <a:cubicBezTo>
                  <a:pt x="9186377" y="2453803"/>
                  <a:pt x="9229272" y="2482267"/>
                  <a:pt x="9269679" y="2509507"/>
                </a:cubicBezTo>
                <a:cubicBezTo>
                  <a:pt x="9315680" y="2540419"/>
                  <a:pt x="9366654" y="2565210"/>
                  <a:pt x="9387480" y="2622444"/>
                </a:cubicBezTo>
                <a:cubicBezTo>
                  <a:pt x="9391832" y="2634687"/>
                  <a:pt x="9405817" y="2647542"/>
                  <a:pt x="9418250" y="2652440"/>
                </a:cubicBezTo>
                <a:cubicBezTo>
                  <a:pt x="10066621" y="3659697"/>
                  <a:pt x="11662679" y="3666430"/>
                  <a:pt x="11846684" y="3659389"/>
                </a:cubicBezTo>
                <a:cubicBezTo>
                  <a:pt x="11958113" y="3654952"/>
                  <a:pt x="12066512" y="3637200"/>
                  <a:pt x="12172890" y="3610878"/>
                </a:cubicBezTo>
                <a:lnTo>
                  <a:pt x="12192000" y="3605403"/>
                </a:lnTo>
                <a:lnTo>
                  <a:pt x="12192000" y="6858000"/>
                </a:lnTo>
                <a:lnTo>
                  <a:pt x="2667892" y="6858000"/>
                </a:lnTo>
                <a:lnTo>
                  <a:pt x="2654380" y="6849405"/>
                </a:lnTo>
                <a:cubicBezTo>
                  <a:pt x="2607569" y="6826978"/>
                  <a:pt x="2555222" y="6809052"/>
                  <a:pt x="2517472" y="6768410"/>
                </a:cubicBezTo>
                <a:cubicBezTo>
                  <a:pt x="2640621" y="6736030"/>
                  <a:pt x="2751355" y="6703317"/>
                  <a:pt x="2863768" y="6678867"/>
                </a:cubicBezTo>
                <a:cubicBezTo>
                  <a:pt x="2982893" y="6653093"/>
                  <a:pt x="3083895" y="6583373"/>
                  <a:pt x="3200332" y="6552312"/>
                </a:cubicBezTo>
                <a:cubicBezTo>
                  <a:pt x="3225166" y="6545703"/>
                  <a:pt x="3255030" y="6522574"/>
                  <a:pt x="3263755" y="6500106"/>
                </a:cubicBezTo>
                <a:cubicBezTo>
                  <a:pt x="3291941" y="6427411"/>
                  <a:pt x="3854674" y="6223537"/>
                  <a:pt x="3788234" y="6158777"/>
                </a:cubicBezTo>
                <a:cubicBezTo>
                  <a:pt x="3760718" y="6132011"/>
                  <a:pt x="3725150" y="6112847"/>
                  <a:pt x="3687901" y="6086412"/>
                </a:cubicBezTo>
                <a:cubicBezTo>
                  <a:pt x="3743942" y="6036518"/>
                  <a:pt x="3807024" y="6014710"/>
                  <a:pt x="3874137" y="5999841"/>
                </a:cubicBezTo>
                <a:cubicBezTo>
                  <a:pt x="3894273" y="5995216"/>
                  <a:pt x="3914069" y="5985964"/>
                  <a:pt x="3916083" y="5963494"/>
                </a:cubicBezTo>
                <a:cubicBezTo>
                  <a:pt x="3918095" y="5940035"/>
                  <a:pt x="3897626" y="5930785"/>
                  <a:pt x="3880513" y="5919878"/>
                </a:cubicBezTo>
                <a:cubicBezTo>
                  <a:pt x="3856689" y="5904680"/>
                  <a:pt x="3833535" y="5891460"/>
                  <a:pt x="3803335" y="5889479"/>
                </a:cubicBezTo>
                <a:cubicBezTo>
                  <a:pt x="3753670" y="5886505"/>
                  <a:pt x="3729848" y="5844211"/>
                  <a:pt x="3700990" y="5812491"/>
                </a:cubicBezTo>
                <a:cubicBezTo>
                  <a:pt x="3684884" y="5794647"/>
                  <a:pt x="3676828" y="5758633"/>
                  <a:pt x="3705014" y="5752353"/>
                </a:cubicBezTo>
                <a:cubicBezTo>
                  <a:pt x="3772798" y="5737152"/>
                  <a:pt x="3767428" y="5693207"/>
                  <a:pt x="3765753" y="5643313"/>
                </a:cubicBezTo>
                <a:cubicBezTo>
                  <a:pt x="3763404" y="5581522"/>
                  <a:pt x="3723470" y="5553107"/>
                  <a:pt x="3674479" y="5529315"/>
                </a:cubicBezTo>
                <a:cubicBezTo>
                  <a:pt x="3657701" y="5521056"/>
                  <a:pt x="3633878" y="5521386"/>
                  <a:pt x="3627501" y="5495612"/>
                </a:cubicBezTo>
                <a:cubicBezTo>
                  <a:pt x="3655017" y="5471161"/>
                  <a:pt x="3688572" y="5490985"/>
                  <a:pt x="3718104" y="5484048"/>
                </a:cubicBezTo>
                <a:cubicBezTo>
                  <a:pt x="3742598" y="5478431"/>
                  <a:pt x="3783202" y="5481403"/>
                  <a:pt x="3749644" y="5436467"/>
                </a:cubicBezTo>
                <a:cubicBezTo>
                  <a:pt x="3739912" y="5423580"/>
                  <a:pt x="3751322" y="5413666"/>
                  <a:pt x="3763740" y="5412675"/>
                </a:cubicBezTo>
                <a:cubicBezTo>
                  <a:pt x="3863064" y="5402433"/>
                  <a:pt x="3817428" y="5311564"/>
                  <a:pt x="3849307" y="5263654"/>
                </a:cubicBezTo>
                <a:cubicBezTo>
                  <a:pt x="3858030" y="5250437"/>
                  <a:pt x="3848634" y="5227638"/>
                  <a:pt x="3834876" y="5222021"/>
                </a:cubicBezTo>
                <a:cubicBezTo>
                  <a:pt x="3746960" y="5185011"/>
                  <a:pt x="3734880" y="5096789"/>
                  <a:pt x="3692263" y="5020790"/>
                </a:cubicBezTo>
                <a:cubicBezTo>
                  <a:pt x="3738572" y="4990724"/>
                  <a:pt x="3793938" y="4984115"/>
                  <a:pt x="3843936" y="4964619"/>
                </a:cubicBezTo>
                <a:cubicBezTo>
                  <a:pt x="3895949" y="4944132"/>
                  <a:pt x="3895949" y="4928933"/>
                  <a:pt x="3852997" y="4869458"/>
                </a:cubicBezTo>
                <a:cubicBezTo>
                  <a:pt x="3964739" y="4856569"/>
                  <a:pt x="3964739" y="4856569"/>
                  <a:pt x="3930177" y="4763060"/>
                </a:cubicBezTo>
                <a:cubicBezTo>
                  <a:pt x="4023800" y="4754468"/>
                  <a:pt x="4085540" y="4710192"/>
                  <a:pt x="4099968" y="4613376"/>
                </a:cubicBezTo>
                <a:cubicBezTo>
                  <a:pt x="4107016" y="4566456"/>
                  <a:pt x="4149296" y="4544320"/>
                  <a:pt x="4196274" y="4512928"/>
                </a:cubicBezTo>
                <a:cubicBezTo>
                  <a:pt x="4137888" y="4482527"/>
                  <a:pt x="4098290" y="4419087"/>
                  <a:pt x="4030173" y="4486165"/>
                </a:cubicBezTo>
                <a:cubicBezTo>
                  <a:pt x="4005342" y="4510615"/>
                  <a:pt x="4007687" y="4479555"/>
                  <a:pt x="4004335" y="4470634"/>
                </a:cubicBezTo>
                <a:cubicBezTo>
                  <a:pt x="3996282" y="4448827"/>
                  <a:pt x="4013059" y="4434287"/>
                  <a:pt x="4024133" y="4417767"/>
                </a:cubicBezTo>
                <a:cubicBezTo>
                  <a:pt x="4034870" y="4401245"/>
                  <a:pt x="4047624" y="4383734"/>
                  <a:pt x="4050642" y="4365226"/>
                </a:cubicBezTo>
                <a:cubicBezTo>
                  <a:pt x="4052655" y="4352340"/>
                  <a:pt x="4042924" y="4333509"/>
                  <a:pt x="4032186" y="4323924"/>
                </a:cubicBezTo>
                <a:cubicBezTo>
                  <a:pt x="3975811" y="4273370"/>
                  <a:pt x="4009367" y="4159704"/>
                  <a:pt x="3902658" y="4145163"/>
                </a:cubicBezTo>
                <a:cubicBezTo>
                  <a:pt x="3854674" y="4138557"/>
                  <a:pt x="3831522" y="4096923"/>
                  <a:pt x="3796288" y="4074123"/>
                </a:cubicBezTo>
                <a:cubicBezTo>
                  <a:pt x="3673808" y="3994492"/>
                  <a:pt x="3591931" y="3892060"/>
                  <a:pt x="3554015" y="3751298"/>
                </a:cubicBezTo>
                <a:cubicBezTo>
                  <a:pt x="3543613" y="3712308"/>
                  <a:pt x="3503679" y="3680917"/>
                  <a:pt x="3477841" y="3646554"/>
                </a:cubicBezTo>
                <a:cubicBezTo>
                  <a:pt x="3490259" y="3621441"/>
                  <a:pt x="3558041" y="3675631"/>
                  <a:pt x="3534217" y="3609547"/>
                </a:cubicBezTo>
                <a:cubicBezTo>
                  <a:pt x="3516097" y="3559982"/>
                  <a:pt x="3469788" y="3529253"/>
                  <a:pt x="3426164" y="3499844"/>
                </a:cubicBezTo>
                <a:cubicBezTo>
                  <a:pt x="3376502" y="3466472"/>
                  <a:pt x="3321470" y="3439708"/>
                  <a:pt x="3298987" y="3377918"/>
                </a:cubicBezTo>
                <a:cubicBezTo>
                  <a:pt x="3294289" y="3364700"/>
                  <a:pt x="3279190" y="3350823"/>
                  <a:pt x="3265768" y="3345534"/>
                </a:cubicBezTo>
                <a:cubicBezTo>
                  <a:pt x="2609539" y="2326070"/>
                  <a:pt x="1054085" y="2255965"/>
                  <a:pt x="698533" y="2257448"/>
                </a:cubicBezTo>
                <a:cubicBezTo>
                  <a:pt x="674830" y="2257546"/>
                  <a:pt x="656459" y="2257963"/>
                  <a:pt x="644044" y="2258439"/>
                </a:cubicBezTo>
                <a:cubicBezTo>
                  <a:pt x="463596" y="2265625"/>
                  <a:pt x="290510" y="2305151"/>
                  <a:pt x="121106" y="2359734"/>
                </a:cubicBezTo>
                <a:lnTo>
                  <a:pt x="0" y="2402158"/>
                </a:lnTo>
                <a:close/>
              </a:path>
            </a:pathLst>
          </a:custGeom>
          <a:solidFill>
            <a:schemeClr val="bg2">
              <a:alpha val="50000"/>
            </a:schemeClr>
          </a:solidFill>
          <a:ln w="32707" cap="flat">
            <a:noFill/>
            <a:prstDash val="solid"/>
            <a:miter/>
          </a:ln>
        </p:spPr>
        <p:txBody>
          <a:bodyPr wrap="square" rtlCol="0" anchor="ctr">
            <a:noAutofit/>
          </a:bodyPr>
          <a:lstStyle/>
          <a:p>
            <a:endParaRPr lang="en-US"/>
          </a:p>
        </p:txBody>
      </p:sp>
      <p:sp>
        <p:nvSpPr>
          <p:cNvPr id="4" name="Title 1">
            <a:extLst>
              <a:ext uri="{FF2B5EF4-FFF2-40B4-BE49-F238E27FC236}">
                <a16:creationId xmlns:a16="http://schemas.microsoft.com/office/drawing/2014/main" id="{EF48876D-91B6-EC93-493B-EF6EC1726CF5}"/>
              </a:ext>
            </a:extLst>
          </p:cNvPr>
          <p:cNvSpPr>
            <a:spLocks noGrp="1"/>
          </p:cNvSpPr>
          <p:nvPr>
            <p:ph type="title"/>
          </p:nvPr>
        </p:nvSpPr>
        <p:spPr>
          <a:xfrm>
            <a:off x="4654295" y="4029234"/>
            <a:ext cx="6864412" cy="845854"/>
          </a:xfrm>
        </p:spPr>
        <p:txBody>
          <a:bodyPr anchor="b">
            <a:normAutofit/>
          </a:bodyPr>
          <a:lstStyle/>
          <a:p>
            <a:r>
              <a:rPr lang="en-US" sz="4000" dirty="0">
                <a:solidFill>
                  <a:srgbClr val="007B6C"/>
                </a:solidFill>
                <a:latin typeface="Calibri Light"/>
                <a:cs typeface="Calibri"/>
              </a:rPr>
              <a:t>Tour de table – Who’s who?</a:t>
            </a:r>
          </a:p>
        </p:txBody>
      </p:sp>
      <p:pic>
        <p:nvPicPr>
          <p:cNvPr id="1030" name="Picture 6" descr="institution&quot; Icon - Download for free – Iconduck">
            <a:extLst>
              <a:ext uri="{FF2B5EF4-FFF2-40B4-BE49-F238E27FC236}">
                <a16:creationId xmlns:a16="http://schemas.microsoft.com/office/drawing/2014/main" id="{27B64FD1-7B51-D767-0917-EEDFCBE4F49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28230" y="312256"/>
            <a:ext cx="1703062" cy="162572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ork experience - Free business icons">
            <a:extLst>
              <a:ext uri="{FF2B5EF4-FFF2-40B4-BE49-F238E27FC236}">
                <a16:creationId xmlns:a16="http://schemas.microsoft.com/office/drawing/2014/main" id="{74E9FE13-A8B8-D7A3-A198-3C07FEDA3AC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2374" y="3547640"/>
            <a:ext cx="2563781" cy="256378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ntroduction Icons - Free SVG &amp; PNG Introduction Images - Noun Project">
            <a:extLst>
              <a:ext uri="{FF2B5EF4-FFF2-40B4-BE49-F238E27FC236}">
                <a16:creationId xmlns:a16="http://schemas.microsoft.com/office/drawing/2014/main" id="{F0664C45-E2F3-07DA-30B5-5B8A5EEF6E6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148316" y="1468988"/>
            <a:ext cx="1746914" cy="174691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eason - Free nature icons">
            <a:extLst>
              <a:ext uri="{FF2B5EF4-FFF2-40B4-BE49-F238E27FC236}">
                <a16:creationId xmlns:a16="http://schemas.microsoft.com/office/drawing/2014/main" id="{C6D3C83E-E9D3-6E57-EDF8-F31FCBD71E4A}"/>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594376" y="463202"/>
            <a:ext cx="2183642" cy="218364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691D8D7-D910-4BA6-E6B9-DE3EB480D8FA}"/>
              </a:ext>
            </a:extLst>
          </p:cNvPr>
          <p:cNvSpPr>
            <a:spLocks noGrp="1"/>
          </p:cNvSpPr>
          <p:nvPr>
            <p:ph idx="1"/>
          </p:nvPr>
        </p:nvSpPr>
        <p:spPr>
          <a:xfrm>
            <a:off x="4654294" y="4916184"/>
            <a:ext cx="6864411" cy="1440165"/>
          </a:xfrm>
        </p:spPr>
        <p:txBody>
          <a:bodyPr>
            <a:normAutofit/>
          </a:bodyPr>
          <a:lstStyle/>
          <a:p>
            <a:pPr marL="0" indent="0">
              <a:buNone/>
            </a:pPr>
            <a:r>
              <a:rPr lang="en-US" sz="1100" dirty="0"/>
              <a:t>Please introduce yourself with:</a:t>
            </a:r>
          </a:p>
          <a:p>
            <a:r>
              <a:rPr lang="en-US" sz="1100" dirty="0"/>
              <a:t>Your name</a:t>
            </a:r>
          </a:p>
          <a:p>
            <a:r>
              <a:rPr lang="en-US" sz="1100" dirty="0"/>
              <a:t>Your institution</a:t>
            </a:r>
          </a:p>
          <a:p>
            <a:r>
              <a:rPr lang="en-US" sz="1100" dirty="0"/>
              <a:t>Your experience with climate and energy reporting</a:t>
            </a:r>
          </a:p>
          <a:p>
            <a:r>
              <a:rPr lang="en-US" sz="1100" dirty="0"/>
              <a:t>Your favorite month of the year</a:t>
            </a:r>
          </a:p>
          <a:p>
            <a:pPr marL="0" indent="0">
              <a:buNone/>
            </a:pPr>
            <a:endParaRPr lang="en-DK" sz="1100" dirty="0"/>
          </a:p>
        </p:txBody>
      </p:sp>
    </p:spTree>
    <p:extLst>
      <p:ext uri="{BB962C8B-B14F-4D97-AF65-F5344CB8AC3E}">
        <p14:creationId xmlns:p14="http://schemas.microsoft.com/office/powerpoint/2010/main" val="4203424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6CB42-76DC-B505-9743-8BAA5AE99E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E2F935-8355-24E0-97AB-8191AF7AFDDB}"/>
              </a:ext>
            </a:extLst>
          </p:cNvPr>
          <p:cNvSpPr txBox="1"/>
          <p:nvPr/>
        </p:nvSpPr>
        <p:spPr>
          <a:xfrm>
            <a:off x="1844411" y="1495199"/>
            <a:ext cx="8505825" cy="707886"/>
          </a:xfrm>
          <a:prstGeom prst="rect">
            <a:avLst/>
          </a:prstGeom>
          <a:noFill/>
        </p:spPr>
        <p:txBody>
          <a:bodyPr wrap="square" lIns="91440" tIns="45720" rIns="91440" bIns="45720" rtlCol="0" anchor="t">
            <a:spAutoFit/>
          </a:bodyPr>
          <a:lstStyle/>
          <a:p>
            <a:pPr algn="ctr"/>
            <a:r>
              <a:rPr lang="en-US" sz="4000" dirty="0">
                <a:solidFill>
                  <a:schemeClr val="bg1"/>
                </a:solidFill>
                <a:latin typeface="Calibri"/>
                <a:ea typeface="Calibri"/>
                <a:cs typeface="Calibri"/>
              </a:rPr>
              <a:t>The Governance Regulation</a:t>
            </a:r>
            <a:endParaRPr lang="en-US" dirty="0">
              <a:solidFill>
                <a:schemeClr val="bg1"/>
              </a:solidFill>
            </a:endParaRPr>
          </a:p>
        </p:txBody>
      </p:sp>
      <p:pic>
        <p:nvPicPr>
          <p:cNvPr id="2" name="Graphic 1" descr="Court outline">
            <a:extLst>
              <a:ext uri="{FF2B5EF4-FFF2-40B4-BE49-F238E27FC236}">
                <a16:creationId xmlns:a16="http://schemas.microsoft.com/office/drawing/2014/main" id="{94D4A6DD-4E64-79D4-59CA-8325AC9C55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53830" y="2379134"/>
            <a:ext cx="2092036" cy="2099733"/>
          </a:xfrm>
          <a:prstGeom prst="rect">
            <a:avLst/>
          </a:prstGeom>
        </p:spPr>
      </p:pic>
    </p:spTree>
    <p:extLst>
      <p:ext uri="{BB962C8B-B14F-4D97-AF65-F5344CB8AC3E}">
        <p14:creationId xmlns:p14="http://schemas.microsoft.com/office/powerpoint/2010/main" val="878653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155D-3C72-FB1B-19E6-FC6C391DA2DA}"/>
              </a:ext>
            </a:extLst>
          </p:cNvPr>
          <p:cNvSpPr>
            <a:spLocks noGrp="1"/>
          </p:cNvSpPr>
          <p:nvPr>
            <p:ph type="title"/>
          </p:nvPr>
        </p:nvSpPr>
        <p:spPr/>
        <p:txBody>
          <a:bodyPr/>
          <a:lstStyle/>
          <a:p>
            <a:r>
              <a:rPr lang="en-US" sz="4000" dirty="0">
                <a:solidFill>
                  <a:srgbClr val="007B6C"/>
                </a:solidFill>
                <a:latin typeface="Calibri Light"/>
                <a:cs typeface="Calibri"/>
              </a:rPr>
              <a:t>The Governance Regulation</a:t>
            </a:r>
          </a:p>
        </p:txBody>
      </p:sp>
      <p:sp>
        <p:nvSpPr>
          <p:cNvPr id="7" name="Content Placeholder 2">
            <a:extLst>
              <a:ext uri="{FF2B5EF4-FFF2-40B4-BE49-F238E27FC236}">
                <a16:creationId xmlns:a16="http://schemas.microsoft.com/office/drawing/2014/main" id="{60F1DCB2-2B31-BB2A-80E5-A9F099A2C1B8}"/>
              </a:ext>
            </a:extLst>
          </p:cNvPr>
          <p:cNvSpPr txBox="1">
            <a:spLocks/>
          </p:cNvSpPr>
          <p:nvPr/>
        </p:nvSpPr>
        <p:spPr>
          <a:xfrm>
            <a:off x="532437" y="1496333"/>
            <a:ext cx="10821363" cy="4662376"/>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000" dirty="0">
                <a:solidFill>
                  <a:srgbClr val="000000"/>
                </a:solidFill>
                <a:latin typeface="Calibri"/>
                <a:cs typeface="Calibri"/>
              </a:rPr>
              <a:t>The Governance Regulation (</a:t>
            </a:r>
            <a:r>
              <a:rPr lang="en-GB" sz="2000" dirty="0" err="1">
                <a:solidFill>
                  <a:srgbClr val="000000"/>
                </a:solidFill>
                <a:latin typeface="Calibri"/>
                <a:cs typeface="Calibri"/>
              </a:rPr>
              <a:t>GovReg</a:t>
            </a:r>
            <a:r>
              <a:rPr lang="en-GB" sz="2000" dirty="0">
                <a:solidFill>
                  <a:srgbClr val="000000"/>
                </a:solidFill>
                <a:latin typeface="Calibri"/>
                <a:cs typeface="Calibri"/>
              </a:rPr>
              <a:t>), in force since 2018, b</a:t>
            </a:r>
            <a:r>
              <a:rPr lang="en-SE" sz="2000" dirty="0">
                <a:solidFill>
                  <a:srgbClr val="000000"/>
                </a:solidFill>
                <a:latin typeface="Calibri"/>
                <a:cs typeface="Calibri"/>
              </a:rPr>
              <a:t>uilds on previous pieces of legislation (the </a:t>
            </a:r>
            <a:r>
              <a:rPr lang="en-GB" sz="2000" dirty="0">
                <a:solidFill>
                  <a:srgbClr val="000000"/>
                </a:solidFill>
                <a:latin typeface="Calibri"/>
                <a:cs typeface="Calibri"/>
              </a:rPr>
              <a:t>Monitoring Mechanism Regulation (MMR), which replaced the Monitoring Mechanism Decision (MMD)</a:t>
            </a:r>
            <a:r>
              <a:rPr lang="en-SE" sz="2000" dirty="0">
                <a:solidFill>
                  <a:srgbClr val="000000"/>
                </a:solidFill>
                <a:latin typeface="Calibri"/>
                <a:cs typeface="Calibri"/>
              </a:rPr>
              <a:t>).</a:t>
            </a:r>
            <a:endParaRPr lang="en-GB" sz="2000" dirty="0">
              <a:solidFill>
                <a:srgbClr val="000000"/>
              </a:solidFill>
              <a:latin typeface="Calibri"/>
              <a:cs typeface="Calibri"/>
            </a:endParaRPr>
          </a:p>
          <a:p>
            <a:endParaRPr lang="en-GB" sz="2000" dirty="0">
              <a:solidFill>
                <a:srgbClr val="000000"/>
              </a:solidFill>
              <a:latin typeface="Calibri"/>
              <a:cs typeface="Calibri"/>
            </a:endParaRPr>
          </a:p>
          <a:p>
            <a:r>
              <a:rPr lang="en-GB" sz="2000" dirty="0">
                <a:solidFill>
                  <a:srgbClr val="000000"/>
                </a:solidFill>
                <a:latin typeface="Calibri"/>
                <a:cs typeface="Calibri"/>
              </a:rPr>
              <a:t>The </a:t>
            </a:r>
            <a:r>
              <a:rPr lang="en-GB" sz="2000" dirty="0" err="1">
                <a:solidFill>
                  <a:srgbClr val="000000"/>
                </a:solidFill>
                <a:latin typeface="Calibri"/>
                <a:cs typeface="Calibri"/>
              </a:rPr>
              <a:t>GovReg</a:t>
            </a:r>
            <a:r>
              <a:rPr lang="en-GB" sz="2000" dirty="0">
                <a:solidFill>
                  <a:srgbClr val="000000"/>
                </a:solidFill>
                <a:latin typeface="Calibri"/>
                <a:cs typeface="Calibri"/>
              </a:rPr>
              <a:t> stands on two legs: one planning and one reporting leg. </a:t>
            </a:r>
            <a:endParaRPr lang="en-US" sz="2000" b="1"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r>
              <a:rPr lang="en-GB" sz="1600" u="sng" dirty="0">
                <a:solidFill>
                  <a:srgbClr val="000000"/>
                </a:solidFill>
                <a:latin typeface="Calibri"/>
                <a:cs typeface="Calibri"/>
              </a:rPr>
              <a:t>Legal basis:</a:t>
            </a:r>
            <a:r>
              <a:rPr lang="en-GB" sz="1600" dirty="0">
                <a:solidFill>
                  <a:srgbClr val="000000"/>
                </a:solidFill>
                <a:latin typeface="Calibri"/>
                <a:cs typeface="Calibri"/>
              </a:rPr>
              <a:t> Governance Regulation 2018/1999, and its two Implementing Regulations 2020/1208 and 2022/2299.</a:t>
            </a:r>
            <a:endParaRPr lang="en-GB" sz="1600" dirty="0">
              <a:solidFill>
                <a:srgbClr val="000000"/>
              </a:solidFill>
              <a:latin typeface="Calibri"/>
              <a:ea typeface="Calibri"/>
              <a:cs typeface="Calibri"/>
            </a:endParaRPr>
          </a:p>
          <a:p>
            <a:endParaRPr lang="en-GB" sz="2400" dirty="0">
              <a:solidFill>
                <a:srgbClr val="000000"/>
              </a:solidFill>
              <a:latin typeface="Calibri"/>
              <a:cs typeface="Calibri"/>
            </a:endParaRPr>
          </a:p>
          <a:p>
            <a:pPr algn="just"/>
            <a:endParaRPr lang="en-GB" sz="2400" b="1" dirty="0">
              <a:solidFill>
                <a:srgbClr val="000000"/>
              </a:solidFill>
              <a:latin typeface="Calibri"/>
              <a:cs typeface="Calibri"/>
            </a:endParaRPr>
          </a:p>
        </p:txBody>
      </p:sp>
      <p:pic>
        <p:nvPicPr>
          <p:cNvPr id="2050" name="Picture 2" descr="Plan icon PNG and SVG Vector Free Download">
            <a:extLst>
              <a:ext uri="{FF2B5EF4-FFF2-40B4-BE49-F238E27FC236}">
                <a16:creationId xmlns:a16="http://schemas.microsoft.com/office/drawing/2014/main" id="{F73B2E2D-A13F-F810-C7D6-4384ED621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3942" y="3355816"/>
            <a:ext cx="1052035" cy="132556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port icons for free download | Freepik">
            <a:extLst>
              <a:ext uri="{FF2B5EF4-FFF2-40B4-BE49-F238E27FC236}">
                <a16:creationId xmlns:a16="http://schemas.microsoft.com/office/drawing/2014/main" id="{9B5A1FAB-20AF-B348-C921-C4798007AE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3463" y="3355817"/>
            <a:ext cx="1325564" cy="132556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C02E3EF-94D0-7D82-C719-DC8472458321}"/>
              </a:ext>
            </a:extLst>
          </p:cNvPr>
          <p:cNvSpPr txBox="1"/>
          <p:nvPr/>
        </p:nvSpPr>
        <p:spPr>
          <a:xfrm>
            <a:off x="838200" y="4763231"/>
            <a:ext cx="5166803" cy="1477328"/>
          </a:xfrm>
          <a:prstGeom prst="rect">
            <a:avLst/>
          </a:prstGeom>
          <a:noFill/>
        </p:spPr>
        <p:txBody>
          <a:bodyPr wrap="square" rtlCol="0">
            <a:spAutoFit/>
          </a:bodyPr>
          <a:lstStyle/>
          <a:p>
            <a:r>
              <a:rPr lang="en-GB" sz="1800" b="1" dirty="0">
                <a:solidFill>
                  <a:srgbClr val="000000"/>
                </a:solidFill>
                <a:latin typeface="Calibri"/>
                <a:cs typeface="Calibri"/>
              </a:rPr>
              <a:t>Planning:</a:t>
            </a:r>
            <a:r>
              <a:rPr lang="en-GB" b="1" dirty="0">
                <a:solidFill>
                  <a:srgbClr val="000000"/>
                </a:solidFill>
                <a:latin typeface="Calibri"/>
                <a:cs typeface="Calibri"/>
              </a:rPr>
              <a:t> </a:t>
            </a:r>
            <a:r>
              <a:rPr lang="en-GB" dirty="0">
                <a:solidFill>
                  <a:srgbClr val="000000"/>
                </a:solidFill>
                <a:latin typeface="Calibri"/>
                <a:cs typeface="Calibri"/>
              </a:rPr>
              <a:t>The </a:t>
            </a:r>
            <a:r>
              <a:rPr lang="en-GB" sz="1800" dirty="0">
                <a:solidFill>
                  <a:srgbClr val="000000"/>
                </a:solidFill>
                <a:latin typeface="Calibri"/>
                <a:cs typeface="Calibri"/>
              </a:rPr>
              <a:t>EU 27 Member States have </a:t>
            </a:r>
            <a:r>
              <a:rPr lang="en-SE" sz="1800" dirty="0">
                <a:solidFill>
                  <a:srgbClr val="000000"/>
                </a:solidFill>
                <a:latin typeface="Calibri"/>
                <a:cs typeface="Calibri"/>
              </a:rPr>
              <a:t>prepare</a:t>
            </a:r>
            <a:r>
              <a:rPr lang="en-US" sz="1800" dirty="0">
                <a:solidFill>
                  <a:srgbClr val="000000"/>
                </a:solidFill>
                <a:latin typeface="Calibri"/>
                <a:cs typeface="Calibri"/>
              </a:rPr>
              <a:t>d</a:t>
            </a:r>
            <a:r>
              <a:rPr lang="en-SE" sz="1800" dirty="0">
                <a:solidFill>
                  <a:srgbClr val="000000"/>
                </a:solidFill>
                <a:latin typeface="Calibri"/>
                <a:cs typeface="Calibri"/>
              </a:rPr>
              <a:t> </a:t>
            </a:r>
            <a:r>
              <a:rPr lang="en-US" sz="1800" dirty="0">
                <a:solidFill>
                  <a:srgbClr val="000000"/>
                </a:solidFill>
                <a:latin typeface="Calibri"/>
                <a:cs typeface="Calibri"/>
              </a:rPr>
              <a:t>and submitted </a:t>
            </a:r>
            <a:r>
              <a:rPr lang="en-SE" sz="1800" dirty="0">
                <a:solidFill>
                  <a:srgbClr val="000000"/>
                </a:solidFill>
                <a:latin typeface="Calibri"/>
                <a:cs typeface="Calibri"/>
              </a:rPr>
              <a:t>their </a:t>
            </a:r>
            <a:r>
              <a:rPr lang="en-SE" sz="1800" b="1" dirty="0">
                <a:solidFill>
                  <a:srgbClr val="000000"/>
                </a:solidFill>
                <a:latin typeface="Calibri"/>
                <a:cs typeface="Calibri"/>
              </a:rPr>
              <a:t>National Energy and Climate Plans (</a:t>
            </a:r>
            <a:r>
              <a:rPr lang="en-SE" sz="1800" b="1" dirty="0" err="1">
                <a:solidFill>
                  <a:srgbClr val="000000"/>
                </a:solidFill>
                <a:latin typeface="Calibri"/>
                <a:cs typeface="Calibri"/>
              </a:rPr>
              <a:t>NECPs</a:t>
            </a:r>
            <a:r>
              <a:rPr lang="en-SE" sz="1800" b="1" dirty="0">
                <a:solidFill>
                  <a:srgbClr val="000000"/>
                </a:solidFill>
                <a:latin typeface="Calibri"/>
                <a:cs typeface="Calibri"/>
              </a:rPr>
              <a:t>)</a:t>
            </a:r>
            <a:r>
              <a:rPr lang="en-US" sz="1800" dirty="0">
                <a:solidFill>
                  <a:srgbClr val="000000"/>
                </a:solidFill>
                <a:latin typeface="Calibri"/>
                <a:cs typeface="Calibri"/>
              </a:rPr>
              <a:t>. The first drafts were due in 2018, and they were updated in 2023.</a:t>
            </a:r>
            <a:r>
              <a:rPr lang="en-SE" sz="1800" b="1" dirty="0">
                <a:solidFill>
                  <a:srgbClr val="000000"/>
                </a:solidFill>
                <a:latin typeface="Calibri"/>
                <a:cs typeface="Calibri"/>
              </a:rPr>
              <a:t> </a:t>
            </a:r>
            <a:endParaRPr lang="en-US" sz="1800" b="1" dirty="0">
              <a:solidFill>
                <a:srgbClr val="000000"/>
              </a:solidFill>
              <a:latin typeface="Calibri"/>
              <a:cs typeface="Calibri"/>
            </a:endParaRPr>
          </a:p>
          <a:p>
            <a:endParaRPr lang="en-DK" dirty="0"/>
          </a:p>
        </p:txBody>
      </p:sp>
      <p:sp>
        <p:nvSpPr>
          <p:cNvPr id="4" name="TextBox 3">
            <a:extLst>
              <a:ext uri="{FF2B5EF4-FFF2-40B4-BE49-F238E27FC236}">
                <a16:creationId xmlns:a16="http://schemas.microsoft.com/office/drawing/2014/main" id="{EF0E10EF-D317-F465-BADF-641A42AAECB6}"/>
              </a:ext>
            </a:extLst>
          </p:cNvPr>
          <p:cNvSpPr txBox="1"/>
          <p:nvPr/>
        </p:nvSpPr>
        <p:spPr>
          <a:xfrm>
            <a:off x="6232124" y="4763231"/>
            <a:ext cx="5166803" cy="1200329"/>
          </a:xfrm>
          <a:prstGeom prst="rect">
            <a:avLst/>
          </a:prstGeom>
          <a:noFill/>
        </p:spPr>
        <p:txBody>
          <a:bodyPr wrap="square" rtlCol="0">
            <a:spAutoFit/>
          </a:bodyPr>
          <a:lstStyle/>
          <a:p>
            <a:r>
              <a:rPr lang="en-US" sz="1800" b="1" dirty="0">
                <a:solidFill>
                  <a:srgbClr val="000000"/>
                </a:solidFill>
                <a:latin typeface="Calibri"/>
                <a:cs typeface="Calibri"/>
              </a:rPr>
              <a:t>Reporting: </a:t>
            </a:r>
            <a:r>
              <a:rPr lang="en-US" sz="1800" dirty="0">
                <a:solidFill>
                  <a:srgbClr val="000000"/>
                </a:solidFill>
                <a:latin typeface="Calibri"/>
                <a:cs typeface="Calibri"/>
              </a:rPr>
              <a:t>Every two years, the MS submit progress reports towards their NECPs. These are the National Energy and Climate Progress Reports (NECPRs).</a:t>
            </a:r>
            <a:r>
              <a:rPr lang="en-SE" sz="1800" b="1" dirty="0">
                <a:solidFill>
                  <a:srgbClr val="000000"/>
                </a:solidFill>
                <a:latin typeface="Calibri"/>
                <a:cs typeface="Calibri"/>
              </a:rPr>
              <a:t> </a:t>
            </a:r>
            <a:endParaRPr lang="en-US" sz="1800" b="1" dirty="0">
              <a:solidFill>
                <a:srgbClr val="000000"/>
              </a:solidFill>
              <a:latin typeface="Calibri"/>
              <a:cs typeface="Calibri"/>
            </a:endParaRPr>
          </a:p>
          <a:p>
            <a:endParaRPr lang="en-DK" dirty="0"/>
          </a:p>
        </p:txBody>
      </p:sp>
      <p:sp>
        <p:nvSpPr>
          <p:cNvPr id="5" name="Oval 4">
            <a:extLst>
              <a:ext uri="{FF2B5EF4-FFF2-40B4-BE49-F238E27FC236}">
                <a16:creationId xmlns:a16="http://schemas.microsoft.com/office/drawing/2014/main" id="{5CA39EE2-C8BF-0B43-D9F6-087EB04BCA19}"/>
              </a:ext>
            </a:extLst>
          </p:cNvPr>
          <p:cNvSpPr/>
          <p:nvPr/>
        </p:nvSpPr>
        <p:spPr>
          <a:xfrm>
            <a:off x="5814873" y="3240350"/>
            <a:ext cx="5726097" cy="30002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362509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155D-3C72-FB1B-19E6-FC6C391DA2DA}"/>
              </a:ext>
            </a:extLst>
          </p:cNvPr>
          <p:cNvSpPr>
            <a:spLocks noGrp="1"/>
          </p:cNvSpPr>
          <p:nvPr>
            <p:ph type="title"/>
          </p:nvPr>
        </p:nvSpPr>
        <p:spPr/>
        <p:txBody>
          <a:bodyPr/>
          <a:lstStyle/>
          <a:p>
            <a:r>
              <a:rPr lang="en-US" sz="4000" dirty="0">
                <a:solidFill>
                  <a:srgbClr val="007B6C"/>
                </a:solidFill>
                <a:latin typeface="Calibri Light"/>
                <a:cs typeface="Calibri"/>
              </a:rPr>
              <a:t>The adapted Governance Regulation</a:t>
            </a:r>
          </a:p>
        </p:txBody>
      </p:sp>
      <p:sp>
        <p:nvSpPr>
          <p:cNvPr id="7" name="Content Placeholder 2">
            <a:extLst>
              <a:ext uri="{FF2B5EF4-FFF2-40B4-BE49-F238E27FC236}">
                <a16:creationId xmlns:a16="http://schemas.microsoft.com/office/drawing/2014/main" id="{60F1DCB2-2B31-BB2A-80E5-A9F099A2C1B8}"/>
              </a:ext>
            </a:extLst>
          </p:cNvPr>
          <p:cNvSpPr txBox="1">
            <a:spLocks/>
          </p:cNvSpPr>
          <p:nvPr/>
        </p:nvSpPr>
        <p:spPr>
          <a:xfrm>
            <a:off x="532437" y="1496333"/>
            <a:ext cx="10821363" cy="1770650"/>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SE" sz="2000" dirty="0">
                <a:solidFill>
                  <a:srgbClr val="000000"/>
                </a:solidFill>
                <a:latin typeface="Calibri"/>
                <a:cs typeface="Calibri"/>
              </a:rPr>
              <a:t>The </a:t>
            </a:r>
            <a:r>
              <a:rPr lang="en-US" sz="2000" dirty="0">
                <a:solidFill>
                  <a:srgbClr val="000000"/>
                </a:solidFill>
                <a:latin typeface="Calibri"/>
                <a:cs typeface="Calibri"/>
              </a:rPr>
              <a:t>Ministerial Council </a:t>
            </a:r>
            <a:r>
              <a:rPr lang="en-SE" sz="2000" dirty="0">
                <a:solidFill>
                  <a:srgbClr val="000000"/>
                </a:solidFill>
                <a:latin typeface="Calibri"/>
                <a:cs typeface="Calibri"/>
              </a:rPr>
              <a:t>of the Energy Community </a:t>
            </a:r>
            <a:r>
              <a:rPr lang="en-US" sz="2000" dirty="0">
                <a:solidFill>
                  <a:srgbClr val="000000"/>
                </a:solidFill>
                <a:latin typeface="Calibri"/>
                <a:cs typeface="Calibri"/>
              </a:rPr>
              <a:t>on 30 November 2021 </a:t>
            </a:r>
            <a:r>
              <a:rPr lang="en-SE" sz="2000" dirty="0">
                <a:solidFill>
                  <a:srgbClr val="000000"/>
                </a:solidFill>
                <a:latin typeface="Calibri"/>
                <a:cs typeface="Calibri"/>
              </a:rPr>
              <a:t>adapted and incorporated the </a:t>
            </a:r>
            <a:r>
              <a:rPr lang="en-SE" sz="2000" dirty="0" err="1">
                <a:solidFill>
                  <a:srgbClr val="000000"/>
                </a:solidFill>
                <a:latin typeface="Calibri"/>
                <a:cs typeface="Calibri"/>
              </a:rPr>
              <a:t>GovReg</a:t>
            </a:r>
            <a:r>
              <a:rPr lang="en-SE" sz="2000" dirty="0">
                <a:solidFill>
                  <a:srgbClr val="000000"/>
                </a:solidFill>
                <a:latin typeface="Calibri"/>
                <a:cs typeface="Calibri"/>
              </a:rPr>
              <a:t> in the acquis Communautaire.</a:t>
            </a:r>
            <a:endParaRPr lang="en-US" sz="2000" dirty="0">
              <a:solidFill>
                <a:srgbClr val="000000"/>
              </a:solidFill>
              <a:latin typeface="Calibri"/>
              <a:cs typeface="Calibri"/>
            </a:endParaRPr>
          </a:p>
          <a:p>
            <a:endParaRPr lang="en-GB" sz="2000" dirty="0">
              <a:solidFill>
                <a:srgbClr val="000000"/>
              </a:solidFill>
              <a:latin typeface="Calibri"/>
              <a:cs typeface="Calibri"/>
            </a:endParaRPr>
          </a:p>
          <a:p>
            <a:pPr>
              <a:lnSpc>
                <a:spcPct val="100000"/>
              </a:lnSpc>
            </a:pPr>
            <a:r>
              <a:rPr lang="en-SE" sz="2000" dirty="0">
                <a:solidFill>
                  <a:srgbClr val="000000"/>
                </a:solidFill>
                <a:latin typeface="Calibri"/>
                <a:cs typeface="Calibri"/>
              </a:rPr>
              <a:t>Gradual implementation, with the first reporting obligations entering in 2023. </a:t>
            </a:r>
            <a:r>
              <a:rPr lang="en-US" sz="2000" dirty="0">
                <a:solidFill>
                  <a:srgbClr val="000000"/>
                </a:solidFill>
                <a:latin typeface="Calibri"/>
                <a:cs typeface="Calibri"/>
              </a:rPr>
              <a:t>The draft Integrated NECPs were due on the 30 June 2023.</a:t>
            </a:r>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endParaRPr lang="en-GB" sz="2000" dirty="0">
              <a:solidFill>
                <a:srgbClr val="000000"/>
              </a:solidFill>
              <a:latin typeface="Calibri"/>
              <a:cs typeface="Calibri"/>
            </a:endParaRPr>
          </a:p>
          <a:p>
            <a:r>
              <a:rPr lang="en-GB" sz="1600" dirty="0">
                <a:solidFill>
                  <a:srgbClr val="000000"/>
                </a:solidFill>
                <a:latin typeface="Calibri"/>
                <a:cs typeface="Calibri"/>
              </a:rPr>
              <a:t>.</a:t>
            </a:r>
            <a:endParaRPr lang="en-GB" sz="1600" dirty="0">
              <a:solidFill>
                <a:srgbClr val="000000"/>
              </a:solidFill>
              <a:latin typeface="Calibri"/>
              <a:ea typeface="Calibri"/>
              <a:cs typeface="Calibri"/>
            </a:endParaRPr>
          </a:p>
          <a:p>
            <a:endParaRPr lang="en-GB" sz="2400" dirty="0">
              <a:solidFill>
                <a:srgbClr val="000000"/>
              </a:solidFill>
              <a:latin typeface="Calibri"/>
              <a:cs typeface="Calibri"/>
            </a:endParaRPr>
          </a:p>
          <a:p>
            <a:pPr algn="just"/>
            <a:endParaRPr lang="en-GB" sz="2400" b="1" dirty="0">
              <a:solidFill>
                <a:srgbClr val="000000"/>
              </a:solidFill>
              <a:latin typeface="Calibri"/>
              <a:cs typeface="Calibri"/>
            </a:endParaRPr>
          </a:p>
        </p:txBody>
      </p:sp>
    </p:spTree>
    <p:extLst>
      <p:ext uri="{BB962C8B-B14F-4D97-AF65-F5344CB8AC3E}">
        <p14:creationId xmlns:p14="http://schemas.microsoft.com/office/powerpoint/2010/main" val="139061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5DAC5D9-BCBF-25D3-F678-39917DE909BE}"/>
              </a:ext>
            </a:extLst>
          </p:cNvPr>
          <p:cNvSpPr txBox="1"/>
          <p:nvPr/>
        </p:nvSpPr>
        <p:spPr>
          <a:xfrm>
            <a:off x="230507" y="3252406"/>
            <a:ext cx="4329964" cy="923330"/>
          </a:xfrm>
          <a:prstGeom prst="rect">
            <a:avLst/>
          </a:prstGeom>
          <a:solidFill>
            <a:schemeClr val="accent2">
              <a:lumMod val="20000"/>
              <a:lumOff val="80000"/>
            </a:schemeClr>
          </a:solidFill>
          <a:ln w="12700">
            <a:solidFill>
              <a:schemeClr val="accent1"/>
            </a:solidFill>
          </a:ln>
        </p:spPr>
        <p:txBody>
          <a:bodyPr wrap="square" rtlCol="0">
            <a:spAutoFit/>
          </a:bodyPr>
          <a:lstStyle/>
          <a:p>
            <a:r>
              <a:rPr lang="en-US" b="1" dirty="0">
                <a:solidFill>
                  <a:schemeClr val="accent1">
                    <a:lumMod val="50000"/>
                  </a:schemeClr>
                </a:solidFill>
              </a:rPr>
              <a:t>Mitigation</a:t>
            </a:r>
            <a:endParaRPr lang="en-SE" sz="800" b="1" dirty="0">
              <a:solidFill>
                <a:schemeClr val="accent1">
                  <a:lumMod val="50000"/>
                </a:schemeClr>
              </a:solidFill>
            </a:endParaRPr>
          </a:p>
          <a:p>
            <a:r>
              <a:rPr lang="sv-SE" u="sng" dirty="0">
                <a:solidFill>
                  <a:schemeClr val="accent1">
                    <a:lumMod val="50000"/>
                  </a:schemeClr>
                </a:solidFill>
              </a:rPr>
              <a:t>15 March:</a:t>
            </a:r>
            <a:r>
              <a:rPr lang="sv-SE" dirty="0">
                <a:solidFill>
                  <a:schemeClr val="accent1">
                    <a:lumMod val="50000"/>
                  </a:schemeClr>
                </a:solidFill>
              </a:rPr>
              <a:t> GHG Policies and Measures (PaMs)&amp; reporting on the National System</a:t>
            </a:r>
          </a:p>
        </p:txBody>
      </p:sp>
      <p:cxnSp>
        <p:nvCxnSpPr>
          <p:cNvPr id="13" name="Straight Connector 12">
            <a:extLst>
              <a:ext uri="{FF2B5EF4-FFF2-40B4-BE49-F238E27FC236}">
                <a16:creationId xmlns:a16="http://schemas.microsoft.com/office/drawing/2014/main" id="{7D096A58-E780-B1C3-5913-2DC2CBC3C06E}"/>
              </a:ext>
            </a:extLst>
          </p:cNvPr>
          <p:cNvCxnSpPr>
            <a:cxnSpLocks/>
          </p:cNvCxnSpPr>
          <p:nvPr/>
        </p:nvCxnSpPr>
        <p:spPr>
          <a:xfrm>
            <a:off x="297014" y="1643782"/>
            <a:ext cx="11574043" cy="17064"/>
          </a:xfrm>
          <a:prstGeom prst="line">
            <a:avLst/>
          </a:prstGeom>
          <a:ln w="222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4616F01-726D-28B8-1F22-4D262F0DC1D8}"/>
              </a:ext>
            </a:extLst>
          </p:cNvPr>
          <p:cNvSpPr txBox="1"/>
          <p:nvPr/>
        </p:nvSpPr>
        <p:spPr>
          <a:xfrm>
            <a:off x="1647850" y="1467491"/>
            <a:ext cx="956321" cy="461665"/>
          </a:xfrm>
          <a:prstGeom prst="rect">
            <a:avLst/>
          </a:prstGeom>
          <a:solidFill>
            <a:schemeClr val="bg1"/>
          </a:solidFill>
        </p:spPr>
        <p:txBody>
          <a:bodyPr wrap="square" rtlCol="0">
            <a:spAutoFit/>
          </a:bodyPr>
          <a:lstStyle/>
          <a:p>
            <a:r>
              <a:rPr lang="en-SE" sz="2400" b="1" dirty="0">
                <a:solidFill>
                  <a:schemeClr val="accent1">
                    <a:lumMod val="50000"/>
                  </a:schemeClr>
                </a:solidFill>
              </a:rPr>
              <a:t> 202</a:t>
            </a:r>
            <a:r>
              <a:rPr lang="en-US" sz="2400" b="1" dirty="0">
                <a:solidFill>
                  <a:schemeClr val="accent1">
                    <a:lumMod val="50000"/>
                  </a:schemeClr>
                </a:solidFill>
              </a:rPr>
              <a:t>3</a:t>
            </a:r>
            <a:endParaRPr lang="en-DK" sz="2400" b="1" dirty="0">
              <a:solidFill>
                <a:schemeClr val="accent1">
                  <a:lumMod val="50000"/>
                </a:schemeClr>
              </a:solidFill>
            </a:endParaRPr>
          </a:p>
        </p:txBody>
      </p:sp>
      <p:sp>
        <p:nvSpPr>
          <p:cNvPr id="16" name="TextBox 15">
            <a:extLst>
              <a:ext uri="{FF2B5EF4-FFF2-40B4-BE49-F238E27FC236}">
                <a16:creationId xmlns:a16="http://schemas.microsoft.com/office/drawing/2014/main" id="{31EA03DA-0CD9-1B95-5DD5-59DA2B0F5523}"/>
              </a:ext>
            </a:extLst>
          </p:cNvPr>
          <p:cNvSpPr txBox="1"/>
          <p:nvPr/>
        </p:nvSpPr>
        <p:spPr>
          <a:xfrm>
            <a:off x="4580526" y="1486330"/>
            <a:ext cx="956321" cy="461665"/>
          </a:xfrm>
          <a:prstGeom prst="rect">
            <a:avLst/>
          </a:prstGeom>
          <a:solidFill>
            <a:schemeClr val="bg1"/>
          </a:solidFill>
        </p:spPr>
        <p:txBody>
          <a:bodyPr wrap="square" rtlCol="0">
            <a:spAutoFit/>
          </a:bodyPr>
          <a:lstStyle/>
          <a:p>
            <a:r>
              <a:rPr lang="en-SE" sz="2400" b="1" dirty="0">
                <a:solidFill>
                  <a:schemeClr val="accent1">
                    <a:lumMod val="50000"/>
                  </a:schemeClr>
                </a:solidFill>
              </a:rPr>
              <a:t> 202</a:t>
            </a:r>
            <a:r>
              <a:rPr lang="en-US" sz="2400" b="1" dirty="0">
                <a:solidFill>
                  <a:schemeClr val="accent1">
                    <a:lumMod val="50000"/>
                  </a:schemeClr>
                </a:solidFill>
              </a:rPr>
              <a:t>5</a:t>
            </a:r>
            <a:endParaRPr lang="en-DK" sz="2400" b="1" dirty="0">
              <a:solidFill>
                <a:schemeClr val="accent1">
                  <a:lumMod val="50000"/>
                </a:schemeClr>
              </a:solidFill>
            </a:endParaRPr>
          </a:p>
        </p:txBody>
      </p:sp>
      <p:sp>
        <p:nvSpPr>
          <p:cNvPr id="4" name="TextBox 3">
            <a:extLst>
              <a:ext uri="{FF2B5EF4-FFF2-40B4-BE49-F238E27FC236}">
                <a16:creationId xmlns:a16="http://schemas.microsoft.com/office/drawing/2014/main" id="{A1E2B79D-50A2-6EE9-94B0-E75F2FC7A956}"/>
              </a:ext>
            </a:extLst>
          </p:cNvPr>
          <p:cNvSpPr txBox="1"/>
          <p:nvPr/>
        </p:nvSpPr>
        <p:spPr>
          <a:xfrm>
            <a:off x="230508" y="5886707"/>
            <a:ext cx="4329964" cy="923330"/>
          </a:xfrm>
          <a:prstGeom prst="rect">
            <a:avLst/>
          </a:prstGeom>
          <a:solidFill>
            <a:schemeClr val="accent4">
              <a:lumMod val="20000"/>
              <a:lumOff val="80000"/>
            </a:schemeClr>
          </a:solidFill>
          <a:ln w="12700">
            <a:solidFill>
              <a:schemeClr val="accent1"/>
            </a:solidFill>
          </a:ln>
        </p:spPr>
        <p:txBody>
          <a:bodyPr wrap="square" rtlCol="0">
            <a:spAutoFit/>
          </a:bodyPr>
          <a:lstStyle/>
          <a:p>
            <a:r>
              <a:rPr lang="en-US" b="1" dirty="0">
                <a:solidFill>
                  <a:schemeClr val="accent1">
                    <a:lumMod val="50000"/>
                  </a:schemeClr>
                </a:solidFill>
              </a:rPr>
              <a:t>Climate Finance</a:t>
            </a:r>
          </a:p>
          <a:p>
            <a:r>
              <a:rPr lang="en-SE" u="sng" dirty="0">
                <a:solidFill>
                  <a:schemeClr val="accent1">
                    <a:lumMod val="50000"/>
                  </a:schemeClr>
                </a:solidFill>
              </a:rPr>
              <a:t>31 July</a:t>
            </a:r>
            <a:r>
              <a:rPr lang="en-US" u="sng" dirty="0">
                <a:solidFill>
                  <a:schemeClr val="accent1">
                    <a:lumMod val="50000"/>
                  </a:schemeClr>
                </a:solidFill>
              </a:rPr>
              <a:t>: </a:t>
            </a:r>
            <a:r>
              <a:rPr lang="en-SE" dirty="0">
                <a:solidFill>
                  <a:schemeClr val="accent1">
                    <a:lumMod val="50000"/>
                  </a:schemeClr>
                </a:solidFill>
              </a:rPr>
              <a:t>Use of any revenues generated from carbon price mechanisms</a:t>
            </a:r>
            <a:endParaRPr lang="en-US" u="sng" dirty="0">
              <a:solidFill>
                <a:schemeClr val="accent1">
                  <a:lumMod val="50000"/>
                </a:schemeClr>
              </a:solidFill>
            </a:endParaRPr>
          </a:p>
        </p:txBody>
      </p:sp>
      <p:sp>
        <p:nvSpPr>
          <p:cNvPr id="5" name="TextBox 4">
            <a:extLst>
              <a:ext uri="{FF2B5EF4-FFF2-40B4-BE49-F238E27FC236}">
                <a16:creationId xmlns:a16="http://schemas.microsoft.com/office/drawing/2014/main" id="{5409F329-DCD8-A8A0-6685-AD6789CB8A6D}"/>
              </a:ext>
            </a:extLst>
          </p:cNvPr>
          <p:cNvSpPr txBox="1"/>
          <p:nvPr/>
        </p:nvSpPr>
        <p:spPr>
          <a:xfrm>
            <a:off x="230508" y="4865924"/>
            <a:ext cx="4329964" cy="923330"/>
          </a:xfrm>
          <a:prstGeom prst="rect">
            <a:avLst/>
          </a:prstGeom>
          <a:solidFill>
            <a:srgbClr val="F8FED4"/>
          </a:solidFill>
          <a:ln w="12700">
            <a:solidFill>
              <a:schemeClr val="accent1"/>
            </a:solidFill>
          </a:ln>
        </p:spPr>
        <p:txBody>
          <a:bodyPr wrap="square" rtlCol="0">
            <a:spAutoFit/>
          </a:bodyPr>
          <a:lstStyle/>
          <a:p>
            <a:r>
              <a:rPr lang="en-US" b="1" dirty="0">
                <a:solidFill>
                  <a:schemeClr val="accent1">
                    <a:lumMod val="50000"/>
                  </a:schemeClr>
                </a:solidFill>
              </a:rPr>
              <a:t>Adaptation</a:t>
            </a:r>
            <a:endParaRPr lang="en-SE" sz="800" b="1" dirty="0">
              <a:solidFill>
                <a:schemeClr val="accent1">
                  <a:lumMod val="50000"/>
                </a:schemeClr>
              </a:solidFill>
            </a:endParaRPr>
          </a:p>
          <a:p>
            <a:r>
              <a:rPr lang="sv-SE" u="sng" dirty="0">
                <a:solidFill>
                  <a:schemeClr val="accent1">
                    <a:lumMod val="50000"/>
                  </a:schemeClr>
                </a:solidFill>
              </a:rPr>
              <a:t>15 March:</a:t>
            </a:r>
            <a:r>
              <a:rPr lang="sv-SE" dirty="0">
                <a:solidFill>
                  <a:schemeClr val="accent1">
                    <a:lumMod val="50000"/>
                  </a:schemeClr>
                </a:solidFill>
              </a:rPr>
              <a:t> </a:t>
            </a:r>
            <a:r>
              <a:rPr lang="en-US" dirty="0">
                <a:solidFill>
                  <a:schemeClr val="accent1">
                    <a:lumMod val="50000"/>
                  </a:schemeClr>
                </a:solidFill>
              </a:rPr>
              <a:t>National adaptation plans and strategies</a:t>
            </a:r>
          </a:p>
        </p:txBody>
      </p:sp>
      <p:grpSp>
        <p:nvGrpSpPr>
          <p:cNvPr id="19" name="Group 18">
            <a:extLst>
              <a:ext uri="{FF2B5EF4-FFF2-40B4-BE49-F238E27FC236}">
                <a16:creationId xmlns:a16="http://schemas.microsoft.com/office/drawing/2014/main" id="{B2CF2534-FCB2-F038-7F87-DD0BDF4FE9E4}"/>
              </a:ext>
            </a:extLst>
          </p:cNvPr>
          <p:cNvGrpSpPr/>
          <p:nvPr/>
        </p:nvGrpSpPr>
        <p:grpSpPr>
          <a:xfrm>
            <a:off x="4389120" y="210474"/>
            <a:ext cx="7505866" cy="1384995"/>
            <a:chOff x="3986981" y="119251"/>
            <a:chExt cx="7505866" cy="1384995"/>
          </a:xfrm>
        </p:grpSpPr>
        <p:sp>
          <p:nvSpPr>
            <p:cNvPr id="15" name="TextBox 14">
              <a:extLst>
                <a:ext uri="{FF2B5EF4-FFF2-40B4-BE49-F238E27FC236}">
                  <a16:creationId xmlns:a16="http://schemas.microsoft.com/office/drawing/2014/main" id="{A68E4957-082D-2A04-3223-C067E8B1790A}"/>
                </a:ext>
              </a:extLst>
            </p:cNvPr>
            <p:cNvSpPr txBox="1"/>
            <p:nvPr/>
          </p:nvSpPr>
          <p:spPr>
            <a:xfrm>
              <a:off x="9703860" y="119251"/>
              <a:ext cx="1788987" cy="923330"/>
            </a:xfrm>
            <a:prstGeom prst="rect">
              <a:avLst/>
            </a:prstGeom>
            <a:solidFill>
              <a:srgbClr val="FFC000"/>
            </a:solidFill>
            <a:ln w="12700">
              <a:solidFill>
                <a:schemeClr val="accent1"/>
              </a:solidFill>
            </a:ln>
          </p:spPr>
          <p:txBody>
            <a:bodyPr wrap="square" rtlCol="0">
              <a:spAutoFit/>
            </a:bodyPr>
            <a:lstStyle/>
            <a:p>
              <a:r>
                <a:rPr lang="en-US" b="1" dirty="0">
                  <a:solidFill>
                    <a:schemeClr val="accent1">
                      <a:lumMod val="50000"/>
                    </a:schemeClr>
                  </a:solidFill>
                </a:rPr>
                <a:t>End of 2024:</a:t>
              </a:r>
            </a:p>
            <a:p>
              <a:r>
                <a:rPr lang="en-US" dirty="0">
                  <a:solidFill>
                    <a:schemeClr val="accent1">
                      <a:lumMod val="50000"/>
                    </a:schemeClr>
                  </a:solidFill>
                </a:rPr>
                <a:t>UNFCCC BTR deadline</a:t>
              </a:r>
              <a:endParaRPr lang="en-DK" dirty="0"/>
            </a:p>
          </p:txBody>
        </p:sp>
        <p:cxnSp>
          <p:nvCxnSpPr>
            <p:cNvPr id="18" name="Straight Arrow Connector 17">
              <a:extLst>
                <a:ext uri="{FF2B5EF4-FFF2-40B4-BE49-F238E27FC236}">
                  <a16:creationId xmlns:a16="http://schemas.microsoft.com/office/drawing/2014/main" id="{C7629E1B-B51D-CDF8-F560-F98E86A10D0F}"/>
                </a:ext>
              </a:extLst>
            </p:cNvPr>
            <p:cNvCxnSpPr>
              <a:cxnSpLocks/>
              <a:stCxn id="15" idx="2"/>
            </p:cNvCxnSpPr>
            <p:nvPr/>
          </p:nvCxnSpPr>
          <p:spPr>
            <a:xfrm flipH="1">
              <a:off x="3986981" y="1042581"/>
              <a:ext cx="6611373" cy="4616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E52DE45A-4134-BD84-B63F-91F843DAEDFF}"/>
              </a:ext>
            </a:extLst>
          </p:cNvPr>
          <p:cNvSpPr>
            <a:spLocks noGrp="1"/>
          </p:cNvSpPr>
          <p:nvPr>
            <p:ph type="title"/>
          </p:nvPr>
        </p:nvSpPr>
        <p:spPr>
          <a:xfrm>
            <a:off x="838200" y="365125"/>
            <a:ext cx="10515600" cy="1325563"/>
          </a:xfrm>
        </p:spPr>
        <p:txBody>
          <a:bodyPr/>
          <a:lstStyle/>
          <a:p>
            <a:r>
              <a:rPr lang="en-US" sz="4000" dirty="0">
                <a:solidFill>
                  <a:srgbClr val="007B6C"/>
                </a:solidFill>
                <a:latin typeface="Calibri Light"/>
                <a:cs typeface="Calibri"/>
              </a:rPr>
              <a:t>The adapted Governance Regulation</a:t>
            </a:r>
          </a:p>
        </p:txBody>
      </p:sp>
      <p:sp>
        <p:nvSpPr>
          <p:cNvPr id="7" name="TextBox 6">
            <a:extLst>
              <a:ext uri="{FF2B5EF4-FFF2-40B4-BE49-F238E27FC236}">
                <a16:creationId xmlns:a16="http://schemas.microsoft.com/office/drawing/2014/main" id="{6E78F7CB-33EF-2D9C-D607-C09E966845F7}"/>
              </a:ext>
            </a:extLst>
          </p:cNvPr>
          <p:cNvSpPr txBox="1"/>
          <p:nvPr/>
        </p:nvSpPr>
        <p:spPr>
          <a:xfrm>
            <a:off x="4758063" y="3242733"/>
            <a:ext cx="7374520" cy="1477328"/>
          </a:xfrm>
          <a:prstGeom prst="rect">
            <a:avLst/>
          </a:prstGeom>
          <a:solidFill>
            <a:schemeClr val="accent2">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Mitigation</a:t>
            </a:r>
            <a:endParaRPr lang="en-SE" sz="800" b="1">
              <a:solidFill>
                <a:schemeClr val="accent1">
                  <a:lumMod val="50000"/>
                </a:schemeClr>
              </a:solidFill>
            </a:endParaRPr>
          </a:p>
          <a:p>
            <a:r>
              <a:rPr lang="sv-SE" u="sng">
                <a:solidFill>
                  <a:schemeClr val="accent1">
                    <a:lumMod val="50000"/>
                  </a:schemeClr>
                </a:solidFill>
              </a:rPr>
              <a:t>15 March:</a:t>
            </a:r>
            <a:r>
              <a:rPr lang="sv-SE">
                <a:solidFill>
                  <a:schemeClr val="accent1">
                    <a:lumMod val="50000"/>
                  </a:schemeClr>
                </a:solidFill>
              </a:rPr>
              <a:t> Integrated Policies and Measures (PaMs)</a:t>
            </a:r>
          </a:p>
          <a:p>
            <a:r>
              <a:rPr lang="sv-SE" u="sng">
                <a:solidFill>
                  <a:schemeClr val="accent1">
                    <a:lumMod val="50000"/>
                  </a:schemeClr>
                </a:solidFill>
              </a:rPr>
              <a:t>15 March:</a:t>
            </a:r>
            <a:r>
              <a:rPr lang="sv-SE">
                <a:solidFill>
                  <a:schemeClr val="accent1">
                    <a:lumMod val="50000"/>
                  </a:schemeClr>
                </a:solidFill>
              </a:rPr>
              <a:t> Greenhouse gas projections</a:t>
            </a:r>
          </a:p>
          <a:p>
            <a:r>
              <a:rPr lang="sv-SE" u="sng">
                <a:solidFill>
                  <a:schemeClr val="accent1">
                    <a:lumMod val="50000"/>
                  </a:schemeClr>
                </a:solidFill>
              </a:rPr>
              <a:t>15 March:</a:t>
            </a:r>
            <a:r>
              <a:rPr lang="sv-SE">
                <a:solidFill>
                  <a:schemeClr val="accent1">
                    <a:lumMod val="50000"/>
                  </a:schemeClr>
                </a:solidFill>
              </a:rPr>
              <a:t> NECPR reporting within</a:t>
            </a:r>
            <a:r>
              <a:rPr lang="en-US">
                <a:solidFill>
                  <a:schemeClr val="accent1">
                    <a:lumMod val="50000"/>
                  </a:schemeClr>
                </a:solidFill>
              </a:rPr>
              <a:t> GHG, RES, and EE</a:t>
            </a: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Additional reporting on RES and EE</a:t>
            </a:r>
            <a:endParaRPr lang="en-DK"/>
          </a:p>
        </p:txBody>
      </p:sp>
      <p:sp>
        <p:nvSpPr>
          <p:cNvPr id="12" name="TextBox 11">
            <a:extLst>
              <a:ext uri="{FF2B5EF4-FFF2-40B4-BE49-F238E27FC236}">
                <a16:creationId xmlns:a16="http://schemas.microsoft.com/office/drawing/2014/main" id="{E9673ACA-B515-82DF-EA42-10F48109A92A}"/>
              </a:ext>
            </a:extLst>
          </p:cNvPr>
          <p:cNvSpPr txBox="1"/>
          <p:nvPr/>
        </p:nvSpPr>
        <p:spPr>
          <a:xfrm>
            <a:off x="4758063" y="1958447"/>
            <a:ext cx="7374520" cy="1200329"/>
          </a:xfrm>
          <a:prstGeom prst="rect">
            <a:avLst/>
          </a:prstGeom>
          <a:solidFill>
            <a:schemeClr val="accent6">
              <a:lumMod val="20000"/>
              <a:lumOff val="80000"/>
            </a:schemeClr>
          </a:solidFill>
          <a:ln w="12700">
            <a:solidFill>
              <a:schemeClr val="accent1"/>
            </a:solidFill>
          </a:ln>
        </p:spPr>
        <p:txBody>
          <a:bodyPr wrap="square" rtlCol="0">
            <a:spAutoFit/>
          </a:bodyPr>
          <a:lstStyle/>
          <a:p>
            <a:r>
              <a:rPr lang="en-US" b="1" dirty="0">
                <a:solidFill>
                  <a:schemeClr val="accent1">
                    <a:lumMod val="50000"/>
                  </a:schemeClr>
                </a:solidFill>
              </a:rPr>
              <a:t>GHG Inventory</a:t>
            </a:r>
            <a:br>
              <a:rPr lang="en-US" b="1" dirty="0">
                <a:solidFill>
                  <a:schemeClr val="accent1">
                    <a:lumMod val="50000"/>
                  </a:schemeClr>
                </a:solidFill>
              </a:rPr>
            </a:br>
            <a:r>
              <a:rPr lang="en-US" u="sng" dirty="0">
                <a:solidFill>
                  <a:schemeClr val="accent1">
                    <a:lumMod val="50000"/>
                  </a:schemeClr>
                </a:solidFill>
              </a:rPr>
              <a:t>15 January: </a:t>
            </a:r>
            <a:r>
              <a:rPr lang="en-US" dirty="0">
                <a:solidFill>
                  <a:schemeClr val="accent1">
                    <a:lumMod val="50000"/>
                  </a:schemeClr>
                </a:solidFill>
              </a:rPr>
              <a:t>Draft GHG Inventory</a:t>
            </a:r>
          </a:p>
          <a:p>
            <a:r>
              <a:rPr lang="en-US" u="sng" dirty="0">
                <a:solidFill>
                  <a:schemeClr val="accent1">
                    <a:lumMod val="50000"/>
                  </a:schemeClr>
                </a:solidFill>
              </a:rPr>
              <a:t>15 March: </a:t>
            </a:r>
            <a:r>
              <a:rPr lang="en-US" dirty="0">
                <a:solidFill>
                  <a:schemeClr val="accent1">
                    <a:lumMod val="50000"/>
                  </a:schemeClr>
                </a:solidFill>
              </a:rPr>
              <a:t>Final GHG Inventory</a:t>
            </a:r>
          </a:p>
          <a:p>
            <a:r>
              <a:rPr lang="en-US" u="sng" dirty="0">
                <a:solidFill>
                  <a:schemeClr val="accent1">
                    <a:lumMod val="50000"/>
                  </a:schemeClr>
                </a:solidFill>
              </a:rPr>
              <a:t>31 July: </a:t>
            </a:r>
            <a:r>
              <a:rPr lang="en-US" dirty="0">
                <a:solidFill>
                  <a:schemeClr val="accent1">
                    <a:lumMod val="50000"/>
                  </a:schemeClr>
                </a:solidFill>
              </a:rPr>
              <a:t>Approximated Inventory</a:t>
            </a:r>
            <a:endParaRPr lang="en-DK" dirty="0"/>
          </a:p>
        </p:txBody>
      </p:sp>
      <p:sp>
        <p:nvSpPr>
          <p:cNvPr id="20" name="TextBox 19">
            <a:extLst>
              <a:ext uri="{FF2B5EF4-FFF2-40B4-BE49-F238E27FC236}">
                <a16:creationId xmlns:a16="http://schemas.microsoft.com/office/drawing/2014/main" id="{B7910E04-E199-AB44-3BED-0311592AA412}"/>
              </a:ext>
            </a:extLst>
          </p:cNvPr>
          <p:cNvSpPr txBox="1"/>
          <p:nvPr/>
        </p:nvSpPr>
        <p:spPr>
          <a:xfrm>
            <a:off x="4758063" y="5866349"/>
            <a:ext cx="7374521" cy="923330"/>
          </a:xfrm>
          <a:prstGeom prst="rect">
            <a:avLst/>
          </a:prstGeom>
          <a:solidFill>
            <a:schemeClr val="accent4">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Climate Finance</a:t>
            </a:r>
          </a:p>
          <a:p>
            <a:r>
              <a:rPr lang="en-SE" u="sng">
                <a:solidFill>
                  <a:schemeClr val="accent1">
                    <a:lumMod val="50000"/>
                  </a:schemeClr>
                </a:solidFill>
              </a:rPr>
              <a:t>31 July</a:t>
            </a:r>
            <a:r>
              <a:rPr lang="en-US" u="sng">
                <a:solidFill>
                  <a:schemeClr val="accent1">
                    <a:lumMod val="50000"/>
                  </a:schemeClr>
                </a:solidFill>
              </a:rPr>
              <a:t>: </a:t>
            </a:r>
            <a:r>
              <a:rPr lang="en-SE">
                <a:solidFill>
                  <a:schemeClr val="accent1">
                    <a:lumMod val="50000"/>
                  </a:schemeClr>
                </a:solidFill>
              </a:rPr>
              <a:t>Use of any revenues generated from carbon price mechanisms</a:t>
            </a:r>
            <a:endParaRPr lang="en-US" u="sng">
              <a:solidFill>
                <a:schemeClr val="accent1">
                  <a:lumMod val="50000"/>
                </a:schemeClr>
              </a:solidFill>
            </a:endParaRPr>
          </a:p>
          <a:p>
            <a:r>
              <a:rPr lang="en-US" u="sng">
                <a:solidFill>
                  <a:schemeClr val="accent1">
                    <a:lumMod val="50000"/>
                  </a:schemeClr>
                </a:solidFill>
              </a:rPr>
              <a:t>30 September:</a:t>
            </a:r>
            <a:r>
              <a:rPr lang="en-US">
                <a:solidFill>
                  <a:schemeClr val="accent1">
                    <a:lumMod val="50000"/>
                  </a:schemeClr>
                </a:solidFill>
              </a:rPr>
              <a:t> Support provided to developing countries</a:t>
            </a:r>
            <a:endParaRPr lang="en-DK"/>
          </a:p>
        </p:txBody>
      </p:sp>
      <p:sp>
        <p:nvSpPr>
          <p:cNvPr id="21" name="TextBox 20">
            <a:extLst>
              <a:ext uri="{FF2B5EF4-FFF2-40B4-BE49-F238E27FC236}">
                <a16:creationId xmlns:a16="http://schemas.microsoft.com/office/drawing/2014/main" id="{8C957C78-9B72-C841-9BA7-8E61452B9146}"/>
              </a:ext>
            </a:extLst>
          </p:cNvPr>
          <p:cNvSpPr txBox="1"/>
          <p:nvPr/>
        </p:nvSpPr>
        <p:spPr>
          <a:xfrm>
            <a:off x="4758063" y="4831540"/>
            <a:ext cx="7374519" cy="923330"/>
          </a:xfrm>
          <a:prstGeom prst="rect">
            <a:avLst/>
          </a:prstGeom>
          <a:solidFill>
            <a:srgbClr val="F8FED4"/>
          </a:solidFill>
          <a:ln w="12700">
            <a:solidFill>
              <a:schemeClr val="accent1"/>
            </a:solidFill>
          </a:ln>
        </p:spPr>
        <p:txBody>
          <a:bodyPr wrap="square" rtlCol="0">
            <a:spAutoFit/>
          </a:bodyPr>
          <a:lstStyle/>
          <a:p>
            <a:r>
              <a:rPr lang="en-US" b="1">
                <a:solidFill>
                  <a:schemeClr val="accent1">
                    <a:lumMod val="50000"/>
                  </a:schemeClr>
                </a:solidFill>
              </a:rPr>
              <a:t>Adaptation</a:t>
            </a:r>
            <a:endParaRPr lang="en-SE" sz="800" b="1">
              <a:solidFill>
                <a:schemeClr val="accent1">
                  <a:lumMod val="50000"/>
                </a:schemeClr>
              </a:solidFill>
            </a:endParaRP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National adaptation plans and strategies</a:t>
            </a: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NECPR reporting within adaptation</a:t>
            </a:r>
            <a:endParaRPr lang="en-DK"/>
          </a:p>
        </p:txBody>
      </p:sp>
    </p:spTree>
    <p:extLst>
      <p:ext uri="{BB962C8B-B14F-4D97-AF65-F5344CB8AC3E}">
        <p14:creationId xmlns:p14="http://schemas.microsoft.com/office/powerpoint/2010/main" val="270825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A4E72-B58A-2AC7-A995-FE388E93381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DA38730-63D9-3B85-BEF4-48FD0668BE38}"/>
              </a:ext>
            </a:extLst>
          </p:cNvPr>
          <p:cNvSpPr txBox="1"/>
          <p:nvPr/>
        </p:nvSpPr>
        <p:spPr>
          <a:xfrm>
            <a:off x="320939" y="1941777"/>
            <a:ext cx="3602991" cy="1200329"/>
          </a:xfrm>
          <a:prstGeom prst="rect">
            <a:avLst/>
          </a:prstGeom>
          <a:solidFill>
            <a:schemeClr val="accent6">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GHG Inventory</a:t>
            </a:r>
            <a:br>
              <a:rPr lang="en-US" b="1">
                <a:solidFill>
                  <a:schemeClr val="accent1">
                    <a:lumMod val="50000"/>
                  </a:schemeClr>
                </a:solidFill>
              </a:rPr>
            </a:br>
            <a:r>
              <a:rPr lang="en-US" u="sng">
                <a:solidFill>
                  <a:schemeClr val="accent1">
                    <a:lumMod val="50000"/>
                  </a:schemeClr>
                </a:solidFill>
              </a:rPr>
              <a:t>15 January: </a:t>
            </a:r>
            <a:r>
              <a:rPr lang="en-US">
                <a:solidFill>
                  <a:schemeClr val="accent1">
                    <a:lumMod val="50000"/>
                  </a:schemeClr>
                </a:solidFill>
              </a:rPr>
              <a:t>Draft GHG Inventory</a:t>
            </a:r>
          </a:p>
          <a:p>
            <a:r>
              <a:rPr lang="en-US" u="sng">
                <a:solidFill>
                  <a:schemeClr val="accent1">
                    <a:lumMod val="50000"/>
                  </a:schemeClr>
                </a:solidFill>
              </a:rPr>
              <a:t>15 March:</a:t>
            </a:r>
            <a:r>
              <a:rPr lang="en-US">
                <a:solidFill>
                  <a:schemeClr val="accent1">
                    <a:lumMod val="50000"/>
                  </a:schemeClr>
                </a:solidFill>
              </a:rPr>
              <a:t> Final GHG Inventory</a:t>
            </a:r>
          </a:p>
          <a:p>
            <a:r>
              <a:rPr lang="en-US" u="sng">
                <a:solidFill>
                  <a:schemeClr val="accent1">
                    <a:lumMod val="50000"/>
                  </a:schemeClr>
                </a:solidFill>
              </a:rPr>
              <a:t>31 July: </a:t>
            </a:r>
            <a:r>
              <a:rPr lang="en-US">
                <a:solidFill>
                  <a:schemeClr val="accent1">
                    <a:lumMod val="50000"/>
                  </a:schemeClr>
                </a:solidFill>
              </a:rPr>
              <a:t>Approximated Inventory</a:t>
            </a:r>
            <a:endParaRPr lang="en-DK"/>
          </a:p>
        </p:txBody>
      </p:sp>
      <p:sp>
        <p:nvSpPr>
          <p:cNvPr id="8" name="TextBox 7">
            <a:extLst>
              <a:ext uri="{FF2B5EF4-FFF2-40B4-BE49-F238E27FC236}">
                <a16:creationId xmlns:a16="http://schemas.microsoft.com/office/drawing/2014/main" id="{B3DA5E75-E4A1-C236-1C65-86B449D453C1}"/>
              </a:ext>
            </a:extLst>
          </p:cNvPr>
          <p:cNvSpPr txBox="1"/>
          <p:nvPr/>
        </p:nvSpPr>
        <p:spPr>
          <a:xfrm>
            <a:off x="331431" y="3142106"/>
            <a:ext cx="3602991" cy="1754326"/>
          </a:xfrm>
          <a:prstGeom prst="rect">
            <a:avLst/>
          </a:prstGeom>
          <a:solidFill>
            <a:schemeClr val="accent4">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Climate Finance</a:t>
            </a:r>
          </a:p>
          <a:p>
            <a:r>
              <a:rPr lang="en-SE" u="sng">
                <a:solidFill>
                  <a:schemeClr val="accent1">
                    <a:lumMod val="50000"/>
                  </a:schemeClr>
                </a:solidFill>
              </a:rPr>
              <a:t>31 July</a:t>
            </a:r>
            <a:r>
              <a:rPr lang="en-US" u="sng">
                <a:solidFill>
                  <a:schemeClr val="accent1">
                    <a:lumMod val="50000"/>
                  </a:schemeClr>
                </a:solidFill>
              </a:rPr>
              <a:t>: </a:t>
            </a:r>
            <a:r>
              <a:rPr lang="en-SE">
                <a:solidFill>
                  <a:schemeClr val="accent1">
                    <a:lumMod val="50000"/>
                  </a:schemeClr>
                </a:solidFill>
              </a:rPr>
              <a:t>Use of any revenues generated from carbon price mechanisms</a:t>
            </a:r>
            <a:endParaRPr lang="en-US">
              <a:solidFill>
                <a:schemeClr val="accent1">
                  <a:lumMod val="50000"/>
                </a:schemeClr>
              </a:solidFill>
            </a:endParaRPr>
          </a:p>
          <a:p>
            <a:r>
              <a:rPr lang="en-US" u="sng">
                <a:solidFill>
                  <a:schemeClr val="accent1">
                    <a:lumMod val="50000"/>
                  </a:schemeClr>
                </a:solidFill>
              </a:rPr>
              <a:t>30 September: </a:t>
            </a:r>
            <a:r>
              <a:rPr lang="en-US">
                <a:solidFill>
                  <a:schemeClr val="accent1">
                    <a:lumMod val="50000"/>
                  </a:schemeClr>
                </a:solidFill>
              </a:rPr>
              <a:t>Support provided to developing countries</a:t>
            </a:r>
            <a:endParaRPr lang="en-DK"/>
          </a:p>
        </p:txBody>
      </p:sp>
      <p:sp>
        <p:nvSpPr>
          <p:cNvPr id="10" name="TextBox 9">
            <a:extLst>
              <a:ext uri="{FF2B5EF4-FFF2-40B4-BE49-F238E27FC236}">
                <a16:creationId xmlns:a16="http://schemas.microsoft.com/office/drawing/2014/main" id="{AEED9406-E2A6-B48B-D2BB-25582C52DE0B}"/>
              </a:ext>
            </a:extLst>
          </p:cNvPr>
          <p:cNvSpPr txBox="1"/>
          <p:nvPr/>
        </p:nvSpPr>
        <p:spPr>
          <a:xfrm>
            <a:off x="4415025" y="3226063"/>
            <a:ext cx="7374520" cy="1477328"/>
          </a:xfrm>
          <a:prstGeom prst="rect">
            <a:avLst/>
          </a:prstGeom>
          <a:solidFill>
            <a:schemeClr val="accent2">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Mitigation</a:t>
            </a:r>
            <a:endParaRPr lang="en-SE" sz="800" b="1">
              <a:solidFill>
                <a:schemeClr val="accent1">
                  <a:lumMod val="50000"/>
                </a:schemeClr>
              </a:solidFill>
            </a:endParaRPr>
          </a:p>
          <a:p>
            <a:r>
              <a:rPr lang="sv-SE" u="sng">
                <a:solidFill>
                  <a:schemeClr val="accent1">
                    <a:lumMod val="50000"/>
                  </a:schemeClr>
                </a:solidFill>
              </a:rPr>
              <a:t>15 March:</a:t>
            </a:r>
            <a:r>
              <a:rPr lang="sv-SE">
                <a:solidFill>
                  <a:schemeClr val="accent1">
                    <a:lumMod val="50000"/>
                  </a:schemeClr>
                </a:solidFill>
              </a:rPr>
              <a:t> Integrated Policies and Measures (PaMs)</a:t>
            </a:r>
          </a:p>
          <a:p>
            <a:r>
              <a:rPr lang="sv-SE" u="sng">
                <a:solidFill>
                  <a:schemeClr val="accent1">
                    <a:lumMod val="50000"/>
                  </a:schemeClr>
                </a:solidFill>
              </a:rPr>
              <a:t>15 March:</a:t>
            </a:r>
            <a:r>
              <a:rPr lang="sv-SE">
                <a:solidFill>
                  <a:schemeClr val="accent1">
                    <a:lumMod val="50000"/>
                  </a:schemeClr>
                </a:solidFill>
              </a:rPr>
              <a:t> Greenhouse gas projections</a:t>
            </a:r>
          </a:p>
          <a:p>
            <a:r>
              <a:rPr lang="sv-SE" u="sng">
                <a:solidFill>
                  <a:schemeClr val="accent1">
                    <a:lumMod val="50000"/>
                  </a:schemeClr>
                </a:solidFill>
              </a:rPr>
              <a:t>15 March:</a:t>
            </a:r>
            <a:r>
              <a:rPr lang="sv-SE">
                <a:solidFill>
                  <a:schemeClr val="accent1">
                    <a:lumMod val="50000"/>
                  </a:schemeClr>
                </a:solidFill>
              </a:rPr>
              <a:t> NECPR reporting within</a:t>
            </a:r>
            <a:r>
              <a:rPr lang="en-US">
                <a:solidFill>
                  <a:schemeClr val="accent1">
                    <a:lumMod val="50000"/>
                  </a:schemeClr>
                </a:solidFill>
              </a:rPr>
              <a:t> GHG, RES, and EE</a:t>
            </a: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Additional reporting on RES and EE</a:t>
            </a:r>
            <a:endParaRPr lang="en-DK"/>
          </a:p>
        </p:txBody>
      </p:sp>
      <p:cxnSp>
        <p:nvCxnSpPr>
          <p:cNvPr id="13" name="Straight Connector 12">
            <a:extLst>
              <a:ext uri="{FF2B5EF4-FFF2-40B4-BE49-F238E27FC236}">
                <a16:creationId xmlns:a16="http://schemas.microsoft.com/office/drawing/2014/main" id="{8342E4CE-798C-A888-7C1C-B31C012A2690}"/>
              </a:ext>
            </a:extLst>
          </p:cNvPr>
          <p:cNvCxnSpPr>
            <a:cxnSpLocks/>
          </p:cNvCxnSpPr>
          <p:nvPr/>
        </p:nvCxnSpPr>
        <p:spPr>
          <a:xfrm>
            <a:off x="297014" y="1643782"/>
            <a:ext cx="11574043" cy="17064"/>
          </a:xfrm>
          <a:prstGeom prst="line">
            <a:avLst/>
          </a:prstGeom>
          <a:ln w="222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DDED3BA-5185-F053-4B0E-3CB8D05322C7}"/>
              </a:ext>
            </a:extLst>
          </p:cNvPr>
          <p:cNvSpPr txBox="1"/>
          <p:nvPr/>
        </p:nvSpPr>
        <p:spPr>
          <a:xfrm>
            <a:off x="1647850" y="1467491"/>
            <a:ext cx="956321" cy="461665"/>
          </a:xfrm>
          <a:prstGeom prst="rect">
            <a:avLst/>
          </a:prstGeom>
          <a:solidFill>
            <a:schemeClr val="bg1"/>
          </a:solidFill>
        </p:spPr>
        <p:txBody>
          <a:bodyPr wrap="square" rtlCol="0">
            <a:spAutoFit/>
          </a:bodyPr>
          <a:lstStyle/>
          <a:p>
            <a:r>
              <a:rPr lang="en-SE" sz="2400" b="1">
                <a:solidFill>
                  <a:schemeClr val="accent1">
                    <a:lumMod val="50000"/>
                  </a:schemeClr>
                </a:solidFill>
              </a:rPr>
              <a:t> 202</a:t>
            </a:r>
            <a:r>
              <a:rPr lang="en-US" sz="2400" b="1">
                <a:solidFill>
                  <a:schemeClr val="accent1">
                    <a:lumMod val="50000"/>
                  </a:schemeClr>
                </a:solidFill>
              </a:rPr>
              <a:t>6</a:t>
            </a:r>
            <a:endParaRPr lang="en-DK" sz="2400" b="1">
              <a:solidFill>
                <a:schemeClr val="accent1">
                  <a:lumMod val="50000"/>
                </a:schemeClr>
              </a:solidFill>
            </a:endParaRPr>
          </a:p>
        </p:txBody>
      </p:sp>
      <p:sp>
        <p:nvSpPr>
          <p:cNvPr id="16" name="TextBox 15">
            <a:extLst>
              <a:ext uri="{FF2B5EF4-FFF2-40B4-BE49-F238E27FC236}">
                <a16:creationId xmlns:a16="http://schemas.microsoft.com/office/drawing/2014/main" id="{50E2E9F6-09B2-E17A-E56F-1D5989B6D623}"/>
              </a:ext>
            </a:extLst>
          </p:cNvPr>
          <p:cNvSpPr txBox="1"/>
          <p:nvPr/>
        </p:nvSpPr>
        <p:spPr>
          <a:xfrm>
            <a:off x="4580526" y="1486330"/>
            <a:ext cx="956321" cy="461665"/>
          </a:xfrm>
          <a:prstGeom prst="rect">
            <a:avLst/>
          </a:prstGeom>
          <a:solidFill>
            <a:schemeClr val="bg1"/>
          </a:solidFill>
        </p:spPr>
        <p:txBody>
          <a:bodyPr wrap="square" rtlCol="0">
            <a:spAutoFit/>
          </a:bodyPr>
          <a:lstStyle/>
          <a:p>
            <a:r>
              <a:rPr lang="en-SE" sz="2400" b="1">
                <a:solidFill>
                  <a:schemeClr val="accent1">
                    <a:lumMod val="50000"/>
                  </a:schemeClr>
                </a:solidFill>
              </a:rPr>
              <a:t> 202</a:t>
            </a:r>
            <a:r>
              <a:rPr lang="en-US" sz="2400" b="1">
                <a:solidFill>
                  <a:schemeClr val="accent1">
                    <a:lumMod val="50000"/>
                  </a:schemeClr>
                </a:solidFill>
              </a:rPr>
              <a:t>7</a:t>
            </a:r>
            <a:endParaRPr lang="en-DK" sz="2400" b="1">
              <a:solidFill>
                <a:schemeClr val="accent1">
                  <a:lumMod val="50000"/>
                </a:schemeClr>
              </a:solidFill>
            </a:endParaRPr>
          </a:p>
        </p:txBody>
      </p:sp>
      <p:sp>
        <p:nvSpPr>
          <p:cNvPr id="3" name="TextBox 2">
            <a:extLst>
              <a:ext uri="{FF2B5EF4-FFF2-40B4-BE49-F238E27FC236}">
                <a16:creationId xmlns:a16="http://schemas.microsoft.com/office/drawing/2014/main" id="{D966B853-A747-0264-2A90-2A83077AC49B}"/>
              </a:ext>
            </a:extLst>
          </p:cNvPr>
          <p:cNvSpPr txBox="1"/>
          <p:nvPr/>
        </p:nvSpPr>
        <p:spPr>
          <a:xfrm>
            <a:off x="4415025" y="1941777"/>
            <a:ext cx="7374520" cy="1200329"/>
          </a:xfrm>
          <a:prstGeom prst="rect">
            <a:avLst/>
          </a:prstGeom>
          <a:solidFill>
            <a:schemeClr val="accent6">
              <a:lumMod val="20000"/>
              <a:lumOff val="80000"/>
            </a:schemeClr>
          </a:solidFill>
          <a:ln w="12700">
            <a:solidFill>
              <a:schemeClr val="accent1"/>
            </a:solidFill>
          </a:ln>
        </p:spPr>
        <p:txBody>
          <a:bodyPr wrap="square" rtlCol="0">
            <a:spAutoFit/>
          </a:bodyPr>
          <a:lstStyle/>
          <a:p>
            <a:r>
              <a:rPr lang="en-US" b="1" dirty="0">
                <a:solidFill>
                  <a:schemeClr val="accent1">
                    <a:lumMod val="50000"/>
                  </a:schemeClr>
                </a:solidFill>
              </a:rPr>
              <a:t>GHG Inventory</a:t>
            </a:r>
            <a:br>
              <a:rPr lang="en-US" b="1" dirty="0">
                <a:solidFill>
                  <a:schemeClr val="accent1">
                    <a:lumMod val="50000"/>
                  </a:schemeClr>
                </a:solidFill>
              </a:rPr>
            </a:br>
            <a:r>
              <a:rPr lang="en-US" u="sng" dirty="0">
                <a:solidFill>
                  <a:schemeClr val="accent1">
                    <a:lumMod val="50000"/>
                  </a:schemeClr>
                </a:solidFill>
              </a:rPr>
              <a:t>15 January: </a:t>
            </a:r>
            <a:r>
              <a:rPr lang="en-US" dirty="0">
                <a:solidFill>
                  <a:schemeClr val="accent1">
                    <a:lumMod val="50000"/>
                  </a:schemeClr>
                </a:solidFill>
              </a:rPr>
              <a:t>Draft GHG Inventory</a:t>
            </a:r>
          </a:p>
          <a:p>
            <a:r>
              <a:rPr lang="en-US" u="sng" dirty="0">
                <a:solidFill>
                  <a:schemeClr val="accent1">
                    <a:lumMod val="50000"/>
                  </a:schemeClr>
                </a:solidFill>
              </a:rPr>
              <a:t>15 March: </a:t>
            </a:r>
            <a:r>
              <a:rPr lang="en-US" dirty="0">
                <a:solidFill>
                  <a:schemeClr val="accent1">
                    <a:lumMod val="50000"/>
                  </a:schemeClr>
                </a:solidFill>
              </a:rPr>
              <a:t>Final GHG Inventory</a:t>
            </a:r>
          </a:p>
          <a:p>
            <a:r>
              <a:rPr lang="en-US" u="sng" dirty="0">
                <a:solidFill>
                  <a:schemeClr val="accent1">
                    <a:lumMod val="50000"/>
                  </a:schemeClr>
                </a:solidFill>
              </a:rPr>
              <a:t>31 July: </a:t>
            </a:r>
            <a:r>
              <a:rPr lang="en-US" dirty="0">
                <a:solidFill>
                  <a:schemeClr val="accent1">
                    <a:lumMod val="50000"/>
                  </a:schemeClr>
                </a:solidFill>
              </a:rPr>
              <a:t>Approximated Inventory</a:t>
            </a:r>
            <a:endParaRPr lang="en-DK" dirty="0"/>
          </a:p>
        </p:txBody>
      </p:sp>
      <p:sp>
        <p:nvSpPr>
          <p:cNvPr id="4" name="TextBox 3">
            <a:extLst>
              <a:ext uri="{FF2B5EF4-FFF2-40B4-BE49-F238E27FC236}">
                <a16:creationId xmlns:a16="http://schemas.microsoft.com/office/drawing/2014/main" id="{FB335A16-94A6-B99E-AEE5-522F5C063602}"/>
              </a:ext>
            </a:extLst>
          </p:cNvPr>
          <p:cNvSpPr txBox="1"/>
          <p:nvPr/>
        </p:nvSpPr>
        <p:spPr>
          <a:xfrm>
            <a:off x="4415025" y="5849679"/>
            <a:ext cx="7374521" cy="923330"/>
          </a:xfrm>
          <a:prstGeom prst="rect">
            <a:avLst/>
          </a:prstGeom>
          <a:solidFill>
            <a:schemeClr val="accent4">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Climate Finance</a:t>
            </a:r>
          </a:p>
          <a:p>
            <a:r>
              <a:rPr lang="en-SE" u="sng">
                <a:solidFill>
                  <a:schemeClr val="accent1">
                    <a:lumMod val="50000"/>
                  </a:schemeClr>
                </a:solidFill>
              </a:rPr>
              <a:t>31 July</a:t>
            </a:r>
            <a:r>
              <a:rPr lang="en-US" u="sng">
                <a:solidFill>
                  <a:schemeClr val="accent1">
                    <a:lumMod val="50000"/>
                  </a:schemeClr>
                </a:solidFill>
              </a:rPr>
              <a:t>: </a:t>
            </a:r>
            <a:r>
              <a:rPr lang="en-SE">
                <a:solidFill>
                  <a:schemeClr val="accent1">
                    <a:lumMod val="50000"/>
                  </a:schemeClr>
                </a:solidFill>
              </a:rPr>
              <a:t>Use of any revenues generated from carbon price mechanisms</a:t>
            </a:r>
            <a:endParaRPr lang="en-US" u="sng">
              <a:solidFill>
                <a:schemeClr val="accent1">
                  <a:lumMod val="50000"/>
                </a:schemeClr>
              </a:solidFill>
            </a:endParaRPr>
          </a:p>
          <a:p>
            <a:r>
              <a:rPr lang="en-US" u="sng">
                <a:solidFill>
                  <a:schemeClr val="accent1">
                    <a:lumMod val="50000"/>
                  </a:schemeClr>
                </a:solidFill>
              </a:rPr>
              <a:t>30 September:</a:t>
            </a:r>
            <a:r>
              <a:rPr lang="en-US">
                <a:solidFill>
                  <a:schemeClr val="accent1">
                    <a:lumMod val="50000"/>
                  </a:schemeClr>
                </a:solidFill>
              </a:rPr>
              <a:t> Support provided to developing countries</a:t>
            </a:r>
            <a:endParaRPr lang="en-DK"/>
          </a:p>
        </p:txBody>
      </p:sp>
      <p:sp>
        <p:nvSpPr>
          <p:cNvPr id="5" name="TextBox 4">
            <a:extLst>
              <a:ext uri="{FF2B5EF4-FFF2-40B4-BE49-F238E27FC236}">
                <a16:creationId xmlns:a16="http://schemas.microsoft.com/office/drawing/2014/main" id="{AACC8143-255E-E33F-5AB6-7DDBA7195B35}"/>
              </a:ext>
            </a:extLst>
          </p:cNvPr>
          <p:cNvSpPr txBox="1"/>
          <p:nvPr/>
        </p:nvSpPr>
        <p:spPr>
          <a:xfrm>
            <a:off x="4415025" y="4814870"/>
            <a:ext cx="7374519" cy="923330"/>
          </a:xfrm>
          <a:prstGeom prst="rect">
            <a:avLst/>
          </a:prstGeom>
          <a:solidFill>
            <a:srgbClr val="F8FED4"/>
          </a:solidFill>
          <a:ln w="12700">
            <a:solidFill>
              <a:schemeClr val="accent1"/>
            </a:solidFill>
          </a:ln>
        </p:spPr>
        <p:txBody>
          <a:bodyPr wrap="square" rtlCol="0">
            <a:spAutoFit/>
          </a:bodyPr>
          <a:lstStyle/>
          <a:p>
            <a:r>
              <a:rPr lang="en-US" b="1">
                <a:solidFill>
                  <a:schemeClr val="accent1">
                    <a:lumMod val="50000"/>
                  </a:schemeClr>
                </a:solidFill>
              </a:rPr>
              <a:t>Adaptation</a:t>
            </a:r>
            <a:endParaRPr lang="en-SE" sz="800" b="1">
              <a:solidFill>
                <a:schemeClr val="accent1">
                  <a:lumMod val="50000"/>
                </a:schemeClr>
              </a:solidFill>
            </a:endParaRP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National adaptation plans and strategies</a:t>
            </a: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NECPR reporting within adaptation</a:t>
            </a:r>
            <a:endParaRPr lang="en-DK"/>
          </a:p>
        </p:txBody>
      </p:sp>
      <p:sp>
        <p:nvSpPr>
          <p:cNvPr id="9" name="TextBox 8">
            <a:extLst>
              <a:ext uri="{FF2B5EF4-FFF2-40B4-BE49-F238E27FC236}">
                <a16:creationId xmlns:a16="http://schemas.microsoft.com/office/drawing/2014/main" id="{0456912B-77DD-F233-54DA-968AFF4CD6D6}"/>
              </a:ext>
            </a:extLst>
          </p:cNvPr>
          <p:cNvSpPr txBox="1"/>
          <p:nvPr/>
        </p:nvSpPr>
        <p:spPr>
          <a:xfrm>
            <a:off x="8446967" y="2393128"/>
            <a:ext cx="2818796" cy="369332"/>
          </a:xfrm>
          <a:prstGeom prst="rect">
            <a:avLst/>
          </a:prstGeom>
          <a:solidFill>
            <a:schemeClr val="accent6">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 Comprehensive Review</a:t>
            </a:r>
            <a:endParaRPr lang="en-DK"/>
          </a:p>
        </p:txBody>
      </p:sp>
      <p:grpSp>
        <p:nvGrpSpPr>
          <p:cNvPr id="19" name="Group 18">
            <a:extLst>
              <a:ext uri="{FF2B5EF4-FFF2-40B4-BE49-F238E27FC236}">
                <a16:creationId xmlns:a16="http://schemas.microsoft.com/office/drawing/2014/main" id="{41A2F61D-0476-2429-4E87-88615E1E6777}"/>
              </a:ext>
            </a:extLst>
          </p:cNvPr>
          <p:cNvGrpSpPr/>
          <p:nvPr/>
        </p:nvGrpSpPr>
        <p:grpSpPr>
          <a:xfrm>
            <a:off x="2386162" y="1717162"/>
            <a:ext cx="1866242" cy="4687900"/>
            <a:chOff x="1984023" y="1625939"/>
            <a:chExt cx="1866242" cy="4687900"/>
          </a:xfrm>
        </p:grpSpPr>
        <p:sp>
          <p:nvSpPr>
            <p:cNvPr id="15" name="TextBox 14">
              <a:extLst>
                <a:ext uri="{FF2B5EF4-FFF2-40B4-BE49-F238E27FC236}">
                  <a16:creationId xmlns:a16="http://schemas.microsoft.com/office/drawing/2014/main" id="{C5B2FD55-BD27-A195-6E10-C47A16D7C200}"/>
                </a:ext>
              </a:extLst>
            </p:cNvPr>
            <p:cNvSpPr txBox="1"/>
            <p:nvPr/>
          </p:nvSpPr>
          <p:spPr>
            <a:xfrm>
              <a:off x="1984023" y="5390509"/>
              <a:ext cx="1788987" cy="923330"/>
            </a:xfrm>
            <a:prstGeom prst="rect">
              <a:avLst/>
            </a:prstGeom>
            <a:solidFill>
              <a:srgbClr val="FFC000"/>
            </a:solidFill>
            <a:ln w="12700">
              <a:solidFill>
                <a:schemeClr val="accent1"/>
              </a:solidFill>
            </a:ln>
          </p:spPr>
          <p:txBody>
            <a:bodyPr wrap="square" rtlCol="0">
              <a:spAutoFit/>
            </a:bodyPr>
            <a:lstStyle/>
            <a:p>
              <a:r>
                <a:rPr lang="en-US" b="1">
                  <a:solidFill>
                    <a:schemeClr val="accent1">
                      <a:lumMod val="50000"/>
                    </a:schemeClr>
                  </a:solidFill>
                </a:rPr>
                <a:t>End of 2026:</a:t>
              </a:r>
            </a:p>
            <a:p>
              <a:r>
                <a:rPr lang="en-US">
                  <a:solidFill>
                    <a:schemeClr val="accent1">
                      <a:lumMod val="50000"/>
                    </a:schemeClr>
                  </a:solidFill>
                </a:rPr>
                <a:t>UNFCCC BTR deadline</a:t>
              </a:r>
              <a:endParaRPr lang="en-DK"/>
            </a:p>
          </p:txBody>
        </p:sp>
        <p:cxnSp>
          <p:nvCxnSpPr>
            <p:cNvPr id="18" name="Straight Arrow Connector 17">
              <a:extLst>
                <a:ext uri="{FF2B5EF4-FFF2-40B4-BE49-F238E27FC236}">
                  <a16:creationId xmlns:a16="http://schemas.microsoft.com/office/drawing/2014/main" id="{CE629939-6C83-B4B6-EF31-1E074A83868A}"/>
                </a:ext>
              </a:extLst>
            </p:cNvPr>
            <p:cNvCxnSpPr>
              <a:cxnSpLocks/>
              <a:stCxn id="15" idx="0"/>
            </p:cNvCxnSpPr>
            <p:nvPr/>
          </p:nvCxnSpPr>
          <p:spPr>
            <a:xfrm flipV="1">
              <a:off x="2878517" y="1625939"/>
              <a:ext cx="971748" cy="37645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7D06158A-90BB-9A14-54C6-E92F44DB6B72}"/>
              </a:ext>
            </a:extLst>
          </p:cNvPr>
          <p:cNvSpPr>
            <a:spLocks noGrp="1"/>
          </p:cNvSpPr>
          <p:nvPr>
            <p:ph type="title"/>
          </p:nvPr>
        </p:nvSpPr>
        <p:spPr>
          <a:xfrm>
            <a:off x="838200" y="365125"/>
            <a:ext cx="10515600" cy="1325563"/>
          </a:xfrm>
        </p:spPr>
        <p:txBody>
          <a:bodyPr/>
          <a:lstStyle/>
          <a:p>
            <a:r>
              <a:rPr lang="en-US" sz="4000" dirty="0">
                <a:solidFill>
                  <a:srgbClr val="007B6C"/>
                </a:solidFill>
                <a:latin typeface="Calibri Light"/>
                <a:cs typeface="Calibri"/>
              </a:rPr>
              <a:t>Reporting obligations beyond 2025</a:t>
            </a:r>
          </a:p>
        </p:txBody>
      </p:sp>
    </p:spTree>
    <p:extLst>
      <p:ext uri="{BB962C8B-B14F-4D97-AF65-F5344CB8AC3E}">
        <p14:creationId xmlns:p14="http://schemas.microsoft.com/office/powerpoint/2010/main" val="384866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4B013F-C71A-700E-7AC5-EEF0166C0CAF}"/>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800" kern="1200">
                <a:solidFill>
                  <a:schemeClr val="tx1"/>
                </a:solidFill>
                <a:latin typeface="+mj-lt"/>
                <a:ea typeface="+mj-ea"/>
                <a:cs typeface="+mj-cs"/>
              </a:rPr>
              <a:t>REPORTING SUBMISSION BREAKDOWN</a:t>
            </a:r>
          </a:p>
        </p:txBody>
      </p:sp>
      <p:pic>
        <p:nvPicPr>
          <p:cNvPr id="3" name="Picture 2" descr="A screenshot of a graph&#10;&#10;AI-generated content may be incorrect.">
            <a:extLst>
              <a:ext uri="{FF2B5EF4-FFF2-40B4-BE49-F238E27FC236}">
                <a16:creationId xmlns:a16="http://schemas.microsoft.com/office/drawing/2014/main" id="{A92DC5DB-8D02-C484-4748-4B3B0566FE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7049" y="1845426"/>
            <a:ext cx="8054848" cy="4450303"/>
          </a:xfrm>
          <a:prstGeom prst="rect">
            <a:avLst/>
          </a:prstGeom>
        </p:spPr>
      </p:pic>
    </p:spTree>
    <p:extLst>
      <p:ext uri="{BB962C8B-B14F-4D97-AF65-F5344CB8AC3E}">
        <p14:creationId xmlns:p14="http://schemas.microsoft.com/office/powerpoint/2010/main" val="323989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155D-3C72-FB1B-19E6-FC6C391DA2DA}"/>
              </a:ext>
            </a:extLst>
          </p:cNvPr>
          <p:cNvSpPr>
            <a:spLocks noGrp="1"/>
          </p:cNvSpPr>
          <p:nvPr>
            <p:ph type="title"/>
          </p:nvPr>
        </p:nvSpPr>
        <p:spPr>
          <a:xfrm>
            <a:off x="758064" y="99166"/>
            <a:ext cx="10515600" cy="1325563"/>
          </a:xfrm>
        </p:spPr>
        <p:txBody>
          <a:bodyPr/>
          <a:lstStyle/>
          <a:p>
            <a:r>
              <a:rPr lang="en-US" sz="4000" dirty="0">
                <a:solidFill>
                  <a:srgbClr val="007B6C"/>
                </a:solidFill>
                <a:latin typeface="Calibri Light"/>
                <a:cs typeface="Calibri"/>
              </a:rPr>
              <a:t>TIMELINE FOR THE REPORTING OBLIGATIONS</a:t>
            </a:r>
            <a:endParaRPr lang="en-US" sz="4000" dirty="0">
              <a:solidFill>
                <a:srgbClr val="007B6C"/>
              </a:solidFill>
              <a:latin typeface="Calibri Light"/>
              <a:ea typeface="Calibri Light"/>
              <a:cs typeface="Calibri"/>
            </a:endParaRPr>
          </a:p>
        </p:txBody>
      </p:sp>
      <p:sp>
        <p:nvSpPr>
          <p:cNvPr id="5" name="Rectangle 4">
            <a:extLst>
              <a:ext uri="{FF2B5EF4-FFF2-40B4-BE49-F238E27FC236}">
                <a16:creationId xmlns:a16="http://schemas.microsoft.com/office/drawing/2014/main" id="{BFA4EE3F-DCCD-4AA8-BC03-852143B5DC9E}"/>
              </a:ext>
            </a:extLst>
          </p:cNvPr>
          <p:cNvSpPr/>
          <p:nvPr/>
        </p:nvSpPr>
        <p:spPr>
          <a:xfrm>
            <a:off x="8503920" y="5571679"/>
            <a:ext cx="3454400" cy="111313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D181B85-0683-28F0-8863-88D8B40582FF}"/>
              </a:ext>
            </a:extLst>
          </p:cNvPr>
          <p:cNvSpPr/>
          <p:nvPr/>
        </p:nvSpPr>
        <p:spPr>
          <a:xfrm>
            <a:off x="10160" y="1501010"/>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January</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1564F16-87FD-11CF-57F4-17BA1FAC00C5}"/>
              </a:ext>
            </a:extLst>
          </p:cNvPr>
          <p:cNvSpPr/>
          <p:nvPr/>
        </p:nvSpPr>
        <p:spPr>
          <a:xfrm>
            <a:off x="1229360" y="1501010"/>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February</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BE0AD382-1645-A836-F5C2-3BE778738D0F}"/>
              </a:ext>
            </a:extLst>
          </p:cNvPr>
          <p:cNvSpPr/>
          <p:nvPr/>
        </p:nvSpPr>
        <p:spPr>
          <a:xfrm>
            <a:off x="2448560" y="1501009"/>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March</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0688070-6A22-C62C-25A0-49C4510F5914}"/>
              </a:ext>
            </a:extLst>
          </p:cNvPr>
          <p:cNvSpPr/>
          <p:nvPr/>
        </p:nvSpPr>
        <p:spPr>
          <a:xfrm>
            <a:off x="3648738" y="1501009"/>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April</a:t>
            </a:r>
          </a:p>
        </p:txBody>
      </p:sp>
      <p:sp>
        <p:nvSpPr>
          <p:cNvPr id="17" name="Rectangle 16">
            <a:extLst>
              <a:ext uri="{FF2B5EF4-FFF2-40B4-BE49-F238E27FC236}">
                <a16:creationId xmlns:a16="http://schemas.microsoft.com/office/drawing/2014/main" id="{60A3F4C0-EAB4-1F2D-6393-9E1822CAEDC5}"/>
              </a:ext>
            </a:extLst>
          </p:cNvPr>
          <p:cNvSpPr/>
          <p:nvPr/>
        </p:nvSpPr>
        <p:spPr>
          <a:xfrm>
            <a:off x="4867289" y="1501009"/>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May</a:t>
            </a:r>
          </a:p>
        </p:txBody>
      </p:sp>
      <p:sp>
        <p:nvSpPr>
          <p:cNvPr id="19" name="Rectangle 18">
            <a:extLst>
              <a:ext uri="{FF2B5EF4-FFF2-40B4-BE49-F238E27FC236}">
                <a16:creationId xmlns:a16="http://schemas.microsoft.com/office/drawing/2014/main" id="{DB7BA936-EBA9-1388-D0D6-FB7E7F7F4288}"/>
              </a:ext>
            </a:extLst>
          </p:cNvPr>
          <p:cNvSpPr/>
          <p:nvPr/>
        </p:nvSpPr>
        <p:spPr>
          <a:xfrm>
            <a:off x="6086489" y="1501007"/>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June</a:t>
            </a:r>
          </a:p>
        </p:txBody>
      </p:sp>
      <p:sp>
        <p:nvSpPr>
          <p:cNvPr id="21" name="Rectangle 20">
            <a:extLst>
              <a:ext uri="{FF2B5EF4-FFF2-40B4-BE49-F238E27FC236}">
                <a16:creationId xmlns:a16="http://schemas.microsoft.com/office/drawing/2014/main" id="{7A4C2C5A-32DB-AAF8-B878-246CAB101532}"/>
              </a:ext>
            </a:extLst>
          </p:cNvPr>
          <p:cNvSpPr/>
          <p:nvPr/>
        </p:nvSpPr>
        <p:spPr>
          <a:xfrm>
            <a:off x="7305040" y="1501007"/>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July</a:t>
            </a:r>
          </a:p>
        </p:txBody>
      </p:sp>
      <p:sp>
        <p:nvSpPr>
          <p:cNvPr id="23" name="Rectangle 22">
            <a:extLst>
              <a:ext uri="{FF2B5EF4-FFF2-40B4-BE49-F238E27FC236}">
                <a16:creationId xmlns:a16="http://schemas.microsoft.com/office/drawing/2014/main" id="{ADC72FBB-C3FC-62E2-A437-223F38900E0A}"/>
              </a:ext>
            </a:extLst>
          </p:cNvPr>
          <p:cNvSpPr/>
          <p:nvPr/>
        </p:nvSpPr>
        <p:spPr>
          <a:xfrm>
            <a:off x="8505218" y="1501007"/>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August</a:t>
            </a:r>
          </a:p>
        </p:txBody>
      </p:sp>
      <p:sp>
        <p:nvSpPr>
          <p:cNvPr id="25" name="Rectangle 24">
            <a:extLst>
              <a:ext uri="{FF2B5EF4-FFF2-40B4-BE49-F238E27FC236}">
                <a16:creationId xmlns:a16="http://schemas.microsoft.com/office/drawing/2014/main" id="{01909B13-E883-253E-70A8-FF7F76F7BC3E}"/>
              </a:ext>
            </a:extLst>
          </p:cNvPr>
          <p:cNvSpPr/>
          <p:nvPr/>
        </p:nvSpPr>
        <p:spPr>
          <a:xfrm>
            <a:off x="9723769" y="1501005"/>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September</a:t>
            </a:r>
          </a:p>
        </p:txBody>
      </p:sp>
      <p:sp>
        <p:nvSpPr>
          <p:cNvPr id="27" name="Rectangle 26">
            <a:extLst>
              <a:ext uri="{FF2B5EF4-FFF2-40B4-BE49-F238E27FC236}">
                <a16:creationId xmlns:a16="http://schemas.microsoft.com/office/drawing/2014/main" id="{DD012CB1-CD80-4A17-2A6F-9F4CED611D56}"/>
              </a:ext>
            </a:extLst>
          </p:cNvPr>
          <p:cNvSpPr/>
          <p:nvPr/>
        </p:nvSpPr>
        <p:spPr>
          <a:xfrm>
            <a:off x="10942320" y="1501005"/>
            <a:ext cx="1219200" cy="539543"/>
          </a:xfrm>
          <a:prstGeom prst="rect">
            <a:avLst/>
          </a:prstGeom>
          <a:solidFill>
            <a:schemeClr val="accent4"/>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October</a:t>
            </a:r>
          </a:p>
        </p:txBody>
      </p:sp>
      <p:cxnSp>
        <p:nvCxnSpPr>
          <p:cNvPr id="29" name="Straight Connector 28">
            <a:extLst>
              <a:ext uri="{FF2B5EF4-FFF2-40B4-BE49-F238E27FC236}">
                <a16:creationId xmlns:a16="http://schemas.microsoft.com/office/drawing/2014/main" id="{A52E9BBD-4F2B-DF2E-2731-D3DB0CAF92A6}"/>
              </a:ext>
            </a:extLst>
          </p:cNvPr>
          <p:cNvCxnSpPr/>
          <p:nvPr/>
        </p:nvCxnSpPr>
        <p:spPr>
          <a:xfrm>
            <a:off x="1229360" y="2040548"/>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5695F4D-343E-13A9-B5B1-9FF3B9ECBE33}"/>
              </a:ext>
            </a:extLst>
          </p:cNvPr>
          <p:cNvCxnSpPr/>
          <p:nvPr/>
        </p:nvCxnSpPr>
        <p:spPr>
          <a:xfrm>
            <a:off x="2448560" y="2040548"/>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F143098-27F4-3989-58FA-A1E6C35EAA1D}"/>
              </a:ext>
            </a:extLst>
          </p:cNvPr>
          <p:cNvCxnSpPr/>
          <p:nvPr/>
        </p:nvCxnSpPr>
        <p:spPr>
          <a:xfrm>
            <a:off x="4867289" y="2028642"/>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82B931C-E514-D7DD-D289-117C2EB458CA}"/>
              </a:ext>
            </a:extLst>
          </p:cNvPr>
          <p:cNvCxnSpPr/>
          <p:nvPr/>
        </p:nvCxnSpPr>
        <p:spPr>
          <a:xfrm>
            <a:off x="6086489" y="1480955"/>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0C1E9A6-6372-D124-5B5B-5A868A9A24DE}"/>
              </a:ext>
            </a:extLst>
          </p:cNvPr>
          <p:cNvCxnSpPr/>
          <p:nvPr/>
        </p:nvCxnSpPr>
        <p:spPr>
          <a:xfrm>
            <a:off x="7305040" y="1492861"/>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91CBE95-C356-A296-63E2-5452A29054CB}"/>
              </a:ext>
            </a:extLst>
          </p:cNvPr>
          <p:cNvCxnSpPr/>
          <p:nvPr/>
        </p:nvCxnSpPr>
        <p:spPr>
          <a:xfrm>
            <a:off x="8503920" y="1492861"/>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C6D5288-5987-AA63-D58F-3BC3AC7543EF}"/>
              </a:ext>
            </a:extLst>
          </p:cNvPr>
          <p:cNvCxnSpPr/>
          <p:nvPr/>
        </p:nvCxnSpPr>
        <p:spPr>
          <a:xfrm>
            <a:off x="9723769" y="1504767"/>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FFE0BB2-E027-DBD5-8F49-38D0D58B412A}"/>
              </a:ext>
            </a:extLst>
          </p:cNvPr>
          <p:cNvCxnSpPr/>
          <p:nvPr/>
        </p:nvCxnSpPr>
        <p:spPr>
          <a:xfrm>
            <a:off x="10942969" y="1504767"/>
            <a:ext cx="0" cy="546039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7" name="Diamond 46">
            <a:extLst>
              <a:ext uri="{FF2B5EF4-FFF2-40B4-BE49-F238E27FC236}">
                <a16:creationId xmlns:a16="http://schemas.microsoft.com/office/drawing/2014/main" id="{B24B07F1-533C-B19F-4408-E7CA97FB6EAD}"/>
              </a:ext>
            </a:extLst>
          </p:cNvPr>
          <p:cNvSpPr/>
          <p:nvPr/>
        </p:nvSpPr>
        <p:spPr>
          <a:xfrm>
            <a:off x="317797" y="2151763"/>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Diamond 48">
            <a:extLst>
              <a:ext uri="{FF2B5EF4-FFF2-40B4-BE49-F238E27FC236}">
                <a16:creationId xmlns:a16="http://schemas.microsoft.com/office/drawing/2014/main" id="{FD55CFCE-DCE3-5CA9-47BA-B2A87A9912EE}"/>
              </a:ext>
            </a:extLst>
          </p:cNvPr>
          <p:cNvSpPr/>
          <p:nvPr/>
        </p:nvSpPr>
        <p:spPr>
          <a:xfrm>
            <a:off x="2742551" y="2151763"/>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solidFill>
                <a:prstClr val="white"/>
              </a:solidFill>
              <a:latin typeface="Calibri" panose="020F0502020204030204"/>
            </a:endParaRPr>
          </a:p>
        </p:txBody>
      </p:sp>
      <p:sp>
        <p:nvSpPr>
          <p:cNvPr id="51" name="Diamond 50">
            <a:extLst>
              <a:ext uri="{FF2B5EF4-FFF2-40B4-BE49-F238E27FC236}">
                <a16:creationId xmlns:a16="http://schemas.microsoft.com/office/drawing/2014/main" id="{28F22AA2-F816-A3E6-23E9-33642F9466E1}"/>
              </a:ext>
            </a:extLst>
          </p:cNvPr>
          <p:cNvSpPr/>
          <p:nvPr/>
        </p:nvSpPr>
        <p:spPr>
          <a:xfrm>
            <a:off x="2758707" y="2886592"/>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Diamond 52">
            <a:extLst>
              <a:ext uri="{FF2B5EF4-FFF2-40B4-BE49-F238E27FC236}">
                <a16:creationId xmlns:a16="http://schemas.microsoft.com/office/drawing/2014/main" id="{FDE906FC-C082-054E-45E5-2CE4A09B6AD4}"/>
              </a:ext>
            </a:extLst>
          </p:cNvPr>
          <p:cNvSpPr/>
          <p:nvPr/>
        </p:nvSpPr>
        <p:spPr>
          <a:xfrm>
            <a:off x="8234147" y="5112927"/>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solidFill>
                <a:prstClr val="white"/>
              </a:solidFill>
              <a:latin typeface="Calibri" panose="020F0502020204030204"/>
            </a:endParaRPr>
          </a:p>
        </p:txBody>
      </p:sp>
      <p:sp>
        <p:nvSpPr>
          <p:cNvPr id="55" name="Diamond 54">
            <a:extLst>
              <a:ext uri="{FF2B5EF4-FFF2-40B4-BE49-F238E27FC236}">
                <a16:creationId xmlns:a16="http://schemas.microsoft.com/office/drawing/2014/main" id="{AFEE500D-E774-905A-ABCC-1459740C5AB3}"/>
              </a:ext>
            </a:extLst>
          </p:cNvPr>
          <p:cNvSpPr/>
          <p:nvPr/>
        </p:nvSpPr>
        <p:spPr>
          <a:xfrm>
            <a:off x="8234146" y="2188765"/>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D551456E-0DDF-68CF-A80C-0FB188522F06}"/>
              </a:ext>
            </a:extLst>
          </p:cNvPr>
          <p:cNvSpPr/>
          <p:nvPr/>
        </p:nvSpPr>
        <p:spPr>
          <a:xfrm>
            <a:off x="456551" y="2996507"/>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05012159-9751-91E6-D5FB-1CF039BCC747}"/>
              </a:ext>
            </a:extLst>
          </p:cNvPr>
          <p:cNvSpPr/>
          <p:nvPr/>
        </p:nvSpPr>
        <p:spPr>
          <a:xfrm>
            <a:off x="5925335" y="2298678"/>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D186D933-433D-3241-F3D7-B6E9B1B0AC68}"/>
              </a:ext>
            </a:extLst>
          </p:cNvPr>
          <p:cNvSpPr/>
          <p:nvPr/>
        </p:nvSpPr>
        <p:spPr>
          <a:xfrm>
            <a:off x="5936143" y="5222841"/>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3" name="Straight Connector 62">
            <a:extLst>
              <a:ext uri="{FF2B5EF4-FFF2-40B4-BE49-F238E27FC236}">
                <a16:creationId xmlns:a16="http://schemas.microsoft.com/office/drawing/2014/main" id="{CB2C8048-532C-0F53-5705-975EF4F51A89}"/>
              </a:ext>
            </a:extLst>
          </p:cNvPr>
          <p:cNvCxnSpPr/>
          <p:nvPr/>
        </p:nvCxnSpPr>
        <p:spPr>
          <a:xfrm>
            <a:off x="857340" y="2421536"/>
            <a:ext cx="1885211"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A984784-0A52-4858-FF2A-E7E4F0122EE9}"/>
              </a:ext>
            </a:extLst>
          </p:cNvPr>
          <p:cNvCxnSpPr>
            <a:cxnSpLocks/>
          </p:cNvCxnSpPr>
          <p:nvPr/>
        </p:nvCxnSpPr>
        <p:spPr>
          <a:xfrm>
            <a:off x="776265" y="3156364"/>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2779904-065C-807F-46C6-BE0D600B0991}"/>
              </a:ext>
            </a:extLst>
          </p:cNvPr>
          <p:cNvCxnSpPr>
            <a:cxnSpLocks/>
          </p:cNvCxnSpPr>
          <p:nvPr/>
        </p:nvCxnSpPr>
        <p:spPr>
          <a:xfrm>
            <a:off x="6245049" y="2458535"/>
            <a:ext cx="1989097"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42DCB80-9AD5-6EFD-C7A2-0A52B6E786D4}"/>
              </a:ext>
            </a:extLst>
          </p:cNvPr>
          <p:cNvCxnSpPr>
            <a:cxnSpLocks/>
          </p:cNvCxnSpPr>
          <p:nvPr/>
        </p:nvCxnSpPr>
        <p:spPr>
          <a:xfrm>
            <a:off x="6255857" y="5382698"/>
            <a:ext cx="1978290"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CFBE1319-B6E9-51C6-BE73-0D9B587F7242}"/>
              </a:ext>
            </a:extLst>
          </p:cNvPr>
          <p:cNvSpPr txBox="1"/>
          <p:nvPr/>
        </p:nvSpPr>
        <p:spPr>
          <a:xfrm>
            <a:off x="3248949" y="2141511"/>
            <a:ext cx="160319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3C8EB2"/>
                </a:solidFill>
                <a:effectLst/>
                <a:uLnTx/>
                <a:uFillTx/>
                <a:latin typeface="Calibri" panose="020F0502020204030204"/>
                <a:ea typeface="+mn-ea"/>
                <a:cs typeface="+mn-cs"/>
              </a:rPr>
              <a:t>GHG Inventory, X-2</a:t>
            </a:r>
          </a:p>
        </p:txBody>
      </p:sp>
      <p:sp>
        <p:nvSpPr>
          <p:cNvPr id="73" name="TextBox 72">
            <a:extLst>
              <a:ext uri="{FF2B5EF4-FFF2-40B4-BE49-F238E27FC236}">
                <a16:creationId xmlns:a16="http://schemas.microsoft.com/office/drawing/2014/main" id="{C87F8B74-ACD8-E264-630C-F427B1E5849D}"/>
              </a:ext>
            </a:extLst>
          </p:cNvPr>
          <p:cNvSpPr txBox="1"/>
          <p:nvPr/>
        </p:nvSpPr>
        <p:spPr>
          <a:xfrm>
            <a:off x="3623128" y="2959823"/>
            <a:ext cx="2576346" cy="646331"/>
          </a:xfrm>
          <a:prstGeom prst="rect">
            <a:avLst/>
          </a:prstGeom>
          <a:solidFill>
            <a:schemeClr val="bg1">
              <a:lumMod val="85000"/>
            </a:schemeClr>
          </a:solidFill>
        </p:spPr>
        <p:txBody>
          <a:bodyPr wrap="none" lIns="91440" tIns="45720" rIns="91440" bIns="4572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i="0" u="none" strike="sngStrike" kern="1200" cap="none" spc="0" normalizeH="0" baseline="0" noProof="0">
                <a:ln>
                  <a:noFill/>
                </a:ln>
                <a:solidFill>
                  <a:schemeClr val="bg2">
                    <a:lumMod val="25000"/>
                  </a:schemeClr>
                </a:solidFill>
                <a:effectLst/>
                <a:uLnTx/>
                <a:uFillTx/>
                <a:latin typeface="Calibri" panose="020F0502020204030204"/>
              </a:rPr>
              <a:t>GHG</a:t>
            </a:r>
            <a:r>
              <a:rPr kumimoji="0" lang="en-GB" sz="1200" i="0" u="none" strike="noStrike" kern="1200" cap="none" spc="0" normalizeH="0" baseline="0" noProof="0">
                <a:ln>
                  <a:noFill/>
                </a:ln>
                <a:solidFill>
                  <a:schemeClr val="bg2">
                    <a:lumMod val="25000"/>
                  </a:schemeClr>
                </a:solidFill>
                <a:effectLst/>
                <a:uLnTx/>
                <a:uFillTx/>
                <a:latin typeface="Calibri" panose="020F0502020204030204"/>
              </a:rPr>
              <a:t> Integrated Policies and Measures</a:t>
            </a:r>
            <a:endParaRPr kumimoji="0" lang="en-SE" sz="1200" i="0" u="none" strike="noStrike" kern="1200" cap="none" spc="0" normalizeH="0" baseline="0" noProof="0">
              <a:ln>
                <a:noFill/>
              </a:ln>
              <a:solidFill>
                <a:schemeClr val="bg2">
                  <a:lumMod val="25000"/>
                </a:schemeClr>
              </a:solidFill>
              <a:effectLst/>
              <a:uLnTx/>
              <a:uFillTx/>
              <a:latin typeface="Calibri" panose="020F0502020204030204"/>
            </a:endParaRPr>
          </a:p>
          <a:p>
            <a:pPr marL="0" marR="0" lvl="0" indent="0" defTabSz="914400" rtl="0" eaLnBrk="1" fontAlgn="auto" latinLnBrk="0" hangingPunct="1">
              <a:lnSpc>
                <a:spcPct val="100000"/>
              </a:lnSpc>
              <a:spcBef>
                <a:spcPts val="0"/>
              </a:spcBef>
              <a:spcAft>
                <a:spcPts val="0"/>
              </a:spcAft>
              <a:buClrTx/>
              <a:buSzTx/>
              <a:buFontTx/>
              <a:buNone/>
              <a:tabLst/>
              <a:defRPr/>
            </a:pPr>
            <a:r>
              <a:rPr lang="en-SE" sz="1200">
                <a:solidFill>
                  <a:schemeClr val="bg2">
                    <a:lumMod val="25000"/>
                  </a:schemeClr>
                </a:solidFill>
                <a:latin typeface="Calibri" panose="020F0502020204030204"/>
              </a:rPr>
              <a:t>Adaptation Planning and Strategies</a:t>
            </a:r>
            <a:br>
              <a:rPr lang="en-SE" sz="1200">
                <a:solidFill>
                  <a:schemeClr val="bg2">
                    <a:lumMod val="25000"/>
                  </a:schemeClr>
                </a:solidFill>
                <a:latin typeface="Calibri" panose="020F0502020204030204"/>
              </a:rPr>
            </a:br>
            <a:r>
              <a:rPr lang="en-SE" sz="1200">
                <a:solidFill>
                  <a:schemeClr val="bg2">
                    <a:lumMod val="25000"/>
                  </a:schemeClr>
                </a:solidFill>
                <a:latin typeface="Calibri" panose="020F0502020204030204"/>
              </a:rPr>
              <a:t>National systems</a:t>
            </a:r>
            <a:endParaRPr kumimoji="0" lang="en-GB" sz="1200" i="0" u="none" strike="noStrike" kern="1200" cap="none" spc="0" normalizeH="0" baseline="0" noProof="0">
              <a:ln>
                <a:noFill/>
              </a:ln>
              <a:solidFill>
                <a:schemeClr val="bg2">
                  <a:lumMod val="25000"/>
                </a:schemeClr>
              </a:solidFill>
              <a:effectLst/>
              <a:uLnTx/>
              <a:uFillTx/>
              <a:latin typeface="Calibri" panose="020F0502020204030204"/>
            </a:endParaRPr>
          </a:p>
        </p:txBody>
      </p:sp>
      <p:sp>
        <p:nvSpPr>
          <p:cNvPr id="75" name="TextBox 74">
            <a:extLst>
              <a:ext uri="{FF2B5EF4-FFF2-40B4-BE49-F238E27FC236}">
                <a16:creationId xmlns:a16="http://schemas.microsoft.com/office/drawing/2014/main" id="{66835AB2-5513-8B3A-02A4-821029985355}"/>
              </a:ext>
            </a:extLst>
          </p:cNvPr>
          <p:cNvSpPr txBox="1"/>
          <p:nvPr/>
        </p:nvSpPr>
        <p:spPr>
          <a:xfrm>
            <a:off x="9097278" y="2243742"/>
            <a:ext cx="242066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3C8EB2"/>
                </a:solidFill>
                <a:effectLst/>
                <a:uLnTx/>
                <a:uFillTx/>
                <a:latin typeface="Calibri" panose="020F0502020204030204"/>
                <a:ea typeface="+mn-ea"/>
                <a:cs typeface="+mn-cs"/>
              </a:rPr>
              <a:t>Approximated GHG Inventory.</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a:solidFill>
                  <a:srgbClr val="3C8EB2"/>
                </a:solidFill>
                <a:latin typeface="Calibri" panose="020F0502020204030204"/>
              </a:rPr>
              <a:t>X-1</a:t>
            </a:r>
            <a:endParaRPr kumimoji="0" lang="en-GB" sz="1400" b="1" i="0" u="none" strike="noStrike" kern="1200" cap="none" spc="0" normalizeH="0" baseline="0" noProof="0">
              <a:ln>
                <a:noFill/>
              </a:ln>
              <a:solidFill>
                <a:srgbClr val="3C8EB2"/>
              </a:solidFill>
              <a:effectLst/>
              <a:uLnTx/>
              <a:uFillTx/>
              <a:latin typeface="Calibri" panose="020F0502020204030204"/>
              <a:ea typeface="+mn-ea"/>
              <a:cs typeface="+mn-cs"/>
            </a:endParaRPr>
          </a:p>
        </p:txBody>
      </p:sp>
      <p:sp>
        <p:nvSpPr>
          <p:cNvPr id="77" name="TextBox 76">
            <a:extLst>
              <a:ext uri="{FF2B5EF4-FFF2-40B4-BE49-F238E27FC236}">
                <a16:creationId xmlns:a16="http://schemas.microsoft.com/office/drawing/2014/main" id="{807CC50B-9743-D834-D051-E19E6054615E}"/>
              </a:ext>
            </a:extLst>
          </p:cNvPr>
          <p:cNvSpPr txBox="1"/>
          <p:nvPr/>
        </p:nvSpPr>
        <p:spPr>
          <a:xfrm>
            <a:off x="8914012" y="6242462"/>
            <a:ext cx="1724318"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3C8EB2"/>
                </a:solidFill>
                <a:effectLst/>
                <a:uLnTx/>
                <a:uFillTx/>
                <a:latin typeface="Calibri" panose="020F0502020204030204"/>
                <a:ea typeface="+mn-ea"/>
                <a:cs typeface="+mn-cs"/>
              </a:rPr>
              <a:t>Supp. Dev. Countries</a:t>
            </a:r>
          </a:p>
        </p:txBody>
      </p:sp>
      <p:grpSp>
        <p:nvGrpSpPr>
          <p:cNvPr id="84" name="Group 83">
            <a:extLst>
              <a:ext uri="{FF2B5EF4-FFF2-40B4-BE49-F238E27FC236}">
                <a16:creationId xmlns:a16="http://schemas.microsoft.com/office/drawing/2014/main" id="{769D5109-9BC0-2B78-DFC9-0BDCCFD48F12}"/>
              </a:ext>
            </a:extLst>
          </p:cNvPr>
          <p:cNvGrpSpPr/>
          <p:nvPr/>
        </p:nvGrpSpPr>
        <p:grpSpPr>
          <a:xfrm>
            <a:off x="8625223" y="3463884"/>
            <a:ext cx="3446408" cy="1104833"/>
            <a:chOff x="198883" y="4532551"/>
            <a:chExt cx="3257074" cy="1530033"/>
          </a:xfrm>
        </p:grpSpPr>
        <p:sp>
          <p:nvSpPr>
            <p:cNvPr id="79" name="Rectangle 78">
              <a:extLst>
                <a:ext uri="{FF2B5EF4-FFF2-40B4-BE49-F238E27FC236}">
                  <a16:creationId xmlns:a16="http://schemas.microsoft.com/office/drawing/2014/main" id="{8670CE83-3688-4CDB-BEFE-95CC454A422C}"/>
                </a:ext>
              </a:extLst>
            </p:cNvPr>
            <p:cNvSpPr/>
            <p:nvPr/>
          </p:nvSpPr>
          <p:spPr>
            <a:xfrm>
              <a:off x="198883" y="4532551"/>
              <a:ext cx="3257074" cy="1530033"/>
            </a:xfrm>
            <a:prstGeom prst="rect">
              <a:avLst/>
            </a:prstGeom>
            <a:solidFill>
              <a:srgbClr val="FFFFFF"/>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Legend:</a:t>
              </a:r>
              <a:endParaRPr kumimoji="0" lang="LID4096"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Diamond 79">
              <a:extLst>
                <a:ext uri="{FF2B5EF4-FFF2-40B4-BE49-F238E27FC236}">
                  <a16:creationId xmlns:a16="http://schemas.microsoft.com/office/drawing/2014/main" id="{567D8740-77DA-9BCD-0C5A-352D0078FD47}"/>
                </a:ext>
              </a:extLst>
            </p:cNvPr>
            <p:cNvSpPr/>
            <p:nvPr/>
          </p:nvSpPr>
          <p:spPr>
            <a:xfrm>
              <a:off x="346638" y="5587644"/>
              <a:ext cx="269770" cy="269770"/>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5DAAEA88-0E4E-DA17-1CFD-C95E763CA3F5}"/>
                </a:ext>
              </a:extLst>
            </p:cNvPr>
            <p:cNvSpPr/>
            <p:nvPr/>
          </p:nvSpPr>
          <p:spPr>
            <a:xfrm>
              <a:off x="393826" y="5106363"/>
              <a:ext cx="199051" cy="199051"/>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TextBox 81">
              <a:extLst>
                <a:ext uri="{FF2B5EF4-FFF2-40B4-BE49-F238E27FC236}">
                  <a16:creationId xmlns:a16="http://schemas.microsoft.com/office/drawing/2014/main" id="{E556FC28-6867-814A-7B01-8BF54FBBF04A}"/>
                </a:ext>
              </a:extLst>
            </p:cNvPr>
            <p:cNvSpPr txBox="1"/>
            <p:nvPr/>
          </p:nvSpPr>
          <p:spPr>
            <a:xfrm>
              <a:off x="718406" y="5002533"/>
              <a:ext cx="1047647" cy="36023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prstClr val="black"/>
                  </a:solidFill>
                  <a:latin typeface="Calibri" panose="020F0502020204030204"/>
                </a:rPr>
                <a:t>D</a:t>
              </a:r>
              <a:r>
                <a:rPr kumimoji="0" lang="en-GB" sz="1400" b="0" i="0" u="none" strike="noStrike" kern="1200" cap="none" spc="0" normalizeH="0" baseline="0" noProof="0" err="1">
                  <a:ln>
                    <a:noFill/>
                  </a:ln>
                  <a:solidFill>
                    <a:prstClr val="black"/>
                  </a:solidFill>
                  <a:effectLst/>
                  <a:uLnTx/>
                  <a:uFillTx/>
                  <a:latin typeface="Calibri" panose="020F0502020204030204"/>
                  <a:ea typeface="+mn-ea"/>
                  <a:cs typeface="+mn-cs"/>
                </a:rPr>
                <a:t>ataflow</a:t>
              </a: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opens</a:t>
              </a:r>
              <a:endParaRPr kumimoji="0" lang="LID4096"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TextBox 82">
              <a:extLst>
                <a:ext uri="{FF2B5EF4-FFF2-40B4-BE49-F238E27FC236}">
                  <a16:creationId xmlns:a16="http://schemas.microsoft.com/office/drawing/2014/main" id="{440CFB4B-5852-B1AD-CF3F-E9D1E44F9251}"/>
                </a:ext>
              </a:extLst>
            </p:cNvPr>
            <p:cNvSpPr txBox="1"/>
            <p:nvPr/>
          </p:nvSpPr>
          <p:spPr>
            <a:xfrm>
              <a:off x="699076" y="5543891"/>
              <a:ext cx="151599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Deadline dataflow</a:t>
              </a:r>
              <a:endParaRPr kumimoji="0" lang="LID4096"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6" name="Diamond 85">
            <a:extLst>
              <a:ext uri="{FF2B5EF4-FFF2-40B4-BE49-F238E27FC236}">
                <a16:creationId xmlns:a16="http://schemas.microsoft.com/office/drawing/2014/main" id="{FF78DFA6-45BF-8E0F-9B1C-6BC8B46357C4}"/>
              </a:ext>
            </a:extLst>
          </p:cNvPr>
          <p:cNvSpPr/>
          <p:nvPr/>
        </p:nvSpPr>
        <p:spPr>
          <a:xfrm>
            <a:off x="2758707" y="3051066"/>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415A2F5C-CCA4-8E5C-3E62-360D17D22EB9}"/>
              </a:ext>
            </a:extLst>
          </p:cNvPr>
          <p:cNvSpPr/>
          <p:nvPr/>
        </p:nvSpPr>
        <p:spPr>
          <a:xfrm>
            <a:off x="456551" y="3160979"/>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0" name="Straight Connector 89">
            <a:extLst>
              <a:ext uri="{FF2B5EF4-FFF2-40B4-BE49-F238E27FC236}">
                <a16:creationId xmlns:a16="http://schemas.microsoft.com/office/drawing/2014/main" id="{5B4FE5E6-551E-D13E-82A9-8AA1E20C872C}"/>
              </a:ext>
            </a:extLst>
          </p:cNvPr>
          <p:cNvCxnSpPr>
            <a:cxnSpLocks/>
          </p:cNvCxnSpPr>
          <p:nvPr/>
        </p:nvCxnSpPr>
        <p:spPr>
          <a:xfrm>
            <a:off x="776265" y="3320836"/>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4307C277-D96A-0F75-3973-4944CDCA8D85}"/>
              </a:ext>
            </a:extLst>
          </p:cNvPr>
          <p:cNvSpPr txBox="1"/>
          <p:nvPr/>
        </p:nvSpPr>
        <p:spPr>
          <a:xfrm>
            <a:off x="3636164" y="3719924"/>
            <a:ext cx="2429511" cy="95410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3C8EB2"/>
                </a:solidFill>
                <a:effectLst/>
                <a:uLnTx/>
                <a:uFillTx/>
                <a:latin typeface="Calibri" panose="020F0502020204030204"/>
              </a:rPr>
              <a:t>Pro</a:t>
            </a:r>
            <a:r>
              <a:rPr kumimoji="0" lang="en-SE" sz="1400" b="1" i="0" u="none" strike="noStrike" kern="1200" cap="none" spc="0" normalizeH="0" baseline="0" noProof="0" err="1">
                <a:ln>
                  <a:noFill/>
                </a:ln>
                <a:solidFill>
                  <a:srgbClr val="3C8EB2"/>
                </a:solidFill>
                <a:effectLst/>
                <a:uLnTx/>
                <a:uFillTx/>
                <a:latin typeface="Calibri" panose="020F0502020204030204"/>
              </a:rPr>
              <a:t>gress</a:t>
            </a:r>
            <a:r>
              <a:rPr kumimoji="0" lang="en-SE" sz="1400" b="1" i="0" u="none" strike="noStrike" kern="1200" cap="none" spc="0" normalizeH="0" noProof="0">
                <a:ln>
                  <a:noFill/>
                </a:ln>
                <a:solidFill>
                  <a:srgbClr val="3C8EB2"/>
                </a:solidFill>
                <a:effectLst/>
                <a:uLnTx/>
                <a:uFillTx/>
                <a:latin typeface="Calibri" panose="020F0502020204030204"/>
              </a:rPr>
              <a:t> to targets adaptation</a:t>
            </a:r>
            <a:endParaRPr kumimoji="0" lang="en-SE" sz="1400" b="1" i="0" u="none" strike="noStrike" kern="1200" cap="none" spc="0" normalizeH="0" baseline="0" noProof="0">
              <a:ln>
                <a:noFill/>
              </a:ln>
              <a:solidFill>
                <a:srgbClr val="3C8EB2"/>
              </a:solidFill>
              <a:effectLst/>
              <a:uLnTx/>
              <a:uFillTx/>
              <a:latin typeface="Calibri" panose="020F0502020204030204"/>
            </a:endParaRPr>
          </a:p>
          <a:p>
            <a:pPr marL="0" marR="0" lvl="0" indent="0" defTabSz="914400" rtl="0" eaLnBrk="1" fontAlgn="auto" latinLnBrk="0" hangingPunct="1">
              <a:lnSpc>
                <a:spcPct val="100000"/>
              </a:lnSpc>
              <a:spcBef>
                <a:spcPts val="0"/>
              </a:spcBef>
              <a:spcAft>
                <a:spcPts val="0"/>
              </a:spcAft>
              <a:buClrTx/>
              <a:buSzTx/>
              <a:buFontTx/>
              <a:buNone/>
              <a:tabLst/>
              <a:defRPr/>
            </a:pPr>
            <a:r>
              <a:rPr lang="en-SE" sz="1400" b="1">
                <a:solidFill>
                  <a:srgbClr val="3C8EB2"/>
                </a:solidFill>
                <a:latin typeface="Calibri" panose="020F0502020204030204"/>
              </a:rPr>
              <a:t>Progress to targets GHG</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SE" sz="1400" b="1" i="0" u="none" strike="noStrike" kern="1200" cap="none" spc="0" normalizeH="0" baseline="0" noProof="0">
                <a:ln>
                  <a:noFill/>
                </a:ln>
                <a:solidFill>
                  <a:srgbClr val="3C8EB2"/>
                </a:solidFill>
                <a:effectLst/>
                <a:uLnTx/>
                <a:uFillTx/>
                <a:latin typeface="Calibri" panose="020F0502020204030204"/>
              </a:rPr>
              <a:t>Progress to targets RES</a:t>
            </a:r>
          </a:p>
          <a:p>
            <a:pPr marL="0" marR="0" lvl="0" indent="0" defTabSz="914400" rtl="0" eaLnBrk="1" fontAlgn="auto" latinLnBrk="0" hangingPunct="1">
              <a:lnSpc>
                <a:spcPct val="100000"/>
              </a:lnSpc>
              <a:spcBef>
                <a:spcPts val="0"/>
              </a:spcBef>
              <a:spcAft>
                <a:spcPts val="0"/>
              </a:spcAft>
              <a:buClrTx/>
              <a:buSzTx/>
              <a:buFontTx/>
              <a:buNone/>
              <a:tabLst/>
              <a:defRPr/>
            </a:pPr>
            <a:r>
              <a:rPr lang="en-SE" sz="1400" b="1" noProof="0">
                <a:solidFill>
                  <a:srgbClr val="3C8EB2"/>
                </a:solidFill>
                <a:latin typeface="Calibri" panose="020F0502020204030204"/>
              </a:rPr>
              <a:t>Progress to targets EE</a:t>
            </a:r>
          </a:p>
        </p:txBody>
      </p:sp>
      <p:sp>
        <p:nvSpPr>
          <p:cNvPr id="94" name="Diamond 93">
            <a:extLst>
              <a:ext uri="{FF2B5EF4-FFF2-40B4-BE49-F238E27FC236}">
                <a16:creationId xmlns:a16="http://schemas.microsoft.com/office/drawing/2014/main" id="{89572232-5A3A-E6A8-DDDA-1B121ED88B37}"/>
              </a:ext>
            </a:extLst>
          </p:cNvPr>
          <p:cNvSpPr/>
          <p:nvPr/>
        </p:nvSpPr>
        <p:spPr>
          <a:xfrm>
            <a:off x="2752793" y="3188642"/>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Rectangle 95">
            <a:extLst>
              <a:ext uri="{FF2B5EF4-FFF2-40B4-BE49-F238E27FC236}">
                <a16:creationId xmlns:a16="http://schemas.microsoft.com/office/drawing/2014/main" id="{3519A866-E168-5869-88FF-44BB5F13003C}"/>
              </a:ext>
            </a:extLst>
          </p:cNvPr>
          <p:cNvSpPr/>
          <p:nvPr/>
        </p:nvSpPr>
        <p:spPr>
          <a:xfrm>
            <a:off x="450637" y="3298557"/>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8" name="Straight Connector 97">
            <a:extLst>
              <a:ext uri="{FF2B5EF4-FFF2-40B4-BE49-F238E27FC236}">
                <a16:creationId xmlns:a16="http://schemas.microsoft.com/office/drawing/2014/main" id="{9FF73035-0456-10E4-1DBB-991EAB32D7EF}"/>
              </a:ext>
            </a:extLst>
          </p:cNvPr>
          <p:cNvCxnSpPr>
            <a:cxnSpLocks/>
          </p:cNvCxnSpPr>
          <p:nvPr/>
        </p:nvCxnSpPr>
        <p:spPr>
          <a:xfrm>
            <a:off x="770351" y="3458414"/>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00" name="Diamond 99">
            <a:extLst>
              <a:ext uri="{FF2B5EF4-FFF2-40B4-BE49-F238E27FC236}">
                <a16:creationId xmlns:a16="http://schemas.microsoft.com/office/drawing/2014/main" id="{FC558636-4A47-702A-0E75-DBDC3A82D1FB}"/>
              </a:ext>
            </a:extLst>
          </p:cNvPr>
          <p:cNvSpPr/>
          <p:nvPr/>
        </p:nvSpPr>
        <p:spPr>
          <a:xfrm>
            <a:off x="2748877" y="3695294"/>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101">
            <a:extLst>
              <a:ext uri="{FF2B5EF4-FFF2-40B4-BE49-F238E27FC236}">
                <a16:creationId xmlns:a16="http://schemas.microsoft.com/office/drawing/2014/main" id="{4E8651A7-A4A8-8A81-60CB-D8B68782328D}"/>
              </a:ext>
            </a:extLst>
          </p:cNvPr>
          <p:cNvSpPr/>
          <p:nvPr/>
        </p:nvSpPr>
        <p:spPr>
          <a:xfrm>
            <a:off x="446721" y="3805207"/>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4" name="Straight Connector 103">
            <a:extLst>
              <a:ext uri="{FF2B5EF4-FFF2-40B4-BE49-F238E27FC236}">
                <a16:creationId xmlns:a16="http://schemas.microsoft.com/office/drawing/2014/main" id="{76CC0658-3AFE-C5EF-E300-F00114ADC00D}"/>
              </a:ext>
            </a:extLst>
          </p:cNvPr>
          <p:cNvCxnSpPr>
            <a:cxnSpLocks/>
          </p:cNvCxnSpPr>
          <p:nvPr/>
        </p:nvCxnSpPr>
        <p:spPr>
          <a:xfrm>
            <a:off x="766435" y="3965064"/>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06" name="Diamond 105">
            <a:extLst>
              <a:ext uri="{FF2B5EF4-FFF2-40B4-BE49-F238E27FC236}">
                <a16:creationId xmlns:a16="http://schemas.microsoft.com/office/drawing/2014/main" id="{E2AEEDD5-6D61-53C4-F4BC-1DDC4791DB14}"/>
              </a:ext>
            </a:extLst>
          </p:cNvPr>
          <p:cNvSpPr/>
          <p:nvPr/>
        </p:nvSpPr>
        <p:spPr>
          <a:xfrm>
            <a:off x="2748877" y="3859766"/>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 name="Rectangle 107">
            <a:extLst>
              <a:ext uri="{FF2B5EF4-FFF2-40B4-BE49-F238E27FC236}">
                <a16:creationId xmlns:a16="http://schemas.microsoft.com/office/drawing/2014/main" id="{1EE7BE42-316E-8080-832B-F31A0603E54D}"/>
              </a:ext>
            </a:extLst>
          </p:cNvPr>
          <p:cNvSpPr/>
          <p:nvPr/>
        </p:nvSpPr>
        <p:spPr>
          <a:xfrm>
            <a:off x="446721" y="3969681"/>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0" name="Straight Connector 109">
            <a:extLst>
              <a:ext uri="{FF2B5EF4-FFF2-40B4-BE49-F238E27FC236}">
                <a16:creationId xmlns:a16="http://schemas.microsoft.com/office/drawing/2014/main" id="{DEB9DB39-E079-1397-C805-D60B151DE4C4}"/>
              </a:ext>
            </a:extLst>
          </p:cNvPr>
          <p:cNvCxnSpPr>
            <a:cxnSpLocks/>
          </p:cNvCxnSpPr>
          <p:nvPr/>
        </p:nvCxnSpPr>
        <p:spPr>
          <a:xfrm>
            <a:off x="766435" y="4129538"/>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12" name="Diamond 111">
            <a:extLst>
              <a:ext uri="{FF2B5EF4-FFF2-40B4-BE49-F238E27FC236}">
                <a16:creationId xmlns:a16="http://schemas.microsoft.com/office/drawing/2014/main" id="{13F4F2D2-7162-5B8D-9A38-73B66A72BD07}"/>
              </a:ext>
            </a:extLst>
          </p:cNvPr>
          <p:cNvSpPr/>
          <p:nvPr/>
        </p:nvSpPr>
        <p:spPr>
          <a:xfrm>
            <a:off x="2742963" y="3997344"/>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4" name="Rectangle 113">
            <a:extLst>
              <a:ext uri="{FF2B5EF4-FFF2-40B4-BE49-F238E27FC236}">
                <a16:creationId xmlns:a16="http://schemas.microsoft.com/office/drawing/2014/main" id="{0878B3E1-F110-FEB2-AA69-5CC8516EF842}"/>
              </a:ext>
            </a:extLst>
          </p:cNvPr>
          <p:cNvSpPr/>
          <p:nvPr/>
        </p:nvSpPr>
        <p:spPr>
          <a:xfrm>
            <a:off x="448181" y="4107258"/>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6" name="Straight Connector 115">
            <a:extLst>
              <a:ext uri="{FF2B5EF4-FFF2-40B4-BE49-F238E27FC236}">
                <a16:creationId xmlns:a16="http://schemas.microsoft.com/office/drawing/2014/main" id="{E497855C-4EBE-3525-DA91-8D045B3E8E01}"/>
              </a:ext>
            </a:extLst>
          </p:cNvPr>
          <p:cNvCxnSpPr>
            <a:cxnSpLocks/>
          </p:cNvCxnSpPr>
          <p:nvPr/>
        </p:nvCxnSpPr>
        <p:spPr>
          <a:xfrm>
            <a:off x="767895" y="4267115"/>
            <a:ext cx="1975068"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18" name="Diamond 117">
            <a:extLst>
              <a:ext uri="{FF2B5EF4-FFF2-40B4-BE49-F238E27FC236}">
                <a16:creationId xmlns:a16="http://schemas.microsoft.com/office/drawing/2014/main" id="{513C5F86-735F-FF41-0801-4A87DB3D773B}"/>
              </a:ext>
            </a:extLst>
          </p:cNvPr>
          <p:cNvSpPr/>
          <p:nvPr/>
        </p:nvSpPr>
        <p:spPr>
          <a:xfrm>
            <a:off x="2732029" y="4142097"/>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Rectangle 119">
            <a:extLst>
              <a:ext uri="{FF2B5EF4-FFF2-40B4-BE49-F238E27FC236}">
                <a16:creationId xmlns:a16="http://schemas.microsoft.com/office/drawing/2014/main" id="{E3A4F8E6-916B-80F6-CE80-938AE807518A}"/>
              </a:ext>
            </a:extLst>
          </p:cNvPr>
          <p:cNvSpPr/>
          <p:nvPr/>
        </p:nvSpPr>
        <p:spPr>
          <a:xfrm>
            <a:off x="451995" y="4252012"/>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2" name="Straight Connector 121">
            <a:extLst>
              <a:ext uri="{FF2B5EF4-FFF2-40B4-BE49-F238E27FC236}">
                <a16:creationId xmlns:a16="http://schemas.microsoft.com/office/drawing/2014/main" id="{B8416291-87E1-C2ED-F4EC-09138CCB698D}"/>
              </a:ext>
            </a:extLst>
          </p:cNvPr>
          <p:cNvCxnSpPr>
            <a:cxnSpLocks/>
          </p:cNvCxnSpPr>
          <p:nvPr/>
        </p:nvCxnSpPr>
        <p:spPr>
          <a:xfrm>
            <a:off x="771709" y="4411869"/>
            <a:ext cx="1960320"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9F0674B3-46D3-267E-8B62-26CE7D4EE847}"/>
              </a:ext>
            </a:extLst>
          </p:cNvPr>
          <p:cNvSpPr txBox="1"/>
          <p:nvPr/>
        </p:nvSpPr>
        <p:spPr>
          <a:xfrm>
            <a:off x="10973452" y="3566501"/>
            <a:ext cx="949462" cy="461665"/>
          </a:xfrm>
          <a:prstGeom prst="rect">
            <a:avLst/>
          </a:prstGeom>
          <a:solidFill>
            <a:schemeClr val="bg1">
              <a:lumMod val="85000"/>
            </a:schemeClr>
          </a:solidFill>
        </p:spPr>
        <p:txBody>
          <a:bodyPr wrap="square" lIns="91440" tIns="45720" rIns="91440" bIns="4572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SE" sz="1200">
                <a:solidFill>
                  <a:schemeClr val="bg2">
                    <a:lumMod val="25000"/>
                  </a:schemeClr>
                </a:solidFill>
                <a:latin typeface="Calibri" panose="020F0502020204030204"/>
              </a:rPr>
              <a:t>Existing Obligations</a:t>
            </a:r>
            <a:endParaRPr kumimoji="0" lang="en-GB" sz="1200" i="0" u="none" strike="noStrike" kern="1200" cap="none" spc="0" normalizeH="0" baseline="0" noProof="0">
              <a:ln>
                <a:noFill/>
              </a:ln>
              <a:solidFill>
                <a:schemeClr val="bg2">
                  <a:lumMod val="25000"/>
                </a:schemeClr>
              </a:solidFill>
              <a:effectLst/>
              <a:uLnTx/>
              <a:uFillTx/>
              <a:latin typeface="Calibri" panose="020F0502020204030204"/>
            </a:endParaRPr>
          </a:p>
        </p:txBody>
      </p:sp>
      <p:sp>
        <p:nvSpPr>
          <p:cNvPr id="126" name="TextBox 125">
            <a:extLst>
              <a:ext uri="{FF2B5EF4-FFF2-40B4-BE49-F238E27FC236}">
                <a16:creationId xmlns:a16="http://schemas.microsoft.com/office/drawing/2014/main" id="{EF7FF6C5-E229-0AB6-991A-EA4E1175CFD6}"/>
              </a:ext>
            </a:extLst>
          </p:cNvPr>
          <p:cNvSpPr txBox="1"/>
          <p:nvPr/>
        </p:nvSpPr>
        <p:spPr>
          <a:xfrm>
            <a:off x="10961826" y="4095838"/>
            <a:ext cx="949462"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SE" sz="1200" b="1">
                <a:solidFill>
                  <a:schemeClr val="accent1"/>
                </a:solidFill>
                <a:latin typeface="Calibri" panose="020F0502020204030204"/>
              </a:rPr>
              <a:t>New Obligations</a:t>
            </a:r>
            <a:endParaRPr kumimoji="0" lang="en-GB" sz="1200" b="1" i="0" u="none" strike="noStrike" kern="1200" cap="none" spc="0" normalizeH="0" baseline="0" noProof="0">
              <a:ln>
                <a:noFill/>
              </a:ln>
              <a:solidFill>
                <a:schemeClr val="accent1"/>
              </a:solidFill>
              <a:effectLst/>
              <a:uLnTx/>
              <a:uFillTx/>
              <a:latin typeface="Calibri" panose="020F0502020204030204"/>
            </a:endParaRPr>
          </a:p>
        </p:txBody>
      </p:sp>
      <p:sp>
        <p:nvSpPr>
          <p:cNvPr id="128" name="Diamond 127">
            <a:extLst>
              <a:ext uri="{FF2B5EF4-FFF2-40B4-BE49-F238E27FC236}">
                <a16:creationId xmlns:a16="http://schemas.microsoft.com/office/drawing/2014/main" id="{0BA69904-E194-056E-BE99-DF77F687F07E}"/>
              </a:ext>
            </a:extLst>
          </p:cNvPr>
          <p:cNvSpPr/>
          <p:nvPr/>
        </p:nvSpPr>
        <p:spPr>
          <a:xfrm>
            <a:off x="2746420" y="4589611"/>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Rectangle 129">
            <a:extLst>
              <a:ext uri="{FF2B5EF4-FFF2-40B4-BE49-F238E27FC236}">
                <a16:creationId xmlns:a16="http://schemas.microsoft.com/office/drawing/2014/main" id="{ED2C4294-9573-330B-1617-97662654D6E5}"/>
              </a:ext>
            </a:extLst>
          </p:cNvPr>
          <p:cNvSpPr/>
          <p:nvPr/>
        </p:nvSpPr>
        <p:spPr>
          <a:xfrm>
            <a:off x="444264" y="4699525"/>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2" name="Straight Connector 131">
            <a:extLst>
              <a:ext uri="{FF2B5EF4-FFF2-40B4-BE49-F238E27FC236}">
                <a16:creationId xmlns:a16="http://schemas.microsoft.com/office/drawing/2014/main" id="{AF6EA64C-9070-614C-2C0B-A4418EB119FA}"/>
              </a:ext>
            </a:extLst>
          </p:cNvPr>
          <p:cNvCxnSpPr>
            <a:cxnSpLocks/>
          </p:cNvCxnSpPr>
          <p:nvPr/>
        </p:nvCxnSpPr>
        <p:spPr>
          <a:xfrm>
            <a:off x="763978" y="4859382"/>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34" name="Diamond 133">
            <a:extLst>
              <a:ext uri="{FF2B5EF4-FFF2-40B4-BE49-F238E27FC236}">
                <a16:creationId xmlns:a16="http://schemas.microsoft.com/office/drawing/2014/main" id="{F03EF3E9-C9E0-35FB-DDAA-77723A3FC1B5}"/>
              </a:ext>
            </a:extLst>
          </p:cNvPr>
          <p:cNvSpPr/>
          <p:nvPr/>
        </p:nvSpPr>
        <p:spPr>
          <a:xfrm>
            <a:off x="2746420" y="4754085"/>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Rectangle 135">
            <a:extLst>
              <a:ext uri="{FF2B5EF4-FFF2-40B4-BE49-F238E27FC236}">
                <a16:creationId xmlns:a16="http://schemas.microsoft.com/office/drawing/2014/main" id="{6A734ECE-B285-B426-C4C7-17CAFFE4817D}"/>
              </a:ext>
            </a:extLst>
          </p:cNvPr>
          <p:cNvSpPr/>
          <p:nvPr/>
        </p:nvSpPr>
        <p:spPr>
          <a:xfrm>
            <a:off x="444264" y="4863999"/>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8" name="Straight Connector 137">
            <a:extLst>
              <a:ext uri="{FF2B5EF4-FFF2-40B4-BE49-F238E27FC236}">
                <a16:creationId xmlns:a16="http://schemas.microsoft.com/office/drawing/2014/main" id="{51579D35-BB80-776F-7992-BE50BDF2645C}"/>
              </a:ext>
            </a:extLst>
          </p:cNvPr>
          <p:cNvCxnSpPr>
            <a:cxnSpLocks/>
          </p:cNvCxnSpPr>
          <p:nvPr/>
        </p:nvCxnSpPr>
        <p:spPr>
          <a:xfrm>
            <a:off x="763978" y="5023856"/>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40" name="Diamond 139">
            <a:extLst>
              <a:ext uri="{FF2B5EF4-FFF2-40B4-BE49-F238E27FC236}">
                <a16:creationId xmlns:a16="http://schemas.microsoft.com/office/drawing/2014/main" id="{F573409F-8A00-53A9-4EF5-1301F77F9151}"/>
              </a:ext>
            </a:extLst>
          </p:cNvPr>
          <p:cNvSpPr/>
          <p:nvPr/>
        </p:nvSpPr>
        <p:spPr>
          <a:xfrm>
            <a:off x="2740506" y="5167378"/>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141">
            <a:extLst>
              <a:ext uri="{FF2B5EF4-FFF2-40B4-BE49-F238E27FC236}">
                <a16:creationId xmlns:a16="http://schemas.microsoft.com/office/drawing/2014/main" id="{8AEB2674-3C47-ED04-B579-EF37EAAA87E8}"/>
              </a:ext>
            </a:extLst>
          </p:cNvPr>
          <p:cNvSpPr/>
          <p:nvPr/>
        </p:nvSpPr>
        <p:spPr>
          <a:xfrm>
            <a:off x="438350" y="5277293"/>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4" name="Straight Connector 143">
            <a:extLst>
              <a:ext uri="{FF2B5EF4-FFF2-40B4-BE49-F238E27FC236}">
                <a16:creationId xmlns:a16="http://schemas.microsoft.com/office/drawing/2014/main" id="{23BC76EC-8375-7BAF-33EA-B4466FFD4A27}"/>
              </a:ext>
            </a:extLst>
          </p:cNvPr>
          <p:cNvCxnSpPr>
            <a:cxnSpLocks/>
          </p:cNvCxnSpPr>
          <p:nvPr/>
        </p:nvCxnSpPr>
        <p:spPr>
          <a:xfrm>
            <a:off x="758064" y="5437150"/>
            <a:ext cx="1982442" cy="1"/>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07051405-C8EB-B8CD-EF3B-3116E0B719BD}"/>
              </a:ext>
            </a:extLst>
          </p:cNvPr>
          <p:cNvSpPr txBox="1"/>
          <p:nvPr/>
        </p:nvSpPr>
        <p:spPr>
          <a:xfrm>
            <a:off x="3607476" y="5316399"/>
            <a:ext cx="1403974" cy="30777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3C8EB2"/>
                </a:solidFill>
                <a:effectLst/>
                <a:uLnTx/>
                <a:uFillTx/>
                <a:latin typeface="Calibri" panose="020F0502020204030204"/>
              </a:rPr>
              <a:t>GHG P</a:t>
            </a:r>
            <a:r>
              <a:rPr kumimoji="0" lang="en-SE" sz="1400" b="1" i="0" u="none" strike="noStrike" kern="1200" cap="none" spc="0" normalizeH="0" baseline="0" noProof="0" err="1">
                <a:ln>
                  <a:noFill/>
                </a:ln>
                <a:solidFill>
                  <a:srgbClr val="3C8EB2"/>
                </a:solidFill>
                <a:effectLst/>
                <a:uLnTx/>
                <a:uFillTx/>
                <a:latin typeface="Calibri" panose="020F0502020204030204"/>
              </a:rPr>
              <a:t>rojections</a:t>
            </a:r>
            <a:endParaRPr lang="en-GB" sz="1400" b="1">
              <a:solidFill>
                <a:srgbClr val="3C8EB2"/>
              </a:solidFill>
              <a:latin typeface="Calibri" panose="020F0502020204030204"/>
            </a:endParaRPr>
          </a:p>
        </p:txBody>
      </p:sp>
      <p:sp>
        <p:nvSpPr>
          <p:cNvPr id="148" name="TextBox 147">
            <a:extLst>
              <a:ext uri="{FF2B5EF4-FFF2-40B4-BE49-F238E27FC236}">
                <a16:creationId xmlns:a16="http://schemas.microsoft.com/office/drawing/2014/main" id="{DEA83146-4E47-A868-A0DC-D066BE799C1C}"/>
              </a:ext>
            </a:extLst>
          </p:cNvPr>
          <p:cNvSpPr txBox="1"/>
          <p:nvPr/>
        </p:nvSpPr>
        <p:spPr>
          <a:xfrm>
            <a:off x="5990161" y="5686718"/>
            <a:ext cx="2827523" cy="261610"/>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100" i="0" u="none" strike="noStrike" kern="1200" cap="none" spc="0" normalizeH="0" baseline="0" noProof="0">
                <a:ln>
                  <a:noFill/>
                </a:ln>
                <a:solidFill>
                  <a:schemeClr val="bg2">
                    <a:lumMod val="25000"/>
                  </a:schemeClr>
                </a:solidFill>
                <a:effectLst/>
                <a:uLnTx/>
                <a:uFillTx/>
                <a:latin typeface="Calibri" panose="020F0502020204030204"/>
                <a:ea typeface="+mn-ea"/>
                <a:cs typeface="+mn-cs"/>
              </a:rPr>
              <a:t>R</a:t>
            </a:r>
            <a:r>
              <a:rPr kumimoji="0" lang="en-GB" sz="1100" i="0" u="none" strike="noStrike" kern="1200" cap="none" spc="0" normalizeH="0" baseline="0" noProof="0" err="1">
                <a:ln>
                  <a:noFill/>
                </a:ln>
                <a:solidFill>
                  <a:schemeClr val="bg2">
                    <a:lumMod val="25000"/>
                  </a:schemeClr>
                </a:solidFill>
                <a:effectLst/>
                <a:uLnTx/>
                <a:uFillTx/>
                <a:latin typeface="Calibri" panose="020F0502020204030204"/>
                <a:ea typeface="+mn-ea"/>
                <a:cs typeface="+mn-cs"/>
              </a:rPr>
              <a:t>evenues</a:t>
            </a:r>
            <a:r>
              <a:rPr kumimoji="0" lang="en-SE" sz="1100" i="0" u="none" strike="noStrike" kern="1200" cap="none" spc="0" normalizeH="0" baseline="0" noProof="0">
                <a:ln>
                  <a:noFill/>
                </a:ln>
                <a:solidFill>
                  <a:schemeClr val="bg2">
                    <a:lumMod val="25000"/>
                  </a:schemeClr>
                </a:solidFill>
                <a:effectLst/>
                <a:uLnTx/>
                <a:uFillTx/>
                <a:latin typeface="Calibri" panose="020F0502020204030204"/>
                <a:ea typeface="+mn-ea"/>
                <a:cs typeface="+mn-cs"/>
              </a:rPr>
              <a:t> from Carbon</a:t>
            </a:r>
            <a:r>
              <a:rPr kumimoji="0" lang="en-SE" sz="1100" i="0" u="none" strike="noStrike" kern="1200" cap="none" spc="0" normalizeH="0" noProof="0">
                <a:ln>
                  <a:noFill/>
                </a:ln>
                <a:solidFill>
                  <a:schemeClr val="bg2">
                    <a:lumMod val="25000"/>
                  </a:schemeClr>
                </a:solidFill>
                <a:effectLst/>
                <a:uLnTx/>
                <a:uFillTx/>
                <a:latin typeface="Calibri" panose="020F0502020204030204"/>
                <a:ea typeface="+mn-ea"/>
                <a:cs typeface="+mn-cs"/>
              </a:rPr>
              <a:t> Price Mechanisms</a:t>
            </a:r>
            <a:endParaRPr kumimoji="0" lang="en-GB" sz="1100" i="0" u="none" strike="noStrike" kern="1200" cap="none" spc="0" normalizeH="0" baseline="0" noProof="0">
              <a:ln>
                <a:noFill/>
              </a:ln>
              <a:solidFill>
                <a:schemeClr val="bg2">
                  <a:lumMod val="25000"/>
                </a:schemeClr>
              </a:solidFill>
              <a:effectLst/>
              <a:uLnTx/>
              <a:uFillTx/>
              <a:latin typeface="Calibri" panose="020F0502020204030204"/>
              <a:ea typeface="+mn-ea"/>
              <a:cs typeface="+mn-cs"/>
            </a:endParaRPr>
          </a:p>
        </p:txBody>
      </p:sp>
      <p:sp>
        <p:nvSpPr>
          <p:cNvPr id="150" name="Diamond 149">
            <a:extLst>
              <a:ext uri="{FF2B5EF4-FFF2-40B4-BE49-F238E27FC236}">
                <a16:creationId xmlns:a16="http://schemas.microsoft.com/office/drawing/2014/main" id="{13B105CE-34CD-6479-38D2-CE2A0F3772A4}"/>
              </a:ext>
            </a:extLst>
          </p:cNvPr>
          <p:cNvSpPr/>
          <p:nvPr/>
        </p:nvSpPr>
        <p:spPr>
          <a:xfrm>
            <a:off x="10653527" y="5910831"/>
            <a:ext cx="539543" cy="539543"/>
          </a:xfrm>
          <a:prstGeom prst="diamond">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solidFill>
                <a:prstClr val="white"/>
              </a:solidFill>
              <a:latin typeface="Calibri" panose="020F0502020204030204"/>
            </a:endParaRPr>
          </a:p>
        </p:txBody>
      </p:sp>
      <p:sp>
        <p:nvSpPr>
          <p:cNvPr id="152" name="Rectangle 151">
            <a:extLst>
              <a:ext uri="{FF2B5EF4-FFF2-40B4-BE49-F238E27FC236}">
                <a16:creationId xmlns:a16="http://schemas.microsoft.com/office/drawing/2014/main" id="{DD7F4FE2-32BC-7BB9-36F2-3E9799640042}"/>
              </a:ext>
            </a:extLst>
          </p:cNvPr>
          <p:cNvSpPr/>
          <p:nvPr/>
        </p:nvSpPr>
        <p:spPr>
          <a:xfrm>
            <a:off x="8290906" y="6020747"/>
            <a:ext cx="319714" cy="319714"/>
          </a:xfrm>
          <a:prstGeom prst="rect">
            <a:avLst/>
          </a:prstGeom>
          <a:solidFill>
            <a:schemeClr val="accent3">
              <a:lumMod val="40000"/>
              <a:lumOff val="6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4" name="Straight Connector 153">
            <a:extLst>
              <a:ext uri="{FF2B5EF4-FFF2-40B4-BE49-F238E27FC236}">
                <a16:creationId xmlns:a16="http://schemas.microsoft.com/office/drawing/2014/main" id="{9822C5E8-DFD5-E462-E5D7-811C02012B11}"/>
              </a:ext>
            </a:extLst>
          </p:cNvPr>
          <p:cNvCxnSpPr>
            <a:cxnSpLocks/>
          </p:cNvCxnSpPr>
          <p:nvPr/>
        </p:nvCxnSpPr>
        <p:spPr>
          <a:xfrm>
            <a:off x="8663774" y="6180605"/>
            <a:ext cx="1989753" cy="0"/>
          </a:xfrm>
          <a:prstGeom prst="line">
            <a:avLst/>
          </a:prstGeom>
          <a:ln w="254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ABEA8514-22D3-1663-32BF-2D4A799AF0FE}"/>
              </a:ext>
            </a:extLst>
          </p:cNvPr>
          <p:cNvSpPr txBox="1"/>
          <p:nvPr/>
        </p:nvSpPr>
        <p:spPr>
          <a:xfrm>
            <a:off x="3623128" y="4718457"/>
            <a:ext cx="1276183" cy="523220"/>
          </a:xfrm>
          <a:prstGeom prst="rect">
            <a:avLst/>
          </a:prstGeom>
          <a:noFill/>
        </p:spPr>
        <p:txBody>
          <a:bodyPr wrap="none" rtlCol="0">
            <a:spAutoFit/>
          </a:bodyPr>
          <a:lstStyle/>
          <a:p>
            <a:pPr lvl="0">
              <a:defRPr/>
            </a:pPr>
            <a:r>
              <a:rPr lang="en-GB" sz="1400" b="1">
                <a:solidFill>
                  <a:srgbClr val="3C8EB2"/>
                </a:solidFill>
                <a:latin typeface="Calibri" panose="020F0502020204030204"/>
              </a:rPr>
              <a:t>A</a:t>
            </a:r>
            <a:r>
              <a:rPr lang="en-SE" sz="1400" b="1" err="1">
                <a:solidFill>
                  <a:srgbClr val="3C8EB2"/>
                </a:solidFill>
                <a:latin typeface="Calibri" panose="020F0502020204030204"/>
              </a:rPr>
              <a:t>dditional</a:t>
            </a:r>
            <a:r>
              <a:rPr lang="en-SE" sz="1400" b="1">
                <a:solidFill>
                  <a:srgbClr val="3C8EB2"/>
                </a:solidFill>
                <a:latin typeface="Calibri" panose="020F0502020204030204"/>
              </a:rPr>
              <a:t> RES</a:t>
            </a:r>
          </a:p>
          <a:p>
            <a:pPr lvl="0">
              <a:defRPr/>
            </a:pPr>
            <a:r>
              <a:rPr lang="en-SE" sz="1400" b="1">
                <a:solidFill>
                  <a:srgbClr val="3C8EB2"/>
                </a:solidFill>
                <a:latin typeface="Calibri" panose="020F0502020204030204"/>
              </a:rPr>
              <a:t>Additional EE</a:t>
            </a:r>
            <a:endParaRPr lang="en-GB" sz="1400" b="1">
              <a:solidFill>
                <a:srgbClr val="3C8EB2"/>
              </a:solidFill>
              <a:latin typeface="Calibri" panose="020F0502020204030204"/>
            </a:endParaRPr>
          </a:p>
        </p:txBody>
      </p:sp>
      <p:sp>
        <p:nvSpPr>
          <p:cNvPr id="158" name="TextBox 157">
            <a:extLst>
              <a:ext uri="{FF2B5EF4-FFF2-40B4-BE49-F238E27FC236}">
                <a16:creationId xmlns:a16="http://schemas.microsoft.com/office/drawing/2014/main" id="{0639F9CA-8C21-E3CC-78C4-59373FA71891}"/>
              </a:ext>
            </a:extLst>
          </p:cNvPr>
          <p:cNvSpPr txBox="1"/>
          <p:nvPr/>
        </p:nvSpPr>
        <p:spPr>
          <a:xfrm>
            <a:off x="720649" y="2136001"/>
            <a:ext cx="202305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3C8EB2"/>
                </a:solidFill>
                <a:effectLst/>
                <a:uLnTx/>
                <a:uFillTx/>
                <a:latin typeface="Calibri" panose="020F0502020204030204"/>
                <a:ea typeface="+mn-ea"/>
                <a:cs typeface="+mn-cs"/>
              </a:rPr>
              <a:t>Draft GHG Inventory, X-2</a:t>
            </a:r>
          </a:p>
        </p:txBody>
      </p:sp>
    </p:spTree>
    <p:extLst>
      <p:ext uri="{BB962C8B-B14F-4D97-AF65-F5344CB8AC3E}">
        <p14:creationId xmlns:p14="http://schemas.microsoft.com/office/powerpoint/2010/main" val="172140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E43CC4-3D92-5CFB-810A-CDE6C64370B0}"/>
              </a:ext>
            </a:extLst>
          </p:cNvPr>
          <p:cNvSpPr/>
          <p:nvPr/>
        </p:nvSpPr>
        <p:spPr>
          <a:xfrm>
            <a:off x="8976513" y="3693859"/>
            <a:ext cx="1712727" cy="1100012"/>
          </a:xfrm>
          <a:prstGeom prst="rect">
            <a:avLst/>
          </a:prstGeom>
          <a:solidFill>
            <a:srgbClr val="FC707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Energy Community Secretariat</a:t>
            </a:r>
            <a:endParaRPr lang="en-DK" b="1" dirty="0">
              <a:solidFill>
                <a:schemeClr val="tx1"/>
              </a:solidFill>
            </a:endParaRPr>
          </a:p>
        </p:txBody>
      </p:sp>
      <p:sp>
        <p:nvSpPr>
          <p:cNvPr id="8" name="Rectangle 7">
            <a:extLst>
              <a:ext uri="{FF2B5EF4-FFF2-40B4-BE49-F238E27FC236}">
                <a16:creationId xmlns:a16="http://schemas.microsoft.com/office/drawing/2014/main" id="{1C727C05-9ACC-81FF-7E0E-0EACAEF72687}"/>
              </a:ext>
            </a:extLst>
          </p:cNvPr>
          <p:cNvSpPr/>
          <p:nvPr/>
        </p:nvSpPr>
        <p:spPr>
          <a:xfrm>
            <a:off x="1818071" y="4016851"/>
            <a:ext cx="1712727" cy="673355"/>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Lead Reporter(s)</a:t>
            </a:r>
            <a:endParaRPr lang="en-DK" b="1" dirty="0">
              <a:solidFill>
                <a:schemeClr val="tx1"/>
              </a:solidFill>
            </a:endParaRPr>
          </a:p>
        </p:txBody>
      </p:sp>
      <p:sp>
        <p:nvSpPr>
          <p:cNvPr id="9" name="TextBox 8">
            <a:extLst>
              <a:ext uri="{FF2B5EF4-FFF2-40B4-BE49-F238E27FC236}">
                <a16:creationId xmlns:a16="http://schemas.microsoft.com/office/drawing/2014/main" id="{14B418A4-294C-6026-D4E4-477A3FD01F1C}"/>
              </a:ext>
            </a:extLst>
          </p:cNvPr>
          <p:cNvSpPr txBox="1"/>
          <p:nvPr/>
        </p:nvSpPr>
        <p:spPr>
          <a:xfrm>
            <a:off x="1996112" y="2217640"/>
            <a:ext cx="4099888" cy="553998"/>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dirty="0"/>
              <a:t>Nationally nominated from the Permanent High Level Representative to the Energy Community</a:t>
            </a:r>
            <a:endParaRPr lang="en-DK" dirty="0"/>
          </a:p>
        </p:txBody>
      </p:sp>
      <p:sp>
        <p:nvSpPr>
          <p:cNvPr id="10" name="Rectangle 9">
            <a:extLst>
              <a:ext uri="{FF2B5EF4-FFF2-40B4-BE49-F238E27FC236}">
                <a16:creationId xmlns:a16="http://schemas.microsoft.com/office/drawing/2014/main" id="{382EC9FC-63E5-C98A-C411-09A86B961E20}"/>
              </a:ext>
            </a:extLst>
          </p:cNvPr>
          <p:cNvSpPr/>
          <p:nvPr/>
        </p:nvSpPr>
        <p:spPr>
          <a:xfrm>
            <a:off x="5482765" y="3325392"/>
            <a:ext cx="1712727" cy="67335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Data Custodian</a:t>
            </a:r>
            <a:endParaRPr lang="en-DK" sz="1400" b="1" dirty="0">
              <a:solidFill>
                <a:schemeClr val="tx1"/>
              </a:solidFill>
            </a:endParaRPr>
          </a:p>
        </p:txBody>
      </p:sp>
      <p:sp>
        <p:nvSpPr>
          <p:cNvPr id="11" name="Rectangle 10">
            <a:extLst>
              <a:ext uri="{FF2B5EF4-FFF2-40B4-BE49-F238E27FC236}">
                <a16:creationId xmlns:a16="http://schemas.microsoft.com/office/drawing/2014/main" id="{89F28C47-00F3-DB73-A8DD-950BAC01A090}"/>
              </a:ext>
            </a:extLst>
          </p:cNvPr>
          <p:cNvSpPr/>
          <p:nvPr/>
        </p:nvSpPr>
        <p:spPr>
          <a:xfrm>
            <a:off x="5482764" y="4304954"/>
            <a:ext cx="1712727" cy="67335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Data Stewards</a:t>
            </a:r>
            <a:endParaRPr lang="en-DK" sz="1400" b="1" dirty="0">
              <a:solidFill>
                <a:schemeClr val="tx1"/>
              </a:solidFill>
            </a:endParaRPr>
          </a:p>
        </p:txBody>
      </p:sp>
      <p:sp>
        <p:nvSpPr>
          <p:cNvPr id="12" name="Rectangle 11">
            <a:extLst>
              <a:ext uri="{FF2B5EF4-FFF2-40B4-BE49-F238E27FC236}">
                <a16:creationId xmlns:a16="http://schemas.microsoft.com/office/drawing/2014/main" id="{FDE72447-9E78-73D7-68E6-54CD1ADABF5C}"/>
              </a:ext>
            </a:extLst>
          </p:cNvPr>
          <p:cNvSpPr/>
          <p:nvPr/>
        </p:nvSpPr>
        <p:spPr>
          <a:xfrm>
            <a:off x="1812574" y="5343391"/>
            <a:ext cx="1712727" cy="673355"/>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Supporting Reporters</a:t>
            </a:r>
            <a:endParaRPr lang="en-DK" b="1" dirty="0">
              <a:solidFill>
                <a:schemeClr val="tx1"/>
              </a:solidFill>
            </a:endParaRPr>
          </a:p>
        </p:txBody>
      </p:sp>
      <p:sp>
        <p:nvSpPr>
          <p:cNvPr id="13" name="Arrow: Up-Down 12">
            <a:extLst>
              <a:ext uri="{FF2B5EF4-FFF2-40B4-BE49-F238E27FC236}">
                <a16:creationId xmlns:a16="http://schemas.microsoft.com/office/drawing/2014/main" id="{9011B6D4-03B4-78CA-ABB5-E1F677D53AA7}"/>
              </a:ext>
            </a:extLst>
          </p:cNvPr>
          <p:cNvSpPr/>
          <p:nvPr/>
        </p:nvSpPr>
        <p:spPr>
          <a:xfrm rot="4564537">
            <a:off x="4402694" y="3160487"/>
            <a:ext cx="406271" cy="1712728"/>
          </a:xfrm>
          <a:prstGeom prst="upDownArrow">
            <a:avLst>
              <a:gd name="adj1" fmla="val 17176"/>
              <a:gd name="adj2" fmla="val 2655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Arrow: Up-Down 13">
            <a:extLst>
              <a:ext uri="{FF2B5EF4-FFF2-40B4-BE49-F238E27FC236}">
                <a16:creationId xmlns:a16="http://schemas.microsoft.com/office/drawing/2014/main" id="{78AFE2C8-9D98-34A6-9183-16E552993623}"/>
              </a:ext>
            </a:extLst>
          </p:cNvPr>
          <p:cNvSpPr/>
          <p:nvPr/>
        </p:nvSpPr>
        <p:spPr>
          <a:xfrm rot="5833599">
            <a:off x="4392366" y="3766576"/>
            <a:ext cx="406271" cy="1750315"/>
          </a:xfrm>
          <a:prstGeom prst="upDownArrow">
            <a:avLst>
              <a:gd name="adj1" fmla="val 17176"/>
              <a:gd name="adj2" fmla="val 2655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5" name="TextBox 14">
            <a:extLst>
              <a:ext uri="{FF2B5EF4-FFF2-40B4-BE49-F238E27FC236}">
                <a16:creationId xmlns:a16="http://schemas.microsoft.com/office/drawing/2014/main" id="{39FF38CA-47DC-3FF4-E2C8-0F2C3D60F186}"/>
              </a:ext>
            </a:extLst>
          </p:cNvPr>
          <p:cNvSpPr txBox="1"/>
          <p:nvPr/>
        </p:nvSpPr>
        <p:spPr>
          <a:xfrm rot="525598">
            <a:off x="3966319" y="4834055"/>
            <a:ext cx="1443419" cy="323165"/>
          </a:xfrm>
          <a:prstGeom prst="rect">
            <a:avLst/>
          </a:prstGeom>
          <a:solidFill>
            <a:schemeClr val="bg1"/>
          </a:solidFill>
          <a:ln>
            <a:noFill/>
          </a:ln>
        </p:spPr>
        <p:txBody>
          <a:bodyPr wrap="square" rtlCol="0">
            <a:spAutoFit/>
          </a:bodyPr>
          <a:lstStyle>
            <a:defPPr>
              <a:defRPr lang="en-US"/>
            </a:defPPr>
            <a:lvl1pPr>
              <a:defRPr sz="1500"/>
            </a:lvl1pPr>
          </a:lstStyle>
          <a:p>
            <a:r>
              <a:rPr lang="en-SE" dirty="0"/>
              <a:t>Thematic topics</a:t>
            </a:r>
            <a:endParaRPr lang="en-DK" dirty="0"/>
          </a:p>
        </p:txBody>
      </p:sp>
      <p:sp>
        <p:nvSpPr>
          <p:cNvPr id="16" name="TextBox 15">
            <a:extLst>
              <a:ext uri="{FF2B5EF4-FFF2-40B4-BE49-F238E27FC236}">
                <a16:creationId xmlns:a16="http://schemas.microsoft.com/office/drawing/2014/main" id="{AFEE629A-E88B-6FB3-CE59-FA193ADEDD83}"/>
              </a:ext>
            </a:extLst>
          </p:cNvPr>
          <p:cNvSpPr txBox="1"/>
          <p:nvPr/>
        </p:nvSpPr>
        <p:spPr>
          <a:xfrm rot="20754491">
            <a:off x="3833687" y="3409917"/>
            <a:ext cx="1443419" cy="323165"/>
          </a:xfrm>
          <a:prstGeom prst="rect">
            <a:avLst/>
          </a:prstGeom>
          <a:solidFill>
            <a:schemeClr val="bg1"/>
          </a:solidFill>
          <a:ln>
            <a:noFill/>
          </a:ln>
        </p:spPr>
        <p:txBody>
          <a:bodyPr wrap="square" rtlCol="0">
            <a:spAutoFit/>
          </a:bodyPr>
          <a:lstStyle>
            <a:defPPr>
              <a:defRPr lang="en-US"/>
            </a:defPPr>
            <a:lvl1pPr>
              <a:defRPr sz="1500"/>
            </a:lvl1pPr>
          </a:lstStyle>
          <a:p>
            <a:r>
              <a:rPr lang="en-SE" dirty="0"/>
              <a:t>Technical issues</a:t>
            </a:r>
            <a:endParaRPr lang="en-DK" dirty="0"/>
          </a:p>
        </p:txBody>
      </p:sp>
      <p:sp>
        <p:nvSpPr>
          <p:cNvPr id="17" name="Arrow: Up-Down 16">
            <a:extLst>
              <a:ext uri="{FF2B5EF4-FFF2-40B4-BE49-F238E27FC236}">
                <a16:creationId xmlns:a16="http://schemas.microsoft.com/office/drawing/2014/main" id="{368586F3-65A2-BC66-FEB4-13894C157280}"/>
              </a:ext>
            </a:extLst>
          </p:cNvPr>
          <p:cNvSpPr/>
          <p:nvPr/>
        </p:nvSpPr>
        <p:spPr>
          <a:xfrm rot="10800000">
            <a:off x="2465800" y="4714793"/>
            <a:ext cx="406271" cy="628597"/>
          </a:xfrm>
          <a:prstGeom prst="upDownArrow">
            <a:avLst>
              <a:gd name="adj1" fmla="val 17176"/>
              <a:gd name="adj2" fmla="val 2655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8" name="Straight Arrow Connector 17">
            <a:extLst>
              <a:ext uri="{FF2B5EF4-FFF2-40B4-BE49-F238E27FC236}">
                <a16:creationId xmlns:a16="http://schemas.microsoft.com/office/drawing/2014/main" id="{B39D94A2-323F-BBE3-E9F2-C0F8029C6618}"/>
              </a:ext>
            </a:extLst>
          </p:cNvPr>
          <p:cNvCxnSpPr>
            <a:cxnSpLocks/>
          </p:cNvCxnSpPr>
          <p:nvPr/>
        </p:nvCxnSpPr>
        <p:spPr>
          <a:xfrm>
            <a:off x="2802511" y="2771638"/>
            <a:ext cx="0" cy="1220865"/>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Arrow: Up-Down 18">
            <a:extLst>
              <a:ext uri="{FF2B5EF4-FFF2-40B4-BE49-F238E27FC236}">
                <a16:creationId xmlns:a16="http://schemas.microsoft.com/office/drawing/2014/main" id="{05BDF3F3-62D3-09AA-C6C9-2F18E5317332}"/>
              </a:ext>
            </a:extLst>
          </p:cNvPr>
          <p:cNvSpPr/>
          <p:nvPr/>
        </p:nvSpPr>
        <p:spPr>
          <a:xfrm rot="6751379">
            <a:off x="7904520" y="3160488"/>
            <a:ext cx="406271" cy="1712728"/>
          </a:xfrm>
          <a:prstGeom prst="upDownArrow">
            <a:avLst>
              <a:gd name="adj1" fmla="val 17176"/>
              <a:gd name="adj2" fmla="val 2655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 name="Arrow: Up-Down 19">
            <a:extLst>
              <a:ext uri="{FF2B5EF4-FFF2-40B4-BE49-F238E27FC236}">
                <a16:creationId xmlns:a16="http://schemas.microsoft.com/office/drawing/2014/main" id="{A967D857-52F6-BE03-C3C9-CB26BDEA9426}"/>
              </a:ext>
            </a:extLst>
          </p:cNvPr>
          <p:cNvSpPr/>
          <p:nvPr/>
        </p:nvSpPr>
        <p:spPr>
          <a:xfrm rot="4564537">
            <a:off x="7878792" y="3754088"/>
            <a:ext cx="406271" cy="1712728"/>
          </a:xfrm>
          <a:prstGeom prst="upDownArrow">
            <a:avLst>
              <a:gd name="adj1" fmla="val 17176"/>
              <a:gd name="adj2" fmla="val 2655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 name="Title 1">
            <a:extLst>
              <a:ext uri="{FF2B5EF4-FFF2-40B4-BE49-F238E27FC236}">
                <a16:creationId xmlns:a16="http://schemas.microsoft.com/office/drawing/2014/main" id="{37A94867-6312-2215-8D92-A201F84800A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007B6C"/>
                </a:solidFill>
                <a:latin typeface="Calibri Light"/>
                <a:cs typeface="Calibri"/>
              </a:rPr>
              <a:t>Overview of roles and responsibilities</a:t>
            </a:r>
          </a:p>
        </p:txBody>
      </p:sp>
    </p:spTree>
    <p:extLst>
      <p:ext uri="{BB962C8B-B14F-4D97-AF65-F5344CB8AC3E}">
        <p14:creationId xmlns:p14="http://schemas.microsoft.com/office/powerpoint/2010/main" val="3113026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155D-3C72-FB1B-19E6-FC6C391DA2DA}"/>
              </a:ext>
            </a:extLst>
          </p:cNvPr>
          <p:cNvSpPr>
            <a:spLocks noGrp="1"/>
          </p:cNvSpPr>
          <p:nvPr>
            <p:ph type="title"/>
          </p:nvPr>
        </p:nvSpPr>
        <p:spPr/>
        <p:txBody>
          <a:bodyPr/>
          <a:lstStyle/>
          <a:p>
            <a:r>
              <a:rPr lang="en-US" sz="4000" dirty="0">
                <a:solidFill>
                  <a:srgbClr val="007B6C"/>
                </a:solidFill>
                <a:latin typeface="Calibri Light"/>
                <a:cs typeface="Calibri"/>
              </a:rPr>
              <a:t>How is the reported data used</a:t>
            </a:r>
            <a:endParaRPr lang="en-US" sz="4000" dirty="0">
              <a:solidFill>
                <a:srgbClr val="007B6C"/>
              </a:solidFill>
              <a:latin typeface="Calibri Light"/>
              <a:ea typeface="Calibri Light"/>
              <a:cs typeface="Calibri"/>
            </a:endParaRPr>
          </a:p>
        </p:txBody>
      </p:sp>
      <p:pic>
        <p:nvPicPr>
          <p:cNvPr id="3" name="Picture 2">
            <a:extLst>
              <a:ext uri="{FF2B5EF4-FFF2-40B4-BE49-F238E27FC236}">
                <a16:creationId xmlns:a16="http://schemas.microsoft.com/office/drawing/2014/main" id="{12384263-CFE1-6E7A-2848-81020A9BF7B4}"/>
              </a:ext>
            </a:extLst>
          </p:cNvPr>
          <p:cNvPicPr>
            <a:picLocks noChangeAspect="1"/>
          </p:cNvPicPr>
          <p:nvPr/>
        </p:nvPicPr>
        <p:blipFill>
          <a:blip r:embed="rId3"/>
          <a:stretch>
            <a:fillRect/>
          </a:stretch>
        </p:blipFill>
        <p:spPr>
          <a:xfrm>
            <a:off x="1871434" y="1717177"/>
            <a:ext cx="8327869" cy="4775698"/>
          </a:xfrm>
          <a:prstGeom prst="rect">
            <a:avLst/>
          </a:prstGeom>
          <a:ln>
            <a:noFill/>
          </a:ln>
          <a:effectLst>
            <a:outerShdw blurRad="292100" dist="139700" dir="2700000" algn="tl" rotWithShape="0">
              <a:srgbClr val="333333">
                <a:alpha val="65000"/>
              </a:srgbClr>
            </a:outerShdw>
          </a:effectLst>
        </p:spPr>
      </p:pic>
      <p:sp>
        <p:nvSpPr>
          <p:cNvPr id="4" name="Arrow: Left 3">
            <a:extLst>
              <a:ext uri="{FF2B5EF4-FFF2-40B4-BE49-F238E27FC236}">
                <a16:creationId xmlns:a16="http://schemas.microsoft.com/office/drawing/2014/main" id="{E5D3D600-9129-E493-5C21-FD72634CE9DF}"/>
              </a:ext>
            </a:extLst>
          </p:cNvPr>
          <p:cNvSpPr/>
          <p:nvPr/>
        </p:nvSpPr>
        <p:spPr>
          <a:xfrm rot="9638584" flipV="1">
            <a:off x="3047085" y="2899589"/>
            <a:ext cx="2090057" cy="740228"/>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GHG inventory</a:t>
            </a:r>
          </a:p>
        </p:txBody>
      </p:sp>
      <p:sp>
        <p:nvSpPr>
          <p:cNvPr id="5" name="Arrow: Left 4">
            <a:extLst>
              <a:ext uri="{FF2B5EF4-FFF2-40B4-BE49-F238E27FC236}">
                <a16:creationId xmlns:a16="http://schemas.microsoft.com/office/drawing/2014/main" id="{5EAD691F-E850-3FC6-4214-D83D734BB21A}"/>
              </a:ext>
            </a:extLst>
          </p:cNvPr>
          <p:cNvSpPr/>
          <p:nvPr/>
        </p:nvSpPr>
        <p:spPr>
          <a:xfrm rot="6266163" flipV="1">
            <a:off x="5139053" y="4420525"/>
            <a:ext cx="2510060" cy="850486"/>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GHG approximated</a:t>
            </a:r>
          </a:p>
        </p:txBody>
      </p:sp>
      <p:sp>
        <p:nvSpPr>
          <p:cNvPr id="9" name="Arrow: Left 8">
            <a:extLst>
              <a:ext uri="{FF2B5EF4-FFF2-40B4-BE49-F238E27FC236}">
                <a16:creationId xmlns:a16="http://schemas.microsoft.com/office/drawing/2014/main" id="{C6EBAF7E-981D-0C07-A8DE-58EA263121C6}"/>
              </a:ext>
            </a:extLst>
          </p:cNvPr>
          <p:cNvSpPr/>
          <p:nvPr/>
        </p:nvSpPr>
        <p:spPr>
          <a:xfrm rot="13626362" flipV="1">
            <a:off x="6454318" y="2592309"/>
            <a:ext cx="2301889" cy="1009958"/>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GHG projections and </a:t>
            </a:r>
            <a:r>
              <a:rPr lang="en-IE" dirty="0" err="1"/>
              <a:t>PaMs</a:t>
            </a:r>
            <a:endParaRPr lang="en-IE" dirty="0"/>
          </a:p>
        </p:txBody>
      </p:sp>
      <p:sp>
        <p:nvSpPr>
          <p:cNvPr id="15" name="Arrow: Left 14">
            <a:extLst>
              <a:ext uri="{FF2B5EF4-FFF2-40B4-BE49-F238E27FC236}">
                <a16:creationId xmlns:a16="http://schemas.microsoft.com/office/drawing/2014/main" id="{27CDCBD6-F75D-34B4-D7EB-8A5AC057E14C}"/>
              </a:ext>
            </a:extLst>
          </p:cNvPr>
          <p:cNvSpPr/>
          <p:nvPr/>
        </p:nvSpPr>
        <p:spPr>
          <a:xfrm rot="14703307" flipV="1">
            <a:off x="8245438" y="3595160"/>
            <a:ext cx="2090057" cy="740228"/>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nLTS and </a:t>
            </a:r>
            <a:r>
              <a:rPr lang="en-IE" dirty="0" err="1"/>
              <a:t>NECPr</a:t>
            </a:r>
            <a:endParaRPr lang="en-IE" dirty="0"/>
          </a:p>
        </p:txBody>
      </p:sp>
    </p:spTree>
    <p:extLst>
      <p:ext uri="{BB962C8B-B14F-4D97-AF65-F5344CB8AC3E}">
        <p14:creationId xmlns:p14="http://schemas.microsoft.com/office/powerpoint/2010/main" val="296288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7DD69-BFB8-1418-D0D8-4080472E4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DFA2C-11FB-9BB9-2CF6-6D9A955C9F2E}"/>
              </a:ext>
            </a:extLst>
          </p:cNvPr>
          <p:cNvSpPr>
            <a:spLocks noGrp="1"/>
          </p:cNvSpPr>
          <p:nvPr>
            <p:ph type="title"/>
          </p:nvPr>
        </p:nvSpPr>
        <p:spPr/>
        <p:txBody>
          <a:bodyPr/>
          <a:lstStyle/>
          <a:p>
            <a:r>
              <a:rPr lang="en-US" sz="4000" dirty="0">
                <a:solidFill>
                  <a:srgbClr val="007B6C"/>
                </a:solidFill>
                <a:latin typeface="Calibri Light"/>
                <a:cs typeface="Calibri"/>
              </a:rPr>
              <a:t>The reporting process</a:t>
            </a:r>
            <a:endParaRPr lang="en-US" dirty="0"/>
          </a:p>
        </p:txBody>
      </p:sp>
      <p:graphicFrame>
        <p:nvGraphicFramePr>
          <p:cNvPr id="7" name="Diagram 6">
            <a:extLst>
              <a:ext uri="{FF2B5EF4-FFF2-40B4-BE49-F238E27FC236}">
                <a16:creationId xmlns:a16="http://schemas.microsoft.com/office/drawing/2014/main" id="{6F4BE088-CEDE-69D5-85E2-F19A72DD69E3}"/>
              </a:ext>
            </a:extLst>
          </p:cNvPr>
          <p:cNvGraphicFramePr/>
          <p:nvPr>
            <p:extLst>
              <p:ext uri="{D42A27DB-BD31-4B8C-83A1-F6EECF244321}">
                <p14:modId xmlns:p14="http://schemas.microsoft.com/office/powerpoint/2010/main" val="3095118639"/>
              </p:ext>
            </p:extLst>
          </p:nvPr>
        </p:nvGraphicFramePr>
        <p:xfrm>
          <a:off x="474478" y="1106777"/>
          <a:ext cx="10856698" cy="49243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8743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3D846D-2C34-B3D5-0C4A-003166C0C6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52682" y="1250876"/>
            <a:ext cx="6950149" cy="5270455"/>
          </a:xfrm>
          <a:prstGeom prst="rect">
            <a:avLst/>
          </a:prstGeom>
          <a:noFill/>
          <a:ln>
            <a:noFill/>
          </a:ln>
        </p:spPr>
      </p:pic>
      <p:sp>
        <p:nvSpPr>
          <p:cNvPr id="5" name="Rectangle 4">
            <a:extLst>
              <a:ext uri="{FF2B5EF4-FFF2-40B4-BE49-F238E27FC236}">
                <a16:creationId xmlns:a16="http://schemas.microsoft.com/office/drawing/2014/main" id="{DFA5DE61-B231-B6AC-C9E0-043EB8E05490}"/>
              </a:ext>
            </a:extLst>
          </p:cNvPr>
          <p:cNvSpPr/>
          <p:nvPr/>
        </p:nvSpPr>
        <p:spPr>
          <a:xfrm>
            <a:off x="6044100" y="1250876"/>
            <a:ext cx="1306286" cy="5984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110004020202020204"/>
                <a:ea typeface="+mn-ea"/>
                <a:cs typeface="+mn-cs"/>
              </a:rPr>
              <a:t>CPs Guidelines and training</a:t>
            </a:r>
            <a:endParaRPr kumimoji="0" lang="en-DK" sz="12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1BFE49F3-4402-31D6-C473-5B7B7D6C56DE}"/>
              </a:ext>
            </a:extLst>
          </p:cNvPr>
          <p:cNvSpPr/>
          <p:nvPr/>
        </p:nvSpPr>
        <p:spPr>
          <a:xfrm>
            <a:off x="6051360" y="2158016"/>
            <a:ext cx="1306286" cy="598480"/>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110004020202020204"/>
                <a:ea typeface="+mn-ea"/>
                <a:cs typeface="+mn-cs"/>
              </a:rPr>
              <a:t>CPs Guidelines and training</a:t>
            </a:r>
            <a:endParaRPr kumimoji="0" lang="en-DK" sz="12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9E50CBC6-E032-3CB5-CA65-CCED65B3A30B}"/>
              </a:ext>
            </a:extLst>
          </p:cNvPr>
          <p:cNvSpPr/>
          <p:nvPr/>
        </p:nvSpPr>
        <p:spPr>
          <a:xfrm>
            <a:off x="9854013" y="5901585"/>
            <a:ext cx="1306286" cy="598480"/>
          </a:xfrm>
          <a:prstGeom prst="rect">
            <a:avLst/>
          </a:prstGeom>
          <a:solidFill>
            <a:srgbClr val="FFC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110004020202020204"/>
                <a:ea typeface="+mn-ea"/>
                <a:cs typeface="+mn-cs"/>
              </a:rPr>
              <a:t>Manual QAQC</a:t>
            </a:r>
            <a:endParaRPr kumimoji="0" lang="en-DK" sz="14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C0FF9B30-FCF8-3FD8-08C1-4E84BF76066F}"/>
              </a:ext>
            </a:extLst>
          </p:cNvPr>
          <p:cNvSpPr/>
          <p:nvPr/>
        </p:nvSpPr>
        <p:spPr>
          <a:xfrm>
            <a:off x="6039785" y="4013455"/>
            <a:ext cx="1350377" cy="5511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F5F5E6F7-F6D9-B1FA-6276-1B942378202A}"/>
              </a:ext>
            </a:extLst>
          </p:cNvPr>
          <p:cNvSpPr txBox="1"/>
          <p:nvPr/>
        </p:nvSpPr>
        <p:spPr>
          <a:xfrm>
            <a:off x="7988840" y="1479834"/>
            <a:ext cx="1142207" cy="769441"/>
          </a:xfrm>
          <a:prstGeom prst="rect">
            <a:avLst/>
          </a:prstGeom>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110004020202020204"/>
                <a:ea typeface="+mn-ea"/>
                <a:cs typeface="+mn-cs"/>
              </a:rPr>
              <a:t>E-mail/Excel file used to keep track of exchanges</a:t>
            </a:r>
            <a:endParaRPr kumimoji="0" lang="en-DK" sz="11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Teardrop 8">
            <a:extLst>
              <a:ext uri="{FF2B5EF4-FFF2-40B4-BE49-F238E27FC236}">
                <a16:creationId xmlns:a16="http://schemas.microsoft.com/office/drawing/2014/main" id="{736AF386-E28E-B616-EAEA-F5C1A43F4850}"/>
              </a:ext>
            </a:extLst>
          </p:cNvPr>
          <p:cNvSpPr/>
          <p:nvPr/>
        </p:nvSpPr>
        <p:spPr>
          <a:xfrm>
            <a:off x="4822258" y="1864682"/>
            <a:ext cx="680214" cy="598480"/>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1</a:t>
            </a:r>
            <a:endParaRPr kumimoji="0" lang="en-DK" sz="18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Teardrop 9">
            <a:extLst>
              <a:ext uri="{FF2B5EF4-FFF2-40B4-BE49-F238E27FC236}">
                <a16:creationId xmlns:a16="http://schemas.microsoft.com/office/drawing/2014/main" id="{7D55B31D-71AC-18AD-9E54-119E5C3DE963}"/>
              </a:ext>
            </a:extLst>
          </p:cNvPr>
          <p:cNvSpPr/>
          <p:nvPr/>
        </p:nvSpPr>
        <p:spPr>
          <a:xfrm>
            <a:off x="3211448" y="4196227"/>
            <a:ext cx="680214" cy="598480"/>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2</a:t>
            </a:r>
            <a:endParaRPr kumimoji="0" lang="en-DK" sz="18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ardrop 10">
            <a:extLst>
              <a:ext uri="{FF2B5EF4-FFF2-40B4-BE49-F238E27FC236}">
                <a16:creationId xmlns:a16="http://schemas.microsoft.com/office/drawing/2014/main" id="{3050E28E-009B-CBFF-8A2C-E20DD33AD74A}"/>
              </a:ext>
            </a:extLst>
          </p:cNvPr>
          <p:cNvSpPr/>
          <p:nvPr/>
        </p:nvSpPr>
        <p:spPr>
          <a:xfrm>
            <a:off x="9178924" y="4672380"/>
            <a:ext cx="680214" cy="598480"/>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3</a:t>
            </a:r>
            <a:endParaRPr kumimoji="0" lang="en-DK" sz="18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6EFE787C-76D6-92C9-50EB-4FE359EF1E54}"/>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007B6C"/>
                </a:solidFill>
                <a:latin typeface="Calibri Light"/>
                <a:cs typeface="Calibri"/>
              </a:rPr>
              <a:t>The QA/QC process</a:t>
            </a:r>
            <a:endParaRPr lang="en-US" dirty="0"/>
          </a:p>
        </p:txBody>
      </p:sp>
    </p:spTree>
    <p:extLst>
      <p:ext uri="{BB962C8B-B14F-4D97-AF65-F5344CB8AC3E}">
        <p14:creationId xmlns:p14="http://schemas.microsoft.com/office/powerpoint/2010/main" val="1734249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84FCAB2B-B367-E10C-83E4-92D88CA9DAE9}"/>
              </a:ext>
            </a:extLst>
          </p:cNvPr>
          <p:cNvGraphicFramePr>
            <a:graphicFrameLocks noGrp="1"/>
          </p:cNvGraphicFramePr>
          <p:nvPr>
            <p:ph idx="1"/>
            <p:extLst>
              <p:ext uri="{D42A27DB-BD31-4B8C-83A1-F6EECF244321}">
                <p14:modId xmlns:p14="http://schemas.microsoft.com/office/powerpoint/2010/main" val="2641346433"/>
              </p:ext>
            </p:extLst>
          </p:nvPr>
        </p:nvGraphicFramePr>
        <p:xfrm>
          <a:off x="838200" y="1825626"/>
          <a:ext cx="10302143" cy="22868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F067293-31BB-875F-F39F-0C48D1BC4921}"/>
              </a:ext>
            </a:extLst>
          </p:cNvPr>
          <p:cNvGrpSpPr/>
          <p:nvPr/>
        </p:nvGrpSpPr>
        <p:grpSpPr>
          <a:xfrm>
            <a:off x="838200" y="4198679"/>
            <a:ext cx="12504763" cy="1834705"/>
            <a:chOff x="0" y="0"/>
            <a:chExt cx="11048800" cy="1834705"/>
          </a:xfrm>
        </p:grpSpPr>
        <p:sp>
          <p:nvSpPr>
            <p:cNvPr id="9" name="Rectangle: Rounded Corners 8">
              <a:extLst>
                <a:ext uri="{FF2B5EF4-FFF2-40B4-BE49-F238E27FC236}">
                  <a16:creationId xmlns:a16="http://schemas.microsoft.com/office/drawing/2014/main" id="{EE2E74DB-8DB8-8A19-0B38-B486DEE48136}"/>
                </a:ext>
              </a:extLst>
            </p:cNvPr>
            <p:cNvSpPr/>
            <p:nvPr/>
          </p:nvSpPr>
          <p:spPr>
            <a:xfrm>
              <a:off x="0" y="0"/>
              <a:ext cx="9124507" cy="183470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Rounded Corners 4">
              <a:extLst>
                <a:ext uri="{FF2B5EF4-FFF2-40B4-BE49-F238E27FC236}">
                  <a16:creationId xmlns:a16="http://schemas.microsoft.com/office/drawing/2014/main" id="{30B0B339-FE80-86DB-1863-CFF8F3A6BB2B}"/>
                </a:ext>
              </a:extLst>
            </p:cNvPr>
            <p:cNvSpPr txBox="1"/>
            <p:nvPr/>
          </p:nvSpPr>
          <p:spPr>
            <a:xfrm>
              <a:off x="89563" y="89563"/>
              <a:ext cx="10959237" cy="16555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defTabSz="1111250">
                <a:lnSpc>
                  <a:spcPct val="90000"/>
                </a:lnSpc>
                <a:spcBef>
                  <a:spcPct val="0"/>
                </a:spcBef>
                <a:spcAft>
                  <a:spcPct val="35000"/>
                </a:spcAft>
                <a:defRPr/>
              </a:pPr>
              <a:r>
                <a:rPr kumimoji="0" lang="en-US" sz="2500" b="1" i="0" u="none" strike="noStrike" kern="1200" cap="none" spc="0" normalizeH="0" baseline="0" noProof="0" dirty="0">
                  <a:ln>
                    <a:noFill/>
                  </a:ln>
                  <a:solidFill>
                    <a:prstClr val="white"/>
                  </a:solidFill>
                  <a:effectLst/>
                  <a:uLnTx/>
                  <a:uFillTx/>
                  <a:latin typeface="Calibri"/>
                  <a:ea typeface="Calibri"/>
                  <a:cs typeface="Calibri"/>
                </a:rPr>
                <a:t>The QA/QC </a:t>
              </a:r>
              <a:r>
                <a:rPr lang="en-US" sz="2500" b="1" dirty="0">
                  <a:solidFill>
                    <a:prstClr val="white"/>
                  </a:solidFill>
                  <a:latin typeface="Calibri"/>
                  <a:ea typeface="Calibri"/>
                  <a:cs typeface="Calibri"/>
                </a:rPr>
                <a:t>process</a:t>
              </a:r>
              <a:r>
                <a:rPr kumimoji="0" lang="en-US" sz="2500" b="1" i="0" u="none" strike="noStrike" kern="1200" cap="none" spc="0" normalizeH="0" baseline="0" noProof="0" dirty="0">
                  <a:ln>
                    <a:noFill/>
                  </a:ln>
                  <a:solidFill>
                    <a:prstClr val="white"/>
                  </a:solidFill>
                  <a:effectLst/>
                  <a:uLnTx/>
                  <a:uFillTx/>
                  <a:latin typeface="Calibri"/>
                  <a:ea typeface="Calibri"/>
                  <a:cs typeface="Calibri"/>
                </a:rPr>
                <a:t>:</a:t>
              </a:r>
              <a:r>
                <a:rPr kumimoji="0" lang="en-US" sz="2500" b="0" i="0" u="none" strike="noStrike" kern="1200" cap="none" spc="0" normalizeH="0" baseline="0" noProof="0" dirty="0">
                  <a:ln>
                    <a:noFill/>
                  </a:ln>
                  <a:solidFill>
                    <a:prstClr val="white"/>
                  </a:solidFill>
                  <a:effectLst/>
                  <a:uLnTx/>
                  <a:uFillTx/>
                  <a:latin typeface="Calibri"/>
                  <a:ea typeface="Calibri"/>
                  <a:cs typeface="Calibri"/>
                </a:rPr>
                <a:t> Common principles but specific to each type of </a:t>
              </a:r>
              <a:endParaRPr lang="en-US">
                <a:solidFill>
                  <a:prstClr val="white"/>
                </a:solidFill>
                <a:latin typeface="Calibri"/>
                <a:ea typeface="Calibri"/>
                <a:cs typeface="Calibri"/>
              </a:endParaRPr>
            </a:p>
            <a:p>
              <a:pPr marL="0" marR="0" lvl="0" indent="0" algn="l" defTabSz="1111250">
                <a:lnSpc>
                  <a:spcPct val="90000"/>
                </a:lnSpc>
                <a:spcBef>
                  <a:spcPct val="0"/>
                </a:spcBef>
                <a:spcAft>
                  <a:spcPct val="35000"/>
                </a:spcAft>
                <a:buClrTx/>
                <a:buSzTx/>
                <a:buFontTx/>
                <a:buNone/>
                <a:tabLst/>
                <a:defRPr/>
              </a:pPr>
              <a:r>
                <a:rPr kumimoji="0" lang="en-US" sz="2500" b="0" i="0" u="none" strike="noStrike" kern="1200" cap="none" spc="0" normalizeH="0" baseline="0" noProof="0" dirty="0">
                  <a:ln>
                    <a:noFill/>
                  </a:ln>
                  <a:solidFill>
                    <a:prstClr val="white"/>
                  </a:solidFill>
                  <a:effectLst/>
                  <a:uLnTx/>
                  <a:uFillTx/>
                  <a:latin typeface="Calibri"/>
                  <a:ea typeface="Calibri"/>
                  <a:cs typeface="Calibri"/>
                </a:rPr>
                <a:t>data and dataflow</a:t>
              </a:r>
              <a:r>
                <a:rPr lang="en-US" sz="2500" dirty="0">
                  <a:solidFill>
                    <a:prstClr val="white"/>
                  </a:solidFill>
                  <a:latin typeface="Calibri"/>
                  <a:ea typeface="Calibri"/>
                  <a:cs typeface="Calibri"/>
                </a:rPr>
                <a:t>.</a:t>
              </a:r>
              <a:endParaRPr lang="en-US" dirty="0">
                <a:solidFill>
                  <a:prstClr val="white"/>
                </a:solidFill>
                <a:latin typeface="Calibri"/>
                <a:ea typeface="Calibri"/>
                <a:cs typeface="Calibri"/>
              </a:endParaRPr>
            </a:p>
          </p:txBody>
        </p:sp>
      </p:grpSp>
      <p:sp>
        <p:nvSpPr>
          <p:cNvPr id="16" name="Title 1">
            <a:extLst>
              <a:ext uri="{FF2B5EF4-FFF2-40B4-BE49-F238E27FC236}">
                <a16:creationId xmlns:a16="http://schemas.microsoft.com/office/drawing/2014/main" id="{D4C0F777-5062-1276-E5E6-78642896CF10}"/>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007B6C"/>
                </a:solidFill>
                <a:latin typeface="Calibri Light"/>
                <a:ea typeface="Calibri Light"/>
                <a:cs typeface="Calibri"/>
              </a:rPr>
              <a:t>Various dataflows – Various processes</a:t>
            </a:r>
          </a:p>
        </p:txBody>
      </p:sp>
    </p:spTree>
    <p:extLst>
      <p:ext uri="{BB962C8B-B14F-4D97-AF65-F5344CB8AC3E}">
        <p14:creationId xmlns:p14="http://schemas.microsoft.com/office/powerpoint/2010/main" val="1856962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F970-A86C-F87B-5FAE-627A2BE8B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EEF51-00C1-05B3-1338-BA5E4BF3E415}"/>
              </a:ext>
            </a:extLst>
          </p:cNvPr>
          <p:cNvSpPr>
            <a:spLocks noGrp="1"/>
          </p:cNvSpPr>
          <p:nvPr>
            <p:ph type="title"/>
          </p:nvPr>
        </p:nvSpPr>
        <p:spPr/>
        <p:txBody>
          <a:bodyPr/>
          <a:lstStyle/>
          <a:p>
            <a:r>
              <a:rPr lang="en-US" sz="4000" dirty="0">
                <a:solidFill>
                  <a:srgbClr val="007B6C"/>
                </a:solidFill>
                <a:latin typeface="Calibri Light"/>
                <a:cs typeface="Calibri"/>
              </a:rPr>
              <a:t>Synergies with UNFCCC reporting</a:t>
            </a:r>
            <a:endParaRPr lang="en-US" dirty="0"/>
          </a:p>
        </p:txBody>
      </p:sp>
      <p:sp>
        <p:nvSpPr>
          <p:cNvPr id="103" name="Rectangle 102">
            <a:extLst>
              <a:ext uri="{FF2B5EF4-FFF2-40B4-BE49-F238E27FC236}">
                <a16:creationId xmlns:a16="http://schemas.microsoft.com/office/drawing/2014/main" id="{B8AF362C-C0D2-3062-FF33-10A844C57736}"/>
              </a:ext>
            </a:extLst>
          </p:cNvPr>
          <p:cNvSpPr/>
          <p:nvPr/>
        </p:nvSpPr>
        <p:spPr>
          <a:xfrm>
            <a:off x="1170996" y="1436457"/>
            <a:ext cx="5533244" cy="3106110"/>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Rectangle 106">
            <a:extLst>
              <a:ext uri="{FF2B5EF4-FFF2-40B4-BE49-F238E27FC236}">
                <a16:creationId xmlns:a16="http://schemas.microsoft.com/office/drawing/2014/main" id="{EE8E9486-1F80-4F93-B8DC-F8431B0C29F1}"/>
              </a:ext>
            </a:extLst>
          </p:cNvPr>
          <p:cNvSpPr/>
          <p:nvPr/>
        </p:nvSpPr>
        <p:spPr>
          <a:xfrm>
            <a:off x="2126861" y="2862001"/>
            <a:ext cx="1466859" cy="548119"/>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GHG Projections</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Rectangle 108">
            <a:extLst>
              <a:ext uri="{FF2B5EF4-FFF2-40B4-BE49-F238E27FC236}">
                <a16:creationId xmlns:a16="http://schemas.microsoft.com/office/drawing/2014/main" id="{CCF521F3-5B03-FB49-E20F-86F0B4BB0E85}"/>
              </a:ext>
            </a:extLst>
          </p:cNvPr>
          <p:cNvSpPr/>
          <p:nvPr/>
        </p:nvSpPr>
        <p:spPr>
          <a:xfrm>
            <a:off x="2126861" y="1984127"/>
            <a:ext cx="1466859" cy="548119"/>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Integrated policies and measures (</a:t>
            </a:r>
            <a:r>
              <a:rPr kumimoji="0" lang="en-US" sz="1200" i="0" u="none" strike="noStrike" kern="1200" cap="none" spc="0" normalizeH="0" baseline="0" noProof="0" dirty="0" err="1">
                <a:ln>
                  <a:noFill/>
                </a:ln>
                <a:solidFill>
                  <a:prstClr val="black"/>
                </a:solidFill>
                <a:effectLst/>
                <a:uLnTx/>
                <a:uFillTx/>
                <a:latin typeface="Calibri" panose="020F0502020204030204"/>
                <a:ea typeface="+mn-ea"/>
                <a:cs typeface="+mn-cs"/>
              </a:rPr>
              <a:t>PaMs</a:t>
            </a: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Rectangle 110">
            <a:extLst>
              <a:ext uri="{FF2B5EF4-FFF2-40B4-BE49-F238E27FC236}">
                <a16:creationId xmlns:a16="http://schemas.microsoft.com/office/drawing/2014/main" id="{E5242CAF-325C-A8F6-7FF2-A63B91CF5376}"/>
              </a:ext>
            </a:extLst>
          </p:cNvPr>
          <p:cNvSpPr/>
          <p:nvPr/>
        </p:nvSpPr>
        <p:spPr>
          <a:xfrm>
            <a:off x="2126861" y="3735632"/>
            <a:ext cx="1466859" cy="548119"/>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GHG inventory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(X-2)</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TextBox 112">
            <a:extLst>
              <a:ext uri="{FF2B5EF4-FFF2-40B4-BE49-F238E27FC236}">
                <a16:creationId xmlns:a16="http://schemas.microsoft.com/office/drawing/2014/main" id="{E38DB687-087A-E430-EE95-152C82361FB6}"/>
              </a:ext>
            </a:extLst>
          </p:cNvPr>
          <p:cNvSpPr txBox="1"/>
          <p:nvPr/>
        </p:nvSpPr>
        <p:spPr>
          <a:xfrm>
            <a:off x="1301957" y="1557970"/>
            <a:ext cx="2400314" cy="27699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b="1" i="0" u="none" strike="noStrike" kern="1200" cap="none" spc="0" normalizeH="0" baseline="0" noProof="0" dirty="0">
                <a:ln>
                  <a:noFill/>
                </a:ln>
                <a:solidFill>
                  <a:prstClr val="black"/>
                </a:solidFill>
                <a:effectLst/>
                <a:uLnTx/>
                <a:uFillTx/>
                <a:latin typeface="Calibri" panose="020F0502020204030204"/>
                <a:ea typeface="+mn-ea"/>
                <a:cs typeface="+mn-cs"/>
              </a:rPr>
              <a:t>High level of reporting synergies</a:t>
            </a:r>
            <a:endParaRPr lang="en-US" sz="1200" b="1"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sp>
        <p:nvSpPr>
          <p:cNvPr id="115" name="Rectangle 114">
            <a:extLst>
              <a:ext uri="{FF2B5EF4-FFF2-40B4-BE49-F238E27FC236}">
                <a16:creationId xmlns:a16="http://schemas.microsoft.com/office/drawing/2014/main" id="{9F753F57-062D-A01A-9112-BDBB235A2F62}"/>
              </a:ext>
            </a:extLst>
          </p:cNvPr>
          <p:cNvSpPr/>
          <p:nvPr/>
        </p:nvSpPr>
        <p:spPr>
          <a:xfrm>
            <a:off x="4510894" y="2872573"/>
            <a:ext cx="1473602" cy="548119"/>
          </a:xfrm>
          <a:prstGeom prst="rect">
            <a:avLst/>
          </a:prstGeom>
          <a:solidFill>
            <a:schemeClr val="accent3">
              <a:lumMod val="60000"/>
              <a:lumOff val="4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Progress to targets (Adaptation)</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Rectangle 116">
            <a:extLst>
              <a:ext uri="{FF2B5EF4-FFF2-40B4-BE49-F238E27FC236}">
                <a16:creationId xmlns:a16="http://schemas.microsoft.com/office/drawing/2014/main" id="{C2BFFDAF-CB9B-8730-B331-67248CFFA6C2}"/>
              </a:ext>
            </a:extLst>
          </p:cNvPr>
          <p:cNvSpPr/>
          <p:nvPr/>
        </p:nvSpPr>
        <p:spPr>
          <a:xfrm>
            <a:off x="4510894" y="1985962"/>
            <a:ext cx="1473602" cy="548119"/>
          </a:xfrm>
          <a:prstGeom prst="rect">
            <a:avLst/>
          </a:prstGeom>
          <a:solidFill>
            <a:schemeClr val="accent3">
              <a:lumMod val="60000"/>
              <a:lumOff val="4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Adaptation planning and strategies</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9" name="Rectangle 118">
            <a:extLst>
              <a:ext uri="{FF2B5EF4-FFF2-40B4-BE49-F238E27FC236}">
                <a16:creationId xmlns:a16="http://schemas.microsoft.com/office/drawing/2014/main" id="{1322D411-777C-54D2-CBE5-BEFA39648CC4}"/>
              </a:ext>
            </a:extLst>
          </p:cNvPr>
          <p:cNvSpPr/>
          <p:nvPr/>
        </p:nvSpPr>
        <p:spPr>
          <a:xfrm>
            <a:off x="4521123" y="3734355"/>
            <a:ext cx="1466859" cy="548119"/>
          </a:xfrm>
          <a:prstGeom prst="rect">
            <a:avLst/>
          </a:prstGeom>
          <a:solidFill>
            <a:srgbClr val="FFFF66"/>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200" dirty="0">
                <a:solidFill>
                  <a:prstClr val="black"/>
                </a:solidFill>
                <a:latin typeface="Calibri" panose="020F0502020204030204"/>
              </a:rPr>
              <a:t>Support to dev. countries</a:t>
            </a:r>
            <a:endParaRPr lang="LID4096" sz="1200" dirty="0">
              <a:solidFill>
                <a:prstClr val="black"/>
              </a:solidFill>
              <a:latin typeface="Calibri" panose="020F0502020204030204"/>
            </a:endParaRPr>
          </a:p>
        </p:txBody>
      </p:sp>
      <p:sp>
        <p:nvSpPr>
          <p:cNvPr id="121" name="Rectangle 120">
            <a:extLst>
              <a:ext uri="{FF2B5EF4-FFF2-40B4-BE49-F238E27FC236}">
                <a16:creationId xmlns:a16="http://schemas.microsoft.com/office/drawing/2014/main" id="{4EAB2EFD-BFA2-AB41-A811-C81179A6DC46}"/>
              </a:ext>
            </a:extLst>
          </p:cNvPr>
          <p:cNvSpPr/>
          <p:nvPr/>
        </p:nvSpPr>
        <p:spPr>
          <a:xfrm>
            <a:off x="1922345" y="6322573"/>
            <a:ext cx="183917" cy="199222"/>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Rectangle 122">
            <a:extLst>
              <a:ext uri="{FF2B5EF4-FFF2-40B4-BE49-F238E27FC236}">
                <a16:creationId xmlns:a16="http://schemas.microsoft.com/office/drawing/2014/main" id="{5CA4AF10-77CB-F066-6033-FE39AF0C8A27}"/>
              </a:ext>
            </a:extLst>
          </p:cNvPr>
          <p:cNvSpPr/>
          <p:nvPr/>
        </p:nvSpPr>
        <p:spPr>
          <a:xfrm>
            <a:off x="2249932" y="4827610"/>
            <a:ext cx="9410306" cy="106563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Rectangle 124">
            <a:extLst>
              <a:ext uri="{FF2B5EF4-FFF2-40B4-BE49-F238E27FC236}">
                <a16:creationId xmlns:a16="http://schemas.microsoft.com/office/drawing/2014/main" id="{92898FD8-8202-6F80-E6B7-60AC6472567B}"/>
              </a:ext>
            </a:extLst>
          </p:cNvPr>
          <p:cNvSpPr/>
          <p:nvPr/>
        </p:nvSpPr>
        <p:spPr>
          <a:xfrm>
            <a:off x="4005952" y="5214010"/>
            <a:ext cx="1473274" cy="548119"/>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Additional reporting obligations (RES)</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7" name="Rectangle 126">
            <a:extLst>
              <a:ext uri="{FF2B5EF4-FFF2-40B4-BE49-F238E27FC236}">
                <a16:creationId xmlns:a16="http://schemas.microsoft.com/office/drawing/2014/main" id="{D9F2F965-4228-D170-F4DB-3B1516E34174}"/>
              </a:ext>
            </a:extLst>
          </p:cNvPr>
          <p:cNvSpPr/>
          <p:nvPr/>
        </p:nvSpPr>
        <p:spPr>
          <a:xfrm>
            <a:off x="6778223" y="5214010"/>
            <a:ext cx="1473274" cy="548119"/>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Additional reporting obligations (EE)</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9" name="Rectangle 128">
            <a:extLst>
              <a:ext uri="{FF2B5EF4-FFF2-40B4-BE49-F238E27FC236}">
                <a16:creationId xmlns:a16="http://schemas.microsoft.com/office/drawing/2014/main" id="{21E7D5D2-EE70-E238-0952-C5161B9511D4}"/>
              </a:ext>
            </a:extLst>
          </p:cNvPr>
          <p:cNvSpPr/>
          <p:nvPr/>
        </p:nvSpPr>
        <p:spPr>
          <a:xfrm>
            <a:off x="431220" y="5106116"/>
            <a:ext cx="1480018" cy="548119"/>
          </a:xfrm>
          <a:prstGeom prst="rect">
            <a:avLst/>
          </a:prstGeom>
          <a:solidFill>
            <a:srgbClr val="FFFF66"/>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Use of </a:t>
            </a:r>
            <a:r>
              <a:rPr kumimoji="0" lang="en-SE" sz="1200" i="0" u="none" strike="noStrike" kern="1200" cap="none" spc="0" normalizeH="0" baseline="0" noProof="0" dirty="0">
                <a:ln>
                  <a:noFill/>
                </a:ln>
                <a:solidFill>
                  <a:prstClr val="black"/>
                </a:solidFill>
                <a:effectLst/>
                <a:uLnTx/>
                <a:uFillTx/>
                <a:latin typeface="Calibri" panose="020F0502020204030204"/>
                <a:ea typeface="+mn-ea"/>
                <a:cs typeface="+mn-cs"/>
              </a:rPr>
              <a:t>revenues from carbon price mechanisms</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1" name="TextBox 130">
            <a:extLst>
              <a:ext uri="{FF2B5EF4-FFF2-40B4-BE49-F238E27FC236}">
                <a16:creationId xmlns:a16="http://schemas.microsoft.com/office/drawing/2014/main" id="{13C53F87-094F-36E9-1831-AFC9DF4D49E8}"/>
              </a:ext>
            </a:extLst>
          </p:cNvPr>
          <p:cNvSpPr txBox="1"/>
          <p:nvPr/>
        </p:nvSpPr>
        <p:spPr>
          <a:xfrm>
            <a:off x="2260327" y="4900735"/>
            <a:ext cx="3375200" cy="276999"/>
          </a:xfrm>
          <a:prstGeom prst="rect">
            <a:avLst/>
          </a:prstGeom>
          <a:noFill/>
          <a:ln>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b="1" i="0" u="none" strike="noStrike" kern="1200" cap="none" spc="0" normalizeH="0" baseline="0" noProof="0" dirty="0">
                <a:ln>
                  <a:noFill/>
                </a:ln>
                <a:solidFill>
                  <a:prstClr val="black"/>
                </a:solidFill>
                <a:effectLst/>
                <a:uLnTx/>
                <a:uFillTx/>
                <a:latin typeface="Calibri" panose="020F0502020204030204"/>
                <a:ea typeface="+mn-ea"/>
                <a:cs typeface="+mn-cs"/>
              </a:rPr>
              <a:t>Lower level of reporting synergies</a:t>
            </a:r>
            <a:endParaRPr lang="en-US" sz="1200" b="1"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sp>
        <p:nvSpPr>
          <p:cNvPr id="133" name="TextBox 132">
            <a:extLst>
              <a:ext uri="{FF2B5EF4-FFF2-40B4-BE49-F238E27FC236}">
                <a16:creationId xmlns:a16="http://schemas.microsoft.com/office/drawing/2014/main" id="{740FBC22-0519-4A6B-FECF-9DA59A85B80D}"/>
              </a:ext>
            </a:extLst>
          </p:cNvPr>
          <p:cNvSpPr txBox="1"/>
          <p:nvPr/>
        </p:nvSpPr>
        <p:spPr>
          <a:xfrm>
            <a:off x="2264119" y="6294321"/>
            <a:ext cx="1303716" cy="276999"/>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i="0" u="none" strike="noStrike" kern="1200" cap="none" spc="0" normalizeH="0" baseline="0" noProof="0">
                <a:ln>
                  <a:noFill/>
                </a:ln>
                <a:solidFill>
                  <a:prstClr val="black"/>
                </a:solidFill>
                <a:effectLst/>
                <a:uLnTx/>
                <a:uFillTx/>
                <a:latin typeface="Calibri" panose="020F0502020204030204"/>
                <a:ea typeface="+mn-ea"/>
                <a:cs typeface="+mn-cs"/>
              </a:rPr>
              <a:t>Mitigation</a:t>
            </a:r>
            <a:endParaRPr kumimoji="0" lang="en-DK"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Rectangle 134">
            <a:extLst>
              <a:ext uri="{FF2B5EF4-FFF2-40B4-BE49-F238E27FC236}">
                <a16:creationId xmlns:a16="http://schemas.microsoft.com/office/drawing/2014/main" id="{AE219356-09A6-82C0-08B8-C11FDF01F6DB}"/>
              </a:ext>
            </a:extLst>
          </p:cNvPr>
          <p:cNvSpPr/>
          <p:nvPr/>
        </p:nvSpPr>
        <p:spPr>
          <a:xfrm>
            <a:off x="3863453" y="6329860"/>
            <a:ext cx="183917" cy="199222"/>
          </a:xfrm>
          <a:prstGeom prst="rect">
            <a:avLst/>
          </a:prstGeom>
          <a:solidFill>
            <a:srgbClr val="B498CC"/>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TextBox 136">
            <a:extLst>
              <a:ext uri="{FF2B5EF4-FFF2-40B4-BE49-F238E27FC236}">
                <a16:creationId xmlns:a16="http://schemas.microsoft.com/office/drawing/2014/main" id="{4B23B1EE-81F0-74A1-5C32-ABC5A3804372}"/>
              </a:ext>
            </a:extLst>
          </p:cNvPr>
          <p:cNvSpPr txBox="1"/>
          <p:nvPr/>
        </p:nvSpPr>
        <p:spPr>
          <a:xfrm>
            <a:off x="4171511" y="6328581"/>
            <a:ext cx="1189079" cy="276999"/>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i="0" u="none" strike="noStrike" kern="1200" cap="none" spc="0" normalizeH="0" baseline="0" noProof="0">
                <a:ln>
                  <a:noFill/>
                </a:ln>
                <a:solidFill>
                  <a:prstClr val="black"/>
                </a:solidFill>
                <a:effectLst/>
                <a:uLnTx/>
                <a:uFillTx/>
                <a:latin typeface="Calibri" panose="020F0502020204030204"/>
                <a:ea typeface="+mn-ea"/>
                <a:cs typeface="+mn-cs"/>
              </a:rPr>
              <a:t>Adaptation</a:t>
            </a:r>
            <a:endParaRPr kumimoji="0" lang="en-DK"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Rectangle 138">
            <a:extLst>
              <a:ext uri="{FF2B5EF4-FFF2-40B4-BE49-F238E27FC236}">
                <a16:creationId xmlns:a16="http://schemas.microsoft.com/office/drawing/2014/main" id="{CF9B7CD5-DC7D-FED2-D9D6-F9E9E55B29D0}"/>
              </a:ext>
            </a:extLst>
          </p:cNvPr>
          <p:cNvSpPr/>
          <p:nvPr/>
        </p:nvSpPr>
        <p:spPr>
          <a:xfrm>
            <a:off x="5734633" y="6351369"/>
            <a:ext cx="183917" cy="199222"/>
          </a:xfrm>
          <a:prstGeom prst="rect">
            <a:avLst/>
          </a:prstGeom>
          <a:solidFill>
            <a:srgbClr val="FFFF66"/>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Box 140">
            <a:extLst>
              <a:ext uri="{FF2B5EF4-FFF2-40B4-BE49-F238E27FC236}">
                <a16:creationId xmlns:a16="http://schemas.microsoft.com/office/drawing/2014/main" id="{54C6D6E3-FFD6-636E-63FF-2DA6954A4E34}"/>
              </a:ext>
            </a:extLst>
          </p:cNvPr>
          <p:cNvSpPr txBox="1"/>
          <p:nvPr/>
        </p:nvSpPr>
        <p:spPr>
          <a:xfrm>
            <a:off x="6056178" y="6296143"/>
            <a:ext cx="1260936" cy="276999"/>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i="0" u="none" strike="noStrike" kern="1200" cap="none" spc="0" normalizeH="0" baseline="0" noProof="0">
                <a:ln>
                  <a:noFill/>
                </a:ln>
                <a:solidFill>
                  <a:prstClr val="black"/>
                </a:solidFill>
                <a:effectLst/>
                <a:uLnTx/>
                <a:uFillTx/>
                <a:latin typeface="Calibri" panose="020F0502020204030204"/>
                <a:ea typeface="+mn-ea"/>
                <a:cs typeface="+mn-cs"/>
              </a:rPr>
              <a:t>Climate finance</a:t>
            </a:r>
            <a:endParaRPr kumimoji="0" lang="en-DK"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Rectangle 142">
            <a:extLst>
              <a:ext uri="{FF2B5EF4-FFF2-40B4-BE49-F238E27FC236}">
                <a16:creationId xmlns:a16="http://schemas.microsoft.com/office/drawing/2014/main" id="{880BD89F-6DD2-A6AE-468F-0726169F2C98}"/>
              </a:ext>
            </a:extLst>
          </p:cNvPr>
          <p:cNvSpPr/>
          <p:nvPr/>
        </p:nvSpPr>
        <p:spPr>
          <a:xfrm>
            <a:off x="8025165" y="6377947"/>
            <a:ext cx="183917" cy="199222"/>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TextBox 144">
            <a:extLst>
              <a:ext uri="{FF2B5EF4-FFF2-40B4-BE49-F238E27FC236}">
                <a16:creationId xmlns:a16="http://schemas.microsoft.com/office/drawing/2014/main" id="{AC4AE75C-1192-AD1B-20C0-7D585D19A694}"/>
              </a:ext>
            </a:extLst>
          </p:cNvPr>
          <p:cNvSpPr txBox="1"/>
          <p:nvPr/>
        </p:nvSpPr>
        <p:spPr>
          <a:xfrm>
            <a:off x="8395514" y="6322729"/>
            <a:ext cx="1894577" cy="276999"/>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i="0" u="none" strike="noStrike" kern="1200" cap="none" spc="0" normalizeH="0" baseline="0" noProof="0">
                <a:ln>
                  <a:noFill/>
                </a:ln>
                <a:solidFill>
                  <a:prstClr val="black"/>
                </a:solidFill>
                <a:effectLst/>
                <a:uLnTx/>
                <a:uFillTx/>
                <a:latin typeface="Calibri" panose="020F0502020204030204"/>
                <a:ea typeface="+mn-ea"/>
                <a:cs typeface="+mn-cs"/>
              </a:rPr>
              <a:t>Institutional arrangements</a:t>
            </a:r>
            <a:endParaRPr kumimoji="0" lang="en-DK"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Rectangle 146">
            <a:extLst>
              <a:ext uri="{FF2B5EF4-FFF2-40B4-BE49-F238E27FC236}">
                <a16:creationId xmlns:a16="http://schemas.microsoft.com/office/drawing/2014/main" id="{386F1EFC-69F0-D87C-BDA7-8CD5CE7971CA}"/>
              </a:ext>
            </a:extLst>
          </p:cNvPr>
          <p:cNvSpPr/>
          <p:nvPr/>
        </p:nvSpPr>
        <p:spPr>
          <a:xfrm>
            <a:off x="7632902" y="1895076"/>
            <a:ext cx="4019961" cy="2220446"/>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8" name="Group 147">
            <a:extLst>
              <a:ext uri="{FF2B5EF4-FFF2-40B4-BE49-F238E27FC236}">
                <a16:creationId xmlns:a16="http://schemas.microsoft.com/office/drawing/2014/main" id="{DA11A46C-737A-7D08-5E32-4655806CBDF8}"/>
              </a:ext>
            </a:extLst>
          </p:cNvPr>
          <p:cNvGrpSpPr/>
          <p:nvPr/>
        </p:nvGrpSpPr>
        <p:grpSpPr>
          <a:xfrm>
            <a:off x="7789380" y="1997297"/>
            <a:ext cx="3582874" cy="1952716"/>
            <a:chOff x="6750150" y="914347"/>
            <a:chExt cx="4663660" cy="2410820"/>
          </a:xfrm>
        </p:grpSpPr>
        <p:sp>
          <p:nvSpPr>
            <p:cNvPr id="149" name="Rectangle 148">
              <a:extLst>
                <a:ext uri="{FF2B5EF4-FFF2-40B4-BE49-F238E27FC236}">
                  <a16:creationId xmlns:a16="http://schemas.microsoft.com/office/drawing/2014/main" id="{2139C0E2-F8EA-CD9B-BA7D-33640684D0F9}"/>
                </a:ext>
              </a:extLst>
            </p:cNvPr>
            <p:cNvSpPr/>
            <p:nvPr/>
          </p:nvSpPr>
          <p:spPr>
            <a:xfrm>
              <a:off x="6750150" y="2480341"/>
              <a:ext cx="2276061" cy="844826"/>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Progress to targets (GHG)</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0" name="Rectangle 149">
              <a:extLst>
                <a:ext uri="{FF2B5EF4-FFF2-40B4-BE49-F238E27FC236}">
                  <a16:creationId xmlns:a16="http://schemas.microsoft.com/office/drawing/2014/main" id="{DAF7694B-C5B9-3413-18BE-C7CF9AEB3314}"/>
                </a:ext>
              </a:extLst>
            </p:cNvPr>
            <p:cNvSpPr/>
            <p:nvPr/>
          </p:nvSpPr>
          <p:spPr>
            <a:xfrm>
              <a:off x="9137749" y="2479271"/>
              <a:ext cx="2276061" cy="844826"/>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Progress to targets (RES)</a:t>
              </a:r>
              <a:endParaRPr lang="en-US" sz="120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51" name="Rectangle 150">
              <a:extLst>
                <a:ext uri="{FF2B5EF4-FFF2-40B4-BE49-F238E27FC236}">
                  <a16:creationId xmlns:a16="http://schemas.microsoft.com/office/drawing/2014/main" id="{B4437E7B-30A4-076E-2941-D7D8BFF11D99}"/>
                </a:ext>
              </a:extLst>
            </p:cNvPr>
            <p:cNvSpPr/>
            <p:nvPr/>
          </p:nvSpPr>
          <p:spPr>
            <a:xfrm>
              <a:off x="9137749" y="1440416"/>
              <a:ext cx="2276061" cy="844826"/>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Progress to targets (EE)</a:t>
              </a:r>
              <a:endParaRPr lang="en-US" sz="120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52" name="TextBox 151">
              <a:extLst>
                <a:ext uri="{FF2B5EF4-FFF2-40B4-BE49-F238E27FC236}">
                  <a16:creationId xmlns:a16="http://schemas.microsoft.com/office/drawing/2014/main" id="{A314DADF-F616-9C2E-6035-1AAC880383F6}"/>
                </a:ext>
              </a:extLst>
            </p:cNvPr>
            <p:cNvSpPr txBox="1"/>
            <p:nvPr/>
          </p:nvSpPr>
          <p:spPr>
            <a:xfrm>
              <a:off x="6750150" y="914347"/>
              <a:ext cx="3715269" cy="341983"/>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b="1" i="0" u="none" strike="noStrike" kern="1200" cap="none" spc="0" normalizeH="0" baseline="0" noProof="0" dirty="0">
                  <a:ln>
                    <a:noFill/>
                  </a:ln>
                  <a:solidFill>
                    <a:prstClr val="black"/>
                  </a:solidFill>
                  <a:effectLst/>
                  <a:uLnTx/>
                  <a:uFillTx/>
                  <a:latin typeface="Calibri" panose="020F0502020204030204"/>
                  <a:ea typeface="+mn-ea"/>
                  <a:cs typeface="+mn-cs"/>
                </a:rPr>
                <a:t>Potential reporting synergies</a:t>
              </a:r>
              <a:endParaRPr lang="en-US" sz="1200" b="1"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53" name="Rectangle 152">
              <a:extLst>
                <a:ext uri="{FF2B5EF4-FFF2-40B4-BE49-F238E27FC236}">
                  <a16:creationId xmlns:a16="http://schemas.microsoft.com/office/drawing/2014/main" id="{DA11EA1B-2417-BD7F-6AEE-E898FE901751}"/>
                </a:ext>
              </a:extLst>
            </p:cNvPr>
            <p:cNvSpPr/>
            <p:nvPr/>
          </p:nvSpPr>
          <p:spPr>
            <a:xfrm>
              <a:off x="6750150" y="1456964"/>
              <a:ext cx="2276061" cy="844826"/>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200" i="0" u="none" strike="noStrike" kern="1200" cap="none" spc="0" normalizeH="0" baseline="0" noProof="0" dirty="0">
                  <a:ln>
                    <a:noFill/>
                  </a:ln>
                  <a:solidFill>
                    <a:prstClr val="black"/>
                  </a:solidFill>
                  <a:effectLst/>
                  <a:uLnTx/>
                  <a:uFillTx/>
                  <a:latin typeface="Calibri" panose="020F0502020204030204"/>
                  <a:ea typeface="+mn-ea"/>
                  <a:cs typeface="+mn-cs"/>
                </a:rPr>
                <a:t>Description of n</a:t>
              </a: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ational systems</a:t>
              </a:r>
              <a:r>
                <a:rPr kumimoji="0" lang="en-SE" sz="1200" i="0" u="none" strike="noStrike" kern="1200" cap="none" spc="0" normalizeH="0" baseline="0" noProof="0" dirty="0">
                  <a:ln>
                    <a:noFill/>
                  </a:ln>
                  <a:solidFill>
                    <a:prstClr val="black"/>
                  </a:solidFill>
                  <a:effectLst/>
                  <a:uLnTx/>
                  <a:uFillTx/>
                  <a:latin typeface="Calibri" panose="020F0502020204030204"/>
                  <a:ea typeface="+mn-ea"/>
                  <a:cs typeface="+mn-cs"/>
                </a:rPr>
                <a:t> for mitigation actions and projections</a:t>
              </a:r>
              <a:endParaRPr lang="en-US" sz="120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grpSp>
      <p:sp>
        <p:nvSpPr>
          <p:cNvPr id="156" name="Rectangle 155">
            <a:extLst>
              <a:ext uri="{FF2B5EF4-FFF2-40B4-BE49-F238E27FC236}">
                <a16:creationId xmlns:a16="http://schemas.microsoft.com/office/drawing/2014/main" id="{1C8D941D-0C50-7C98-0270-3BBCAC403E1B}"/>
              </a:ext>
            </a:extLst>
          </p:cNvPr>
          <p:cNvSpPr/>
          <p:nvPr/>
        </p:nvSpPr>
        <p:spPr>
          <a:xfrm>
            <a:off x="9543751" y="5214010"/>
            <a:ext cx="1466859" cy="548119"/>
          </a:xfrm>
          <a:prstGeom prst="rect">
            <a:avLst/>
          </a:prstGeom>
          <a:solidFill>
            <a:schemeClr val="accent2">
              <a:lumMod val="60000"/>
              <a:lumOff val="40000"/>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Approximated GHG inventory (X-1)</a:t>
            </a:r>
            <a:endParaRPr kumimoji="0" lang="LID4096"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35191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6.1.4122"/>
  <p:tag name="SLIDO_PRESENTATION_ID" val="00000000-0000-0000-0000-000000000000"/>
  <p:tag name="SLIDO_EVENT_UUID" val="166b7c1f-87a6-4573-9074-c7224fc145be"/>
  <p:tag name="SLIDO_EVENT_SECTION_UUID" val="156dbd02-25fe-49d3-94e9-a56b963c02a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CAD936-5A74-43AE-BF01-7EEBCAAF77AA}">
  <ds:schemaRefs>
    <ds:schemaRef ds:uri="http://schemas.microsoft.com/sharepoint/v3/contenttype/forms"/>
  </ds:schemaRefs>
</ds:datastoreItem>
</file>

<file path=customXml/itemProps2.xml><?xml version="1.0" encoding="utf-8"?>
<ds:datastoreItem xmlns:ds="http://schemas.openxmlformats.org/officeDocument/2006/customXml" ds:itemID="{FA4D698A-08E0-4ACA-9645-6F4C978FCA3B}">
  <ds:schemaRefs>
    <ds:schemaRef ds:uri="1403fb54-47f0-4125-8d87-6a6e13582a5f"/>
    <ds:schemaRef ds:uri="340712eb-23a5-460f-9036-c6d10688f9a1"/>
    <ds:schemaRef ds:uri="http://purl.org/dc/dcmitype/"/>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http://purl.org/dc/elements/1.1/"/>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8B692DB6-7D5D-457D-836F-F7A99D9A9BA9}"/>
</file>

<file path=docProps/app.xml><?xml version="1.0" encoding="utf-8"?>
<Properties xmlns="http://schemas.openxmlformats.org/officeDocument/2006/extended-properties" xmlns:vt="http://schemas.openxmlformats.org/officeDocument/2006/docPropsVTypes">
  <TotalTime>12635</TotalTime>
  <Words>3275</Words>
  <Application>Microsoft Office PowerPoint</Application>
  <PresentationFormat>Widescreen</PresentationFormat>
  <Paragraphs>269</Paragraphs>
  <Slides>16</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Aptos</vt:lpstr>
      <vt:lpstr>Aptos Display</vt:lpstr>
      <vt:lpstr>Arial</vt:lpstr>
      <vt:lpstr>Calibri</vt:lpstr>
      <vt:lpstr>Calibri Light</vt:lpstr>
      <vt:lpstr>Office Theme</vt:lpstr>
      <vt:lpstr>1_Office Theme</vt:lpstr>
      <vt:lpstr>PowerPoint Presentation</vt:lpstr>
      <vt:lpstr>Session outline</vt:lpstr>
      <vt:lpstr>Tour de table – Who’s who?</vt:lpstr>
      <vt:lpstr>PowerPoint Presentation</vt:lpstr>
      <vt:lpstr>The Governance Regulation</vt:lpstr>
      <vt:lpstr>The adapted Governance Regulation</vt:lpstr>
      <vt:lpstr>The adapted Governance Regulation</vt:lpstr>
      <vt:lpstr>Reporting obligations beyond 2025</vt:lpstr>
      <vt:lpstr>PowerPoint Presentation</vt:lpstr>
      <vt:lpstr>TIMELINE FOR THE REPORTING OBLIGATIONS</vt:lpstr>
      <vt:lpstr>PowerPoint Presentation</vt:lpstr>
      <vt:lpstr>How is the reported data used</vt:lpstr>
      <vt:lpstr>The reporting process</vt:lpstr>
      <vt:lpstr>PowerPoint Presentation</vt:lpstr>
      <vt:lpstr>PowerPoint Presentation</vt:lpstr>
      <vt:lpstr>Synergies with UNFCCC reporting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 Wretlind</dc:creator>
  <cp:lastModifiedBy>Per Wretlind</cp:lastModifiedBy>
  <cp:revision>226</cp:revision>
  <dcterms:created xsi:type="dcterms:W3CDTF">2023-03-15T13:19:27Z</dcterms:created>
  <dcterms:modified xsi:type="dcterms:W3CDTF">2025-10-07T07:21:19Z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1.6.1.4122</vt:lpwstr>
  </property>
  <property fmtid="{D5CDD505-2E9C-101B-9397-08002B2CF9AE}" pid="3" name="ContentTypeId">
    <vt:lpwstr>0x010100CA9E40BF7383784999BA1B34A435B410</vt:lpwstr>
  </property>
  <property fmtid="{D5CDD505-2E9C-101B-9397-08002B2CF9AE}" pid="4" name="MediaServiceImageTags">
    <vt:lpwstr/>
  </property>
  <property fmtid="{D5CDD505-2E9C-101B-9397-08002B2CF9AE}" pid="5" name="Order">
    <vt:r8>183300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