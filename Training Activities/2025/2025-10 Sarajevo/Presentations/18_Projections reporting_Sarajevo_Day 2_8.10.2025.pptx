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1821" r:id="rId5"/>
    <p:sldId id="1929" r:id="rId6"/>
    <p:sldId id="1927" r:id="rId7"/>
    <p:sldId id="1915" r:id="rId8"/>
    <p:sldId id="1932" r:id="rId9"/>
    <p:sldId id="1910" r:id="rId10"/>
    <p:sldId id="1931" r:id="rId11"/>
  </p:sldIdLst>
  <p:sldSz cx="12192000" cy="6858000"/>
  <p:notesSz cx="6858000" cy="9144000"/>
  <p:custDataLst>
    <p:tags r:id="rId13"/>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B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9A1148-68EA-4608-9D49-E616979C35D3}" v="1" dt="2025-10-08T13:04:34.7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 Wretlind" userId="bcb024af-6ead-48e3-9a4b-cde6c6f63c4a" providerId="ADAL" clId="{C6E259FF-F6A0-49B8-82F6-C55B97A5A0CE}"/>
    <pc:docChg chg="custSel modSld">
      <pc:chgData name="Per Wretlind" userId="bcb024af-6ead-48e3-9a4b-cde6c6f63c4a" providerId="ADAL" clId="{C6E259FF-F6A0-49B8-82F6-C55B97A5A0CE}" dt="2025-10-08T13:05:01.838" v="244" actId="20577"/>
      <pc:docMkLst>
        <pc:docMk/>
      </pc:docMkLst>
      <pc:sldChg chg="modSp mod">
        <pc:chgData name="Per Wretlind" userId="bcb024af-6ead-48e3-9a4b-cde6c6f63c4a" providerId="ADAL" clId="{C6E259FF-F6A0-49B8-82F6-C55B97A5A0CE}" dt="2025-10-03T11:44:20.379" v="44" actId="14100"/>
        <pc:sldMkLst>
          <pc:docMk/>
          <pc:sldMk cId="0" sldId="1821"/>
        </pc:sldMkLst>
        <pc:spChg chg="mod">
          <ac:chgData name="Per Wretlind" userId="bcb024af-6ead-48e3-9a4b-cde6c6f63c4a" providerId="ADAL" clId="{C6E259FF-F6A0-49B8-82F6-C55B97A5A0CE}" dt="2025-10-03T11:44:20.379" v="44" actId="14100"/>
          <ac:spMkLst>
            <pc:docMk/>
            <pc:sldMk cId="0" sldId="1821"/>
            <ac:spMk id="5" creationId="{74AEE08C-4198-2A9E-8FEF-83B94C82E695}"/>
          </ac:spMkLst>
        </pc:spChg>
      </pc:sldChg>
      <pc:sldChg chg="delSp modSp mod">
        <pc:chgData name="Per Wretlind" userId="bcb024af-6ead-48e3-9a4b-cde6c6f63c4a" providerId="ADAL" clId="{C6E259FF-F6A0-49B8-82F6-C55B97A5A0CE}" dt="2025-10-08T13:05:01.838" v="244" actId="20577"/>
        <pc:sldMkLst>
          <pc:docMk/>
          <pc:sldMk cId="2541053789" sldId="1931"/>
        </pc:sldMkLst>
        <pc:spChg chg="mod">
          <ac:chgData name="Per Wretlind" userId="bcb024af-6ead-48e3-9a4b-cde6c6f63c4a" providerId="ADAL" clId="{C6E259FF-F6A0-49B8-82F6-C55B97A5A0CE}" dt="2025-10-08T13:05:01.838" v="244" actId="20577"/>
          <ac:spMkLst>
            <pc:docMk/>
            <pc:sldMk cId="2541053789" sldId="1931"/>
            <ac:spMk id="7" creationId="{108877F1-5ED9-C9FB-D810-9631A1D3F1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F8F40-AB11-4026-B2C7-9270D9FFF1F8}" type="datetimeFigureOut">
              <a:rPr lang="en-DK" smtClean="0"/>
              <a:t>08/10/2025</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E0F3C7-EF41-4749-8D80-5F0119961675}" type="slidenum">
              <a:rPr lang="en-DK" smtClean="0"/>
              <a:t>‹#›</a:t>
            </a:fld>
            <a:endParaRPr lang="en-DK"/>
          </a:p>
        </p:txBody>
      </p:sp>
    </p:spTree>
    <p:extLst>
      <p:ext uri="{BB962C8B-B14F-4D97-AF65-F5344CB8AC3E}">
        <p14:creationId xmlns:p14="http://schemas.microsoft.com/office/powerpoint/2010/main" val="2108134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ur-lex.europa.eu/legal-content/EN/TXT/PDF/?uri=CELEX:32018R1999&amp;from=EN"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eea.europa.eu/en/about/who-we-are/projects-and-cooperation-agreements/energy-community"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1173163"/>
            <a:ext cx="5629275" cy="316706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77201BC-94E4-4101-962D-54511777D224}" type="slidenum">
              <a:rPr lang="en-GB" smtClean="0"/>
              <a:pPr/>
              <a:t>1</a:t>
            </a:fld>
            <a:endParaRPr lang="en-GB"/>
          </a:p>
        </p:txBody>
      </p:sp>
    </p:spTree>
    <p:extLst>
      <p:ext uri="{BB962C8B-B14F-4D97-AF65-F5344CB8AC3E}">
        <p14:creationId xmlns:p14="http://schemas.microsoft.com/office/powerpoint/2010/main" val="1772990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Energy Community’s CPs, the adapted </a:t>
            </a:r>
            <a:r>
              <a:rPr lang="en-US">
                <a:hlinkClick r:id="rId3"/>
              </a:rPr>
              <a:t>Governance Regulation</a:t>
            </a:r>
            <a:r>
              <a:rPr lang="en-US"/>
              <a:t> sets common rules for planning, reporting and monitoring on energy and climate policies and targets, including via National Energy and Climate Plans. Targeted support is needed to ensure compliance, e.g. the quality of reported data, its comparability with EU data, and its</a:t>
            </a:r>
            <a:r>
              <a:rPr lang="en-US" dirty="0">
                <a:hlinkClick r:id="rId4"/>
              </a:rPr>
              <a:t> </a:t>
            </a:r>
            <a:r>
              <a:rPr lang="en-US"/>
              <a:t>appropriate compilation and analysis. The reporting requirements come gradually, with the first new obligations being introduced in 2023. These include reporting on national greenhouse gas policies and measures, national climate change adaptation planning and strategies, and the description of the national system for reporting on policies and measures and projections of anthropogenic GHG emissions. This will be expanded to include numerous data flows, including the greenhouse gas inventories and information on support to developing countries.</a:t>
            </a:r>
          </a:p>
          <a:p>
            <a:r>
              <a:rPr lang="en-US"/>
              <a:t>The nine CPs are the six West Balkan CPs of Albania, Bosnia and Herzegovina, North Macedonia, Kosovo, Montenegro, and Serbia, as well as the three Eastern Partnership members of the Energy Community: Georgia, the Republic of Moldova and Ukraine. The project includes both virtual and in-person training sessions where the targeted technical assistance will be provided.</a:t>
            </a:r>
          </a:p>
          <a:p>
            <a:r>
              <a:rPr lang="en-US"/>
              <a:t>A key partner of this community is the Energy Community Secretariat, which is coordinating the full scope of reporting under the adapted Governance Regulation and which will collect all final data sets for further communication. Moreover, the Secretariat is a key partner in the coordination of technical assistance of the project and aligning it with the broader support provided by the Energy Community Secretariat.</a:t>
            </a:r>
          </a:p>
        </p:txBody>
      </p:sp>
      <p:sp>
        <p:nvSpPr>
          <p:cNvPr id="4" name="Slide Number Placeholder 3"/>
          <p:cNvSpPr>
            <a:spLocks noGrp="1"/>
          </p:cNvSpPr>
          <p:nvPr>
            <p:ph type="sldNum" sz="quarter" idx="5"/>
          </p:nvPr>
        </p:nvSpPr>
        <p:spPr/>
        <p:txBody>
          <a:bodyPr/>
          <a:lstStyle/>
          <a:p>
            <a:fld id="{CDB57296-D5E5-4927-A250-AF26A1F7177E}" type="slidenum">
              <a:rPr lang="en-US"/>
              <a:t>3</a:t>
            </a:fld>
            <a:endParaRPr lang="en-US"/>
          </a:p>
        </p:txBody>
      </p:sp>
    </p:spTree>
    <p:extLst>
      <p:ext uri="{BB962C8B-B14F-4D97-AF65-F5344CB8AC3E}">
        <p14:creationId xmlns:p14="http://schemas.microsoft.com/office/powerpoint/2010/main" val="3272914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69C00-28F4-1198-0968-BF00EDA99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F198AF36-7050-D95D-5E7C-0A2384136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DE6F86A9-ED57-0DEE-C5BC-8103972A83DA}"/>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5" name="Footer Placeholder 4">
            <a:extLst>
              <a:ext uri="{FF2B5EF4-FFF2-40B4-BE49-F238E27FC236}">
                <a16:creationId xmlns:a16="http://schemas.microsoft.com/office/drawing/2014/main" id="{31904DAE-3643-3FB6-03FC-3631E736EDB7}"/>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83240FD-2ADB-49B6-9DF9-EEE2899B3C8C}"/>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7066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E8935-D862-1196-D415-30AC86E0EF6C}"/>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F8AF7C3F-5838-F510-664A-16285709E5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8CB424A3-E747-9885-0C38-E41780A1BBAE}"/>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5" name="Footer Placeholder 4">
            <a:extLst>
              <a:ext uri="{FF2B5EF4-FFF2-40B4-BE49-F238E27FC236}">
                <a16:creationId xmlns:a16="http://schemas.microsoft.com/office/drawing/2014/main" id="{D849FC4A-7ABD-EB2A-5445-633934376EE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ECC3C180-7EA4-254A-97D1-020C1ABD6F75}"/>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722013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2BBFF-8E69-E8F7-436C-9BE963AC69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21A0FBE9-F645-514E-9651-DF10ABF35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E27B3C-7E9C-5548-DC51-F175AF7DACCF}"/>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5" name="Footer Placeholder 4">
            <a:extLst>
              <a:ext uri="{FF2B5EF4-FFF2-40B4-BE49-F238E27FC236}">
                <a16:creationId xmlns:a16="http://schemas.microsoft.com/office/drawing/2014/main" id="{5E250BDE-7ECD-F348-C12F-056D01F78B0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FB96505E-EF24-4C37-977E-39112EA0B78B}"/>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277232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605C7-8B7F-03A1-5173-3BBAF5331B44}"/>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E7A322EB-FDCB-4895-E61D-60B9E7F5C5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944D8117-AB48-8BF1-2C92-4E8D71865A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B56D4497-6D05-28B0-989C-A002FE8EDBBC}"/>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6" name="Footer Placeholder 5">
            <a:extLst>
              <a:ext uri="{FF2B5EF4-FFF2-40B4-BE49-F238E27FC236}">
                <a16:creationId xmlns:a16="http://schemas.microsoft.com/office/drawing/2014/main" id="{7EB4E1F3-FCDA-7B28-22F0-9964DD20E2E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5DA995EC-8C7E-0587-B6B7-500B3E1C48E3}"/>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2696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8F9C-7941-7CFA-233C-0AC1C60D5C4E}"/>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16B51CA7-7E75-2DD8-6524-831FD7AE29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2B0B2F-910D-55E0-7684-628EBACED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5455F8B4-887B-050A-E9B1-31C61BF32A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C9CD95-2A9D-C616-2F01-9CDBF008A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648E6BFE-5F66-3A4E-7119-E47799FF7FA0}"/>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8" name="Footer Placeholder 7">
            <a:extLst>
              <a:ext uri="{FF2B5EF4-FFF2-40B4-BE49-F238E27FC236}">
                <a16:creationId xmlns:a16="http://schemas.microsoft.com/office/drawing/2014/main" id="{C082F011-CCCF-C38A-8C2F-4C5499A6D7D8}"/>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AA3310E1-A35F-F4C8-1F6C-451E9B992480}"/>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766906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DE06-0179-D602-FF4F-E2A133B8A732}"/>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5A335734-F39C-830F-2D03-B5323F203EF9}"/>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4" name="Footer Placeholder 3">
            <a:extLst>
              <a:ext uri="{FF2B5EF4-FFF2-40B4-BE49-F238E27FC236}">
                <a16:creationId xmlns:a16="http://schemas.microsoft.com/office/drawing/2014/main" id="{9B836A91-9A8C-346F-2EC7-4A9CD221A2A8}"/>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8660CE00-2562-304A-B3A4-17CC002F0CDF}"/>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2109233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D74BBC-9123-F52E-6695-261E5123A1FC}"/>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3" name="Footer Placeholder 2">
            <a:extLst>
              <a:ext uri="{FF2B5EF4-FFF2-40B4-BE49-F238E27FC236}">
                <a16:creationId xmlns:a16="http://schemas.microsoft.com/office/drawing/2014/main" id="{A1D361E2-BDE4-71F0-21F4-FBC8C6853549}"/>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4CC57206-01C4-B91E-1791-898CA5FFC355}"/>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25702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B118-C267-22C3-DDC0-505EE13F8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CCC222C5-CFDB-CFBB-EC31-99DF9B2E93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E4AC447D-8CA2-31CA-9D6B-E047F1D6C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13B0D-CA64-A743-A9D9-78E54EA56824}"/>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6" name="Footer Placeholder 5">
            <a:extLst>
              <a:ext uri="{FF2B5EF4-FFF2-40B4-BE49-F238E27FC236}">
                <a16:creationId xmlns:a16="http://schemas.microsoft.com/office/drawing/2014/main" id="{7AC4BB08-86BD-9FD1-A72E-11469196C5E6}"/>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F28AA603-AFFC-EF24-7087-9B2A958238D6}"/>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6147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9C78-BA7C-EBFC-77C2-E3A213D43C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A9FBF5B6-A448-752D-D48B-8D01502948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A5825C9B-9BFB-3899-2099-17C7DF30A8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695A9-CC2D-E054-18A5-2336539F477A}"/>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6" name="Footer Placeholder 5">
            <a:extLst>
              <a:ext uri="{FF2B5EF4-FFF2-40B4-BE49-F238E27FC236}">
                <a16:creationId xmlns:a16="http://schemas.microsoft.com/office/drawing/2014/main" id="{B8E0B5D4-56BC-F27D-CC37-61E7BFA53DF3}"/>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F6A9DB84-4A9F-D10C-18E8-EF144E440CBF}"/>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83578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36CB-CD18-E769-67FB-EC53F46AF5C4}"/>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ECC8FF5B-1071-647A-81EA-299B315D73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9FD5E34C-C59C-3BBB-1418-F1E4DCF002AD}"/>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5" name="Footer Placeholder 4">
            <a:extLst>
              <a:ext uri="{FF2B5EF4-FFF2-40B4-BE49-F238E27FC236}">
                <a16:creationId xmlns:a16="http://schemas.microsoft.com/office/drawing/2014/main" id="{7E2D2E27-A1E6-2DFF-6D51-EA4722E8A110}"/>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47280E1D-E652-2F22-B629-BBAC51E98446}"/>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67401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6BAAC-3688-FCC1-DC84-63C9959615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70B87F1-D11C-9A89-DECB-523D6597FF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EF692EE2-075E-6166-C942-7A41E16D7792}"/>
              </a:ext>
            </a:extLst>
          </p:cNvPr>
          <p:cNvSpPr>
            <a:spLocks noGrp="1"/>
          </p:cNvSpPr>
          <p:nvPr>
            <p:ph type="dt" sz="half" idx="10"/>
          </p:nvPr>
        </p:nvSpPr>
        <p:spPr/>
        <p:txBody>
          <a:bodyPr/>
          <a:lstStyle/>
          <a:p>
            <a:fld id="{F50A88AC-4321-4C6F-8B61-674A6CD713DB}" type="datetimeFigureOut">
              <a:rPr lang="en-DK" smtClean="0"/>
              <a:t>08/10/2025</a:t>
            </a:fld>
            <a:endParaRPr lang="en-DK"/>
          </a:p>
        </p:txBody>
      </p:sp>
      <p:sp>
        <p:nvSpPr>
          <p:cNvPr id="5" name="Footer Placeholder 4">
            <a:extLst>
              <a:ext uri="{FF2B5EF4-FFF2-40B4-BE49-F238E27FC236}">
                <a16:creationId xmlns:a16="http://schemas.microsoft.com/office/drawing/2014/main" id="{B8F57EAD-0488-1A82-C99A-D9AF868E2378}"/>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E4E3CDF-9067-D697-42E1-EAC66D939B12}"/>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378325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30236185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AD578A-B33E-9094-1E1E-C615E5428A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36ECD111-6437-1EA9-5FEF-3C060C027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95758952-93EB-7637-A6AB-79C54EB63B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0A88AC-4321-4C6F-8B61-674A6CD713DB}" type="datetimeFigureOut">
              <a:rPr lang="en-DK" smtClean="0"/>
              <a:t>08/10/2025</a:t>
            </a:fld>
            <a:endParaRPr lang="en-DK"/>
          </a:p>
        </p:txBody>
      </p:sp>
      <p:sp>
        <p:nvSpPr>
          <p:cNvPr id="5" name="Footer Placeholder 4">
            <a:extLst>
              <a:ext uri="{FF2B5EF4-FFF2-40B4-BE49-F238E27FC236}">
                <a16:creationId xmlns:a16="http://schemas.microsoft.com/office/drawing/2014/main" id="{5D9E4FE8-5470-1F11-B04C-30238BF80A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K"/>
          </a:p>
        </p:txBody>
      </p:sp>
      <p:sp>
        <p:nvSpPr>
          <p:cNvPr id="6" name="Slide Number Placeholder 5">
            <a:extLst>
              <a:ext uri="{FF2B5EF4-FFF2-40B4-BE49-F238E27FC236}">
                <a16:creationId xmlns:a16="http://schemas.microsoft.com/office/drawing/2014/main" id="{C6FEE008-27DC-D6BE-E2D5-99DBBE61B6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540985-5B8E-4E4D-A5A8-E685E0017CBF}" type="slidenum">
              <a:rPr lang="en-DK" smtClean="0"/>
              <a:t>‹#›</a:t>
            </a:fld>
            <a:endParaRPr lang="en-DK"/>
          </a:p>
        </p:txBody>
      </p:sp>
    </p:spTree>
    <p:extLst>
      <p:ext uri="{BB962C8B-B14F-4D97-AF65-F5344CB8AC3E}">
        <p14:creationId xmlns:p14="http://schemas.microsoft.com/office/powerpoint/2010/main" val="2456464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hyperlink" Target="https://www.tobiasterman.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mailto:Per.wretlind@eea.europa.e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flying a parachute over trees&#10;&#10;Description automatically generated">
            <a:extLst>
              <a:ext uri="{FF2B5EF4-FFF2-40B4-BE49-F238E27FC236}">
                <a16:creationId xmlns:a16="http://schemas.microsoft.com/office/drawing/2014/main" id="{23AFE64C-7F12-A08B-963B-7ACCA66FC306}"/>
              </a:ext>
            </a:extLst>
          </p:cNvPr>
          <p:cNvPicPr>
            <a:picLocks noChangeAspect="1"/>
          </p:cNvPicPr>
          <p:nvPr/>
        </p:nvPicPr>
        <p:blipFill>
          <a:blip r:embed="rId3"/>
          <a:stretch>
            <a:fillRect/>
          </a:stretch>
        </p:blipFill>
        <p:spPr>
          <a:xfrm>
            <a:off x="0" y="2677"/>
            <a:ext cx="12192000" cy="6852646"/>
          </a:xfrm>
          <a:prstGeom prst="rect">
            <a:avLst/>
          </a:prstGeom>
        </p:spPr>
      </p:pic>
      <p:sp>
        <p:nvSpPr>
          <p:cNvPr id="6" name="Text Placeholder 3">
            <a:extLst>
              <a:ext uri="{FF2B5EF4-FFF2-40B4-BE49-F238E27FC236}">
                <a16:creationId xmlns:a16="http://schemas.microsoft.com/office/drawing/2014/main" id="{947F1237-6C41-4972-A073-79B619130A0D}"/>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endParaRPr lang="en-GB" sz="1400" dirty="0"/>
          </a:p>
        </p:txBody>
      </p:sp>
      <p:sp>
        <p:nvSpPr>
          <p:cNvPr id="9" name="TextBox 8">
            <a:extLst>
              <a:ext uri="{FF2B5EF4-FFF2-40B4-BE49-F238E27FC236}">
                <a16:creationId xmlns:a16="http://schemas.microsoft.com/office/drawing/2014/main" id="{864D2A43-7E8A-7425-1252-A940921CEFAA}"/>
              </a:ext>
            </a:extLst>
          </p:cNvPr>
          <p:cNvSpPr txBox="1"/>
          <p:nvPr/>
        </p:nvSpPr>
        <p:spPr>
          <a:xfrm rot="16200000">
            <a:off x="-1067935" y="5486050"/>
            <a:ext cx="243612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Proxima Nova"/>
                <a:ea typeface="+mn-ea"/>
                <a:cs typeface="+mn-cs"/>
              </a:rPr>
              <a:t>Photo: </a:t>
            </a:r>
            <a:r>
              <a:rPr kumimoji="0" lang="en-US" sz="1400" b="0" i="0" u="none" strike="noStrike" kern="1200" cap="none" spc="0" normalizeH="0" baseline="0" noProof="0" dirty="0">
                <a:ln>
                  <a:noFill/>
                </a:ln>
                <a:solidFill>
                  <a:schemeClr val="bg1"/>
                </a:solidFill>
                <a:effectLst/>
                <a:uLnTx/>
                <a:uFillTx/>
                <a:latin typeface="Proxima Nova"/>
                <a:ea typeface="+mn-ea"/>
                <a:cs typeface="+mn-cs"/>
                <a:hlinkClick r:id="rId4">
                  <a:extLst>
                    <a:ext uri="{A12FA001-AC4F-418D-AE19-62706E023703}">
                      <ahyp:hlinkClr xmlns:ahyp="http://schemas.microsoft.com/office/drawing/2018/hyperlinkcolor" val="tx"/>
                    </a:ext>
                  </a:extLst>
                </a:hlinkClick>
              </a:rPr>
              <a:t>Tobias Terman Olsen</a:t>
            </a:r>
            <a:endParaRPr kumimoji="0" lang="en-GB" sz="1400" b="0" i="0" u="none" strike="noStrike" kern="1200" cap="none" spc="0" normalizeH="0" baseline="0" noProof="0" dirty="0">
              <a:ln>
                <a:noFill/>
              </a:ln>
              <a:solidFill>
                <a:schemeClr val="bg1"/>
              </a:solidFill>
              <a:effectLst/>
              <a:uLnTx/>
              <a:uFillTx/>
              <a:latin typeface="Open Sans"/>
              <a:ea typeface="+mn-ea"/>
              <a:cs typeface="+mn-cs"/>
            </a:endParaRPr>
          </a:p>
        </p:txBody>
      </p:sp>
      <p:pic>
        <p:nvPicPr>
          <p:cNvPr id="10" name="Picture 4" descr="Text&#10;&#10;Description automatically generated">
            <a:extLst>
              <a:ext uri="{FF2B5EF4-FFF2-40B4-BE49-F238E27FC236}">
                <a16:creationId xmlns:a16="http://schemas.microsoft.com/office/drawing/2014/main" id="{0F5697FB-9CA1-F752-199E-9850765E5985}"/>
              </a:ext>
            </a:extLst>
          </p:cNvPr>
          <p:cNvPicPr>
            <a:picLocks noChangeAspect="1"/>
          </p:cNvPicPr>
          <p:nvPr/>
        </p:nvPicPr>
        <p:blipFill>
          <a:blip r:embed="rId5"/>
          <a:stretch>
            <a:fillRect/>
          </a:stretch>
        </p:blipFill>
        <p:spPr>
          <a:xfrm>
            <a:off x="9635478" y="6257780"/>
            <a:ext cx="2484335" cy="468000"/>
          </a:xfrm>
          <a:prstGeom prst="rect">
            <a:avLst/>
          </a:prstGeom>
        </p:spPr>
      </p:pic>
      <p:sp>
        <p:nvSpPr>
          <p:cNvPr id="2" name="TextBox 1">
            <a:extLst>
              <a:ext uri="{FF2B5EF4-FFF2-40B4-BE49-F238E27FC236}">
                <a16:creationId xmlns:a16="http://schemas.microsoft.com/office/drawing/2014/main" id="{BD7CD3A7-0727-D2BA-454C-C6C1ED81EACA}"/>
              </a:ext>
            </a:extLst>
          </p:cNvPr>
          <p:cNvSpPr txBox="1"/>
          <p:nvPr/>
        </p:nvSpPr>
        <p:spPr>
          <a:xfrm>
            <a:off x="1" y="892455"/>
            <a:ext cx="12191999" cy="646331"/>
          </a:xfrm>
          <a:prstGeom prst="rect">
            <a:avLst/>
          </a:prstGeom>
          <a:solidFill>
            <a:schemeClr val="accent3">
              <a:lumMod val="50000"/>
              <a:alpha val="44000"/>
            </a:schemeClr>
          </a:solidFill>
        </p:spPr>
        <p:txBody>
          <a:bodyPr wrap="square" rtlCol="0">
            <a:spAutoFit/>
          </a:bodyPr>
          <a:lstStyle/>
          <a:p>
            <a:pPr algn="r"/>
            <a:r>
              <a:rPr lang="en-US" sz="3600" b="1" dirty="0">
                <a:solidFill>
                  <a:schemeClr val="bg1"/>
                </a:solidFill>
              </a:rPr>
              <a:t>T</a:t>
            </a:r>
            <a:r>
              <a:rPr lang="en-SE" sz="3600" b="1" dirty="0">
                <a:solidFill>
                  <a:schemeClr val="bg1"/>
                </a:solidFill>
              </a:rPr>
              <a:t>raining for the </a:t>
            </a:r>
            <a:r>
              <a:rPr lang="en-US" sz="3600" b="1" dirty="0">
                <a:solidFill>
                  <a:schemeClr val="bg1"/>
                </a:solidFill>
              </a:rPr>
              <a:t>GHG Projections</a:t>
            </a:r>
            <a:r>
              <a:rPr lang="en-SE" sz="3600" b="1" dirty="0">
                <a:solidFill>
                  <a:schemeClr val="bg1"/>
                </a:solidFill>
              </a:rPr>
              <a:t> dataflow.</a:t>
            </a:r>
            <a:r>
              <a:rPr lang="en-US" sz="3600" b="1" dirty="0">
                <a:solidFill>
                  <a:schemeClr val="bg1"/>
                </a:solidFill>
              </a:rPr>
              <a:t> </a:t>
            </a:r>
            <a:endParaRPr lang="da-DK" sz="3600" b="1" dirty="0">
              <a:solidFill>
                <a:schemeClr val="bg1"/>
              </a:solidFill>
            </a:endParaRPr>
          </a:p>
        </p:txBody>
      </p:sp>
      <p:sp>
        <p:nvSpPr>
          <p:cNvPr id="5" name="TextBox 4">
            <a:extLst>
              <a:ext uri="{FF2B5EF4-FFF2-40B4-BE49-F238E27FC236}">
                <a16:creationId xmlns:a16="http://schemas.microsoft.com/office/drawing/2014/main" id="{74AEE08C-4198-2A9E-8FEF-83B94C82E695}"/>
              </a:ext>
            </a:extLst>
          </p:cNvPr>
          <p:cNvSpPr txBox="1"/>
          <p:nvPr/>
        </p:nvSpPr>
        <p:spPr>
          <a:xfrm>
            <a:off x="3632718" y="5164029"/>
            <a:ext cx="8559282" cy="707886"/>
          </a:xfrm>
          <a:prstGeom prst="rect">
            <a:avLst/>
          </a:prstGeom>
          <a:solidFill>
            <a:schemeClr val="bg1">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da-DK" sz="2000" b="1" dirty="0">
                <a:solidFill>
                  <a:schemeClr val="bg1"/>
                </a:solidFill>
              </a:rPr>
              <a:t>8 October</a:t>
            </a:r>
            <a:r>
              <a:rPr lang="en-US" sz="2000" b="1" dirty="0">
                <a:solidFill>
                  <a:schemeClr val="bg1"/>
                </a:solidFill>
              </a:rPr>
              <a:t> 202</a:t>
            </a:r>
            <a:r>
              <a:rPr lang="en-SE" sz="2000" b="1" dirty="0">
                <a:solidFill>
                  <a:schemeClr val="bg1"/>
                </a:solidFill>
              </a:rPr>
              <a:t>5, </a:t>
            </a:r>
            <a:r>
              <a:rPr lang="da-DK" sz="2000" b="1" dirty="0">
                <a:solidFill>
                  <a:schemeClr val="bg1"/>
                </a:solidFill>
              </a:rPr>
              <a:t>Sarajevo</a:t>
            </a:r>
            <a:r>
              <a:rPr lang="en-SE" sz="2000" b="1" dirty="0">
                <a:solidFill>
                  <a:schemeClr val="bg1"/>
                </a:solidFill>
              </a:rPr>
              <a:t>, </a:t>
            </a:r>
            <a:r>
              <a:rPr lang="da-DK" sz="2000" b="1" dirty="0">
                <a:solidFill>
                  <a:schemeClr val="bg1"/>
                </a:solidFill>
              </a:rPr>
              <a:t>Bosnia and Herzegovina, National In-person training</a:t>
            </a:r>
          </a:p>
          <a:p>
            <a:pPr algn="r"/>
            <a:r>
              <a:rPr lang="en-US" sz="2000" dirty="0">
                <a:solidFill>
                  <a:schemeClr val="bg1"/>
                </a:solidFill>
                <a:latin typeface="Calibri"/>
                <a:cs typeface="Calibri"/>
              </a:rPr>
              <a:t>Per Wretlind (EEA)</a:t>
            </a:r>
            <a:endParaRPr lang="en-US" sz="20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155D-3C72-FB1B-19E6-FC6C391DA2DA}"/>
              </a:ext>
            </a:extLst>
          </p:cNvPr>
          <p:cNvSpPr>
            <a:spLocks noGrp="1"/>
          </p:cNvSpPr>
          <p:nvPr>
            <p:ph type="title"/>
          </p:nvPr>
        </p:nvSpPr>
        <p:spPr>
          <a:xfrm>
            <a:off x="838200" y="365125"/>
            <a:ext cx="10877862" cy="1350546"/>
          </a:xfrm>
        </p:spPr>
        <p:txBody>
          <a:bodyPr/>
          <a:lstStyle/>
          <a:p>
            <a:r>
              <a:rPr lang="en-US" sz="4000" dirty="0">
                <a:solidFill>
                  <a:srgbClr val="007B6C"/>
                </a:solidFill>
                <a:latin typeface="Calibri Light"/>
                <a:cs typeface="Calibri"/>
              </a:rPr>
              <a:t>Projections</a:t>
            </a:r>
            <a:endParaRPr lang="en-US" sz="4000" dirty="0">
              <a:solidFill>
                <a:srgbClr val="007B6C"/>
              </a:solidFill>
              <a:latin typeface="Calibri Light"/>
              <a:ea typeface="Calibri Light"/>
              <a:cs typeface="Calibri"/>
            </a:endParaRPr>
          </a:p>
        </p:txBody>
      </p:sp>
      <p:graphicFrame>
        <p:nvGraphicFramePr>
          <p:cNvPr id="4" name="Table 3">
            <a:extLst>
              <a:ext uri="{FF2B5EF4-FFF2-40B4-BE49-F238E27FC236}">
                <a16:creationId xmlns:a16="http://schemas.microsoft.com/office/drawing/2014/main" id="{43DE849E-7ED6-37CD-246F-8A867C8918A9}"/>
              </a:ext>
            </a:extLst>
          </p:cNvPr>
          <p:cNvGraphicFramePr>
            <a:graphicFrameLocks noGrp="1"/>
          </p:cNvGraphicFramePr>
          <p:nvPr>
            <p:extLst>
              <p:ext uri="{D42A27DB-BD31-4B8C-83A1-F6EECF244321}">
                <p14:modId xmlns:p14="http://schemas.microsoft.com/office/powerpoint/2010/main" val="1378116160"/>
              </p:ext>
            </p:extLst>
          </p:nvPr>
        </p:nvGraphicFramePr>
        <p:xfrm>
          <a:off x="412229" y="1759955"/>
          <a:ext cx="11302608" cy="1963375"/>
        </p:xfrm>
        <a:graphic>
          <a:graphicData uri="http://schemas.openxmlformats.org/drawingml/2006/table">
            <a:tbl>
              <a:tblPr firstRow="1" bandRow="1">
                <a:tableStyleId>{5C22544A-7EE6-4342-B048-85BDC9FD1C3A}</a:tableStyleId>
              </a:tblPr>
              <a:tblGrid>
                <a:gridCol w="2205485">
                  <a:extLst>
                    <a:ext uri="{9D8B030D-6E8A-4147-A177-3AD203B41FA5}">
                      <a16:colId xmlns:a16="http://schemas.microsoft.com/office/drawing/2014/main" val="1899690268"/>
                    </a:ext>
                  </a:extLst>
                </a:gridCol>
                <a:gridCol w="9097123">
                  <a:extLst>
                    <a:ext uri="{9D8B030D-6E8A-4147-A177-3AD203B41FA5}">
                      <a16:colId xmlns:a16="http://schemas.microsoft.com/office/drawing/2014/main" val="3978093686"/>
                    </a:ext>
                  </a:extLst>
                </a:gridCol>
              </a:tblGrid>
              <a:tr h="534389">
                <a:tc gridSpan="2">
                  <a:txBody>
                    <a:bodyPr/>
                    <a:lstStyle/>
                    <a:p>
                      <a:r>
                        <a:rPr lang="en-US" sz="2400" b="0" i="0" kern="1200" dirty="0">
                          <a:solidFill>
                            <a:schemeClr val="lt1"/>
                          </a:solidFill>
                          <a:latin typeface="Calibri"/>
                          <a:ea typeface="+mn-ea"/>
                          <a:cs typeface="+mn-cs"/>
                        </a:rPr>
                        <a:t>Article 18 (1)(b) – National projections of greenhouse gases</a:t>
                      </a:r>
                      <a:endParaRPr lang="en-US" dirty="0"/>
                    </a:p>
                  </a:txBody>
                  <a:tcPr>
                    <a:solidFill>
                      <a:srgbClr val="007B6C"/>
                    </a:solidFill>
                  </a:tcPr>
                </a:tc>
                <a:tc hMerge="1">
                  <a:txBody>
                    <a:bodyPr/>
                    <a:lstStyle/>
                    <a:p>
                      <a:endParaRPr lang="en-US"/>
                    </a:p>
                  </a:txBody>
                  <a:tcPr/>
                </a:tc>
                <a:extLst>
                  <a:ext uri="{0D108BD9-81ED-4DB2-BD59-A6C34878D82A}">
                    <a16:rowId xmlns:a16="http://schemas.microsoft.com/office/drawing/2014/main" val="931823562"/>
                  </a:ext>
                </a:extLst>
              </a:tr>
              <a:tr h="1013459">
                <a:tc gridSpan="2">
                  <a:txBody>
                    <a:bodyPr/>
                    <a:lstStyle/>
                    <a:p>
                      <a:pPr marL="0" marR="0" lvl="0" indent="0" algn="l">
                        <a:lnSpc>
                          <a:spcPct val="90000"/>
                        </a:lnSpc>
                        <a:spcBef>
                          <a:spcPts val="1000"/>
                        </a:spcBef>
                        <a:spcAft>
                          <a:spcPts val="0"/>
                        </a:spcAft>
                        <a:buNone/>
                      </a:pPr>
                      <a:r>
                        <a:rPr lang="en-US" sz="2200" b="0" i="0" u="none" strike="noStrike" kern="1200" baseline="0" noProof="0">
                          <a:solidFill>
                            <a:srgbClr val="0D0D0D"/>
                          </a:solidFill>
                          <a:latin typeface="Calibri"/>
                        </a:rPr>
                        <a:t>By 15 March 2025 and every second year thereafter, CPs shall report on their national projections of national greenhouse gas emissions by sources and removals, organized by gas or groups of gases.</a:t>
                      </a:r>
                    </a:p>
                  </a:txBody>
                  <a:tcPr>
                    <a:solidFill>
                      <a:schemeClr val="bg1">
                        <a:lumMod val="85000"/>
                      </a:schemeClr>
                    </a:solidFill>
                  </a:tcPr>
                </a:tc>
                <a:tc hMerge="1">
                  <a:txBody>
                    <a:bodyPr/>
                    <a:lstStyle/>
                    <a:p>
                      <a:endParaRPr lang="en-US"/>
                    </a:p>
                  </a:txBody>
                  <a:tcPr/>
                </a:tc>
                <a:extLst>
                  <a:ext uri="{0D108BD9-81ED-4DB2-BD59-A6C34878D82A}">
                    <a16:rowId xmlns:a16="http://schemas.microsoft.com/office/drawing/2014/main" val="488751501"/>
                  </a:ext>
                </a:extLst>
              </a:tr>
              <a:tr h="415527">
                <a:tc>
                  <a:txBody>
                    <a:bodyPr/>
                    <a:lstStyle/>
                    <a:p>
                      <a:pPr lvl="0">
                        <a:buNone/>
                      </a:pPr>
                      <a:r>
                        <a:rPr lang="en-US" sz="1800" b="0" i="0" u="sng" strike="noStrike" noProof="0">
                          <a:solidFill>
                            <a:srgbClr val="000000"/>
                          </a:solidFill>
                          <a:latin typeface="Calibri"/>
                        </a:rPr>
                        <a:t>Reports due:</a:t>
                      </a:r>
                    </a:p>
                  </a:txBody>
                  <a:tcPr>
                    <a:solidFill>
                      <a:schemeClr val="bg2"/>
                    </a:solidFill>
                  </a:tcPr>
                </a:tc>
                <a:tc>
                  <a:txBody>
                    <a:bodyPr/>
                    <a:lstStyle/>
                    <a:p>
                      <a:pPr lvl="0">
                        <a:buNone/>
                      </a:pPr>
                      <a:r>
                        <a:rPr lang="en-US" sz="1700" b="0" i="0" u="none" strike="noStrike" noProof="0" dirty="0">
                          <a:solidFill>
                            <a:srgbClr val="0D0D0D"/>
                          </a:solidFill>
                          <a:latin typeface="Calibri"/>
                        </a:rPr>
                        <a:t>15 March – </a:t>
                      </a:r>
                      <a:r>
                        <a:rPr lang="en-SE" sz="1700" b="0" i="0" u="none" strike="noStrike" noProof="0" dirty="0">
                          <a:solidFill>
                            <a:srgbClr val="0D0D0D"/>
                          </a:solidFill>
                          <a:latin typeface="Calibri"/>
                        </a:rPr>
                        <a:t>Biannually</a:t>
                      </a:r>
                      <a:r>
                        <a:rPr lang="en-US" sz="1700" b="0" i="0" u="none" strike="noStrike" noProof="0" dirty="0">
                          <a:solidFill>
                            <a:srgbClr val="0D0D0D"/>
                          </a:solidFill>
                          <a:latin typeface="Calibri"/>
                        </a:rPr>
                        <a:t> – To start in 2025</a:t>
                      </a:r>
                      <a:endParaRPr lang="en-US" dirty="0">
                        <a:latin typeface="Calibri"/>
                      </a:endParaRPr>
                    </a:p>
                  </a:txBody>
                  <a:tcPr>
                    <a:solidFill>
                      <a:schemeClr val="bg2"/>
                    </a:solidFill>
                  </a:tcPr>
                </a:tc>
                <a:extLst>
                  <a:ext uri="{0D108BD9-81ED-4DB2-BD59-A6C34878D82A}">
                    <a16:rowId xmlns:a16="http://schemas.microsoft.com/office/drawing/2014/main" val="3464082838"/>
                  </a:ext>
                </a:extLst>
              </a:tr>
            </a:tbl>
          </a:graphicData>
        </a:graphic>
      </p:graphicFrame>
      <p:pic>
        <p:nvPicPr>
          <p:cNvPr id="5" name="Picture 4">
            <a:extLst>
              <a:ext uri="{FF2B5EF4-FFF2-40B4-BE49-F238E27FC236}">
                <a16:creationId xmlns:a16="http://schemas.microsoft.com/office/drawing/2014/main" id="{F67D4E70-0EAA-F9EA-E910-999ACC9A1AF0}"/>
              </a:ext>
            </a:extLst>
          </p:cNvPr>
          <p:cNvPicPr>
            <a:picLocks noChangeAspect="1"/>
          </p:cNvPicPr>
          <p:nvPr/>
        </p:nvPicPr>
        <p:blipFill>
          <a:blip r:embed="rId2"/>
          <a:stretch>
            <a:fillRect/>
          </a:stretch>
        </p:blipFill>
        <p:spPr>
          <a:xfrm>
            <a:off x="2477781" y="3896139"/>
            <a:ext cx="4098094" cy="2466110"/>
          </a:xfrm>
          <a:prstGeom prst="rect">
            <a:avLst/>
          </a:prstGeom>
        </p:spPr>
      </p:pic>
      <p:pic>
        <p:nvPicPr>
          <p:cNvPr id="7" name="Picture 6">
            <a:extLst>
              <a:ext uri="{FF2B5EF4-FFF2-40B4-BE49-F238E27FC236}">
                <a16:creationId xmlns:a16="http://schemas.microsoft.com/office/drawing/2014/main" id="{3D52E115-56B6-6E32-6FE2-F24CDCF3CD3B}"/>
              </a:ext>
            </a:extLst>
          </p:cNvPr>
          <p:cNvPicPr>
            <a:picLocks noChangeAspect="1"/>
          </p:cNvPicPr>
          <p:nvPr/>
        </p:nvPicPr>
        <p:blipFill>
          <a:blip r:embed="rId3"/>
          <a:stretch>
            <a:fillRect/>
          </a:stretch>
        </p:blipFill>
        <p:spPr>
          <a:xfrm>
            <a:off x="6772466" y="4982544"/>
            <a:ext cx="2470926" cy="1379705"/>
          </a:xfrm>
          <a:prstGeom prst="rect">
            <a:avLst/>
          </a:prstGeom>
        </p:spPr>
      </p:pic>
    </p:spTree>
    <p:extLst>
      <p:ext uri="{BB962C8B-B14F-4D97-AF65-F5344CB8AC3E}">
        <p14:creationId xmlns:p14="http://schemas.microsoft.com/office/powerpoint/2010/main" val="2080786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155D-3C72-FB1B-19E6-FC6C391DA2DA}"/>
              </a:ext>
            </a:extLst>
          </p:cNvPr>
          <p:cNvSpPr>
            <a:spLocks noGrp="1"/>
          </p:cNvSpPr>
          <p:nvPr>
            <p:ph type="title"/>
          </p:nvPr>
        </p:nvSpPr>
        <p:spPr/>
        <p:txBody>
          <a:bodyPr/>
          <a:lstStyle/>
          <a:p>
            <a:r>
              <a:rPr lang="en-US" sz="4000" dirty="0">
                <a:solidFill>
                  <a:srgbClr val="007B6C"/>
                </a:solidFill>
                <a:latin typeface="Calibri Light"/>
                <a:cs typeface="Calibri"/>
              </a:rPr>
              <a:t>HOW IS THE REPORTED DATA USED – example from the EU data</a:t>
            </a:r>
          </a:p>
        </p:txBody>
      </p:sp>
      <p:pic>
        <p:nvPicPr>
          <p:cNvPr id="3" name="Picture 2">
            <a:extLst>
              <a:ext uri="{FF2B5EF4-FFF2-40B4-BE49-F238E27FC236}">
                <a16:creationId xmlns:a16="http://schemas.microsoft.com/office/drawing/2014/main" id="{12384263-CFE1-6E7A-2848-81020A9BF7B4}"/>
              </a:ext>
            </a:extLst>
          </p:cNvPr>
          <p:cNvPicPr>
            <a:picLocks noChangeAspect="1"/>
          </p:cNvPicPr>
          <p:nvPr/>
        </p:nvPicPr>
        <p:blipFill>
          <a:blip r:embed="rId3"/>
          <a:stretch>
            <a:fillRect/>
          </a:stretch>
        </p:blipFill>
        <p:spPr>
          <a:xfrm>
            <a:off x="1082461" y="1717177"/>
            <a:ext cx="8327869" cy="4775698"/>
          </a:xfrm>
          <a:prstGeom prst="rect">
            <a:avLst/>
          </a:prstGeom>
          <a:ln>
            <a:noFill/>
          </a:ln>
          <a:effectLst>
            <a:outerShdw blurRad="292100" dist="139700" dir="2700000" algn="tl" rotWithShape="0">
              <a:srgbClr val="333333">
                <a:alpha val="65000"/>
              </a:srgbClr>
            </a:outerShdw>
          </a:effectLst>
        </p:spPr>
      </p:pic>
      <p:sp>
        <p:nvSpPr>
          <p:cNvPr id="4" name="Arrow: Left 3">
            <a:extLst>
              <a:ext uri="{FF2B5EF4-FFF2-40B4-BE49-F238E27FC236}">
                <a16:creationId xmlns:a16="http://schemas.microsoft.com/office/drawing/2014/main" id="{E5D3D600-9129-E493-5C21-FD72634CE9DF}"/>
              </a:ext>
            </a:extLst>
          </p:cNvPr>
          <p:cNvSpPr/>
          <p:nvPr/>
        </p:nvSpPr>
        <p:spPr>
          <a:xfrm rot="9638584" flipV="1">
            <a:off x="2258112" y="2899589"/>
            <a:ext cx="2090057" cy="740228"/>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GHG inventory</a:t>
            </a:r>
          </a:p>
        </p:txBody>
      </p:sp>
      <p:sp>
        <p:nvSpPr>
          <p:cNvPr id="5" name="Arrow: Left 4">
            <a:extLst>
              <a:ext uri="{FF2B5EF4-FFF2-40B4-BE49-F238E27FC236}">
                <a16:creationId xmlns:a16="http://schemas.microsoft.com/office/drawing/2014/main" id="{5EAD691F-E850-3FC6-4214-D83D734BB21A}"/>
              </a:ext>
            </a:extLst>
          </p:cNvPr>
          <p:cNvSpPr/>
          <p:nvPr/>
        </p:nvSpPr>
        <p:spPr>
          <a:xfrm rot="6266163" flipV="1">
            <a:off x="4350080" y="4420525"/>
            <a:ext cx="2510060" cy="850486"/>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GHG approximated</a:t>
            </a:r>
          </a:p>
        </p:txBody>
      </p:sp>
      <p:sp>
        <p:nvSpPr>
          <p:cNvPr id="9" name="Arrow: Left 8">
            <a:extLst>
              <a:ext uri="{FF2B5EF4-FFF2-40B4-BE49-F238E27FC236}">
                <a16:creationId xmlns:a16="http://schemas.microsoft.com/office/drawing/2014/main" id="{C6EBAF7E-981D-0C07-A8DE-58EA263121C6}"/>
              </a:ext>
            </a:extLst>
          </p:cNvPr>
          <p:cNvSpPr/>
          <p:nvPr/>
        </p:nvSpPr>
        <p:spPr>
          <a:xfrm rot="13626362" flipV="1">
            <a:off x="5665345" y="2592309"/>
            <a:ext cx="2301889" cy="1009958"/>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GHG projections and </a:t>
            </a:r>
            <a:r>
              <a:rPr lang="en-IE" dirty="0" err="1"/>
              <a:t>PaMs</a:t>
            </a:r>
            <a:endParaRPr lang="en-IE" dirty="0"/>
          </a:p>
        </p:txBody>
      </p:sp>
      <p:sp>
        <p:nvSpPr>
          <p:cNvPr id="15" name="Arrow: Left 14">
            <a:extLst>
              <a:ext uri="{FF2B5EF4-FFF2-40B4-BE49-F238E27FC236}">
                <a16:creationId xmlns:a16="http://schemas.microsoft.com/office/drawing/2014/main" id="{27CDCBD6-F75D-34B4-D7EB-8A5AC057E14C}"/>
              </a:ext>
            </a:extLst>
          </p:cNvPr>
          <p:cNvSpPr/>
          <p:nvPr/>
        </p:nvSpPr>
        <p:spPr>
          <a:xfrm rot="14703307" flipV="1">
            <a:off x="7456465" y="3595160"/>
            <a:ext cx="2090057" cy="740228"/>
          </a:xfrm>
          <a:prstGeom prst="lef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IE" dirty="0"/>
              <a:t>nLTS and </a:t>
            </a:r>
            <a:r>
              <a:rPr lang="en-IE" dirty="0" err="1"/>
              <a:t>NECPr</a:t>
            </a:r>
            <a:endParaRPr lang="en-IE" dirty="0"/>
          </a:p>
        </p:txBody>
      </p:sp>
    </p:spTree>
    <p:extLst>
      <p:ext uri="{BB962C8B-B14F-4D97-AF65-F5344CB8AC3E}">
        <p14:creationId xmlns:p14="http://schemas.microsoft.com/office/powerpoint/2010/main" val="2962880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3DE849E-7ED6-37CD-246F-8A867C8918A9}"/>
              </a:ext>
            </a:extLst>
          </p:cNvPr>
          <p:cNvGraphicFramePr>
            <a:graphicFrameLocks noGrp="1"/>
          </p:cNvGraphicFramePr>
          <p:nvPr>
            <p:extLst>
              <p:ext uri="{D42A27DB-BD31-4B8C-83A1-F6EECF244321}">
                <p14:modId xmlns:p14="http://schemas.microsoft.com/office/powerpoint/2010/main" val="4114745813"/>
              </p:ext>
            </p:extLst>
          </p:nvPr>
        </p:nvGraphicFramePr>
        <p:xfrm>
          <a:off x="330136" y="1736764"/>
          <a:ext cx="11302608" cy="4747273"/>
        </p:xfrm>
        <a:graphic>
          <a:graphicData uri="http://schemas.openxmlformats.org/drawingml/2006/table">
            <a:tbl>
              <a:tblPr firstRow="1" bandRow="1">
                <a:tableStyleId>{5C22544A-7EE6-4342-B048-85BDC9FD1C3A}</a:tableStyleId>
              </a:tblPr>
              <a:tblGrid>
                <a:gridCol w="2205485">
                  <a:extLst>
                    <a:ext uri="{9D8B030D-6E8A-4147-A177-3AD203B41FA5}">
                      <a16:colId xmlns:a16="http://schemas.microsoft.com/office/drawing/2014/main" val="1899690268"/>
                    </a:ext>
                  </a:extLst>
                </a:gridCol>
                <a:gridCol w="9097123">
                  <a:extLst>
                    <a:ext uri="{9D8B030D-6E8A-4147-A177-3AD203B41FA5}">
                      <a16:colId xmlns:a16="http://schemas.microsoft.com/office/drawing/2014/main" val="3978093686"/>
                    </a:ext>
                  </a:extLst>
                </a:gridCol>
              </a:tblGrid>
              <a:tr h="551403">
                <a:tc gridSpan="2">
                  <a:txBody>
                    <a:bodyPr/>
                    <a:lstStyle/>
                    <a:p>
                      <a:r>
                        <a:rPr lang="en-US" sz="2400" b="0" i="0" kern="1200" dirty="0">
                          <a:solidFill>
                            <a:schemeClr val="lt1"/>
                          </a:solidFill>
                          <a:latin typeface="+mn-lt"/>
                          <a:ea typeface="+mn-ea"/>
                          <a:cs typeface="+mn-cs"/>
                        </a:rPr>
                        <a:t>Article 18 (1)(b) – National projections of greenhouse gases</a:t>
                      </a:r>
                      <a:endParaRPr lang="en-US" sz="2400" dirty="0"/>
                    </a:p>
                  </a:txBody>
                  <a:tcPr>
                    <a:solidFill>
                      <a:srgbClr val="007B6C"/>
                    </a:solidFill>
                  </a:tcPr>
                </a:tc>
                <a:tc hMerge="1">
                  <a:txBody>
                    <a:bodyPr/>
                    <a:lstStyle/>
                    <a:p>
                      <a:endParaRPr lang="en-US"/>
                    </a:p>
                  </a:txBody>
                  <a:tcPr/>
                </a:tc>
                <a:extLst>
                  <a:ext uri="{0D108BD9-81ED-4DB2-BD59-A6C34878D82A}">
                    <a16:rowId xmlns:a16="http://schemas.microsoft.com/office/drawing/2014/main" val="3061965936"/>
                  </a:ext>
                </a:extLst>
              </a:tr>
              <a:tr h="3757991">
                <a:tc gridSpan="2">
                  <a:txBody>
                    <a:bodyPr/>
                    <a:lstStyle/>
                    <a:p>
                      <a:pPr marL="0" lvl="0" indent="0" algn="l">
                        <a:lnSpc>
                          <a:spcPct val="100000"/>
                        </a:lnSpc>
                        <a:buNone/>
                      </a:pPr>
                      <a:r>
                        <a:rPr lang="en-US" sz="2200" b="0" i="0" u="none" strike="noStrike" baseline="0" noProof="0" dirty="0">
                          <a:solidFill>
                            <a:srgbClr val="0D0D0D"/>
                          </a:solidFill>
                          <a:latin typeface="Aptos"/>
                        </a:rPr>
                        <a:t>What to report?</a:t>
                      </a:r>
                      <a:endParaRPr lang="en-SE" sz="2200" b="0" i="0" u="none" strike="noStrike" baseline="0" noProof="0" dirty="0">
                        <a:solidFill>
                          <a:srgbClr val="0D0D0D"/>
                        </a:solidFill>
                        <a:latin typeface="Aptos"/>
                      </a:endParaRPr>
                    </a:p>
                    <a:p>
                      <a:pPr marL="0" lvl="0" indent="0" algn="l">
                        <a:lnSpc>
                          <a:spcPct val="100000"/>
                        </a:lnSpc>
                        <a:buNone/>
                      </a:pPr>
                      <a:endParaRPr lang="en-SE" sz="2200" b="0" i="0" u="none" strike="noStrike" baseline="0" noProof="0" dirty="0">
                        <a:solidFill>
                          <a:srgbClr val="0D0D0D"/>
                        </a:solidFill>
                        <a:latin typeface="Aptos"/>
                      </a:endParaRPr>
                    </a:p>
                    <a:p>
                      <a:pPr marL="0" lvl="0" indent="0" algn="l">
                        <a:lnSpc>
                          <a:spcPct val="100000"/>
                        </a:lnSpc>
                        <a:buNone/>
                      </a:pPr>
                      <a:endParaRPr lang="en-SE" sz="2200" b="0" i="0" u="none" strike="noStrike" baseline="0" noProof="0" dirty="0">
                        <a:solidFill>
                          <a:srgbClr val="0D0D0D"/>
                        </a:solidFill>
                        <a:latin typeface="Aptos"/>
                      </a:endParaRPr>
                    </a:p>
                    <a:p>
                      <a:pPr marL="0" lvl="0" indent="0" algn="l">
                        <a:lnSpc>
                          <a:spcPct val="100000"/>
                        </a:lnSpc>
                        <a:buNone/>
                      </a:pPr>
                      <a:endParaRPr lang="en-US" sz="800" b="0" i="0" u="none" strike="noStrike" baseline="0" noProof="0" dirty="0">
                        <a:solidFill>
                          <a:srgbClr val="0D0D0D"/>
                        </a:solidFill>
                        <a:latin typeface="Aptos"/>
                      </a:endParaRPr>
                    </a:p>
                  </a:txBody>
                  <a:tcPr>
                    <a:solidFill>
                      <a:schemeClr val="bg1">
                        <a:lumMod val="85000"/>
                      </a:schemeClr>
                    </a:solidFill>
                  </a:tcPr>
                </a:tc>
                <a:tc hMerge="1">
                  <a:txBody>
                    <a:bodyPr/>
                    <a:lstStyle/>
                    <a:p>
                      <a:endParaRPr lang="en-US"/>
                    </a:p>
                  </a:txBody>
                  <a:tcPr/>
                </a:tc>
                <a:extLst>
                  <a:ext uri="{0D108BD9-81ED-4DB2-BD59-A6C34878D82A}">
                    <a16:rowId xmlns:a16="http://schemas.microsoft.com/office/drawing/2014/main" val="2979454023"/>
                  </a:ext>
                </a:extLst>
              </a:tr>
              <a:tr h="437879">
                <a:tc>
                  <a:txBody>
                    <a:bodyPr/>
                    <a:lstStyle/>
                    <a:p>
                      <a:r>
                        <a:rPr lang="en-US" u="sng">
                          <a:latin typeface="Calibri"/>
                        </a:rPr>
                        <a:t>Reports due:</a:t>
                      </a:r>
                      <a:endParaRPr lang="en-US">
                        <a:latin typeface="Calibri"/>
                      </a:endParaRPr>
                    </a:p>
                  </a:txBody>
                  <a:tcPr/>
                </a:tc>
                <a:tc>
                  <a:txBody>
                    <a:bodyPr/>
                    <a:lstStyle/>
                    <a:p>
                      <a:pPr lvl="0">
                        <a:buNone/>
                      </a:pPr>
                      <a:r>
                        <a:rPr lang="en-US" sz="1700" b="0" i="0" u="none" strike="noStrike" noProof="0" dirty="0">
                          <a:solidFill>
                            <a:srgbClr val="0D0D0D"/>
                          </a:solidFill>
                          <a:latin typeface="Calibri"/>
                        </a:rPr>
                        <a:t>15 March – Biannually – Since 2023</a:t>
                      </a:r>
                    </a:p>
                  </a:txBody>
                  <a:tcPr/>
                </a:tc>
                <a:extLst>
                  <a:ext uri="{0D108BD9-81ED-4DB2-BD59-A6C34878D82A}">
                    <a16:rowId xmlns:a16="http://schemas.microsoft.com/office/drawing/2014/main" val="1191654556"/>
                  </a:ext>
                </a:extLst>
              </a:tr>
            </a:tbl>
          </a:graphicData>
        </a:graphic>
      </p:graphicFrame>
      <p:sp>
        <p:nvSpPr>
          <p:cNvPr id="2" name="Title 1">
            <a:extLst>
              <a:ext uri="{FF2B5EF4-FFF2-40B4-BE49-F238E27FC236}">
                <a16:creationId xmlns:a16="http://schemas.microsoft.com/office/drawing/2014/main" id="{E75BB2A0-19D6-00E4-04A0-61C7CE098D86}"/>
              </a:ext>
            </a:extLst>
          </p:cNvPr>
          <p:cNvSpPr>
            <a:spLocks noGrp="1"/>
          </p:cNvSpPr>
          <p:nvPr>
            <p:ph type="title"/>
          </p:nvPr>
        </p:nvSpPr>
        <p:spPr>
          <a:xfrm>
            <a:off x="838200" y="365125"/>
            <a:ext cx="10877862" cy="1350546"/>
          </a:xfrm>
        </p:spPr>
        <p:txBody>
          <a:bodyPr/>
          <a:lstStyle/>
          <a:p>
            <a:r>
              <a:rPr lang="en-US" sz="4000" dirty="0">
                <a:solidFill>
                  <a:srgbClr val="007B6C"/>
                </a:solidFill>
                <a:latin typeface="Calibri Light"/>
                <a:cs typeface="Calibri"/>
              </a:rPr>
              <a:t>What to report on Projections? </a:t>
            </a:r>
            <a:endParaRPr lang="en-US" sz="4000" dirty="0">
              <a:solidFill>
                <a:srgbClr val="007B6C"/>
              </a:solidFill>
              <a:latin typeface="Calibri Light"/>
              <a:ea typeface="Calibri Light"/>
              <a:cs typeface="Calibri"/>
            </a:endParaRPr>
          </a:p>
        </p:txBody>
      </p:sp>
      <p:sp>
        <p:nvSpPr>
          <p:cNvPr id="3" name="TextBox 2">
            <a:extLst>
              <a:ext uri="{FF2B5EF4-FFF2-40B4-BE49-F238E27FC236}">
                <a16:creationId xmlns:a16="http://schemas.microsoft.com/office/drawing/2014/main" id="{E8784981-27F2-4314-0556-CC558D95FC87}"/>
              </a:ext>
            </a:extLst>
          </p:cNvPr>
          <p:cNvSpPr txBox="1"/>
          <p:nvPr/>
        </p:nvSpPr>
        <p:spPr>
          <a:xfrm>
            <a:off x="494651" y="3083470"/>
            <a:ext cx="1337095" cy="1754326"/>
          </a:xfrm>
          <a:prstGeom prst="rect">
            <a:avLst/>
          </a:prstGeom>
          <a:noFill/>
          <a:ln>
            <a:solidFill>
              <a:schemeClr val="accent1"/>
            </a:solidFill>
          </a:ln>
        </p:spPr>
        <p:txBody>
          <a:bodyPr wrap="square" rtlCol="0">
            <a:spAutoFit/>
          </a:bodyPr>
          <a:lstStyle/>
          <a:p>
            <a:r>
              <a:rPr lang="sv-SE" dirty="0"/>
              <a:t>Table 1a:</a:t>
            </a:r>
            <a:br>
              <a:rPr lang="sv-SE" dirty="0"/>
            </a:br>
            <a:r>
              <a:rPr lang="sv-SE" dirty="0"/>
              <a:t>GHG projections per sector, gas, and scenario</a:t>
            </a:r>
            <a:endParaRPr lang="en-DK" dirty="0"/>
          </a:p>
        </p:txBody>
      </p:sp>
      <p:sp>
        <p:nvSpPr>
          <p:cNvPr id="5" name="TextBox 4">
            <a:extLst>
              <a:ext uri="{FF2B5EF4-FFF2-40B4-BE49-F238E27FC236}">
                <a16:creationId xmlns:a16="http://schemas.microsoft.com/office/drawing/2014/main" id="{D3D04BA6-B7BD-44F8-C787-F399834672F5}"/>
              </a:ext>
            </a:extLst>
          </p:cNvPr>
          <p:cNvSpPr txBox="1"/>
          <p:nvPr/>
        </p:nvSpPr>
        <p:spPr>
          <a:xfrm>
            <a:off x="3364513" y="3083470"/>
            <a:ext cx="1337095" cy="1754326"/>
          </a:xfrm>
          <a:prstGeom prst="rect">
            <a:avLst/>
          </a:prstGeom>
          <a:noFill/>
          <a:ln>
            <a:solidFill>
              <a:schemeClr val="accent1"/>
            </a:solidFill>
          </a:ln>
        </p:spPr>
        <p:txBody>
          <a:bodyPr wrap="square" rtlCol="0">
            <a:spAutoFit/>
          </a:bodyPr>
          <a:lstStyle/>
          <a:p>
            <a:r>
              <a:rPr lang="sv-SE" dirty="0"/>
              <a:t>Table 2:</a:t>
            </a:r>
            <a:br>
              <a:rPr lang="sv-SE" dirty="0"/>
            </a:br>
            <a:r>
              <a:rPr lang="sv-SE" dirty="0"/>
              <a:t>Indicators to monitor progress of PaMs</a:t>
            </a:r>
          </a:p>
          <a:p>
            <a:endParaRPr lang="en-DK" dirty="0"/>
          </a:p>
        </p:txBody>
      </p:sp>
      <p:sp>
        <p:nvSpPr>
          <p:cNvPr id="9" name="TextBox 8">
            <a:extLst>
              <a:ext uri="{FF2B5EF4-FFF2-40B4-BE49-F238E27FC236}">
                <a16:creationId xmlns:a16="http://schemas.microsoft.com/office/drawing/2014/main" id="{6166A078-2A77-EA47-B055-1F965ECD3AE3}"/>
              </a:ext>
            </a:extLst>
          </p:cNvPr>
          <p:cNvSpPr txBox="1"/>
          <p:nvPr/>
        </p:nvSpPr>
        <p:spPr>
          <a:xfrm>
            <a:off x="1929582" y="3083470"/>
            <a:ext cx="1337095" cy="1754326"/>
          </a:xfrm>
          <a:prstGeom prst="rect">
            <a:avLst/>
          </a:prstGeom>
          <a:solidFill>
            <a:schemeClr val="bg1">
              <a:lumMod val="75000"/>
            </a:schemeClr>
          </a:solidFill>
          <a:ln>
            <a:solidFill>
              <a:schemeClr val="accent1"/>
            </a:solidFill>
          </a:ln>
        </p:spPr>
        <p:txBody>
          <a:bodyPr wrap="square" rtlCol="0">
            <a:spAutoFit/>
          </a:bodyPr>
          <a:lstStyle/>
          <a:p>
            <a:r>
              <a:rPr lang="sv-SE" strike="sngStrike" dirty="0"/>
              <a:t>Table 1b:</a:t>
            </a:r>
            <a:br>
              <a:rPr lang="sv-SE" strike="sngStrike" dirty="0"/>
            </a:br>
            <a:r>
              <a:rPr lang="sv-SE" strike="sngStrike" dirty="0"/>
              <a:t>LULUCF projections – not included</a:t>
            </a:r>
          </a:p>
          <a:p>
            <a:endParaRPr lang="en-DK" dirty="0"/>
          </a:p>
        </p:txBody>
      </p:sp>
      <p:sp>
        <p:nvSpPr>
          <p:cNvPr id="10" name="TextBox 9">
            <a:extLst>
              <a:ext uri="{FF2B5EF4-FFF2-40B4-BE49-F238E27FC236}">
                <a16:creationId xmlns:a16="http://schemas.microsoft.com/office/drawing/2014/main" id="{C5FB2510-E788-999C-44B1-648F5EF2F928}"/>
              </a:ext>
            </a:extLst>
          </p:cNvPr>
          <p:cNvSpPr txBox="1"/>
          <p:nvPr/>
        </p:nvSpPr>
        <p:spPr>
          <a:xfrm>
            <a:off x="4799444" y="3083470"/>
            <a:ext cx="1420201" cy="1754326"/>
          </a:xfrm>
          <a:prstGeom prst="rect">
            <a:avLst/>
          </a:prstGeom>
          <a:noFill/>
          <a:ln>
            <a:solidFill>
              <a:schemeClr val="accent1"/>
            </a:solidFill>
          </a:ln>
        </p:spPr>
        <p:txBody>
          <a:bodyPr wrap="square" rtlCol="0">
            <a:spAutoFit/>
          </a:bodyPr>
          <a:lstStyle/>
          <a:p>
            <a:r>
              <a:rPr lang="sv-SE" dirty="0"/>
              <a:t>Table 3:</a:t>
            </a:r>
            <a:br>
              <a:rPr lang="sv-SE" dirty="0"/>
            </a:br>
            <a:r>
              <a:rPr lang="sv-SE" dirty="0"/>
              <a:t>Projections parameters and variables</a:t>
            </a:r>
          </a:p>
          <a:p>
            <a:r>
              <a:rPr lang="sv-SE" dirty="0"/>
              <a:t>(per scenario)</a:t>
            </a:r>
            <a:endParaRPr lang="en-DK" dirty="0"/>
          </a:p>
        </p:txBody>
      </p:sp>
      <p:sp>
        <p:nvSpPr>
          <p:cNvPr id="11" name="TextBox 10">
            <a:extLst>
              <a:ext uri="{FF2B5EF4-FFF2-40B4-BE49-F238E27FC236}">
                <a16:creationId xmlns:a16="http://schemas.microsoft.com/office/drawing/2014/main" id="{617416BD-F4F9-4B55-0260-AA89A6387637}"/>
              </a:ext>
            </a:extLst>
          </p:cNvPr>
          <p:cNvSpPr txBox="1"/>
          <p:nvPr/>
        </p:nvSpPr>
        <p:spPr>
          <a:xfrm>
            <a:off x="6349111" y="3083470"/>
            <a:ext cx="1638949" cy="1754326"/>
          </a:xfrm>
          <a:prstGeom prst="rect">
            <a:avLst/>
          </a:prstGeom>
          <a:noFill/>
          <a:ln>
            <a:solidFill>
              <a:schemeClr val="accent1"/>
            </a:solidFill>
          </a:ln>
        </p:spPr>
        <p:txBody>
          <a:bodyPr wrap="square" rtlCol="0">
            <a:spAutoFit/>
          </a:bodyPr>
          <a:lstStyle/>
          <a:p>
            <a:r>
              <a:rPr lang="sv-SE" dirty="0"/>
              <a:t>Table 4:</a:t>
            </a:r>
            <a:br>
              <a:rPr lang="sv-SE" dirty="0"/>
            </a:br>
            <a:r>
              <a:rPr lang="sv-SE" dirty="0"/>
              <a:t>Information on models</a:t>
            </a:r>
          </a:p>
          <a:p>
            <a:r>
              <a:rPr lang="sv-SE" dirty="0"/>
              <a:t>(also possible to report as webform)</a:t>
            </a:r>
            <a:endParaRPr lang="en-DK" dirty="0"/>
          </a:p>
        </p:txBody>
      </p:sp>
      <p:sp>
        <p:nvSpPr>
          <p:cNvPr id="12" name="TextBox 11">
            <a:extLst>
              <a:ext uri="{FF2B5EF4-FFF2-40B4-BE49-F238E27FC236}">
                <a16:creationId xmlns:a16="http://schemas.microsoft.com/office/drawing/2014/main" id="{E3962094-AC8D-113E-B0E1-0E4FF9A3294B}"/>
              </a:ext>
            </a:extLst>
          </p:cNvPr>
          <p:cNvSpPr txBox="1"/>
          <p:nvPr/>
        </p:nvSpPr>
        <p:spPr>
          <a:xfrm>
            <a:off x="9883066" y="3083470"/>
            <a:ext cx="1638949" cy="1754326"/>
          </a:xfrm>
          <a:prstGeom prst="rect">
            <a:avLst/>
          </a:prstGeom>
          <a:noFill/>
          <a:ln>
            <a:solidFill>
              <a:schemeClr val="accent1"/>
            </a:solidFill>
          </a:ln>
        </p:spPr>
        <p:txBody>
          <a:bodyPr wrap="square" rtlCol="0">
            <a:spAutoFit/>
          </a:bodyPr>
          <a:lstStyle/>
          <a:p>
            <a:r>
              <a:rPr lang="sv-SE" dirty="0"/>
              <a:t>Table 7:</a:t>
            </a:r>
            <a:br>
              <a:rPr lang="sv-SE" dirty="0"/>
            </a:br>
            <a:r>
              <a:rPr lang="sv-SE" dirty="0"/>
              <a:t>Key parameters for the sensitivity analysis</a:t>
            </a:r>
          </a:p>
          <a:p>
            <a:endParaRPr lang="en-DK" dirty="0"/>
          </a:p>
        </p:txBody>
      </p:sp>
      <p:sp>
        <p:nvSpPr>
          <p:cNvPr id="13" name="TextBox 12">
            <a:extLst>
              <a:ext uri="{FF2B5EF4-FFF2-40B4-BE49-F238E27FC236}">
                <a16:creationId xmlns:a16="http://schemas.microsoft.com/office/drawing/2014/main" id="{C9BEF3C7-862D-C133-9E9D-4B2162317954}"/>
              </a:ext>
            </a:extLst>
          </p:cNvPr>
          <p:cNvSpPr txBox="1"/>
          <p:nvPr/>
        </p:nvSpPr>
        <p:spPr>
          <a:xfrm>
            <a:off x="8133388" y="2359914"/>
            <a:ext cx="1638949" cy="1754326"/>
          </a:xfrm>
          <a:prstGeom prst="rect">
            <a:avLst/>
          </a:prstGeom>
          <a:solidFill>
            <a:schemeClr val="bg1">
              <a:lumMod val="75000"/>
            </a:schemeClr>
          </a:solidFill>
          <a:ln>
            <a:solidFill>
              <a:schemeClr val="accent1"/>
            </a:solidFill>
          </a:ln>
        </p:spPr>
        <p:txBody>
          <a:bodyPr wrap="square" rtlCol="0">
            <a:spAutoFit/>
          </a:bodyPr>
          <a:lstStyle/>
          <a:p>
            <a:r>
              <a:rPr lang="sv-SE" strike="sngStrike" dirty="0"/>
              <a:t>Table 5a-5b:</a:t>
            </a:r>
            <a:br>
              <a:rPr lang="sv-SE" strike="sngStrike" dirty="0"/>
            </a:br>
            <a:r>
              <a:rPr lang="sv-SE" strike="sngStrike" dirty="0"/>
              <a:t>LULUCF projections and ESR and LULUCF</a:t>
            </a:r>
          </a:p>
          <a:p>
            <a:endParaRPr lang="en-DK" dirty="0"/>
          </a:p>
        </p:txBody>
      </p:sp>
      <p:sp>
        <p:nvSpPr>
          <p:cNvPr id="14" name="TextBox 13">
            <a:extLst>
              <a:ext uri="{FF2B5EF4-FFF2-40B4-BE49-F238E27FC236}">
                <a16:creationId xmlns:a16="http://schemas.microsoft.com/office/drawing/2014/main" id="{3C4B0540-7658-6B51-9F78-1D4BCF5A5D71}"/>
              </a:ext>
            </a:extLst>
          </p:cNvPr>
          <p:cNvSpPr txBox="1"/>
          <p:nvPr/>
        </p:nvSpPr>
        <p:spPr>
          <a:xfrm>
            <a:off x="8133388" y="4220344"/>
            <a:ext cx="1638949" cy="1477328"/>
          </a:xfrm>
          <a:prstGeom prst="rect">
            <a:avLst/>
          </a:prstGeom>
          <a:solidFill>
            <a:schemeClr val="bg1">
              <a:lumMod val="75000"/>
            </a:schemeClr>
          </a:solidFill>
          <a:ln>
            <a:solidFill>
              <a:schemeClr val="accent1"/>
            </a:solidFill>
          </a:ln>
        </p:spPr>
        <p:txBody>
          <a:bodyPr wrap="square" rtlCol="0">
            <a:spAutoFit/>
          </a:bodyPr>
          <a:lstStyle/>
          <a:p>
            <a:r>
              <a:rPr lang="sv-SE" strike="sngStrike" dirty="0"/>
              <a:t>Table 6:</a:t>
            </a:r>
            <a:br>
              <a:rPr lang="sv-SE" strike="sngStrike" dirty="0"/>
            </a:br>
            <a:r>
              <a:rPr lang="sv-SE" strike="sngStrike" dirty="0"/>
              <a:t>Sensitvity analysis per sector</a:t>
            </a:r>
          </a:p>
          <a:p>
            <a:endParaRPr lang="en-DK" dirty="0"/>
          </a:p>
        </p:txBody>
      </p:sp>
    </p:spTree>
    <p:extLst>
      <p:ext uri="{BB962C8B-B14F-4D97-AF65-F5344CB8AC3E}">
        <p14:creationId xmlns:p14="http://schemas.microsoft.com/office/powerpoint/2010/main" val="2145512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15CD1-6039-25E8-427B-E521561E0C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78366-32A7-2CC8-1009-1C786E000B5D}"/>
              </a:ext>
            </a:extLst>
          </p:cNvPr>
          <p:cNvSpPr>
            <a:spLocks noGrp="1"/>
          </p:cNvSpPr>
          <p:nvPr>
            <p:ph type="title"/>
          </p:nvPr>
        </p:nvSpPr>
        <p:spPr>
          <a:xfrm>
            <a:off x="838200" y="365125"/>
            <a:ext cx="10877862" cy="1350546"/>
          </a:xfrm>
        </p:spPr>
        <p:txBody>
          <a:bodyPr/>
          <a:lstStyle/>
          <a:p>
            <a:r>
              <a:rPr lang="en-SE" sz="4000" dirty="0">
                <a:solidFill>
                  <a:srgbClr val="007B6C"/>
                </a:solidFill>
                <a:latin typeface="Calibri Light"/>
                <a:cs typeface="Calibri"/>
              </a:rPr>
              <a:t>How</a:t>
            </a:r>
            <a:r>
              <a:rPr lang="en-US" sz="4000" dirty="0">
                <a:solidFill>
                  <a:srgbClr val="007B6C"/>
                </a:solidFill>
                <a:latin typeface="Calibri Light"/>
                <a:cs typeface="Calibri"/>
              </a:rPr>
              <a:t> to report on Projections? </a:t>
            </a:r>
            <a:endParaRPr lang="en-US" sz="4000" dirty="0">
              <a:solidFill>
                <a:srgbClr val="007B6C"/>
              </a:solidFill>
              <a:latin typeface="Calibri Light"/>
              <a:ea typeface="Calibri Light"/>
              <a:cs typeface="Calibri"/>
            </a:endParaRPr>
          </a:p>
        </p:txBody>
      </p:sp>
      <p:pic>
        <p:nvPicPr>
          <p:cNvPr id="7" name="Picture 6">
            <a:extLst>
              <a:ext uri="{FF2B5EF4-FFF2-40B4-BE49-F238E27FC236}">
                <a16:creationId xmlns:a16="http://schemas.microsoft.com/office/drawing/2014/main" id="{720FFBFB-87C4-4939-17D4-3DC3F417E177}"/>
              </a:ext>
            </a:extLst>
          </p:cNvPr>
          <p:cNvPicPr>
            <a:picLocks noChangeAspect="1"/>
          </p:cNvPicPr>
          <p:nvPr/>
        </p:nvPicPr>
        <p:blipFill>
          <a:blip r:embed="rId2"/>
          <a:stretch>
            <a:fillRect/>
          </a:stretch>
        </p:blipFill>
        <p:spPr>
          <a:xfrm>
            <a:off x="9631680" y="664180"/>
            <a:ext cx="1722120" cy="2461994"/>
          </a:xfrm>
          <a:prstGeom prst="rect">
            <a:avLst/>
          </a:prstGeom>
        </p:spPr>
      </p:pic>
      <p:sp>
        <p:nvSpPr>
          <p:cNvPr id="8" name="TextBox 7">
            <a:extLst>
              <a:ext uri="{FF2B5EF4-FFF2-40B4-BE49-F238E27FC236}">
                <a16:creationId xmlns:a16="http://schemas.microsoft.com/office/drawing/2014/main" id="{31031BDD-C4D7-3F2B-985A-0AC2C32EA1D8}"/>
              </a:ext>
            </a:extLst>
          </p:cNvPr>
          <p:cNvSpPr txBox="1"/>
          <p:nvPr/>
        </p:nvSpPr>
        <p:spPr>
          <a:xfrm>
            <a:off x="530465" y="1432974"/>
            <a:ext cx="8302302" cy="830997"/>
          </a:xfrm>
          <a:prstGeom prst="rect">
            <a:avLst/>
          </a:prstGeom>
          <a:noFill/>
        </p:spPr>
        <p:txBody>
          <a:bodyPr wrap="square" rtlCol="0">
            <a:spAutoFit/>
          </a:bodyPr>
          <a:lstStyle/>
          <a:p>
            <a:r>
              <a:rPr lang="en-SE" sz="2400" dirty="0"/>
              <a:t>You report through the template you find on Reportnet.</a:t>
            </a:r>
          </a:p>
          <a:p>
            <a:endParaRPr lang="en-DK" sz="2400" dirty="0"/>
          </a:p>
        </p:txBody>
      </p:sp>
      <p:pic>
        <p:nvPicPr>
          <p:cNvPr id="2050" name="Picture 2" descr="Microsoft Excel - Wikipedia">
            <a:extLst>
              <a:ext uri="{FF2B5EF4-FFF2-40B4-BE49-F238E27FC236}">
                <a16:creationId xmlns:a16="http://schemas.microsoft.com/office/drawing/2014/main" id="{D6EFAEA4-595E-AA34-2109-09A1EC26B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332" y="3435489"/>
            <a:ext cx="1845103" cy="1718401"/>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284AAA1B-8AFC-05F9-D07A-5936CCEB6F19}"/>
              </a:ext>
            </a:extLst>
          </p:cNvPr>
          <p:cNvGrpSpPr/>
          <p:nvPr/>
        </p:nvGrpSpPr>
        <p:grpSpPr>
          <a:xfrm>
            <a:off x="2554435" y="2636176"/>
            <a:ext cx="5342656" cy="1658514"/>
            <a:chOff x="2554435" y="2636176"/>
            <a:chExt cx="5342656" cy="1658514"/>
          </a:xfrm>
        </p:grpSpPr>
        <p:sp>
          <p:nvSpPr>
            <p:cNvPr id="15" name="TextBox 14">
              <a:extLst>
                <a:ext uri="{FF2B5EF4-FFF2-40B4-BE49-F238E27FC236}">
                  <a16:creationId xmlns:a16="http://schemas.microsoft.com/office/drawing/2014/main" id="{7ED87990-8336-AF6F-FF87-1030A67F9E5D}"/>
                </a:ext>
              </a:extLst>
            </p:cNvPr>
            <p:cNvSpPr txBox="1"/>
            <p:nvPr/>
          </p:nvSpPr>
          <p:spPr>
            <a:xfrm>
              <a:off x="3160057" y="2636176"/>
              <a:ext cx="4737034" cy="461665"/>
            </a:xfrm>
            <a:prstGeom prst="rect">
              <a:avLst/>
            </a:prstGeom>
            <a:noFill/>
          </p:spPr>
          <p:txBody>
            <a:bodyPr wrap="square" rtlCol="0">
              <a:spAutoFit/>
            </a:bodyPr>
            <a:lstStyle/>
            <a:p>
              <a:r>
                <a:rPr lang="en-SE" sz="2400" dirty="0"/>
                <a:t>Table 1a – Per gas and per scenario</a:t>
              </a:r>
              <a:endParaRPr lang="en-DK" sz="2400" dirty="0"/>
            </a:p>
          </p:txBody>
        </p:sp>
        <p:cxnSp>
          <p:nvCxnSpPr>
            <p:cNvPr id="21" name="Straight Arrow Connector 20">
              <a:extLst>
                <a:ext uri="{FF2B5EF4-FFF2-40B4-BE49-F238E27FC236}">
                  <a16:creationId xmlns:a16="http://schemas.microsoft.com/office/drawing/2014/main" id="{C3FDCE8A-FD58-24CB-B2E2-B8E7F4ED8BA9}"/>
                </a:ext>
              </a:extLst>
            </p:cNvPr>
            <p:cNvCxnSpPr>
              <a:stCxn id="2050" idx="3"/>
              <a:endCxn id="15" idx="1"/>
            </p:cNvCxnSpPr>
            <p:nvPr/>
          </p:nvCxnSpPr>
          <p:spPr>
            <a:xfrm flipV="1">
              <a:off x="2554435" y="2867009"/>
              <a:ext cx="605622" cy="1427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4" name="Group 33">
            <a:extLst>
              <a:ext uri="{FF2B5EF4-FFF2-40B4-BE49-F238E27FC236}">
                <a16:creationId xmlns:a16="http://schemas.microsoft.com/office/drawing/2014/main" id="{E6315FB3-5C0A-4637-17E2-00F45F497E63}"/>
              </a:ext>
            </a:extLst>
          </p:cNvPr>
          <p:cNvGrpSpPr/>
          <p:nvPr/>
        </p:nvGrpSpPr>
        <p:grpSpPr>
          <a:xfrm>
            <a:off x="2554435" y="3279495"/>
            <a:ext cx="6025684" cy="1015195"/>
            <a:chOff x="2554435" y="3279495"/>
            <a:chExt cx="6025684" cy="1015195"/>
          </a:xfrm>
        </p:grpSpPr>
        <p:sp>
          <p:nvSpPr>
            <p:cNvPr id="16" name="TextBox 15">
              <a:extLst>
                <a:ext uri="{FF2B5EF4-FFF2-40B4-BE49-F238E27FC236}">
                  <a16:creationId xmlns:a16="http://schemas.microsoft.com/office/drawing/2014/main" id="{1524352D-27B8-1F1D-876B-0328E77241A7}"/>
                </a:ext>
              </a:extLst>
            </p:cNvPr>
            <p:cNvSpPr txBox="1"/>
            <p:nvPr/>
          </p:nvSpPr>
          <p:spPr>
            <a:xfrm>
              <a:off x="3495336" y="3279495"/>
              <a:ext cx="5084783" cy="830997"/>
            </a:xfrm>
            <a:prstGeom prst="rect">
              <a:avLst/>
            </a:prstGeom>
            <a:noFill/>
          </p:spPr>
          <p:txBody>
            <a:bodyPr wrap="square" rtlCol="0">
              <a:spAutoFit/>
            </a:bodyPr>
            <a:lstStyle/>
            <a:p>
              <a:r>
                <a:rPr lang="en-SE" sz="2400" dirty="0"/>
                <a:t>Table 2 - </a:t>
              </a:r>
              <a:r>
                <a:rPr lang="en-US" sz="2400" dirty="0"/>
                <a:t>Indicators to monitor progress of </a:t>
              </a:r>
              <a:r>
                <a:rPr lang="en-US" sz="2400" dirty="0" err="1"/>
                <a:t>PaMs</a:t>
              </a:r>
              <a:endParaRPr lang="en-US" sz="2400" dirty="0"/>
            </a:p>
          </p:txBody>
        </p:sp>
        <p:cxnSp>
          <p:nvCxnSpPr>
            <p:cNvPr id="24" name="Straight Arrow Connector 23">
              <a:extLst>
                <a:ext uri="{FF2B5EF4-FFF2-40B4-BE49-F238E27FC236}">
                  <a16:creationId xmlns:a16="http://schemas.microsoft.com/office/drawing/2014/main" id="{D28F2B0D-318C-E42D-7D70-B9588D2D8406}"/>
                </a:ext>
              </a:extLst>
            </p:cNvPr>
            <p:cNvCxnSpPr>
              <a:stCxn id="2050" idx="3"/>
              <a:endCxn id="16" idx="1"/>
            </p:cNvCxnSpPr>
            <p:nvPr/>
          </p:nvCxnSpPr>
          <p:spPr>
            <a:xfrm flipV="1">
              <a:off x="2554435" y="3694994"/>
              <a:ext cx="940901" cy="5996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5" name="Group 34">
            <a:extLst>
              <a:ext uri="{FF2B5EF4-FFF2-40B4-BE49-F238E27FC236}">
                <a16:creationId xmlns:a16="http://schemas.microsoft.com/office/drawing/2014/main" id="{E0244015-8EED-DE00-3A8D-C3B29B77B03F}"/>
              </a:ext>
            </a:extLst>
          </p:cNvPr>
          <p:cNvGrpSpPr/>
          <p:nvPr/>
        </p:nvGrpSpPr>
        <p:grpSpPr>
          <a:xfrm>
            <a:off x="2554435" y="4294612"/>
            <a:ext cx="6083956" cy="830997"/>
            <a:chOff x="2554435" y="4294612"/>
            <a:chExt cx="6083956" cy="830997"/>
          </a:xfrm>
        </p:grpSpPr>
        <p:sp>
          <p:nvSpPr>
            <p:cNvPr id="17" name="TextBox 16">
              <a:extLst>
                <a:ext uri="{FF2B5EF4-FFF2-40B4-BE49-F238E27FC236}">
                  <a16:creationId xmlns:a16="http://schemas.microsoft.com/office/drawing/2014/main" id="{DDAB0CFB-A835-74E1-D048-618BC2C6C301}"/>
                </a:ext>
              </a:extLst>
            </p:cNvPr>
            <p:cNvSpPr txBox="1"/>
            <p:nvPr/>
          </p:nvSpPr>
          <p:spPr>
            <a:xfrm>
              <a:off x="3553608" y="4294612"/>
              <a:ext cx="5084783" cy="830997"/>
            </a:xfrm>
            <a:prstGeom prst="rect">
              <a:avLst/>
            </a:prstGeom>
            <a:noFill/>
          </p:spPr>
          <p:txBody>
            <a:bodyPr wrap="square" rtlCol="0">
              <a:spAutoFit/>
            </a:bodyPr>
            <a:lstStyle/>
            <a:p>
              <a:r>
                <a:rPr lang="en-US" sz="2400" dirty="0"/>
                <a:t>Table 3</a:t>
              </a:r>
              <a:r>
                <a:rPr lang="en-SE" sz="2400" dirty="0"/>
                <a:t> - </a:t>
              </a:r>
              <a:r>
                <a:rPr lang="en-US" sz="2400" dirty="0"/>
                <a:t>Projections parameters and variables</a:t>
              </a:r>
            </a:p>
          </p:txBody>
        </p:sp>
        <p:cxnSp>
          <p:nvCxnSpPr>
            <p:cNvPr id="25" name="Straight Arrow Connector 24">
              <a:extLst>
                <a:ext uri="{FF2B5EF4-FFF2-40B4-BE49-F238E27FC236}">
                  <a16:creationId xmlns:a16="http://schemas.microsoft.com/office/drawing/2014/main" id="{9F5D02B0-915F-D118-B8E3-4672121FCBEF}"/>
                </a:ext>
              </a:extLst>
            </p:cNvPr>
            <p:cNvCxnSpPr>
              <a:cxnSpLocks/>
              <a:stCxn id="2050" idx="3"/>
              <a:endCxn id="17" idx="1"/>
            </p:cNvCxnSpPr>
            <p:nvPr/>
          </p:nvCxnSpPr>
          <p:spPr>
            <a:xfrm>
              <a:off x="2554435" y="4294690"/>
              <a:ext cx="999173" cy="4154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6" name="Group 35">
            <a:extLst>
              <a:ext uri="{FF2B5EF4-FFF2-40B4-BE49-F238E27FC236}">
                <a16:creationId xmlns:a16="http://schemas.microsoft.com/office/drawing/2014/main" id="{7E5CC5B3-C78E-F33A-D685-EA3BCA005281}"/>
              </a:ext>
            </a:extLst>
          </p:cNvPr>
          <p:cNvGrpSpPr/>
          <p:nvPr/>
        </p:nvGrpSpPr>
        <p:grpSpPr>
          <a:xfrm>
            <a:off x="2554435" y="4294690"/>
            <a:ext cx="6025684" cy="1320865"/>
            <a:chOff x="2554435" y="4294690"/>
            <a:chExt cx="6025684" cy="1320865"/>
          </a:xfrm>
        </p:grpSpPr>
        <p:sp>
          <p:nvSpPr>
            <p:cNvPr id="18" name="TextBox 17">
              <a:extLst>
                <a:ext uri="{FF2B5EF4-FFF2-40B4-BE49-F238E27FC236}">
                  <a16:creationId xmlns:a16="http://schemas.microsoft.com/office/drawing/2014/main" id="{36936E05-F3E8-5CFC-3504-B2B9C6108457}"/>
                </a:ext>
              </a:extLst>
            </p:cNvPr>
            <p:cNvSpPr txBox="1"/>
            <p:nvPr/>
          </p:nvSpPr>
          <p:spPr>
            <a:xfrm>
              <a:off x="3495336" y="5153890"/>
              <a:ext cx="5084783" cy="461665"/>
            </a:xfrm>
            <a:prstGeom prst="rect">
              <a:avLst/>
            </a:prstGeom>
            <a:noFill/>
          </p:spPr>
          <p:txBody>
            <a:bodyPr wrap="square" rtlCol="0">
              <a:spAutoFit/>
            </a:bodyPr>
            <a:lstStyle/>
            <a:p>
              <a:r>
                <a:rPr lang="en-US" sz="2400" dirty="0"/>
                <a:t>Table </a:t>
              </a:r>
              <a:r>
                <a:rPr lang="en-SE" sz="2400" dirty="0"/>
                <a:t>4 – Information on models</a:t>
              </a:r>
              <a:endParaRPr lang="en-US" sz="2400" dirty="0"/>
            </a:p>
          </p:txBody>
        </p:sp>
        <p:cxnSp>
          <p:nvCxnSpPr>
            <p:cNvPr id="28" name="Straight Arrow Connector 27">
              <a:extLst>
                <a:ext uri="{FF2B5EF4-FFF2-40B4-BE49-F238E27FC236}">
                  <a16:creationId xmlns:a16="http://schemas.microsoft.com/office/drawing/2014/main" id="{62B232D5-6CD0-C4B8-AE8A-9D6AF79D47E4}"/>
                </a:ext>
              </a:extLst>
            </p:cNvPr>
            <p:cNvCxnSpPr>
              <a:cxnSpLocks/>
              <a:stCxn id="2050" idx="3"/>
              <a:endCxn id="18" idx="1"/>
            </p:cNvCxnSpPr>
            <p:nvPr/>
          </p:nvCxnSpPr>
          <p:spPr>
            <a:xfrm>
              <a:off x="2554435" y="4294690"/>
              <a:ext cx="940901" cy="10900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2E7E3298-A89F-1748-BBC0-57DE8E9EA2DB}"/>
              </a:ext>
            </a:extLst>
          </p:cNvPr>
          <p:cNvGrpSpPr/>
          <p:nvPr/>
        </p:nvGrpSpPr>
        <p:grpSpPr>
          <a:xfrm>
            <a:off x="2554435" y="4294690"/>
            <a:ext cx="7201853" cy="2261941"/>
            <a:chOff x="2554435" y="4294690"/>
            <a:chExt cx="7201853" cy="2261941"/>
          </a:xfrm>
        </p:grpSpPr>
        <p:sp>
          <p:nvSpPr>
            <p:cNvPr id="19" name="TextBox 18">
              <a:extLst>
                <a:ext uri="{FF2B5EF4-FFF2-40B4-BE49-F238E27FC236}">
                  <a16:creationId xmlns:a16="http://schemas.microsoft.com/office/drawing/2014/main" id="{98AE05D1-B92D-DFEE-F4F9-7934B4761269}"/>
                </a:ext>
              </a:extLst>
            </p:cNvPr>
            <p:cNvSpPr txBox="1"/>
            <p:nvPr/>
          </p:nvSpPr>
          <p:spPr>
            <a:xfrm>
              <a:off x="3086545" y="5725634"/>
              <a:ext cx="6669743" cy="830997"/>
            </a:xfrm>
            <a:prstGeom prst="rect">
              <a:avLst/>
            </a:prstGeom>
            <a:noFill/>
          </p:spPr>
          <p:txBody>
            <a:bodyPr wrap="square" rtlCol="0">
              <a:spAutoFit/>
            </a:bodyPr>
            <a:lstStyle/>
            <a:p>
              <a:r>
                <a:rPr lang="en-US" sz="2400" dirty="0"/>
                <a:t>Table </a:t>
              </a:r>
              <a:r>
                <a:rPr lang="en-SE" sz="2400" dirty="0"/>
                <a:t>7 – </a:t>
              </a:r>
              <a:r>
                <a:rPr lang="en-US" sz="2400" dirty="0"/>
                <a:t>Key parameters for the sensitivity analysis</a:t>
              </a:r>
            </a:p>
            <a:p>
              <a:endParaRPr lang="en-US" sz="2400" dirty="0"/>
            </a:p>
          </p:txBody>
        </p:sp>
        <p:cxnSp>
          <p:nvCxnSpPr>
            <p:cNvPr id="31" name="Straight Arrow Connector 30">
              <a:extLst>
                <a:ext uri="{FF2B5EF4-FFF2-40B4-BE49-F238E27FC236}">
                  <a16:creationId xmlns:a16="http://schemas.microsoft.com/office/drawing/2014/main" id="{7FFA6229-9A53-9BFB-7D85-B0AB1713F809}"/>
                </a:ext>
              </a:extLst>
            </p:cNvPr>
            <p:cNvCxnSpPr>
              <a:cxnSpLocks/>
              <a:stCxn id="2050" idx="3"/>
              <a:endCxn id="19" idx="1"/>
            </p:cNvCxnSpPr>
            <p:nvPr/>
          </p:nvCxnSpPr>
          <p:spPr>
            <a:xfrm>
              <a:off x="2554435" y="4294690"/>
              <a:ext cx="532110" cy="18464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00587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155D-3C72-FB1B-19E6-FC6C391DA2DA}"/>
              </a:ext>
            </a:extLst>
          </p:cNvPr>
          <p:cNvSpPr>
            <a:spLocks noGrp="1"/>
          </p:cNvSpPr>
          <p:nvPr>
            <p:ph type="title"/>
          </p:nvPr>
        </p:nvSpPr>
        <p:spPr>
          <a:xfrm>
            <a:off x="838200" y="365125"/>
            <a:ext cx="8003560" cy="1350546"/>
          </a:xfrm>
        </p:spPr>
        <p:txBody>
          <a:bodyPr/>
          <a:lstStyle/>
          <a:p>
            <a:r>
              <a:rPr lang="en-US" sz="4000" dirty="0">
                <a:solidFill>
                  <a:srgbClr val="007B6C"/>
                </a:solidFill>
                <a:latin typeface="Calibri Light"/>
                <a:cs typeface="Calibri"/>
              </a:rPr>
              <a:t>Projections Q</a:t>
            </a:r>
            <a:r>
              <a:rPr lang="en-SE" sz="4000" dirty="0" err="1">
                <a:solidFill>
                  <a:srgbClr val="007B6C"/>
                </a:solidFill>
                <a:latin typeface="Calibri Light"/>
                <a:cs typeface="Calibri"/>
              </a:rPr>
              <a:t>uality</a:t>
            </a:r>
            <a:r>
              <a:rPr lang="en-SE" sz="4000" dirty="0">
                <a:solidFill>
                  <a:srgbClr val="007B6C"/>
                </a:solidFill>
                <a:latin typeface="Calibri Light"/>
                <a:cs typeface="Calibri"/>
              </a:rPr>
              <a:t> </a:t>
            </a:r>
            <a:r>
              <a:rPr lang="en-US" sz="4000" dirty="0">
                <a:solidFill>
                  <a:srgbClr val="007B6C"/>
                </a:solidFill>
                <a:latin typeface="Calibri Light"/>
                <a:cs typeface="Calibri"/>
              </a:rPr>
              <a:t>C</a:t>
            </a:r>
            <a:r>
              <a:rPr lang="en-SE" sz="4000" dirty="0" err="1">
                <a:solidFill>
                  <a:srgbClr val="007B6C"/>
                </a:solidFill>
                <a:latin typeface="Calibri Light"/>
                <a:cs typeface="Calibri"/>
              </a:rPr>
              <a:t>ontrol</a:t>
            </a:r>
            <a:r>
              <a:rPr lang="en-SE" sz="4000" dirty="0">
                <a:solidFill>
                  <a:srgbClr val="007B6C"/>
                </a:solidFill>
                <a:latin typeface="Calibri Light"/>
                <a:cs typeface="Calibri"/>
              </a:rPr>
              <a:t> Process</a:t>
            </a:r>
            <a:endParaRPr lang="en-US" sz="4000" dirty="0">
              <a:solidFill>
                <a:srgbClr val="007B6C"/>
              </a:solidFill>
              <a:latin typeface="Calibri Light"/>
              <a:ea typeface="Calibri Light"/>
              <a:cs typeface="Calibri"/>
            </a:endParaRPr>
          </a:p>
        </p:txBody>
      </p:sp>
      <p:sp>
        <p:nvSpPr>
          <p:cNvPr id="26" name="Rectangle 25">
            <a:extLst>
              <a:ext uri="{FF2B5EF4-FFF2-40B4-BE49-F238E27FC236}">
                <a16:creationId xmlns:a16="http://schemas.microsoft.com/office/drawing/2014/main" id="{28C48E93-6565-6F97-BA7D-8D35828CCB58}"/>
              </a:ext>
            </a:extLst>
          </p:cNvPr>
          <p:cNvSpPr/>
          <p:nvPr/>
        </p:nvSpPr>
        <p:spPr>
          <a:xfrm>
            <a:off x="392221" y="2149384"/>
            <a:ext cx="2033212" cy="998364"/>
          </a:xfrm>
          <a:prstGeom prst="rect">
            <a:avLst/>
          </a:prstGeom>
          <a:solidFill>
            <a:srgbClr val="AE3446">
              <a:lumMod val="60000"/>
              <a:lumOff val="40000"/>
            </a:srgbClr>
          </a:solidFill>
          <a:ln w="12700" cap="flat" cmpd="sng" algn="ctr">
            <a:noFill/>
            <a:prstDash val="solid"/>
            <a:miter lim="800000"/>
          </a:ln>
          <a:effectLst/>
        </p:spPr>
        <p:txBody>
          <a:bodyPr lIns="91440" tIns="45720" rIns="91440" bIns="45720" rtlCol="0" anchor="ctr"/>
          <a:lstStyle/>
          <a:p>
            <a:pPr algn="ctr"/>
            <a:r>
              <a:rPr lang="en-GB" b="1" kern="0" dirty="0">
                <a:solidFill>
                  <a:prstClr val="white"/>
                </a:solidFill>
                <a:latin typeface="Calibri" panose="020F0502020204030204"/>
              </a:rPr>
              <a:t>Fill in Excel template</a:t>
            </a:r>
            <a:endParaRPr lang="LID4096" b="1" kern="0" dirty="0">
              <a:solidFill>
                <a:prstClr val="white"/>
              </a:solidFill>
              <a:latin typeface="Calibri" panose="020F0502020204030204"/>
            </a:endParaRPr>
          </a:p>
        </p:txBody>
      </p:sp>
      <p:sp>
        <p:nvSpPr>
          <p:cNvPr id="27" name="Rectangle 26">
            <a:extLst>
              <a:ext uri="{FF2B5EF4-FFF2-40B4-BE49-F238E27FC236}">
                <a16:creationId xmlns:a16="http://schemas.microsoft.com/office/drawing/2014/main" id="{DD087E6C-841B-8F84-4C17-D2E042E587AF}"/>
              </a:ext>
            </a:extLst>
          </p:cNvPr>
          <p:cNvSpPr/>
          <p:nvPr/>
        </p:nvSpPr>
        <p:spPr>
          <a:xfrm>
            <a:off x="2727545" y="2149384"/>
            <a:ext cx="2033212" cy="998364"/>
          </a:xfrm>
          <a:prstGeom prst="rect">
            <a:avLst/>
          </a:prstGeom>
          <a:solidFill>
            <a:srgbClr val="3C8EB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prstClr val="white"/>
                </a:solidFill>
                <a:effectLst/>
                <a:uLnTx/>
                <a:uFillTx/>
                <a:latin typeface="Calibri" panose="020F0502020204030204"/>
                <a:ea typeface="+mn-ea"/>
                <a:cs typeface="+mn-cs"/>
              </a:rPr>
              <a:t>Upload to Reportnet</a:t>
            </a:r>
            <a:endParaRPr kumimoji="0" lang="LID4096" sz="1800" b="1"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28C92C9-1C01-B18B-2076-13A22CEFEE84}"/>
              </a:ext>
            </a:extLst>
          </p:cNvPr>
          <p:cNvSpPr/>
          <p:nvPr/>
        </p:nvSpPr>
        <p:spPr>
          <a:xfrm>
            <a:off x="5060103" y="2141643"/>
            <a:ext cx="2033212" cy="998364"/>
          </a:xfrm>
          <a:prstGeom prst="rect">
            <a:avLst/>
          </a:prstGeom>
          <a:solidFill>
            <a:srgbClr val="3C8EB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prstClr val="white"/>
                </a:solidFill>
                <a:effectLst/>
                <a:uLnTx/>
                <a:uFillTx/>
                <a:latin typeface="Calibri" panose="020F0502020204030204"/>
                <a:ea typeface="+mn-ea"/>
                <a:cs typeface="+mn-cs"/>
              </a:rPr>
              <a:t>Release to data collection</a:t>
            </a:r>
            <a:endParaRPr kumimoji="0" lang="LID4096" sz="1800" b="1"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6364532A-119C-CAE4-DAE9-F306B90DBD59}"/>
              </a:ext>
            </a:extLst>
          </p:cNvPr>
          <p:cNvSpPr/>
          <p:nvPr/>
        </p:nvSpPr>
        <p:spPr>
          <a:xfrm>
            <a:off x="9725219" y="2141643"/>
            <a:ext cx="2033212" cy="998364"/>
          </a:xfrm>
          <a:prstGeom prst="rect">
            <a:avLst/>
          </a:prstGeom>
          <a:solidFill>
            <a:srgbClr val="3C8EB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prstClr val="white"/>
                </a:solidFill>
                <a:effectLst/>
                <a:uLnTx/>
                <a:uFillTx/>
                <a:latin typeface="Calibri" panose="020F0502020204030204"/>
                <a:ea typeface="+mn-ea"/>
                <a:cs typeface="+mn-cs"/>
              </a:rPr>
              <a:t>Resubmit (if needed)</a:t>
            </a:r>
            <a:endParaRPr kumimoji="0" lang="LID4096" sz="1800" b="1"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Arrow Connector 29">
            <a:extLst>
              <a:ext uri="{FF2B5EF4-FFF2-40B4-BE49-F238E27FC236}">
                <a16:creationId xmlns:a16="http://schemas.microsoft.com/office/drawing/2014/main" id="{7CAF52E6-CD9F-2A93-BC89-3984C2A7E15B}"/>
              </a:ext>
            </a:extLst>
          </p:cNvPr>
          <p:cNvCxnSpPr>
            <a:cxnSpLocks/>
            <a:endCxn id="27" idx="1"/>
          </p:cNvCxnSpPr>
          <p:nvPr/>
        </p:nvCxnSpPr>
        <p:spPr>
          <a:xfrm flipV="1">
            <a:off x="2425433" y="2648566"/>
            <a:ext cx="302112" cy="7741"/>
          </a:xfrm>
          <a:prstGeom prst="straightConnector1">
            <a:avLst/>
          </a:prstGeom>
          <a:noFill/>
          <a:ln w="25400" cap="flat" cmpd="sng" algn="ctr">
            <a:solidFill>
              <a:srgbClr val="3C8EB2"/>
            </a:solidFill>
            <a:prstDash val="solid"/>
            <a:miter lim="800000"/>
            <a:tailEnd type="triangle"/>
          </a:ln>
          <a:effectLst/>
        </p:spPr>
      </p:cxnSp>
      <p:cxnSp>
        <p:nvCxnSpPr>
          <p:cNvPr id="31" name="Straight Arrow Connector 30">
            <a:extLst>
              <a:ext uri="{FF2B5EF4-FFF2-40B4-BE49-F238E27FC236}">
                <a16:creationId xmlns:a16="http://schemas.microsoft.com/office/drawing/2014/main" id="{A3A22F1C-784B-D9FF-217E-2B7F5426FF90}"/>
              </a:ext>
            </a:extLst>
          </p:cNvPr>
          <p:cNvCxnSpPr>
            <a:cxnSpLocks/>
            <a:stCxn id="27" idx="3"/>
            <a:endCxn id="28" idx="1"/>
          </p:cNvCxnSpPr>
          <p:nvPr/>
        </p:nvCxnSpPr>
        <p:spPr>
          <a:xfrm flipV="1">
            <a:off x="4760757" y="2640825"/>
            <a:ext cx="299346" cy="7741"/>
          </a:xfrm>
          <a:prstGeom prst="straightConnector1">
            <a:avLst/>
          </a:prstGeom>
          <a:noFill/>
          <a:ln w="25400" cap="flat" cmpd="sng" algn="ctr">
            <a:solidFill>
              <a:srgbClr val="3C8EB2"/>
            </a:solidFill>
            <a:prstDash val="solid"/>
            <a:miter lim="800000"/>
            <a:tailEnd type="triangle"/>
          </a:ln>
          <a:effectLst/>
        </p:spPr>
      </p:cxnSp>
      <p:sp>
        <p:nvSpPr>
          <p:cNvPr id="32" name="Rectangle 31">
            <a:extLst>
              <a:ext uri="{FF2B5EF4-FFF2-40B4-BE49-F238E27FC236}">
                <a16:creationId xmlns:a16="http://schemas.microsoft.com/office/drawing/2014/main" id="{37FA730F-F000-1F95-F4B7-8E1F7B928955}"/>
              </a:ext>
            </a:extLst>
          </p:cNvPr>
          <p:cNvSpPr/>
          <p:nvPr/>
        </p:nvSpPr>
        <p:spPr>
          <a:xfrm>
            <a:off x="7392661" y="2141643"/>
            <a:ext cx="2033212" cy="998364"/>
          </a:xfrm>
          <a:prstGeom prst="rect">
            <a:avLst/>
          </a:prstGeom>
          <a:solidFill>
            <a:srgbClr val="AE3446">
              <a:lumMod val="60000"/>
              <a:lumOff val="40000"/>
            </a:srgb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prstClr val="white"/>
                </a:solidFill>
                <a:effectLst/>
                <a:uLnTx/>
                <a:uFillTx/>
                <a:latin typeface="Calibri" panose="020F0502020204030204"/>
                <a:ea typeface="+mn-ea"/>
                <a:cs typeface="+mn-cs"/>
              </a:rPr>
              <a:t>External </a:t>
            </a:r>
            <a:r>
              <a:rPr lang="en-GB" b="1" kern="0">
                <a:solidFill>
                  <a:prstClr val="white"/>
                </a:solidFill>
                <a:latin typeface="Calibri" panose="020F0502020204030204"/>
              </a:rPr>
              <a:t>QA/QC</a:t>
            </a:r>
            <a:endParaRPr kumimoji="0" lang="en-GB" sz="1800" b="1"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F42D3280-8A42-09FE-DABC-F12895946F04}"/>
              </a:ext>
            </a:extLst>
          </p:cNvPr>
          <p:cNvCxnSpPr>
            <a:cxnSpLocks/>
          </p:cNvCxnSpPr>
          <p:nvPr/>
        </p:nvCxnSpPr>
        <p:spPr>
          <a:xfrm flipV="1">
            <a:off x="7103612" y="2633084"/>
            <a:ext cx="299346" cy="7741"/>
          </a:xfrm>
          <a:prstGeom prst="straightConnector1">
            <a:avLst/>
          </a:prstGeom>
          <a:noFill/>
          <a:ln w="25400" cap="flat" cmpd="sng" algn="ctr">
            <a:solidFill>
              <a:srgbClr val="3C8EB2"/>
            </a:solidFill>
            <a:prstDash val="solid"/>
            <a:miter lim="800000"/>
            <a:tailEnd type="triangle"/>
          </a:ln>
          <a:effectLst/>
        </p:spPr>
      </p:cxnSp>
      <p:cxnSp>
        <p:nvCxnSpPr>
          <p:cNvPr id="34" name="Straight Arrow Connector 33">
            <a:extLst>
              <a:ext uri="{FF2B5EF4-FFF2-40B4-BE49-F238E27FC236}">
                <a16:creationId xmlns:a16="http://schemas.microsoft.com/office/drawing/2014/main" id="{AF204C4C-DEC3-3C6A-BD01-1C57CF62A6EF}"/>
              </a:ext>
            </a:extLst>
          </p:cNvPr>
          <p:cNvCxnSpPr>
            <a:cxnSpLocks/>
          </p:cNvCxnSpPr>
          <p:nvPr/>
        </p:nvCxnSpPr>
        <p:spPr>
          <a:xfrm flipV="1">
            <a:off x="9425873" y="2656307"/>
            <a:ext cx="299346" cy="7741"/>
          </a:xfrm>
          <a:prstGeom prst="straightConnector1">
            <a:avLst/>
          </a:prstGeom>
          <a:noFill/>
          <a:ln w="25400" cap="flat" cmpd="sng" algn="ctr">
            <a:solidFill>
              <a:srgbClr val="3C8EB2"/>
            </a:solidFill>
            <a:prstDash val="solid"/>
            <a:miter lim="800000"/>
            <a:tailEnd type="triangle"/>
          </a:ln>
          <a:effectLst/>
        </p:spPr>
      </p:cxnSp>
      <p:sp>
        <p:nvSpPr>
          <p:cNvPr id="35" name="Rectangle 34">
            <a:extLst>
              <a:ext uri="{FF2B5EF4-FFF2-40B4-BE49-F238E27FC236}">
                <a16:creationId xmlns:a16="http://schemas.microsoft.com/office/drawing/2014/main" id="{9EA9AEEA-9326-2382-86DF-BE8E21D8F484}"/>
              </a:ext>
            </a:extLst>
          </p:cNvPr>
          <p:cNvSpPr/>
          <p:nvPr/>
        </p:nvSpPr>
        <p:spPr>
          <a:xfrm>
            <a:off x="392221" y="3825171"/>
            <a:ext cx="2033212" cy="998364"/>
          </a:xfrm>
          <a:prstGeom prst="rect">
            <a:avLst/>
          </a:prstGeom>
          <a:solidFill>
            <a:srgbClr val="AE3446">
              <a:lumMod val="60000"/>
              <a:lumOff val="40000"/>
            </a:srgb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white"/>
                </a:solidFill>
                <a:effectLst/>
                <a:uLnTx/>
                <a:uFillTx/>
                <a:latin typeface="Calibri" panose="020F0502020204030204"/>
                <a:ea typeface="+mn-ea"/>
                <a:cs typeface="+mn-cs"/>
              </a:rPr>
              <a:t>Use </a:t>
            </a:r>
            <a:r>
              <a:rPr lang="en-GB" b="1" kern="0" dirty="0">
                <a:solidFill>
                  <a:prstClr val="white"/>
                </a:solidFill>
                <a:latin typeface="Calibri" panose="020F0502020204030204"/>
              </a:rPr>
              <a:t>QA/QC</a:t>
            </a:r>
            <a:r>
              <a:rPr kumimoji="0" lang="en-GB" sz="1800" b="1" i="0" u="none" strike="noStrike" kern="0" cap="none" spc="0" normalizeH="0" baseline="0" noProof="0" dirty="0">
                <a:ln>
                  <a:noFill/>
                </a:ln>
                <a:solidFill>
                  <a:prstClr val="white"/>
                </a:solidFill>
                <a:effectLst/>
                <a:uLnTx/>
                <a:uFillTx/>
                <a:latin typeface="Calibri" panose="020F0502020204030204"/>
                <a:ea typeface="+mn-ea"/>
                <a:cs typeface="+mn-cs"/>
              </a:rPr>
              <a:t> sheets in Excel template</a:t>
            </a:r>
            <a:endParaRPr kumimoji="0" lang="LID4096"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28F9DDA2-349B-E55B-1360-27A9070D1A4B}"/>
              </a:ext>
            </a:extLst>
          </p:cNvPr>
          <p:cNvSpPr/>
          <p:nvPr/>
        </p:nvSpPr>
        <p:spPr>
          <a:xfrm>
            <a:off x="2729799" y="3809516"/>
            <a:ext cx="2033212" cy="998364"/>
          </a:xfrm>
          <a:prstGeom prst="rect">
            <a:avLst/>
          </a:prstGeom>
          <a:solidFill>
            <a:srgbClr val="3C8EB2"/>
          </a:solidFill>
          <a:ln w="12700" cap="flat" cmpd="sng" algn="ctr">
            <a:noFill/>
            <a:prstDash val="solid"/>
            <a:miter lim="800000"/>
          </a:ln>
          <a:effectLst/>
        </p:spPr>
        <p:txBody>
          <a:bodyPr lIns="91440" tIns="45720" rIns="91440" bIns="45720" rtlCol="0" anchor="ctr"/>
          <a:lstStyle/>
          <a:p>
            <a:pPr algn="ctr"/>
            <a:r>
              <a:rPr lang="en-GB" b="1" kern="0" err="1">
                <a:solidFill>
                  <a:prstClr val="white"/>
                </a:solidFill>
                <a:latin typeface="Calibri" panose="020F0502020204030204"/>
              </a:rPr>
              <a:t>Reportnet</a:t>
            </a:r>
            <a:r>
              <a:rPr lang="en-GB" b="1" kern="0">
                <a:solidFill>
                  <a:prstClr val="white"/>
                </a:solidFill>
                <a:latin typeface="Calibri" panose="020F0502020204030204"/>
              </a:rPr>
              <a:t> validation</a:t>
            </a:r>
            <a:endParaRPr lang="LID4096" b="1" kern="0">
              <a:solidFill>
                <a:prstClr val="white"/>
              </a:solidFill>
              <a:latin typeface="Calibri" panose="020F0502020204030204"/>
            </a:endParaRPr>
          </a:p>
        </p:txBody>
      </p:sp>
      <p:cxnSp>
        <p:nvCxnSpPr>
          <p:cNvPr id="37" name="Straight Arrow Connector 36">
            <a:extLst>
              <a:ext uri="{FF2B5EF4-FFF2-40B4-BE49-F238E27FC236}">
                <a16:creationId xmlns:a16="http://schemas.microsoft.com/office/drawing/2014/main" id="{619EB334-9DDF-A4E4-7AF5-F5FFF1B86968}"/>
              </a:ext>
            </a:extLst>
          </p:cNvPr>
          <p:cNvCxnSpPr>
            <a:cxnSpLocks/>
          </p:cNvCxnSpPr>
          <p:nvPr/>
        </p:nvCxnSpPr>
        <p:spPr>
          <a:xfrm>
            <a:off x="1408827" y="3147748"/>
            <a:ext cx="0" cy="685164"/>
          </a:xfrm>
          <a:prstGeom prst="straightConnector1">
            <a:avLst/>
          </a:prstGeom>
          <a:noFill/>
          <a:ln w="25400" cap="flat" cmpd="sng" algn="ctr">
            <a:solidFill>
              <a:srgbClr val="3C8EB2"/>
            </a:solidFill>
            <a:prstDash val="solid"/>
            <a:miter lim="800000"/>
            <a:tailEnd type="triangle"/>
          </a:ln>
          <a:effectLst/>
        </p:spPr>
      </p:cxnSp>
      <p:cxnSp>
        <p:nvCxnSpPr>
          <p:cNvPr id="38" name="Straight Arrow Connector 37">
            <a:extLst>
              <a:ext uri="{FF2B5EF4-FFF2-40B4-BE49-F238E27FC236}">
                <a16:creationId xmlns:a16="http://schemas.microsoft.com/office/drawing/2014/main" id="{054D9A54-5D02-4A12-78F6-B98C1354B81F}"/>
              </a:ext>
            </a:extLst>
          </p:cNvPr>
          <p:cNvCxnSpPr>
            <a:cxnSpLocks/>
          </p:cNvCxnSpPr>
          <p:nvPr/>
        </p:nvCxnSpPr>
        <p:spPr>
          <a:xfrm flipV="1">
            <a:off x="1506342" y="3147748"/>
            <a:ext cx="0" cy="677423"/>
          </a:xfrm>
          <a:prstGeom prst="straightConnector1">
            <a:avLst/>
          </a:prstGeom>
          <a:noFill/>
          <a:ln w="25400" cap="flat" cmpd="sng" algn="ctr">
            <a:solidFill>
              <a:srgbClr val="3C8EB2"/>
            </a:solidFill>
            <a:prstDash val="solid"/>
            <a:miter lim="800000"/>
            <a:tailEnd type="triangle"/>
          </a:ln>
          <a:effectLst/>
        </p:spPr>
      </p:cxnSp>
      <p:cxnSp>
        <p:nvCxnSpPr>
          <p:cNvPr id="39" name="Straight Arrow Connector 38">
            <a:extLst>
              <a:ext uri="{FF2B5EF4-FFF2-40B4-BE49-F238E27FC236}">
                <a16:creationId xmlns:a16="http://schemas.microsoft.com/office/drawing/2014/main" id="{86D131DE-678F-3C52-6D5D-C5794C2B8F0C}"/>
              </a:ext>
            </a:extLst>
          </p:cNvPr>
          <p:cNvCxnSpPr>
            <a:cxnSpLocks/>
          </p:cNvCxnSpPr>
          <p:nvPr/>
        </p:nvCxnSpPr>
        <p:spPr>
          <a:xfrm>
            <a:off x="3678997" y="3118341"/>
            <a:ext cx="0" cy="685164"/>
          </a:xfrm>
          <a:prstGeom prst="straightConnector1">
            <a:avLst/>
          </a:prstGeom>
          <a:noFill/>
          <a:ln w="25400" cap="flat" cmpd="sng" algn="ctr">
            <a:solidFill>
              <a:srgbClr val="3C8EB2"/>
            </a:solidFill>
            <a:prstDash val="solid"/>
            <a:miter lim="800000"/>
            <a:tailEnd type="triangle"/>
          </a:ln>
          <a:effectLst/>
        </p:spPr>
      </p:cxnSp>
      <p:cxnSp>
        <p:nvCxnSpPr>
          <p:cNvPr id="40" name="Straight Arrow Connector 39">
            <a:extLst>
              <a:ext uri="{FF2B5EF4-FFF2-40B4-BE49-F238E27FC236}">
                <a16:creationId xmlns:a16="http://schemas.microsoft.com/office/drawing/2014/main" id="{E30BD495-70BE-0D57-A4D0-622178B1D8F5}"/>
              </a:ext>
            </a:extLst>
          </p:cNvPr>
          <p:cNvCxnSpPr>
            <a:cxnSpLocks/>
          </p:cNvCxnSpPr>
          <p:nvPr/>
        </p:nvCxnSpPr>
        <p:spPr>
          <a:xfrm flipV="1">
            <a:off x="3776512" y="3118341"/>
            <a:ext cx="0" cy="677423"/>
          </a:xfrm>
          <a:prstGeom prst="straightConnector1">
            <a:avLst/>
          </a:prstGeom>
          <a:noFill/>
          <a:ln w="25400" cap="flat" cmpd="sng" algn="ctr">
            <a:solidFill>
              <a:srgbClr val="3C8EB2"/>
            </a:solidFill>
            <a:prstDash val="solid"/>
            <a:miter lim="800000"/>
            <a:tailEnd type="triangle"/>
          </a:ln>
          <a:effectLst/>
        </p:spPr>
      </p:cxnSp>
      <p:pic>
        <p:nvPicPr>
          <p:cNvPr id="41" name="Picture 40">
            <a:extLst>
              <a:ext uri="{FF2B5EF4-FFF2-40B4-BE49-F238E27FC236}">
                <a16:creationId xmlns:a16="http://schemas.microsoft.com/office/drawing/2014/main" id="{01090FD1-FD2C-39A8-D17A-4CE3CBEF3E5F}"/>
              </a:ext>
            </a:extLst>
          </p:cNvPr>
          <p:cNvPicPr>
            <a:picLocks noChangeAspect="1"/>
          </p:cNvPicPr>
          <p:nvPr/>
        </p:nvPicPr>
        <p:blipFill>
          <a:blip r:embed="rId2"/>
          <a:stretch>
            <a:fillRect/>
          </a:stretch>
        </p:blipFill>
        <p:spPr>
          <a:xfrm>
            <a:off x="7417051" y="4081282"/>
            <a:ext cx="2705643" cy="443726"/>
          </a:xfrm>
          <a:prstGeom prst="rect">
            <a:avLst/>
          </a:prstGeom>
        </p:spPr>
      </p:pic>
      <p:pic>
        <p:nvPicPr>
          <p:cNvPr id="42" name="Picture 41">
            <a:extLst>
              <a:ext uri="{FF2B5EF4-FFF2-40B4-BE49-F238E27FC236}">
                <a16:creationId xmlns:a16="http://schemas.microsoft.com/office/drawing/2014/main" id="{0CA537CE-3D89-2B61-0C61-D5E94272723E}"/>
              </a:ext>
            </a:extLst>
          </p:cNvPr>
          <p:cNvPicPr>
            <a:picLocks noChangeAspect="1"/>
          </p:cNvPicPr>
          <p:nvPr/>
        </p:nvPicPr>
        <p:blipFill>
          <a:blip r:embed="rId3"/>
          <a:stretch>
            <a:fillRect/>
          </a:stretch>
        </p:blipFill>
        <p:spPr>
          <a:xfrm>
            <a:off x="7388297" y="4532300"/>
            <a:ext cx="3352868" cy="1740912"/>
          </a:xfrm>
          <a:prstGeom prst="rect">
            <a:avLst/>
          </a:prstGeom>
        </p:spPr>
      </p:pic>
      <p:grpSp>
        <p:nvGrpSpPr>
          <p:cNvPr id="48" name="Group 47">
            <a:extLst>
              <a:ext uri="{FF2B5EF4-FFF2-40B4-BE49-F238E27FC236}">
                <a16:creationId xmlns:a16="http://schemas.microsoft.com/office/drawing/2014/main" id="{C0A67904-004C-F70C-CAD1-17DFCACF217C}"/>
              </a:ext>
            </a:extLst>
          </p:cNvPr>
          <p:cNvGrpSpPr/>
          <p:nvPr/>
        </p:nvGrpSpPr>
        <p:grpSpPr>
          <a:xfrm>
            <a:off x="9110119" y="722353"/>
            <a:ext cx="2922252" cy="826018"/>
            <a:chOff x="392220" y="5839569"/>
            <a:chExt cx="3350239" cy="826018"/>
          </a:xfrm>
        </p:grpSpPr>
        <p:sp>
          <p:nvSpPr>
            <p:cNvPr id="43" name="Rectangle 42">
              <a:extLst>
                <a:ext uri="{FF2B5EF4-FFF2-40B4-BE49-F238E27FC236}">
                  <a16:creationId xmlns:a16="http://schemas.microsoft.com/office/drawing/2014/main" id="{F8E2BB80-A953-6B72-834D-37DB6E03AC8A}"/>
                </a:ext>
              </a:extLst>
            </p:cNvPr>
            <p:cNvSpPr/>
            <p:nvPr/>
          </p:nvSpPr>
          <p:spPr>
            <a:xfrm>
              <a:off x="392221" y="6297199"/>
              <a:ext cx="445979" cy="368388"/>
            </a:xfrm>
            <a:prstGeom prst="rect">
              <a:avLst/>
            </a:prstGeom>
            <a:solidFill>
              <a:srgbClr val="AE3446">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LID4096" sz="1400" b="1"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2876D730-4DA8-D5E8-B3BE-E18EE7196DEE}"/>
                </a:ext>
              </a:extLst>
            </p:cNvPr>
            <p:cNvSpPr/>
            <p:nvPr/>
          </p:nvSpPr>
          <p:spPr>
            <a:xfrm>
              <a:off x="811696" y="6233826"/>
              <a:ext cx="2922252" cy="402365"/>
            </a:xfrm>
            <a:prstGeom prst="rect">
              <a:avLst/>
            </a:prstGeom>
            <a:noFill/>
            <a:ln w="12700" cap="flat" cmpd="sng" algn="ctr">
              <a:noFill/>
              <a:prstDash val="solid"/>
              <a:miter lim="800000"/>
            </a:ln>
            <a:effectLst/>
          </p:spPr>
          <p:txBody>
            <a:bodyPr lIns="91440" tIns="45720" rIns="91440" bIns="45720" rtlCol="0" anchor="ctr"/>
            <a:lstStyle/>
            <a:p>
              <a:pPr>
                <a:defRPr/>
              </a:pPr>
              <a:r>
                <a:rPr kumimoji="0" lang="en-GB" sz="1400" i="0" u="none" strike="noStrike" kern="0" cap="none" spc="0" normalizeH="0" baseline="0" noProof="0">
                  <a:ln>
                    <a:noFill/>
                  </a:ln>
                  <a:effectLst/>
                  <a:uLnTx/>
                  <a:uFillTx/>
                  <a:latin typeface="Calibri" panose="020F0502020204030204"/>
                  <a:ea typeface="+mn-ea"/>
                  <a:cs typeface="+mn-cs"/>
                </a:rPr>
                <a:t>Proces</a:t>
              </a:r>
              <a:r>
                <a:rPr lang="en-GB" sz="1400" kern="0">
                  <a:latin typeface="Calibri" panose="020F0502020204030204"/>
                </a:rPr>
                <a:t>s outside of </a:t>
              </a:r>
              <a:r>
                <a:rPr lang="en-GB" sz="1400" kern="0" err="1">
                  <a:latin typeface="Calibri" panose="020F0502020204030204"/>
                </a:rPr>
                <a:t>Reportnet</a:t>
              </a:r>
              <a:endParaRPr kumimoji="0" lang="LID4096" sz="1400" i="0" u="none" strike="noStrike" kern="0" cap="none" spc="0" normalizeH="0" baseline="0" noProof="0" err="1">
                <a:ln>
                  <a:noFill/>
                </a:ln>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15C503BC-7D36-1FD5-788A-167D987FE632}"/>
                </a:ext>
              </a:extLst>
            </p:cNvPr>
            <p:cNvSpPr/>
            <p:nvPr/>
          </p:nvSpPr>
          <p:spPr>
            <a:xfrm>
              <a:off x="392220" y="5864007"/>
              <a:ext cx="445979" cy="368388"/>
            </a:xfrm>
            <a:prstGeom prst="rect">
              <a:avLst/>
            </a:prstGeom>
            <a:solidFill>
              <a:srgbClr val="3C8EB2"/>
            </a:solidFill>
            <a:ln w="12700" cap="flat" cmpd="sng" algn="ctr">
              <a:noFill/>
              <a:prstDash val="solid"/>
              <a:miter lim="800000"/>
            </a:ln>
            <a:effectLst/>
          </p:spPr>
          <p:txBody>
            <a:bodyPr rtlCol="0" anchor="ctr"/>
            <a:lstStyle/>
            <a:p>
              <a:pPr algn="ctr"/>
              <a:endParaRPr lang="LID4096" sz="1400" b="1" kern="0">
                <a:solidFill>
                  <a:prstClr val="white"/>
                </a:solidFill>
                <a:latin typeface="Calibri" panose="020F0502020204030204"/>
              </a:endParaRPr>
            </a:p>
          </p:txBody>
        </p:sp>
        <p:sp>
          <p:nvSpPr>
            <p:cNvPr id="47" name="Rectangle 46">
              <a:extLst>
                <a:ext uri="{FF2B5EF4-FFF2-40B4-BE49-F238E27FC236}">
                  <a16:creationId xmlns:a16="http://schemas.microsoft.com/office/drawing/2014/main" id="{4550DA41-4E46-E5A3-C06B-E10C314B897C}"/>
                </a:ext>
              </a:extLst>
            </p:cNvPr>
            <p:cNvSpPr/>
            <p:nvPr/>
          </p:nvSpPr>
          <p:spPr>
            <a:xfrm>
              <a:off x="820207" y="5839569"/>
              <a:ext cx="2922252" cy="402365"/>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i="0" u="none" strike="noStrike" kern="0" cap="none" spc="0" normalizeH="0" baseline="0" noProof="0" err="1">
                  <a:ln>
                    <a:noFill/>
                  </a:ln>
                  <a:effectLst/>
                  <a:uLnTx/>
                  <a:uFillTx/>
                  <a:latin typeface="Calibri" panose="020F0502020204030204"/>
                  <a:ea typeface="+mn-ea"/>
                  <a:cs typeface="+mn-cs"/>
                </a:rPr>
                <a:t>Proces</a:t>
              </a:r>
              <a:r>
                <a:rPr lang="en-GB" sz="1400" kern="0">
                  <a:latin typeface="Calibri" panose="020F0502020204030204"/>
                </a:rPr>
                <a:t>s in Reportnet</a:t>
              </a:r>
              <a:endParaRPr kumimoji="0" lang="LID4096" sz="1400" i="0" u="none" strike="noStrike" kern="0" cap="none" spc="0" normalizeH="0" baseline="0" noProof="0">
                <a:ln>
                  <a:noFill/>
                </a:ln>
                <a:effectLst/>
                <a:uLnTx/>
                <a:uFillTx/>
                <a:latin typeface="Calibri" panose="020F0502020204030204"/>
                <a:ea typeface="+mn-ea"/>
                <a:cs typeface="+mn-cs"/>
              </a:endParaRPr>
            </a:p>
          </p:txBody>
        </p:sp>
      </p:grpSp>
      <p:sp>
        <p:nvSpPr>
          <p:cNvPr id="49" name="Rectangle 48">
            <a:extLst>
              <a:ext uri="{FF2B5EF4-FFF2-40B4-BE49-F238E27FC236}">
                <a16:creationId xmlns:a16="http://schemas.microsoft.com/office/drawing/2014/main" id="{4C150A13-C759-EDC8-EE4A-C59071D4439C}"/>
              </a:ext>
            </a:extLst>
          </p:cNvPr>
          <p:cNvSpPr/>
          <p:nvPr/>
        </p:nvSpPr>
        <p:spPr>
          <a:xfrm>
            <a:off x="9062167" y="266176"/>
            <a:ext cx="2922252" cy="402365"/>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effectLst/>
                <a:uLnTx/>
                <a:uFillTx/>
                <a:latin typeface="Calibri" panose="020F0502020204030204"/>
                <a:ea typeface="+mn-ea"/>
                <a:cs typeface="+mn-cs"/>
              </a:rPr>
              <a:t>Legend</a:t>
            </a:r>
            <a:endParaRPr kumimoji="0" lang="LID4096" sz="1400" b="1" i="0" u="none" strike="noStrike" kern="0" cap="none" spc="0" normalizeH="0" baseline="0" noProof="0">
              <a:ln>
                <a:noFill/>
              </a:ln>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136D6564-CD35-F205-08D7-32579BC6190C}"/>
              </a:ext>
            </a:extLst>
          </p:cNvPr>
          <p:cNvSpPr/>
          <p:nvPr/>
        </p:nvSpPr>
        <p:spPr>
          <a:xfrm>
            <a:off x="7389605" y="3634509"/>
            <a:ext cx="3787045" cy="402365"/>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GB" b="1" kern="0">
                <a:latin typeface="Calibri" panose="020F0502020204030204"/>
              </a:rPr>
              <a:t>Illustration of validation in Reportnet</a:t>
            </a:r>
            <a:endParaRPr kumimoji="0" lang="LID4096" sz="1800" b="1" i="0" u="none" strike="noStrike" kern="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2801595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04AFD-07CE-9C12-B87D-2C2F32F78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0AA60-8513-8A01-361B-2E8C06DDCE43}"/>
              </a:ext>
            </a:extLst>
          </p:cNvPr>
          <p:cNvSpPr>
            <a:spLocks noGrp="1"/>
          </p:cNvSpPr>
          <p:nvPr>
            <p:ph type="title"/>
          </p:nvPr>
        </p:nvSpPr>
        <p:spPr>
          <a:xfrm>
            <a:off x="475939" y="142101"/>
            <a:ext cx="10877862" cy="1350546"/>
          </a:xfrm>
        </p:spPr>
        <p:txBody>
          <a:bodyPr/>
          <a:lstStyle/>
          <a:p>
            <a:r>
              <a:rPr lang="en-SE" sz="4000" dirty="0">
                <a:solidFill>
                  <a:srgbClr val="007B6C"/>
                </a:solidFill>
                <a:latin typeface="Calibri Light"/>
                <a:cs typeface="Calibri"/>
              </a:rPr>
              <a:t>Exercise for how to report on Projections</a:t>
            </a:r>
            <a:r>
              <a:rPr lang="en-US" sz="4000" dirty="0">
                <a:solidFill>
                  <a:srgbClr val="007B6C"/>
                </a:solidFill>
                <a:latin typeface="Calibri Light"/>
                <a:cs typeface="Calibri"/>
              </a:rPr>
              <a:t> </a:t>
            </a:r>
            <a:endParaRPr lang="en-US" sz="4000" dirty="0">
              <a:solidFill>
                <a:srgbClr val="007B6C"/>
              </a:solidFill>
              <a:latin typeface="Calibri Light"/>
              <a:ea typeface="Calibri Light"/>
              <a:cs typeface="Calibri"/>
            </a:endParaRPr>
          </a:p>
        </p:txBody>
      </p:sp>
      <p:sp>
        <p:nvSpPr>
          <p:cNvPr id="7" name="TextBox 6">
            <a:extLst>
              <a:ext uri="{FF2B5EF4-FFF2-40B4-BE49-F238E27FC236}">
                <a16:creationId xmlns:a16="http://schemas.microsoft.com/office/drawing/2014/main" id="{108877F1-5ED9-C9FB-D810-9631A1D3F16C}"/>
              </a:ext>
            </a:extLst>
          </p:cNvPr>
          <p:cNvSpPr txBox="1"/>
          <p:nvPr/>
        </p:nvSpPr>
        <p:spPr>
          <a:xfrm>
            <a:off x="539128" y="1083588"/>
            <a:ext cx="10365248" cy="2677656"/>
          </a:xfrm>
          <a:prstGeom prst="rect">
            <a:avLst/>
          </a:prstGeom>
          <a:noFill/>
        </p:spPr>
        <p:txBody>
          <a:bodyPr wrap="square" rtlCol="0">
            <a:spAutoFit/>
          </a:bodyPr>
          <a:lstStyle/>
          <a:p>
            <a:r>
              <a:rPr lang="en-SE" sz="2400" dirty="0"/>
              <a:t>Using the reporting template</a:t>
            </a:r>
            <a:r>
              <a:rPr lang="da-DK" sz="2400" dirty="0"/>
              <a:t>s I will send to you – please send me an email:</a:t>
            </a:r>
          </a:p>
          <a:p>
            <a:endParaRPr lang="da-DK" sz="2400" dirty="0"/>
          </a:p>
          <a:p>
            <a:r>
              <a:rPr lang="da-DK" sz="2400" dirty="0">
                <a:hlinkClick r:id="rId2"/>
              </a:rPr>
              <a:t>Per.wretlind@eea.europa.eu</a:t>
            </a:r>
            <a:endParaRPr lang="da-DK" sz="2400" dirty="0"/>
          </a:p>
          <a:p>
            <a:endParaRPr lang="da-DK" sz="2400" dirty="0"/>
          </a:p>
          <a:p>
            <a:r>
              <a:rPr lang="da-DK" sz="2400" dirty="0"/>
              <a:t>Please fill them in with as much information that you find relevant in the draft version of the BTR, if this is available?</a:t>
            </a:r>
          </a:p>
          <a:p>
            <a:endParaRPr lang="en-DK" sz="2400" dirty="0"/>
          </a:p>
        </p:txBody>
      </p:sp>
    </p:spTree>
    <p:extLst>
      <p:ext uri="{BB962C8B-B14F-4D97-AF65-F5344CB8AC3E}">
        <p14:creationId xmlns:p14="http://schemas.microsoft.com/office/powerpoint/2010/main" val="25410537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6.1.4122"/>
  <p:tag name="SLIDO_PRESENTATION_ID" val="00000000-0000-0000-0000-000000000000"/>
  <p:tag name="SLIDO_EVENT_UUID" val="166b7c1f-87a6-4573-9074-c7224fc145be"/>
  <p:tag name="SLIDO_EVENT_SECTION_UUID" val="156dbd02-25fe-49d3-94e9-a56b963c02a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CAD936-5A74-43AE-BF01-7EEBCAAF77AA}">
  <ds:schemaRefs>
    <ds:schemaRef ds:uri="http://schemas.microsoft.com/sharepoint/v3/contenttype/forms"/>
  </ds:schemaRefs>
</ds:datastoreItem>
</file>

<file path=customXml/itemProps2.xml><?xml version="1.0" encoding="utf-8"?>
<ds:datastoreItem xmlns:ds="http://schemas.openxmlformats.org/officeDocument/2006/customXml" ds:itemID="{FA4D698A-08E0-4ACA-9645-6F4C978FCA3B}">
  <ds:schemaRefs>
    <ds:schemaRef ds:uri="http://schemas.microsoft.com/office/infopath/2007/PartnerControls"/>
    <ds:schemaRef ds:uri="http://schemas.microsoft.com/office/2006/documentManagement/types"/>
    <ds:schemaRef ds:uri="http://purl.org/dc/dcmitype/"/>
    <ds:schemaRef ds:uri="http://purl.org/dc/elements/1.1/"/>
    <ds:schemaRef ds:uri="http://www.w3.org/XML/1998/namespace"/>
    <ds:schemaRef ds:uri="http://purl.org/dc/terms/"/>
    <ds:schemaRef ds:uri="http://schemas.openxmlformats.org/package/2006/metadata/core-properties"/>
    <ds:schemaRef ds:uri="340712eb-23a5-460f-9036-c6d10688f9a1"/>
    <ds:schemaRef ds:uri="1403fb54-47f0-4125-8d87-6a6e13582a5f"/>
    <ds:schemaRef ds:uri="http://schemas.microsoft.com/office/2006/metadata/properties"/>
  </ds:schemaRefs>
</ds:datastoreItem>
</file>

<file path=customXml/itemProps3.xml><?xml version="1.0" encoding="utf-8"?>
<ds:datastoreItem xmlns:ds="http://schemas.openxmlformats.org/officeDocument/2006/customXml" ds:itemID="{09EB2345-4A08-4E22-9C31-F954E341D6E2}"/>
</file>

<file path=docProps/app.xml><?xml version="1.0" encoding="utf-8"?>
<Properties xmlns="http://schemas.openxmlformats.org/officeDocument/2006/extended-properties" xmlns:vt="http://schemas.openxmlformats.org/officeDocument/2006/docPropsVTypes">
  <TotalTime>1607</TotalTime>
  <Words>678</Words>
  <Application>Microsoft Office PowerPoint</Application>
  <PresentationFormat>Widescreen</PresentationFormat>
  <Paragraphs>60</Paragraphs>
  <Slides>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Calibri Light</vt:lpstr>
      <vt:lpstr>Open Sans</vt:lpstr>
      <vt:lpstr>Proxima Nova</vt:lpstr>
      <vt:lpstr>Office Theme</vt:lpstr>
      <vt:lpstr>PowerPoint Presentation</vt:lpstr>
      <vt:lpstr>Projections</vt:lpstr>
      <vt:lpstr>HOW IS THE REPORTED DATA USED – example from the EU data</vt:lpstr>
      <vt:lpstr>What to report on Projections? </vt:lpstr>
      <vt:lpstr>How to report on Projections? </vt:lpstr>
      <vt:lpstr>Projections Quality Control Process</vt:lpstr>
      <vt:lpstr>Exercise for how to report on Projections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 Wretlind</dc:creator>
  <cp:lastModifiedBy>Per Wretlind</cp:lastModifiedBy>
  <cp:revision>19</cp:revision>
  <dcterms:created xsi:type="dcterms:W3CDTF">2023-03-15T13:19:27Z</dcterms:created>
  <dcterms:modified xsi:type="dcterms:W3CDTF">2025-10-08T13:05:09Z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1.6.1.4122</vt:lpwstr>
  </property>
  <property fmtid="{D5CDD505-2E9C-101B-9397-08002B2CF9AE}" pid="3" name="ContentTypeId">
    <vt:lpwstr>0x010100CA9E40BF7383784999BA1B34A435B410</vt:lpwstr>
  </property>
  <property fmtid="{D5CDD505-2E9C-101B-9397-08002B2CF9AE}" pid="4" name="MediaServiceImageTags">
    <vt:lpwstr/>
  </property>
  <property fmtid="{D5CDD505-2E9C-101B-9397-08002B2CF9AE}" pid="5" name="Order">
    <vt:r8>184300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