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7"/>
  </p:notesMasterIdLst>
  <p:sldIdLst>
    <p:sldId id="256" r:id="rId5"/>
    <p:sldId id="257" r:id="rId6"/>
    <p:sldId id="1818" r:id="rId7"/>
    <p:sldId id="1814" r:id="rId8"/>
    <p:sldId id="4399" r:id="rId9"/>
    <p:sldId id="1777" r:id="rId10"/>
    <p:sldId id="1653" r:id="rId11"/>
    <p:sldId id="1983" r:id="rId12"/>
    <p:sldId id="1694" r:id="rId13"/>
    <p:sldId id="1912" r:id="rId14"/>
    <p:sldId id="1665" r:id="rId15"/>
    <p:sldId id="1944" r:id="rId16"/>
    <p:sldId id="302" r:id="rId17"/>
    <p:sldId id="1913" r:id="rId18"/>
    <p:sldId id="1735" r:id="rId19"/>
    <p:sldId id="1914" r:id="rId20"/>
    <p:sldId id="1915" r:id="rId21"/>
    <p:sldId id="1670" r:id="rId22"/>
    <p:sldId id="1917" r:id="rId23"/>
    <p:sldId id="1918" r:id="rId24"/>
    <p:sldId id="1919" r:id="rId25"/>
    <p:sldId id="1920" r:id="rId26"/>
    <p:sldId id="1916" r:id="rId27"/>
    <p:sldId id="1810" r:id="rId28"/>
    <p:sldId id="1968" r:id="rId29"/>
    <p:sldId id="266" r:id="rId30"/>
    <p:sldId id="1921" r:id="rId31"/>
    <p:sldId id="1922" r:id="rId32"/>
    <p:sldId id="1923" r:id="rId33"/>
    <p:sldId id="1924" r:id="rId34"/>
    <p:sldId id="1925" r:id="rId35"/>
    <p:sldId id="1926" r:id="rId36"/>
    <p:sldId id="4397" r:id="rId37"/>
    <p:sldId id="4398" r:id="rId38"/>
    <p:sldId id="4384" r:id="rId39"/>
    <p:sldId id="1929" r:id="rId40"/>
    <p:sldId id="1930" r:id="rId41"/>
    <p:sldId id="1931" r:id="rId42"/>
    <p:sldId id="1932" r:id="rId43"/>
    <p:sldId id="4386" r:id="rId44"/>
    <p:sldId id="1933" r:id="rId45"/>
    <p:sldId id="1969" r:id="rId46"/>
    <p:sldId id="1970" r:id="rId47"/>
    <p:sldId id="1971" r:id="rId48"/>
    <p:sldId id="1973" r:id="rId49"/>
    <p:sldId id="1938" r:id="rId50"/>
    <p:sldId id="1939" r:id="rId51"/>
    <p:sldId id="4387" r:id="rId52"/>
    <p:sldId id="1942" r:id="rId53"/>
    <p:sldId id="1943" r:id="rId54"/>
    <p:sldId id="267" r:id="rId55"/>
    <p:sldId id="1946" r:id="rId56"/>
    <p:sldId id="1947" r:id="rId57"/>
    <p:sldId id="1948" r:id="rId58"/>
    <p:sldId id="1949" r:id="rId59"/>
    <p:sldId id="1950" r:id="rId60"/>
    <p:sldId id="1951" r:id="rId61"/>
    <p:sldId id="1952" r:id="rId62"/>
    <p:sldId id="1953" r:id="rId63"/>
    <p:sldId id="1954" r:id="rId64"/>
    <p:sldId id="1955" r:id="rId65"/>
    <p:sldId id="1956" r:id="rId66"/>
    <p:sldId id="1957" r:id="rId67"/>
    <p:sldId id="1958" r:id="rId68"/>
    <p:sldId id="1959" r:id="rId69"/>
    <p:sldId id="1960" r:id="rId70"/>
    <p:sldId id="1961" r:id="rId71"/>
    <p:sldId id="1962" r:id="rId72"/>
    <p:sldId id="1963" r:id="rId73"/>
    <p:sldId id="1964" r:id="rId74"/>
    <p:sldId id="1965" r:id="rId75"/>
    <p:sldId id="1966" r:id="rId76"/>
    <p:sldId id="4396" r:id="rId77"/>
    <p:sldId id="284" r:id="rId78"/>
    <p:sldId id="4393" r:id="rId79"/>
    <p:sldId id="4392" r:id="rId80"/>
    <p:sldId id="4391" r:id="rId81"/>
    <p:sldId id="4394" r:id="rId82"/>
    <p:sldId id="4395" r:id="rId83"/>
    <p:sldId id="1844" r:id="rId84"/>
    <p:sldId id="4390" r:id="rId85"/>
    <p:sldId id="269" r:id="rId86"/>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2051016-E140-B8FD-76CD-D074E4D14C64}" name="Aneliya Nikolova" initials="AN" userId="S::aneliya.nikolova@eea.europa.eu::5ff52142-1b9c-430d-b975-3d80c1b68938" providerId="AD"/>
  <p188:author id="{94A8C479-947E-E663-6FC7-05067F733A56}" name="Angelika Tamasova" initials="AT" userId="S::Angelika.Tamasova@eea.europa.eu::23a7c5db-a112-460d-a09d-afd6dc9169e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999"/>
    <a:srgbClr val="33CCCC"/>
    <a:srgbClr val="008080"/>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66"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6/11/relationships/changesInfo" Target="changesInfos/changesInfo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D10C3772-22FF-D573-BAD5-50B76855535A}"/>
    <pc:docChg chg="delSld">
      <pc:chgData name="" userId="" providerId="" clId="Web-{D10C3772-22FF-D573-BAD5-50B76855535A}" dt="2025-09-30T14:40:05.177" v="0"/>
      <pc:docMkLst>
        <pc:docMk/>
      </pc:docMkLst>
    </pc:docChg>
  </pc:docChgLst>
  <pc:docChgLst>
    <pc:chgData name="Aneliya Nikolova" userId="S::aneliya.nikolova@eea.europa.eu::5ff52142-1b9c-430d-b975-3d80c1b68938" providerId="AD" clId="Web-{D10C3772-22FF-D573-BAD5-50B76855535A}"/>
    <pc:docChg chg="delSld modSld">
      <pc:chgData name="Aneliya Nikolova" userId="S::aneliya.nikolova@eea.europa.eu::5ff52142-1b9c-430d-b975-3d80c1b68938" providerId="AD" clId="Web-{D10C3772-22FF-D573-BAD5-50B76855535A}" dt="2025-10-02T14:11:39.417" v="126"/>
      <pc:docMkLst>
        <pc:docMk/>
      </pc:docMkLst>
      <pc:sldChg chg="modSp">
        <pc:chgData name="Aneliya Nikolova" userId="S::aneliya.nikolova@eea.europa.eu::5ff52142-1b9c-430d-b975-3d80c1b68938" providerId="AD" clId="Web-{D10C3772-22FF-D573-BAD5-50B76855535A}" dt="2025-09-30T14:41:14.896" v="28" actId="20577"/>
        <pc:sldMkLst>
          <pc:docMk/>
          <pc:sldMk cId="1948253308" sldId="256"/>
        </pc:sldMkLst>
        <pc:spChg chg="mod">
          <ac:chgData name="Aneliya Nikolova" userId="S::aneliya.nikolova@eea.europa.eu::5ff52142-1b9c-430d-b975-3d80c1b68938" providerId="AD" clId="Web-{D10C3772-22FF-D573-BAD5-50B76855535A}" dt="2025-09-30T14:41:14.896" v="28" actId="20577"/>
          <ac:spMkLst>
            <pc:docMk/>
            <pc:sldMk cId="1948253308" sldId="256"/>
            <ac:spMk id="8" creationId="{447EF3B7-6642-CADA-EFFE-5AACF5042895}"/>
          </ac:spMkLst>
        </pc:spChg>
      </pc:sldChg>
      <pc:sldChg chg="modSp">
        <pc:chgData name="Aneliya Nikolova" userId="S::aneliya.nikolova@eea.europa.eu::5ff52142-1b9c-430d-b975-3d80c1b68938" providerId="AD" clId="Web-{D10C3772-22FF-D573-BAD5-50B76855535A}" dt="2025-10-02T14:05:56.771" v="125" actId="20577"/>
        <pc:sldMkLst>
          <pc:docMk/>
          <pc:sldMk cId="4210763496" sldId="284"/>
        </pc:sldMkLst>
        <pc:spChg chg="mod">
          <ac:chgData name="Aneliya Nikolova" userId="S::aneliya.nikolova@eea.europa.eu::5ff52142-1b9c-430d-b975-3d80c1b68938" providerId="AD" clId="Web-{D10C3772-22FF-D573-BAD5-50B76855535A}" dt="2025-10-02T14:05:56.771" v="125" actId="20577"/>
          <ac:spMkLst>
            <pc:docMk/>
            <pc:sldMk cId="4210763496" sldId="284"/>
            <ac:spMk id="20" creationId="{AA64E66E-DA3C-42CD-80D9-89BD3A8A401A}"/>
          </ac:spMkLst>
        </pc:spChg>
      </pc:sldChg>
      <pc:sldChg chg="modSp">
        <pc:chgData name="Aneliya Nikolova" userId="S::aneliya.nikolova@eea.europa.eu::5ff52142-1b9c-430d-b975-3d80c1b68938" providerId="AD" clId="Web-{D10C3772-22FF-D573-BAD5-50B76855535A}" dt="2025-09-30T14:47:08.720" v="106" actId="20577"/>
        <pc:sldMkLst>
          <pc:docMk/>
          <pc:sldMk cId="202890717" sldId="1818"/>
        </pc:sldMkLst>
        <pc:spChg chg="mod">
          <ac:chgData name="Aneliya Nikolova" userId="S::aneliya.nikolova@eea.europa.eu::5ff52142-1b9c-430d-b975-3d80c1b68938" providerId="AD" clId="Web-{D10C3772-22FF-D573-BAD5-50B76855535A}" dt="2025-09-30T14:47:08.720" v="106" actId="20577"/>
          <ac:spMkLst>
            <pc:docMk/>
            <pc:sldMk cId="202890717" sldId="1818"/>
            <ac:spMk id="3" creationId="{D519A428-8DA3-BF4F-3837-9D2ACAA9D179}"/>
          </ac:spMkLst>
        </pc:spChg>
      </pc:sldChg>
      <pc:sldChg chg="modSp">
        <pc:chgData name="Aneliya Nikolova" userId="S::aneliya.nikolova@eea.europa.eu::5ff52142-1b9c-430d-b975-3d80c1b68938" providerId="AD" clId="Web-{D10C3772-22FF-D573-BAD5-50B76855535A}" dt="2025-10-02T13:51:39.900" v="110" actId="20577"/>
        <pc:sldMkLst>
          <pc:docMk/>
          <pc:sldMk cId="3380357331" sldId="1943"/>
        </pc:sldMkLst>
        <pc:spChg chg="mod">
          <ac:chgData name="Aneliya Nikolova" userId="S::aneliya.nikolova@eea.europa.eu::5ff52142-1b9c-430d-b975-3d80c1b68938" providerId="AD" clId="Web-{D10C3772-22FF-D573-BAD5-50B76855535A}" dt="2025-10-02T13:51:39.900" v="110" actId="20577"/>
          <ac:spMkLst>
            <pc:docMk/>
            <pc:sldMk cId="3380357331" sldId="1943"/>
            <ac:spMk id="5" creationId="{77ECDC54-E2A1-CC68-F798-BE71DB878279}"/>
          </ac:spMkLst>
        </pc:spChg>
      </pc:sldChg>
      <pc:sldChg chg="modSp">
        <pc:chgData name="Aneliya Nikolova" userId="S::aneliya.nikolova@eea.europa.eu::5ff52142-1b9c-430d-b975-3d80c1b68938" providerId="AD" clId="Web-{D10C3772-22FF-D573-BAD5-50B76855535A}" dt="2025-10-02T12:16:09.051" v="107" actId="20577"/>
        <pc:sldMkLst>
          <pc:docMk/>
          <pc:sldMk cId="3235710735" sldId="1983"/>
        </pc:sldMkLst>
        <pc:spChg chg="mod">
          <ac:chgData name="Aneliya Nikolova" userId="S::aneliya.nikolova@eea.europa.eu::5ff52142-1b9c-430d-b975-3d80c1b68938" providerId="AD" clId="Web-{D10C3772-22FF-D573-BAD5-50B76855535A}" dt="2025-10-02T12:16:09.051" v="107" actId="20577"/>
          <ac:spMkLst>
            <pc:docMk/>
            <pc:sldMk cId="3235710735" sldId="1983"/>
            <ac:spMk id="4" creationId="{5D56133A-13B3-4706-EDA4-4AEEDE96923F}"/>
          </ac:spMkLst>
        </pc:spChg>
      </pc:sldChg>
      <pc:sldChg chg="delSp">
        <pc:chgData name="Aneliya Nikolova" userId="S::aneliya.nikolova@eea.europa.eu::5ff52142-1b9c-430d-b975-3d80c1b68938" providerId="AD" clId="Web-{D10C3772-22FF-D573-BAD5-50B76855535A}" dt="2025-10-02T14:11:39.417" v="126"/>
        <pc:sldMkLst>
          <pc:docMk/>
          <pc:sldMk cId="4112726156" sldId="4391"/>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9T15:08:43.196"/>
    </inkml:context>
    <inkml:brush xml:id="br0">
      <inkml:brushProperty name="width" value="0.1" units="cm"/>
      <inkml:brushProperty name="height" value="0.2" units="cm"/>
      <inkml:brushProperty name="color" value="#FF2500"/>
      <inkml:brushProperty name="tip" value="rectangle"/>
      <inkml:brushProperty name="rasterOp" value="maskPen"/>
      <inkml:brushProperty name="ignorePressure" value="1"/>
    </inkml:brush>
  </inkml:definitions>
  <inkml:trace contextRef="#ctx0" brushRef="#br0">0 444,'1462'0,"-1434"0,14 0,64-7,-101 7,0-1,0 0,-1 0,1-1,0 0,5-2,-10 4,1 0,-1 0,0-1,1 1,-1 0,0 0,0 0,1-1,-1 1,0 0,0 0,1-1,-1 1,0 0,0 0,0-1,1 1,-1 0,0-1,0 1,0 0,0-1,0 1,0-1,0 1,0 0,0-1,0 1,0 0,0-1,0 1,0 0,0-1,0 1,0 0,0-1,0 1,0 0,-1-1,1 1,0 0,0-1,0 1,-1 0,1 0,0-1,0 1,-1 0,1-1,-8-5,0 0,0 0,-1 0,1 1,-1 1,-13-6,-4-2,-544-303,503 275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9T15:08:43.196"/>
    </inkml:context>
    <inkml:brush xml:id="br0">
      <inkml:brushProperty name="width" value="0.1" units="cm"/>
      <inkml:brushProperty name="height" value="0.2" units="cm"/>
      <inkml:brushProperty name="color" value="#FF2500"/>
      <inkml:brushProperty name="tip" value="rectangle"/>
      <inkml:brushProperty name="rasterOp" value="maskPen"/>
      <inkml:brushProperty name="ignorePressure" value="1"/>
    </inkml:brush>
  </inkml:definitions>
  <inkml:trace contextRef="#ctx0" brushRef="#br0">691 0,'0'6,"-5"0,-7 6,-11 5,-18 11,-17 10,-14 9,-16 12,-7 12,6 4,13-1,15-13,18-12,16-14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9T15:08:43.197"/>
    </inkml:context>
    <inkml:brush xml:id="br0">
      <inkml:brushProperty name="width" value="0.1" units="cm"/>
      <inkml:brushProperty name="height" value="0.2" units="cm"/>
      <inkml:brushProperty name="color" value="#FF2500"/>
      <inkml:brushProperty name="tip" value="rectangle"/>
      <inkml:brushProperty name="rasterOp" value="maskPen"/>
      <inkml:brushProperty name="ignorePressure" value="1"/>
    </inkml:brush>
  </inkml:definitions>
  <inkml:trace contextRef="#ctx0" brushRef="#br0">0 444,'1462'0,"-1434"0,14 0,64-7,-101 7,0-1,0 0,-1 0,1-1,0 0,5-2,-10 4,1 0,-1 0,0-1,1 1,-1 0,0 0,0 0,1-1,-1 1,0 0,0 0,1-1,-1 1,0 0,0 0,0-1,1 1,-1 0,0-1,0 1,0 0,0-1,0 1,0-1,0 1,0 0,0-1,0 1,0 0,0-1,0 1,0 0,0-1,0 1,0 0,0-1,0 1,0 0,-1-1,1 1,0 0,0-1,0 1,-1 0,1 0,0-1,0 1,-1 0,1-1,-8-5,0 0,0 0,-1 0,1 1,-1 1,-13-6,-4-2,-544-303,503 275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9T15:08:43.198"/>
    </inkml:context>
    <inkml:brush xml:id="br0">
      <inkml:brushProperty name="width" value="0.1" units="cm"/>
      <inkml:brushProperty name="height" value="0.2" units="cm"/>
      <inkml:brushProperty name="color" value="#FF2500"/>
      <inkml:brushProperty name="tip" value="rectangle"/>
      <inkml:brushProperty name="rasterOp" value="maskPen"/>
      <inkml:brushProperty name="ignorePressure" value="1"/>
    </inkml:brush>
  </inkml:definitions>
  <inkml:trace contextRef="#ctx0" brushRef="#br0">691 0,'0'6,"-5"0,-7 6,-11 5,-18 11,-17 10,-14 9,-16 12,-7 12,6 4,13-1,15-13,18-12,16-14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A80830-D0A3-4585-AD31-37222768217B}" type="datetimeFigureOut">
              <a:t>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3EBFC-DABD-4596-9417-BF287497F504}" type="slidenum">
              <a:t>‹#›</a:t>
            </a:fld>
            <a:endParaRPr lang="en-US"/>
          </a:p>
        </p:txBody>
      </p:sp>
    </p:spTree>
    <p:extLst>
      <p:ext uri="{BB962C8B-B14F-4D97-AF65-F5344CB8AC3E}">
        <p14:creationId xmlns:p14="http://schemas.microsoft.com/office/powerpoint/2010/main" val="4067356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1</a:t>
            </a:fld>
            <a:endParaRPr lang="en-US"/>
          </a:p>
        </p:txBody>
      </p:sp>
    </p:spTree>
    <p:extLst>
      <p:ext uri="{BB962C8B-B14F-4D97-AF65-F5344CB8AC3E}">
        <p14:creationId xmlns:p14="http://schemas.microsoft.com/office/powerpoint/2010/main" val="533855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2</a:t>
            </a:fld>
            <a:endParaRPr lang="en-US"/>
          </a:p>
        </p:txBody>
      </p:sp>
    </p:spTree>
    <p:extLst>
      <p:ext uri="{BB962C8B-B14F-4D97-AF65-F5344CB8AC3E}">
        <p14:creationId xmlns:p14="http://schemas.microsoft.com/office/powerpoint/2010/main" val="1225060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ea typeface="Calibri"/>
                <a:cs typeface="Calibri"/>
              </a:rPr>
              <a:t>EnCS</a:t>
            </a:r>
            <a:r>
              <a:rPr lang="en-US" dirty="0">
                <a:ea typeface="Calibri"/>
                <a:cs typeface="Calibri"/>
              </a:rPr>
              <a:t> setting the scene</a:t>
            </a:r>
          </a:p>
          <a:p>
            <a:endParaRPr lang="en-US" dirty="0">
              <a:ea typeface="Calibri"/>
              <a:cs typeface="Calibri"/>
            </a:endParaRPr>
          </a:p>
          <a:p>
            <a:r>
              <a:rPr lang="en-US" dirty="0">
                <a:ea typeface="Calibri"/>
                <a:cs typeface="Calibri"/>
              </a:rPr>
              <a:t>Split into blocks to allow for questions and breaks</a:t>
            </a:r>
          </a:p>
          <a:p>
            <a:endParaRPr lang="en-US" dirty="0">
              <a:ea typeface="Calibri"/>
              <a:cs typeface="Calibri"/>
            </a:endParaRPr>
          </a:p>
          <a:p>
            <a:r>
              <a:rPr lang="en-US" dirty="0">
                <a:ea typeface="Calibri"/>
                <a:cs typeface="Calibri"/>
              </a:rPr>
              <a:t>Changes in technicalities in the system in the Art 19 dataflow</a:t>
            </a:r>
          </a:p>
        </p:txBody>
      </p:sp>
      <p:sp>
        <p:nvSpPr>
          <p:cNvPr id="4" name="Slide Number Placeholder 3"/>
          <p:cNvSpPr>
            <a:spLocks noGrp="1"/>
          </p:cNvSpPr>
          <p:nvPr>
            <p:ph type="sldNum" sz="quarter" idx="5"/>
          </p:nvPr>
        </p:nvSpPr>
        <p:spPr/>
        <p:txBody>
          <a:bodyPr/>
          <a:lstStyle/>
          <a:p>
            <a:fld id="{A6B3EBFC-DABD-4596-9417-BF287497F504}" type="slidenum">
              <a:rPr lang="en-US"/>
              <a:t>3</a:t>
            </a:fld>
            <a:endParaRPr lang="en-US"/>
          </a:p>
        </p:txBody>
      </p:sp>
    </p:spTree>
    <p:extLst>
      <p:ext uri="{BB962C8B-B14F-4D97-AF65-F5344CB8AC3E}">
        <p14:creationId xmlns:p14="http://schemas.microsoft.com/office/powerpoint/2010/main" val="2986767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ea typeface="Calibri"/>
                <a:cs typeface="Calibri"/>
              </a:rPr>
              <a:t>Emphasize that Art 17 reporting on adaptation is part of the NECPR</a:t>
            </a:r>
          </a:p>
        </p:txBody>
      </p:sp>
      <p:sp>
        <p:nvSpPr>
          <p:cNvPr id="4" name="Slide Number Placeholder 3"/>
          <p:cNvSpPr>
            <a:spLocks noGrp="1"/>
          </p:cNvSpPr>
          <p:nvPr>
            <p:ph type="sldNum" sz="quarter" idx="5"/>
          </p:nvPr>
        </p:nvSpPr>
        <p:spPr/>
        <p:txBody>
          <a:bodyPr/>
          <a:lstStyle/>
          <a:p>
            <a:fld id="{A6B3EBFC-DABD-4596-9417-BF287497F504}" type="slidenum">
              <a:rPr lang="en-DK" smtClean="0"/>
              <a:t>6</a:t>
            </a:fld>
            <a:endParaRPr lang="en-DK"/>
          </a:p>
        </p:txBody>
      </p:sp>
    </p:spTree>
    <p:extLst>
      <p:ext uri="{BB962C8B-B14F-4D97-AF65-F5344CB8AC3E}">
        <p14:creationId xmlns:p14="http://schemas.microsoft.com/office/powerpoint/2010/main" val="2610658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ea typeface="Calibri"/>
                <a:cs typeface="Calibri"/>
              </a:rPr>
              <a:t>Emphasize key differences between the two dataflows</a:t>
            </a:r>
            <a:endParaRPr lang="en-US" dirty="0"/>
          </a:p>
          <a:p>
            <a:endParaRPr lang="en-DK"/>
          </a:p>
          <a:p>
            <a:r>
              <a:rPr lang="en-DK" dirty="0">
                <a:ea typeface="Calibri"/>
                <a:cs typeface="Calibri"/>
              </a:rPr>
              <a:t>Art 19 – 6 building blocks</a:t>
            </a:r>
          </a:p>
          <a:p>
            <a:endParaRPr lang="en-DK" dirty="0">
              <a:ea typeface="Calibri"/>
              <a:cs typeface="Calibri"/>
            </a:endParaRPr>
          </a:p>
          <a:p>
            <a:r>
              <a:rPr lang="en-DK" dirty="0">
                <a:ea typeface="Calibri"/>
                <a:cs typeface="Calibri"/>
              </a:rPr>
              <a:t>Art 17 – 2 tables: 4 mandatory questions on table 2 on the </a:t>
            </a:r>
            <a:r>
              <a:rPr lang="en-DK" err="1">
                <a:ea typeface="Calibri"/>
                <a:cs typeface="Calibri"/>
              </a:rPr>
              <a:t>decarbonisation</a:t>
            </a:r>
            <a:r>
              <a:rPr lang="en-DK">
                <a:ea typeface="Calibri"/>
                <a:cs typeface="Calibri"/>
              </a:rPr>
              <a:t> dimension, including voluntary fields and opportunity to report on all dimensions of the Energy Union</a:t>
            </a:r>
            <a:endParaRPr lang="en-DK"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DK" smtClean="0"/>
              <a:t>7</a:t>
            </a:fld>
            <a:endParaRPr lang="en-DK"/>
          </a:p>
        </p:txBody>
      </p:sp>
    </p:spTree>
    <p:extLst>
      <p:ext uri="{BB962C8B-B14F-4D97-AF65-F5344CB8AC3E}">
        <p14:creationId xmlns:p14="http://schemas.microsoft.com/office/powerpoint/2010/main" val="3458698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a:ea typeface="Calibri"/>
                <a:cs typeface="Calibri"/>
              </a:rPr>
              <a:t>Deadline for both dataflows – March 15: beware that this is the same deadline for many other dataflows and the system will be </a:t>
            </a:r>
            <a:r>
              <a:rPr lang="en-US" b="1" dirty="0">
                <a:ea typeface="Calibri"/>
                <a:cs typeface="Calibri"/>
              </a:rPr>
              <a:t>overloaded</a:t>
            </a:r>
            <a:r>
              <a:rPr lang="en-US" dirty="0">
                <a:ea typeface="Calibri"/>
                <a:cs typeface="Calibri"/>
              </a:rPr>
              <a:t>. Validations and submissions will take longer as you enter a queue when you press the button.</a:t>
            </a:r>
          </a:p>
          <a:p>
            <a:pPr>
              <a:defRPr/>
            </a:pPr>
            <a:endParaRPr lang="en-US" dirty="0">
              <a:ea typeface="Calibri"/>
              <a:cs typeface="Calibri"/>
            </a:endParaRPr>
          </a:p>
          <a:p>
            <a:pPr>
              <a:defRPr/>
            </a:pPr>
            <a:r>
              <a:rPr lang="en-US" dirty="0">
                <a:ea typeface="Calibri"/>
                <a:cs typeface="Calibri"/>
              </a:rPr>
              <a:t>The EEA conducts data analysis and prepares inputs for the </a:t>
            </a:r>
            <a:r>
              <a:rPr lang="en-US" dirty="0" err="1">
                <a:ea typeface="Calibri"/>
                <a:cs typeface="Calibri"/>
              </a:rPr>
              <a:t>EnCS</a:t>
            </a:r>
            <a:r>
              <a:rPr lang="en-US" dirty="0">
                <a:ea typeface="Calibri"/>
                <a:cs typeface="Calibri"/>
              </a:rPr>
              <a:t> and CPs. Focus on strengthening quality of reporting.</a:t>
            </a:r>
          </a:p>
        </p:txBody>
      </p:sp>
      <p:sp>
        <p:nvSpPr>
          <p:cNvPr id="4" name="Slide Number Placeholder 3"/>
          <p:cNvSpPr>
            <a:spLocks noGrp="1"/>
          </p:cNvSpPr>
          <p:nvPr>
            <p:ph type="sldNum" sz="quarter" idx="5"/>
          </p:nvPr>
        </p:nvSpPr>
        <p:spPr/>
        <p:txBody>
          <a:bodyPr/>
          <a:lstStyle/>
          <a:p>
            <a:fld id="{A6B3EBFC-DABD-4596-9417-BF287497F504}" type="slidenum">
              <a:rPr lang="en-DK" smtClean="0"/>
              <a:t>8</a:t>
            </a:fld>
            <a:endParaRPr lang="en-DK"/>
          </a:p>
        </p:txBody>
      </p:sp>
    </p:spTree>
    <p:extLst>
      <p:ext uri="{BB962C8B-B14F-4D97-AF65-F5344CB8AC3E}">
        <p14:creationId xmlns:p14="http://schemas.microsoft.com/office/powerpoint/2010/main" val="1570664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10</a:t>
            </a:fld>
            <a:endParaRPr lang="en-US"/>
          </a:p>
        </p:txBody>
      </p:sp>
    </p:spTree>
    <p:extLst>
      <p:ext uri="{BB962C8B-B14F-4D97-AF65-F5344CB8AC3E}">
        <p14:creationId xmlns:p14="http://schemas.microsoft.com/office/powerpoint/2010/main" val="664371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11</a:t>
            </a:fld>
            <a:endParaRPr lang="en-US"/>
          </a:p>
        </p:txBody>
      </p:sp>
    </p:spTree>
    <p:extLst>
      <p:ext uri="{BB962C8B-B14F-4D97-AF65-F5344CB8AC3E}">
        <p14:creationId xmlns:p14="http://schemas.microsoft.com/office/powerpoint/2010/main" val="3713335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5577AED3-1421-47B0-AABB-E2BF34B7856F}" type="slidenum">
              <a:t>12</a:t>
            </a:fld>
            <a:endParaRPr lang="en-US"/>
          </a:p>
        </p:txBody>
      </p:sp>
    </p:spTree>
    <p:extLst>
      <p:ext uri="{BB962C8B-B14F-4D97-AF65-F5344CB8AC3E}">
        <p14:creationId xmlns:p14="http://schemas.microsoft.com/office/powerpoint/2010/main" val="10651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13</a:t>
            </a:fld>
            <a:endParaRPr lang="en-US"/>
          </a:p>
        </p:txBody>
      </p:sp>
    </p:spTree>
    <p:extLst>
      <p:ext uri="{BB962C8B-B14F-4D97-AF65-F5344CB8AC3E}">
        <p14:creationId xmlns:p14="http://schemas.microsoft.com/office/powerpoint/2010/main" val="936893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14</a:t>
            </a:fld>
            <a:endParaRPr lang="en-US"/>
          </a:p>
        </p:txBody>
      </p:sp>
    </p:spTree>
    <p:extLst>
      <p:ext uri="{BB962C8B-B14F-4D97-AF65-F5344CB8AC3E}">
        <p14:creationId xmlns:p14="http://schemas.microsoft.com/office/powerpoint/2010/main" val="1242317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15</a:t>
            </a:fld>
            <a:endParaRPr lang="en-US"/>
          </a:p>
        </p:txBody>
      </p:sp>
    </p:spTree>
    <p:extLst>
      <p:ext uri="{BB962C8B-B14F-4D97-AF65-F5344CB8AC3E}">
        <p14:creationId xmlns:p14="http://schemas.microsoft.com/office/powerpoint/2010/main" val="15163454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16</a:t>
            </a:fld>
            <a:endParaRPr lang="en-US"/>
          </a:p>
        </p:txBody>
      </p:sp>
    </p:spTree>
    <p:extLst>
      <p:ext uri="{BB962C8B-B14F-4D97-AF65-F5344CB8AC3E}">
        <p14:creationId xmlns:p14="http://schemas.microsoft.com/office/powerpoint/2010/main" val="1733595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17</a:t>
            </a:fld>
            <a:endParaRPr lang="en-US"/>
          </a:p>
        </p:txBody>
      </p:sp>
    </p:spTree>
    <p:extLst>
      <p:ext uri="{BB962C8B-B14F-4D97-AF65-F5344CB8AC3E}">
        <p14:creationId xmlns:p14="http://schemas.microsoft.com/office/powerpoint/2010/main" val="8092562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19</a:t>
            </a:fld>
            <a:endParaRPr lang="en-US"/>
          </a:p>
        </p:txBody>
      </p:sp>
    </p:spTree>
    <p:extLst>
      <p:ext uri="{BB962C8B-B14F-4D97-AF65-F5344CB8AC3E}">
        <p14:creationId xmlns:p14="http://schemas.microsoft.com/office/powerpoint/2010/main" val="535220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20</a:t>
            </a:fld>
            <a:endParaRPr lang="en-US"/>
          </a:p>
        </p:txBody>
      </p:sp>
    </p:spTree>
    <p:extLst>
      <p:ext uri="{BB962C8B-B14F-4D97-AF65-F5344CB8AC3E}">
        <p14:creationId xmlns:p14="http://schemas.microsoft.com/office/powerpoint/2010/main" val="4269447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Blocker – serious issues, the data cannot be submitted</a:t>
            </a:r>
          </a:p>
          <a:p>
            <a:r>
              <a:rPr lang="en-US" dirty="0"/>
              <a:t>Error – the data may be released but some explanation is required. Please note, errors should be avoided. You should submit a dataset with errors only under exceptional circumstances</a:t>
            </a:r>
            <a:endParaRPr lang="en-US" dirty="0">
              <a:ea typeface="Calibri"/>
              <a:cs typeface="Calibri"/>
            </a:endParaRPr>
          </a:p>
          <a:p>
            <a:r>
              <a:rPr lang="en-US" dirty="0"/>
              <a:t>Warning – less serious issues, does not prevent the data to be submitted</a:t>
            </a:r>
            <a:endParaRPr lang="en-US" dirty="0">
              <a:ea typeface="Calibri"/>
              <a:cs typeface="Calibri"/>
            </a:endParaRPr>
          </a:p>
          <a:p>
            <a:r>
              <a:rPr lang="en-US" dirty="0"/>
              <a:t>Information – minor issues or simple notifications</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21</a:t>
            </a:fld>
            <a:endParaRPr lang="en-US"/>
          </a:p>
        </p:txBody>
      </p:sp>
    </p:spTree>
    <p:extLst>
      <p:ext uri="{BB962C8B-B14F-4D97-AF65-F5344CB8AC3E}">
        <p14:creationId xmlns:p14="http://schemas.microsoft.com/office/powerpoint/2010/main" val="39363768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22</a:t>
            </a:fld>
            <a:endParaRPr lang="en-US"/>
          </a:p>
        </p:txBody>
      </p:sp>
    </p:spTree>
    <p:extLst>
      <p:ext uri="{BB962C8B-B14F-4D97-AF65-F5344CB8AC3E}">
        <p14:creationId xmlns:p14="http://schemas.microsoft.com/office/powerpoint/2010/main" val="22601490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23</a:t>
            </a:fld>
            <a:endParaRPr lang="en-US"/>
          </a:p>
        </p:txBody>
      </p:sp>
    </p:spTree>
    <p:extLst>
      <p:ext uri="{BB962C8B-B14F-4D97-AF65-F5344CB8AC3E}">
        <p14:creationId xmlns:p14="http://schemas.microsoft.com/office/powerpoint/2010/main" val="34955334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a:p>
            <a:endParaRPr lang="en-DK"/>
          </a:p>
        </p:txBody>
      </p:sp>
      <p:sp>
        <p:nvSpPr>
          <p:cNvPr id="4" name="Slide Number Placeholder 3"/>
          <p:cNvSpPr>
            <a:spLocks noGrp="1"/>
          </p:cNvSpPr>
          <p:nvPr>
            <p:ph type="sldNum" sz="quarter" idx="5"/>
          </p:nvPr>
        </p:nvSpPr>
        <p:spPr/>
        <p:txBody>
          <a:bodyPr/>
          <a:lstStyle/>
          <a:p>
            <a:fld id="{A6B3EBFC-DABD-4596-9417-BF287497F504}" type="slidenum">
              <a:rPr lang="en-DK" smtClean="0"/>
              <a:t>24</a:t>
            </a:fld>
            <a:endParaRPr lang="en-DK"/>
          </a:p>
        </p:txBody>
      </p:sp>
    </p:spTree>
    <p:extLst>
      <p:ext uri="{BB962C8B-B14F-4D97-AF65-F5344CB8AC3E}">
        <p14:creationId xmlns:p14="http://schemas.microsoft.com/office/powerpoint/2010/main" val="13933519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27</a:t>
            </a:fld>
            <a:endParaRPr lang="en-US"/>
          </a:p>
        </p:txBody>
      </p:sp>
    </p:spTree>
    <p:extLst>
      <p:ext uri="{BB962C8B-B14F-4D97-AF65-F5344CB8AC3E}">
        <p14:creationId xmlns:p14="http://schemas.microsoft.com/office/powerpoint/2010/main" val="2945424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28</a:t>
            </a:fld>
            <a:endParaRPr lang="en-US"/>
          </a:p>
        </p:txBody>
      </p:sp>
    </p:spTree>
    <p:extLst>
      <p:ext uri="{BB962C8B-B14F-4D97-AF65-F5344CB8AC3E}">
        <p14:creationId xmlns:p14="http://schemas.microsoft.com/office/powerpoint/2010/main" val="30683585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29</a:t>
            </a:fld>
            <a:endParaRPr lang="en-US"/>
          </a:p>
        </p:txBody>
      </p:sp>
    </p:spTree>
    <p:extLst>
      <p:ext uri="{BB962C8B-B14F-4D97-AF65-F5344CB8AC3E}">
        <p14:creationId xmlns:p14="http://schemas.microsoft.com/office/powerpoint/2010/main" val="14685505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30</a:t>
            </a:fld>
            <a:endParaRPr lang="en-US"/>
          </a:p>
        </p:txBody>
      </p:sp>
    </p:spTree>
    <p:extLst>
      <p:ext uri="{BB962C8B-B14F-4D97-AF65-F5344CB8AC3E}">
        <p14:creationId xmlns:p14="http://schemas.microsoft.com/office/powerpoint/2010/main" val="35645362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31</a:t>
            </a:fld>
            <a:endParaRPr lang="en-US"/>
          </a:p>
        </p:txBody>
      </p:sp>
    </p:spTree>
    <p:extLst>
      <p:ext uri="{BB962C8B-B14F-4D97-AF65-F5344CB8AC3E}">
        <p14:creationId xmlns:p14="http://schemas.microsoft.com/office/powerpoint/2010/main" val="34927581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32</a:t>
            </a:fld>
            <a:endParaRPr lang="en-US"/>
          </a:p>
        </p:txBody>
      </p:sp>
    </p:spTree>
    <p:extLst>
      <p:ext uri="{BB962C8B-B14F-4D97-AF65-F5344CB8AC3E}">
        <p14:creationId xmlns:p14="http://schemas.microsoft.com/office/powerpoint/2010/main" val="14844526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33</a:t>
            </a:fld>
            <a:endParaRPr lang="en-US"/>
          </a:p>
        </p:txBody>
      </p:sp>
    </p:spTree>
    <p:extLst>
      <p:ext uri="{BB962C8B-B14F-4D97-AF65-F5344CB8AC3E}">
        <p14:creationId xmlns:p14="http://schemas.microsoft.com/office/powerpoint/2010/main" val="3650825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DK" smtClean="0"/>
              <a:t>34</a:t>
            </a:fld>
            <a:endParaRPr lang="en-DK"/>
          </a:p>
        </p:txBody>
      </p:sp>
    </p:spTree>
    <p:extLst>
      <p:ext uri="{BB962C8B-B14F-4D97-AF65-F5344CB8AC3E}">
        <p14:creationId xmlns:p14="http://schemas.microsoft.com/office/powerpoint/2010/main" val="2025254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ea typeface="Calibri"/>
                <a:cs typeface="Calibri"/>
              </a:rPr>
              <a:t>Touching on each step of the adaptation policy cycle</a:t>
            </a:r>
          </a:p>
          <a:p>
            <a:endParaRPr lang="en-GB"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DK" smtClean="0"/>
              <a:t>35</a:t>
            </a:fld>
            <a:endParaRPr lang="en-DK"/>
          </a:p>
        </p:txBody>
      </p:sp>
    </p:spTree>
    <p:extLst>
      <p:ext uri="{BB962C8B-B14F-4D97-AF65-F5344CB8AC3E}">
        <p14:creationId xmlns:p14="http://schemas.microsoft.com/office/powerpoint/2010/main" val="26771418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Policies developed or under development</a:t>
            </a:r>
          </a:p>
        </p:txBody>
      </p:sp>
      <p:sp>
        <p:nvSpPr>
          <p:cNvPr id="4" name="Slide Number Placeholder 3"/>
          <p:cNvSpPr>
            <a:spLocks noGrp="1"/>
          </p:cNvSpPr>
          <p:nvPr>
            <p:ph type="sldNum" sz="quarter" idx="5"/>
          </p:nvPr>
        </p:nvSpPr>
        <p:spPr/>
        <p:txBody>
          <a:bodyPr/>
          <a:lstStyle/>
          <a:p>
            <a:fld id="{A6B3EBFC-DABD-4596-9417-BF287497F504}" type="slidenum">
              <a:rPr lang="en-US"/>
              <a:t>36</a:t>
            </a:fld>
            <a:endParaRPr lang="en-US"/>
          </a:p>
        </p:txBody>
      </p:sp>
    </p:spTree>
    <p:extLst>
      <p:ext uri="{BB962C8B-B14F-4D97-AF65-F5344CB8AC3E}">
        <p14:creationId xmlns:p14="http://schemas.microsoft.com/office/powerpoint/2010/main" val="6620797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Voluntary information but valuable since it provides an overview of priorities, gaps and challenges related to adaptation measures or actions. Prioritize reporting on specific actions that you want to highlight.</a:t>
            </a:r>
          </a:p>
          <a:p>
            <a:endParaRPr lang="en-US" dirty="0">
              <a:ea typeface="Calibri"/>
              <a:cs typeface="Calibri"/>
            </a:endParaRPr>
          </a:p>
          <a:p>
            <a:r>
              <a:rPr lang="en-US" dirty="0">
                <a:ea typeface="Calibri"/>
                <a:cs typeface="Calibri"/>
              </a:rPr>
              <a:t>Link to documents even if in national languages</a:t>
            </a:r>
          </a:p>
          <a:p>
            <a:endParaRPr lang="en-US" dirty="0">
              <a:ea typeface="Calibri"/>
              <a:cs typeface="Calibri"/>
            </a:endParaRPr>
          </a:p>
          <a:p>
            <a:r>
              <a:rPr lang="en-US" dirty="0">
                <a:ea typeface="Calibri"/>
                <a:cs typeface="Calibri"/>
              </a:rPr>
              <a:t>Provide synthesized information</a:t>
            </a:r>
          </a:p>
        </p:txBody>
      </p:sp>
      <p:sp>
        <p:nvSpPr>
          <p:cNvPr id="4" name="Slide Number Placeholder 3"/>
          <p:cNvSpPr>
            <a:spLocks noGrp="1"/>
          </p:cNvSpPr>
          <p:nvPr>
            <p:ph type="sldNum" sz="quarter" idx="5"/>
          </p:nvPr>
        </p:nvSpPr>
        <p:spPr/>
        <p:txBody>
          <a:bodyPr/>
          <a:lstStyle/>
          <a:p>
            <a:fld id="{A6B3EBFC-DABD-4596-9417-BF287497F504}" type="slidenum">
              <a:rPr lang="en-US"/>
              <a:t>37</a:t>
            </a:fld>
            <a:endParaRPr lang="en-US"/>
          </a:p>
        </p:txBody>
      </p:sp>
    </p:spTree>
    <p:extLst>
      <p:ext uri="{BB962C8B-B14F-4D97-AF65-F5344CB8AC3E}">
        <p14:creationId xmlns:p14="http://schemas.microsoft.com/office/powerpoint/2010/main" val="1656894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38</a:t>
            </a:fld>
            <a:endParaRPr lang="en-US"/>
          </a:p>
        </p:txBody>
      </p:sp>
    </p:spTree>
    <p:extLst>
      <p:ext uri="{BB962C8B-B14F-4D97-AF65-F5344CB8AC3E}">
        <p14:creationId xmlns:p14="http://schemas.microsoft.com/office/powerpoint/2010/main" val="17886468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39</a:t>
            </a:fld>
            <a:endParaRPr lang="en-US"/>
          </a:p>
        </p:txBody>
      </p:sp>
    </p:spTree>
    <p:extLst>
      <p:ext uri="{BB962C8B-B14F-4D97-AF65-F5344CB8AC3E}">
        <p14:creationId xmlns:p14="http://schemas.microsoft.com/office/powerpoint/2010/main" val="18059165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16429-0F96-D7E7-5E67-C49C2D3D9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AE31D-EB9B-7F07-FE5B-96E55CF64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7299C-158B-7DAA-7A42-E2B1D6BF2CC5}"/>
              </a:ext>
            </a:extLst>
          </p:cNvPr>
          <p:cNvSpPr>
            <a:spLocks noGrp="1"/>
          </p:cNvSpPr>
          <p:nvPr>
            <p:ph type="body" idx="1"/>
          </p:nvPr>
        </p:nvSpPr>
        <p:spPr/>
        <p:txBody>
          <a:bodyPr/>
          <a:lstStyle/>
          <a:p>
            <a:r>
              <a:rPr lang="en-GB" dirty="0">
                <a:ea typeface="Calibri"/>
                <a:cs typeface="Calibri"/>
              </a:rPr>
              <a:t>Any kind of quantitative or qualitative metrics to track progress</a:t>
            </a:r>
          </a:p>
        </p:txBody>
      </p:sp>
      <p:sp>
        <p:nvSpPr>
          <p:cNvPr id="4" name="Slide Number Placeholder 3">
            <a:extLst>
              <a:ext uri="{FF2B5EF4-FFF2-40B4-BE49-F238E27FC236}">
                <a16:creationId xmlns:a16="http://schemas.microsoft.com/office/drawing/2014/main" id="{950D14DC-E44E-B64F-0B89-BAA9479AD340}"/>
              </a:ext>
            </a:extLst>
          </p:cNvPr>
          <p:cNvSpPr>
            <a:spLocks noGrp="1"/>
          </p:cNvSpPr>
          <p:nvPr>
            <p:ph type="sldNum" sz="quarter" idx="5"/>
          </p:nvPr>
        </p:nvSpPr>
        <p:spPr/>
        <p:txBody>
          <a:bodyPr/>
          <a:lstStyle/>
          <a:p>
            <a:fld id="{A6B3EBFC-DABD-4596-9417-BF287497F504}" type="slidenum">
              <a:rPr lang="en-DK" smtClean="0"/>
              <a:t>40</a:t>
            </a:fld>
            <a:endParaRPr lang="en-DK"/>
          </a:p>
        </p:txBody>
      </p:sp>
    </p:spTree>
    <p:extLst>
      <p:ext uri="{BB962C8B-B14F-4D97-AF65-F5344CB8AC3E}">
        <p14:creationId xmlns:p14="http://schemas.microsoft.com/office/powerpoint/2010/main" val="27847684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41</a:t>
            </a:fld>
            <a:endParaRPr lang="en-US"/>
          </a:p>
        </p:txBody>
      </p:sp>
    </p:spTree>
    <p:extLst>
      <p:ext uri="{BB962C8B-B14F-4D97-AF65-F5344CB8AC3E}">
        <p14:creationId xmlns:p14="http://schemas.microsoft.com/office/powerpoint/2010/main" val="22223265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942B7-897D-240B-7224-7902E218E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372A57-E807-DE83-F638-C2966FFE48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102EAE-0881-2BD0-5834-E2046C31A759}"/>
              </a:ext>
            </a:extLst>
          </p:cNvPr>
          <p:cNvSpPr>
            <a:spLocks noGrp="1"/>
          </p:cNvSpPr>
          <p:nvPr>
            <p:ph type="body" idx="1"/>
          </p:nvPr>
        </p:nvSpPr>
        <p:spPr/>
        <p:txBody>
          <a:bodyPr/>
          <a:lstStyle/>
          <a:p>
            <a:r>
              <a:rPr lang="en-US" dirty="0">
                <a:ea typeface="Calibri"/>
                <a:cs typeface="Calibri"/>
              </a:rPr>
              <a:t>Minimum of three good practices required</a:t>
            </a:r>
          </a:p>
        </p:txBody>
      </p:sp>
      <p:sp>
        <p:nvSpPr>
          <p:cNvPr id="4" name="Slide Number Placeholder 3">
            <a:extLst>
              <a:ext uri="{FF2B5EF4-FFF2-40B4-BE49-F238E27FC236}">
                <a16:creationId xmlns:a16="http://schemas.microsoft.com/office/drawing/2014/main" id="{E5C6E120-C669-0862-12B8-886C6A7C485D}"/>
              </a:ext>
            </a:extLst>
          </p:cNvPr>
          <p:cNvSpPr>
            <a:spLocks noGrp="1"/>
          </p:cNvSpPr>
          <p:nvPr>
            <p:ph type="sldNum" sz="quarter" idx="5"/>
          </p:nvPr>
        </p:nvSpPr>
        <p:spPr/>
        <p:txBody>
          <a:bodyPr/>
          <a:lstStyle/>
          <a:p>
            <a:fld id="{A6B3EBFC-DABD-4596-9417-BF287497F504}" type="slidenum">
              <a:rPr lang="en-US"/>
              <a:t>42</a:t>
            </a:fld>
            <a:endParaRPr lang="en-US"/>
          </a:p>
        </p:txBody>
      </p:sp>
    </p:spTree>
    <p:extLst>
      <p:ext uri="{BB962C8B-B14F-4D97-AF65-F5344CB8AC3E}">
        <p14:creationId xmlns:p14="http://schemas.microsoft.com/office/powerpoint/2010/main" val="29687649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A1099-59B3-4774-305E-30AAF3C91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29B45-4EEB-7347-5F4F-B29D8EE03D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1C95D6-21C7-C998-E556-59F05CD7F0D3}"/>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9C89862B-71C6-4CCD-5D2A-24B2D09D7C5B}"/>
              </a:ext>
            </a:extLst>
          </p:cNvPr>
          <p:cNvSpPr>
            <a:spLocks noGrp="1"/>
          </p:cNvSpPr>
          <p:nvPr>
            <p:ph type="sldNum" sz="quarter" idx="5"/>
          </p:nvPr>
        </p:nvSpPr>
        <p:spPr/>
        <p:txBody>
          <a:bodyPr/>
          <a:lstStyle/>
          <a:p>
            <a:fld id="{A6B3EBFC-DABD-4596-9417-BF287497F504}" type="slidenum">
              <a:rPr lang="en-US"/>
              <a:t>43</a:t>
            </a:fld>
            <a:endParaRPr lang="en-US"/>
          </a:p>
        </p:txBody>
      </p:sp>
    </p:spTree>
    <p:extLst>
      <p:ext uri="{BB962C8B-B14F-4D97-AF65-F5344CB8AC3E}">
        <p14:creationId xmlns:p14="http://schemas.microsoft.com/office/powerpoint/2010/main" val="41856276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DFED9-D9DF-9DFC-937A-37146A875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36604-E1D2-B6B9-200E-B28C0FD7B5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6E4C6A-ACAD-382A-5F71-65562CEE01A5}"/>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9804C10E-8EA9-9F95-6B46-6BCE326912A9}"/>
              </a:ext>
            </a:extLst>
          </p:cNvPr>
          <p:cNvSpPr>
            <a:spLocks noGrp="1"/>
          </p:cNvSpPr>
          <p:nvPr>
            <p:ph type="sldNum" sz="quarter" idx="5"/>
          </p:nvPr>
        </p:nvSpPr>
        <p:spPr/>
        <p:txBody>
          <a:bodyPr/>
          <a:lstStyle/>
          <a:p>
            <a:fld id="{A6B3EBFC-DABD-4596-9417-BF287497F504}" type="slidenum">
              <a:rPr lang="en-US"/>
              <a:t>44</a:t>
            </a:fld>
            <a:endParaRPr lang="en-US"/>
          </a:p>
        </p:txBody>
      </p:sp>
    </p:spTree>
    <p:extLst>
      <p:ext uri="{BB962C8B-B14F-4D97-AF65-F5344CB8AC3E}">
        <p14:creationId xmlns:p14="http://schemas.microsoft.com/office/powerpoint/2010/main" val="15896048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597D9-D637-84E2-B6F4-9EAACD1601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2CFF2B-3434-560E-3F52-B070557F55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DE984-8CB1-5950-677A-D5D59D9C299D}"/>
              </a:ext>
            </a:extLst>
          </p:cNvPr>
          <p:cNvSpPr>
            <a:spLocks noGrp="1"/>
          </p:cNvSpPr>
          <p:nvPr>
            <p:ph type="body" idx="1"/>
          </p:nvPr>
        </p:nvSpPr>
        <p:spPr/>
        <p:txBody>
          <a:bodyPr/>
          <a:lstStyle/>
          <a:p>
            <a:r>
              <a:rPr lang="en-US" dirty="0">
                <a:ea typeface="Calibri"/>
                <a:cs typeface="Calibri"/>
              </a:rPr>
              <a:t>Both for national and subnational uploads</a:t>
            </a:r>
          </a:p>
        </p:txBody>
      </p:sp>
      <p:sp>
        <p:nvSpPr>
          <p:cNvPr id="4" name="Slide Number Placeholder 3">
            <a:extLst>
              <a:ext uri="{FF2B5EF4-FFF2-40B4-BE49-F238E27FC236}">
                <a16:creationId xmlns:a16="http://schemas.microsoft.com/office/drawing/2014/main" id="{770549B6-D3E4-1DF7-F756-09F1AAA0523D}"/>
              </a:ext>
            </a:extLst>
          </p:cNvPr>
          <p:cNvSpPr>
            <a:spLocks noGrp="1"/>
          </p:cNvSpPr>
          <p:nvPr>
            <p:ph type="sldNum" sz="quarter" idx="5"/>
          </p:nvPr>
        </p:nvSpPr>
        <p:spPr/>
        <p:txBody>
          <a:bodyPr/>
          <a:lstStyle/>
          <a:p>
            <a:fld id="{A6B3EBFC-DABD-4596-9417-BF287497F504}" type="slidenum">
              <a:rPr lang="en-US"/>
              <a:t>45</a:t>
            </a:fld>
            <a:endParaRPr lang="en-US"/>
          </a:p>
        </p:txBody>
      </p:sp>
    </p:spTree>
    <p:extLst>
      <p:ext uri="{BB962C8B-B14F-4D97-AF65-F5344CB8AC3E}">
        <p14:creationId xmlns:p14="http://schemas.microsoft.com/office/powerpoint/2010/main" val="3062966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47</a:t>
            </a:fld>
            <a:endParaRPr lang="en-US"/>
          </a:p>
        </p:txBody>
      </p:sp>
    </p:spTree>
    <p:extLst>
      <p:ext uri="{BB962C8B-B14F-4D97-AF65-F5344CB8AC3E}">
        <p14:creationId xmlns:p14="http://schemas.microsoft.com/office/powerpoint/2010/main" val="42934931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BA612-BDAF-161B-F63A-72D5E21453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E1A63-F8B5-0F8F-E58B-B9B04375D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4871EF-2644-925A-3ACA-905A0549F66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DK"/>
          </a:p>
        </p:txBody>
      </p:sp>
      <p:sp>
        <p:nvSpPr>
          <p:cNvPr id="4" name="Slide Number Placeholder 3">
            <a:extLst>
              <a:ext uri="{FF2B5EF4-FFF2-40B4-BE49-F238E27FC236}">
                <a16:creationId xmlns:a16="http://schemas.microsoft.com/office/drawing/2014/main" id="{13F6221A-0692-C8C2-2C12-26FB4150ECFF}"/>
              </a:ext>
            </a:extLst>
          </p:cNvPr>
          <p:cNvSpPr>
            <a:spLocks noGrp="1"/>
          </p:cNvSpPr>
          <p:nvPr>
            <p:ph type="sldNum" sz="quarter" idx="5"/>
          </p:nvPr>
        </p:nvSpPr>
        <p:spPr/>
        <p:txBody>
          <a:bodyPr/>
          <a:lstStyle/>
          <a:p>
            <a:fld id="{A6B3EBFC-DABD-4596-9417-BF287497F504}" type="slidenum">
              <a:rPr lang="en-DK" smtClean="0"/>
              <a:t>48</a:t>
            </a:fld>
            <a:endParaRPr lang="en-DK"/>
          </a:p>
        </p:txBody>
      </p:sp>
    </p:spTree>
    <p:extLst>
      <p:ext uri="{BB962C8B-B14F-4D97-AF65-F5344CB8AC3E}">
        <p14:creationId xmlns:p14="http://schemas.microsoft.com/office/powerpoint/2010/main" val="35005921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a minimum, Contracting Parties need to report on adaptation with regard to meeting the objectives and targets of the Energy Union and the Contracting Parties’ climate mitigation commitments under the Paris Agreement by stating:</a:t>
            </a:r>
            <a:endParaRPr lang="en-US" dirty="0"/>
          </a:p>
          <a:p>
            <a:r>
              <a:rPr lang="en-US"/>
              <a:t>1. Their adaptation goals in relation to ensuring the climate resilience of their actions to </a:t>
            </a:r>
            <a:r>
              <a:rPr lang="en-US" err="1"/>
              <a:t>decarbonise</a:t>
            </a:r>
            <a:r>
              <a:rPr lang="en-US"/>
              <a:t> (via decreasing GHG emissions and increasing removals), and, where applicable, to </a:t>
            </a:r>
            <a:r>
              <a:rPr lang="en-US" err="1"/>
              <a:t>decarbonise</a:t>
            </a:r>
            <a:r>
              <a:rPr lang="en-US"/>
              <a:t> through the use of renewable energy, increase energy efficiency, increase energy security, improve the internal energy market, and support research, innovation, and competitiveness.</a:t>
            </a:r>
            <a:endParaRPr lang="en-US" dirty="0"/>
          </a:p>
          <a:p>
            <a:r>
              <a:rPr lang="en-US"/>
              <a:t>2. Why each adaptation goal is relevant in that regard, i.e., the climate vulnerabilities and risks that it addresses and how it reduces them.</a:t>
            </a:r>
            <a:endParaRPr lang="en-US" dirty="0"/>
          </a:p>
          <a:p>
            <a:r>
              <a:rPr lang="en-US"/>
              <a:t>3. Progress with the implementation of each goal (i.e., output reporting) and, over the longer term, progress with reducing the climate vulnerabilities and risks (i.e., outcome reporting).</a:t>
            </a:r>
            <a:endParaRPr lang="en-US" dirty="0"/>
          </a:p>
          <a:p>
            <a:r>
              <a:rPr lang="en-US"/>
              <a:t>Such information can be drawn from the NECP or any other national policy documents containing relevant information.</a:t>
            </a:r>
            <a:endParaRPr lang="en-US" dirty="0"/>
          </a:p>
          <a:p>
            <a:endParaRPr lang="en-US" dirty="0"/>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51</a:t>
            </a:fld>
            <a:endParaRPr lang="en-US"/>
          </a:p>
        </p:txBody>
      </p:sp>
    </p:spTree>
    <p:extLst>
      <p:ext uri="{BB962C8B-B14F-4D97-AF65-F5344CB8AC3E}">
        <p14:creationId xmlns:p14="http://schemas.microsoft.com/office/powerpoint/2010/main" val="197672782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0783294-E9FF-4F24-AF23-19B98F36DF0D}" type="slidenum">
              <a:rPr lang="en-DK" smtClean="0"/>
              <a:t>52</a:t>
            </a:fld>
            <a:endParaRPr lang="en-DK"/>
          </a:p>
        </p:txBody>
      </p:sp>
    </p:spTree>
    <p:extLst>
      <p:ext uri="{BB962C8B-B14F-4D97-AF65-F5344CB8AC3E}">
        <p14:creationId xmlns:p14="http://schemas.microsoft.com/office/powerpoint/2010/main" val="16412115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70783294-E9FF-4F24-AF23-19B98F36DF0D}" type="slidenum">
              <a:rPr lang="en-DK" smtClean="0"/>
              <a:t>53</a:t>
            </a:fld>
            <a:endParaRPr lang="en-DK"/>
          </a:p>
        </p:txBody>
      </p:sp>
    </p:spTree>
    <p:extLst>
      <p:ext uri="{BB962C8B-B14F-4D97-AF65-F5344CB8AC3E}">
        <p14:creationId xmlns:p14="http://schemas.microsoft.com/office/powerpoint/2010/main" val="4779100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Adaptation goals set in national energy and climate plans</a:t>
            </a:r>
          </a:p>
          <a:p>
            <a:endParaRPr lang="en-US" dirty="0">
              <a:ea typeface="Calibri"/>
              <a:cs typeface="Calibri"/>
            </a:endParaRPr>
          </a:p>
          <a:p>
            <a:r>
              <a:rPr lang="en-US" dirty="0">
                <a:ea typeface="Calibri"/>
                <a:cs typeface="Calibri"/>
              </a:rPr>
              <a:t>Goal of reporting is to track progress towards these goals</a:t>
            </a:r>
          </a:p>
          <a:p>
            <a:endParaRPr lang="en-US" dirty="0">
              <a:ea typeface="Calibri"/>
              <a:cs typeface="Calibri"/>
            </a:endParaRPr>
          </a:p>
          <a:p>
            <a:r>
              <a:rPr lang="en-US" dirty="0">
                <a:ea typeface="Calibri"/>
                <a:cs typeface="Calibri"/>
              </a:rPr>
              <a:t>Goals in adaptation strategies can be referred to as well on a voluntary basis</a:t>
            </a:r>
          </a:p>
        </p:txBody>
      </p:sp>
      <p:sp>
        <p:nvSpPr>
          <p:cNvPr id="4" name="Slide Number Placeholder 3"/>
          <p:cNvSpPr>
            <a:spLocks noGrp="1"/>
          </p:cNvSpPr>
          <p:nvPr>
            <p:ph type="sldNum" sz="quarter" idx="5"/>
          </p:nvPr>
        </p:nvSpPr>
        <p:spPr/>
        <p:txBody>
          <a:bodyPr/>
          <a:lstStyle/>
          <a:p>
            <a:fld id="{A6B3EBFC-DABD-4596-9417-BF287497F504}" type="slidenum">
              <a:rPr lang="en-US"/>
              <a:t>54</a:t>
            </a:fld>
            <a:endParaRPr lang="en-US"/>
          </a:p>
        </p:txBody>
      </p:sp>
    </p:spTree>
    <p:extLst>
      <p:ext uri="{BB962C8B-B14F-4D97-AF65-F5344CB8AC3E}">
        <p14:creationId xmlns:p14="http://schemas.microsoft.com/office/powerpoint/2010/main" val="39448002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Can refer to other relevant documents as well but document has to be added in this table so that they can be linked to in the other tabs</a:t>
            </a:r>
          </a:p>
        </p:txBody>
      </p:sp>
      <p:sp>
        <p:nvSpPr>
          <p:cNvPr id="4" name="Slide Number Placeholder 3"/>
          <p:cNvSpPr>
            <a:spLocks noGrp="1"/>
          </p:cNvSpPr>
          <p:nvPr>
            <p:ph type="sldNum" sz="quarter" idx="5"/>
          </p:nvPr>
        </p:nvSpPr>
        <p:spPr/>
        <p:txBody>
          <a:bodyPr/>
          <a:lstStyle/>
          <a:p>
            <a:fld id="{A6B3EBFC-DABD-4596-9417-BF287497F504}" type="slidenum">
              <a:rPr lang="en-US"/>
              <a:t>55</a:t>
            </a:fld>
            <a:endParaRPr lang="en-US"/>
          </a:p>
        </p:txBody>
      </p:sp>
    </p:spTree>
    <p:extLst>
      <p:ext uri="{BB962C8B-B14F-4D97-AF65-F5344CB8AC3E}">
        <p14:creationId xmlns:p14="http://schemas.microsoft.com/office/powerpoint/2010/main" val="34438547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56</a:t>
            </a:fld>
            <a:endParaRPr lang="en-US"/>
          </a:p>
        </p:txBody>
      </p:sp>
    </p:spTree>
    <p:extLst>
      <p:ext uri="{BB962C8B-B14F-4D97-AF65-F5344CB8AC3E}">
        <p14:creationId xmlns:p14="http://schemas.microsoft.com/office/powerpoint/2010/main" val="3477882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Reporting on the </a:t>
            </a:r>
            <a:r>
              <a:rPr lang="en-US" dirty="0" err="1">
                <a:ea typeface="Calibri"/>
                <a:cs typeface="Calibri"/>
              </a:rPr>
              <a:t>Decarbonisation</a:t>
            </a:r>
            <a:r>
              <a:rPr lang="en-US" dirty="0">
                <a:ea typeface="Calibri"/>
                <a:cs typeface="Calibri"/>
              </a:rPr>
              <a:t> dimension is mandatory</a:t>
            </a:r>
          </a:p>
          <a:p>
            <a:endParaRPr lang="en-US" dirty="0">
              <a:ea typeface="Calibri"/>
              <a:cs typeface="Calibri"/>
            </a:endParaRPr>
          </a:p>
          <a:p>
            <a:r>
              <a:rPr lang="en-US" dirty="0">
                <a:ea typeface="Calibri"/>
                <a:cs typeface="Calibri"/>
              </a:rPr>
              <a:t>Reporting on the remaining dimensions are mandatory if applicable</a:t>
            </a:r>
          </a:p>
          <a:p>
            <a:endParaRPr lang="en-US" dirty="0">
              <a:ea typeface="Calibri"/>
              <a:cs typeface="Calibri"/>
            </a:endParaRPr>
          </a:p>
          <a:p>
            <a:r>
              <a:rPr lang="en-US" dirty="0">
                <a:ea typeface="Calibri"/>
                <a:cs typeface="Calibri"/>
              </a:rPr>
              <a:t>Information should be reported separately for each dimension</a:t>
            </a:r>
          </a:p>
        </p:txBody>
      </p:sp>
      <p:sp>
        <p:nvSpPr>
          <p:cNvPr id="4" name="Slide Number Placeholder 3"/>
          <p:cNvSpPr>
            <a:spLocks noGrp="1"/>
          </p:cNvSpPr>
          <p:nvPr>
            <p:ph type="sldNum" sz="quarter" idx="5"/>
          </p:nvPr>
        </p:nvSpPr>
        <p:spPr/>
        <p:txBody>
          <a:bodyPr/>
          <a:lstStyle/>
          <a:p>
            <a:fld id="{A6B3EBFC-DABD-4596-9417-BF287497F504}" type="slidenum">
              <a:rPr lang="en-US"/>
              <a:t>57</a:t>
            </a:fld>
            <a:endParaRPr lang="en-US"/>
          </a:p>
        </p:txBody>
      </p:sp>
    </p:spTree>
    <p:extLst>
      <p:ext uri="{BB962C8B-B14F-4D97-AF65-F5344CB8AC3E}">
        <p14:creationId xmlns:p14="http://schemas.microsoft.com/office/powerpoint/2010/main" val="6913551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58</a:t>
            </a:fld>
            <a:endParaRPr lang="en-US"/>
          </a:p>
        </p:txBody>
      </p:sp>
    </p:spTree>
    <p:extLst>
      <p:ext uri="{BB962C8B-B14F-4D97-AF65-F5344CB8AC3E}">
        <p14:creationId xmlns:p14="http://schemas.microsoft.com/office/powerpoint/2010/main" val="18455315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59</a:t>
            </a:fld>
            <a:endParaRPr lang="en-US"/>
          </a:p>
        </p:txBody>
      </p:sp>
    </p:spTree>
    <p:extLst>
      <p:ext uri="{BB962C8B-B14F-4D97-AF65-F5344CB8AC3E}">
        <p14:creationId xmlns:p14="http://schemas.microsoft.com/office/powerpoint/2010/main" val="35516042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60</a:t>
            </a:fld>
            <a:endParaRPr lang="en-US"/>
          </a:p>
        </p:txBody>
      </p:sp>
    </p:spTree>
    <p:extLst>
      <p:ext uri="{BB962C8B-B14F-4D97-AF65-F5344CB8AC3E}">
        <p14:creationId xmlns:p14="http://schemas.microsoft.com/office/powerpoint/2010/main" val="41436618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61</a:t>
            </a:fld>
            <a:endParaRPr lang="en-US"/>
          </a:p>
        </p:txBody>
      </p:sp>
    </p:spTree>
    <p:extLst>
      <p:ext uri="{BB962C8B-B14F-4D97-AF65-F5344CB8AC3E}">
        <p14:creationId xmlns:p14="http://schemas.microsoft.com/office/powerpoint/2010/main" val="31131637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62</a:t>
            </a:fld>
            <a:endParaRPr lang="en-US"/>
          </a:p>
        </p:txBody>
      </p:sp>
    </p:spTree>
    <p:extLst>
      <p:ext uri="{BB962C8B-B14F-4D97-AF65-F5344CB8AC3E}">
        <p14:creationId xmlns:p14="http://schemas.microsoft.com/office/powerpoint/2010/main" val="36725333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63</a:t>
            </a:fld>
            <a:endParaRPr lang="en-US"/>
          </a:p>
        </p:txBody>
      </p:sp>
    </p:spTree>
    <p:extLst>
      <p:ext uri="{BB962C8B-B14F-4D97-AF65-F5344CB8AC3E}">
        <p14:creationId xmlns:p14="http://schemas.microsoft.com/office/powerpoint/2010/main" val="18414162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64</a:t>
            </a:fld>
            <a:endParaRPr lang="en-US"/>
          </a:p>
        </p:txBody>
      </p:sp>
    </p:spTree>
    <p:extLst>
      <p:ext uri="{BB962C8B-B14F-4D97-AF65-F5344CB8AC3E}">
        <p14:creationId xmlns:p14="http://schemas.microsoft.com/office/powerpoint/2010/main" val="5688085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65</a:t>
            </a:fld>
            <a:endParaRPr lang="en-US"/>
          </a:p>
        </p:txBody>
      </p:sp>
    </p:spTree>
    <p:extLst>
      <p:ext uri="{BB962C8B-B14F-4D97-AF65-F5344CB8AC3E}">
        <p14:creationId xmlns:p14="http://schemas.microsoft.com/office/powerpoint/2010/main" val="4707741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66</a:t>
            </a:fld>
            <a:endParaRPr lang="en-US"/>
          </a:p>
        </p:txBody>
      </p:sp>
    </p:spTree>
    <p:extLst>
      <p:ext uri="{BB962C8B-B14F-4D97-AF65-F5344CB8AC3E}">
        <p14:creationId xmlns:p14="http://schemas.microsoft.com/office/powerpoint/2010/main" val="2374808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67</a:t>
            </a:fld>
            <a:endParaRPr lang="en-US"/>
          </a:p>
        </p:txBody>
      </p:sp>
    </p:spTree>
    <p:extLst>
      <p:ext uri="{BB962C8B-B14F-4D97-AF65-F5344CB8AC3E}">
        <p14:creationId xmlns:p14="http://schemas.microsoft.com/office/powerpoint/2010/main" val="2708360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68</a:t>
            </a:fld>
            <a:endParaRPr lang="en-US"/>
          </a:p>
        </p:txBody>
      </p:sp>
    </p:spTree>
    <p:extLst>
      <p:ext uri="{BB962C8B-B14F-4D97-AF65-F5344CB8AC3E}">
        <p14:creationId xmlns:p14="http://schemas.microsoft.com/office/powerpoint/2010/main" val="38737701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69</a:t>
            </a:fld>
            <a:endParaRPr lang="en-US"/>
          </a:p>
        </p:txBody>
      </p:sp>
    </p:spTree>
    <p:extLst>
      <p:ext uri="{BB962C8B-B14F-4D97-AF65-F5344CB8AC3E}">
        <p14:creationId xmlns:p14="http://schemas.microsoft.com/office/powerpoint/2010/main" val="13906621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70</a:t>
            </a:fld>
            <a:endParaRPr lang="en-US"/>
          </a:p>
        </p:txBody>
      </p:sp>
    </p:spTree>
    <p:extLst>
      <p:ext uri="{BB962C8B-B14F-4D97-AF65-F5344CB8AC3E}">
        <p14:creationId xmlns:p14="http://schemas.microsoft.com/office/powerpoint/2010/main" val="328340205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71</a:t>
            </a:fld>
            <a:endParaRPr lang="en-US"/>
          </a:p>
        </p:txBody>
      </p:sp>
    </p:spTree>
    <p:extLst>
      <p:ext uri="{BB962C8B-B14F-4D97-AF65-F5344CB8AC3E}">
        <p14:creationId xmlns:p14="http://schemas.microsoft.com/office/powerpoint/2010/main" val="21702455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US"/>
              <a:t>72</a:t>
            </a:fld>
            <a:endParaRPr lang="en-US"/>
          </a:p>
        </p:txBody>
      </p:sp>
    </p:spTree>
    <p:extLst>
      <p:ext uri="{BB962C8B-B14F-4D97-AF65-F5344CB8AC3E}">
        <p14:creationId xmlns:p14="http://schemas.microsoft.com/office/powerpoint/2010/main" val="5222421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ea typeface="Calibri"/>
              <a:cs typeface="Calibri"/>
            </a:endParaRPr>
          </a:p>
        </p:txBody>
      </p:sp>
      <p:sp>
        <p:nvSpPr>
          <p:cNvPr id="4" name="Slide Number Placeholder 3"/>
          <p:cNvSpPr>
            <a:spLocks noGrp="1"/>
          </p:cNvSpPr>
          <p:nvPr>
            <p:ph type="sldNum" sz="quarter" idx="5"/>
          </p:nvPr>
        </p:nvSpPr>
        <p:spPr/>
        <p:txBody>
          <a:bodyPr/>
          <a:lstStyle/>
          <a:p>
            <a:fld id="{A6B3EBFC-DABD-4596-9417-BF287497F504}" type="slidenum">
              <a:rPr lang="en-DK" smtClean="0"/>
              <a:t>74</a:t>
            </a:fld>
            <a:endParaRPr lang="en-DK"/>
          </a:p>
        </p:txBody>
      </p:sp>
    </p:spTree>
    <p:extLst>
      <p:ext uri="{BB962C8B-B14F-4D97-AF65-F5344CB8AC3E}">
        <p14:creationId xmlns:p14="http://schemas.microsoft.com/office/powerpoint/2010/main" val="115976612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37900-D261-96C5-0AA1-7002C1658E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6E7D6-2829-AEFD-D52A-AA301A4925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A92018-0727-B5EC-29AC-2FAF0AD54583}"/>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A4B20C6F-9A14-07AD-16E5-5B94412CDEE2}"/>
              </a:ext>
            </a:extLst>
          </p:cNvPr>
          <p:cNvSpPr>
            <a:spLocks noGrp="1"/>
          </p:cNvSpPr>
          <p:nvPr>
            <p:ph type="sldNum" sz="quarter" idx="5"/>
          </p:nvPr>
        </p:nvSpPr>
        <p:spPr/>
        <p:txBody>
          <a:bodyPr/>
          <a:lstStyle/>
          <a:p>
            <a:fld id="{A6B3EBFC-DABD-4596-9417-BF287497F504}" type="slidenum">
              <a:rPr lang="en-US"/>
              <a:t>75</a:t>
            </a:fld>
            <a:endParaRPr lang="en-US"/>
          </a:p>
        </p:txBody>
      </p:sp>
    </p:spTree>
    <p:extLst>
      <p:ext uri="{BB962C8B-B14F-4D97-AF65-F5344CB8AC3E}">
        <p14:creationId xmlns:p14="http://schemas.microsoft.com/office/powerpoint/2010/main" val="38595501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7EFEE-00F4-3506-CF32-5DE509C8C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935ED-CC90-CAFB-5E8C-7DA9574752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5E6D37-B0B0-49AB-AD84-2ABC70D2F88D}"/>
              </a:ext>
            </a:extLst>
          </p:cNvPr>
          <p:cNvSpPr>
            <a:spLocks noGrp="1"/>
          </p:cNvSpPr>
          <p:nvPr>
            <p:ph type="body" idx="1"/>
          </p:nvPr>
        </p:nvSpPr>
        <p:spPr/>
        <p:txBody>
          <a:bodyPr/>
          <a:lstStyle/>
          <a:p>
            <a:endParaRPr lang="en-GB" dirty="0">
              <a:ea typeface="Calibri"/>
              <a:cs typeface="Calibri"/>
            </a:endParaRPr>
          </a:p>
        </p:txBody>
      </p:sp>
      <p:sp>
        <p:nvSpPr>
          <p:cNvPr id="4" name="Slide Number Placeholder 3">
            <a:extLst>
              <a:ext uri="{FF2B5EF4-FFF2-40B4-BE49-F238E27FC236}">
                <a16:creationId xmlns:a16="http://schemas.microsoft.com/office/drawing/2014/main" id="{2B2C71CC-1370-470A-C30D-F1352873DBD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783294-E9FF-4F24-AF23-19B98F36DF0D}"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037353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C6D6B-7930-DAE9-370A-7C09C6EFC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DCE70-0594-BC85-9F70-282D0F4B1D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919200-47E9-C33B-E8C4-5D5CD68EC6A2}"/>
              </a:ext>
            </a:extLst>
          </p:cNvPr>
          <p:cNvSpPr>
            <a:spLocks noGrp="1"/>
          </p:cNvSpPr>
          <p:nvPr>
            <p:ph type="body" idx="1"/>
          </p:nvPr>
        </p:nvSpPr>
        <p:spPr/>
        <p:txBody>
          <a:bodyPr/>
          <a:lstStyle/>
          <a:p>
            <a:r>
              <a:rPr lang="en-GB" dirty="0">
                <a:ea typeface="Calibri"/>
                <a:cs typeface="Calibri"/>
              </a:rPr>
              <a:t>Reports are made publicly available, so think about how you would like your data to be displayed publicly when putting together your reports.</a:t>
            </a:r>
          </a:p>
        </p:txBody>
      </p:sp>
      <p:sp>
        <p:nvSpPr>
          <p:cNvPr id="4" name="Slide Number Placeholder 3">
            <a:extLst>
              <a:ext uri="{FF2B5EF4-FFF2-40B4-BE49-F238E27FC236}">
                <a16:creationId xmlns:a16="http://schemas.microsoft.com/office/drawing/2014/main" id="{4BA4C198-D7F4-7275-0181-E9AA59654A5C}"/>
              </a:ext>
            </a:extLst>
          </p:cNvPr>
          <p:cNvSpPr>
            <a:spLocks noGrp="1"/>
          </p:cNvSpPr>
          <p:nvPr>
            <p:ph type="sldNum" sz="quarter" idx="5"/>
          </p:nvPr>
        </p:nvSpPr>
        <p:spPr/>
        <p:txBody>
          <a:bodyPr/>
          <a:lstStyle/>
          <a:p>
            <a:fld id="{A6B3EBFC-DABD-4596-9417-BF287497F504}" type="slidenum">
              <a:rPr lang="en-DK" smtClean="0"/>
              <a:t>77</a:t>
            </a:fld>
            <a:endParaRPr lang="en-DK"/>
          </a:p>
        </p:txBody>
      </p:sp>
    </p:spTree>
    <p:extLst>
      <p:ext uri="{BB962C8B-B14F-4D97-AF65-F5344CB8AC3E}">
        <p14:creationId xmlns:p14="http://schemas.microsoft.com/office/powerpoint/2010/main" val="127441897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BAA34-1E68-43A2-9644-3D9C944FB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5E002-FE9F-4CC5-9ECD-805DCF0356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37D5F9-AA7A-FE41-CF0F-959341276B3A}"/>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B6D27BCF-E798-98D0-0507-E132D614778A}"/>
              </a:ext>
            </a:extLst>
          </p:cNvPr>
          <p:cNvSpPr>
            <a:spLocks noGrp="1"/>
          </p:cNvSpPr>
          <p:nvPr>
            <p:ph type="sldNum" sz="quarter" idx="5"/>
          </p:nvPr>
        </p:nvSpPr>
        <p:spPr/>
        <p:txBody>
          <a:bodyPr/>
          <a:lstStyle/>
          <a:p>
            <a:fld id="{A6B3EBFC-DABD-4596-9417-BF287497F504}" type="slidenum">
              <a:rPr lang="en-US"/>
              <a:t>78</a:t>
            </a:fld>
            <a:endParaRPr lang="en-US"/>
          </a:p>
        </p:txBody>
      </p:sp>
    </p:spTree>
    <p:extLst>
      <p:ext uri="{BB962C8B-B14F-4D97-AF65-F5344CB8AC3E}">
        <p14:creationId xmlns:p14="http://schemas.microsoft.com/office/powerpoint/2010/main" val="209926386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7CA05-F9E0-A4C4-BEA3-929848975A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E2BBF-DD3C-6E29-0B08-ED44F7F8E9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DE4F8-0C09-B052-9C2D-7327A64E8092}"/>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FD046778-87ED-33F7-2FA8-BFE901F249C9}"/>
              </a:ext>
            </a:extLst>
          </p:cNvPr>
          <p:cNvSpPr>
            <a:spLocks noGrp="1"/>
          </p:cNvSpPr>
          <p:nvPr>
            <p:ph type="sldNum" sz="quarter" idx="5"/>
          </p:nvPr>
        </p:nvSpPr>
        <p:spPr/>
        <p:txBody>
          <a:bodyPr/>
          <a:lstStyle/>
          <a:p>
            <a:fld id="{A6B3EBFC-DABD-4596-9417-BF287497F504}" type="slidenum">
              <a:rPr lang="en-US"/>
              <a:t>79</a:t>
            </a:fld>
            <a:endParaRPr lang="en-US"/>
          </a:p>
        </p:txBody>
      </p:sp>
    </p:spTree>
    <p:extLst>
      <p:ext uri="{BB962C8B-B14F-4D97-AF65-F5344CB8AC3E}">
        <p14:creationId xmlns:p14="http://schemas.microsoft.com/office/powerpoint/2010/main" val="204847582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a typeface="Calibri"/>
                <a:cs typeface="Calibri"/>
              </a:rPr>
              <a:t>Assessment of information published in 2025</a:t>
            </a:r>
          </a:p>
          <a:p>
            <a:endParaRPr lang="en-GB" dirty="0">
              <a:ea typeface="Calibri"/>
              <a:cs typeface="Calibri"/>
            </a:endParaRPr>
          </a:p>
          <a:p>
            <a:r>
              <a:rPr lang="en-GB" dirty="0">
                <a:ea typeface="Calibri"/>
                <a:cs typeface="Calibri"/>
              </a:rPr>
              <a:t>Latest report on policy landscape includes also the 6 WB CPs</a:t>
            </a:r>
          </a:p>
        </p:txBody>
      </p:sp>
      <p:sp>
        <p:nvSpPr>
          <p:cNvPr id="4" name="Slide Number Placeholder 3"/>
          <p:cNvSpPr>
            <a:spLocks noGrp="1"/>
          </p:cNvSpPr>
          <p:nvPr>
            <p:ph type="sldNum" sz="quarter" idx="5"/>
          </p:nvPr>
        </p:nvSpPr>
        <p:spPr/>
        <p:txBody>
          <a:bodyPr/>
          <a:lstStyle/>
          <a:p>
            <a:fld id="{A6B3EBFC-DABD-4596-9417-BF287497F504}" type="slidenum">
              <a:rPr lang="en-DK" smtClean="0"/>
              <a:t>80</a:t>
            </a:fld>
            <a:endParaRPr lang="en-DK"/>
          </a:p>
        </p:txBody>
      </p:sp>
    </p:spTree>
    <p:extLst>
      <p:ext uri="{BB962C8B-B14F-4D97-AF65-F5344CB8AC3E}">
        <p14:creationId xmlns:p14="http://schemas.microsoft.com/office/powerpoint/2010/main" val="240093855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49309-8A49-674E-5E82-A2B3126BE4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6C182-40AC-4471-9E55-974A52D32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567E45-D339-A8BD-DC81-7F2807EB1E89}"/>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B7D425C5-5BA1-0CE4-C595-AFA87C85E487}"/>
              </a:ext>
            </a:extLst>
          </p:cNvPr>
          <p:cNvSpPr>
            <a:spLocks noGrp="1"/>
          </p:cNvSpPr>
          <p:nvPr>
            <p:ph type="sldNum" sz="quarter" idx="5"/>
          </p:nvPr>
        </p:nvSpPr>
        <p:spPr/>
        <p:txBody>
          <a:bodyPr/>
          <a:lstStyle/>
          <a:p>
            <a:fld id="{A6B3EBFC-DABD-4596-9417-BF287497F504}" type="slidenum">
              <a:rPr lang="en-US"/>
              <a:t>81</a:t>
            </a:fld>
            <a:endParaRPr lang="en-US"/>
          </a:p>
        </p:txBody>
      </p:sp>
    </p:spTree>
    <p:extLst>
      <p:ext uri="{BB962C8B-B14F-4D97-AF65-F5344CB8AC3E}">
        <p14:creationId xmlns:p14="http://schemas.microsoft.com/office/powerpoint/2010/main" val="321638824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All</a:t>
            </a:r>
            <a:endParaRPr lang="en-DK"/>
          </a:p>
        </p:txBody>
      </p:sp>
      <p:sp>
        <p:nvSpPr>
          <p:cNvPr id="4" name="Slide Number Placeholder 3"/>
          <p:cNvSpPr>
            <a:spLocks noGrp="1"/>
          </p:cNvSpPr>
          <p:nvPr>
            <p:ph type="sldNum" sz="quarter" idx="5"/>
          </p:nvPr>
        </p:nvSpPr>
        <p:spPr/>
        <p:txBody>
          <a:bodyPr/>
          <a:lstStyle/>
          <a:p>
            <a:fld id="{A6B3EBFC-DABD-4596-9417-BF287497F504}" type="slidenum">
              <a:rPr lang="en-DK" smtClean="0"/>
              <a:t>82</a:t>
            </a:fld>
            <a:endParaRPr lang="en-DK"/>
          </a:p>
        </p:txBody>
      </p:sp>
    </p:spTree>
    <p:extLst>
      <p:ext uri="{BB962C8B-B14F-4D97-AF65-F5344CB8AC3E}">
        <p14:creationId xmlns:p14="http://schemas.microsoft.com/office/powerpoint/2010/main" val="2484629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1BFE0-5E9C-FB5C-4BFE-F7793D9A41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K"/>
          </a:p>
        </p:txBody>
      </p:sp>
      <p:sp>
        <p:nvSpPr>
          <p:cNvPr id="3" name="Subtitle 2">
            <a:extLst>
              <a:ext uri="{FF2B5EF4-FFF2-40B4-BE49-F238E27FC236}">
                <a16:creationId xmlns:a16="http://schemas.microsoft.com/office/drawing/2014/main" id="{5121F13B-DCBD-D934-9040-D392B72CCD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K"/>
          </a:p>
        </p:txBody>
      </p:sp>
      <p:sp>
        <p:nvSpPr>
          <p:cNvPr id="4" name="Date Placeholder 3">
            <a:extLst>
              <a:ext uri="{FF2B5EF4-FFF2-40B4-BE49-F238E27FC236}">
                <a16:creationId xmlns:a16="http://schemas.microsoft.com/office/drawing/2014/main" id="{B54FDE5D-A344-ACBC-5ADF-7AB1EFDA6E97}"/>
              </a:ext>
            </a:extLst>
          </p:cNvPr>
          <p:cNvSpPr>
            <a:spLocks noGrp="1"/>
          </p:cNvSpPr>
          <p:nvPr>
            <p:ph type="dt" sz="half" idx="10"/>
          </p:nvPr>
        </p:nvSpPr>
        <p:spPr/>
        <p:txBody>
          <a:bodyPr/>
          <a:lstStyle/>
          <a:p>
            <a:fld id="{F603BFDC-8D08-43FC-98B9-F106968664ED}" type="datetimeFigureOut">
              <a:rPr lang="en-DK" smtClean="0"/>
              <a:t>10/08/2025</a:t>
            </a:fld>
            <a:endParaRPr lang="en-DK"/>
          </a:p>
        </p:txBody>
      </p:sp>
      <p:sp>
        <p:nvSpPr>
          <p:cNvPr id="5" name="Footer Placeholder 4">
            <a:extLst>
              <a:ext uri="{FF2B5EF4-FFF2-40B4-BE49-F238E27FC236}">
                <a16:creationId xmlns:a16="http://schemas.microsoft.com/office/drawing/2014/main" id="{40BED7C1-A3A4-6AAC-7CBC-D18500B16570}"/>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BA6540B5-B449-4E8A-1778-D6EBE8981CB8}"/>
              </a:ext>
            </a:extLst>
          </p:cNvPr>
          <p:cNvSpPr>
            <a:spLocks noGrp="1"/>
          </p:cNvSpPr>
          <p:nvPr>
            <p:ph type="sldNum" sz="quarter" idx="12"/>
          </p:nvPr>
        </p:nvSpPr>
        <p:spPr/>
        <p:txBody>
          <a:bodyPr/>
          <a:lstStyle/>
          <a:p>
            <a:fld id="{16ABDDA8-5241-4CDE-8DCA-C430C3464955}" type="slidenum">
              <a:rPr lang="en-DK" smtClean="0"/>
              <a:t>‹#›</a:t>
            </a:fld>
            <a:endParaRPr lang="en-DK"/>
          </a:p>
        </p:txBody>
      </p:sp>
    </p:spTree>
    <p:extLst>
      <p:ext uri="{BB962C8B-B14F-4D97-AF65-F5344CB8AC3E}">
        <p14:creationId xmlns:p14="http://schemas.microsoft.com/office/powerpoint/2010/main" val="1788679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45B06-5767-5A15-C0C0-805E289508EA}"/>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CDFE0D2E-5D83-2DB2-7E64-8451259745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26A35B07-3AA2-5C23-CE17-93C5A9A58FD1}"/>
              </a:ext>
            </a:extLst>
          </p:cNvPr>
          <p:cNvSpPr>
            <a:spLocks noGrp="1"/>
          </p:cNvSpPr>
          <p:nvPr>
            <p:ph type="dt" sz="half" idx="10"/>
          </p:nvPr>
        </p:nvSpPr>
        <p:spPr/>
        <p:txBody>
          <a:bodyPr/>
          <a:lstStyle/>
          <a:p>
            <a:fld id="{F603BFDC-8D08-43FC-98B9-F106968664ED}" type="datetimeFigureOut">
              <a:rPr lang="en-DK" smtClean="0"/>
              <a:t>10/08/2025</a:t>
            </a:fld>
            <a:endParaRPr lang="en-DK"/>
          </a:p>
        </p:txBody>
      </p:sp>
      <p:sp>
        <p:nvSpPr>
          <p:cNvPr id="5" name="Footer Placeholder 4">
            <a:extLst>
              <a:ext uri="{FF2B5EF4-FFF2-40B4-BE49-F238E27FC236}">
                <a16:creationId xmlns:a16="http://schemas.microsoft.com/office/drawing/2014/main" id="{139798FB-51C7-15D6-8154-94280E737FE7}"/>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D6F43276-1815-C39B-CDF7-9CB82A9566C2}"/>
              </a:ext>
            </a:extLst>
          </p:cNvPr>
          <p:cNvSpPr>
            <a:spLocks noGrp="1"/>
          </p:cNvSpPr>
          <p:nvPr>
            <p:ph type="sldNum" sz="quarter" idx="12"/>
          </p:nvPr>
        </p:nvSpPr>
        <p:spPr/>
        <p:txBody>
          <a:bodyPr/>
          <a:lstStyle/>
          <a:p>
            <a:fld id="{16ABDDA8-5241-4CDE-8DCA-C430C3464955}" type="slidenum">
              <a:rPr lang="en-DK" smtClean="0"/>
              <a:t>‹#›</a:t>
            </a:fld>
            <a:endParaRPr lang="en-DK"/>
          </a:p>
        </p:txBody>
      </p:sp>
    </p:spTree>
    <p:extLst>
      <p:ext uri="{BB962C8B-B14F-4D97-AF65-F5344CB8AC3E}">
        <p14:creationId xmlns:p14="http://schemas.microsoft.com/office/powerpoint/2010/main" val="2316060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44959-63C2-7C13-E3B1-B6CCE3ED32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K"/>
          </a:p>
        </p:txBody>
      </p:sp>
      <p:sp>
        <p:nvSpPr>
          <p:cNvPr id="3" name="Text Placeholder 2">
            <a:extLst>
              <a:ext uri="{FF2B5EF4-FFF2-40B4-BE49-F238E27FC236}">
                <a16:creationId xmlns:a16="http://schemas.microsoft.com/office/drawing/2014/main" id="{83720750-52E2-B854-F56C-63E2F6F8BC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8E4524-7164-B05A-B2A2-8F8B844CF0A7}"/>
              </a:ext>
            </a:extLst>
          </p:cNvPr>
          <p:cNvSpPr>
            <a:spLocks noGrp="1"/>
          </p:cNvSpPr>
          <p:nvPr>
            <p:ph type="dt" sz="half" idx="10"/>
          </p:nvPr>
        </p:nvSpPr>
        <p:spPr/>
        <p:txBody>
          <a:bodyPr/>
          <a:lstStyle/>
          <a:p>
            <a:fld id="{F603BFDC-8D08-43FC-98B9-F106968664ED}" type="datetimeFigureOut">
              <a:rPr lang="en-DK" smtClean="0"/>
              <a:t>10/08/2025</a:t>
            </a:fld>
            <a:endParaRPr lang="en-DK"/>
          </a:p>
        </p:txBody>
      </p:sp>
      <p:sp>
        <p:nvSpPr>
          <p:cNvPr id="5" name="Footer Placeholder 4">
            <a:extLst>
              <a:ext uri="{FF2B5EF4-FFF2-40B4-BE49-F238E27FC236}">
                <a16:creationId xmlns:a16="http://schemas.microsoft.com/office/drawing/2014/main" id="{89C5156B-6B46-4405-6BDD-4C7782A21DC3}"/>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29C591D1-82F3-DAE4-F420-535EB8AB1ADF}"/>
              </a:ext>
            </a:extLst>
          </p:cNvPr>
          <p:cNvSpPr>
            <a:spLocks noGrp="1"/>
          </p:cNvSpPr>
          <p:nvPr>
            <p:ph type="sldNum" sz="quarter" idx="12"/>
          </p:nvPr>
        </p:nvSpPr>
        <p:spPr/>
        <p:txBody>
          <a:bodyPr/>
          <a:lstStyle/>
          <a:p>
            <a:fld id="{16ABDDA8-5241-4CDE-8DCA-C430C3464955}" type="slidenum">
              <a:rPr lang="en-DK" smtClean="0"/>
              <a:t>‹#›</a:t>
            </a:fld>
            <a:endParaRPr lang="en-DK"/>
          </a:p>
        </p:txBody>
      </p:sp>
    </p:spTree>
    <p:extLst>
      <p:ext uri="{BB962C8B-B14F-4D97-AF65-F5344CB8AC3E}">
        <p14:creationId xmlns:p14="http://schemas.microsoft.com/office/powerpoint/2010/main" val="1639782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57910-E0BE-6ADB-1072-81D04C186A58}"/>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6C74A462-128B-395C-B20A-89262F4BB7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Content Placeholder 3">
            <a:extLst>
              <a:ext uri="{FF2B5EF4-FFF2-40B4-BE49-F238E27FC236}">
                <a16:creationId xmlns:a16="http://schemas.microsoft.com/office/drawing/2014/main" id="{2F9498D5-3754-8CC9-1D5D-30D20EB13B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Date Placeholder 4">
            <a:extLst>
              <a:ext uri="{FF2B5EF4-FFF2-40B4-BE49-F238E27FC236}">
                <a16:creationId xmlns:a16="http://schemas.microsoft.com/office/drawing/2014/main" id="{F397DB96-E9DD-4E9C-BE7A-07938F8325AE}"/>
              </a:ext>
            </a:extLst>
          </p:cNvPr>
          <p:cNvSpPr>
            <a:spLocks noGrp="1"/>
          </p:cNvSpPr>
          <p:nvPr>
            <p:ph type="dt" sz="half" idx="10"/>
          </p:nvPr>
        </p:nvSpPr>
        <p:spPr/>
        <p:txBody>
          <a:bodyPr/>
          <a:lstStyle/>
          <a:p>
            <a:fld id="{F603BFDC-8D08-43FC-98B9-F106968664ED}" type="datetimeFigureOut">
              <a:rPr lang="en-DK" smtClean="0"/>
              <a:t>10/08/2025</a:t>
            </a:fld>
            <a:endParaRPr lang="en-DK"/>
          </a:p>
        </p:txBody>
      </p:sp>
      <p:sp>
        <p:nvSpPr>
          <p:cNvPr id="6" name="Footer Placeholder 5">
            <a:extLst>
              <a:ext uri="{FF2B5EF4-FFF2-40B4-BE49-F238E27FC236}">
                <a16:creationId xmlns:a16="http://schemas.microsoft.com/office/drawing/2014/main" id="{82664138-DCBA-F48A-DF45-57E67782963C}"/>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04FFDE63-8128-4A95-AA8A-6B17A141E276}"/>
              </a:ext>
            </a:extLst>
          </p:cNvPr>
          <p:cNvSpPr>
            <a:spLocks noGrp="1"/>
          </p:cNvSpPr>
          <p:nvPr>
            <p:ph type="sldNum" sz="quarter" idx="12"/>
          </p:nvPr>
        </p:nvSpPr>
        <p:spPr/>
        <p:txBody>
          <a:bodyPr/>
          <a:lstStyle/>
          <a:p>
            <a:fld id="{16ABDDA8-5241-4CDE-8DCA-C430C3464955}" type="slidenum">
              <a:rPr lang="en-DK" smtClean="0"/>
              <a:t>‹#›</a:t>
            </a:fld>
            <a:endParaRPr lang="en-DK"/>
          </a:p>
        </p:txBody>
      </p:sp>
    </p:spTree>
    <p:extLst>
      <p:ext uri="{BB962C8B-B14F-4D97-AF65-F5344CB8AC3E}">
        <p14:creationId xmlns:p14="http://schemas.microsoft.com/office/powerpoint/2010/main" val="4098078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ECE37-4E30-CCBD-26D5-F2D9CDAB00F1}"/>
              </a:ext>
            </a:extLst>
          </p:cNvPr>
          <p:cNvSpPr>
            <a:spLocks noGrp="1"/>
          </p:cNvSpPr>
          <p:nvPr>
            <p:ph type="title"/>
          </p:nvPr>
        </p:nvSpPr>
        <p:spPr>
          <a:xfrm>
            <a:off x="839788" y="365125"/>
            <a:ext cx="10515600" cy="1325563"/>
          </a:xfrm>
        </p:spPr>
        <p:txBody>
          <a:bodyPr/>
          <a:lstStyle/>
          <a:p>
            <a:r>
              <a:rPr lang="en-US"/>
              <a:t>Click to edit Master title style</a:t>
            </a:r>
            <a:endParaRPr lang="en-DK"/>
          </a:p>
        </p:txBody>
      </p:sp>
      <p:sp>
        <p:nvSpPr>
          <p:cNvPr id="3" name="Text Placeholder 2">
            <a:extLst>
              <a:ext uri="{FF2B5EF4-FFF2-40B4-BE49-F238E27FC236}">
                <a16:creationId xmlns:a16="http://schemas.microsoft.com/office/drawing/2014/main" id="{AF908C84-FB40-A2B2-7EF5-77D50EE41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2533EC-21B4-17BE-960B-6426F47443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Text Placeholder 4">
            <a:extLst>
              <a:ext uri="{FF2B5EF4-FFF2-40B4-BE49-F238E27FC236}">
                <a16:creationId xmlns:a16="http://schemas.microsoft.com/office/drawing/2014/main" id="{14D3F08D-CA38-848D-4EEC-AB184FBE35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38D88A-6E8F-53AE-7709-7A55DA5A2C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7" name="Date Placeholder 6">
            <a:extLst>
              <a:ext uri="{FF2B5EF4-FFF2-40B4-BE49-F238E27FC236}">
                <a16:creationId xmlns:a16="http://schemas.microsoft.com/office/drawing/2014/main" id="{8D0567E6-7048-C400-2820-FA9920EA825E}"/>
              </a:ext>
            </a:extLst>
          </p:cNvPr>
          <p:cNvSpPr>
            <a:spLocks noGrp="1"/>
          </p:cNvSpPr>
          <p:nvPr>
            <p:ph type="dt" sz="half" idx="10"/>
          </p:nvPr>
        </p:nvSpPr>
        <p:spPr/>
        <p:txBody>
          <a:bodyPr/>
          <a:lstStyle/>
          <a:p>
            <a:fld id="{F603BFDC-8D08-43FC-98B9-F106968664ED}" type="datetimeFigureOut">
              <a:rPr lang="en-DK" smtClean="0"/>
              <a:t>10/08/2025</a:t>
            </a:fld>
            <a:endParaRPr lang="en-DK"/>
          </a:p>
        </p:txBody>
      </p:sp>
      <p:sp>
        <p:nvSpPr>
          <p:cNvPr id="8" name="Footer Placeholder 7">
            <a:extLst>
              <a:ext uri="{FF2B5EF4-FFF2-40B4-BE49-F238E27FC236}">
                <a16:creationId xmlns:a16="http://schemas.microsoft.com/office/drawing/2014/main" id="{5A61CE11-2489-1840-6D1E-2772B0C1C45E}"/>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35F5BAE8-FB05-E653-EB79-539B2115060F}"/>
              </a:ext>
            </a:extLst>
          </p:cNvPr>
          <p:cNvSpPr>
            <a:spLocks noGrp="1"/>
          </p:cNvSpPr>
          <p:nvPr>
            <p:ph type="sldNum" sz="quarter" idx="12"/>
          </p:nvPr>
        </p:nvSpPr>
        <p:spPr/>
        <p:txBody>
          <a:bodyPr/>
          <a:lstStyle/>
          <a:p>
            <a:fld id="{16ABDDA8-5241-4CDE-8DCA-C430C3464955}" type="slidenum">
              <a:rPr lang="en-DK" smtClean="0"/>
              <a:t>‹#›</a:t>
            </a:fld>
            <a:endParaRPr lang="en-DK"/>
          </a:p>
        </p:txBody>
      </p:sp>
    </p:spTree>
    <p:extLst>
      <p:ext uri="{BB962C8B-B14F-4D97-AF65-F5344CB8AC3E}">
        <p14:creationId xmlns:p14="http://schemas.microsoft.com/office/powerpoint/2010/main" val="2858941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C5855-8CCD-68DB-9E47-BE2CFD5B58EF}"/>
              </a:ext>
            </a:extLst>
          </p:cNvPr>
          <p:cNvSpPr>
            <a:spLocks noGrp="1"/>
          </p:cNvSpPr>
          <p:nvPr>
            <p:ph type="title"/>
          </p:nvPr>
        </p:nvSpPr>
        <p:spPr/>
        <p:txBody>
          <a:bodyPr/>
          <a:lstStyle/>
          <a:p>
            <a:r>
              <a:rPr lang="en-US"/>
              <a:t>Click to edit Master title style</a:t>
            </a:r>
            <a:endParaRPr lang="en-DK"/>
          </a:p>
        </p:txBody>
      </p:sp>
      <p:sp>
        <p:nvSpPr>
          <p:cNvPr id="3" name="Date Placeholder 2">
            <a:extLst>
              <a:ext uri="{FF2B5EF4-FFF2-40B4-BE49-F238E27FC236}">
                <a16:creationId xmlns:a16="http://schemas.microsoft.com/office/drawing/2014/main" id="{2AB730C6-0421-B3B7-A229-30C973C1EA1E}"/>
              </a:ext>
            </a:extLst>
          </p:cNvPr>
          <p:cNvSpPr>
            <a:spLocks noGrp="1"/>
          </p:cNvSpPr>
          <p:nvPr>
            <p:ph type="dt" sz="half" idx="10"/>
          </p:nvPr>
        </p:nvSpPr>
        <p:spPr/>
        <p:txBody>
          <a:bodyPr/>
          <a:lstStyle/>
          <a:p>
            <a:fld id="{F603BFDC-8D08-43FC-98B9-F106968664ED}" type="datetimeFigureOut">
              <a:rPr lang="en-DK" smtClean="0"/>
              <a:t>10/08/2025</a:t>
            </a:fld>
            <a:endParaRPr lang="en-DK"/>
          </a:p>
        </p:txBody>
      </p:sp>
      <p:sp>
        <p:nvSpPr>
          <p:cNvPr id="4" name="Footer Placeholder 3">
            <a:extLst>
              <a:ext uri="{FF2B5EF4-FFF2-40B4-BE49-F238E27FC236}">
                <a16:creationId xmlns:a16="http://schemas.microsoft.com/office/drawing/2014/main" id="{41AD09DD-CEF7-164B-4699-3088CCEB3CBC}"/>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FAB0BE03-3D62-2B7A-44B5-D2D3C9158256}"/>
              </a:ext>
            </a:extLst>
          </p:cNvPr>
          <p:cNvSpPr>
            <a:spLocks noGrp="1"/>
          </p:cNvSpPr>
          <p:nvPr>
            <p:ph type="sldNum" sz="quarter" idx="12"/>
          </p:nvPr>
        </p:nvSpPr>
        <p:spPr/>
        <p:txBody>
          <a:bodyPr/>
          <a:lstStyle/>
          <a:p>
            <a:fld id="{16ABDDA8-5241-4CDE-8DCA-C430C3464955}" type="slidenum">
              <a:rPr lang="en-DK" smtClean="0"/>
              <a:t>‹#›</a:t>
            </a:fld>
            <a:endParaRPr lang="en-DK"/>
          </a:p>
        </p:txBody>
      </p:sp>
    </p:spTree>
    <p:extLst>
      <p:ext uri="{BB962C8B-B14F-4D97-AF65-F5344CB8AC3E}">
        <p14:creationId xmlns:p14="http://schemas.microsoft.com/office/powerpoint/2010/main" val="253637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4C08E0-725D-8803-FF5A-5FCD9781E793}"/>
              </a:ext>
            </a:extLst>
          </p:cNvPr>
          <p:cNvSpPr>
            <a:spLocks noGrp="1"/>
          </p:cNvSpPr>
          <p:nvPr>
            <p:ph type="dt" sz="half" idx="10"/>
          </p:nvPr>
        </p:nvSpPr>
        <p:spPr/>
        <p:txBody>
          <a:bodyPr/>
          <a:lstStyle/>
          <a:p>
            <a:fld id="{F603BFDC-8D08-43FC-98B9-F106968664ED}" type="datetimeFigureOut">
              <a:rPr lang="en-DK" smtClean="0"/>
              <a:t>10/08/2025</a:t>
            </a:fld>
            <a:endParaRPr lang="en-DK"/>
          </a:p>
        </p:txBody>
      </p:sp>
      <p:sp>
        <p:nvSpPr>
          <p:cNvPr id="3" name="Footer Placeholder 2">
            <a:extLst>
              <a:ext uri="{FF2B5EF4-FFF2-40B4-BE49-F238E27FC236}">
                <a16:creationId xmlns:a16="http://schemas.microsoft.com/office/drawing/2014/main" id="{A9A0A83A-E29F-D03A-8430-30EEF965A51B}"/>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5D033CB6-1B20-EEA2-3A7A-655207BEAB01}"/>
              </a:ext>
            </a:extLst>
          </p:cNvPr>
          <p:cNvSpPr>
            <a:spLocks noGrp="1"/>
          </p:cNvSpPr>
          <p:nvPr>
            <p:ph type="sldNum" sz="quarter" idx="12"/>
          </p:nvPr>
        </p:nvSpPr>
        <p:spPr/>
        <p:txBody>
          <a:bodyPr/>
          <a:lstStyle/>
          <a:p>
            <a:fld id="{16ABDDA8-5241-4CDE-8DCA-C430C3464955}" type="slidenum">
              <a:rPr lang="en-DK" smtClean="0"/>
              <a:t>‹#›</a:t>
            </a:fld>
            <a:endParaRPr lang="en-DK"/>
          </a:p>
        </p:txBody>
      </p:sp>
    </p:spTree>
    <p:extLst>
      <p:ext uri="{BB962C8B-B14F-4D97-AF65-F5344CB8AC3E}">
        <p14:creationId xmlns:p14="http://schemas.microsoft.com/office/powerpoint/2010/main" val="814888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11740-E876-89A4-8EFD-9C1725D01E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Content Placeholder 2">
            <a:extLst>
              <a:ext uri="{FF2B5EF4-FFF2-40B4-BE49-F238E27FC236}">
                <a16:creationId xmlns:a16="http://schemas.microsoft.com/office/drawing/2014/main" id="{34E48834-A3D7-B2DF-4343-22A292EC7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Text Placeholder 3">
            <a:extLst>
              <a:ext uri="{FF2B5EF4-FFF2-40B4-BE49-F238E27FC236}">
                <a16:creationId xmlns:a16="http://schemas.microsoft.com/office/drawing/2014/main" id="{D6979AAF-05E8-11F7-6C51-0B7506C0BD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D08120-3EE2-A0E4-36F4-FBB57D5D6D7D}"/>
              </a:ext>
            </a:extLst>
          </p:cNvPr>
          <p:cNvSpPr>
            <a:spLocks noGrp="1"/>
          </p:cNvSpPr>
          <p:nvPr>
            <p:ph type="dt" sz="half" idx="10"/>
          </p:nvPr>
        </p:nvSpPr>
        <p:spPr/>
        <p:txBody>
          <a:bodyPr/>
          <a:lstStyle/>
          <a:p>
            <a:fld id="{F603BFDC-8D08-43FC-98B9-F106968664ED}" type="datetimeFigureOut">
              <a:rPr lang="en-DK" smtClean="0"/>
              <a:t>10/08/2025</a:t>
            </a:fld>
            <a:endParaRPr lang="en-DK"/>
          </a:p>
        </p:txBody>
      </p:sp>
      <p:sp>
        <p:nvSpPr>
          <p:cNvPr id="6" name="Footer Placeholder 5">
            <a:extLst>
              <a:ext uri="{FF2B5EF4-FFF2-40B4-BE49-F238E27FC236}">
                <a16:creationId xmlns:a16="http://schemas.microsoft.com/office/drawing/2014/main" id="{2C3DE59B-F34F-F43E-7B09-2E0D930CBEDB}"/>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7A23BF3E-7E68-BA45-BD9B-CFF1FA87D9F6}"/>
              </a:ext>
            </a:extLst>
          </p:cNvPr>
          <p:cNvSpPr>
            <a:spLocks noGrp="1"/>
          </p:cNvSpPr>
          <p:nvPr>
            <p:ph type="sldNum" sz="quarter" idx="12"/>
          </p:nvPr>
        </p:nvSpPr>
        <p:spPr/>
        <p:txBody>
          <a:bodyPr/>
          <a:lstStyle/>
          <a:p>
            <a:fld id="{16ABDDA8-5241-4CDE-8DCA-C430C3464955}" type="slidenum">
              <a:rPr lang="en-DK" smtClean="0"/>
              <a:t>‹#›</a:t>
            </a:fld>
            <a:endParaRPr lang="en-DK"/>
          </a:p>
        </p:txBody>
      </p:sp>
    </p:spTree>
    <p:extLst>
      <p:ext uri="{BB962C8B-B14F-4D97-AF65-F5344CB8AC3E}">
        <p14:creationId xmlns:p14="http://schemas.microsoft.com/office/powerpoint/2010/main" val="2638409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48197-627E-9DBD-42FF-DF4B4A5B13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Picture Placeholder 2">
            <a:extLst>
              <a:ext uri="{FF2B5EF4-FFF2-40B4-BE49-F238E27FC236}">
                <a16:creationId xmlns:a16="http://schemas.microsoft.com/office/drawing/2014/main" id="{95EB503A-57A9-AAA0-44E1-D525B38779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17FD9E9B-F1D2-39F8-7BD3-BDEE550FF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223718-E651-FAF7-27F8-6D144FAD17F7}"/>
              </a:ext>
            </a:extLst>
          </p:cNvPr>
          <p:cNvSpPr>
            <a:spLocks noGrp="1"/>
          </p:cNvSpPr>
          <p:nvPr>
            <p:ph type="dt" sz="half" idx="10"/>
          </p:nvPr>
        </p:nvSpPr>
        <p:spPr/>
        <p:txBody>
          <a:bodyPr/>
          <a:lstStyle/>
          <a:p>
            <a:fld id="{F603BFDC-8D08-43FC-98B9-F106968664ED}" type="datetimeFigureOut">
              <a:rPr lang="en-DK" smtClean="0"/>
              <a:t>10/08/2025</a:t>
            </a:fld>
            <a:endParaRPr lang="en-DK"/>
          </a:p>
        </p:txBody>
      </p:sp>
      <p:sp>
        <p:nvSpPr>
          <p:cNvPr id="6" name="Footer Placeholder 5">
            <a:extLst>
              <a:ext uri="{FF2B5EF4-FFF2-40B4-BE49-F238E27FC236}">
                <a16:creationId xmlns:a16="http://schemas.microsoft.com/office/drawing/2014/main" id="{20A58E57-C444-5A4B-912A-4E8759BEEB45}"/>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2173CF57-A370-39F9-0AD4-A543C1DE28D2}"/>
              </a:ext>
            </a:extLst>
          </p:cNvPr>
          <p:cNvSpPr>
            <a:spLocks noGrp="1"/>
          </p:cNvSpPr>
          <p:nvPr>
            <p:ph type="sldNum" sz="quarter" idx="12"/>
          </p:nvPr>
        </p:nvSpPr>
        <p:spPr/>
        <p:txBody>
          <a:bodyPr/>
          <a:lstStyle/>
          <a:p>
            <a:fld id="{16ABDDA8-5241-4CDE-8DCA-C430C3464955}" type="slidenum">
              <a:rPr lang="en-DK" smtClean="0"/>
              <a:t>‹#›</a:t>
            </a:fld>
            <a:endParaRPr lang="en-DK"/>
          </a:p>
        </p:txBody>
      </p:sp>
    </p:spTree>
    <p:extLst>
      <p:ext uri="{BB962C8B-B14F-4D97-AF65-F5344CB8AC3E}">
        <p14:creationId xmlns:p14="http://schemas.microsoft.com/office/powerpoint/2010/main" val="2174286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1D7F5-BE49-D625-B2C7-725D01731900}"/>
              </a:ext>
            </a:extLst>
          </p:cNvPr>
          <p:cNvSpPr>
            <a:spLocks noGrp="1"/>
          </p:cNvSpPr>
          <p:nvPr>
            <p:ph type="title"/>
          </p:nvPr>
        </p:nvSpPr>
        <p:spPr/>
        <p:txBody>
          <a:bodyPr/>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C28B5910-DA73-49AC-0A57-2FF0E6790C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DBE33D2D-EAC1-21F4-08CA-FA8790FA4D5A}"/>
              </a:ext>
            </a:extLst>
          </p:cNvPr>
          <p:cNvSpPr>
            <a:spLocks noGrp="1"/>
          </p:cNvSpPr>
          <p:nvPr>
            <p:ph type="dt" sz="half" idx="10"/>
          </p:nvPr>
        </p:nvSpPr>
        <p:spPr/>
        <p:txBody>
          <a:bodyPr/>
          <a:lstStyle/>
          <a:p>
            <a:fld id="{F603BFDC-8D08-43FC-98B9-F106968664ED}" type="datetimeFigureOut">
              <a:rPr lang="en-DK" smtClean="0"/>
              <a:t>10/08/2025</a:t>
            </a:fld>
            <a:endParaRPr lang="en-DK"/>
          </a:p>
        </p:txBody>
      </p:sp>
      <p:sp>
        <p:nvSpPr>
          <p:cNvPr id="5" name="Footer Placeholder 4">
            <a:extLst>
              <a:ext uri="{FF2B5EF4-FFF2-40B4-BE49-F238E27FC236}">
                <a16:creationId xmlns:a16="http://schemas.microsoft.com/office/drawing/2014/main" id="{69A39C61-59E3-E968-CEDD-6AC2C16E20FB}"/>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0EF351B2-C38D-E498-76BD-F9142A634528}"/>
              </a:ext>
            </a:extLst>
          </p:cNvPr>
          <p:cNvSpPr>
            <a:spLocks noGrp="1"/>
          </p:cNvSpPr>
          <p:nvPr>
            <p:ph type="sldNum" sz="quarter" idx="12"/>
          </p:nvPr>
        </p:nvSpPr>
        <p:spPr/>
        <p:txBody>
          <a:bodyPr/>
          <a:lstStyle/>
          <a:p>
            <a:fld id="{16ABDDA8-5241-4CDE-8DCA-C430C3464955}" type="slidenum">
              <a:rPr lang="en-DK" smtClean="0"/>
              <a:t>‹#›</a:t>
            </a:fld>
            <a:endParaRPr lang="en-DK"/>
          </a:p>
        </p:txBody>
      </p:sp>
    </p:spTree>
    <p:extLst>
      <p:ext uri="{BB962C8B-B14F-4D97-AF65-F5344CB8AC3E}">
        <p14:creationId xmlns:p14="http://schemas.microsoft.com/office/powerpoint/2010/main" val="2984058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D89967-A109-769F-A3FE-5F9BEEF7F3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78548300-E1EC-6F18-1358-6D59F83ED8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E25D7405-C771-4102-DC0C-5512ED47C03D}"/>
              </a:ext>
            </a:extLst>
          </p:cNvPr>
          <p:cNvSpPr>
            <a:spLocks noGrp="1"/>
          </p:cNvSpPr>
          <p:nvPr>
            <p:ph type="dt" sz="half" idx="10"/>
          </p:nvPr>
        </p:nvSpPr>
        <p:spPr/>
        <p:txBody>
          <a:bodyPr/>
          <a:lstStyle/>
          <a:p>
            <a:fld id="{F603BFDC-8D08-43FC-98B9-F106968664ED}" type="datetimeFigureOut">
              <a:rPr lang="en-DK" smtClean="0"/>
              <a:t>10/08/2025</a:t>
            </a:fld>
            <a:endParaRPr lang="en-DK"/>
          </a:p>
        </p:txBody>
      </p:sp>
      <p:sp>
        <p:nvSpPr>
          <p:cNvPr id="5" name="Footer Placeholder 4">
            <a:extLst>
              <a:ext uri="{FF2B5EF4-FFF2-40B4-BE49-F238E27FC236}">
                <a16:creationId xmlns:a16="http://schemas.microsoft.com/office/drawing/2014/main" id="{354C82F3-FAF4-17FD-47D5-3D8C8F924F1B}"/>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D708DE6D-7EA5-13FD-DB4E-31A98E4D05A0}"/>
              </a:ext>
            </a:extLst>
          </p:cNvPr>
          <p:cNvSpPr>
            <a:spLocks noGrp="1"/>
          </p:cNvSpPr>
          <p:nvPr>
            <p:ph type="sldNum" sz="quarter" idx="12"/>
          </p:nvPr>
        </p:nvSpPr>
        <p:spPr/>
        <p:txBody>
          <a:bodyPr/>
          <a:lstStyle/>
          <a:p>
            <a:fld id="{16ABDDA8-5241-4CDE-8DCA-C430C3464955}" type="slidenum">
              <a:rPr lang="en-DK" smtClean="0"/>
              <a:t>‹#›</a:t>
            </a:fld>
            <a:endParaRPr lang="en-DK"/>
          </a:p>
        </p:txBody>
      </p:sp>
    </p:spTree>
    <p:extLst>
      <p:ext uri="{BB962C8B-B14F-4D97-AF65-F5344CB8AC3E}">
        <p14:creationId xmlns:p14="http://schemas.microsoft.com/office/powerpoint/2010/main" val="18624081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Negative bla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BA9E58F-F0E4-446A-9BDE-731A333E6E3D}"/>
              </a:ext>
            </a:extLst>
          </p:cNvPr>
          <p:cNvSpPr/>
          <p:nvPr userDrawn="1"/>
        </p:nvSpPr>
        <p:spPr>
          <a:xfrm>
            <a:off x="0" y="0"/>
            <a:ext cx="12192000" cy="6858000"/>
          </a:xfrm>
          <a:prstGeom prst="rect">
            <a:avLst/>
          </a:prstGeom>
          <a:solidFill>
            <a:srgbClr val="004B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3" name="Picture 2" descr="Text&#10;&#10;Description automatically generated">
            <a:extLst>
              <a:ext uri="{FF2B5EF4-FFF2-40B4-BE49-F238E27FC236}">
                <a16:creationId xmlns:a16="http://schemas.microsoft.com/office/drawing/2014/main" id="{EECD597F-8AA8-4E51-9146-C063CEB955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710754" y="6019900"/>
            <a:ext cx="3057655" cy="576000"/>
          </a:xfrm>
          <a:prstGeom prst="rect">
            <a:avLst/>
          </a:prstGeom>
        </p:spPr>
      </p:pic>
    </p:spTree>
    <p:extLst>
      <p:ext uri="{BB962C8B-B14F-4D97-AF65-F5344CB8AC3E}">
        <p14:creationId xmlns:p14="http://schemas.microsoft.com/office/powerpoint/2010/main" val="3111201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48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124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Blank slide 2">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84941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ingle Timeline">
    <p:spTree>
      <p:nvGrpSpPr>
        <p:cNvPr id="1" name=""/>
        <p:cNvGrpSpPr/>
        <p:nvPr/>
      </p:nvGrpSpPr>
      <p:grpSpPr>
        <a:xfrm>
          <a:off x="0" y="0"/>
          <a:ext cx="0" cy="0"/>
          <a:chOff x="0" y="0"/>
          <a:chExt cx="0" cy="0"/>
        </a:xfrm>
      </p:grpSpPr>
      <p:sp>
        <p:nvSpPr>
          <p:cNvPr id="18" name="Text Placeholder 48">
            <a:extLst>
              <a:ext uri="{FF2B5EF4-FFF2-40B4-BE49-F238E27FC236}">
                <a16:creationId xmlns:a16="http://schemas.microsoft.com/office/drawing/2014/main" id="{D127D48E-3E09-48C7-AB33-FBD643EFA52E}"/>
              </a:ext>
            </a:extLst>
          </p:cNvPr>
          <p:cNvSpPr>
            <a:spLocks noGrp="1"/>
          </p:cNvSpPr>
          <p:nvPr>
            <p:ph type="body" sz="quarter" idx="10" hasCustomPrompt="1"/>
          </p:nvPr>
        </p:nvSpPr>
        <p:spPr>
          <a:xfrm>
            <a:off x="1823914" y="4817717"/>
            <a:ext cx="1796396" cy="302186"/>
          </a:xfrm>
        </p:spPr>
        <p:txBody>
          <a:bodyPr>
            <a:noAutofit/>
          </a:bodyPr>
          <a:lstStyle>
            <a:lvl1pPr marL="0" indent="0">
              <a:buNone/>
              <a:defRPr sz="2000" b="1">
                <a:solidFill>
                  <a:schemeClr val="accent4"/>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a:t>
            </a:r>
          </a:p>
        </p:txBody>
      </p:sp>
      <p:sp>
        <p:nvSpPr>
          <p:cNvPr id="19" name="Text Placeholder 50">
            <a:extLst>
              <a:ext uri="{FF2B5EF4-FFF2-40B4-BE49-F238E27FC236}">
                <a16:creationId xmlns:a16="http://schemas.microsoft.com/office/drawing/2014/main" id="{A1B91BF4-B790-4F67-98EB-FE905527BFF8}"/>
              </a:ext>
            </a:extLst>
          </p:cNvPr>
          <p:cNvSpPr>
            <a:spLocks noGrp="1"/>
          </p:cNvSpPr>
          <p:nvPr>
            <p:ph type="body" sz="quarter" idx="11"/>
          </p:nvPr>
        </p:nvSpPr>
        <p:spPr>
          <a:xfrm>
            <a:off x="1823914" y="5210963"/>
            <a:ext cx="1813567" cy="706438"/>
          </a:xfrm>
        </p:spPr>
        <p:txBody>
          <a:bodyPr>
            <a:noAutofit/>
          </a:bodyPr>
          <a:lstStyle>
            <a:lvl1pPr marL="0" indent="0">
              <a:lnSpc>
                <a:spcPct val="100000"/>
              </a:lnSpc>
              <a:buNone/>
              <a:defRPr sz="12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a:t>Click to edit Master text styles</a:t>
            </a:r>
          </a:p>
        </p:txBody>
      </p:sp>
      <p:sp>
        <p:nvSpPr>
          <p:cNvPr id="20" name="Text Placeholder 48">
            <a:extLst>
              <a:ext uri="{FF2B5EF4-FFF2-40B4-BE49-F238E27FC236}">
                <a16:creationId xmlns:a16="http://schemas.microsoft.com/office/drawing/2014/main" id="{CCA5F33F-1634-427F-92BF-99A5ED52A4BA}"/>
              </a:ext>
            </a:extLst>
          </p:cNvPr>
          <p:cNvSpPr>
            <a:spLocks noGrp="1"/>
          </p:cNvSpPr>
          <p:nvPr>
            <p:ph type="body" sz="quarter" idx="12" hasCustomPrompt="1"/>
          </p:nvPr>
        </p:nvSpPr>
        <p:spPr>
          <a:xfrm>
            <a:off x="4134076" y="4817717"/>
            <a:ext cx="1796396" cy="302186"/>
          </a:xfrm>
        </p:spPr>
        <p:txBody>
          <a:bodyPr>
            <a:noAutofit/>
          </a:bodyPr>
          <a:lstStyle>
            <a:lvl1pPr marL="0" indent="0">
              <a:buNone/>
              <a:defRPr sz="2000" b="1">
                <a:solidFill>
                  <a:schemeClr val="accent5"/>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a:t>
            </a:r>
          </a:p>
        </p:txBody>
      </p:sp>
      <p:sp>
        <p:nvSpPr>
          <p:cNvPr id="21" name="Text Placeholder 50">
            <a:extLst>
              <a:ext uri="{FF2B5EF4-FFF2-40B4-BE49-F238E27FC236}">
                <a16:creationId xmlns:a16="http://schemas.microsoft.com/office/drawing/2014/main" id="{084F28D2-C99C-44DC-95CF-A18847F3B61F}"/>
              </a:ext>
            </a:extLst>
          </p:cNvPr>
          <p:cNvSpPr>
            <a:spLocks noGrp="1"/>
          </p:cNvSpPr>
          <p:nvPr>
            <p:ph type="body" sz="quarter" idx="13"/>
          </p:nvPr>
        </p:nvSpPr>
        <p:spPr>
          <a:xfrm>
            <a:off x="4134076" y="5210963"/>
            <a:ext cx="1813567" cy="706438"/>
          </a:xfrm>
        </p:spPr>
        <p:txBody>
          <a:bodyPr>
            <a:noAutofit/>
          </a:bodyPr>
          <a:lstStyle>
            <a:lvl1pPr marL="0" indent="0">
              <a:lnSpc>
                <a:spcPct val="100000"/>
              </a:lnSpc>
              <a:buNone/>
              <a:defRPr sz="12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a:t>Click to edit Master text styles</a:t>
            </a:r>
          </a:p>
        </p:txBody>
      </p:sp>
      <p:sp>
        <p:nvSpPr>
          <p:cNvPr id="22" name="Text Placeholder 48">
            <a:extLst>
              <a:ext uri="{FF2B5EF4-FFF2-40B4-BE49-F238E27FC236}">
                <a16:creationId xmlns:a16="http://schemas.microsoft.com/office/drawing/2014/main" id="{2402522A-E098-4FB5-B454-D6FC98D90CFE}"/>
              </a:ext>
            </a:extLst>
          </p:cNvPr>
          <p:cNvSpPr>
            <a:spLocks noGrp="1"/>
          </p:cNvSpPr>
          <p:nvPr>
            <p:ph type="body" sz="quarter" idx="14" hasCustomPrompt="1"/>
          </p:nvPr>
        </p:nvSpPr>
        <p:spPr>
          <a:xfrm>
            <a:off x="6444238" y="4817717"/>
            <a:ext cx="1796396" cy="302186"/>
          </a:xfrm>
        </p:spPr>
        <p:txBody>
          <a:bodyPr>
            <a:noAutofit/>
          </a:bodyPr>
          <a:lstStyle>
            <a:lvl1pPr marL="0" indent="0">
              <a:buNone/>
              <a:defRPr sz="2000" b="1">
                <a:solidFill>
                  <a:schemeClr val="accent6"/>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a:t>
            </a:r>
          </a:p>
        </p:txBody>
      </p:sp>
      <p:sp>
        <p:nvSpPr>
          <p:cNvPr id="23" name="Text Placeholder 50">
            <a:extLst>
              <a:ext uri="{FF2B5EF4-FFF2-40B4-BE49-F238E27FC236}">
                <a16:creationId xmlns:a16="http://schemas.microsoft.com/office/drawing/2014/main" id="{18CF51EA-CDE2-4AA1-83CB-9DC6E212C336}"/>
              </a:ext>
            </a:extLst>
          </p:cNvPr>
          <p:cNvSpPr>
            <a:spLocks noGrp="1"/>
          </p:cNvSpPr>
          <p:nvPr>
            <p:ph type="body" sz="quarter" idx="15"/>
          </p:nvPr>
        </p:nvSpPr>
        <p:spPr>
          <a:xfrm>
            <a:off x="6444238" y="5210963"/>
            <a:ext cx="1813567" cy="706438"/>
          </a:xfrm>
        </p:spPr>
        <p:txBody>
          <a:bodyPr>
            <a:noAutofit/>
          </a:bodyPr>
          <a:lstStyle>
            <a:lvl1pPr marL="0" indent="0">
              <a:lnSpc>
                <a:spcPct val="100000"/>
              </a:lnSpc>
              <a:buNone/>
              <a:defRPr sz="12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a:t>Click to edit Master text styles</a:t>
            </a:r>
          </a:p>
        </p:txBody>
      </p:sp>
      <p:sp>
        <p:nvSpPr>
          <p:cNvPr id="24" name="Text Placeholder 48">
            <a:extLst>
              <a:ext uri="{FF2B5EF4-FFF2-40B4-BE49-F238E27FC236}">
                <a16:creationId xmlns:a16="http://schemas.microsoft.com/office/drawing/2014/main" id="{FE2BFCE7-D8D1-42B7-97F2-78B1D2CB5F8F}"/>
              </a:ext>
            </a:extLst>
          </p:cNvPr>
          <p:cNvSpPr>
            <a:spLocks noGrp="1"/>
          </p:cNvSpPr>
          <p:nvPr>
            <p:ph type="body" sz="quarter" idx="16" hasCustomPrompt="1"/>
          </p:nvPr>
        </p:nvSpPr>
        <p:spPr>
          <a:xfrm>
            <a:off x="8754400" y="4817717"/>
            <a:ext cx="1796396" cy="302186"/>
          </a:xfrm>
        </p:spPr>
        <p:txBody>
          <a:bodyPr>
            <a:noAutofit/>
          </a:bodyPr>
          <a:lstStyle>
            <a:lvl1pPr marL="0" indent="0">
              <a:buNone/>
              <a:defRPr sz="2000" b="1">
                <a:solidFill>
                  <a:schemeClr val="accent3"/>
                </a:solidFill>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a:t>CLICK TO EDIT</a:t>
            </a:r>
          </a:p>
        </p:txBody>
      </p:sp>
      <p:sp>
        <p:nvSpPr>
          <p:cNvPr id="25" name="Text Placeholder 50">
            <a:extLst>
              <a:ext uri="{FF2B5EF4-FFF2-40B4-BE49-F238E27FC236}">
                <a16:creationId xmlns:a16="http://schemas.microsoft.com/office/drawing/2014/main" id="{0C4E8DE7-5691-4470-BC2C-F9F6532248C2}"/>
              </a:ext>
            </a:extLst>
          </p:cNvPr>
          <p:cNvSpPr>
            <a:spLocks noGrp="1"/>
          </p:cNvSpPr>
          <p:nvPr>
            <p:ph type="body" sz="quarter" idx="17"/>
          </p:nvPr>
        </p:nvSpPr>
        <p:spPr>
          <a:xfrm>
            <a:off x="8754400" y="5210963"/>
            <a:ext cx="1813567" cy="706438"/>
          </a:xfrm>
        </p:spPr>
        <p:txBody>
          <a:bodyPr>
            <a:noAutofit/>
          </a:bodyPr>
          <a:lstStyle>
            <a:lvl1pPr marL="0" indent="0">
              <a:lnSpc>
                <a:spcPct val="100000"/>
              </a:lnSpc>
              <a:buNone/>
              <a:defRPr sz="12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a:t>Click to edit Master text styles</a:t>
            </a:r>
          </a:p>
        </p:txBody>
      </p:sp>
      <p:sp>
        <p:nvSpPr>
          <p:cNvPr id="4" name="Title 3">
            <a:extLst>
              <a:ext uri="{FF2B5EF4-FFF2-40B4-BE49-F238E27FC236}">
                <a16:creationId xmlns:a16="http://schemas.microsoft.com/office/drawing/2014/main" id="{AFBC6ED5-DBEC-4BA5-9BFE-9A5E0ED8D8C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07673414"/>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96">
          <p15:clr>
            <a:srgbClr val="5ACBF0"/>
          </p15:clr>
        </p15:guide>
        <p15:guide id="6" pos="2064">
          <p15:clr>
            <a:srgbClr val="5ACBF0"/>
          </p15:clr>
        </p15:guide>
        <p15:guide id="7" pos="1776">
          <p15:clr>
            <a:srgbClr val="5ACBF0"/>
          </p15:clr>
        </p15:guide>
        <p15:guide id="8" pos="5616">
          <p15:clr>
            <a:srgbClr val="5ACBF0"/>
          </p15:clr>
        </p15:guide>
        <p15:guide id="9" pos="5904">
          <p15:clr>
            <a:srgbClr val="5ACBF0"/>
          </p15:clr>
        </p15:guide>
        <p15:guide id="10" pos="144">
          <p15:clr>
            <a:srgbClr val="5ACBF0"/>
          </p15:clr>
        </p15:guide>
        <p15:guide id="11" orient="horz" pos="4176">
          <p15:clr>
            <a:srgbClr val="5ACBF0"/>
          </p15:clr>
        </p15:guide>
        <p15:guide id="12" pos="7536">
          <p15:clr>
            <a:srgbClr val="5ACBF0"/>
          </p15:clr>
        </p15:guide>
        <p15:guide id="13" orient="horz" pos="14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E87262-9CF5-7305-56DE-AD1340721B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K"/>
          </a:p>
        </p:txBody>
      </p:sp>
      <p:sp>
        <p:nvSpPr>
          <p:cNvPr id="3" name="Text Placeholder 2">
            <a:extLst>
              <a:ext uri="{FF2B5EF4-FFF2-40B4-BE49-F238E27FC236}">
                <a16:creationId xmlns:a16="http://schemas.microsoft.com/office/drawing/2014/main" id="{6174343E-DC8F-110A-4D23-D4D2333248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EC0F9DE0-7B09-00F4-D102-DC90768EC0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03BFDC-8D08-43FC-98B9-F106968664ED}" type="datetimeFigureOut">
              <a:rPr lang="en-DK" smtClean="0"/>
              <a:t>10/08/2025</a:t>
            </a:fld>
            <a:endParaRPr lang="en-DK"/>
          </a:p>
        </p:txBody>
      </p:sp>
      <p:sp>
        <p:nvSpPr>
          <p:cNvPr id="5" name="Footer Placeholder 4">
            <a:extLst>
              <a:ext uri="{FF2B5EF4-FFF2-40B4-BE49-F238E27FC236}">
                <a16:creationId xmlns:a16="http://schemas.microsoft.com/office/drawing/2014/main" id="{E0CA8419-F42C-F645-01CC-FE642CE1F0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K"/>
          </a:p>
        </p:txBody>
      </p:sp>
      <p:sp>
        <p:nvSpPr>
          <p:cNvPr id="6" name="Slide Number Placeholder 5">
            <a:extLst>
              <a:ext uri="{FF2B5EF4-FFF2-40B4-BE49-F238E27FC236}">
                <a16:creationId xmlns:a16="http://schemas.microsoft.com/office/drawing/2014/main" id="{AA66B4AC-B380-E4AD-7BB8-84AEC51411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ABDDA8-5241-4CDE-8DCA-C430C3464955}" type="slidenum">
              <a:rPr lang="en-DK" smtClean="0"/>
              <a:t>‹#›</a:t>
            </a:fld>
            <a:endParaRPr lang="en-DK"/>
          </a:p>
        </p:txBody>
      </p:sp>
    </p:spTree>
    <p:extLst>
      <p:ext uri="{BB962C8B-B14F-4D97-AF65-F5344CB8AC3E}">
        <p14:creationId xmlns:p14="http://schemas.microsoft.com/office/powerpoint/2010/main" val="4219344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3" r:id="rId12"/>
    <p:sldLayoutId id="2147483694" r:id="rId13"/>
    <p:sldLayoutId id="2147483695" r:id="rId14"/>
    <p:sldLayoutId id="2147483697" r:id="rId15"/>
    <p:sldLayoutId id="2147483698"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hyperlink" Target="https://eur-lex.europa.eu/legal-content/EN/TXT/?uri=uriserv%3AOJ.L_.2022.306.01.0001.01.ENG&amp;toc=OJ%3AL%3A2022%3A306%3ATOC"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sv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11.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sv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reportnet.europa.eu/"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hyperlink" Target="https://www.eionet.europa.eu/reportnet/docs/prod/howto_login_reportnet3"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37.jpeg"/><Relationship Id="rId4" Type="http://schemas.openxmlformats.org/officeDocument/2006/relationships/image" Target="../media/image36.jpeg"/></Relationships>
</file>

<file path=ppt/slides/_rels/slide2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47.svg"/><Relationship Id="rId11" Type="http://schemas.openxmlformats.org/officeDocument/2006/relationships/image" Target="../media/image51.svg"/><Relationship Id="rId5" Type="http://schemas.openxmlformats.org/officeDocument/2006/relationships/image" Target="../media/image46.png"/><Relationship Id="rId10" Type="http://schemas.openxmlformats.org/officeDocument/2006/relationships/image" Target="../media/image50.png"/><Relationship Id="rId4" Type="http://schemas.openxmlformats.org/officeDocument/2006/relationships/image" Target="../media/image45.svg"/><Relationship Id="rId9"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55.jpeg"/><Relationship Id="rId4" Type="http://schemas.openxmlformats.org/officeDocument/2006/relationships/image" Target="../media/image54.jpeg"/></Relationships>
</file>

<file path=ppt/slides/_rels/slide24.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20.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58.jpeg"/><Relationship Id="rId4" Type="http://schemas.openxmlformats.org/officeDocument/2006/relationships/image" Target="../media/image57.jpeg"/></Relationships>
</file>

<file path=ppt/slides/_rels/slide25.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63.png"/></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69.png"/></Relationships>
</file>

<file path=ppt/slides/_rels/slide32.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73.jpeg"/><Relationship Id="rId5" Type="http://schemas.openxmlformats.org/officeDocument/2006/relationships/image" Target="../media/image72.jpeg"/><Relationship Id="rId4" Type="http://schemas.openxmlformats.org/officeDocument/2006/relationships/image" Target="../media/image71.png"/></Relationships>
</file>

<file path=ppt/slides/_rels/slide33.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77.jpeg"/><Relationship Id="rId2" Type="http://schemas.openxmlformats.org/officeDocument/2006/relationships/notesSlide" Target="../notesSlides/notesSlide27.xml"/><Relationship Id="rId1" Type="http://schemas.openxmlformats.org/officeDocument/2006/relationships/slideLayout" Target="../slideLayouts/slideLayout13.xml"/><Relationship Id="rId6" Type="http://schemas.openxmlformats.org/officeDocument/2006/relationships/image" Target="../media/image76.jpeg"/><Relationship Id="rId5" Type="http://schemas.openxmlformats.org/officeDocument/2006/relationships/image" Target="../media/image75.jpe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83.png"/><Relationship Id="rId2" Type="http://schemas.openxmlformats.org/officeDocument/2006/relationships/notesSlide" Target="../notesSlides/notesSlide30.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82.jpeg"/><Relationship Id="rId4" Type="http://schemas.openxmlformats.org/officeDocument/2006/relationships/image" Target="../media/image81.jpeg"/></Relationships>
</file>

<file path=ppt/slides/_rels/slide3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3" Type="http://schemas.openxmlformats.org/officeDocument/2006/relationships/image" Target="../media/image85.jpeg"/><Relationship Id="rId7"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88.jpeg"/><Relationship Id="rId5" Type="http://schemas.openxmlformats.org/officeDocument/2006/relationships/image" Target="../media/image87.jpeg"/><Relationship Id="rId4" Type="http://schemas.openxmlformats.org/officeDocument/2006/relationships/image" Target="../media/image86.jpeg"/></Relationships>
</file>

<file path=ppt/slides/_rels/slide39.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91.jpeg"/><Relationship Id="rId4" Type="http://schemas.openxmlformats.org/officeDocument/2006/relationships/image" Target="../media/image90.jpeg"/></Relationships>
</file>

<file path=ppt/slides/_rels/slide4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4.xml"/><Relationship Id="rId1" Type="http://schemas.openxmlformats.org/officeDocument/2006/relationships/slideLayout" Target="../slideLayouts/slideLayout13.xml"/><Relationship Id="rId5" Type="http://schemas.openxmlformats.org/officeDocument/2006/relationships/image" Target="../media/image93.png"/><Relationship Id="rId4" Type="http://schemas.openxmlformats.org/officeDocument/2006/relationships/image" Target="../media/image11.png"/></Relationships>
</file>

<file path=ppt/slides/_rels/slide4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4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6.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1.png"/><Relationship Id="rId4" Type="http://schemas.openxmlformats.org/officeDocument/2006/relationships/image" Target="../media/image100.png"/></Relationships>
</file>

<file path=ppt/slides/_rels/slide4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7.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4.png"/><Relationship Id="rId4" Type="http://schemas.openxmlformats.org/officeDocument/2006/relationships/image" Target="../media/image103.png"/></Relationships>
</file>

<file path=ppt/slides/_rels/slide4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45.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 Id="rId9" Type="http://schemas.openxmlformats.org/officeDocument/2006/relationships/image" Target="../media/image11.png"/></Relationships>
</file>

<file path=ppt/slides/_rels/slide46.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0.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13.png"/></Relationships>
</file>

<file path=ppt/slides/_rels/slide48.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41.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58.jpeg"/><Relationship Id="rId4" Type="http://schemas.openxmlformats.org/officeDocument/2006/relationships/image" Target="../media/image57.jpeg"/></Relationships>
</file>

<file path=ppt/slides/_rels/slide49.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115.svg"/><Relationship Id="rId2" Type="http://schemas.openxmlformats.org/officeDocument/2006/relationships/image" Target="../media/image114.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18.png"/><Relationship Id="rId4" Type="http://schemas.openxmlformats.org/officeDocument/2006/relationships/image" Target="../media/image117.png"/></Relationships>
</file>

<file path=ppt/slides/_rels/slide5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5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5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56.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57.xml.rels><?xml version="1.0" encoding="UTF-8" standalone="yes"?>
<Relationships xmlns="http://schemas.openxmlformats.org/package/2006/relationships"><Relationship Id="rId3" Type="http://schemas.openxmlformats.org/officeDocument/2006/relationships/image" Target="../media/image123.png"/><Relationship Id="rId7"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13.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58.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49.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28.png"/></Relationships>
</file>

<file path=ppt/slides/_rels/slide59.xml.rels><?xml version="1.0" encoding="UTF-8" standalone="yes"?>
<Relationships xmlns="http://schemas.openxmlformats.org/package/2006/relationships"><Relationship Id="rId3" Type="http://schemas.openxmlformats.org/officeDocument/2006/relationships/image" Target="../media/image129.png"/><Relationship Id="rId7" Type="http://schemas.openxmlformats.org/officeDocument/2006/relationships/image" Target="../media/image11.png"/><Relationship Id="rId2" Type="http://schemas.openxmlformats.org/officeDocument/2006/relationships/notesSlide" Target="../notesSlides/notesSlide50.xml"/><Relationship Id="rId1" Type="http://schemas.openxmlformats.org/officeDocument/2006/relationships/slideLayout" Target="../slideLayouts/slideLayout13.xml"/><Relationship Id="rId6" Type="http://schemas.openxmlformats.org/officeDocument/2006/relationships/image" Target="../media/image130.png"/><Relationship Id="rId5" Type="http://schemas.openxmlformats.org/officeDocument/2006/relationships/image" Target="../media/image124.png"/><Relationship Id="rId4" Type="http://schemas.openxmlformats.org/officeDocument/2006/relationships/image" Target="../media/image125.png"/></Relationships>
</file>

<file path=ppt/slides/_rels/slide60.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61.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13.xml"/><Relationship Id="rId6" Type="http://schemas.openxmlformats.org/officeDocument/2006/relationships/image" Target="../media/image130.png"/><Relationship Id="rId5" Type="http://schemas.openxmlformats.org/officeDocument/2006/relationships/image" Target="../media/image124.png"/><Relationship Id="rId4" Type="http://schemas.openxmlformats.org/officeDocument/2006/relationships/image" Target="../media/image125.png"/></Relationships>
</file>

<file path=ppt/slides/_rels/slide62.xml.rels><?xml version="1.0" encoding="UTF-8" standalone="yes"?>
<Relationships xmlns="http://schemas.openxmlformats.org/package/2006/relationships"><Relationship Id="rId3" Type="http://schemas.openxmlformats.org/officeDocument/2006/relationships/image" Target="../media/image133.png"/><Relationship Id="rId7" Type="http://schemas.openxmlformats.org/officeDocument/2006/relationships/image" Target="../media/image11.png"/><Relationship Id="rId2" Type="http://schemas.openxmlformats.org/officeDocument/2006/relationships/notesSlide" Target="../notesSlides/notesSlide53.xml"/><Relationship Id="rId1" Type="http://schemas.openxmlformats.org/officeDocument/2006/relationships/slideLayout" Target="../slideLayouts/slideLayout13.xml"/><Relationship Id="rId6" Type="http://schemas.openxmlformats.org/officeDocument/2006/relationships/image" Target="../media/image130.png"/><Relationship Id="rId5" Type="http://schemas.openxmlformats.org/officeDocument/2006/relationships/image" Target="../media/image124.png"/><Relationship Id="rId4" Type="http://schemas.openxmlformats.org/officeDocument/2006/relationships/image" Target="../media/image125.png"/></Relationships>
</file>

<file path=ppt/slides/_rels/slide63.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54.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24.png"/></Relationships>
</file>

<file path=ppt/slides/_rels/slide64.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55.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24.png"/></Relationships>
</file>

<file path=ppt/slides/_rels/slide6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66.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13.xml"/><Relationship Id="rId6" Type="http://schemas.openxmlformats.org/officeDocument/2006/relationships/image" Target="../media/image130.png"/><Relationship Id="rId5" Type="http://schemas.openxmlformats.org/officeDocument/2006/relationships/image" Target="../media/image124.png"/><Relationship Id="rId4" Type="http://schemas.openxmlformats.org/officeDocument/2006/relationships/image" Target="../media/image125.png"/></Relationships>
</file>

<file path=ppt/slides/_rels/slide67.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58.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39.png"/></Relationships>
</file>

<file path=ppt/slides/_rels/slide68.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13.xml"/><Relationship Id="rId6" Type="http://schemas.openxmlformats.org/officeDocument/2006/relationships/image" Target="../media/image130.png"/><Relationship Id="rId5" Type="http://schemas.openxmlformats.org/officeDocument/2006/relationships/image" Target="../media/image124.png"/><Relationship Id="rId4" Type="http://schemas.openxmlformats.org/officeDocument/2006/relationships/image" Target="../media/image125.png"/></Relationships>
</file>

<file path=ppt/slides/_rels/slide69.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60.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24.png"/></Relationships>
</file>

<file path=ppt/slides/_rels/slide70.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1.png"/><Relationship Id="rId2" Type="http://schemas.openxmlformats.org/officeDocument/2006/relationships/notesSlide" Target="../notesSlides/notesSlide61.xml"/><Relationship Id="rId1" Type="http://schemas.openxmlformats.org/officeDocument/2006/relationships/slideLayout" Target="../slideLayouts/slideLayout13.xml"/><Relationship Id="rId6" Type="http://schemas.openxmlformats.org/officeDocument/2006/relationships/image" Target="../media/image130.png"/><Relationship Id="rId5" Type="http://schemas.openxmlformats.org/officeDocument/2006/relationships/image" Target="../media/image124.png"/><Relationship Id="rId4" Type="http://schemas.openxmlformats.org/officeDocument/2006/relationships/image" Target="../media/image125.png"/></Relationships>
</file>

<file path=ppt/slides/_rels/slide71.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62.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44.png"/></Relationships>
</file>

<file path=ppt/slides/_rels/slide72.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63.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43.png"/><Relationship Id="rId4" Type="http://schemas.openxmlformats.org/officeDocument/2006/relationships/image" Target="../media/image146.png"/></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4.xml"/><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6.xml.rels><?xml version="1.0" encoding="UTF-8" standalone="yes"?>
<Relationships xmlns="http://schemas.openxmlformats.org/package/2006/relationships"><Relationship Id="rId8" Type="http://schemas.openxmlformats.org/officeDocument/2006/relationships/image" Target="../media/image152.svg"/><Relationship Id="rId3" Type="http://schemas.openxmlformats.org/officeDocument/2006/relationships/image" Target="../media/image147.png"/><Relationship Id="rId7" Type="http://schemas.openxmlformats.org/officeDocument/2006/relationships/image" Target="../media/image151.png"/><Relationship Id="rId2" Type="http://schemas.openxmlformats.org/officeDocument/2006/relationships/notesSlide" Target="../notesSlides/notesSlide66.xml"/><Relationship Id="rId1" Type="http://schemas.openxmlformats.org/officeDocument/2006/relationships/slideLayout" Target="../slideLayouts/slideLayout14.xml"/><Relationship Id="rId6" Type="http://schemas.openxmlformats.org/officeDocument/2006/relationships/image" Target="../media/image150.svg"/><Relationship Id="rId11" Type="http://schemas.openxmlformats.org/officeDocument/2006/relationships/image" Target="../media/image11.png"/><Relationship Id="rId5" Type="http://schemas.openxmlformats.org/officeDocument/2006/relationships/image" Target="../media/image149.png"/><Relationship Id="rId10" Type="http://schemas.openxmlformats.org/officeDocument/2006/relationships/image" Target="../media/image154.svg"/><Relationship Id="rId4" Type="http://schemas.openxmlformats.org/officeDocument/2006/relationships/image" Target="../media/image148.svg"/><Relationship Id="rId9" Type="http://schemas.openxmlformats.org/officeDocument/2006/relationships/image" Target="../media/image153.png"/></Relationships>
</file>

<file path=ppt/slides/_rels/slide77.xml.rels><?xml version="1.0" encoding="UTF-8" standalone="yes"?>
<Relationships xmlns="http://schemas.openxmlformats.org/package/2006/relationships"><Relationship Id="rId8" Type="http://schemas.openxmlformats.org/officeDocument/2006/relationships/image" Target="../media/image174.png"/><Relationship Id="rId13" Type="http://schemas.openxmlformats.org/officeDocument/2006/relationships/image" Target="../media/image158.png"/><Relationship Id="rId3" Type="http://schemas.openxmlformats.org/officeDocument/2006/relationships/image" Target="../media/image155.png"/><Relationship Id="rId7" Type="http://schemas.openxmlformats.org/officeDocument/2006/relationships/customXml" Target="../ink/ink2.xml"/><Relationship Id="rId12" Type="http://schemas.openxmlformats.org/officeDocument/2006/relationships/image" Target="../media/image11.png"/><Relationship Id="rId17" Type="http://schemas.openxmlformats.org/officeDocument/2006/relationships/hyperlink" Target="https://climate-energy.eea.europa.eu/topics/climate-change-adaptation/adaptation-progress-to-targets/data" TargetMode="External"/><Relationship Id="rId2" Type="http://schemas.openxmlformats.org/officeDocument/2006/relationships/notesSlide" Target="../notesSlides/notesSlide67.xml"/><Relationship Id="rId16" Type="http://schemas.openxmlformats.org/officeDocument/2006/relationships/hyperlink" Target="https://climate-adapt.eea.europa.eu/en/countries-regions/countries" TargetMode="External"/><Relationship Id="rId1" Type="http://schemas.openxmlformats.org/officeDocument/2006/relationships/slideLayout" Target="../slideLayouts/slideLayout13.xml"/><Relationship Id="rId6" Type="http://schemas.openxmlformats.org/officeDocument/2006/relationships/image" Target="../media/image173.png"/><Relationship Id="rId11" Type="http://schemas.openxmlformats.org/officeDocument/2006/relationships/image" Target="../media/image157.png"/><Relationship Id="rId5" Type="http://schemas.openxmlformats.org/officeDocument/2006/relationships/customXml" Target="../ink/ink1.xml"/><Relationship Id="rId15" Type="http://schemas.openxmlformats.org/officeDocument/2006/relationships/image" Target="../media/image160.png"/><Relationship Id="rId10" Type="http://schemas.openxmlformats.org/officeDocument/2006/relationships/customXml" Target="../ink/ink4.xml"/><Relationship Id="rId4" Type="http://schemas.openxmlformats.org/officeDocument/2006/relationships/image" Target="../media/image156.png"/><Relationship Id="rId9" Type="http://schemas.openxmlformats.org/officeDocument/2006/relationships/customXml" Target="../ink/ink3.xml"/><Relationship Id="rId14" Type="http://schemas.openxmlformats.org/officeDocument/2006/relationships/image" Target="../media/image159.png"/></Relationships>
</file>

<file path=ppt/slides/_rels/slide7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0.xml.rels><?xml version="1.0" encoding="UTF-8" standalone="yes"?>
<Relationships xmlns="http://schemas.openxmlformats.org/package/2006/relationships"><Relationship Id="rId8" Type="http://schemas.openxmlformats.org/officeDocument/2006/relationships/image" Target="../media/image164.png"/><Relationship Id="rId13" Type="http://schemas.openxmlformats.org/officeDocument/2006/relationships/image" Target="../media/image11.png"/><Relationship Id="rId3" Type="http://schemas.openxmlformats.org/officeDocument/2006/relationships/image" Target="../media/image161.jpeg"/><Relationship Id="rId7" Type="http://schemas.openxmlformats.org/officeDocument/2006/relationships/hyperlink" Target="https://www.eea.europa.eu/publications/advancing-towards-climate-resilience-in-europe" TargetMode="External"/><Relationship Id="rId12" Type="http://schemas.openxmlformats.org/officeDocument/2006/relationships/hyperlink" Target="https://www.eionet.europa.eu/etcs/etc-cca/products/etc-cca-reports/rationale-approach-and-added-value-of-key-type-of-measures-for-adaptation-to-climate-change" TargetMode="External"/><Relationship Id="rId2" Type="http://schemas.openxmlformats.org/officeDocument/2006/relationships/notesSlide" Target="../notesSlides/notesSlide70.xml"/><Relationship Id="rId16" Type="http://schemas.openxmlformats.org/officeDocument/2006/relationships/hyperlink" Target="https://www.eea.europa.eu/publications/is-europe-on-track-towards-climate-resilience" TargetMode="External"/><Relationship Id="rId1" Type="http://schemas.openxmlformats.org/officeDocument/2006/relationships/slideLayout" Target="../slideLayouts/slideLayout14.xml"/><Relationship Id="rId6" Type="http://schemas.openxmlformats.org/officeDocument/2006/relationships/hyperlink" Target="https://www.eea.europa.eu/publications/national-adaptation-policies" TargetMode="External"/><Relationship Id="rId11" Type="http://schemas.openxmlformats.org/officeDocument/2006/relationships/hyperlink" Target="https://www.eionet.europa.eu/etcs/etc-cca/products/etc-cca-reports/using-key-type-measures-to-report-climate-adaptation-action-in-the-eea-member-countries" TargetMode="External"/><Relationship Id="rId5" Type="http://schemas.openxmlformats.org/officeDocument/2006/relationships/image" Target="../media/image163.jpeg"/><Relationship Id="rId15" Type="http://schemas.openxmlformats.org/officeDocument/2006/relationships/hyperlink" Target="https://www.eionet.europa.eu/etcs/etc-ca/products/etc-ca-report-2-2024-characteristics-and-conditions-of-adaptation-policy-in-european-environment-agency-member-and-cooperating-countries" TargetMode="External"/><Relationship Id="rId10" Type="http://schemas.openxmlformats.org/officeDocument/2006/relationships/hyperlink" Target="https://www.eionet.europa.eu/etcs/etc-ca/products/etc-ca-technical-paper-2-23-is-europe-on-track-with-climate-resilience-2013-status-of-reported-national-adaptation-actions-in-2023" TargetMode="External"/><Relationship Id="rId4" Type="http://schemas.openxmlformats.org/officeDocument/2006/relationships/image" Target="../media/image162.jpeg"/><Relationship Id="rId9" Type="http://schemas.openxmlformats.org/officeDocument/2006/relationships/image" Target="../media/image165.png"/><Relationship Id="rId14" Type="http://schemas.openxmlformats.org/officeDocument/2006/relationships/image" Target="../media/image166.png"/></Relationships>
</file>

<file path=ppt/slides/_rels/slide8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1.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8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1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61C3F-AEDD-1E62-A6EF-C11F76E0B686}"/>
              </a:ext>
            </a:extLst>
          </p:cNvPr>
          <p:cNvSpPr>
            <a:spLocks noGrp="1"/>
          </p:cNvSpPr>
          <p:nvPr>
            <p:ph type="ctrTitle"/>
          </p:nvPr>
        </p:nvSpPr>
        <p:spPr/>
        <p:txBody>
          <a:bodyPr/>
          <a:lstStyle/>
          <a:p>
            <a:endParaRPr lang="en-DK"/>
          </a:p>
        </p:txBody>
      </p:sp>
      <p:sp>
        <p:nvSpPr>
          <p:cNvPr id="3" name="Subtitle 2">
            <a:extLst>
              <a:ext uri="{FF2B5EF4-FFF2-40B4-BE49-F238E27FC236}">
                <a16:creationId xmlns:a16="http://schemas.microsoft.com/office/drawing/2014/main" id="{D0452AB8-CA22-1C87-CA7F-CFE2333309F3}"/>
              </a:ext>
            </a:extLst>
          </p:cNvPr>
          <p:cNvSpPr>
            <a:spLocks noGrp="1"/>
          </p:cNvSpPr>
          <p:nvPr>
            <p:ph type="subTitle" idx="1"/>
          </p:nvPr>
        </p:nvSpPr>
        <p:spPr/>
        <p:txBody>
          <a:bodyPr/>
          <a:lstStyle/>
          <a:p>
            <a:endParaRPr lang="en-DK"/>
          </a:p>
        </p:txBody>
      </p:sp>
      <p:pic>
        <p:nvPicPr>
          <p:cNvPr id="5" name="Picture 4" descr="A group of people walking on a bridge&#10;&#10;AI-generated content may be incorrect.">
            <a:extLst>
              <a:ext uri="{FF2B5EF4-FFF2-40B4-BE49-F238E27FC236}">
                <a16:creationId xmlns:a16="http://schemas.microsoft.com/office/drawing/2014/main" id="{2F7644B7-F98D-D094-0E76-8006933B0068}"/>
              </a:ext>
            </a:extLst>
          </p:cNvPr>
          <p:cNvPicPr>
            <a:picLocks noChangeAspect="1"/>
          </p:cNvPicPr>
          <p:nvPr/>
        </p:nvPicPr>
        <p:blipFill>
          <a:blip r:embed="rId3">
            <a:extLst>
              <a:ext uri="{28A0092B-C50C-407E-A947-70E740481C1C}">
                <a14:useLocalDpi xmlns:a14="http://schemas.microsoft.com/office/drawing/2010/main" val="0"/>
              </a:ext>
            </a:extLst>
          </a:blip>
          <a:srcRect t="15605"/>
          <a:stretch/>
        </p:blipFill>
        <p:spPr>
          <a:xfrm>
            <a:off x="0" y="0"/>
            <a:ext cx="12192000" cy="6858000"/>
          </a:xfrm>
          <a:prstGeom prst="rect">
            <a:avLst/>
          </a:prstGeom>
        </p:spPr>
      </p:pic>
      <p:sp>
        <p:nvSpPr>
          <p:cNvPr id="7" name="TextBox 6">
            <a:extLst>
              <a:ext uri="{FF2B5EF4-FFF2-40B4-BE49-F238E27FC236}">
                <a16:creationId xmlns:a16="http://schemas.microsoft.com/office/drawing/2014/main" id="{9143BB8E-3479-811E-5A36-5411B492C9A1}"/>
              </a:ext>
            </a:extLst>
          </p:cNvPr>
          <p:cNvSpPr txBox="1"/>
          <p:nvPr/>
        </p:nvSpPr>
        <p:spPr>
          <a:xfrm>
            <a:off x="-25939" y="961836"/>
            <a:ext cx="12191999" cy="1200329"/>
          </a:xfrm>
          <a:prstGeom prst="rect">
            <a:avLst/>
          </a:prstGeom>
          <a:solidFill>
            <a:schemeClr val="bg2">
              <a:lumMod val="25000"/>
              <a:alpha val="16000"/>
            </a:schemeClr>
          </a:solidFill>
        </p:spPr>
        <p:txBody>
          <a:bodyPr wrap="square" lIns="91440" tIns="45720" rIns="91440" bIns="45720" rtlCol="0" anchor="t">
            <a:spAutoFit/>
          </a:bodyPr>
          <a:lstStyle/>
          <a:p>
            <a:pPr algn="r"/>
            <a:r>
              <a:rPr lang="en-US" sz="3600" dirty="0">
                <a:solidFill>
                  <a:schemeClr val="bg1"/>
                </a:solidFill>
              </a:rPr>
              <a:t>Adapted Governance Regulation (EU 2018/1999) </a:t>
            </a:r>
          </a:p>
          <a:p>
            <a:pPr algn="r"/>
            <a:r>
              <a:rPr lang="en-US" sz="3600" dirty="0">
                <a:solidFill>
                  <a:schemeClr val="bg1"/>
                </a:solidFill>
              </a:rPr>
              <a:t>Reportnet3 training for the dataflows on adaptation</a:t>
            </a:r>
          </a:p>
        </p:txBody>
      </p:sp>
      <p:sp>
        <p:nvSpPr>
          <p:cNvPr id="8" name="TextBox 7">
            <a:extLst>
              <a:ext uri="{FF2B5EF4-FFF2-40B4-BE49-F238E27FC236}">
                <a16:creationId xmlns:a16="http://schemas.microsoft.com/office/drawing/2014/main" id="{447EF3B7-6642-CADA-EFFE-5AACF5042895}"/>
              </a:ext>
            </a:extLst>
          </p:cNvPr>
          <p:cNvSpPr txBox="1"/>
          <p:nvPr/>
        </p:nvSpPr>
        <p:spPr>
          <a:xfrm>
            <a:off x="0" y="3462452"/>
            <a:ext cx="12217939" cy="1261884"/>
          </a:xfrm>
          <a:prstGeom prst="rect">
            <a:avLst/>
          </a:prstGeom>
          <a:solidFill>
            <a:schemeClr val="bg2">
              <a:lumMod val="25000"/>
              <a:alpha val="26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2800" dirty="0">
                <a:solidFill>
                  <a:schemeClr val="bg1"/>
                </a:solidFill>
              </a:rPr>
              <a:t>Aneliya Nikolova (EEA)</a:t>
            </a:r>
          </a:p>
          <a:p>
            <a:pPr algn="r"/>
            <a:r>
              <a:rPr lang="en-US" sz="2400" dirty="0">
                <a:solidFill>
                  <a:schemeClr val="bg1"/>
                </a:solidFill>
                <a:ea typeface="Calibri"/>
                <a:cs typeface="Calibri"/>
              </a:rPr>
              <a:t>8 October 2025</a:t>
            </a:r>
          </a:p>
          <a:p>
            <a:pPr algn="r"/>
            <a:r>
              <a:rPr lang="en-US" sz="2400" dirty="0">
                <a:solidFill>
                  <a:schemeClr val="bg1"/>
                </a:solidFill>
                <a:ea typeface="Calibri"/>
                <a:cs typeface="Calibri"/>
              </a:rPr>
              <a:t>Sarajevo | Bosnia and Herzegovina</a:t>
            </a:r>
          </a:p>
        </p:txBody>
      </p:sp>
      <p:sp>
        <p:nvSpPr>
          <p:cNvPr id="10" name="TextBox 9">
            <a:extLst>
              <a:ext uri="{FF2B5EF4-FFF2-40B4-BE49-F238E27FC236}">
                <a16:creationId xmlns:a16="http://schemas.microsoft.com/office/drawing/2014/main" id="{FCA34A4F-8536-5F1D-48A0-F1C1F65007F1}"/>
              </a:ext>
            </a:extLst>
          </p:cNvPr>
          <p:cNvSpPr txBox="1"/>
          <p:nvPr/>
        </p:nvSpPr>
        <p:spPr>
          <a:xfrm>
            <a:off x="147485" y="6511623"/>
            <a:ext cx="6272980" cy="261610"/>
          </a:xfrm>
          <a:prstGeom prst="rect">
            <a:avLst/>
          </a:prstGeom>
          <a:noFill/>
        </p:spPr>
        <p:txBody>
          <a:bodyPr wrap="square">
            <a:spAutoFit/>
          </a:bodyPr>
          <a:lstStyle/>
          <a:p>
            <a:r>
              <a:rPr lang="en-US" sz="1100">
                <a:solidFill>
                  <a:schemeClr val="bg1"/>
                </a:solidFill>
              </a:rPr>
              <a:t>©T</a:t>
            </a:r>
            <a:r>
              <a:rPr lang="en-DK" sz="1100">
                <a:solidFill>
                  <a:schemeClr val="bg1"/>
                </a:solidFill>
              </a:rPr>
              <a:t>Peter </a:t>
            </a:r>
            <a:r>
              <a:rPr lang="en-DK" sz="1100" err="1">
                <a:solidFill>
                  <a:schemeClr val="bg1"/>
                </a:solidFill>
              </a:rPr>
              <a:t>Vadocz</a:t>
            </a:r>
            <a:r>
              <a:rPr lang="en-DK" sz="1100">
                <a:solidFill>
                  <a:schemeClr val="bg1"/>
                </a:solidFill>
              </a:rPr>
              <a:t>, Urban Treasures  EEA</a:t>
            </a:r>
          </a:p>
        </p:txBody>
      </p:sp>
      <p:pic>
        <p:nvPicPr>
          <p:cNvPr id="11" name="Picture 8" descr="Graphical user interface, text&#10;&#10;Description automatically generated">
            <a:extLst>
              <a:ext uri="{FF2B5EF4-FFF2-40B4-BE49-F238E27FC236}">
                <a16:creationId xmlns:a16="http://schemas.microsoft.com/office/drawing/2014/main" id="{1F488AD1-873E-327E-7B34-104DE8714D36}"/>
              </a:ext>
            </a:extLst>
          </p:cNvPr>
          <p:cNvPicPr>
            <a:picLocks noChangeAspect="1"/>
          </p:cNvPicPr>
          <p:nvPr/>
        </p:nvPicPr>
        <p:blipFill>
          <a:blip r:embed="rId4"/>
          <a:stretch>
            <a:fillRect/>
          </a:stretch>
        </p:blipFill>
        <p:spPr>
          <a:xfrm>
            <a:off x="8251148" y="5861644"/>
            <a:ext cx="3789337" cy="765523"/>
          </a:xfrm>
          <a:prstGeom prst="rect">
            <a:avLst/>
          </a:prstGeom>
        </p:spPr>
      </p:pic>
    </p:spTree>
    <p:extLst>
      <p:ext uri="{BB962C8B-B14F-4D97-AF65-F5344CB8AC3E}">
        <p14:creationId xmlns:p14="http://schemas.microsoft.com/office/powerpoint/2010/main" val="1948253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8AE598-0A6D-9874-5DD0-05C6EA0964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200627" y="6095058"/>
            <a:ext cx="2718435" cy="547370"/>
          </a:xfrm>
          <a:prstGeom prst="rect">
            <a:avLst/>
          </a:prstGeom>
          <a:noFill/>
          <a:ln>
            <a:noFill/>
          </a:ln>
        </p:spPr>
      </p:pic>
      <p:pic>
        <p:nvPicPr>
          <p:cNvPr id="10" name="Picture 9" descr="A person with a beard&#10;&#10;AI-generated content may be incorrect.">
            <a:extLst>
              <a:ext uri="{FF2B5EF4-FFF2-40B4-BE49-F238E27FC236}">
                <a16:creationId xmlns:a16="http://schemas.microsoft.com/office/drawing/2014/main" id="{5C46C165-160B-9A69-72ED-1972C7E8EDC6}"/>
              </a:ext>
            </a:extLst>
          </p:cNvPr>
          <p:cNvPicPr>
            <a:picLocks noChangeAspect="1"/>
          </p:cNvPicPr>
          <p:nvPr/>
        </p:nvPicPr>
        <p:blipFill rotWithShape="1">
          <a:blip r:embed="rId4"/>
          <a:srcRect t="12169" b="12169"/>
          <a:stretch/>
        </p:blipFill>
        <p:spPr>
          <a:xfrm>
            <a:off x="1168302" y="1716936"/>
            <a:ext cx="2438018" cy="2446825"/>
          </a:xfrm>
          <a:prstGeom prst="ellipse">
            <a:avLst/>
          </a:prstGeom>
        </p:spPr>
      </p:pic>
      <p:pic>
        <p:nvPicPr>
          <p:cNvPr id="8" name="Picture 7">
            <a:extLst>
              <a:ext uri="{FF2B5EF4-FFF2-40B4-BE49-F238E27FC236}">
                <a16:creationId xmlns:a16="http://schemas.microsoft.com/office/drawing/2014/main" id="{7E7A2FCF-1F88-6CAD-1570-39AB03919B25}"/>
              </a:ext>
            </a:extLst>
          </p:cNvPr>
          <p:cNvPicPr>
            <a:picLocks noChangeAspect="1"/>
          </p:cNvPicPr>
          <p:nvPr/>
        </p:nvPicPr>
        <p:blipFill rotWithShape="1">
          <a:blip r:embed="rId5"/>
          <a:srcRect l="9578" t="9181" r="12306" b="6838"/>
          <a:stretch/>
        </p:blipFill>
        <p:spPr>
          <a:xfrm>
            <a:off x="4802937" y="1716936"/>
            <a:ext cx="2447769" cy="2447769"/>
          </a:xfrm>
          <a:prstGeom prst="ellipse">
            <a:avLst/>
          </a:prstGeom>
        </p:spPr>
      </p:pic>
      <p:pic>
        <p:nvPicPr>
          <p:cNvPr id="12" name="Picture 11" descr="A person smiling at the camera&#10;&#10;AI-generated content may be incorrect.">
            <a:extLst>
              <a:ext uri="{FF2B5EF4-FFF2-40B4-BE49-F238E27FC236}">
                <a16:creationId xmlns:a16="http://schemas.microsoft.com/office/drawing/2014/main" id="{2BF9917B-C450-96F5-778E-15DBCEF0743F}"/>
              </a:ext>
            </a:extLst>
          </p:cNvPr>
          <p:cNvPicPr>
            <a:picLocks noChangeAspect="1"/>
          </p:cNvPicPr>
          <p:nvPr/>
        </p:nvPicPr>
        <p:blipFill rotWithShape="1">
          <a:blip r:embed="rId6"/>
          <a:srcRect l="18909" r="18909"/>
          <a:stretch/>
        </p:blipFill>
        <p:spPr>
          <a:xfrm>
            <a:off x="8482374" y="1718294"/>
            <a:ext cx="2406241" cy="2447769"/>
          </a:xfrm>
          <a:prstGeom prst="ellipse">
            <a:avLst/>
          </a:prstGeom>
        </p:spPr>
      </p:pic>
      <p:sp>
        <p:nvSpPr>
          <p:cNvPr id="14" name="TextBox 13">
            <a:extLst>
              <a:ext uri="{FF2B5EF4-FFF2-40B4-BE49-F238E27FC236}">
                <a16:creationId xmlns:a16="http://schemas.microsoft.com/office/drawing/2014/main" id="{505E8637-BCE0-F12A-D2E3-3AFF5C14BA89}"/>
              </a:ext>
            </a:extLst>
          </p:cNvPr>
          <p:cNvSpPr txBox="1"/>
          <p:nvPr/>
        </p:nvSpPr>
        <p:spPr>
          <a:xfrm>
            <a:off x="1033978" y="4436453"/>
            <a:ext cx="2696496" cy="1231106"/>
          </a:xfrm>
          <a:prstGeom prst="rect">
            <a:avLst/>
          </a:prstGeom>
          <a:noFill/>
        </p:spPr>
        <p:txBody>
          <a:bodyPr wrap="square" lIns="91440" tIns="45720" rIns="91440" bIns="45720" anchor="t">
            <a:spAutoFit/>
          </a:bodyPr>
          <a:lstStyle/>
          <a:p>
            <a:pPr algn="ctr"/>
            <a:r>
              <a:rPr lang="en-US" sz="2000" b="1" dirty="0"/>
              <a:t>Per Wretlind </a:t>
            </a:r>
          </a:p>
          <a:p>
            <a:pPr algn="ctr"/>
            <a:r>
              <a:rPr lang="en-US" dirty="0"/>
              <a:t>EEA </a:t>
            </a:r>
          </a:p>
          <a:p>
            <a:pPr algn="ctr"/>
            <a:r>
              <a:rPr lang="en-US" dirty="0"/>
              <a:t>Energy Community Project Manager</a:t>
            </a:r>
          </a:p>
        </p:txBody>
      </p:sp>
      <p:sp>
        <p:nvSpPr>
          <p:cNvPr id="18" name="TextBox 17">
            <a:extLst>
              <a:ext uri="{FF2B5EF4-FFF2-40B4-BE49-F238E27FC236}">
                <a16:creationId xmlns:a16="http://schemas.microsoft.com/office/drawing/2014/main" id="{D7FCDDD0-93F2-5D57-57B6-03551235DF45}"/>
              </a:ext>
            </a:extLst>
          </p:cNvPr>
          <p:cNvSpPr txBox="1"/>
          <p:nvPr/>
        </p:nvSpPr>
        <p:spPr>
          <a:xfrm>
            <a:off x="4570417" y="4436453"/>
            <a:ext cx="2912807" cy="1508105"/>
          </a:xfrm>
          <a:prstGeom prst="rect">
            <a:avLst/>
          </a:prstGeom>
          <a:noFill/>
        </p:spPr>
        <p:txBody>
          <a:bodyPr wrap="square">
            <a:spAutoFit/>
          </a:bodyPr>
          <a:lstStyle/>
          <a:p>
            <a:pPr algn="ctr"/>
            <a:r>
              <a:rPr lang="en-US" sz="2000" b="1"/>
              <a:t>Aneliya Nikolova</a:t>
            </a:r>
          </a:p>
          <a:p>
            <a:pPr algn="ctr"/>
            <a:r>
              <a:rPr lang="en-US"/>
              <a:t>EEA Data custodian for</a:t>
            </a:r>
          </a:p>
          <a:p>
            <a:pPr algn="ctr"/>
            <a:r>
              <a:rPr lang="en-US"/>
              <a:t>adaptation dataflows,</a:t>
            </a:r>
          </a:p>
          <a:p>
            <a:pPr algn="ctr"/>
            <a:r>
              <a:rPr lang="en-US"/>
              <a:t>Energy Community and             EU MS</a:t>
            </a:r>
          </a:p>
        </p:txBody>
      </p:sp>
      <p:sp>
        <p:nvSpPr>
          <p:cNvPr id="20" name="TextBox 19">
            <a:extLst>
              <a:ext uri="{FF2B5EF4-FFF2-40B4-BE49-F238E27FC236}">
                <a16:creationId xmlns:a16="http://schemas.microsoft.com/office/drawing/2014/main" id="{3DDDAF61-E69B-5B92-18D4-39BC3E9F74B8}"/>
              </a:ext>
            </a:extLst>
          </p:cNvPr>
          <p:cNvSpPr txBox="1"/>
          <p:nvPr/>
        </p:nvSpPr>
        <p:spPr>
          <a:xfrm>
            <a:off x="8326339" y="4432624"/>
            <a:ext cx="2718435" cy="1231106"/>
          </a:xfrm>
          <a:prstGeom prst="rect">
            <a:avLst/>
          </a:prstGeom>
          <a:noFill/>
        </p:spPr>
        <p:txBody>
          <a:bodyPr wrap="square" lIns="91440" tIns="45720" rIns="91440" bIns="45720" anchor="t">
            <a:spAutoFit/>
          </a:bodyPr>
          <a:lstStyle/>
          <a:p>
            <a:pPr algn="ctr"/>
            <a:r>
              <a:rPr lang="en-US" sz="2000" b="1" dirty="0"/>
              <a:t>Monika </a:t>
            </a:r>
            <a:r>
              <a:rPr lang="en-US" sz="2000" b="1" dirty="0" err="1"/>
              <a:t>Figaj</a:t>
            </a:r>
            <a:endParaRPr lang="en-US" dirty="0" err="1"/>
          </a:p>
          <a:p>
            <a:pPr algn="ctr"/>
            <a:r>
              <a:rPr lang="en-US" dirty="0"/>
              <a:t>Energy Community Secretariat, PoC for adaptation reporting</a:t>
            </a:r>
          </a:p>
        </p:txBody>
      </p:sp>
      <p:sp>
        <p:nvSpPr>
          <p:cNvPr id="5" name="Title 4">
            <a:extLst>
              <a:ext uri="{FF2B5EF4-FFF2-40B4-BE49-F238E27FC236}">
                <a16:creationId xmlns:a16="http://schemas.microsoft.com/office/drawing/2014/main" id="{4CEAB352-FDCF-5C52-A261-8090921726D2}"/>
              </a:ext>
            </a:extLst>
          </p:cNvPr>
          <p:cNvSpPr>
            <a:spLocks noGrp="1"/>
          </p:cNvSpPr>
          <p:nvPr>
            <p:ph type="title"/>
          </p:nvPr>
        </p:nvSpPr>
        <p:spPr/>
        <p:txBody>
          <a:bodyPr/>
          <a:lstStyle/>
          <a:p>
            <a:r>
              <a:rPr lang="en-US" sz="3600" dirty="0">
                <a:solidFill>
                  <a:srgbClr val="009999"/>
                </a:solidFill>
                <a:latin typeface="+mn-lt"/>
                <a:ea typeface="Calibri Light"/>
                <a:cs typeface="Calibri Light"/>
              </a:rPr>
              <a:t>Your Adapted </a:t>
            </a:r>
            <a:r>
              <a:rPr lang="en-US" sz="3600" err="1">
                <a:solidFill>
                  <a:srgbClr val="009999"/>
                </a:solidFill>
                <a:latin typeface="+mn-lt"/>
                <a:ea typeface="Calibri Light"/>
                <a:cs typeface="Calibri Light"/>
              </a:rPr>
              <a:t>GovReg</a:t>
            </a:r>
            <a:r>
              <a:rPr lang="en-US" sz="3600" dirty="0">
                <a:solidFill>
                  <a:srgbClr val="009999"/>
                </a:solidFill>
                <a:latin typeface="+mn-lt"/>
                <a:ea typeface="Calibri Light"/>
                <a:cs typeface="Calibri Light"/>
              </a:rPr>
              <a:t> Team</a:t>
            </a:r>
          </a:p>
        </p:txBody>
      </p:sp>
    </p:spTree>
    <p:extLst>
      <p:ext uri="{BB962C8B-B14F-4D97-AF65-F5344CB8AC3E}">
        <p14:creationId xmlns:p14="http://schemas.microsoft.com/office/powerpoint/2010/main" val="1694040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696B6-D02B-2394-9CE8-E547005AB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8A869-9C98-E147-D228-E1B6F5E584FD}"/>
              </a:ext>
            </a:extLst>
          </p:cNvPr>
          <p:cNvSpPr>
            <a:spLocks noGrp="1"/>
          </p:cNvSpPr>
          <p:nvPr>
            <p:ph type="ctrTitle"/>
          </p:nvPr>
        </p:nvSpPr>
        <p:spPr>
          <a:xfrm>
            <a:off x="4689986" y="470208"/>
            <a:ext cx="6086168" cy="617947"/>
          </a:xfrm>
        </p:spPr>
        <p:txBody>
          <a:bodyPr>
            <a:noAutofit/>
          </a:bodyPr>
          <a:lstStyle/>
          <a:p>
            <a:pPr algn="l"/>
            <a:r>
              <a:rPr lang="en-US" sz="3600">
                <a:solidFill>
                  <a:srgbClr val="009999"/>
                </a:solidFill>
                <a:latin typeface="+mn-lt"/>
                <a:ea typeface="Calibri Light"/>
                <a:cs typeface="Calibri Light"/>
              </a:rPr>
              <a:t>Agenda</a:t>
            </a:r>
            <a:endParaRPr lang="en-DK" sz="3600">
              <a:solidFill>
                <a:srgbClr val="009999"/>
              </a:solidFill>
              <a:latin typeface="+mn-lt"/>
              <a:ea typeface="Calibri Light"/>
              <a:cs typeface="Calibri Light"/>
            </a:endParaRPr>
          </a:p>
        </p:txBody>
      </p:sp>
      <p:sp>
        <p:nvSpPr>
          <p:cNvPr id="3" name="Subtitle 2">
            <a:extLst>
              <a:ext uri="{FF2B5EF4-FFF2-40B4-BE49-F238E27FC236}">
                <a16:creationId xmlns:a16="http://schemas.microsoft.com/office/drawing/2014/main" id="{D519A428-8DA3-BF4F-3837-9D2ACAA9D179}"/>
              </a:ext>
            </a:extLst>
          </p:cNvPr>
          <p:cNvSpPr>
            <a:spLocks noGrp="1"/>
          </p:cNvSpPr>
          <p:nvPr>
            <p:ph type="subTitle" idx="1"/>
          </p:nvPr>
        </p:nvSpPr>
        <p:spPr>
          <a:xfrm>
            <a:off x="4788308" y="1408681"/>
            <a:ext cx="6961239" cy="5079837"/>
          </a:xfrm>
        </p:spPr>
        <p:txBody>
          <a:bodyPr vert="horz" lIns="91440" tIns="45720" rIns="91440" bIns="45720" rtlCol="0" anchor="t">
            <a:normAutofit/>
          </a:bodyPr>
          <a:lstStyle/>
          <a:p>
            <a:pPr algn="l"/>
            <a:r>
              <a:rPr lang="en-US" sz="2000" dirty="0"/>
              <a:t>9:00 – 9:30	   Introduction</a:t>
            </a:r>
          </a:p>
          <a:p>
            <a:pPr algn="l"/>
            <a:r>
              <a:rPr lang="en-US" sz="2000" dirty="0"/>
              <a:t>       Technical aspects of reporting </a:t>
            </a:r>
            <a:endParaRPr lang="en-US" dirty="0"/>
          </a:p>
          <a:p>
            <a:pPr algn="l"/>
            <a:r>
              <a:rPr lang="en-US" sz="2000" dirty="0"/>
              <a:t>       Finalizing the reporting</a:t>
            </a:r>
          </a:p>
          <a:p>
            <a:pPr algn="l"/>
            <a:r>
              <a:rPr lang="en-US" sz="2000" dirty="0"/>
              <a:t>	        Q&amp;A</a:t>
            </a:r>
          </a:p>
          <a:p>
            <a:pPr algn="l"/>
            <a:r>
              <a:rPr lang="en-US" sz="2000" dirty="0"/>
              <a:t>9:30 – 10:30 	    Thematic aspects of reporting - Article 19</a:t>
            </a:r>
          </a:p>
          <a:p>
            <a:pPr algn="l"/>
            <a:r>
              <a:rPr lang="en-US" sz="2000" dirty="0"/>
              <a:t>    	     Q&amp;A</a:t>
            </a:r>
            <a:endParaRPr lang="en-US" dirty="0"/>
          </a:p>
          <a:p>
            <a:pPr algn="l"/>
            <a:r>
              <a:rPr lang="en-US" sz="2000" i="1" dirty="0">
                <a:solidFill>
                  <a:schemeClr val="tx1">
                    <a:lumMod val="50000"/>
                    <a:lumOff val="50000"/>
                  </a:schemeClr>
                </a:solidFill>
              </a:rPr>
              <a:t>		Break</a:t>
            </a:r>
          </a:p>
          <a:p>
            <a:pPr algn="l"/>
            <a:r>
              <a:rPr lang="en-US" sz="2000" dirty="0"/>
              <a:t>10:45 – 11:30  Thematic aspects of reporting - Article 17</a:t>
            </a:r>
          </a:p>
          <a:p>
            <a:pPr algn="l"/>
            <a:r>
              <a:rPr lang="en-US" sz="2000" dirty="0"/>
              <a:t>		Q&amp;A</a:t>
            </a:r>
          </a:p>
          <a:p>
            <a:pPr algn="l"/>
            <a:r>
              <a:rPr lang="en-US" sz="2000" dirty="0"/>
              <a:t>11:30 – 12:00			 Next steps</a:t>
            </a:r>
          </a:p>
          <a:p>
            <a:endParaRPr lang="en-DK"/>
          </a:p>
        </p:txBody>
      </p:sp>
      <p:pic>
        <p:nvPicPr>
          <p:cNvPr id="5" name="Picture 4" descr="A group of people walking on a bridge&#10;&#10;AI-generated content may be incorrect.">
            <a:extLst>
              <a:ext uri="{FF2B5EF4-FFF2-40B4-BE49-F238E27FC236}">
                <a16:creationId xmlns:a16="http://schemas.microsoft.com/office/drawing/2014/main" id="{777DC22F-FA81-ACD2-4292-84C02CEAA5B2}"/>
              </a:ext>
            </a:extLst>
          </p:cNvPr>
          <p:cNvPicPr>
            <a:picLocks noChangeAspect="1"/>
          </p:cNvPicPr>
          <p:nvPr/>
        </p:nvPicPr>
        <p:blipFill>
          <a:blip r:embed="rId3">
            <a:extLst>
              <a:ext uri="{28A0092B-C50C-407E-A947-70E740481C1C}">
                <a14:useLocalDpi xmlns:a14="http://schemas.microsoft.com/office/drawing/2010/main" val="0"/>
              </a:ext>
            </a:extLst>
          </a:blip>
          <a:srcRect l="4758" t="15605" r="59274"/>
          <a:stretch/>
        </p:blipFill>
        <p:spPr>
          <a:xfrm>
            <a:off x="0" y="0"/>
            <a:ext cx="4385187" cy="6858000"/>
          </a:xfrm>
          <a:prstGeom prst="rect">
            <a:avLst/>
          </a:prstGeom>
        </p:spPr>
      </p:pic>
      <p:sp>
        <p:nvSpPr>
          <p:cNvPr id="7" name="TextBox 6">
            <a:extLst>
              <a:ext uri="{FF2B5EF4-FFF2-40B4-BE49-F238E27FC236}">
                <a16:creationId xmlns:a16="http://schemas.microsoft.com/office/drawing/2014/main" id="{5874BEBD-0F5E-F9AA-DA92-BB93DCBD5D7D}"/>
              </a:ext>
            </a:extLst>
          </p:cNvPr>
          <p:cNvSpPr txBox="1"/>
          <p:nvPr/>
        </p:nvSpPr>
        <p:spPr>
          <a:xfrm>
            <a:off x="98324" y="6511623"/>
            <a:ext cx="6272980" cy="261610"/>
          </a:xfrm>
          <a:prstGeom prst="rect">
            <a:avLst/>
          </a:prstGeom>
          <a:noFill/>
        </p:spPr>
        <p:txBody>
          <a:bodyPr wrap="square">
            <a:spAutoFit/>
          </a:bodyPr>
          <a:lstStyle/>
          <a:p>
            <a:r>
              <a:rPr lang="en-US" sz="1100">
                <a:solidFill>
                  <a:schemeClr val="bg1"/>
                </a:solidFill>
              </a:rPr>
              <a:t>©T</a:t>
            </a:r>
            <a:r>
              <a:rPr lang="en-DK" sz="1100">
                <a:solidFill>
                  <a:schemeClr val="bg1"/>
                </a:solidFill>
              </a:rPr>
              <a:t>Peter </a:t>
            </a:r>
            <a:r>
              <a:rPr lang="en-DK" sz="1100" err="1">
                <a:solidFill>
                  <a:schemeClr val="bg1"/>
                </a:solidFill>
              </a:rPr>
              <a:t>Vadocz</a:t>
            </a:r>
            <a:r>
              <a:rPr lang="en-DK" sz="1100">
                <a:solidFill>
                  <a:schemeClr val="bg1"/>
                </a:solidFill>
              </a:rPr>
              <a:t>, Urban Treasures  EEA</a:t>
            </a:r>
          </a:p>
        </p:txBody>
      </p:sp>
      <p:pic>
        <p:nvPicPr>
          <p:cNvPr id="4" name="Picture 3">
            <a:extLst>
              <a:ext uri="{FF2B5EF4-FFF2-40B4-BE49-F238E27FC236}">
                <a16:creationId xmlns:a16="http://schemas.microsoft.com/office/drawing/2014/main" id="{0A99A460-5794-CAF1-F484-BAB6245777E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200627" y="6095058"/>
            <a:ext cx="2718435" cy="547370"/>
          </a:xfrm>
          <a:prstGeom prst="rect">
            <a:avLst/>
          </a:prstGeom>
          <a:noFill/>
          <a:ln>
            <a:noFill/>
          </a:ln>
        </p:spPr>
      </p:pic>
    </p:spTree>
    <p:extLst>
      <p:ext uri="{BB962C8B-B14F-4D97-AF65-F5344CB8AC3E}">
        <p14:creationId xmlns:p14="http://schemas.microsoft.com/office/powerpoint/2010/main" val="202890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640938-4972-C45B-C67A-05CC2F709F7A}"/>
              </a:ext>
            </a:extLst>
          </p:cNvPr>
          <p:cNvSpPr txBox="1"/>
          <p:nvPr/>
        </p:nvSpPr>
        <p:spPr>
          <a:xfrm>
            <a:off x="4980676" y="1346225"/>
            <a:ext cx="2387192" cy="1077218"/>
          </a:xfrm>
          <a:prstGeom prst="rect">
            <a:avLst/>
          </a:prstGeom>
          <a:noFill/>
        </p:spPr>
        <p:txBody>
          <a:bodyPr wrap="none" rtlCol="0">
            <a:spAutoFit/>
          </a:bodyPr>
          <a:lstStyle/>
          <a:p>
            <a:pPr algn="ctr"/>
            <a:r>
              <a:rPr lang="en-US" sz="3200">
                <a:solidFill>
                  <a:schemeClr val="bg1"/>
                </a:solidFill>
              </a:rPr>
              <a:t>Legislation </a:t>
            </a:r>
          </a:p>
          <a:p>
            <a:pPr algn="ctr"/>
            <a:r>
              <a:rPr lang="en-US" sz="3200">
                <a:solidFill>
                  <a:schemeClr val="bg1"/>
                </a:solidFill>
              </a:rPr>
              <a:t>and timeline</a:t>
            </a:r>
          </a:p>
        </p:txBody>
      </p:sp>
      <p:pic>
        <p:nvPicPr>
          <p:cNvPr id="4" name="Graphic 3" descr="Clipboard with solid fill">
            <a:extLst>
              <a:ext uri="{FF2B5EF4-FFF2-40B4-BE49-F238E27FC236}">
                <a16:creationId xmlns:a16="http://schemas.microsoft.com/office/drawing/2014/main" id="{5FBBA83D-A194-9C94-C462-EB8A7E732D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49986" y="2423443"/>
            <a:ext cx="2892027" cy="2892027"/>
          </a:xfrm>
          <a:prstGeom prst="rect">
            <a:avLst/>
          </a:prstGeom>
        </p:spPr>
      </p:pic>
    </p:spTree>
    <p:extLst>
      <p:ext uri="{BB962C8B-B14F-4D97-AF65-F5344CB8AC3E}">
        <p14:creationId xmlns:p14="http://schemas.microsoft.com/office/powerpoint/2010/main" val="624801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0C094-64EB-DA17-0BFB-84105BCF1063}"/>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AFE625B9-3C6D-C8FF-C23A-E6D494EE5963}"/>
              </a:ext>
            </a:extLst>
          </p:cNvPr>
          <p:cNvPicPr>
            <a:picLocks noGrp="1" noChangeAspect="1"/>
          </p:cNvPicPr>
          <p:nvPr>
            <p:ph idx="1"/>
          </p:nvPr>
        </p:nvPicPr>
        <p:blipFill>
          <a:blip r:embed="rId2"/>
          <a:stretch>
            <a:fillRect/>
          </a:stretch>
        </p:blipFill>
        <p:spPr>
          <a:xfrm>
            <a:off x="86810" y="271176"/>
            <a:ext cx="11593973" cy="6582490"/>
          </a:xfrm>
        </p:spPr>
      </p:pic>
      <p:sp>
        <p:nvSpPr>
          <p:cNvPr id="7" name="Title 4">
            <a:extLst>
              <a:ext uri="{FF2B5EF4-FFF2-40B4-BE49-F238E27FC236}">
                <a16:creationId xmlns:a16="http://schemas.microsoft.com/office/drawing/2014/main" id="{7B8441CC-9EF6-478C-2B55-43CB1480670B}"/>
              </a:ext>
            </a:extLst>
          </p:cNvPr>
          <p:cNvSpPr txBox="1">
            <a:spLocks/>
          </p:cNvSpPr>
          <p:nvPr/>
        </p:nvSpPr>
        <p:spPr>
          <a:xfrm>
            <a:off x="508322" y="141348"/>
            <a:ext cx="11345118" cy="968677"/>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srgbClr val="009999"/>
                </a:solidFill>
                <a:latin typeface="+mn-lt"/>
                <a:ea typeface="Calibri Light"/>
                <a:cs typeface="Calibri Light"/>
              </a:rPr>
              <a:t>NECPRs and other reporting streams under the </a:t>
            </a:r>
            <a:r>
              <a:rPr lang="en-US" sz="3600" dirty="0" err="1">
                <a:solidFill>
                  <a:srgbClr val="009999"/>
                </a:solidFill>
                <a:latin typeface="+mn-lt"/>
                <a:ea typeface="Calibri Light"/>
                <a:cs typeface="Calibri Light"/>
              </a:rPr>
              <a:t>GovReg</a:t>
            </a:r>
            <a:endParaRPr lang="en-US" sz="3600" dirty="0" err="1">
              <a:solidFill>
                <a:srgbClr val="009999"/>
              </a:solidFill>
              <a:latin typeface="Aptos"/>
              <a:ea typeface="Calibri Light"/>
              <a:cs typeface="Calibri Light"/>
            </a:endParaRPr>
          </a:p>
        </p:txBody>
      </p:sp>
    </p:spTree>
    <p:extLst>
      <p:ext uri="{BB962C8B-B14F-4D97-AF65-F5344CB8AC3E}">
        <p14:creationId xmlns:p14="http://schemas.microsoft.com/office/powerpoint/2010/main" val="3250703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349829-751D-06CA-F7DF-2773C36DD638}"/>
              </a:ext>
            </a:extLst>
          </p:cNvPr>
          <p:cNvSpPr txBox="1"/>
          <p:nvPr/>
        </p:nvSpPr>
        <p:spPr>
          <a:xfrm>
            <a:off x="4670638" y="565804"/>
            <a:ext cx="7878726" cy="646331"/>
          </a:xfrm>
          <a:prstGeom prst="rect">
            <a:avLst/>
          </a:prstGeom>
          <a:noFill/>
        </p:spPr>
        <p:txBody>
          <a:bodyPr wrap="square" lIns="91440" tIns="45720" rIns="91440" bIns="45720" rtlCol="0" anchor="t">
            <a:spAutoFit/>
          </a:bodyPr>
          <a:lstStyle/>
          <a:p>
            <a:r>
              <a:rPr lang="en-US" sz="3600" dirty="0">
                <a:solidFill>
                  <a:srgbClr val="009999"/>
                </a:solidFill>
              </a:rPr>
              <a:t>Legislative Framework</a:t>
            </a:r>
          </a:p>
        </p:txBody>
      </p:sp>
      <p:sp>
        <p:nvSpPr>
          <p:cNvPr id="8" name="TextBox 7">
            <a:extLst>
              <a:ext uri="{FF2B5EF4-FFF2-40B4-BE49-F238E27FC236}">
                <a16:creationId xmlns:a16="http://schemas.microsoft.com/office/drawing/2014/main" id="{4D7E68BC-FA71-E7E8-D056-3301B1D1BABD}"/>
              </a:ext>
            </a:extLst>
          </p:cNvPr>
          <p:cNvSpPr txBox="1"/>
          <p:nvPr/>
        </p:nvSpPr>
        <p:spPr>
          <a:xfrm>
            <a:off x="4680284" y="1364599"/>
            <a:ext cx="6774426" cy="4247317"/>
          </a:xfrm>
          <a:prstGeom prst="rect">
            <a:avLst/>
          </a:prstGeom>
          <a:noFill/>
        </p:spPr>
        <p:txBody>
          <a:bodyPr wrap="square" lIns="91440" tIns="45720" rIns="91440" bIns="45720" anchor="t">
            <a:spAutoFit/>
          </a:bodyPr>
          <a:lstStyle/>
          <a:p>
            <a:pPr algn="just"/>
            <a:r>
              <a:rPr lang="en-US" sz="1600" b="1" i="0" cap="all" dirty="0">
                <a:solidFill>
                  <a:srgbClr val="002060"/>
                </a:solidFill>
                <a:effectLst/>
              </a:rPr>
              <a:t>Regulation (EU) 2018/1999 on the Governance of the Energy Union and Climate Action</a:t>
            </a:r>
            <a:r>
              <a:rPr lang="en-US" sz="1600" b="1" cap="all" dirty="0">
                <a:solidFill>
                  <a:srgbClr val="002060"/>
                </a:solidFill>
              </a:rPr>
              <a:t> </a:t>
            </a:r>
            <a:r>
              <a:rPr lang="en-US" sz="1600" b="1" i="1" dirty="0">
                <a:solidFill>
                  <a:schemeClr val="accent2">
                    <a:lumMod val="76000"/>
                  </a:schemeClr>
                </a:solidFill>
              </a:rPr>
              <a:t>incorporated and adapted by the ministerial council decision 2021/14/mc-enc of 30 </a:t>
            </a:r>
            <a:r>
              <a:rPr lang="en-US" sz="1600" b="1" i="1" dirty="0" err="1">
                <a:solidFill>
                  <a:schemeClr val="accent2">
                    <a:lumMod val="76000"/>
                  </a:schemeClr>
                </a:solidFill>
              </a:rPr>
              <a:t>november</a:t>
            </a:r>
            <a:r>
              <a:rPr lang="en-US" sz="1600" b="1" i="1" dirty="0">
                <a:solidFill>
                  <a:schemeClr val="accent2">
                    <a:lumMod val="76000"/>
                  </a:schemeClr>
                </a:solidFill>
              </a:rPr>
              <a:t> 2021</a:t>
            </a:r>
            <a:endParaRPr lang="en-US" sz="1600" cap="all" dirty="0">
              <a:solidFill>
                <a:schemeClr val="accent2">
                  <a:lumMod val="76000"/>
                </a:schemeClr>
              </a:solidFill>
            </a:endParaRPr>
          </a:p>
          <a:p>
            <a:pPr algn="just"/>
            <a:endParaRPr lang="en-US" sz="1600" b="1" i="0" cap="all" dirty="0">
              <a:solidFill>
                <a:srgbClr val="002060"/>
              </a:solidFill>
              <a:effectLst/>
            </a:endParaRPr>
          </a:p>
          <a:p>
            <a:pPr algn="just"/>
            <a:r>
              <a:rPr lang="en-US" sz="1600" dirty="0"/>
              <a:t>Article 17 Integrated national energy and climate progress reports </a:t>
            </a:r>
          </a:p>
          <a:p>
            <a:pPr algn="just"/>
            <a:r>
              <a:rPr lang="en-US" sz="1600" dirty="0">
                <a:effectLst/>
              </a:rPr>
              <a:t>Article 19 Integrated reporting on national adaptation actions</a:t>
            </a:r>
          </a:p>
          <a:p>
            <a:pPr algn="just"/>
            <a:endParaRPr lang="en-US" sz="1600" b="1">
              <a:solidFill>
                <a:srgbClr val="008080"/>
              </a:solidFill>
            </a:endParaRPr>
          </a:p>
          <a:p>
            <a:pPr algn="just"/>
            <a:r>
              <a:rPr lang="en-US" sz="1600" b="1" i="0" dirty="0">
                <a:solidFill>
                  <a:srgbClr val="002060"/>
                </a:solidFill>
                <a:effectLst/>
              </a:rPr>
              <a:t>IMPLEMENTING REGULATION (EU) 2020/1208</a:t>
            </a:r>
            <a:r>
              <a:rPr lang="en-US" sz="1600" b="1" dirty="0">
                <a:solidFill>
                  <a:srgbClr val="002060"/>
                </a:solidFill>
              </a:rPr>
              <a:t> </a:t>
            </a:r>
            <a:r>
              <a:rPr lang="en-US" sz="1600" b="1" i="0" dirty="0">
                <a:solidFill>
                  <a:srgbClr val="002060"/>
                </a:solidFill>
                <a:effectLst/>
              </a:rPr>
              <a:t>on structure, format, submission processes and review of information reported by Member States pursuant to Regulation (EU) 2018/1999 </a:t>
            </a:r>
            <a:endParaRPr lang="en-US" sz="1400" b="1" dirty="0">
              <a:solidFill>
                <a:srgbClr val="008080"/>
              </a:solidFill>
            </a:endParaRPr>
          </a:p>
          <a:p>
            <a:pPr algn="just"/>
            <a:r>
              <a:rPr lang="en-US" sz="1600" dirty="0"/>
              <a:t>Article 4 and Annex I - Reporting</a:t>
            </a:r>
            <a:r>
              <a:rPr lang="fr-FR" sz="1600" dirty="0"/>
              <a:t> on national adaptation actions</a:t>
            </a:r>
          </a:p>
          <a:p>
            <a:pPr algn="just"/>
            <a:endParaRPr lang="fr-FR" sz="1400" b="1">
              <a:solidFill>
                <a:srgbClr val="008080"/>
              </a:solidFill>
            </a:endParaRPr>
          </a:p>
          <a:p>
            <a:pPr algn="just"/>
            <a:r>
              <a:rPr lang="en-US" sz="1600" b="1" i="0" dirty="0">
                <a:solidFill>
                  <a:srgbClr val="002060"/>
                </a:solidFill>
                <a:effectLst/>
              </a:rPr>
              <a:t>IMPLEMENTING REGULATION (EU) 2022/2299 as regards the structure, format, technical details and process for the integrated national energy and climate progress reports</a:t>
            </a:r>
            <a:endParaRPr lang="en-US" sz="1400" b="1" dirty="0">
              <a:solidFill>
                <a:srgbClr val="008080"/>
              </a:solidFill>
            </a:endParaRPr>
          </a:p>
          <a:p>
            <a:pPr algn="just"/>
            <a:r>
              <a:rPr lang="en-US" sz="1600" dirty="0"/>
              <a:t>Annex III </a:t>
            </a:r>
            <a:r>
              <a:rPr lang="en-US" sz="1600" dirty="0" err="1"/>
              <a:t>Decarbonisation</a:t>
            </a:r>
            <a:r>
              <a:rPr lang="en-US" sz="1600" dirty="0"/>
              <a:t> - Adaptation progress reporting</a:t>
            </a:r>
          </a:p>
          <a:p>
            <a:pPr algn="just"/>
            <a:endParaRPr lang="en-US" sz="1600" i="0" dirty="0">
              <a:effectLst/>
            </a:endParaRPr>
          </a:p>
        </p:txBody>
      </p:sp>
      <p:pic>
        <p:nvPicPr>
          <p:cNvPr id="3" name="Picture 2" descr="A group of people walking on a bridge&#10;&#10;AI-generated content may be incorrect.">
            <a:extLst>
              <a:ext uri="{FF2B5EF4-FFF2-40B4-BE49-F238E27FC236}">
                <a16:creationId xmlns:a16="http://schemas.microsoft.com/office/drawing/2014/main" id="{2A27AB75-F16A-7836-F9E3-4B58A3F88107}"/>
              </a:ext>
            </a:extLst>
          </p:cNvPr>
          <p:cNvPicPr>
            <a:picLocks noChangeAspect="1"/>
          </p:cNvPicPr>
          <p:nvPr/>
        </p:nvPicPr>
        <p:blipFill>
          <a:blip r:embed="rId3">
            <a:extLst>
              <a:ext uri="{28A0092B-C50C-407E-A947-70E740481C1C}">
                <a14:useLocalDpi xmlns:a14="http://schemas.microsoft.com/office/drawing/2010/main" val="0"/>
              </a:ext>
            </a:extLst>
          </a:blip>
          <a:srcRect l="38821" t="15605" r="25211"/>
          <a:stretch/>
        </p:blipFill>
        <p:spPr>
          <a:xfrm>
            <a:off x="0" y="0"/>
            <a:ext cx="4385187" cy="6858000"/>
          </a:xfrm>
          <a:prstGeom prst="rect">
            <a:avLst/>
          </a:prstGeom>
        </p:spPr>
      </p:pic>
      <p:sp>
        <p:nvSpPr>
          <p:cNvPr id="7" name="TextBox 6">
            <a:extLst>
              <a:ext uri="{FF2B5EF4-FFF2-40B4-BE49-F238E27FC236}">
                <a16:creationId xmlns:a16="http://schemas.microsoft.com/office/drawing/2014/main" id="{688EAF90-5BDF-47FA-3628-AA248904EC08}"/>
              </a:ext>
            </a:extLst>
          </p:cNvPr>
          <p:cNvSpPr txBox="1"/>
          <p:nvPr/>
        </p:nvSpPr>
        <p:spPr>
          <a:xfrm>
            <a:off x="120037" y="6473087"/>
            <a:ext cx="6272980" cy="261610"/>
          </a:xfrm>
          <a:prstGeom prst="rect">
            <a:avLst/>
          </a:prstGeom>
          <a:noFill/>
        </p:spPr>
        <p:txBody>
          <a:bodyPr wrap="square">
            <a:spAutoFit/>
          </a:bodyPr>
          <a:lstStyle/>
          <a:p>
            <a:r>
              <a:rPr lang="en-US" sz="1100">
                <a:solidFill>
                  <a:schemeClr val="bg1"/>
                </a:solidFill>
              </a:rPr>
              <a:t>©T</a:t>
            </a:r>
            <a:r>
              <a:rPr lang="en-DK" sz="1100">
                <a:solidFill>
                  <a:schemeClr val="bg1"/>
                </a:solidFill>
              </a:rPr>
              <a:t>Peter </a:t>
            </a:r>
            <a:r>
              <a:rPr lang="en-DK" sz="1100" err="1">
                <a:solidFill>
                  <a:schemeClr val="bg1"/>
                </a:solidFill>
              </a:rPr>
              <a:t>Vadocz</a:t>
            </a:r>
            <a:r>
              <a:rPr lang="en-DK" sz="1100">
                <a:solidFill>
                  <a:schemeClr val="bg1"/>
                </a:solidFill>
              </a:rPr>
              <a:t>, Urban Treasures  EEA</a:t>
            </a:r>
          </a:p>
        </p:txBody>
      </p:sp>
      <p:sp>
        <p:nvSpPr>
          <p:cNvPr id="9" name="TextBox 8">
            <a:extLst>
              <a:ext uri="{FF2B5EF4-FFF2-40B4-BE49-F238E27FC236}">
                <a16:creationId xmlns:a16="http://schemas.microsoft.com/office/drawing/2014/main" id="{F569F198-CC04-97D4-A186-FD4F87116D63}"/>
              </a:ext>
            </a:extLst>
          </p:cNvPr>
          <p:cNvSpPr txBox="1"/>
          <p:nvPr/>
        </p:nvSpPr>
        <p:spPr>
          <a:xfrm>
            <a:off x="8092249" y="6093802"/>
            <a:ext cx="6129336" cy="276999"/>
          </a:xfrm>
          <a:prstGeom prst="rect">
            <a:avLst/>
          </a:prstGeom>
          <a:noFill/>
        </p:spPr>
        <p:txBody>
          <a:bodyPr wrap="square">
            <a:spAutoFit/>
          </a:bodyPr>
          <a:lstStyle/>
          <a:p>
            <a:r>
              <a:rPr lang="fr-FR" sz="1200">
                <a:hlinkClick r:id="rId4"/>
              </a:rPr>
              <a:t>EUR-Lex - 32022R2299 - EN - EUR-Lex</a:t>
            </a:r>
            <a:endParaRPr lang="en-DK" sz="1200"/>
          </a:p>
        </p:txBody>
      </p:sp>
      <p:sp>
        <p:nvSpPr>
          <p:cNvPr id="10" name="TextBox 9">
            <a:extLst>
              <a:ext uri="{FF2B5EF4-FFF2-40B4-BE49-F238E27FC236}">
                <a16:creationId xmlns:a16="http://schemas.microsoft.com/office/drawing/2014/main" id="{19204FBA-05A8-EA05-5D0E-B707F121C73F}"/>
              </a:ext>
            </a:extLst>
          </p:cNvPr>
          <p:cNvSpPr txBox="1"/>
          <p:nvPr/>
        </p:nvSpPr>
        <p:spPr>
          <a:xfrm>
            <a:off x="8092249" y="6308370"/>
            <a:ext cx="7472148" cy="276999"/>
          </a:xfrm>
          <a:prstGeom prst="rect">
            <a:avLst/>
          </a:prstGeom>
          <a:noFill/>
        </p:spPr>
        <p:txBody>
          <a:bodyPr wrap="square">
            <a:spAutoFit/>
          </a:bodyPr>
          <a:lstStyle/>
          <a:p>
            <a:r>
              <a:rPr lang="fr-FR" sz="1200">
                <a:hlinkClick r:id="rId4"/>
              </a:rPr>
              <a:t>EUR-Lex - 32022R2299 - EN - EUR-Lex</a:t>
            </a:r>
            <a:endParaRPr lang="en-DK" sz="1200"/>
          </a:p>
        </p:txBody>
      </p:sp>
      <p:pic>
        <p:nvPicPr>
          <p:cNvPr id="11" name="Picture 10" descr="A logo with a black background&#10;&#10;Description automatically generated">
            <a:extLst>
              <a:ext uri="{FF2B5EF4-FFF2-40B4-BE49-F238E27FC236}">
                <a16:creationId xmlns:a16="http://schemas.microsoft.com/office/drawing/2014/main" id="{F571063A-30FA-D82A-7BCE-60CA5EDE53E4}"/>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28623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CAB47B-05C3-FCDB-C473-10993B7DE6CC}"/>
              </a:ext>
            </a:extLst>
          </p:cNvPr>
          <p:cNvSpPr txBox="1"/>
          <p:nvPr/>
        </p:nvSpPr>
        <p:spPr>
          <a:xfrm>
            <a:off x="330753" y="733246"/>
            <a:ext cx="11165747" cy="6370975"/>
          </a:xfrm>
          <a:prstGeom prst="rect">
            <a:avLst/>
          </a:prstGeom>
          <a:noFill/>
        </p:spPr>
        <p:txBody>
          <a:bodyPr wrap="square" lIns="91440" tIns="45720" rIns="91440" bIns="45720" rtlCol="0" anchor="t">
            <a:spAutoFit/>
          </a:bodyPr>
          <a:lstStyle/>
          <a:p>
            <a:pPr algn="just"/>
            <a:r>
              <a:rPr lang="en-US" b="1" i="0" dirty="0">
                <a:solidFill>
                  <a:srgbClr val="002060"/>
                </a:solidFill>
                <a:effectLst/>
              </a:rPr>
              <a:t>COMMISSION IMPLEMENTING REGULATION (EU) 2020/1208</a:t>
            </a:r>
            <a:r>
              <a:rPr lang="en-US" b="1" dirty="0">
                <a:solidFill>
                  <a:srgbClr val="002060"/>
                </a:solidFill>
              </a:rPr>
              <a:t> </a:t>
            </a:r>
          </a:p>
          <a:p>
            <a:pPr algn="just"/>
            <a:r>
              <a:rPr lang="en-US" sz="1600" b="1" i="0" dirty="0">
                <a:solidFill>
                  <a:srgbClr val="002060"/>
                </a:solidFill>
                <a:effectLst/>
              </a:rPr>
              <a:t>on structure, format, submission processes and review of information reported by </a:t>
            </a:r>
            <a:r>
              <a:rPr lang="en-US" sz="1600" b="1" dirty="0">
                <a:solidFill>
                  <a:srgbClr val="002060"/>
                </a:solidFill>
              </a:rPr>
              <a:t>Contracting Parties</a:t>
            </a:r>
            <a:r>
              <a:rPr lang="en-US" sz="1600" b="1" i="0" dirty="0">
                <a:solidFill>
                  <a:srgbClr val="002060"/>
                </a:solidFill>
                <a:effectLst/>
              </a:rPr>
              <a:t> </a:t>
            </a:r>
            <a:r>
              <a:rPr lang="en-US" sz="1600" b="1" dirty="0">
                <a:solidFill>
                  <a:srgbClr val="002060"/>
                </a:solidFill>
              </a:rPr>
              <a:t>(CPs) </a:t>
            </a:r>
            <a:r>
              <a:rPr lang="en-US" sz="1600" b="1" i="0" dirty="0">
                <a:solidFill>
                  <a:srgbClr val="002060"/>
                </a:solidFill>
                <a:effectLst/>
              </a:rPr>
              <a:t>pursuant to Regulation (EU) </a:t>
            </a:r>
            <a:r>
              <a:rPr lang="en-US" sz="1600" b="1" dirty="0">
                <a:solidFill>
                  <a:srgbClr val="002060"/>
                </a:solidFill>
              </a:rPr>
              <a:t>2018/1999 </a:t>
            </a:r>
            <a:r>
              <a:rPr lang="en-US" sz="1600" b="1" i="1" dirty="0">
                <a:solidFill>
                  <a:schemeClr val="accent2">
                    <a:lumMod val="76000"/>
                  </a:schemeClr>
                </a:solidFill>
              </a:rPr>
              <a:t>incorporated and adapted by the Ministerial Council Decision 2021/14/MC-</a:t>
            </a:r>
            <a:r>
              <a:rPr lang="en-US" sz="1600" b="1" i="1" dirty="0" err="1">
                <a:solidFill>
                  <a:schemeClr val="accent2">
                    <a:lumMod val="76000"/>
                  </a:schemeClr>
                </a:solidFill>
              </a:rPr>
              <a:t>EnC</a:t>
            </a:r>
            <a:r>
              <a:rPr lang="en-US" sz="1600" b="1" i="1" dirty="0">
                <a:solidFill>
                  <a:schemeClr val="accent2">
                    <a:lumMod val="76000"/>
                  </a:schemeClr>
                </a:solidFill>
              </a:rPr>
              <a:t> of 30 November 2021</a:t>
            </a:r>
          </a:p>
          <a:p>
            <a:pPr algn="just"/>
            <a:r>
              <a:rPr lang="en-US" dirty="0">
                <a:solidFill>
                  <a:srgbClr val="009999"/>
                </a:solidFill>
              </a:rPr>
              <a:t>Article 4 and Annex I - Reporting</a:t>
            </a:r>
            <a:r>
              <a:rPr lang="fr-FR" dirty="0">
                <a:solidFill>
                  <a:srgbClr val="009999"/>
                </a:solidFill>
              </a:rPr>
              <a:t> on national adaptation actions</a:t>
            </a:r>
          </a:p>
          <a:p>
            <a:pPr marL="342900" indent="-342900" algn="just">
              <a:buFont typeface="+mj-lt"/>
              <a:buAutoNum type="arabicPeriod"/>
            </a:pPr>
            <a:r>
              <a:rPr lang="en-US" sz="1600" dirty="0">
                <a:solidFill>
                  <a:srgbClr val="333333"/>
                </a:solidFill>
                <a:effectLst/>
              </a:rPr>
              <a:t>National circumstances, impacts, vulnerabilities, risks and adaptive capacity</a:t>
            </a:r>
            <a:endParaRPr lang="fr-FR" sz="1600">
              <a:solidFill>
                <a:srgbClr val="333333"/>
              </a:solidFill>
              <a:effectLst/>
            </a:endParaRPr>
          </a:p>
          <a:p>
            <a:pPr marL="342900" indent="-342900" algn="just">
              <a:buFont typeface="+mj-lt"/>
              <a:buAutoNum type="arabicPeriod"/>
            </a:pPr>
            <a:r>
              <a:rPr lang="en-US" sz="1600" dirty="0">
                <a:solidFill>
                  <a:srgbClr val="333333"/>
                </a:solidFill>
                <a:effectLst/>
              </a:rPr>
              <a:t>Legal and policy frameworks and institutional arrangements</a:t>
            </a:r>
          </a:p>
          <a:p>
            <a:pPr marL="342900" indent="-342900" algn="just">
              <a:buFont typeface="+mj-lt"/>
              <a:buAutoNum type="arabicPeriod"/>
            </a:pPr>
            <a:r>
              <a:rPr lang="en-US" sz="1600" dirty="0">
                <a:solidFill>
                  <a:srgbClr val="333333"/>
                </a:solidFill>
                <a:effectLst/>
              </a:rPr>
              <a:t>Adaptation strategies, policies, plans and goals</a:t>
            </a:r>
          </a:p>
          <a:p>
            <a:pPr marL="342900" indent="-342900" algn="just">
              <a:buFont typeface="+mj-lt"/>
              <a:buAutoNum type="arabicPeriod"/>
            </a:pPr>
            <a:r>
              <a:rPr lang="en-US" sz="1600" dirty="0">
                <a:solidFill>
                  <a:srgbClr val="333333"/>
                </a:solidFill>
                <a:effectLst/>
              </a:rPr>
              <a:t>Monitoring and evaluation of adaptation actions and processes</a:t>
            </a:r>
            <a:endParaRPr lang="en-US" sz="1600" dirty="0">
              <a:solidFill>
                <a:srgbClr val="333333"/>
              </a:solidFill>
            </a:endParaRPr>
          </a:p>
          <a:p>
            <a:pPr marL="342900" indent="-342900" algn="just">
              <a:buFont typeface="+mj-lt"/>
              <a:buAutoNum type="arabicPeriod"/>
            </a:pPr>
            <a:r>
              <a:rPr lang="en-US" sz="1600" dirty="0">
                <a:solidFill>
                  <a:srgbClr val="333333"/>
                </a:solidFill>
                <a:effectLst/>
              </a:rPr>
              <a:t>Cooperation, good practices, synergies, experience and lessons learned in the field of adaptation</a:t>
            </a:r>
          </a:p>
          <a:p>
            <a:pPr marL="342900" indent="-342900" algn="just">
              <a:buFont typeface="+mj-lt"/>
              <a:buAutoNum type="arabicPeriod"/>
            </a:pPr>
            <a:r>
              <a:rPr lang="en-US" sz="1600" dirty="0">
                <a:solidFill>
                  <a:srgbClr val="333333"/>
                </a:solidFill>
                <a:effectLst/>
              </a:rPr>
              <a:t>Any other information related to climate change impacts and adaptation</a:t>
            </a:r>
            <a:endParaRPr lang="en-US" sz="1600" b="1" i="0">
              <a:solidFill>
                <a:srgbClr val="008080"/>
              </a:solidFill>
              <a:effectLst/>
            </a:endParaRPr>
          </a:p>
          <a:p>
            <a:pPr algn="just"/>
            <a:endParaRPr lang="en-US" sz="1600" b="1">
              <a:solidFill>
                <a:srgbClr val="333333"/>
              </a:solidFill>
            </a:endParaRPr>
          </a:p>
          <a:p>
            <a:pPr algn="just"/>
            <a:r>
              <a:rPr lang="en-US" b="1" i="0" dirty="0">
                <a:solidFill>
                  <a:srgbClr val="002060"/>
                </a:solidFill>
                <a:effectLst/>
              </a:rPr>
              <a:t>COMMISSION IMPLEMENTING REGULATION (EU) 2022/2299 </a:t>
            </a:r>
          </a:p>
          <a:p>
            <a:pPr algn="just"/>
            <a:r>
              <a:rPr lang="en-US" sz="1600" b="1" i="0" dirty="0">
                <a:solidFill>
                  <a:srgbClr val="002060"/>
                </a:solidFill>
                <a:effectLst/>
              </a:rPr>
              <a:t>laying down rules for the application of Regulation (EU) 2018/1999 as regards the structure, format, technical details and process for the integrated national energy and climate progress reports</a:t>
            </a:r>
            <a:r>
              <a:rPr lang="en-US" sz="1600" b="1" dirty="0">
                <a:solidFill>
                  <a:srgbClr val="002060"/>
                </a:solidFill>
              </a:rPr>
              <a:t> </a:t>
            </a:r>
            <a:r>
              <a:rPr lang="en-US" sz="1600" b="1" i="1" dirty="0">
                <a:solidFill>
                  <a:schemeClr val="accent2">
                    <a:lumMod val="76000"/>
                  </a:schemeClr>
                </a:solidFill>
              </a:rPr>
              <a:t>incorporated and adapted by the Ministerial Council Decision 2024/01/PHLG-</a:t>
            </a:r>
            <a:r>
              <a:rPr lang="en-US" sz="1600" b="1" i="1" dirty="0" err="1">
                <a:solidFill>
                  <a:schemeClr val="accent2">
                    <a:lumMod val="76000"/>
                  </a:schemeClr>
                </a:solidFill>
              </a:rPr>
              <a:t>EnC</a:t>
            </a:r>
            <a:r>
              <a:rPr lang="en-US" sz="1600" b="1" i="1" dirty="0">
                <a:solidFill>
                  <a:schemeClr val="accent2">
                    <a:lumMod val="76000"/>
                  </a:schemeClr>
                </a:solidFill>
              </a:rPr>
              <a:t> of 11 December 2024</a:t>
            </a:r>
            <a:endParaRPr lang="en-US" sz="1600" dirty="0">
              <a:solidFill>
                <a:schemeClr val="accent2">
                  <a:lumMod val="76000"/>
                </a:schemeClr>
              </a:solidFill>
            </a:endParaRPr>
          </a:p>
          <a:p>
            <a:pPr algn="just"/>
            <a:endParaRPr lang="en-US" sz="1600" b="1" i="0" dirty="0">
              <a:solidFill>
                <a:srgbClr val="002060"/>
              </a:solidFill>
              <a:effectLst/>
            </a:endParaRPr>
          </a:p>
          <a:p>
            <a:r>
              <a:rPr lang="en-US" i="0" dirty="0">
                <a:solidFill>
                  <a:srgbClr val="009999"/>
                </a:solidFill>
                <a:effectLst/>
              </a:rPr>
              <a:t>Article 2 and Annex III - Reporting on progress with respect to the </a:t>
            </a:r>
            <a:r>
              <a:rPr lang="en-US" i="0" dirty="0" err="1">
                <a:solidFill>
                  <a:srgbClr val="009999"/>
                </a:solidFill>
                <a:effectLst/>
              </a:rPr>
              <a:t>decarbonisation</a:t>
            </a:r>
            <a:r>
              <a:rPr lang="en-US" i="0" dirty="0">
                <a:solidFill>
                  <a:srgbClr val="009999"/>
                </a:solidFill>
                <a:effectLst/>
              </a:rPr>
              <a:t> dimension</a:t>
            </a:r>
          </a:p>
          <a:p>
            <a:r>
              <a:rPr lang="en-US" sz="1600" dirty="0">
                <a:solidFill>
                  <a:srgbClr val="333333"/>
                </a:solidFill>
              </a:rPr>
              <a:t>CPs</a:t>
            </a:r>
            <a:r>
              <a:rPr lang="en-US" sz="1600" b="0" i="0" dirty="0">
                <a:solidFill>
                  <a:srgbClr val="333333"/>
                </a:solidFill>
                <a:effectLst/>
              </a:rPr>
              <a:t> shall report the information on adaptation referred to in Article 4, point (a)(1) of Regulation (EU) 2018/1999 in accordance with the formats set out in Annex III.</a:t>
            </a:r>
          </a:p>
          <a:p>
            <a:endParaRPr lang="en-US" sz="1600">
              <a:solidFill>
                <a:srgbClr val="333333"/>
              </a:solidFill>
            </a:endParaRPr>
          </a:p>
          <a:p>
            <a:r>
              <a:rPr lang="en-US" sz="1600" i="0" u="sng" dirty="0">
                <a:effectLst/>
              </a:rPr>
              <a:t>Annex III – </a:t>
            </a:r>
            <a:r>
              <a:rPr lang="en-US" sz="1600" u="sng" dirty="0" err="1"/>
              <a:t>Decarbonisation</a:t>
            </a:r>
            <a:r>
              <a:rPr lang="en-US" sz="1600" i="0" u="sng" dirty="0">
                <a:effectLst/>
              </a:rPr>
              <a:t>: Adaptation</a:t>
            </a:r>
          </a:p>
          <a:p>
            <a:r>
              <a:rPr lang="en-US" sz="1600" dirty="0">
                <a:solidFill>
                  <a:srgbClr val="333333"/>
                </a:solidFill>
              </a:rPr>
              <a:t>Table 1 	</a:t>
            </a:r>
            <a:r>
              <a:rPr lang="en-US" sz="1600" dirty="0"/>
              <a:t>Adaptation goals in integrated national energy and climate plans</a:t>
            </a:r>
          </a:p>
          <a:p>
            <a:r>
              <a:rPr lang="en-US" sz="1600" dirty="0">
                <a:solidFill>
                  <a:srgbClr val="333333"/>
                </a:solidFill>
              </a:rPr>
              <a:t>Table 2 	</a:t>
            </a:r>
            <a:r>
              <a:rPr lang="en-US" sz="1600" dirty="0"/>
              <a:t>Information on adaptation, which may affect delivery of Energy Union objectives and targets and the long-term Union GHG emission reduction commitments under the Paris Agreement</a:t>
            </a:r>
          </a:p>
        </p:txBody>
      </p:sp>
      <p:sp>
        <p:nvSpPr>
          <p:cNvPr id="6" name="TextBox 5">
            <a:extLst>
              <a:ext uri="{FF2B5EF4-FFF2-40B4-BE49-F238E27FC236}">
                <a16:creationId xmlns:a16="http://schemas.microsoft.com/office/drawing/2014/main" id="{F4E0BE40-5C03-10E5-D814-6624DCCC9934}"/>
              </a:ext>
            </a:extLst>
          </p:cNvPr>
          <p:cNvSpPr txBox="1"/>
          <p:nvPr/>
        </p:nvSpPr>
        <p:spPr>
          <a:xfrm>
            <a:off x="330753" y="62916"/>
            <a:ext cx="8955881" cy="646331"/>
          </a:xfrm>
          <a:prstGeom prst="rect">
            <a:avLst/>
          </a:prstGeom>
          <a:noFill/>
        </p:spPr>
        <p:txBody>
          <a:bodyPr wrap="square" lIns="91440" tIns="45720" rIns="91440" bIns="45720" anchor="t">
            <a:spAutoFit/>
          </a:bodyPr>
          <a:lstStyle/>
          <a:p>
            <a:pPr>
              <a:defRPr/>
            </a:pPr>
            <a:r>
              <a:rPr lang="en-US" sz="3600" dirty="0">
                <a:solidFill>
                  <a:srgbClr val="009999"/>
                </a:solidFill>
              </a:rPr>
              <a:t>Adapted </a:t>
            </a:r>
            <a:r>
              <a:rPr kumimoji="0" lang="en-US" sz="3600" i="0" u="none" strike="noStrike" kern="1200" cap="none" spc="0" normalizeH="0" baseline="0" noProof="0" dirty="0">
                <a:ln>
                  <a:noFill/>
                </a:ln>
                <a:solidFill>
                  <a:srgbClr val="009999"/>
                </a:solidFill>
                <a:effectLst/>
                <a:uLnTx/>
                <a:uFillTx/>
                <a:ea typeface="+mn-ea"/>
                <a:cs typeface="+mn-cs"/>
              </a:rPr>
              <a:t>Governance Regulation</a:t>
            </a:r>
            <a:endParaRPr kumimoji="0" lang="en-DK" sz="3600" i="0" u="none" strike="noStrike" kern="1200" cap="none" spc="0" normalizeH="0" baseline="0" noProof="0" dirty="0">
              <a:ln>
                <a:noFill/>
              </a:ln>
              <a:solidFill>
                <a:srgbClr val="009999"/>
              </a:solidFill>
              <a:effectLst/>
              <a:uLnTx/>
              <a:uFillTx/>
              <a:ea typeface="+mn-ea"/>
              <a:cs typeface="+mn-cs"/>
            </a:endParaRPr>
          </a:p>
        </p:txBody>
      </p:sp>
      <p:pic>
        <p:nvPicPr>
          <p:cNvPr id="3" name="Picture 2" descr="A logo with a black background&#10;&#10;Description automatically generated">
            <a:extLst>
              <a:ext uri="{FF2B5EF4-FFF2-40B4-BE49-F238E27FC236}">
                <a16:creationId xmlns:a16="http://schemas.microsoft.com/office/drawing/2014/main" id="{0DA5B6E5-3B2E-9C7C-58E0-34FBD549A3E2}"/>
              </a:ext>
            </a:extLst>
          </p:cNvPr>
          <p:cNvPicPr>
            <a:picLocks noChangeAspect="1"/>
          </p:cNvPicPr>
          <p:nvPr/>
        </p:nvPicPr>
        <p:blipFill rotWithShape="1">
          <a:blip r:embed="rId3">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4675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CC279-8C2A-2BBB-BCE5-67379D041F63}"/>
            </a:ext>
          </a:extLst>
        </p:cNvPr>
        <p:cNvGrpSpPr/>
        <p:nvPr/>
      </p:nvGrpSpPr>
      <p:grpSpPr>
        <a:xfrm>
          <a:off x="0" y="0"/>
          <a:ext cx="0" cy="0"/>
          <a:chOff x="0" y="0"/>
          <a:chExt cx="0" cy="0"/>
        </a:xfrm>
      </p:grpSpPr>
      <p:cxnSp>
        <p:nvCxnSpPr>
          <p:cNvPr id="2" name="Elbow Connector 7">
            <a:extLst>
              <a:ext uri="{FF2B5EF4-FFF2-40B4-BE49-F238E27FC236}">
                <a16:creationId xmlns:a16="http://schemas.microsoft.com/office/drawing/2014/main" id="{A9979654-5256-4BE6-634E-26A98DE68E20}"/>
              </a:ext>
            </a:extLst>
          </p:cNvPr>
          <p:cNvCxnSpPr>
            <a:cxnSpLocks/>
          </p:cNvCxnSpPr>
          <p:nvPr/>
        </p:nvCxnSpPr>
        <p:spPr>
          <a:xfrm rot="16200000" flipV="1">
            <a:off x="9532965" y="2634285"/>
            <a:ext cx="861616" cy="125677"/>
          </a:xfrm>
          <a:prstGeom prst="bentConnector2">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D56133A-13B3-4706-EDA4-4AEEDE96923F}"/>
              </a:ext>
            </a:extLst>
          </p:cNvPr>
          <p:cNvSpPr txBox="1"/>
          <p:nvPr/>
        </p:nvSpPr>
        <p:spPr>
          <a:xfrm>
            <a:off x="-15714" y="416425"/>
            <a:ext cx="12192000" cy="646331"/>
          </a:xfrm>
          <a:prstGeom prst="rect">
            <a:avLst/>
          </a:prstGeom>
          <a:noFill/>
        </p:spPr>
        <p:txBody>
          <a:bodyPr wrap="square" lIns="91440" tIns="45720" rIns="91440" bIns="45720" rtlCol="0" anchor="t">
            <a:spAutoFit/>
          </a:bodyPr>
          <a:lstStyle/>
          <a:p>
            <a:pPr algn="ctr">
              <a:defRPr/>
            </a:pPr>
            <a:r>
              <a:rPr kumimoji="0" lang="en-GB" sz="3600" i="0" u="none" strike="noStrike" kern="1200" cap="none" spc="0" normalizeH="0" baseline="0" noProof="0" dirty="0">
                <a:ln>
                  <a:noFill/>
                </a:ln>
                <a:solidFill>
                  <a:srgbClr val="009999"/>
                </a:solidFill>
                <a:effectLst/>
                <a:uLnTx/>
                <a:uFillTx/>
                <a:latin typeface="Aptos"/>
              </a:rPr>
              <a:t>Timeline of the 2025 </a:t>
            </a:r>
            <a:r>
              <a:rPr lang="en-GB" sz="3600" dirty="0">
                <a:solidFill>
                  <a:srgbClr val="009999"/>
                </a:solidFill>
                <a:latin typeface="Aptos"/>
              </a:rPr>
              <a:t>reporting</a:t>
            </a:r>
            <a:r>
              <a:rPr kumimoji="0" lang="en-GB" sz="3600" i="0" u="none" strike="noStrike" kern="1200" cap="none" spc="0" normalizeH="0" baseline="0" noProof="0" dirty="0">
                <a:ln>
                  <a:noFill/>
                </a:ln>
                <a:solidFill>
                  <a:srgbClr val="009999"/>
                </a:solidFill>
                <a:effectLst/>
                <a:uLnTx/>
                <a:uFillTx/>
                <a:latin typeface="Aptos"/>
              </a:rPr>
              <a:t> cycle – deadline 15 March</a:t>
            </a:r>
            <a:endParaRPr kumimoji="0" lang="en-DK" sz="3600" i="0" u="none" strike="noStrike" kern="1200" cap="none" spc="0" normalizeH="0" baseline="0" noProof="0" dirty="0">
              <a:ln>
                <a:noFill/>
              </a:ln>
              <a:solidFill>
                <a:srgbClr val="009999"/>
              </a:solidFill>
              <a:effectLst/>
              <a:uLnTx/>
              <a:uFillTx/>
              <a:latin typeface="Aptos"/>
            </a:endParaRPr>
          </a:p>
        </p:txBody>
      </p:sp>
      <p:grpSp>
        <p:nvGrpSpPr>
          <p:cNvPr id="5" name="Group 4">
            <a:extLst>
              <a:ext uri="{FF2B5EF4-FFF2-40B4-BE49-F238E27FC236}">
                <a16:creationId xmlns:a16="http://schemas.microsoft.com/office/drawing/2014/main" id="{4D7AF36E-8885-81A6-6B5D-8020D0CF4F59}"/>
              </a:ext>
            </a:extLst>
          </p:cNvPr>
          <p:cNvGrpSpPr/>
          <p:nvPr/>
        </p:nvGrpSpPr>
        <p:grpSpPr>
          <a:xfrm>
            <a:off x="6501939" y="1753117"/>
            <a:ext cx="4894239" cy="3655143"/>
            <a:chOff x="7294665" y="1815269"/>
            <a:chExt cx="4894239" cy="3655143"/>
          </a:xfrm>
        </p:grpSpPr>
        <p:cxnSp>
          <p:nvCxnSpPr>
            <p:cNvPr id="6" name="Straight Connector 5">
              <a:extLst>
                <a:ext uri="{FF2B5EF4-FFF2-40B4-BE49-F238E27FC236}">
                  <a16:creationId xmlns:a16="http://schemas.microsoft.com/office/drawing/2014/main" id="{E615F7D2-3D4B-E4A0-2CDC-E96855CC7935}"/>
                </a:ext>
              </a:extLst>
            </p:cNvPr>
            <p:cNvCxnSpPr>
              <a:cxnSpLocks/>
            </p:cNvCxnSpPr>
            <p:nvPr/>
          </p:nvCxnSpPr>
          <p:spPr>
            <a:xfrm>
              <a:off x="10819852" y="3628114"/>
              <a:ext cx="0" cy="1842298"/>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B4EACBC6-39A4-5902-7855-9E9BEC168297}"/>
                </a:ext>
              </a:extLst>
            </p:cNvPr>
            <p:cNvGrpSpPr/>
            <p:nvPr/>
          </p:nvGrpSpPr>
          <p:grpSpPr>
            <a:xfrm>
              <a:off x="7294665" y="1815269"/>
              <a:ext cx="4894239" cy="3612339"/>
              <a:chOff x="7294665" y="1815269"/>
              <a:chExt cx="4894239" cy="3612339"/>
            </a:xfrm>
          </p:grpSpPr>
          <p:sp>
            <p:nvSpPr>
              <p:cNvPr id="8" name="Freeform 59">
                <a:extLst>
                  <a:ext uri="{FF2B5EF4-FFF2-40B4-BE49-F238E27FC236}">
                    <a16:creationId xmlns:a16="http://schemas.microsoft.com/office/drawing/2014/main" id="{E75BBF54-8186-D079-1B61-A1AD54E48A86}"/>
                  </a:ext>
                </a:extLst>
              </p:cNvPr>
              <p:cNvSpPr/>
              <p:nvPr/>
            </p:nvSpPr>
            <p:spPr>
              <a:xfrm>
                <a:off x="8116387" y="3050014"/>
                <a:ext cx="1571746" cy="578101"/>
              </a:xfrm>
              <a:custGeom>
                <a:avLst/>
                <a:gdLst>
                  <a:gd name="connsiteX0" fmla="*/ 0 w 1636834"/>
                  <a:gd name="connsiteY0" fmla="*/ 0 h 654733"/>
                  <a:gd name="connsiteX1" fmla="*/ 1309468 w 1636834"/>
                  <a:gd name="connsiteY1" fmla="*/ 0 h 654733"/>
                  <a:gd name="connsiteX2" fmla="*/ 1636834 w 1636834"/>
                  <a:gd name="connsiteY2" fmla="*/ 327367 h 654733"/>
                  <a:gd name="connsiteX3" fmla="*/ 1309468 w 1636834"/>
                  <a:gd name="connsiteY3" fmla="*/ 654733 h 654733"/>
                  <a:gd name="connsiteX4" fmla="*/ 0 w 1636834"/>
                  <a:gd name="connsiteY4" fmla="*/ 654733 h 654733"/>
                  <a:gd name="connsiteX5" fmla="*/ 327367 w 1636834"/>
                  <a:gd name="connsiteY5" fmla="*/ 327367 h 654733"/>
                  <a:gd name="connsiteX6" fmla="*/ 0 w 1636834"/>
                  <a:gd name="connsiteY6" fmla="*/ 0 h 654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6834" h="654733">
                    <a:moveTo>
                      <a:pt x="0" y="0"/>
                    </a:moveTo>
                    <a:lnTo>
                      <a:pt x="1309468" y="0"/>
                    </a:lnTo>
                    <a:lnTo>
                      <a:pt x="1636834" y="327367"/>
                    </a:lnTo>
                    <a:lnTo>
                      <a:pt x="1309468" y="654733"/>
                    </a:lnTo>
                    <a:lnTo>
                      <a:pt x="0" y="654733"/>
                    </a:lnTo>
                    <a:lnTo>
                      <a:pt x="327367" y="327367"/>
                    </a:lnTo>
                    <a:lnTo>
                      <a:pt x="0" y="0"/>
                    </a:lnTo>
                    <a:close/>
                  </a:path>
                </a:pathLst>
              </a:custGeom>
              <a:solidFill>
                <a:schemeClr val="bg1">
                  <a:lumMod val="75000"/>
                </a:schemeClr>
              </a:solidFill>
              <a:ln>
                <a:solidFill>
                  <a:schemeClr val="tx2">
                    <a:lumMod val="75000"/>
                    <a:alpha val="91000"/>
                  </a:schemeClr>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79374" tIns="34671" rIns="344702" bIns="3467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r>
                  <a:rPr kumimoji="0" lang="en-GB" sz="1300" b="1" i="0" u="none" strike="noStrike" kern="1200" cap="none" spc="0" normalizeH="0" baseline="0" noProof="0">
                    <a:ln>
                      <a:noFill/>
                    </a:ln>
                    <a:solidFill>
                      <a:srgbClr val="113A60"/>
                    </a:solidFill>
                    <a:effectLst/>
                    <a:uLnTx/>
                    <a:uFillTx/>
                    <a:ea typeface="+mn-ea"/>
                    <a:cs typeface="+mn-cs"/>
                  </a:rPr>
                  <a:t>Aug.</a:t>
                </a:r>
              </a:p>
            </p:txBody>
          </p:sp>
          <p:sp>
            <p:nvSpPr>
              <p:cNvPr id="9" name="Freeform 60">
                <a:extLst>
                  <a:ext uri="{FF2B5EF4-FFF2-40B4-BE49-F238E27FC236}">
                    <a16:creationId xmlns:a16="http://schemas.microsoft.com/office/drawing/2014/main" id="{C4C639BF-4DF0-789F-C6FD-8E46EDB67CBA}"/>
                  </a:ext>
                </a:extLst>
              </p:cNvPr>
              <p:cNvSpPr/>
              <p:nvPr/>
            </p:nvSpPr>
            <p:spPr>
              <a:xfrm>
                <a:off x="9373783" y="3050014"/>
                <a:ext cx="1571746" cy="578101"/>
              </a:xfrm>
              <a:custGeom>
                <a:avLst/>
                <a:gdLst>
                  <a:gd name="connsiteX0" fmla="*/ 0 w 1636834"/>
                  <a:gd name="connsiteY0" fmla="*/ 0 h 654733"/>
                  <a:gd name="connsiteX1" fmla="*/ 1309468 w 1636834"/>
                  <a:gd name="connsiteY1" fmla="*/ 0 h 654733"/>
                  <a:gd name="connsiteX2" fmla="*/ 1636834 w 1636834"/>
                  <a:gd name="connsiteY2" fmla="*/ 327367 h 654733"/>
                  <a:gd name="connsiteX3" fmla="*/ 1309468 w 1636834"/>
                  <a:gd name="connsiteY3" fmla="*/ 654733 h 654733"/>
                  <a:gd name="connsiteX4" fmla="*/ 0 w 1636834"/>
                  <a:gd name="connsiteY4" fmla="*/ 654733 h 654733"/>
                  <a:gd name="connsiteX5" fmla="*/ 327367 w 1636834"/>
                  <a:gd name="connsiteY5" fmla="*/ 327367 h 654733"/>
                  <a:gd name="connsiteX6" fmla="*/ 0 w 1636834"/>
                  <a:gd name="connsiteY6" fmla="*/ 0 h 654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6834" h="654733">
                    <a:moveTo>
                      <a:pt x="0" y="0"/>
                    </a:moveTo>
                    <a:lnTo>
                      <a:pt x="1309468" y="0"/>
                    </a:lnTo>
                    <a:lnTo>
                      <a:pt x="1636834" y="327367"/>
                    </a:lnTo>
                    <a:lnTo>
                      <a:pt x="1309468" y="654733"/>
                    </a:lnTo>
                    <a:lnTo>
                      <a:pt x="0" y="654733"/>
                    </a:lnTo>
                    <a:lnTo>
                      <a:pt x="327367" y="327367"/>
                    </a:lnTo>
                    <a:lnTo>
                      <a:pt x="0" y="0"/>
                    </a:lnTo>
                    <a:close/>
                  </a:path>
                </a:pathLst>
              </a:custGeom>
              <a:solidFill>
                <a:schemeClr val="bg1">
                  <a:lumMod val="50000"/>
                </a:schemeClr>
              </a:solidFill>
              <a:ln>
                <a:solidFill>
                  <a:schemeClr val="tx2">
                    <a:lumMod val="75000"/>
                    <a:alpha val="91000"/>
                  </a:schemeClr>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79374" tIns="34671" rIns="344702" bIns="3467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r>
                  <a:rPr kumimoji="0" lang="en-GB" sz="1300" b="1" i="0" u="none" strike="noStrike" kern="1200" cap="none" spc="0" normalizeH="0" baseline="0" noProof="0">
                    <a:ln>
                      <a:noFill/>
                    </a:ln>
                    <a:solidFill>
                      <a:schemeClr val="bg1"/>
                    </a:solidFill>
                    <a:effectLst/>
                    <a:uLnTx/>
                    <a:uFillTx/>
                    <a:ea typeface="+mn-ea"/>
                    <a:cs typeface="+mn-cs"/>
                  </a:rPr>
                  <a:t>Sept.</a:t>
                </a:r>
              </a:p>
            </p:txBody>
          </p:sp>
          <p:sp>
            <p:nvSpPr>
              <p:cNvPr id="10" name="Freeform 36">
                <a:extLst>
                  <a:ext uri="{FF2B5EF4-FFF2-40B4-BE49-F238E27FC236}">
                    <a16:creationId xmlns:a16="http://schemas.microsoft.com/office/drawing/2014/main" id="{EE2F6E5B-F676-A75D-29B7-AC6887CAB44C}"/>
                  </a:ext>
                </a:extLst>
              </p:cNvPr>
              <p:cNvSpPr/>
              <p:nvPr/>
            </p:nvSpPr>
            <p:spPr>
              <a:xfrm>
                <a:off x="10617158" y="3050014"/>
                <a:ext cx="1571746" cy="578101"/>
              </a:xfrm>
              <a:custGeom>
                <a:avLst/>
                <a:gdLst>
                  <a:gd name="connsiteX0" fmla="*/ 0 w 1636834"/>
                  <a:gd name="connsiteY0" fmla="*/ 0 h 654733"/>
                  <a:gd name="connsiteX1" fmla="*/ 1309468 w 1636834"/>
                  <a:gd name="connsiteY1" fmla="*/ 0 h 654733"/>
                  <a:gd name="connsiteX2" fmla="*/ 1636834 w 1636834"/>
                  <a:gd name="connsiteY2" fmla="*/ 327367 h 654733"/>
                  <a:gd name="connsiteX3" fmla="*/ 1309468 w 1636834"/>
                  <a:gd name="connsiteY3" fmla="*/ 654733 h 654733"/>
                  <a:gd name="connsiteX4" fmla="*/ 0 w 1636834"/>
                  <a:gd name="connsiteY4" fmla="*/ 654733 h 654733"/>
                  <a:gd name="connsiteX5" fmla="*/ 327367 w 1636834"/>
                  <a:gd name="connsiteY5" fmla="*/ 327367 h 654733"/>
                  <a:gd name="connsiteX6" fmla="*/ 0 w 1636834"/>
                  <a:gd name="connsiteY6" fmla="*/ 0 h 654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6834" h="654733">
                    <a:moveTo>
                      <a:pt x="0" y="0"/>
                    </a:moveTo>
                    <a:lnTo>
                      <a:pt x="1309468" y="0"/>
                    </a:lnTo>
                    <a:lnTo>
                      <a:pt x="1636834" y="327367"/>
                    </a:lnTo>
                    <a:lnTo>
                      <a:pt x="1309468" y="654733"/>
                    </a:lnTo>
                    <a:lnTo>
                      <a:pt x="0" y="654733"/>
                    </a:lnTo>
                    <a:lnTo>
                      <a:pt x="327367" y="327367"/>
                    </a:lnTo>
                    <a:lnTo>
                      <a:pt x="0" y="0"/>
                    </a:lnTo>
                    <a:close/>
                  </a:path>
                </a:pathLst>
              </a:custGeom>
              <a:solidFill>
                <a:schemeClr val="bg1">
                  <a:lumMod val="50000"/>
                </a:schemeClr>
              </a:solidFill>
              <a:ln>
                <a:solidFill>
                  <a:schemeClr val="tx2">
                    <a:lumMod val="75000"/>
                    <a:alpha val="91000"/>
                  </a:schemeClr>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79374" tIns="34671" rIns="344702" bIns="3467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r>
                  <a:rPr kumimoji="0" lang="en-GB" sz="1300" b="1" i="0" u="none" strike="noStrike" kern="1200" cap="none" spc="0" normalizeH="0" baseline="0" noProof="0">
                    <a:ln>
                      <a:noFill/>
                    </a:ln>
                    <a:solidFill>
                      <a:schemeClr val="bg1"/>
                    </a:solidFill>
                    <a:effectLst/>
                    <a:uLnTx/>
                    <a:uFillTx/>
                    <a:ea typeface="+mn-ea"/>
                    <a:cs typeface="+mn-cs"/>
                  </a:rPr>
                  <a:t>Oct.</a:t>
                </a:r>
              </a:p>
            </p:txBody>
          </p:sp>
          <p:sp>
            <p:nvSpPr>
              <p:cNvPr id="11" name="Left-Right Arrow Callout 41">
                <a:extLst>
                  <a:ext uri="{FF2B5EF4-FFF2-40B4-BE49-F238E27FC236}">
                    <a16:creationId xmlns:a16="http://schemas.microsoft.com/office/drawing/2014/main" id="{8C101955-C821-D132-BBE9-E876CF7F790E}"/>
                  </a:ext>
                </a:extLst>
              </p:cNvPr>
              <p:cNvSpPr/>
              <p:nvPr/>
            </p:nvSpPr>
            <p:spPr>
              <a:xfrm>
                <a:off x="7294665" y="4002988"/>
                <a:ext cx="3525188" cy="1424620"/>
              </a:xfrm>
              <a:prstGeom prst="leftRightArrowCallout">
                <a:avLst>
                  <a:gd name="adj1" fmla="val 7585"/>
                  <a:gd name="adj2" fmla="val 8007"/>
                  <a:gd name="adj3" fmla="val 8531"/>
                  <a:gd name="adj4" fmla="val 79927"/>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a:defRPr/>
                </a:pPr>
                <a:r>
                  <a:rPr kumimoji="0" lang="en-GB" sz="1600" b="1" i="0" u="none" strike="noStrike" kern="1200" cap="none" spc="0" normalizeH="0" baseline="0" noProof="0" dirty="0">
                    <a:ln>
                      <a:noFill/>
                    </a:ln>
                    <a:solidFill>
                      <a:prstClr val="white"/>
                    </a:solidFill>
                    <a:effectLst/>
                    <a:uLnTx/>
                    <a:uFillTx/>
                    <a:ea typeface="+mn-ea"/>
                    <a:cs typeface="+mn-cs"/>
                  </a:rPr>
                  <a:t>Data use in the </a:t>
                </a:r>
                <a:r>
                  <a:rPr lang="en-GB" sz="1600" b="1" dirty="0" err="1">
                    <a:solidFill>
                      <a:prstClr val="white"/>
                    </a:solidFill>
                  </a:rPr>
                  <a:t>EnCS</a:t>
                </a:r>
                <a:r>
                  <a:rPr lang="en-GB" sz="1600" b="1" dirty="0">
                    <a:solidFill>
                      <a:prstClr val="white"/>
                    </a:solidFill>
                  </a:rPr>
                  <a:t> / E</a:t>
                </a:r>
                <a:r>
                  <a:rPr kumimoji="0" lang="en-GB" sz="1600" b="1" i="0" u="none" strike="noStrike" kern="1200" cap="none" spc="0" normalizeH="0" baseline="0" noProof="0" dirty="0">
                    <a:ln>
                      <a:noFill/>
                    </a:ln>
                    <a:solidFill>
                      <a:prstClr val="white"/>
                    </a:solidFill>
                    <a:effectLst/>
                    <a:uLnTx/>
                    <a:uFillTx/>
                    <a:ea typeface="+mn-ea"/>
                    <a:cs typeface="+mn-cs"/>
                  </a:rPr>
                  <a:t>EA products</a:t>
                </a:r>
              </a:p>
            </p:txBody>
          </p:sp>
          <p:sp>
            <p:nvSpPr>
              <p:cNvPr id="12" name="Rectangle 11">
                <a:extLst>
                  <a:ext uri="{FF2B5EF4-FFF2-40B4-BE49-F238E27FC236}">
                    <a16:creationId xmlns:a16="http://schemas.microsoft.com/office/drawing/2014/main" id="{B9542D40-0787-68AC-06EC-FC030D4439FF}"/>
                  </a:ext>
                </a:extLst>
              </p:cNvPr>
              <p:cNvSpPr/>
              <p:nvPr/>
            </p:nvSpPr>
            <p:spPr>
              <a:xfrm>
                <a:off x="8336325" y="1815269"/>
                <a:ext cx="2357335" cy="101316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dirty="0">
                    <a:solidFill>
                      <a:prstClr val="white"/>
                    </a:solidFill>
                  </a:rPr>
                  <a:t>Datasets</a:t>
                </a:r>
                <a:r>
                  <a:rPr kumimoji="0" lang="en-GB" sz="1600" b="1" i="0" u="none" strike="noStrike" kern="1200" cap="none" spc="0" normalizeH="0" baseline="0" noProof="0" dirty="0">
                    <a:ln>
                      <a:noFill/>
                    </a:ln>
                    <a:solidFill>
                      <a:prstClr val="white"/>
                    </a:solidFill>
                    <a:effectLst/>
                    <a:uLnTx/>
                    <a:uFillTx/>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ea typeface="+mn-ea"/>
                    <a:cs typeface="+mn-cs"/>
                  </a:rPr>
                  <a:t>published</a:t>
                </a:r>
                <a:endParaRPr lang="en-GB" sz="1600" b="1" i="0" u="none" strike="noStrike" kern="1200" cap="none" spc="0" normalizeH="0" baseline="0" noProof="0" dirty="0">
                  <a:ln>
                    <a:noFill/>
                  </a:ln>
                  <a:solidFill>
                    <a:prstClr val="white"/>
                  </a:solidFill>
                  <a:effectLst/>
                  <a:uLnTx/>
                  <a:uFillTx/>
                </a:endParaRPr>
              </a:p>
            </p:txBody>
          </p:sp>
        </p:grpSp>
      </p:grpSp>
      <p:grpSp>
        <p:nvGrpSpPr>
          <p:cNvPr id="13" name="Group 12">
            <a:extLst>
              <a:ext uri="{FF2B5EF4-FFF2-40B4-BE49-F238E27FC236}">
                <a16:creationId xmlns:a16="http://schemas.microsoft.com/office/drawing/2014/main" id="{E60B875E-8544-06EC-8886-A5A7AB9D0F36}"/>
              </a:ext>
            </a:extLst>
          </p:cNvPr>
          <p:cNvGrpSpPr/>
          <p:nvPr/>
        </p:nvGrpSpPr>
        <p:grpSpPr>
          <a:xfrm>
            <a:off x="1" y="1753117"/>
            <a:ext cx="7652031" cy="3662736"/>
            <a:chOff x="795734" y="1815269"/>
            <a:chExt cx="7652031" cy="3662736"/>
          </a:xfrm>
        </p:grpSpPr>
        <p:grpSp>
          <p:nvGrpSpPr>
            <p:cNvPr id="14" name="Group 13">
              <a:extLst>
                <a:ext uri="{FF2B5EF4-FFF2-40B4-BE49-F238E27FC236}">
                  <a16:creationId xmlns:a16="http://schemas.microsoft.com/office/drawing/2014/main" id="{FEA8E651-C9F9-BCC7-6AC0-26B0F2F6455D}"/>
                </a:ext>
              </a:extLst>
            </p:cNvPr>
            <p:cNvGrpSpPr/>
            <p:nvPr/>
          </p:nvGrpSpPr>
          <p:grpSpPr>
            <a:xfrm>
              <a:off x="2564944" y="1815269"/>
              <a:ext cx="3354093" cy="1368194"/>
              <a:chOff x="3277438" y="1233254"/>
              <a:chExt cx="3784917" cy="1555067"/>
            </a:xfrm>
          </p:grpSpPr>
          <p:cxnSp>
            <p:nvCxnSpPr>
              <p:cNvPr id="25" name="Elbow Connector 7">
                <a:extLst>
                  <a:ext uri="{FF2B5EF4-FFF2-40B4-BE49-F238E27FC236}">
                    <a16:creationId xmlns:a16="http://schemas.microsoft.com/office/drawing/2014/main" id="{43E20B0F-ABB4-F307-2255-4FB7F2F6B4D4}"/>
                  </a:ext>
                </a:extLst>
              </p:cNvPr>
              <p:cNvCxnSpPr>
                <a:cxnSpLocks/>
                <a:endCxn id="26" idx="1"/>
              </p:cNvCxnSpPr>
              <p:nvPr/>
            </p:nvCxnSpPr>
            <p:spPr>
              <a:xfrm rot="5400000" flipH="1" flipV="1">
                <a:off x="2894553" y="2191911"/>
                <a:ext cx="979295" cy="213526"/>
              </a:xfrm>
              <a:prstGeom prst="bentConnector2">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65FF6F7A-EE0E-5D1A-1D70-BBEB34AE2A4F}"/>
                  </a:ext>
                </a:extLst>
              </p:cNvPr>
              <p:cNvSpPr/>
              <p:nvPr/>
            </p:nvSpPr>
            <p:spPr>
              <a:xfrm>
                <a:off x="3490963" y="1233254"/>
                <a:ext cx="3571392" cy="11515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white"/>
                    </a:solidFill>
                    <a:effectLst/>
                    <a:uLnTx/>
                    <a:uFillTx/>
                    <a:ea typeface="+mn-ea"/>
                    <a:cs typeface="+mn-cs"/>
                  </a:rPr>
                  <a:t>15/03/2025</a:t>
                </a:r>
                <a:r>
                  <a:rPr kumimoji="0" lang="en-GB" sz="1600" b="0" i="0" u="none" strike="noStrike" kern="1200" cap="none" spc="0" normalizeH="0" baseline="0" noProof="0">
                    <a:ln>
                      <a:noFill/>
                    </a:ln>
                    <a:solidFill>
                      <a:prstClr val="white"/>
                    </a:solidFill>
                    <a:effectLst/>
                    <a:uLnTx/>
                    <a:uFillTx/>
                    <a:ea typeface="+mn-ea"/>
                    <a:cs typeface="+mn-cs"/>
                  </a:rPr>
                  <a:t> - </a:t>
                </a:r>
                <a:r>
                  <a:rPr kumimoji="0" lang="en-GB" sz="1600" b="1" i="0" u="none" strike="noStrike" kern="1200" cap="none" spc="0" normalizeH="0" baseline="0" noProof="0">
                    <a:ln>
                      <a:noFill/>
                    </a:ln>
                    <a:solidFill>
                      <a:prstClr val="white"/>
                    </a:solidFill>
                    <a:effectLst/>
                    <a:uLnTx/>
                    <a:uFillTx/>
                    <a:ea typeface="+mn-ea"/>
                    <a:cs typeface="+mn-cs"/>
                  </a:rPr>
                  <a:t>reporting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white"/>
                    </a:solidFill>
                    <a:effectLst/>
                    <a:uLnTx/>
                    <a:uFillTx/>
                    <a:ea typeface="+mn-ea"/>
                    <a:cs typeface="+mn-cs"/>
                  </a:rPr>
                  <a:t>deadline</a:t>
                </a:r>
              </a:p>
            </p:txBody>
          </p:sp>
        </p:grpSp>
        <p:cxnSp>
          <p:nvCxnSpPr>
            <p:cNvPr id="15" name="Straight Connector 14">
              <a:extLst>
                <a:ext uri="{FF2B5EF4-FFF2-40B4-BE49-F238E27FC236}">
                  <a16:creationId xmlns:a16="http://schemas.microsoft.com/office/drawing/2014/main" id="{444DEF61-6CC5-57BA-A527-89AE8C057561}"/>
                </a:ext>
              </a:extLst>
            </p:cNvPr>
            <p:cNvCxnSpPr>
              <a:cxnSpLocks/>
            </p:cNvCxnSpPr>
            <p:nvPr/>
          </p:nvCxnSpPr>
          <p:spPr>
            <a:xfrm>
              <a:off x="7297671" y="3628114"/>
              <a:ext cx="0" cy="1849891"/>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898F265-14C9-89A4-D9DC-40A4F6ED462E}"/>
                </a:ext>
              </a:extLst>
            </p:cNvPr>
            <p:cNvGrpSpPr/>
            <p:nvPr/>
          </p:nvGrpSpPr>
          <p:grpSpPr>
            <a:xfrm>
              <a:off x="2495693" y="3628114"/>
              <a:ext cx="3055961" cy="1842298"/>
              <a:chOff x="538942" y="3646922"/>
              <a:chExt cx="5137058" cy="2101236"/>
            </a:xfrm>
          </p:grpSpPr>
          <p:sp>
            <p:nvSpPr>
              <p:cNvPr id="23" name="Left-Right Arrow Callout 12">
                <a:extLst>
                  <a:ext uri="{FF2B5EF4-FFF2-40B4-BE49-F238E27FC236}">
                    <a16:creationId xmlns:a16="http://schemas.microsoft.com/office/drawing/2014/main" id="{B1FA4BEF-3F87-29DF-BD50-3309D845A7C8}"/>
                  </a:ext>
                </a:extLst>
              </p:cNvPr>
              <p:cNvSpPr/>
              <p:nvPr/>
            </p:nvSpPr>
            <p:spPr>
              <a:xfrm>
                <a:off x="538942" y="4074485"/>
                <a:ext cx="5137058" cy="1624853"/>
              </a:xfrm>
              <a:prstGeom prst="leftRightArrowCallout">
                <a:avLst>
                  <a:gd name="adj1" fmla="val 7585"/>
                  <a:gd name="adj2" fmla="val 8007"/>
                  <a:gd name="adj3" fmla="val 8531"/>
                  <a:gd name="adj4" fmla="val 8922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ea typeface="+mn-ea"/>
                    <a:cs typeface="+mn-cs"/>
                  </a:rPr>
                  <a:t>Quality </a:t>
                </a:r>
                <a:r>
                  <a:rPr lang="en-GB" sz="1600" b="1" dirty="0">
                    <a:solidFill>
                      <a:prstClr val="white"/>
                    </a:solidFill>
                  </a:rPr>
                  <a:t>assurance</a:t>
                </a:r>
                <a:r>
                  <a:rPr kumimoji="0" lang="en-GB" sz="1600" b="1" i="0" u="none" strike="noStrike" kern="1200" cap="none" spc="0" normalizeH="0" baseline="0" noProof="0" dirty="0">
                    <a:ln>
                      <a:noFill/>
                    </a:ln>
                    <a:solidFill>
                      <a:prstClr val="white"/>
                    </a:solidFill>
                    <a:effectLst/>
                    <a:uLnTx/>
                    <a:uFillTx/>
                    <a:ea typeface="+mn-ea"/>
                    <a:cs typeface="+mn-cs"/>
                  </a:rPr>
                  <a:t> and voluntary feedbacks shared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prstClr val="white"/>
                  </a:solidFill>
                  <a:effectLst/>
                  <a:uLnTx/>
                  <a:uFillTx/>
                  <a:ea typeface="+mn-ea"/>
                  <a:cs typeface="+mn-cs"/>
                </a:endParaRPr>
              </a:p>
            </p:txBody>
          </p:sp>
          <p:cxnSp>
            <p:nvCxnSpPr>
              <p:cNvPr id="24" name="Straight Connector 23">
                <a:extLst>
                  <a:ext uri="{FF2B5EF4-FFF2-40B4-BE49-F238E27FC236}">
                    <a16:creationId xmlns:a16="http://schemas.microsoft.com/office/drawing/2014/main" id="{0E00CC6F-310B-F01D-AA10-64CD1655D536}"/>
                  </a:ext>
                </a:extLst>
              </p:cNvPr>
              <p:cNvCxnSpPr>
                <a:cxnSpLocks/>
              </p:cNvCxnSpPr>
              <p:nvPr/>
            </p:nvCxnSpPr>
            <p:spPr>
              <a:xfrm>
                <a:off x="538944" y="3646922"/>
                <a:ext cx="0" cy="2101236"/>
              </a:xfrm>
              <a:prstGeom prst="line">
                <a:avLst/>
              </a:prstGeom>
              <a:ln w="38100"/>
            </p:spPr>
            <p:style>
              <a:lnRef idx="1">
                <a:schemeClr val="accent1"/>
              </a:lnRef>
              <a:fillRef idx="0">
                <a:schemeClr val="accent1"/>
              </a:fillRef>
              <a:effectRef idx="0">
                <a:schemeClr val="accent1"/>
              </a:effectRef>
              <a:fontRef idx="minor">
                <a:schemeClr val="tx1"/>
              </a:fontRef>
            </p:style>
          </p:cxnSp>
        </p:grpSp>
        <p:sp>
          <p:nvSpPr>
            <p:cNvPr id="17" name="Freeform 43">
              <a:extLst>
                <a:ext uri="{FF2B5EF4-FFF2-40B4-BE49-F238E27FC236}">
                  <a16:creationId xmlns:a16="http://schemas.microsoft.com/office/drawing/2014/main" id="{E924D631-1234-6D0E-D878-5CC5F9D3830B}"/>
                </a:ext>
              </a:extLst>
            </p:cNvPr>
            <p:cNvSpPr/>
            <p:nvPr/>
          </p:nvSpPr>
          <p:spPr>
            <a:xfrm>
              <a:off x="1829400" y="3050014"/>
              <a:ext cx="1571746" cy="578101"/>
            </a:xfrm>
            <a:custGeom>
              <a:avLst/>
              <a:gdLst>
                <a:gd name="connsiteX0" fmla="*/ 0 w 1636834"/>
                <a:gd name="connsiteY0" fmla="*/ 0 h 654733"/>
                <a:gd name="connsiteX1" fmla="*/ 1309468 w 1636834"/>
                <a:gd name="connsiteY1" fmla="*/ 0 h 654733"/>
                <a:gd name="connsiteX2" fmla="*/ 1636834 w 1636834"/>
                <a:gd name="connsiteY2" fmla="*/ 327367 h 654733"/>
                <a:gd name="connsiteX3" fmla="*/ 1309468 w 1636834"/>
                <a:gd name="connsiteY3" fmla="*/ 654733 h 654733"/>
                <a:gd name="connsiteX4" fmla="*/ 0 w 1636834"/>
                <a:gd name="connsiteY4" fmla="*/ 654733 h 654733"/>
                <a:gd name="connsiteX5" fmla="*/ 0 w 1636834"/>
                <a:gd name="connsiteY5" fmla="*/ 0 h 654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6834" h="654733">
                  <a:moveTo>
                    <a:pt x="0" y="0"/>
                  </a:moveTo>
                  <a:lnTo>
                    <a:pt x="1309468" y="0"/>
                  </a:lnTo>
                  <a:lnTo>
                    <a:pt x="1636834" y="327367"/>
                  </a:lnTo>
                  <a:lnTo>
                    <a:pt x="1309468" y="654733"/>
                  </a:lnTo>
                  <a:lnTo>
                    <a:pt x="0" y="654733"/>
                  </a:lnTo>
                  <a:lnTo>
                    <a:pt x="0" y="0"/>
                  </a:lnTo>
                  <a:close/>
                </a:path>
              </a:pathLst>
            </a:custGeom>
            <a:solidFill>
              <a:schemeClr val="bg1">
                <a:lumMod val="95000"/>
              </a:schemeClr>
            </a:solidFill>
            <a:ln>
              <a:solidFill>
                <a:schemeClr val="tx2">
                  <a:lumMod val="75000"/>
                  <a:alpha val="91000"/>
                </a:schemeClr>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69342" tIns="34671" rIns="181019" bIns="3467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r>
                <a:rPr kumimoji="0" lang="en-GB" sz="1300" b="1" i="0" u="none" strike="noStrike" kern="1200" cap="none" spc="0" normalizeH="0" baseline="0" noProof="0">
                  <a:ln>
                    <a:noFill/>
                  </a:ln>
                  <a:solidFill>
                    <a:srgbClr val="113A60"/>
                  </a:solidFill>
                  <a:effectLst/>
                  <a:uLnTx/>
                  <a:uFillTx/>
                  <a:ea typeface="+mn-ea"/>
                  <a:cs typeface="+mn-cs"/>
                </a:rPr>
                <a:t>Mar.</a:t>
              </a:r>
            </a:p>
          </p:txBody>
        </p:sp>
        <p:sp>
          <p:nvSpPr>
            <p:cNvPr id="18" name="Freeform 44">
              <a:extLst>
                <a:ext uri="{FF2B5EF4-FFF2-40B4-BE49-F238E27FC236}">
                  <a16:creationId xmlns:a16="http://schemas.microsoft.com/office/drawing/2014/main" id="{A9B81B6D-AC14-39AC-BA0A-405E32376D9E}"/>
                </a:ext>
              </a:extLst>
            </p:cNvPr>
            <p:cNvSpPr/>
            <p:nvPr/>
          </p:nvSpPr>
          <p:spPr>
            <a:xfrm>
              <a:off x="3086798" y="3050014"/>
              <a:ext cx="1571746" cy="578101"/>
            </a:xfrm>
            <a:custGeom>
              <a:avLst/>
              <a:gdLst>
                <a:gd name="connsiteX0" fmla="*/ 0 w 1636834"/>
                <a:gd name="connsiteY0" fmla="*/ 0 h 654733"/>
                <a:gd name="connsiteX1" fmla="*/ 1309468 w 1636834"/>
                <a:gd name="connsiteY1" fmla="*/ 0 h 654733"/>
                <a:gd name="connsiteX2" fmla="*/ 1636834 w 1636834"/>
                <a:gd name="connsiteY2" fmla="*/ 327367 h 654733"/>
                <a:gd name="connsiteX3" fmla="*/ 1309468 w 1636834"/>
                <a:gd name="connsiteY3" fmla="*/ 654733 h 654733"/>
                <a:gd name="connsiteX4" fmla="*/ 0 w 1636834"/>
                <a:gd name="connsiteY4" fmla="*/ 654733 h 654733"/>
                <a:gd name="connsiteX5" fmla="*/ 327367 w 1636834"/>
                <a:gd name="connsiteY5" fmla="*/ 327367 h 654733"/>
                <a:gd name="connsiteX6" fmla="*/ 0 w 1636834"/>
                <a:gd name="connsiteY6" fmla="*/ 0 h 654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6834" h="654733">
                  <a:moveTo>
                    <a:pt x="0" y="0"/>
                  </a:moveTo>
                  <a:lnTo>
                    <a:pt x="1309468" y="0"/>
                  </a:lnTo>
                  <a:lnTo>
                    <a:pt x="1636834" y="327367"/>
                  </a:lnTo>
                  <a:lnTo>
                    <a:pt x="1309468" y="654733"/>
                  </a:lnTo>
                  <a:lnTo>
                    <a:pt x="0" y="654733"/>
                  </a:lnTo>
                  <a:lnTo>
                    <a:pt x="327367" y="327367"/>
                  </a:lnTo>
                  <a:lnTo>
                    <a:pt x="0" y="0"/>
                  </a:lnTo>
                  <a:close/>
                </a:path>
              </a:pathLst>
            </a:custGeom>
            <a:solidFill>
              <a:schemeClr val="bg1">
                <a:lumMod val="95000"/>
              </a:schemeClr>
            </a:solidFill>
            <a:ln>
              <a:solidFill>
                <a:schemeClr val="tx2">
                  <a:lumMod val="75000"/>
                  <a:alpha val="91000"/>
                </a:schemeClr>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79374" tIns="34671" rIns="344702" bIns="3467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r>
                <a:rPr kumimoji="0" lang="en-GB" sz="1300" b="1" i="0" u="none" strike="noStrike" kern="1200" cap="none" spc="0" normalizeH="0" baseline="0" noProof="0">
                  <a:ln>
                    <a:noFill/>
                  </a:ln>
                  <a:solidFill>
                    <a:srgbClr val="113A60"/>
                  </a:solidFill>
                  <a:effectLst/>
                  <a:uLnTx/>
                  <a:uFillTx/>
                  <a:ea typeface="+mn-ea"/>
                  <a:cs typeface="+mn-cs"/>
                </a:rPr>
                <a:t>Apr.</a:t>
              </a:r>
            </a:p>
          </p:txBody>
        </p:sp>
        <p:sp>
          <p:nvSpPr>
            <p:cNvPr id="19" name="Freeform 47">
              <a:extLst>
                <a:ext uri="{FF2B5EF4-FFF2-40B4-BE49-F238E27FC236}">
                  <a16:creationId xmlns:a16="http://schemas.microsoft.com/office/drawing/2014/main" id="{D69315EA-4F11-4C2A-2939-BA05AEFE0A77}"/>
                </a:ext>
              </a:extLst>
            </p:cNvPr>
            <p:cNvSpPr/>
            <p:nvPr/>
          </p:nvSpPr>
          <p:spPr>
            <a:xfrm>
              <a:off x="4344194" y="3050014"/>
              <a:ext cx="1571746" cy="578101"/>
            </a:xfrm>
            <a:custGeom>
              <a:avLst/>
              <a:gdLst>
                <a:gd name="connsiteX0" fmla="*/ 0 w 1636834"/>
                <a:gd name="connsiteY0" fmla="*/ 0 h 654733"/>
                <a:gd name="connsiteX1" fmla="*/ 1309468 w 1636834"/>
                <a:gd name="connsiteY1" fmla="*/ 0 h 654733"/>
                <a:gd name="connsiteX2" fmla="*/ 1636834 w 1636834"/>
                <a:gd name="connsiteY2" fmla="*/ 327367 h 654733"/>
                <a:gd name="connsiteX3" fmla="*/ 1309468 w 1636834"/>
                <a:gd name="connsiteY3" fmla="*/ 654733 h 654733"/>
                <a:gd name="connsiteX4" fmla="*/ 0 w 1636834"/>
                <a:gd name="connsiteY4" fmla="*/ 654733 h 654733"/>
                <a:gd name="connsiteX5" fmla="*/ 327367 w 1636834"/>
                <a:gd name="connsiteY5" fmla="*/ 327367 h 654733"/>
                <a:gd name="connsiteX6" fmla="*/ 0 w 1636834"/>
                <a:gd name="connsiteY6" fmla="*/ 0 h 654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6834" h="654733">
                  <a:moveTo>
                    <a:pt x="0" y="0"/>
                  </a:moveTo>
                  <a:lnTo>
                    <a:pt x="1309468" y="0"/>
                  </a:lnTo>
                  <a:lnTo>
                    <a:pt x="1636834" y="327367"/>
                  </a:lnTo>
                  <a:lnTo>
                    <a:pt x="1309468" y="654733"/>
                  </a:lnTo>
                  <a:lnTo>
                    <a:pt x="0" y="654733"/>
                  </a:lnTo>
                  <a:lnTo>
                    <a:pt x="327367" y="327367"/>
                  </a:lnTo>
                  <a:lnTo>
                    <a:pt x="0" y="0"/>
                  </a:lnTo>
                  <a:close/>
                </a:path>
              </a:pathLst>
            </a:custGeom>
            <a:solidFill>
              <a:schemeClr val="bg1">
                <a:lumMod val="85000"/>
              </a:schemeClr>
            </a:solidFill>
            <a:ln>
              <a:solidFill>
                <a:schemeClr val="tx2">
                  <a:lumMod val="75000"/>
                  <a:alpha val="91000"/>
                </a:schemeClr>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79374" tIns="34671" rIns="344702" bIns="3467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r>
                <a:rPr kumimoji="0" lang="en-GB" sz="1300" b="1" i="0" u="none" strike="noStrike" kern="1200" cap="none" spc="0" normalizeH="0" baseline="0" noProof="0">
                  <a:ln>
                    <a:noFill/>
                  </a:ln>
                  <a:solidFill>
                    <a:srgbClr val="113A60"/>
                  </a:solidFill>
                  <a:effectLst/>
                  <a:uLnTx/>
                  <a:uFillTx/>
                  <a:ea typeface="+mn-ea"/>
                  <a:cs typeface="+mn-cs"/>
                </a:rPr>
                <a:t>May</a:t>
              </a:r>
            </a:p>
          </p:txBody>
        </p:sp>
        <p:sp>
          <p:nvSpPr>
            <p:cNvPr id="20" name="Freeform 51">
              <a:extLst>
                <a:ext uri="{FF2B5EF4-FFF2-40B4-BE49-F238E27FC236}">
                  <a16:creationId xmlns:a16="http://schemas.microsoft.com/office/drawing/2014/main" id="{2B202777-D6ED-314C-DDDD-C3BE4D30BDFD}"/>
                </a:ext>
              </a:extLst>
            </p:cNvPr>
            <p:cNvSpPr/>
            <p:nvPr/>
          </p:nvSpPr>
          <p:spPr>
            <a:xfrm>
              <a:off x="5601593" y="3050014"/>
              <a:ext cx="1571746" cy="578101"/>
            </a:xfrm>
            <a:custGeom>
              <a:avLst/>
              <a:gdLst>
                <a:gd name="connsiteX0" fmla="*/ 0 w 1636834"/>
                <a:gd name="connsiteY0" fmla="*/ 0 h 654733"/>
                <a:gd name="connsiteX1" fmla="*/ 1309468 w 1636834"/>
                <a:gd name="connsiteY1" fmla="*/ 0 h 654733"/>
                <a:gd name="connsiteX2" fmla="*/ 1636834 w 1636834"/>
                <a:gd name="connsiteY2" fmla="*/ 327367 h 654733"/>
                <a:gd name="connsiteX3" fmla="*/ 1309468 w 1636834"/>
                <a:gd name="connsiteY3" fmla="*/ 654733 h 654733"/>
                <a:gd name="connsiteX4" fmla="*/ 0 w 1636834"/>
                <a:gd name="connsiteY4" fmla="*/ 654733 h 654733"/>
                <a:gd name="connsiteX5" fmla="*/ 327367 w 1636834"/>
                <a:gd name="connsiteY5" fmla="*/ 327367 h 654733"/>
                <a:gd name="connsiteX6" fmla="*/ 0 w 1636834"/>
                <a:gd name="connsiteY6" fmla="*/ 0 h 654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6834" h="654733">
                  <a:moveTo>
                    <a:pt x="0" y="0"/>
                  </a:moveTo>
                  <a:lnTo>
                    <a:pt x="1309468" y="0"/>
                  </a:lnTo>
                  <a:lnTo>
                    <a:pt x="1636834" y="327367"/>
                  </a:lnTo>
                  <a:lnTo>
                    <a:pt x="1309468" y="654733"/>
                  </a:lnTo>
                  <a:lnTo>
                    <a:pt x="0" y="654733"/>
                  </a:lnTo>
                  <a:lnTo>
                    <a:pt x="327367" y="327367"/>
                  </a:lnTo>
                  <a:lnTo>
                    <a:pt x="0" y="0"/>
                  </a:lnTo>
                  <a:close/>
                </a:path>
              </a:pathLst>
            </a:custGeom>
            <a:solidFill>
              <a:schemeClr val="bg1">
                <a:lumMod val="85000"/>
              </a:schemeClr>
            </a:solidFill>
            <a:ln>
              <a:solidFill>
                <a:schemeClr val="tx2">
                  <a:lumMod val="75000"/>
                  <a:alpha val="91000"/>
                </a:schemeClr>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79374" tIns="34671" rIns="344702" bIns="3467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r>
                <a:rPr kumimoji="0" lang="en-GB" sz="1300" b="1" i="0" u="none" strike="noStrike" kern="1200" cap="none" spc="0" normalizeH="0" baseline="0" noProof="0">
                  <a:ln>
                    <a:noFill/>
                  </a:ln>
                  <a:solidFill>
                    <a:srgbClr val="113A60"/>
                  </a:solidFill>
                  <a:effectLst/>
                  <a:uLnTx/>
                  <a:uFillTx/>
                  <a:ea typeface="+mn-ea"/>
                  <a:cs typeface="+mn-cs"/>
                </a:rPr>
                <a:t>Jun.</a:t>
              </a:r>
            </a:p>
          </p:txBody>
        </p:sp>
        <p:sp>
          <p:nvSpPr>
            <p:cNvPr id="21" name="Freeform 54">
              <a:extLst>
                <a:ext uri="{FF2B5EF4-FFF2-40B4-BE49-F238E27FC236}">
                  <a16:creationId xmlns:a16="http://schemas.microsoft.com/office/drawing/2014/main" id="{2086045C-3098-6F49-4C67-C2851EE4A43E}"/>
                </a:ext>
              </a:extLst>
            </p:cNvPr>
            <p:cNvSpPr/>
            <p:nvPr/>
          </p:nvSpPr>
          <p:spPr>
            <a:xfrm>
              <a:off x="6876019" y="3050014"/>
              <a:ext cx="1571746" cy="578101"/>
            </a:xfrm>
            <a:custGeom>
              <a:avLst/>
              <a:gdLst>
                <a:gd name="connsiteX0" fmla="*/ 0 w 1636834"/>
                <a:gd name="connsiteY0" fmla="*/ 0 h 654733"/>
                <a:gd name="connsiteX1" fmla="*/ 1309468 w 1636834"/>
                <a:gd name="connsiteY1" fmla="*/ 0 h 654733"/>
                <a:gd name="connsiteX2" fmla="*/ 1636834 w 1636834"/>
                <a:gd name="connsiteY2" fmla="*/ 327367 h 654733"/>
                <a:gd name="connsiteX3" fmla="*/ 1309468 w 1636834"/>
                <a:gd name="connsiteY3" fmla="*/ 654733 h 654733"/>
                <a:gd name="connsiteX4" fmla="*/ 0 w 1636834"/>
                <a:gd name="connsiteY4" fmla="*/ 654733 h 654733"/>
                <a:gd name="connsiteX5" fmla="*/ 327367 w 1636834"/>
                <a:gd name="connsiteY5" fmla="*/ 327367 h 654733"/>
                <a:gd name="connsiteX6" fmla="*/ 0 w 1636834"/>
                <a:gd name="connsiteY6" fmla="*/ 0 h 654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36834" h="654733">
                  <a:moveTo>
                    <a:pt x="0" y="0"/>
                  </a:moveTo>
                  <a:lnTo>
                    <a:pt x="1309468" y="0"/>
                  </a:lnTo>
                  <a:lnTo>
                    <a:pt x="1636834" y="327367"/>
                  </a:lnTo>
                  <a:lnTo>
                    <a:pt x="1309468" y="654733"/>
                  </a:lnTo>
                  <a:lnTo>
                    <a:pt x="0" y="654733"/>
                  </a:lnTo>
                  <a:lnTo>
                    <a:pt x="327367" y="327367"/>
                  </a:lnTo>
                  <a:lnTo>
                    <a:pt x="0" y="0"/>
                  </a:lnTo>
                  <a:close/>
                </a:path>
              </a:pathLst>
            </a:custGeom>
            <a:solidFill>
              <a:schemeClr val="bg1">
                <a:lumMod val="75000"/>
              </a:schemeClr>
            </a:solidFill>
            <a:ln>
              <a:solidFill>
                <a:schemeClr val="tx2">
                  <a:lumMod val="75000"/>
                  <a:alpha val="91000"/>
                </a:schemeClr>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379374" tIns="34671" rIns="344702" bIns="34671" numCol="1" spcCol="1270" anchor="ctr" anchorCtr="0">
              <a:noAutofit/>
            </a:bodyPr>
            <a:lstStyle/>
            <a:p>
              <a:pPr marL="0" marR="0" lvl="0" indent="0" algn="ctr" defTabSz="577850" rtl="0" eaLnBrk="1" fontAlgn="auto" latinLnBrk="0" hangingPunct="1">
                <a:lnSpc>
                  <a:spcPct val="90000"/>
                </a:lnSpc>
                <a:spcBef>
                  <a:spcPct val="0"/>
                </a:spcBef>
                <a:spcAft>
                  <a:spcPct val="35000"/>
                </a:spcAft>
                <a:buClrTx/>
                <a:buSzTx/>
                <a:buFontTx/>
                <a:buNone/>
                <a:tabLst/>
                <a:defRPr/>
              </a:pPr>
              <a:r>
                <a:rPr kumimoji="0" lang="en-GB" sz="1300" b="1" i="0" u="none" strike="noStrike" kern="1200" cap="none" spc="0" normalizeH="0" baseline="0" noProof="0">
                  <a:ln>
                    <a:noFill/>
                  </a:ln>
                  <a:solidFill>
                    <a:srgbClr val="113A60"/>
                  </a:solidFill>
                  <a:effectLst/>
                  <a:uLnTx/>
                  <a:uFillTx/>
                  <a:ea typeface="+mn-ea"/>
                  <a:cs typeface="+mn-cs"/>
                </a:rPr>
                <a:t>Jul.</a:t>
              </a:r>
            </a:p>
          </p:txBody>
        </p:sp>
        <p:sp>
          <p:nvSpPr>
            <p:cNvPr id="22" name="Left Arrow Callout 37">
              <a:extLst>
                <a:ext uri="{FF2B5EF4-FFF2-40B4-BE49-F238E27FC236}">
                  <a16:creationId xmlns:a16="http://schemas.microsoft.com/office/drawing/2014/main" id="{C9B21544-3928-3F8C-40E7-1D192FEC8259}"/>
                </a:ext>
              </a:extLst>
            </p:cNvPr>
            <p:cNvSpPr/>
            <p:nvPr/>
          </p:nvSpPr>
          <p:spPr>
            <a:xfrm>
              <a:off x="795734" y="4314461"/>
              <a:ext cx="1655132" cy="903432"/>
            </a:xfrm>
            <a:prstGeom prst="leftArrowCallout">
              <a:avLst>
                <a:gd name="adj1" fmla="val 29367"/>
                <a:gd name="adj2" fmla="val 25000"/>
                <a:gd name="adj3" fmla="val 9717"/>
                <a:gd name="adj4" fmla="val 8941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defRPr/>
              </a:pPr>
              <a:r>
                <a:rPr kumimoji="0" lang="en-GB" sz="1400" b="1" i="0" u="none" strike="noStrike" kern="1200" cap="none" spc="0" normalizeH="0" baseline="0" noProof="0" dirty="0">
                  <a:ln>
                    <a:noFill/>
                  </a:ln>
                  <a:solidFill>
                    <a:prstClr val="white"/>
                  </a:solidFill>
                  <a:effectLst/>
                  <a:uLnTx/>
                  <a:uFillTx/>
                  <a:ea typeface="+mn-ea"/>
                  <a:cs typeface="+mn-cs"/>
                </a:rPr>
                <a:t>Preparation of </a:t>
              </a:r>
              <a:r>
                <a:rPr lang="en-GB" sz="1400" b="1" dirty="0">
                  <a:solidFill>
                    <a:prstClr val="white"/>
                  </a:solidFill>
                </a:rPr>
                <a:t>CP </a:t>
              </a:r>
              <a:r>
                <a:rPr kumimoji="0" lang="en-GB" sz="1400" b="1" i="0" u="none" strike="noStrike" kern="1200" cap="none" spc="0" normalizeH="0" baseline="0" noProof="0" dirty="0">
                  <a:ln>
                    <a:noFill/>
                  </a:ln>
                  <a:solidFill>
                    <a:prstClr val="white"/>
                  </a:solidFill>
                  <a:effectLst/>
                  <a:uLnTx/>
                  <a:uFillTx/>
                  <a:ea typeface="+mn-ea"/>
                  <a:cs typeface="+mn-cs"/>
                </a:rPr>
                <a:t>submission </a:t>
              </a:r>
              <a:endParaRPr lang="en-GB" sz="1400" b="1" i="0" u="none" strike="noStrike" kern="1200" cap="none" spc="0" normalizeH="0" baseline="0" noProof="0" dirty="0">
                <a:ln>
                  <a:noFill/>
                </a:ln>
                <a:solidFill>
                  <a:prstClr val="white"/>
                </a:solidFill>
                <a:effectLst/>
                <a:uLnTx/>
                <a:uFillTx/>
                <a:ea typeface="Open Sans"/>
                <a:cs typeface="Open Sans"/>
              </a:endParaRPr>
            </a:p>
          </p:txBody>
        </p:sp>
      </p:grpSp>
      <p:pic>
        <p:nvPicPr>
          <p:cNvPr id="27" name="Graphic 26" descr="Monitor with solid fill">
            <a:extLst>
              <a:ext uri="{FF2B5EF4-FFF2-40B4-BE49-F238E27FC236}">
                <a16:creationId xmlns:a16="http://schemas.microsoft.com/office/drawing/2014/main" id="{930291F4-6CD5-67FD-F6B3-83B1965077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37585" y="1802203"/>
            <a:ext cx="914400" cy="914400"/>
          </a:xfrm>
          <a:prstGeom prst="rect">
            <a:avLst/>
          </a:prstGeom>
        </p:spPr>
      </p:pic>
      <p:pic>
        <p:nvPicPr>
          <p:cNvPr id="28" name="Graphic 27" descr="Binary with solid fill">
            <a:extLst>
              <a:ext uri="{FF2B5EF4-FFF2-40B4-BE49-F238E27FC236}">
                <a16:creationId xmlns:a16="http://schemas.microsoft.com/office/drawing/2014/main" id="{C0C2B61C-DD86-291C-A058-848BC590BC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43900" y="1957594"/>
            <a:ext cx="495770" cy="495770"/>
          </a:xfrm>
          <a:prstGeom prst="rect">
            <a:avLst/>
          </a:prstGeom>
        </p:spPr>
      </p:pic>
      <p:pic>
        <p:nvPicPr>
          <p:cNvPr id="29" name="Graphic 28" descr="Magnifying glass with solid fill">
            <a:extLst>
              <a:ext uri="{FF2B5EF4-FFF2-40B4-BE49-F238E27FC236}">
                <a16:creationId xmlns:a16="http://schemas.microsoft.com/office/drawing/2014/main" id="{ED38FB06-7D71-185D-394B-022B4CA3B94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59021" y="4315697"/>
            <a:ext cx="914400" cy="914400"/>
          </a:xfrm>
          <a:prstGeom prst="rect">
            <a:avLst/>
          </a:prstGeom>
        </p:spPr>
      </p:pic>
      <p:pic>
        <p:nvPicPr>
          <p:cNvPr id="30" name="Graphic 29" descr="Chat with solid fill">
            <a:extLst>
              <a:ext uri="{FF2B5EF4-FFF2-40B4-BE49-F238E27FC236}">
                <a16:creationId xmlns:a16="http://schemas.microsoft.com/office/drawing/2014/main" id="{E5E6C0C5-4257-6180-AD18-A5DA19A4529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351137" y="4313464"/>
            <a:ext cx="914400" cy="914400"/>
          </a:xfrm>
          <a:prstGeom prst="rect">
            <a:avLst/>
          </a:prstGeom>
        </p:spPr>
      </p:pic>
      <p:pic>
        <p:nvPicPr>
          <p:cNvPr id="31" name="Graphic 30" descr="Database with solid fill">
            <a:extLst>
              <a:ext uri="{FF2B5EF4-FFF2-40B4-BE49-F238E27FC236}">
                <a16:creationId xmlns:a16="http://schemas.microsoft.com/office/drawing/2014/main" id="{B03F74B1-8C58-9967-9585-F23F31E8F72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057310" y="1809116"/>
            <a:ext cx="914400" cy="914400"/>
          </a:xfrm>
          <a:prstGeom prst="rect">
            <a:avLst/>
          </a:prstGeom>
        </p:spPr>
      </p:pic>
      <p:pic>
        <p:nvPicPr>
          <p:cNvPr id="32" name="Graphic 31" descr="Document with solid fill">
            <a:extLst>
              <a:ext uri="{FF2B5EF4-FFF2-40B4-BE49-F238E27FC236}">
                <a16:creationId xmlns:a16="http://schemas.microsoft.com/office/drawing/2014/main" id="{6A2826BE-D408-66A4-6AC4-B2AD858AE61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784598" y="4451056"/>
            <a:ext cx="914400" cy="914400"/>
          </a:xfrm>
          <a:prstGeom prst="rect">
            <a:avLst/>
          </a:prstGeom>
        </p:spPr>
      </p:pic>
      <p:sp>
        <p:nvSpPr>
          <p:cNvPr id="33" name="Rectangle 32">
            <a:extLst>
              <a:ext uri="{FF2B5EF4-FFF2-40B4-BE49-F238E27FC236}">
                <a16:creationId xmlns:a16="http://schemas.microsoft.com/office/drawing/2014/main" id="{565433E6-ABDC-A406-74F4-5058400CF01D}"/>
              </a:ext>
            </a:extLst>
          </p:cNvPr>
          <p:cNvSpPr/>
          <p:nvPr/>
        </p:nvSpPr>
        <p:spPr>
          <a:xfrm>
            <a:off x="4759021" y="3940836"/>
            <a:ext cx="1698088" cy="142462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ea typeface="+mn-ea"/>
                <a:cs typeface="+mn-cs"/>
              </a:rPr>
              <a:t>Voluntary resubmissions</a:t>
            </a:r>
          </a:p>
          <a:p>
            <a:pPr>
              <a:defRPr/>
            </a:pPr>
            <a:endParaRPr lang="en-GB" sz="1600" b="1" dirty="0">
              <a:solidFill>
                <a:prstClr val="white"/>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600" b="1" dirty="0">
                <a:solidFill>
                  <a:prstClr val="white"/>
                </a:solidFill>
              </a:rPr>
              <a:t>Dashboards</a:t>
            </a:r>
            <a:endParaRPr lang="en-GB" sz="1600" b="1" i="0" u="none" strike="noStrike" kern="1200" cap="none" spc="0" normalizeH="0" baseline="0" noProof="0" dirty="0">
              <a:ln>
                <a:noFill/>
              </a:ln>
              <a:solidFill>
                <a:prstClr val="white"/>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prstClr val="white"/>
                </a:solidFill>
                <a:effectLst/>
                <a:uLnTx/>
                <a:uFillTx/>
                <a:ea typeface="+mn-ea"/>
                <a:cs typeface="+mn-cs"/>
              </a:rPr>
              <a:t>published</a:t>
            </a:r>
            <a:endParaRPr lang="en-GB" sz="1600" b="1" i="0" u="none" strike="noStrike" kern="1200" cap="none" spc="0" normalizeH="0" baseline="0" noProof="0" dirty="0">
              <a:ln>
                <a:noFill/>
              </a:ln>
              <a:solidFill>
                <a:prstClr val="white"/>
              </a:solidFill>
              <a:effectLst/>
              <a:uLnTx/>
              <a:uFillTx/>
            </a:endParaRPr>
          </a:p>
        </p:txBody>
      </p:sp>
      <p:pic>
        <p:nvPicPr>
          <p:cNvPr id="34" name="Picture 33" descr="A logo with a black background&#10;&#10;Description automatically generated">
            <a:extLst>
              <a:ext uri="{FF2B5EF4-FFF2-40B4-BE49-F238E27FC236}">
                <a16:creationId xmlns:a16="http://schemas.microsoft.com/office/drawing/2014/main" id="{97220D77-5D13-44E3-642A-A4E25F2A4A23}"/>
              </a:ext>
            </a:extLst>
          </p:cNvPr>
          <p:cNvPicPr>
            <a:picLocks noChangeAspect="1"/>
          </p:cNvPicPr>
          <p:nvPr/>
        </p:nvPicPr>
        <p:blipFill rotWithShape="1">
          <a:blip r:embed="rId15">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35710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640938-4972-C45B-C67A-05CC2F709F7A}"/>
              </a:ext>
            </a:extLst>
          </p:cNvPr>
          <p:cNvSpPr txBox="1"/>
          <p:nvPr/>
        </p:nvSpPr>
        <p:spPr>
          <a:xfrm>
            <a:off x="3460315" y="1247165"/>
            <a:ext cx="5475280" cy="1077218"/>
          </a:xfrm>
          <a:prstGeom prst="rect">
            <a:avLst/>
          </a:prstGeom>
          <a:noFill/>
        </p:spPr>
        <p:txBody>
          <a:bodyPr wrap="none" rtlCol="0">
            <a:spAutoFit/>
          </a:bodyPr>
          <a:lstStyle/>
          <a:p>
            <a:pPr algn="ctr"/>
            <a:r>
              <a:rPr lang="en-US" sz="3200">
                <a:solidFill>
                  <a:schemeClr val="bg1"/>
                </a:solidFill>
              </a:rPr>
              <a:t>Accessing Reportnet3</a:t>
            </a:r>
          </a:p>
          <a:p>
            <a:pPr algn="ctr"/>
            <a:r>
              <a:rPr lang="en-US" sz="3200">
                <a:solidFill>
                  <a:schemeClr val="bg1"/>
                </a:solidFill>
              </a:rPr>
              <a:t>Technical aspects of reporting</a:t>
            </a:r>
          </a:p>
        </p:txBody>
      </p:sp>
      <p:pic>
        <p:nvPicPr>
          <p:cNvPr id="4" name="Graphic 3" descr="Clipboard with solid fill">
            <a:extLst>
              <a:ext uri="{FF2B5EF4-FFF2-40B4-BE49-F238E27FC236}">
                <a16:creationId xmlns:a16="http://schemas.microsoft.com/office/drawing/2014/main" id="{5FBBA83D-A194-9C94-C462-EB8A7E732D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49986" y="2423443"/>
            <a:ext cx="2892027" cy="2892027"/>
          </a:xfrm>
          <a:prstGeom prst="rect">
            <a:avLst/>
          </a:prstGeom>
        </p:spPr>
      </p:pic>
    </p:spTree>
    <p:extLst>
      <p:ext uri="{BB962C8B-B14F-4D97-AF65-F5344CB8AC3E}">
        <p14:creationId xmlns:p14="http://schemas.microsoft.com/office/powerpoint/2010/main" val="2754767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web page&#10;&#10;AI-generated content may be incorrect.">
            <a:extLst>
              <a:ext uri="{FF2B5EF4-FFF2-40B4-BE49-F238E27FC236}">
                <a16:creationId xmlns:a16="http://schemas.microsoft.com/office/drawing/2014/main" id="{DAFE4000-A68C-6087-E329-23D8A87CF933}"/>
              </a:ext>
            </a:extLst>
          </p:cNvPr>
          <p:cNvPicPr>
            <a:picLocks noChangeAspect="1"/>
          </p:cNvPicPr>
          <p:nvPr/>
        </p:nvPicPr>
        <p:blipFill>
          <a:blip r:embed="rId3"/>
          <a:stretch>
            <a:fillRect/>
          </a:stretch>
        </p:blipFill>
        <p:spPr>
          <a:xfrm>
            <a:off x="117396" y="4948"/>
            <a:ext cx="11928621" cy="6853052"/>
          </a:xfrm>
          <a:prstGeom prst="rect">
            <a:avLst/>
          </a:prstGeom>
        </p:spPr>
      </p:pic>
      <p:cxnSp>
        <p:nvCxnSpPr>
          <p:cNvPr id="4" name="Straight Arrow Connector 3">
            <a:extLst>
              <a:ext uri="{FF2B5EF4-FFF2-40B4-BE49-F238E27FC236}">
                <a16:creationId xmlns:a16="http://schemas.microsoft.com/office/drawing/2014/main" id="{D26EE92D-A115-732E-E55E-57DC39FE4311}"/>
              </a:ext>
            </a:extLst>
          </p:cNvPr>
          <p:cNvCxnSpPr/>
          <p:nvPr/>
        </p:nvCxnSpPr>
        <p:spPr>
          <a:xfrm>
            <a:off x="9917376" y="1009873"/>
            <a:ext cx="1033670" cy="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B739EE6F-59D4-181F-7D30-E53FEAE90686}"/>
              </a:ext>
            </a:extLst>
          </p:cNvPr>
          <p:cNvSpPr/>
          <p:nvPr/>
        </p:nvSpPr>
        <p:spPr>
          <a:xfrm>
            <a:off x="10195522" y="1520791"/>
            <a:ext cx="1559427" cy="9148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 name="Rectangle 2">
            <a:extLst>
              <a:ext uri="{FF2B5EF4-FFF2-40B4-BE49-F238E27FC236}">
                <a16:creationId xmlns:a16="http://schemas.microsoft.com/office/drawing/2014/main" id="{0489628B-634B-3AFA-E639-5340C0D5B3D1}"/>
              </a:ext>
            </a:extLst>
          </p:cNvPr>
          <p:cNvSpPr/>
          <p:nvPr/>
        </p:nvSpPr>
        <p:spPr>
          <a:xfrm>
            <a:off x="10195521" y="2664972"/>
            <a:ext cx="1559427" cy="145908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 name="TextBox 5">
            <a:extLst>
              <a:ext uri="{FF2B5EF4-FFF2-40B4-BE49-F238E27FC236}">
                <a16:creationId xmlns:a16="http://schemas.microsoft.com/office/drawing/2014/main" id="{27139B1C-8AFD-BB32-4F6E-C4B5929D4A13}"/>
              </a:ext>
            </a:extLst>
          </p:cNvPr>
          <p:cNvSpPr txBox="1"/>
          <p:nvPr/>
        </p:nvSpPr>
        <p:spPr>
          <a:xfrm>
            <a:off x="194596" y="6430068"/>
            <a:ext cx="6096000" cy="276999"/>
          </a:xfrm>
          <a:prstGeom prst="rect">
            <a:avLst/>
          </a:prstGeom>
          <a:noFill/>
        </p:spPr>
        <p:txBody>
          <a:bodyPr wrap="square">
            <a:spAutoFit/>
          </a:bodyPr>
          <a:lstStyle/>
          <a:p>
            <a:r>
              <a:rPr lang="en-US" sz="1200">
                <a:hlinkClick r:id="rId4"/>
              </a:rPr>
              <a:t>Reportnet 3</a:t>
            </a:r>
            <a:endParaRPr lang="en-DK" sz="1200"/>
          </a:p>
        </p:txBody>
      </p:sp>
    </p:spTree>
    <p:extLst>
      <p:ext uri="{BB962C8B-B14F-4D97-AF65-F5344CB8AC3E}">
        <p14:creationId xmlns:p14="http://schemas.microsoft.com/office/powerpoint/2010/main" val="684914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D0B16F-80BF-9719-E687-8D5269CEA3FC}"/>
              </a:ext>
            </a:extLst>
          </p:cNvPr>
          <p:cNvSpPr txBox="1"/>
          <p:nvPr/>
        </p:nvSpPr>
        <p:spPr>
          <a:xfrm>
            <a:off x="4837872" y="482470"/>
            <a:ext cx="8722619" cy="646331"/>
          </a:xfrm>
          <a:prstGeom prst="rect">
            <a:avLst/>
          </a:prstGeom>
          <a:noFill/>
        </p:spPr>
        <p:txBody>
          <a:bodyPr wrap="square" rtlCol="0">
            <a:spAutoFit/>
          </a:bodyPr>
          <a:lstStyle/>
          <a:p>
            <a:r>
              <a:rPr lang="en-GB" sz="3600">
                <a:solidFill>
                  <a:srgbClr val="009999"/>
                </a:solidFill>
                <a:latin typeface="Aptos" panose="020B0004020202020204" pitchFamily="34" charset="0"/>
                <a:ea typeface="Calibri Light"/>
                <a:cs typeface="Calibri Light"/>
              </a:rPr>
              <a:t>Helpdesk</a:t>
            </a:r>
          </a:p>
        </p:txBody>
      </p:sp>
      <p:sp>
        <p:nvSpPr>
          <p:cNvPr id="3" name="TextBox 2">
            <a:extLst>
              <a:ext uri="{FF2B5EF4-FFF2-40B4-BE49-F238E27FC236}">
                <a16:creationId xmlns:a16="http://schemas.microsoft.com/office/drawing/2014/main" id="{68BAD8E7-727E-0196-48B6-D74ACBA19D39}"/>
              </a:ext>
            </a:extLst>
          </p:cNvPr>
          <p:cNvSpPr txBox="1"/>
          <p:nvPr/>
        </p:nvSpPr>
        <p:spPr>
          <a:xfrm>
            <a:off x="4869139" y="4257056"/>
            <a:ext cx="5003486" cy="584775"/>
          </a:xfrm>
          <a:prstGeom prst="rect">
            <a:avLst/>
          </a:prstGeom>
          <a:noFill/>
        </p:spPr>
        <p:txBody>
          <a:bodyPr wrap="none" lIns="91440" tIns="45720" rIns="91440" bIns="45720" rtlCol="0" anchor="t">
            <a:spAutoFit/>
          </a:bodyPr>
          <a:lstStyle/>
          <a:p>
            <a:r>
              <a:rPr lang="en-US" sz="3200" b="1">
                <a:solidFill>
                  <a:schemeClr val="accent5">
                    <a:lumMod val="75000"/>
                  </a:schemeClr>
                </a:solidFill>
                <a:latin typeface="Calibri"/>
                <a:ea typeface="Calibri Light"/>
                <a:cs typeface="Calibri Light"/>
              </a:rPr>
              <a:t>servicedesk@eea.europa.eu</a:t>
            </a:r>
            <a:endParaRPr lang="en-DK" sz="3200" b="1">
              <a:solidFill>
                <a:schemeClr val="accent5">
                  <a:lumMod val="75000"/>
                </a:schemeClr>
              </a:solidFill>
              <a:latin typeface="Calibri"/>
              <a:ea typeface="Calibri Light"/>
              <a:cs typeface="Calibri Light"/>
            </a:endParaRPr>
          </a:p>
        </p:txBody>
      </p:sp>
      <p:sp>
        <p:nvSpPr>
          <p:cNvPr id="4" name="TextBox 3">
            <a:extLst>
              <a:ext uri="{FF2B5EF4-FFF2-40B4-BE49-F238E27FC236}">
                <a16:creationId xmlns:a16="http://schemas.microsoft.com/office/drawing/2014/main" id="{1BDE1230-083E-C00C-05C6-40291833BBB4}"/>
              </a:ext>
            </a:extLst>
          </p:cNvPr>
          <p:cNvSpPr txBox="1"/>
          <p:nvPr/>
        </p:nvSpPr>
        <p:spPr>
          <a:xfrm>
            <a:off x="4888430" y="1507960"/>
            <a:ext cx="6112559" cy="584775"/>
          </a:xfrm>
          <a:prstGeom prst="rect">
            <a:avLst/>
          </a:prstGeom>
          <a:noFill/>
        </p:spPr>
        <p:txBody>
          <a:bodyPr wrap="square" lIns="91440" tIns="45720" rIns="91440" bIns="45720" rtlCol="0" anchor="t">
            <a:spAutoFit/>
          </a:bodyPr>
          <a:lstStyle/>
          <a:p>
            <a:r>
              <a:rPr lang="en-US" sz="3200" b="1" dirty="0">
                <a:solidFill>
                  <a:schemeClr val="accent5">
                    <a:lumMod val="75000"/>
                  </a:schemeClr>
                </a:solidFill>
                <a:latin typeface="Calibri"/>
                <a:ea typeface="Calibri Light"/>
                <a:cs typeface="Calibri Light"/>
              </a:rPr>
              <a:t>aneliya.nikolova@eea.europa.eu</a:t>
            </a:r>
            <a:endParaRPr lang="en-DK" sz="3200" b="1" dirty="0">
              <a:solidFill>
                <a:schemeClr val="accent5">
                  <a:lumMod val="75000"/>
                </a:schemeClr>
              </a:solidFill>
              <a:latin typeface="Calibri"/>
              <a:ea typeface="Calibri Light"/>
              <a:cs typeface="Calibri Light"/>
            </a:endParaRPr>
          </a:p>
        </p:txBody>
      </p:sp>
      <p:sp>
        <p:nvSpPr>
          <p:cNvPr id="5" name="TextBox 4">
            <a:extLst>
              <a:ext uri="{FF2B5EF4-FFF2-40B4-BE49-F238E27FC236}">
                <a16:creationId xmlns:a16="http://schemas.microsoft.com/office/drawing/2014/main" id="{37F9E66A-385C-442C-BE1C-BCDD28E1E77A}"/>
              </a:ext>
            </a:extLst>
          </p:cNvPr>
          <p:cNvSpPr txBox="1"/>
          <p:nvPr/>
        </p:nvSpPr>
        <p:spPr>
          <a:xfrm>
            <a:off x="4869139" y="2159233"/>
            <a:ext cx="4970848" cy="1969770"/>
          </a:xfrm>
          <a:prstGeom prst="rect">
            <a:avLst/>
          </a:prstGeom>
          <a:noFill/>
        </p:spPr>
        <p:txBody>
          <a:bodyPr wrap="none" rtlCol="0">
            <a:spAutoFit/>
          </a:bodyPr>
          <a:lstStyle/>
          <a:p>
            <a:r>
              <a:rPr lang="en-US"/>
              <a:t>First point of contact</a:t>
            </a:r>
          </a:p>
          <a:p>
            <a:r>
              <a:rPr lang="en-US"/>
              <a:t>Thematic issues with data input</a:t>
            </a:r>
          </a:p>
          <a:p>
            <a:r>
              <a:rPr lang="en-US"/>
              <a:t>Information on renomination of lead reporters</a:t>
            </a:r>
          </a:p>
          <a:p>
            <a:r>
              <a:rPr lang="en-US"/>
              <a:t>All dataflow experts will respond via this mailbox</a:t>
            </a:r>
          </a:p>
          <a:p>
            <a:endParaRPr lang="en-US"/>
          </a:p>
          <a:p>
            <a:r>
              <a:rPr lang="en-US" sz="3200"/>
              <a:t>OR</a:t>
            </a:r>
          </a:p>
        </p:txBody>
      </p:sp>
      <p:sp>
        <p:nvSpPr>
          <p:cNvPr id="6" name="TextBox 5">
            <a:extLst>
              <a:ext uri="{FF2B5EF4-FFF2-40B4-BE49-F238E27FC236}">
                <a16:creationId xmlns:a16="http://schemas.microsoft.com/office/drawing/2014/main" id="{28884A39-BAFF-A957-608A-6199A0FA3CBA}"/>
              </a:ext>
            </a:extLst>
          </p:cNvPr>
          <p:cNvSpPr txBox="1"/>
          <p:nvPr/>
        </p:nvSpPr>
        <p:spPr>
          <a:xfrm>
            <a:off x="4887033" y="4908329"/>
            <a:ext cx="5082160" cy="369332"/>
          </a:xfrm>
          <a:prstGeom prst="rect">
            <a:avLst/>
          </a:prstGeom>
          <a:noFill/>
        </p:spPr>
        <p:txBody>
          <a:bodyPr wrap="none" rtlCol="0">
            <a:spAutoFit/>
          </a:bodyPr>
          <a:lstStyle/>
          <a:p>
            <a:r>
              <a:rPr lang="en-US"/>
              <a:t>IT/Technical Reportnet issues (crashes, bugs etc.)</a:t>
            </a:r>
            <a:endParaRPr lang="en-DK"/>
          </a:p>
        </p:txBody>
      </p:sp>
      <p:pic>
        <p:nvPicPr>
          <p:cNvPr id="11" name="Picture 10" descr="A group of people walking on a bridge&#10;&#10;AI-generated content may be incorrect.">
            <a:extLst>
              <a:ext uri="{FF2B5EF4-FFF2-40B4-BE49-F238E27FC236}">
                <a16:creationId xmlns:a16="http://schemas.microsoft.com/office/drawing/2014/main" id="{3189C821-9ED7-D3D7-6A0F-8FAABC32F748}"/>
              </a:ext>
            </a:extLst>
          </p:cNvPr>
          <p:cNvPicPr>
            <a:picLocks noChangeAspect="1"/>
          </p:cNvPicPr>
          <p:nvPr/>
        </p:nvPicPr>
        <p:blipFill>
          <a:blip r:embed="rId3">
            <a:extLst>
              <a:ext uri="{28A0092B-C50C-407E-A947-70E740481C1C}">
                <a14:useLocalDpi xmlns:a14="http://schemas.microsoft.com/office/drawing/2010/main" val="0"/>
              </a:ext>
            </a:extLst>
          </a:blip>
          <a:srcRect l="27762" t="15605" r="36270"/>
          <a:stretch/>
        </p:blipFill>
        <p:spPr>
          <a:xfrm>
            <a:off x="0" y="0"/>
            <a:ext cx="4385187" cy="6858000"/>
          </a:xfrm>
          <a:prstGeom prst="rect">
            <a:avLst/>
          </a:prstGeom>
        </p:spPr>
      </p:pic>
      <p:sp>
        <p:nvSpPr>
          <p:cNvPr id="12" name="TextBox 11">
            <a:extLst>
              <a:ext uri="{FF2B5EF4-FFF2-40B4-BE49-F238E27FC236}">
                <a16:creationId xmlns:a16="http://schemas.microsoft.com/office/drawing/2014/main" id="{F0C4E633-B849-9A0B-B921-78DDCAB1F155}"/>
              </a:ext>
            </a:extLst>
          </p:cNvPr>
          <p:cNvSpPr txBox="1"/>
          <p:nvPr/>
        </p:nvSpPr>
        <p:spPr>
          <a:xfrm>
            <a:off x="98324" y="6511623"/>
            <a:ext cx="6272980" cy="261610"/>
          </a:xfrm>
          <a:prstGeom prst="rect">
            <a:avLst/>
          </a:prstGeom>
          <a:noFill/>
        </p:spPr>
        <p:txBody>
          <a:bodyPr wrap="square">
            <a:spAutoFit/>
          </a:bodyPr>
          <a:lstStyle/>
          <a:p>
            <a:r>
              <a:rPr lang="en-US" sz="1100">
                <a:solidFill>
                  <a:schemeClr val="bg1"/>
                </a:solidFill>
              </a:rPr>
              <a:t>©T</a:t>
            </a:r>
            <a:r>
              <a:rPr lang="en-DK" sz="1100">
                <a:solidFill>
                  <a:schemeClr val="bg1"/>
                </a:solidFill>
              </a:rPr>
              <a:t>Peter </a:t>
            </a:r>
            <a:r>
              <a:rPr lang="en-DK" sz="1100" err="1">
                <a:solidFill>
                  <a:schemeClr val="bg1"/>
                </a:solidFill>
              </a:rPr>
              <a:t>Vadocz</a:t>
            </a:r>
            <a:r>
              <a:rPr lang="en-DK" sz="1100">
                <a:solidFill>
                  <a:schemeClr val="bg1"/>
                </a:solidFill>
              </a:rPr>
              <a:t>, Urban Treasures  EEA</a:t>
            </a:r>
          </a:p>
        </p:txBody>
      </p:sp>
      <p:pic>
        <p:nvPicPr>
          <p:cNvPr id="7" name="Picture 6" descr="A logo with a black background&#10;&#10;Description automatically generated">
            <a:extLst>
              <a:ext uri="{FF2B5EF4-FFF2-40B4-BE49-F238E27FC236}">
                <a16:creationId xmlns:a16="http://schemas.microsoft.com/office/drawing/2014/main" id="{FE9D363D-C180-D1AB-01E4-8038DBDADD1C}"/>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02378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349829-751D-06CA-F7DF-2773C36DD638}"/>
              </a:ext>
            </a:extLst>
          </p:cNvPr>
          <p:cNvSpPr txBox="1"/>
          <p:nvPr/>
        </p:nvSpPr>
        <p:spPr>
          <a:xfrm>
            <a:off x="506818" y="341446"/>
            <a:ext cx="7878726" cy="646331"/>
          </a:xfrm>
          <a:prstGeom prst="rect">
            <a:avLst/>
          </a:prstGeom>
          <a:noFill/>
        </p:spPr>
        <p:txBody>
          <a:bodyPr wrap="square" lIns="91440" tIns="45720" rIns="91440" bIns="45720" rtlCol="0" anchor="t">
            <a:spAutoFit/>
          </a:bodyPr>
          <a:lstStyle/>
          <a:p>
            <a:r>
              <a:rPr lang="en-US" sz="3600">
                <a:solidFill>
                  <a:srgbClr val="009999"/>
                </a:solidFill>
              </a:rPr>
              <a:t>Lead and supporting reporters</a:t>
            </a:r>
          </a:p>
        </p:txBody>
      </p:sp>
      <p:sp>
        <p:nvSpPr>
          <p:cNvPr id="4" name="TextBox 3">
            <a:extLst>
              <a:ext uri="{FF2B5EF4-FFF2-40B4-BE49-F238E27FC236}">
                <a16:creationId xmlns:a16="http://schemas.microsoft.com/office/drawing/2014/main" id="{8B2311C7-9BBA-9160-6EC7-F73C31AFA989}"/>
              </a:ext>
            </a:extLst>
          </p:cNvPr>
          <p:cNvSpPr txBox="1"/>
          <p:nvPr/>
        </p:nvSpPr>
        <p:spPr>
          <a:xfrm>
            <a:off x="1636682" y="1474682"/>
            <a:ext cx="1131895" cy="461665"/>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r>
              <a:rPr lang="en-SE" sz="1200"/>
              <a:t>Adaptation</a:t>
            </a:r>
          </a:p>
          <a:p>
            <a:endParaRPr lang="en-DK" sz="1200"/>
          </a:p>
        </p:txBody>
      </p:sp>
      <p:sp>
        <p:nvSpPr>
          <p:cNvPr id="7" name="TextBox 6">
            <a:extLst>
              <a:ext uri="{FF2B5EF4-FFF2-40B4-BE49-F238E27FC236}">
                <a16:creationId xmlns:a16="http://schemas.microsoft.com/office/drawing/2014/main" id="{EA964ED3-5D3B-39B8-04AA-010836B39618}"/>
              </a:ext>
            </a:extLst>
          </p:cNvPr>
          <p:cNvSpPr txBox="1"/>
          <p:nvPr/>
        </p:nvSpPr>
        <p:spPr>
          <a:xfrm>
            <a:off x="2866839" y="1471883"/>
            <a:ext cx="1131894" cy="523220"/>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r>
              <a:rPr lang="en-SE" sz="1400"/>
              <a:t>National Systems</a:t>
            </a:r>
          </a:p>
        </p:txBody>
      </p:sp>
      <p:sp>
        <p:nvSpPr>
          <p:cNvPr id="9" name="TextBox 8">
            <a:extLst>
              <a:ext uri="{FF2B5EF4-FFF2-40B4-BE49-F238E27FC236}">
                <a16:creationId xmlns:a16="http://schemas.microsoft.com/office/drawing/2014/main" id="{3317DFD6-D6A5-D3FB-9454-E1B13D11A6F9}"/>
              </a:ext>
            </a:extLst>
          </p:cNvPr>
          <p:cNvSpPr txBox="1"/>
          <p:nvPr/>
        </p:nvSpPr>
        <p:spPr>
          <a:xfrm>
            <a:off x="4110867" y="1471883"/>
            <a:ext cx="1131893" cy="523220"/>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r>
              <a:rPr lang="en-SE" sz="1400"/>
              <a:t>Carbon Revenues</a:t>
            </a:r>
          </a:p>
        </p:txBody>
      </p:sp>
      <p:sp>
        <p:nvSpPr>
          <p:cNvPr id="11" name="Rectangle 10">
            <a:extLst>
              <a:ext uri="{FF2B5EF4-FFF2-40B4-BE49-F238E27FC236}">
                <a16:creationId xmlns:a16="http://schemas.microsoft.com/office/drawing/2014/main" id="{1A761E20-AA46-2C55-A2DC-6DEE42399A3F}"/>
              </a:ext>
            </a:extLst>
          </p:cNvPr>
          <p:cNvSpPr/>
          <p:nvPr/>
        </p:nvSpPr>
        <p:spPr>
          <a:xfrm>
            <a:off x="435938" y="2182866"/>
            <a:ext cx="4806822" cy="292707"/>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a:solidFill>
                  <a:schemeClr val="tx1"/>
                </a:solidFill>
              </a:rPr>
              <a:t>Lead Reporter 1</a:t>
            </a:r>
            <a:endParaRPr lang="en-DK" b="1">
              <a:solidFill>
                <a:schemeClr val="tx1"/>
              </a:solidFill>
            </a:endParaRPr>
          </a:p>
        </p:txBody>
      </p:sp>
      <p:sp>
        <p:nvSpPr>
          <p:cNvPr id="13" name="Rectangle 12">
            <a:extLst>
              <a:ext uri="{FF2B5EF4-FFF2-40B4-BE49-F238E27FC236}">
                <a16:creationId xmlns:a16="http://schemas.microsoft.com/office/drawing/2014/main" id="{72D0E652-2DCA-AA93-D4AE-84C7EE9FBA22}"/>
              </a:ext>
            </a:extLst>
          </p:cNvPr>
          <p:cNvSpPr/>
          <p:nvPr/>
        </p:nvSpPr>
        <p:spPr>
          <a:xfrm>
            <a:off x="1636682" y="3003831"/>
            <a:ext cx="1131893" cy="943883"/>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SE" sz="1400" dirty="0">
                <a:solidFill>
                  <a:schemeClr val="tx1"/>
                </a:solidFill>
              </a:rPr>
              <a:t>Person from the </a:t>
            </a:r>
            <a:r>
              <a:rPr lang="en-SE" sz="1400" dirty="0" err="1">
                <a:solidFill>
                  <a:schemeClr val="tx1"/>
                </a:solidFill>
              </a:rPr>
              <a:t>Meteo</a:t>
            </a:r>
            <a:r>
              <a:rPr lang="en-SE" sz="1400" dirty="0">
                <a:solidFill>
                  <a:schemeClr val="tx1"/>
                </a:solidFill>
              </a:rPr>
              <a:t> </a:t>
            </a:r>
            <a:r>
              <a:rPr lang="en-SE" sz="1400">
                <a:solidFill>
                  <a:schemeClr val="tx1"/>
                </a:solidFill>
              </a:rPr>
              <a:t>Institu</a:t>
            </a:r>
            <a:r>
              <a:rPr lang="en-SE" sz="1400" dirty="0">
                <a:solidFill>
                  <a:schemeClr val="tx1"/>
                </a:solidFill>
              </a:rPr>
              <a:t>te</a:t>
            </a:r>
            <a:endParaRPr lang="en-DK" sz="1400" b="1">
              <a:solidFill>
                <a:schemeClr val="tx1"/>
              </a:solidFill>
            </a:endParaRPr>
          </a:p>
        </p:txBody>
      </p:sp>
      <p:sp>
        <p:nvSpPr>
          <p:cNvPr id="15" name="Rectangle 14">
            <a:extLst>
              <a:ext uri="{FF2B5EF4-FFF2-40B4-BE49-F238E27FC236}">
                <a16:creationId xmlns:a16="http://schemas.microsoft.com/office/drawing/2014/main" id="{5BA11494-0935-B5F9-D3FD-690283AC4F6A}"/>
              </a:ext>
            </a:extLst>
          </p:cNvPr>
          <p:cNvSpPr/>
          <p:nvPr/>
        </p:nvSpPr>
        <p:spPr>
          <a:xfrm>
            <a:off x="435938" y="2585075"/>
            <a:ext cx="4806822" cy="292707"/>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a:solidFill>
                  <a:schemeClr val="tx1"/>
                </a:solidFill>
              </a:rPr>
              <a:t>Lead Reporter 2</a:t>
            </a:r>
            <a:endParaRPr lang="en-DK" b="1">
              <a:solidFill>
                <a:schemeClr val="tx1"/>
              </a:solidFill>
            </a:endParaRPr>
          </a:p>
        </p:txBody>
      </p:sp>
      <p:sp>
        <p:nvSpPr>
          <p:cNvPr id="17" name="TextBox 16">
            <a:extLst>
              <a:ext uri="{FF2B5EF4-FFF2-40B4-BE49-F238E27FC236}">
                <a16:creationId xmlns:a16="http://schemas.microsoft.com/office/drawing/2014/main" id="{4B65E099-2823-2CF8-D0F9-AE7D56D381FF}"/>
              </a:ext>
            </a:extLst>
          </p:cNvPr>
          <p:cNvSpPr txBox="1"/>
          <p:nvPr/>
        </p:nvSpPr>
        <p:spPr>
          <a:xfrm>
            <a:off x="406525" y="1014451"/>
            <a:ext cx="4836235" cy="323165"/>
          </a:xfrm>
          <a:prstGeom prst="rect">
            <a:avLst/>
          </a:prstGeom>
          <a:noFill/>
          <a:ln>
            <a:noFill/>
          </a:ln>
        </p:spPr>
        <p:txBody>
          <a:bodyPr wrap="square" rtlCol="0">
            <a:spAutoFit/>
          </a:bodyPr>
          <a:lstStyle>
            <a:defPPr>
              <a:defRPr lang="en-US"/>
            </a:defPPr>
            <a:lvl1pPr>
              <a:defRPr sz="1500"/>
            </a:lvl1pPr>
          </a:lstStyle>
          <a:p>
            <a:pPr algn="ctr"/>
            <a:r>
              <a:rPr lang="en-SE" b="1"/>
              <a:t>Example scenario 1</a:t>
            </a:r>
          </a:p>
        </p:txBody>
      </p:sp>
      <p:sp>
        <p:nvSpPr>
          <p:cNvPr id="19" name="Rectangle 18">
            <a:extLst>
              <a:ext uri="{FF2B5EF4-FFF2-40B4-BE49-F238E27FC236}">
                <a16:creationId xmlns:a16="http://schemas.microsoft.com/office/drawing/2014/main" id="{DC0E5B7D-9FC7-17D7-2F4E-7DADDA7C59A1}"/>
              </a:ext>
            </a:extLst>
          </p:cNvPr>
          <p:cNvSpPr/>
          <p:nvPr/>
        </p:nvSpPr>
        <p:spPr>
          <a:xfrm>
            <a:off x="4110866" y="3003831"/>
            <a:ext cx="1131893" cy="943883"/>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sz="1400">
                <a:solidFill>
                  <a:schemeClr val="tx1"/>
                </a:solidFill>
              </a:rPr>
              <a:t>Person from the Ministry of Finance</a:t>
            </a:r>
            <a:endParaRPr lang="en-DK" sz="1400" b="1">
              <a:solidFill>
                <a:schemeClr val="tx1"/>
              </a:solidFill>
            </a:endParaRPr>
          </a:p>
        </p:txBody>
      </p:sp>
      <p:sp>
        <p:nvSpPr>
          <p:cNvPr id="21" name="TextBox 20">
            <a:extLst>
              <a:ext uri="{FF2B5EF4-FFF2-40B4-BE49-F238E27FC236}">
                <a16:creationId xmlns:a16="http://schemas.microsoft.com/office/drawing/2014/main" id="{A843DF3B-E74E-50D9-BB3D-4A2C9AFC02A0}"/>
              </a:ext>
            </a:extLst>
          </p:cNvPr>
          <p:cNvSpPr txBox="1"/>
          <p:nvPr/>
        </p:nvSpPr>
        <p:spPr>
          <a:xfrm>
            <a:off x="6754962" y="1450968"/>
            <a:ext cx="1131895" cy="523220"/>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r>
              <a:rPr lang="en-SE" sz="1400"/>
              <a:t>GHG </a:t>
            </a:r>
            <a:r>
              <a:rPr lang="en-SE" sz="1400" err="1"/>
              <a:t>PaMs</a:t>
            </a:r>
            <a:r>
              <a:rPr lang="en-SE" sz="1400"/>
              <a:t> Dataflow</a:t>
            </a:r>
          </a:p>
        </p:txBody>
      </p:sp>
      <p:sp>
        <p:nvSpPr>
          <p:cNvPr id="23" name="TextBox 22">
            <a:extLst>
              <a:ext uri="{FF2B5EF4-FFF2-40B4-BE49-F238E27FC236}">
                <a16:creationId xmlns:a16="http://schemas.microsoft.com/office/drawing/2014/main" id="{8217A5F5-182E-5478-E37C-0D7DD12D0032}"/>
              </a:ext>
            </a:extLst>
          </p:cNvPr>
          <p:cNvSpPr txBox="1"/>
          <p:nvPr/>
        </p:nvSpPr>
        <p:spPr>
          <a:xfrm>
            <a:off x="7985119" y="1450968"/>
            <a:ext cx="1131895" cy="523220"/>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r>
              <a:rPr lang="en-SE" sz="1400"/>
              <a:t>Adaptation</a:t>
            </a:r>
          </a:p>
          <a:p>
            <a:endParaRPr lang="en-DK" sz="1400"/>
          </a:p>
        </p:txBody>
      </p:sp>
      <p:sp>
        <p:nvSpPr>
          <p:cNvPr id="25" name="TextBox 24">
            <a:extLst>
              <a:ext uri="{FF2B5EF4-FFF2-40B4-BE49-F238E27FC236}">
                <a16:creationId xmlns:a16="http://schemas.microsoft.com/office/drawing/2014/main" id="{7C4F9177-0BDF-9B1C-062A-2F6DE1C6737A}"/>
              </a:ext>
            </a:extLst>
          </p:cNvPr>
          <p:cNvSpPr txBox="1"/>
          <p:nvPr/>
        </p:nvSpPr>
        <p:spPr>
          <a:xfrm>
            <a:off x="9215276" y="1448169"/>
            <a:ext cx="1131894" cy="553998"/>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r>
              <a:rPr lang="en-SE"/>
              <a:t>National </a:t>
            </a:r>
            <a:r>
              <a:rPr lang="en-SE" sz="1400"/>
              <a:t>Systems</a:t>
            </a:r>
            <a:endParaRPr lang="en-SE"/>
          </a:p>
        </p:txBody>
      </p:sp>
      <p:sp>
        <p:nvSpPr>
          <p:cNvPr id="27" name="TextBox 26">
            <a:extLst>
              <a:ext uri="{FF2B5EF4-FFF2-40B4-BE49-F238E27FC236}">
                <a16:creationId xmlns:a16="http://schemas.microsoft.com/office/drawing/2014/main" id="{DB98CC22-9368-A374-FABD-663BAFA184BC}"/>
              </a:ext>
            </a:extLst>
          </p:cNvPr>
          <p:cNvSpPr txBox="1"/>
          <p:nvPr/>
        </p:nvSpPr>
        <p:spPr>
          <a:xfrm>
            <a:off x="10459304" y="1448169"/>
            <a:ext cx="1131893" cy="523220"/>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r>
              <a:rPr lang="en-SE" sz="1400"/>
              <a:t>Carbon Revenues</a:t>
            </a:r>
          </a:p>
        </p:txBody>
      </p:sp>
      <p:sp>
        <p:nvSpPr>
          <p:cNvPr id="29" name="Rectangle 28">
            <a:extLst>
              <a:ext uri="{FF2B5EF4-FFF2-40B4-BE49-F238E27FC236}">
                <a16:creationId xmlns:a16="http://schemas.microsoft.com/office/drawing/2014/main" id="{12BDA626-45DC-86CC-C312-DC12D8A3EECD}"/>
              </a:ext>
            </a:extLst>
          </p:cNvPr>
          <p:cNvSpPr/>
          <p:nvPr/>
        </p:nvSpPr>
        <p:spPr>
          <a:xfrm>
            <a:off x="6784375" y="2159152"/>
            <a:ext cx="1131895" cy="69491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sz="1100">
                <a:solidFill>
                  <a:schemeClr val="tx1"/>
                </a:solidFill>
              </a:rPr>
              <a:t>Lead Reporter 1 (Ministry of Environment)</a:t>
            </a:r>
            <a:endParaRPr lang="en-DK" sz="1100" b="1">
              <a:solidFill>
                <a:schemeClr val="tx1"/>
              </a:solidFill>
            </a:endParaRPr>
          </a:p>
        </p:txBody>
      </p:sp>
      <p:sp>
        <p:nvSpPr>
          <p:cNvPr id="31" name="Rectangle 30">
            <a:extLst>
              <a:ext uri="{FF2B5EF4-FFF2-40B4-BE49-F238E27FC236}">
                <a16:creationId xmlns:a16="http://schemas.microsoft.com/office/drawing/2014/main" id="{85AEA369-B173-6B3B-6D18-25FBC35762C6}"/>
              </a:ext>
            </a:extLst>
          </p:cNvPr>
          <p:cNvSpPr/>
          <p:nvPr/>
        </p:nvSpPr>
        <p:spPr>
          <a:xfrm>
            <a:off x="7985119" y="3717610"/>
            <a:ext cx="1131893" cy="943883"/>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SE" sz="1100" dirty="0">
                <a:solidFill>
                  <a:schemeClr val="tx1"/>
                </a:solidFill>
              </a:rPr>
              <a:t>Person from the </a:t>
            </a:r>
            <a:r>
              <a:rPr lang="en-SE" sz="1100" dirty="0" err="1">
                <a:solidFill>
                  <a:schemeClr val="tx1"/>
                </a:solidFill>
              </a:rPr>
              <a:t>Meteo</a:t>
            </a:r>
            <a:r>
              <a:rPr lang="en-SE" sz="1100" dirty="0">
                <a:solidFill>
                  <a:schemeClr val="tx1"/>
                </a:solidFill>
              </a:rPr>
              <a:t> </a:t>
            </a:r>
            <a:r>
              <a:rPr lang="en-SE" sz="1100">
                <a:solidFill>
                  <a:schemeClr val="tx1"/>
                </a:solidFill>
              </a:rPr>
              <a:t>Institute</a:t>
            </a:r>
            <a:endParaRPr lang="en-US" sz="1100" dirty="0">
              <a:solidFill>
                <a:schemeClr val="tx1"/>
              </a:solidFill>
            </a:endParaRPr>
          </a:p>
        </p:txBody>
      </p:sp>
      <p:sp>
        <p:nvSpPr>
          <p:cNvPr id="33" name="Rectangle 32">
            <a:extLst>
              <a:ext uri="{FF2B5EF4-FFF2-40B4-BE49-F238E27FC236}">
                <a16:creationId xmlns:a16="http://schemas.microsoft.com/office/drawing/2014/main" id="{0A90B517-4B61-B23A-DAE6-532599744030}"/>
              </a:ext>
            </a:extLst>
          </p:cNvPr>
          <p:cNvSpPr/>
          <p:nvPr/>
        </p:nvSpPr>
        <p:spPr>
          <a:xfrm>
            <a:off x="7985119" y="2159153"/>
            <a:ext cx="1131893" cy="69491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sz="1100">
                <a:solidFill>
                  <a:schemeClr val="tx1"/>
                </a:solidFill>
              </a:rPr>
              <a:t>Lead Reporter 3 (Ministry of Environment, adaptation)</a:t>
            </a:r>
            <a:endParaRPr lang="en-DK" sz="1100" b="1">
              <a:solidFill>
                <a:schemeClr val="tx1"/>
              </a:solidFill>
            </a:endParaRPr>
          </a:p>
        </p:txBody>
      </p:sp>
      <p:sp>
        <p:nvSpPr>
          <p:cNvPr id="35" name="TextBox 34">
            <a:extLst>
              <a:ext uri="{FF2B5EF4-FFF2-40B4-BE49-F238E27FC236}">
                <a16:creationId xmlns:a16="http://schemas.microsoft.com/office/drawing/2014/main" id="{778DD3E1-3849-0B3E-A923-383B75990499}"/>
              </a:ext>
            </a:extLst>
          </p:cNvPr>
          <p:cNvSpPr txBox="1"/>
          <p:nvPr/>
        </p:nvSpPr>
        <p:spPr>
          <a:xfrm>
            <a:off x="6754962" y="990737"/>
            <a:ext cx="4836235" cy="323165"/>
          </a:xfrm>
          <a:prstGeom prst="rect">
            <a:avLst/>
          </a:prstGeom>
          <a:noFill/>
          <a:ln>
            <a:noFill/>
          </a:ln>
        </p:spPr>
        <p:txBody>
          <a:bodyPr wrap="square" rtlCol="0">
            <a:spAutoFit/>
          </a:bodyPr>
          <a:lstStyle>
            <a:defPPr>
              <a:defRPr lang="en-US"/>
            </a:defPPr>
            <a:lvl1pPr>
              <a:defRPr sz="1500"/>
            </a:lvl1pPr>
          </a:lstStyle>
          <a:p>
            <a:pPr algn="ctr"/>
            <a:r>
              <a:rPr lang="en-SE" b="1"/>
              <a:t>Example scenario 2</a:t>
            </a:r>
          </a:p>
        </p:txBody>
      </p:sp>
      <p:sp>
        <p:nvSpPr>
          <p:cNvPr id="37" name="Rectangle 36">
            <a:extLst>
              <a:ext uri="{FF2B5EF4-FFF2-40B4-BE49-F238E27FC236}">
                <a16:creationId xmlns:a16="http://schemas.microsoft.com/office/drawing/2014/main" id="{E00C3261-AF5F-7FAA-A98C-F482E51581E8}"/>
              </a:ext>
            </a:extLst>
          </p:cNvPr>
          <p:cNvSpPr/>
          <p:nvPr/>
        </p:nvSpPr>
        <p:spPr>
          <a:xfrm>
            <a:off x="10459302" y="2916399"/>
            <a:ext cx="1131895" cy="69491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sz="1100">
                <a:solidFill>
                  <a:schemeClr val="tx1"/>
                </a:solidFill>
              </a:rPr>
              <a:t>Lead Reporter 3 (Ministry of Finance) </a:t>
            </a:r>
            <a:endParaRPr lang="en-DK" sz="1100" b="1">
              <a:solidFill>
                <a:schemeClr val="tx1"/>
              </a:solidFill>
            </a:endParaRPr>
          </a:p>
        </p:txBody>
      </p:sp>
      <p:sp>
        <p:nvSpPr>
          <p:cNvPr id="39" name="Rectangle 38">
            <a:extLst>
              <a:ext uri="{FF2B5EF4-FFF2-40B4-BE49-F238E27FC236}">
                <a16:creationId xmlns:a16="http://schemas.microsoft.com/office/drawing/2014/main" id="{74F12241-70D9-6252-8EF7-001C294DCC8A}"/>
              </a:ext>
            </a:extLst>
          </p:cNvPr>
          <p:cNvSpPr/>
          <p:nvPr/>
        </p:nvSpPr>
        <p:spPr>
          <a:xfrm>
            <a:off x="9224507" y="2159152"/>
            <a:ext cx="1131895" cy="69491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sz="1100">
                <a:solidFill>
                  <a:schemeClr val="tx1"/>
                </a:solidFill>
              </a:rPr>
              <a:t>Lead Reporter 1 (Ministry of Environment)</a:t>
            </a:r>
            <a:endParaRPr lang="en-DK" sz="1100" b="1">
              <a:solidFill>
                <a:schemeClr val="tx1"/>
              </a:solidFill>
            </a:endParaRPr>
          </a:p>
        </p:txBody>
      </p:sp>
      <p:sp>
        <p:nvSpPr>
          <p:cNvPr id="41" name="Rectangle 40">
            <a:extLst>
              <a:ext uri="{FF2B5EF4-FFF2-40B4-BE49-F238E27FC236}">
                <a16:creationId xmlns:a16="http://schemas.microsoft.com/office/drawing/2014/main" id="{15A7F0AB-6005-BD88-C6A3-81B5F9C1C812}"/>
              </a:ext>
            </a:extLst>
          </p:cNvPr>
          <p:cNvSpPr/>
          <p:nvPr/>
        </p:nvSpPr>
        <p:spPr>
          <a:xfrm>
            <a:off x="10459302" y="2159152"/>
            <a:ext cx="1131895" cy="69491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sz="1100">
                <a:solidFill>
                  <a:schemeClr val="tx1"/>
                </a:solidFill>
              </a:rPr>
              <a:t>Lead Reporter 1 (Ministry of Environment)</a:t>
            </a:r>
            <a:endParaRPr lang="en-DK" sz="1100" b="1">
              <a:solidFill>
                <a:schemeClr val="tx1"/>
              </a:solidFill>
            </a:endParaRPr>
          </a:p>
        </p:txBody>
      </p:sp>
      <p:sp>
        <p:nvSpPr>
          <p:cNvPr id="43" name="Rectangle 42">
            <a:extLst>
              <a:ext uri="{FF2B5EF4-FFF2-40B4-BE49-F238E27FC236}">
                <a16:creationId xmlns:a16="http://schemas.microsoft.com/office/drawing/2014/main" id="{8526967C-6469-0C87-D3C3-AC5C88AC4C25}"/>
              </a:ext>
            </a:extLst>
          </p:cNvPr>
          <p:cNvSpPr/>
          <p:nvPr/>
        </p:nvSpPr>
        <p:spPr>
          <a:xfrm>
            <a:off x="6784375" y="2916399"/>
            <a:ext cx="1131895" cy="694916"/>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sz="1100">
                <a:solidFill>
                  <a:schemeClr val="tx1"/>
                </a:solidFill>
              </a:rPr>
              <a:t>Lead Reporter 2 (Ministry of Energy)</a:t>
            </a:r>
            <a:endParaRPr lang="en-DK" sz="1100" b="1">
              <a:solidFill>
                <a:schemeClr val="tx1"/>
              </a:solidFill>
            </a:endParaRPr>
          </a:p>
        </p:txBody>
      </p:sp>
      <p:sp>
        <p:nvSpPr>
          <p:cNvPr id="45" name="Rectangle 44">
            <a:extLst>
              <a:ext uri="{FF2B5EF4-FFF2-40B4-BE49-F238E27FC236}">
                <a16:creationId xmlns:a16="http://schemas.microsoft.com/office/drawing/2014/main" id="{F3D9299D-A821-B934-39E6-4EB6833FE3D7}"/>
              </a:ext>
            </a:extLst>
          </p:cNvPr>
          <p:cNvSpPr/>
          <p:nvPr/>
        </p:nvSpPr>
        <p:spPr>
          <a:xfrm>
            <a:off x="6746081" y="3717611"/>
            <a:ext cx="590554" cy="1310080"/>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SE" sz="1050">
                <a:solidFill>
                  <a:schemeClr val="tx1"/>
                </a:solidFill>
              </a:rPr>
              <a:t>Person </a:t>
            </a:r>
            <a:r>
              <a:rPr lang="en-SE" sz="1050" dirty="0">
                <a:solidFill>
                  <a:schemeClr val="tx1"/>
                </a:solidFill>
              </a:rPr>
              <a:t>from the Min. </a:t>
            </a:r>
            <a:r>
              <a:rPr lang="sv-SE" sz="1050" dirty="0">
                <a:solidFill>
                  <a:schemeClr val="tx1"/>
                </a:solidFill>
              </a:rPr>
              <a:t>O</a:t>
            </a:r>
            <a:r>
              <a:rPr lang="en-SE" sz="1050" dirty="0">
                <a:solidFill>
                  <a:schemeClr val="tx1"/>
                </a:solidFill>
              </a:rPr>
              <a:t>f Env.</a:t>
            </a:r>
            <a:endParaRPr lang="en-DK" sz="1050" b="1" dirty="0">
              <a:solidFill>
                <a:schemeClr val="tx1"/>
              </a:solidFill>
            </a:endParaRPr>
          </a:p>
        </p:txBody>
      </p:sp>
      <p:sp>
        <p:nvSpPr>
          <p:cNvPr id="47" name="Rectangle 46">
            <a:extLst>
              <a:ext uri="{FF2B5EF4-FFF2-40B4-BE49-F238E27FC236}">
                <a16:creationId xmlns:a16="http://schemas.microsoft.com/office/drawing/2014/main" id="{349F5EE0-CA59-1D32-3280-CC094A5E1176}"/>
              </a:ext>
            </a:extLst>
          </p:cNvPr>
          <p:cNvSpPr/>
          <p:nvPr/>
        </p:nvSpPr>
        <p:spPr>
          <a:xfrm>
            <a:off x="7350322" y="3717611"/>
            <a:ext cx="590554" cy="1310080"/>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SE" sz="1050">
                <a:solidFill>
                  <a:schemeClr val="tx1"/>
                </a:solidFill>
              </a:rPr>
              <a:t>Person </a:t>
            </a:r>
            <a:r>
              <a:rPr lang="en-SE" sz="1050" dirty="0">
                <a:solidFill>
                  <a:schemeClr val="tx1"/>
                </a:solidFill>
              </a:rPr>
              <a:t>from the Min. </a:t>
            </a:r>
            <a:r>
              <a:rPr lang="sv-SE" sz="1050" dirty="0">
                <a:solidFill>
                  <a:schemeClr val="tx1"/>
                </a:solidFill>
              </a:rPr>
              <a:t>O</a:t>
            </a:r>
            <a:r>
              <a:rPr lang="en-SE" sz="1050" dirty="0">
                <a:solidFill>
                  <a:schemeClr val="tx1"/>
                </a:solidFill>
              </a:rPr>
              <a:t>f Ene.</a:t>
            </a:r>
            <a:endParaRPr lang="en-DK" sz="1050" b="1" dirty="0">
              <a:solidFill>
                <a:schemeClr val="tx1"/>
              </a:solidFill>
            </a:endParaRPr>
          </a:p>
        </p:txBody>
      </p:sp>
      <p:sp>
        <p:nvSpPr>
          <p:cNvPr id="2" name="TextBox 1">
            <a:extLst>
              <a:ext uri="{FF2B5EF4-FFF2-40B4-BE49-F238E27FC236}">
                <a16:creationId xmlns:a16="http://schemas.microsoft.com/office/drawing/2014/main" id="{FE38FA5A-A7A4-BF85-591E-1641FC9F1BE6}"/>
              </a:ext>
            </a:extLst>
          </p:cNvPr>
          <p:cNvSpPr txBox="1"/>
          <p:nvPr/>
        </p:nvSpPr>
        <p:spPr>
          <a:xfrm>
            <a:off x="412896" y="1470018"/>
            <a:ext cx="1131895" cy="523220"/>
          </a:xfrm>
          <a:prstGeom prst="rect">
            <a:avLst/>
          </a:prstGeom>
          <a:solidFill>
            <a:schemeClr val="bg1"/>
          </a:solidFill>
          <a:ln>
            <a:solidFill>
              <a:schemeClr val="tx1"/>
            </a:solidFill>
          </a:ln>
        </p:spPr>
        <p:txBody>
          <a:bodyPr wrap="square" rtlCol="0">
            <a:spAutoFit/>
          </a:bodyPr>
          <a:lstStyle>
            <a:defPPr>
              <a:defRPr lang="en-US"/>
            </a:defPPr>
            <a:lvl1pPr>
              <a:defRPr sz="1500"/>
            </a:lvl1pPr>
          </a:lstStyle>
          <a:p>
            <a:r>
              <a:rPr lang="en-SE" sz="1400"/>
              <a:t>GHG </a:t>
            </a:r>
            <a:r>
              <a:rPr lang="en-SE" sz="1400" err="1"/>
              <a:t>PaMs</a:t>
            </a:r>
            <a:r>
              <a:rPr lang="en-SE" sz="1400"/>
              <a:t> Dataflow</a:t>
            </a:r>
          </a:p>
        </p:txBody>
      </p:sp>
      <p:sp>
        <p:nvSpPr>
          <p:cNvPr id="3" name="Rectangle 2">
            <a:extLst>
              <a:ext uri="{FF2B5EF4-FFF2-40B4-BE49-F238E27FC236}">
                <a16:creationId xmlns:a16="http://schemas.microsoft.com/office/drawing/2014/main" id="{E704936F-6E57-802A-A284-FA5E0BCE2A88}"/>
              </a:ext>
            </a:extLst>
          </p:cNvPr>
          <p:cNvSpPr/>
          <p:nvPr/>
        </p:nvSpPr>
        <p:spPr>
          <a:xfrm>
            <a:off x="169242" y="4181756"/>
            <a:ext cx="6122289" cy="25213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Lead reporters</a:t>
            </a:r>
            <a:r>
              <a:rPr lang="en-US" dirty="0"/>
              <a:t> – Oversee the reporting task under dataflows assigned to them. </a:t>
            </a:r>
            <a:endParaRPr lang="en-US"/>
          </a:p>
          <a:p>
            <a:pPr marL="285750" indent="-285750">
              <a:buFont typeface="Calibri"/>
              <a:buChar char="-"/>
            </a:pPr>
            <a:r>
              <a:rPr lang="en-US" dirty="0"/>
              <a:t>Have read/write rights;</a:t>
            </a:r>
          </a:p>
          <a:p>
            <a:pPr marL="285750" indent="-285750">
              <a:buFont typeface="Calibri"/>
              <a:buChar char="-"/>
            </a:pPr>
            <a:r>
              <a:rPr lang="en-US" dirty="0"/>
              <a:t>Can assign Supporting reporters;</a:t>
            </a:r>
          </a:p>
          <a:p>
            <a:pPr marL="285750" indent="-285750">
              <a:buFont typeface="Calibri"/>
              <a:buChar char="-"/>
            </a:pPr>
            <a:r>
              <a:rPr lang="en-US" dirty="0"/>
              <a:t>Can submit (release) data to the EEA/</a:t>
            </a:r>
            <a:r>
              <a:rPr lang="en-US" dirty="0" err="1"/>
              <a:t>EnCS</a:t>
            </a:r>
            <a:r>
              <a:rPr lang="en-US" dirty="0"/>
              <a:t>.</a:t>
            </a:r>
          </a:p>
          <a:p>
            <a:endParaRPr lang="en-US" dirty="0"/>
          </a:p>
          <a:p>
            <a:pPr>
              <a:buFont typeface="Calibri"/>
            </a:pPr>
            <a:r>
              <a:rPr lang="en-US" b="1" dirty="0"/>
              <a:t>Supporting reporters</a:t>
            </a:r>
            <a:r>
              <a:rPr lang="en-US" dirty="0"/>
              <a:t> – Review or input data.</a:t>
            </a:r>
            <a:endParaRPr lang="en-US"/>
          </a:p>
          <a:p>
            <a:pPr marL="285750" indent="-285750">
              <a:buFont typeface="Calibri"/>
              <a:buChar char="-"/>
            </a:pPr>
            <a:r>
              <a:rPr lang="en-US" dirty="0"/>
              <a:t>Have read or read/write rights.</a:t>
            </a:r>
          </a:p>
        </p:txBody>
      </p:sp>
    </p:spTree>
    <p:extLst>
      <p:ext uri="{BB962C8B-B14F-4D97-AF65-F5344CB8AC3E}">
        <p14:creationId xmlns:p14="http://schemas.microsoft.com/office/powerpoint/2010/main" val="4239985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login page&#10;&#10;Description automatically generated">
            <a:extLst>
              <a:ext uri="{FF2B5EF4-FFF2-40B4-BE49-F238E27FC236}">
                <a16:creationId xmlns:a16="http://schemas.microsoft.com/office/drawing/2014/main" id="{59A34928-5A01-5FCC-3666-DE714A2D5F80}"/>
              </a:ext>
            </a:extLst>
          </p:cNvPr>
          <p:cNvPicPr>
            <a:picLocks noChangeAspect="1"/>
          </p:cNvPicPr>
          <p:nvPr/>
        </p:nvPicPr>
        <p:blipFill>
          <a:blip r:embed="rId3"/>
          <a:srcRect l="24313" r="24451"/>
          <a:stretch/>
        </p:blipFill>
        <p:spPr>
          <a:xfrm>
            <a:off x="203200" y="0"/>
            <a:ext cx="5003800" cy="6858000"/>
          </a:xfrm>
          <a:prstGeom prst="rect">
            <a:avLst/>
          </a:prstGeom>
        </p:spPr>
      </p:pic>
      <p:sp>
        <p:nvSpPr>
          <p:cNvPr id="2" name="TextBox 1">
            <a:extLst>
              <a:ext uri="{FF2B5EF4-FFF2-40B4-BE49-F238E27FC236}">
                <a16:creationId xmlns:a16="http://schemas.microsoft.com/office/drawing/2014/main" id="{F7A6F2AC-1954-5B2C-9A15-5041873367B3}"/>
              </a:ext>
            </a:extLst>
          </p:cNvPr>
          <p:cNvSpPr txBox="1"/>
          <p:nvPr/>
        </p:nvSpPr>
        <p:spPr>
          <a:xfrm>
            <a:off x="5335325" y="1140697"/>
            <a:ext cx="6127851" cy="5483552"/>
          </a:xfrm>
          <a:prstGeom prst="rect">
            <a:avLst/>
          </a:prstGeom>
          <a:noFill/>
        </p:spPr>
        <p:txBody>
          <a:bodyPr wrap="square" lIns="91440" tIns="45720" rIns="91440" bIns="45720" rtlCol="0" anchor="t">
            <a:spAutoFit/>
          </a:bodyPr>
          <a:lstStyle/>
          <a:p>
            <a:pPr algn="just">
              <a:spcBef>
                <a:spcPts val="200"/>
              </a:spcBef>
              <a:spcAft>
                <a:spcPts val="200"/>
              </a:spcAft>
            </a:pPr>
            <a:r>
              <a:rPr lang="en-GB" sz="2000" dirty="0">
                <a:effectLst/>
                <a:ea typeface="ヒラギノ角ゴ Pro W3"/>
                <a:cs typeface="Times New Roman"/>
              </a:rPr>
              <a:t>User authentication is carried out on the </a:t>
            </a:r>
            <a:r>
              <a:rPr lang="en-GB" sz="2000" b="1" dirty="0">
                <a:effectLst/>
                <a:ea typeface="ヒラギノ角ゴ Pro W3"/>
                <a:cs typeface="Times New Roman"/>
              </a:rPr>
              <a:t>EU login</a:t>
            </a:r>
            <a:r>
              <a:rPr lang="en-GB" sz="2000" dirty="0">
                <a:effectLst/>
                <a:ea typeface="ヒラギノ角ゴ Pro W3"/>
                <a:cs typeface="Times New Roman"/>
              </a:rPr>
              <a:t> platform; hence you need to have an EU login account before you can be authenticated for Reportnet3 access.</a:t>
            </a:r>
            <a:endParaRPr lang="en-DK" sz="2000">
              <a:effectLst/>
              <a:ea typeface="ヒラギノ角ゴ Pro W3"/>
              <a:cs typeface="Times New Roman"/>
            </a:endParaRPr>
          </a:p>
          <a:p>
            <a:pPr marL="342900" lvl="0" indent="-342900" algn="just">
              <a:lnSpc>
                <a:spcPct val="106000"/>
              </a:lnSpc>
              <a:spcBef>
                <a:spcPts val="200"/>
              </a:spcBef>
              <a:spcAft>
                <a:spcPts val="800"/>
              </a:spcAft>
              <a:buFont typeface="+mj-lt"/>
              <a:buAutoNum type="alphaUcPeriod"/>
            </a:pPr>
            <a:r>
              <a:rPr lang="en-US" sz="2000" b="1" dirty="0">
                <a:effectLst/>
                <a:ea typeface="ヒラギノ角ゴ Pro W3"/>
                <a:cs typeface="Times New Roman"/>
              </a:rPr>
              <a:t>Regular login process: </a:t>
            </a:r>
            <a:r>
              <a:rPr lang="en-US" sz="2000" dirty="0">
                <a:effectLst/>
                <a:ea typeface="ヒラギノ角ゴ Pro W3"/>
                <a:cs typeface="Times New Roman"/>
              </a:rPr>
              <a:t>Where you already have an EU account and you have logged on to Reportnet3 before,</a:t>
            </a:r>
            <a:endParaRPr lang="en-DK" sz="2000">
              <a:effectLst/>
              <a:ea typeface="ヒラギノ角ゴ Pro W3"/>
              <a:cs typeface="Times New Roman"/>
            </a:endParaRPr>
          </a:p>
          <a:p>
            <a:pPr marL="342900" lvl="0" indent="-342900" algn="just">
              <a:lnSpc>
                <a:spcPct val="106000"/>
              </a:lnSpc>
              <a:spcAft>
                <a:spcPts val="800"/>
              </a:spcAft>
              <a:buFont typeface="+mj-lt"/>
              <a:buAutoNum type="alphaUcPeriod"/>
            </a:pPr>
            <a:r>
              <a:rPr lang="en-US" sz="2000" b="1" dirty="0">
                <a:effectLst/>
                <a:ea typeface="ヒラギノ角ゴ Pro W3"/>
                <a:cs typeface="Times New Roman"/>
              </a:rPr>
              <a:t>Creating an EU login account</a:t>
            </a:r>
            <a:r>
              <a:rPr lang="en-US" sz="2000" dirty="0">
                <a:effectLst/>
                <a:ea typeface="ヒラギノ角ゴ Pro W3"/>
                <a:cs typeface="Times New Roman"/>
              </a:rPr>
              <a:t>: Where you do not have an EU account,</a:t>
            </a:r>
            <a:endParaRPr lang="en-DK" sz="2000">
              <a:effectLst/>
              <a:ea typeface="ヒラギノ角ゴ Pro W3"/>
              <a:cs typeface="Times New Roman"/>
            </a:endParaRPr>
          </a:p>
          <a:p>
            <a:pPr marL="342900" lvl="0" indent="-342900" algn="just">
              <a:lnSpc>
                <a:spcPct val="106000"/>
              </a:lnSpc>
              <a:spcAft>
                <a:spcPts val="800"/>
              </a:spcAft>
              <a:buFont typeface="+mj-lt"/>
              <a:buAutoNum type="alphaUcPeriod"/>
            </a:pPr>
            <a:r>
              <a:rPr lang="en-US" sz="2000" b="1" dirty="0">
                <a:effectLst/>
                <a:ea typeface="ヒラギノ角ゴ Pro W3"/>
                <a:cs typeface="Times New Roman"/>
              </a:rPr>
              <a:t>Logging on for the first time</a:t>
            </a:r>
            <a:r>
              <a:rPr lang="en-US" sz="2000" dirty="0">
                <a:effectLst/>
                <a:ea typeface="ヒラギノ角ゴ Pro W3"/>
                <a:cs typeface="Times New Roman"/>
              </a:rPr>
              <a:t>: Where you have an EU account, but you have not logged on to </a:t>
            </a:r>
            <a:r>
              <a:rPr lang="en-US" sz="2000" dirty="0">
                <a:ea typeface="ヒラギノ角ゴ Pro W3"/>
                <a:cs typeface="Times New Roman"/>
              </a:rPr>
              <a:t>Reportnet3</a:t>
            </a:r>
            <a:r>
              <a:rPr lang="en-US" sz="2000" dirty="0">
                <a:effectLst/>
                <a:ea typeface="ヒラギノ角ゴ Pro W3"/>
                <a:cs typeface="Times New Roman"/>
              </a:rPr>
              <a:t> before.</a:t>
            </a:r>
          </a:p>
          <a:p>
            <a:pPr marL="342900" lvl="0" indent="-342900" algn="just">
              <a:lnSpc>
                <a:spcPct val="106000"/>
              </a:lnSpc>
              <a:spcAft>
                <a:spcPts val="800"/>
              </a:spcAft>
              <a:buFont typeface="+mj-lt"/>
              <a:buAutoNum type="alphaUcPeriod"/>
            </a:pPr>
            <a:endParaRPr lang="en-DK" sz="2000">
              <a:effectLst/>
              <a:ea typeface="ヒラギノ角ゴ Pro W3"/>
              <a:cs typeface="Times New Roman" panose="02020603050405020304" pitchFamily="18" charset="0"/>
            </a:endParaRPr>
          </a:p>
          <a:p>
            <a:pPr algn="just">
              <a:lnSpc>
                <a:spcPct val="106000"/>
              </a:lnSpc>
              <a:spcBef>
                <a:spcPts val="200"/>
              </a:spcBef>
              <a:spcAft>
                <a:spcPts val="800"/>
              </a:spcAft>
            </a:pPr>
            <a:r>
              <a:rPr lang="en-GB" sz="2000" dirty="0">
                <a:effectLst/>
                <a:ea typeface="ヒラギノ角ゴ Pro W3"/>
                <a:cs typeface="Times New Roman"/>
              </a:rPr>
              <a:t>For a visual guide, please check </a:t>
            </a:r>
            <a:r>
              <a:rPr lang="en-GB" sz="2000" u="sng" dirty="0">
                <a:solidFill>
                  <a:srgbClr val="0563C1"/>
                </a:solidFill>
                <a:effectLst/>
                <a:ea typeface="ヒラギノ角ゴ Pro W3"/>
                <a:cs typeface="Times New Roman"/>
                <a:hlinkClick r:id="rId4"/>
              </a:rPr>
              <a:t>this document</a:t>
            </a:r>
            <a:r>
              <a:rPr lang="en-GB" sz="2000" dirty="0">
                <a:effectLst/>
                <a:ea typeface="ヒラギノ角ゴ Pro W3"/>
                <a:cs typeface="Times New Roman"/>
              </a:rPr>
              <a:t>.</a:t>
            </a:r>
            <a:endParaRPr lang="en-DK" sz="2000">
              <a:effectLst/>
              <a:ea typeface="ヒラギノ角ゴ Pro W3"/>
              <a:cs typeface="Times New Roman"/>
            </a:endParaRPr>
          </a:p>
          <a:p>
            <a:pPr algn="ctr"/>
            <a:endParaRPr lang="en-GB" sz="2000">
              <a:solidFill>
                <a:srgbClr val="316300"/>
              </a:solidFill>
            </a:endParaRPr>
          </a:p>
        </p:txBody>
      </p:sp>
      <p:sp>
        <p:nvSpPr>
          <p:cNvPr id="4" name="TextBox 3">
            <a:extLst>
              <a:ext uri="{FF2B5EF4-FFF2-40B4-BE49-F238E27FC236}">
                <a16:creationId xmlns:a16="http://schemas.microsoft.com/office/drawing/2014/main" id="{4E94FB52-A8DF-F242-690E-7BE4D07BF9AD}"/>
              </a:ext>
            </a:extLst>
          </p:cNvPr>
          <p:cNvSpPr txBox="1"/>
          <p:nvPr/>
        </p:nvSpPr>
        <p:spPr>
          <a:xfrm>
            <a:off x="5640125" y="354117"/>
            <a:ext cx="7878726" cy="646331"/>
          </a:xfrm>
          <a:prstGeom prst="rect">
            <a:avLst/>
          </a:prstGeom>
          <a:noFill/>
        </p:spPr>
        <p:txBody>
          <a:bodyPr wrap="square" rtlCol="0">
            <a:spAutoFit/>
          </a:bodyPr>
          <a:lstStyle/>
          <a:p>
            <a:r>
              <a:rPr lang="en-US" sz="3600">
                <a:solidFill>
                  <a:srgbClr val="009999"/>
                </a:solidFill>
              </a:rPr>
              <a:t>Getting started – EU Login </a:t>
            </a:r>
            <a:endParaRPr lang="en-DK" sz="3600">
              <a:solidFill>
                <a:srgbClr val="009999"/>
              </a:solidFill>
            </a:endParaRPr>
          </a:p>
        </p:txBody>
      </p:sp>
      <p:pic>
        <p:nvPicPr>
          <p:cNvPr id="5" name="Picture 4" descr="A logo with a black background&#10;&#10;Description automatically generated">
            <a:extLst>
              <a:ext uri="{FF2B5EF4-FFF2-40B4-BE49-F238E27FC236}">
                <a16:creationId xmlns:a16="http://schemas.microsoft.com/office/drawing/2014/main" id="{5A8AD512-7386-6919-91FF-7DD64F9ACC5D}"/>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94370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8349829-751D-06CA-F7DF-2773C36DD638}"/>
              </a:ext>
            </a:extLst>
          </p:cNvPr>
          <p:cNvSpPr txBox="1"/>
          <p:nvPr/>
        </p:nvSpPr>
        <p:spPr>
          <a:xfrm>
            <a:off x="290918" y="341446"/>
            <a:ext cx="7878726" cy="646331"/>
          </a:xfrm>
          <a:prstGeom prst="rect">
            <a:avLst/>
          </a:prstGeom>
          <a:noFill/>
        </p:spPr>
        <p:txBody>
          <a:bodyPr wrap="square" lIns="91440" tIns="45720" rIns="91440" bIns="45720" rtlCol="0" anchor="t">
            <a:spAutoFit/>
          </a:bodyPr>
          <a:lstStyle/>
          <a:p>
            <a:r>
              <a:rPr lang="en-US" sz="3600">
                <a:solidFill>
                  <a:srgbClr val="009999"/>
                </a:solidFill>
                <a:ea typeface="Calibri Light"/>
                <a:cs typeface="Calibri Light"/>
              </a:rPr>
              <a:t>The adaptation dataflows</a:t>
            </a:r>
          </a:p>
        </p:txBody>
      </p:sp>
      <p:pic>
        <p:nvPicPr>
          <p:cNvPr id="6" name="Picture 5">
            <a:extLst>
              <a:ext uri="{FF2B5EF4-FFF2-40B4-BE49-F238E27FC236}">
                <a16:creationId xmlns:a16="http://schemas.microsoft.com/office/drawing/2014/main" id="{38A71755-CB47-34F8-2FEE-C77288212959}"/>
              </a:ext>
            </a:extLst>
          </p:cNvPr>
          <p:cNvPicPr>
            <a:picLocks noChangeAspect="1"/>
          </p:cNvPicPr>
          <p:nvPr/>
        </p:nvPicPr>
        <p:blipFill>
          <a:blip r:embed="rId3"/>
          <a:stretch>
            <a:fillRect/>
          </a:stretch>
        </p:blipFill>
        <p:spPr>
          <a:xfrm>
            <a:off x="0" y="1226309"/>
            <a:ext cx="12192000" cy="5290245"/>
          </a:xfrm>
          <a:prstGeom prst="rect">
            <a:avLst/>
          </a:prstGeom>
        </p:spPr>
      </p:pic>
      <p:cxnSp>
        <p:nvCxnSpPr>
          <p:cNvPr id="7" name="Straight Arrow Connector 6">
            <a:extLst>
              <a:ext uri="{FF2B5EF4-FFF2-40B4-BE49-F238E27FC236}">
                <a16:creationId xmlns:a16="http://schemas.microsoft.com/office/drawing/2014/main" id="{D3BFF90C-4EA7-837D-4537-6AD9BB36E679}"/>
              </a:ext>
            </a:extLst>
          </p:cNvPr>
          <p:cNvCxnSpPr/>
          <p:nvPr/>
        </p:nvCxnSpPr>
        <p:spPr>
          <a:xfrm>
            <a:off x="9465619" y="2432878"/>
            <a:ext cx="1033670" cy="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3875381-A328-07C5-6BD8-E84DBFCC0D63}"/>
              </a:ext>
            </a:extLst>
          </p:cNvPr>
          <p:cNvCxnSpPr/>
          <p:nvPr/>
        </p:nvCxnSpPr>
        <p:spPr>
          <a:xfrm>
            <a:off x="9389673" y="5049078"/>
            <a:ext cx="1033670" cy="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10" descr="A logo with a black background&#10;&#10;Description automatically generated">
            <a:extLst>
              <a:ext uri="{FF2B5EF4-FFF2-40B4-BE49-F238E27FC236}">
                <a16:creationId xmlns:a16="http://schemas.microsoft.com/office/drawing/2014/main" id="{310FD645-9691-B960-1C11-E90E7921E254}"/>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499289" y="0"/>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20642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A0F391D-B1BB-1C4C-896B-D852E951F843}"/>
              </a:ext>
            </a:extLst>
          </p:cNvPr>
          <p:cNvPicPr>
            <a:picLocks noChangeAspect="1"/>
          </p:cNvPicPr>
          <p:nvPr/>
        </p:nvPicPr>
        <p:blipFill>
          <a:blip r:embed="rId3"/>
          <a:stretch>
            <a:fillRect/>
          </a:stretch>
        </p:blipFill>
        <p:spPr>
          <a:xfrm>
            <a:off x="108857" y="949508"/>
            <a:ext cx="11998477" cy="5109426"/>
          </a:xfrm>
          <a:prstGeom prst="rect">
            <a:avLst/>
          </a:prstGeom>
        </p:spPr>
      </p:pic>
      <p:sp>
        <p:nvSpPr>
          <p:cNvPr id="13" name="TextBox 12">
            <a:extLst>
              <a:ext uri="{FF2B5EF4-FFF2-40B4-BE49-F238E27FC236}">
                <a16:creationId xmlns:a16="http://schemas.microsoft.com/office/drawing/2014/main" id="{EE0CE503-B993-3968-83E3-B232F465E690}"/>
              </a:ext>
            </a:extLst>
          </p:cNvPr>
          <p:cNvSpPr txBox="1"/>
          <p:nvPr/>
        </p:nvSpPr>
        <p:spPr>
          <a:xfrm>
            <a:off x="5180347" y="2869831"/>
            <a:ext cx="5312389" cy="2843639"/>
          </a:xfrm>
          <a:prstGeom prst="rect">
            <a:avLst/>
          </a:prstGeom>
          <a:noFill/>
        </p:spPr>
        <p:txBody>
          <a:bodyPr wrap="square" rtlCol="0">
            <a:spAutoFit/>
          </a:bodyPr>
          <a:lstStyle/>
          <a:p>
            <a:pPr algn="just"/>
            <a:r>
              <a:rPr lang="en-150" b="1" i="0" cap="all">
                <a:effectLst/>
              </a:rPr>
              <a:t>Dataflow Help</a:t>
            </a:r>
            <a:endParaRPr lang="en-150" b="1" i="0">
              <a:effectLst/>
            </a:endParaRPr>
          </a:p>
          <a:p>
            <a:pPr marL="285750" indent="-285750" algn="just">
              <a:buFont typeface="Arial" panose="020B0604020202020204" pitchFamily="34" charset="0"/>
              <a:buChar char="•"/>
            </a:pPr>
            <a:r>
              <a:rPr lang="da-DK" i="0">
                <a:effectLst/>
              </a:rPr>
              <a:t>R</a:t>
            </a:r>
            <a:r>
              <a:rPr lang="en-150" i="0">
                <a:effectLst/>
              </a:rPr>
              <a:t>eporting guidelines and </a:t>
            </a:r>
            <a:r>
              <a:rPr lang="en-US" i="0">
                <a:effectLst/>
              </a:rPr>
              <a:t>documentation</a:t>
            </a:r>
            <a:endParaRPr lang="en-150" i="0">
              <a:effectLst/>
            </a:endParaRPr>
          </a:p>
          <a:p>
            <a:pPr marL="285750" indent="-285750" algn="just">
              <a:buFont typeface="Arial" panose="020B0604020202020204" pitchFamily="34" charset="0"/>
              <a:buChar char="•"/>
            </a:pPr>
            <a:r>
              <a:rPr lang="da-DK"/>
              <a:t>U</a:t>
            </a:r>
            <a:r>
              <a:rPr lang="en-150"/>
              <a:t>seful weblinks</a:t>
            </a:r>
          </a:p>
          <a:p>
            <a:pPr marL="285750" indent="-285750" algn="just">
              <a:buFont typeface="Arial" panose="020B0604020202020204" pitchFamily="34" charset="0"/>
              <a:buChar char="•"/>
            </a:pPr>
            <a:r>
              <a:rPr lang="en-150" i="0">
                <a:effectLst/>
              </a:rPr>
              <a:t>(Dataset schema)</a:t>
            </a:r>
          </a:p>
          <a:p>
            <a:pPr algn="just"/>
            <a:r>
              <a:rPr lang="en-150" b="1" i="0" cap="all">
                <a:effectLst/>
              </a:rPr>
              <a:t>DATA</a:t>
            </a:r>
            <a:endParaRPr lang="en-150" b="1" i="0">
              <a:effectLst/>
            </a:endParaRPr>
          </a:p>
          <a:p>
            <a:pPr marL="285750" indent="-285750" algn="just">
              <a:buFont typeface="Arial" panose="020B0604020202020204" pitchFamily="34" charset="0"/>
              <a:buChar char="•"/>
            </a:pPr>
            <a:r>
              <a:rPr lang="da-DK"/>
              <a:t>C</a:t>
            </a:r>
            <a:r>
              <a:rPr lang="en-150"/>
              <a:t>ore of the reporting, with webforms and tables</a:t>
            </a:r>
          </a:p>
          <a:p>
            <a:pPr algn="just"/>
            <a:r>
              <a:rPr lang="da-DK" b="1" i="0" cap="all">
                <a:effectLst/>
              </a:rPr>
              <a:t>R</a:t>
            </a:r>
            <a:r>
              <a:rPr lang="en-150" b="1" i="0" cap="all">
                <a:effectLst/>
              </a:rPr>
              <a:t>elease to DATA collection</a:t>
            </a:r>
            <a:endParaRPr lang="en-150" b="1" i="0">
              <a:effectLst/>
            </a:endParaRPr>
          </a:p>
          <a:p>
            <a:pPr marL="285750" indent="-285750" algn="just">
              <a:buFont typeface="Arial" panose="020B0604020202020204" pitchFamily="34" charset="0"/>
              <a:buChar char="•"/>
            </a:pPr>
            <a:r>
              <a:rPr lang="da-DK"/>
              <a:t>O</a:t>
            </a:r>
            <a:r>
              <a:rPr lang="en-150"/>
              <a:t>nly for lead reporters</a:t>
            </a:r>
          </a:p>
          <a:p>
            <a:pPr marL="285750" indent="-285750" algn="just">
              <a:buFont typeface="Arial" panose="020B0604020202020204" pitchFamily="34" charset="0"/>
              <a:buChar char="•"/>
            </a:pPr>
            <a:r>
              <a:rPr lang="en-150"/>
              <a:t>Final step, submitting the reported information</a:t>
            </a:r>
          </a:p>
          <a:p>
            <a:pPr algn="just"/>
            <a:endParaRPr lang="en-US" sz="1600" b="1">
              <a:solidFill>
                <a:srgbClr val="333333"/>
              </a:solidFill>
            </a:endParaRPr>
          </a:p>
        </p:txBody>
      </p:sp>
      <p:sp>
        <p:nvSpPr>
          <p:cNvPr id="4" name="TextBox 3">
            <a:extLst>
              <a:ext uri="{FF2B5EF4-FFF2-40B4-BE49-F238E27FC236}">
                <a16:creationId xmlns:a16="http://schemas.microsoft.com/office/drawing/2014/main" id="{C5B86EC2-5B02-201D-1F54-F83D4847C39E}"/>
              </a:ext>
            </a:extLst>
          </p:cNvPr>
          <p:cNvSpPr txBox="1"/>
          <p:nvPr/>
        </p:nvSpPr>
        <p:spPr>
          <a:xfrm>
            <a:off x="506818" y="341446"/>
            <a:ext cx="7878726" cy="646331"/>
          </a:xfrm>
          <a:prstGeom prst="rect">
            <a:avLst/>
          </a:prstGeom>
          <a:noFill/>
        </p:spPr>
        <p:txBody>
          <a:bodyPr wrap="square" lIns="91440" tIns="45720" rIns="91440" bIns="45720" rtlCol="0" anchor="t">
            <a:spAutoFit/>
          </a:bodyPr>
          <a:lstStyle/>
          <a:p>
            <a:r>
              <a:rPr lang="en-US" sz="3600">
                <a:solidFill>
                  <a:srgbClr val="009999"/>
                </a:solidFill>
                <a:ea typeface="Calibri Light"/>
                <a:cs typeface="Calibri Light"/>
              </a:rPr>
              <a:t>Dataflow overview I</a:t>
            </a:r>
            <a:endParaRPr lang="en-US" sz="3600">
              <a:solidFill>
                <a:srgbClr val="009999"/>
              </a:solidFill>
            </a:endParaRPr>
          </a:p>
        </p:txBody>
      </p:sp>
      <p:pic>
        <p:nvPicPr>
          <p:cNvPr id="2" name="Picture 1" descr="A logo with a black background&#10;&#10;Description automatically generated">
            <a:extLst>
              <a:ext uri="{FF2B5EF4-FFF2-40B4-BE49-F238E27FC236}">
                <a16:creationId xmlns:a16="http://schemas.microsoft.com/office/drawing/2014/main" id="{0226ED07-8835-3512-54E8-13EE246790CE}"/>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
        <p:nvSpPr>
          <p:cNvPr id="5" name="Rectangle 4">
            <a:extLst>
              <a:ext uri="{FF2B5EF4-FFF2-40B4-BE49-F238E27FC236}">
                <a16:creationId xmlns:a16="http://schemas.microsoft.com/office/drawing/2014/main" id="{016E94B9-1D5B-F71C-670F-E5132D9BBCF3}"/>
              </a:ext>
            </a:extLst>
          </p:cNvPr>
          <p:cNvSpPr/>
          <p:nvPr/>
        </p:nvSpPr>
        <p:spPr>
          <a:xfrm>
            <a:off x="2514600" y="2095500"/>
            <a:ext cx="977900" cy="304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 name="Rectangle 5">
            <a:extLst>
              <a:ext uri="{FF2B5EF4-FFF2-40B4-BE49-F238E27FC236}">
                <a16:creationId xmlns:a16="http://schemas.microsoft.com/office/drawing/2014/main" id="{680F8B77-A746-B4DB-D63E-7AAE2FC60F27}"/>
              </a:ext>
            </a:extLst>
          </p:cNvPr>
          <p:cNvSpPr/>
          <p:nvPr/>
        </p:nvSpPr>
        <p:spPr>
          <a:xfrm>
            <a:off x="1300399" y="2421268"/>
            <a:ext cx="7219561" cy="2061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3741649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561E468-A710-BEAD-D65D-1F9FA721F3CF}"/>
              </a:ext>
            </a:extLst>
          </p:cNvPr>
          <p:cNvSpPr/>
          <p:nvPr/>
        </p:nvSpPr>
        <p:spPr>
          <a:xfrm>
            <a:off x="5368579" y="2512202"/>
            <a:ext cx="2465798" cy="2729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pic>
        <p:nvPicPr>
          <p:cNvPr id="13" name="Picture 12">
            <a:extLst>
              <a:ext uri="{FF2B5EF4-FFF2-40B4-BE49-F238E27FC236}">
                <a16:creationId xmlns:a16="http://schemas.microsoft.com/office/drawing/2014/main" id="{FDC729C6-FCCA-9746-1968-7109D9F81C76}"/>
              </a:ext>
            </a:extLst>
          </p:cNvPr>
          <p:cNvPicPr>
            <a:picLocks noChangeAspect="1"/>
          </p:cNvPicPr>
          <p:nvPr/>
        </p:nvPicPr>
        <p:blipFill>
          <a:blip r:embed="rId3"/>
          <a:srcRect t="28101" b="13560"/>
          <a:stretch/>
        </p:blipFill>
        <p:spPr>
          <a:xfrm>
            <a:off x="145143" y="4963565"/>
            <a:ext cx="8839200" cy="1713186"/>
          </a:xfrm>
          <a:prstGeom prst="rect">
            <a:avLst/>
          </a:prstGeom>
        </p:spPr>
      </p:pic>
      <p:pic>
        <p:nvPicPr>
          <p:cNvPr id="6" name="Picture 5">
            <a:extLst>
              <a:ext uri="{FF2B5EF4-FFF2-40B4-BE49-F238E27FC236}">
                <a16:creationId xmlns:a16="http://schemas.microsoft.com/office/drawing/2014/main" id="{BD098361-30E1-482F-3BBD-228BAEBB1538}"/>
              </a:ext>
            </a:extLst>
          </p:cNvPr>
          <p:cNvPicPr>
            <a:picLocks noChangeAspect="1"/>
          </p:cNvPicPr>
          <p:nvPr/>
        </p:nvPicPr>
        <p:blipFill>
          <a:blip r:embed="rId4"/>
          <a:stretch>
            <a:fillRect/>
          </a:stretch>
        </p:blipFill>
        <p:spPr>
          <a:xfrm>
            <a:off x="0" y="901875"/>
            <a:ext cx="12192000" cy="4061690"/>
          </a:xfrm>
          <a:prstGeom prst="rect">
            <a:avLst/>
          </a:prstGeom>
        </p:spPr>
      </p:pic>
      <p:sp>
        <p:nvSpPr>
          <p:cNvPr id="11" name="Rectangle 10">
            <a:extLst>
              <a:ext uri="{FF2B5EF4-FFF2-40B4-BE49-F238E27FC236}">
                <a16:creationId xmlns:a16="http://schemas.microsoft.com/office/drawing/2014/main" id="{1F10DCFF-89B7-5C9C-DFD9-B5CBECCBDFAA}"/>
              </a:ext>
            </a:extLst>
          </p:cNvPr>
          <p:cNvSpPr/>
          <p:nvPr/>
        </p:nvSpPr>
        <p:spPr>
          <a:xfrm>
            <a:off x="145143" y="4362426"/>
            <a:ext cx="11037864" cy="502032"/>
          </a:xfrm>
          <a:prstGeom prst="rect">
            <a:avLst/>
          </a:prstGeom>
          <a:noFill/>
          <a:ln>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12" name="Rectangle 11">
            <a:extLst>
              <a:ext uri="{FF2B5EF4-FFF2-40B4-BE49-F238E27FC236}">
                <a16:creationId xmlns:a16="http://schemas.microsoft.com/office/drawing/2014/main" id="{1D3F211E-3790-0268-40B9-FBD2413491AA}"/>
              </a:ext>
            </a:extLst>
          </p:cNvPr>
          <p:cNvSpPr/>
          <p:nvPr/>
        </p:nvSpPr>
        <p:spPr>
          <a:xfrm>
            <a:off x="649616" y="2090326"/>
            <a:ext cx="361340" cy="584775"/>
          </a:xfrm>
          <a:prstGeom prst="rect">
            <a:avLst/>
          </a:prstGeom>
          <a:noFill/>
        </p:spPr>
        <p:txBody>
          <a:bodyPr wrap="square" lIns="91440" tIns="45720" rIns="91440" bIns="45720">
            <a:spAutoFit/>
          </a:bodyPr>
          <a:lstStyle/>
          <a:p>
            <a:pPr algn="ctr"/>
            <a:r>
              <a:rPr lang="en-US" sz="3200" b="1">
                <a:ln w="0"/>
                <a:solidFill>
                  <a:srgbClr val="FF0000"/>
                </a:solidFill>
                <a:effectLst>
                  <a:outerShdw blurRad="38100" dist="19050" dir="2700000" algn="tl" rotWithShape="0">
                    <a:schemeClr val="dk1">
                      <a:alpha val="40000"/>
                    </a:schemeClr>
                  </a:outerShdw>
                </a:effectLst>
              </a:rPr>
              <a:t>!</a:t>
            </a:r>
            <a:endParaRPr lang="en-US" sz="5400" b="1" cap="none" spc="0">
              <a:ln w="0"/>
              <a:solidFill>
                <a:srgbClr val="FF0000"/>
              </a:solidFill>
              <a:effectLst>
                <a:outerShdw blurRad="38100" dist="19050" dir="2700000" algn="tl" rotWithShape="0">
                  <a:schemeClr val="dk1">
                    <a:alpha val="40000"/>
                  </a:schemeClr>
                </a:outerShdw>
              </a:effectLst>
            </a:endParaRPr>
          </a:p>
        </p:txBody>
      </p:sp>
      <p:sp>
        <p:nvSpPr>
          <p:cNvPr id="2" name="TextBox 1">
            <a:extLst>
              <a:ext uri="{FF2B5EF4-FFF2-40B4-BE49-F238E27FC236}">
                <a16:creationId xmlns:a16="http://schemas.microsoft.com/office/drawing/2014/main" id="{7042890F-D67D-FBB8-9502-A3C9D8CA738C}"/>
              </a:ext>
            </a:extLst>
          </p:cNvPr>
          <p:cNvSpPr txBox="1"/>
          <p:nvPr/>
        </p:nvSpPr>
        <p:spPr>
          <a:xfrm>
            <a:off x="233549" y="156437"/>
            <a:ext cx="7878726" cy="646331"/>
          </a:xfrm>
          <a:prstGeom prst="rect">
            <a:avLst/>
          </a:prstGeom>
          <a:noFill/>
        </p:spPr>
        <p:txBody>
          <a:bodyPr wrap="square" lIns="91440" tIns="45720" rIns="91440" bIns="45720" rtlCol="0" anchor="t">
            <a:spAutoFit/>
          </a:bodyPr>
          <a:lstStyle/>
          <a:p>
            <a:r>
              <a:rPr lang="en-US" sz="3600">
                <a:solidFill>
                  <a:srgbClr val="009999"/>
                </a:solidFill>
                <a:ea typeface="Calibri Light"/>
                <a:cs typeface="Calibri Light"/>
              </a:rPr>
              <a:t>Dataflow overview II</a:t>
            </a:r>
            <a:endParaRPr lang="en-US" sz="3600">
              <a:solidFill>
                <a:srgbClr val="009999"/>
              </a:solidFill>
            </a:endParaRPr>
          </a:p>
        </p:txBody>
      </p:sp>
      <p:pic>
        <p:nvPicPr>
          <p:cNvPr id="3" name="Picture 2" descr="A logo with a black background&#10;&#10;Description automatically generated">
            <a:extLst>
              <a:ext uri="{FF2B5EF4-FFF2-40B4-BE49-F238E27FC236}">
                <a16:creationId xmlns:a16="http://schemas.microsoft.com/office/drawing/2014/main" id="{01117278-6C4E-DDFE-C15B-1C7A06F18E8E}"/>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762773" y="539111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68081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73B42EA-C98B-3DFC-4EA9-8651AC4368D3}"/>
              </a:ext>
            </a:extLst>
          </p:cNvPr>
          <p:cNvPicPr>
            <a:picLocks noChangeAspect="1"/>
          </p:cNvPicPr>
          <p:nvPr/>
        </p:nvPicPr>
        <p:blipFill rotWithShape="1">
          <a:blip r:embed="rId3"/>
          <a:srcRect l="-397" t="24202" r="94382" b="5000"/>
          <a:stretch/>
        </p:blipFill>
        <p:spPr>
          <a:xfrm>
            <a:off x="64009" y="870930"/>
            <a:ext cx="738990" cy="5436650"/>
          </a:xfrm>
          <a:prstGeom prst="rect">
            <a:avLst/>
          </a:prstGeom>
        </p:spPr>
      </p:pic>
      <p:cxnSp>
        <p:nvCxnSpPr>
          <p:cNvPr id="4" name="Straight Arrow Connector 3">
            <a:extLst>
              <a:ext uri="{FF2B5EF4-FFF2-40B4-BE49-F238E27FC236}">
                <a16:creationId xmlns:a16="http://schemas.microsoft.com/office/drawing/2014/main" id="{CAEDAA49-96D3-CFC6-2BD3-7AA686E4B0BE}"/>
              </a:ext>
            </a:extLst>
          </p:cNvPr>
          <p:cNvCxnSpPr/>
          <p:nvPr/>
        </p:nvCxnSpPr>
        <p:spPr>
          <a:xfrm flipH="1">
            <a:off x="607735" y="3360326"/>
            <a:ext cx="1509623" cy="0"/>
          </a:xfrm>
          <a:prstGeom prst="straightConnector1">
            <a:avLst/>
          </a:prstGeom>
          <a:ln w="76200">
            <a:solidFill>
              <a:srgbClr val="3163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3609705-149F-DC73-92B4-C500EA58B5EE}"/>
              </a:ext>
            </a:extLst>
          </p:cNvPr>
          <p:cNvSpPr txBox="1"/>
          <p:nvPr/>
        </p:nvSpPr>
        <p:spPr>
          <a:xfrm>
            <a:off x="1098272" y="3787637"/>
            <a:ext cx="7287271" cy="2031325"/>
          </a:xfrm>
          <a:prstGeom prst="rect">
            <a:avLst/>
          </a:prstGeom>
          <a:noFill/>
        </p:spPr>
        <p:txBody>
          <a:bodyPr wrap="square" rtlCol="0">
            <a:spAutoFit/>
          </a:bodyPr>
          <a:lstStyle/>
          <a:p>
            <a:r>
              <a:rPr lang="en-US" b="1" u="sng"/>
              <a:t>Dataflow user list:</a:t>
            </a:r>
          </a:p>
          <a:p>
            <a:r>
              <a:rPr lang="en-US"/>
              <a:t>View who is selected as reporters</a:t>
            </a:r>
          </a:p>
          <a:p>
            <a:endParaRPr lang="en-US" b="1"/>
          </a:p>
          <a:p>
            <a:r>
              <a:rPr lang="en-US" b="1" u="sng"/>
              <a:t>Manage reporters (as lead reporter):</a:t>
            </a:r>
          </a:p>
          <a:p>
            <a:r>
              <a:rPr lang="en-US"/>
              <a:t>Add additional reporters to access dataflow</a:t>
            </a:r>
          </a:p>
          <a:p>
            <a:r>
              <a:rPr lang="en-US" i="1"/>
              <a:t>Reporters cannot release to data collection</a:t>
            </a:r>
            <a:endParaRPr lang="en-150" i="1"/>
          </a:p>
          <a:p>
            <a:r>
              <a:rPr lang="en-150" i="1"/>
              <a:t>Reporter read – reporter write</a:t>
            </a:r>
            <a:endParaRPr lang="en-DK" i="1"/>
          </a:p>
        </p:txBody>
      </p:sp>
      <p:pic>
        <p:nvPicPr>
          <p:cNvPr id="6" name="Picture 5">
            <a:extLst>
              <a:ext uri="{FF2B5EF4-FFF2-40B4-BE49-F238E27FC236}">
                <a16:creationId xmlns:a16="http://schemas.microsoft.com/office/drawing/2014/main" id="{65F74603-A5E6-8CD5-F23F-C4DDEC47E811}"/>
              </a:ext>
            </a:extLst>
          </p:cNvPr>
          <p:cNvPicPr>
            <a:picLocks noChangeAspect="1"/>
          </p:cNvPicPr>
          <p:nvPr/>
        </p:nvPicPr>
        <p:blipFill>
          <a:blip r:embed="rId4"/>
          <a:stretch>
            <a:fillRect/>
          </a:stretch>
        </p:blipFill>
        <p:spPr>
          <a:xfrm>
            <a:off x="802998" y="3863423"/>
            <a:ext cx="295275" cy="285750"/>
          </a:xfrm>
          <a:prstGeom prst="rect">
            <a:avLst/>
          </a:prstGeom>
        </p:spPr>
      </p:pic>
      <p:pic>
        <p:nvPicPr>
          <p:cNvPr id="8" name="Picture 7">
            <a:extLst>
              <a:ext uri="{FF2B5EF4-FFF2-40B4-BE49-F238E27FC236}">
                <a16:creationId xmlns:a16="http://schemas.microsoft.com/office/drawing/2014/main" id="{4E6364A6-5C15-0D54-EE11-CF43CDF4EBF3}"/>
              </a:ext>
            </a:extLst>
          </p:cNvPr>
          <p:cNvPicPr>
            <a:picLocks noChangeAspect="1"/>
          </p:cNvPicPr>
          <p:nvPr/>
        </p:nvPicPr>
        <p:blipFill>
          <a:blip r:embed="rId5"/>
          <a:stretch>
            <a:fillRect/>
          </a:stretch>
        </p:blipFill>
        <p:spPr>
          <a:xfrm>
            <a:off x="802998" y="4664800"/>
            <a:ext cx="323850" cy="276225"/>
          </a:xfrm>
          <a:prstGeom prst="rect">
            <a:avLst/>
          </a:prstGeom>
        </p:spPr>
      </p:pic>
      <p:cxnSp>
        <p:nvCxnSpPr>
          <p:cNvPr id="2" name="Straight Arrow Connector 1">
            <a:extLst>
              <a:ext uri="{FF2B5EF4-FFF2-40B4-BE49-F238E27FC236}">
                <a16:creationId xmlns:a16="http://schemas.microsoft.com/office/drawing/2014/main" id="{FD2B7870-F193-794F-E16C-9130E83A10B3}"/>
              </a:ext>
            </a:extLst>
          </p:cNvPr>
          <p:cNvCxnSpPr/>
          <p:nvPr/>
        </p:nvCxnSpPr>
        <p:spPr>
          <a:xfrm flipH="1">
            <a:off x="607735" y="1879233"/>
            <a:ext cx="1509623" cy="0"/>
          </a:xfrm>
          <a:prstGeom prst="straightConnector1">
            <a:avLst/>
          </a:prstGeom>
          <a:ln w="76200">
            <a:solidFill>
              <a:srgbClr val="3163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1EEB71A9-204C-1AEC-9121-72208FB5A2CE}"/>
              </a:ext>
            </a:extLst>
          </p:cNvPr>
          <p:cNvPicPr>
            <a:picLocks noChangeAspect="1"/>
          </p:cNvPicPr>
          <p:nvPr/>
        </p:nvPicPr>
        <p:blipFill rotWithShape="1">
          <a:blip r:embed="rId3"/>
          <a:srcRect t="35037" r="97100" b="60223"/>
          <a:stretch/>
        </p:blipFill>
        <p:spPr>
          <a:xfrm>
            <a:off x="809318" y="2132883"/>
            <a:ext cx="356324" cy="363985"/>
          </a:xfrm>
          <a:prstGeom prst="rect">
            <a:avLst/>
          </a:prstGeom>
        </p:spPr>
      </p:pic>
      <p:sp>
        <p:nvSpPr>
          <p:cNvPr id="7" name="TextBox 6">
            <a:extLst>
              <a:ext uri="{FF2B5EF4-FFF2-40B4-BE49-F238E27FC236}">
                <a16:creationId xmlns:a16="http://schemas.microsoft.com/office/drawing/2014/main" id="{A5F2E669-2F66-DC17-D077-5E9B8F962228}"/>
              </a:ext>
            </a:extLst>
          </p:cNvPr>
          <p:cNvSpPr txBox="1"/>
          <p:nvPr/>
        </p:nvSpPr>
        <p:spPr>
          <a:xfrm>
            <a:off x="1165642" y="2054700"/>
            <a:ext cx="8422858" cy="1200329"/>
          </a:xfrm>
          <a:prstGeom prst="rect">
            <a:avLst/>
          </a:prstGeom>
          <a:noFill/>
        </p:spPr>
        <p:txBody>
          <a:bodyPr wrap="square" rtlCol="0">
            <a:spAutoFit/>
          </a:bodyPr>
          <a:lstStyle/>
          <a:p>
            <a:r>
              <a:rPr lang="en-150" b="1" u="sng"/>
              <a:t>Notifications</a:t>
            </a:r>
            <a:r>
              <a:rPr lang="en-US" b="1" u="sng"/>
              <a:t>:</a:t>
            </a:r>
          </a:p>
          <a:p>
            <a:r>
              <a:rPr lang="en-US" b="1"/>
              <a:t>Chronologic overview of processes (messages also in pop-up menus)</a:t>
            </a:r>
          </a:p>
          <a:p>
            <a:r>
              <a:rPr lang="en-US" i="1"/>
              <a:t>E.g. begin and end of validation, reporter management </a:t>
            </a:r>
          </a:p>
          <a:p>
            <a:r>
              <a:rPr lang="en-US" i="1"/>
              <a:t>Info – Success – Error</a:t>
            </a:r>
            <a:endParaRPr lang="en-DK" i="1"/>
          </a:p>
        </p:txBody>
      </p:sp>
      <p:pic>
        <p:nvPicPr>
          <p:cNvPr id="9" name="Picture 8" descr="A logo with a black background&#10;&#10;Description automatically generated">
            <a:extLst>
              <a:ext uri="{FF2B5EF4-FFF2-40B4-BE49-F238E27FC236}">
                <a16:creationId xmlns:a16="http://schemas.microsoft.com/office/drawing/2014/main" id="{0137AF48-16D1-7445-B542-A5FB9B37A929}"/>
              </a:ext>
            </a:extLst>
          </p:cNvPr>
          <p:cNvPicPr>
            <a:picLocks noChangeAspect="1"/>
          </p:cNvPicPr>
          <p:nvPr/>
        </p:nvPicPr>
        <p:blipFill rotWithShape="1">
          <a:blip r:embed="rId6">
            <a:extLst>
              <a:ext uri="{28A0092B-C50C-407E-A947-70E740481C1C}">
                <a14:useLocalDpi xmlns:a14="http://schemas.microsoft.com/office/drawing/2010/main" val="0"/>
              </a:ext>
            </a:extLst>
          </a:blip>
          <a:srcRect l="38167" t="-11528" r="48578" b="-1"/>
          <a:stretch/>
        </p:blipFill>
        <p:spPr bwMode="auto">
          <a:xfrm>
            <a:off x="10698764" y="5359400"/>
            <a:ext cx="1429227" cy="1598560"/>
          </a:xfrm>
          <a:prstGeom prst="rect">
            <a:avLst/>
          </a:prstGeom>
          <a:noFill/>
          <a:ln>
            <a:noFill/>
          </a:ln>
          <a:extLst>
            <a:ext uri="{53640926-AAD7-44D8-BBD7-CCE9431645EC}">
              <a14:shadowObscured xmlns:a14="http://schemas.microsoft.com/office/drawing/2010/main"/>
            </a:ext>
          </a:extLst>
        </p:spPr>
      </p:pic>
      <p:sp>
        <p:nvSpPr>
          <p:cNvPr id="11" name="TextBox 10">
            <a:extLst>
              <a:ext uri="{FF2B5EF4-FFF2-40B4-BE49-F238E27FC236}">
                <a16:creationId xmlns:a16="http://schemas.microsoft.com/office/drawing/2014/main" id="{D6BBEAD9-1889-B110-9D6B-B9CCCC04281F}"/>
              </a:ext>
            </a:extLst>
          </p:cNvPr>
          <p:cNvSpPr txBox="1"/>
          <p:nvPr/>
        </p:nvSpPr>
        <p:spPr>
          <a:xfrm>
            <a:off x="506818" y="341446"/>
            <a:ext cx="7878726" cy="646331"/>
          </a:xfrm>
          <a:prstGeom prst="rect">
            <a:avLst/>
          </a:prstGeom>
          <a:noFill/>
        </p:spPr>
        <p:txBody>
          <a:bodyPr wrap="square" lIns="91440" tIns="45720" rIns="91440" bIns="45720" rtlCol="0" anchor="t">
            <a:spAutoFit/>
          </a:bodyPr>
          <a:lstStyle/>
          <a:p>
            <a:r>
              <a:rPr lang="en-US" sz="3600">
                <a:solidFill>
                  <a:srgbClr val="009999"/>
                </a:solidFill>
                <a:ea typeface="Calibri Light"/>
                <a:cs typeface="Calibri Light"/>
              </a:rPr>
              <a:t>Dataflow overview III</a:t>
            </a:r>
            <a:endParaRPr lang="en-US" sz="3600">
              <a:solidFill>
                <a:srgbClr val="009999"/>
              </a:solidFill>
            </a:endParaRPr>
          </a:p>
        </p:txBody>
      </p:sp>
    </p:spTree>
    <p:extLst>
      <p:ext uri="{BB962C8B-B14F-4D97-AF65-F5344CB8AC3E}">
        <p14:creationId xmlns:p14="http://schemas.microsoft.com/office/powerpoint/2010/main" val="3576472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640938-4972-C45B-C67A-05CC2F709F7A}"/>
              </a:ext>
            </a:extLst>
          </p:cNvPr>
          <p:cNvSpPr txBox="1"/>
          <p:nvPr/>
        </p:nvSpPr>
        <p:spPr>
          <a:xfrm>
            <a:off x="3916561" y="1353467"/>
            <a:ext cx="4850430" cy="1077218"/>
          </a:xfrm>
          <a:prstGeom prst="rect">
            <a:avLst/>
          </a:prstGeom>
          <a:noFill/>
        </p:spPr>
        <p:txBody>
          <a:bodyPr wrap="none" rtlCol="0">
            <a:spAutoFit/>
          </a:bodyPr>
          <a:lstStyle/>
          <a:p>
            <a:pPr algn="ctr"/>
            <a:r>
              <a:rPr lang="en-US" sz="3200">
                <a:solidFill>
                  <a:schemeClr val="bg1"/>
                </a:solidFill>
              </a:rPr>
              <a:t>Finalizing the reporting</a:t>
            </a:r>
          </a:p>
          <a:p>
            <a:r>
              <a:rPr lang="en-US" sz="3200">
                <a:solidFill>
                  <a:schemeClr val="bg1"/>
                </a:solidFill>
              </a:rPr>
              <a:t>Validation and submission</a:t>
            </a:r>
          </a:p>
        </p:txBody>
      </p:sp>
      <p:pic>
        <p:nvPicPr>
          <p:cNvPr id="7" name="Graphic 6" descr="Upload with solid fill">
            <a:extLst>
              <a:ext uri="{FF2B5EF4-FFF2-40B4-BE49-F238E27FC236}">
                <a16:creationId xmlns:a16="http://schemas.microsoft.com/office/drawing/2014/main" id="{4DCC676B-6C36-57B0-0F1F-C0801C9738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49984" y="2353963"/>
            <a:ext cx="2892027" cy="2892027"/>
          </a:xfrm>
          <a:prstGeom prst="rect">
            <a:avLst/>
          </a:prstGeom>
        </p:spPr>
      </p:pic>
    </p:spTree>
    <p:extLst>
      <p:ext uri="{BB962C8B-B14F-4D97-AF65-F5344CB8AC3E}">
        <p14:creationId xmlns:p14="http://schemas.microsoft.com/office/powerpoint/2010/main" val="2654105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946921F7-8B7F-58D3-D2E9-CF17AAC101DF}"/>
              </a:ext>
            </a:extLst>
          </p:cNvPr>
          <p:cNvPicPr>
            <a:picLocks noChangeAspect="1"/>
          </p:cNvPicPr>
          <p:nvPr/>
        </p:nvPicPr>
        <p:blipFill>
          <a:blip r:embed="rId3"/>
          <a:srcRect l="167" r="461" b="32978"/>
          <a:stretch/>
        </p:blipFill>
        <p:spPr>
          <a:xfrm>
            <a:off x="20312" y="1240870"/>
            <a:ext cx="12115509" cy="2192522"/>
          </a:xfrm>
          <a:prstGeom prst="rect">
            <a:avLst/>
          </a:prstGeom>
        </p:spPr>
      </p:pic>
      <p:sp>
        <p:nvSpPr>
          <p:cNvPr id="2" name="TextBox 1">
            <a:extLst>
              <a:ext uri="{FF2B5EF4-FFF2-40B4-BE49-F238E27FC236}">
                <a16:creationId xmlns:a16="http://schemas.microsoft.com/office/drawing/2014/main" id="{8615DA0E-2479-65A3-8C78-81F063A809D9}"/>
              </a:ext>
            </a:extLst>
          </p:cNvPr>
          <p:cNvSpPr txBox="1"/>
          <p:nvPr/>
        </p:nvSpPr>
        <p:spPr>
          <a:xfrm>
            <a:off x="388620" y="335280"/>
            <a:ext cx="9098280" cy="646331"/>
          </a:xfrm>
          <a:prstGeom prst="rect">
            <a:avLst/>
          </a:prstGeom>
          <a:noFill/>
        </p:spPr>
        <p:txBody>
          <a:bodyPr wrap="square" rtlCol="0">
            <a:spAutoFit/>
          </a:bodyPr>
          <a:lstStyle/>
          <a:p>
            <a:r>
              <a:rPr lang="en-GB" sz="3600">
                <a:solidFill>
                  <a:srgbClr val="009999"/>
                </a:solidFill>
              </a:rPr>
              <a:t>From prefilling towards data validation</a:t>
            </a:r>
            <a:endParaRPr lang="en-DK" sz="3600">
              <a:solidFill>
                <a:srgbClr val="009999"/>
              </a:solidFill>
            </a:endParaRPr>
          </a:p>
        </p:txBody>
      </p:sp>
      <p:pic>
        <p:nvPicPr>
          <p:cNvPr id="7" name="Picture 6" descr="Graphical user interface, text, application, chat or text message&#10;&#10;Description automatically generated">
            <a:extLst>
              <a:ext uri="{FF2B5EF4-FFF2-40B4-BE49-F238E27FC236}">
                <a16:creationId xmlns:a16="http://schemas.microsoft.com/office/drawing/2014/main" id="{580F971C-6400-F1FE-CA3C-6648077BF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6586" y="3366275"/>
            <a:ext cx="2635250" cy="2933700"/>
          </a:xfrm>
          <a:prstGeom prst="rect">
            <a:avLst/>
          </a:prstGeom>
        </p:spPr>
      </p:pic>
      <p:pic>
        <p:nvPicPr>
          <p:cNvPr id="9" name="Picture 8" descr="Graphical user interface, text, application, chat or text message&#10;&#10;Description automatically generated">
            <a:extLst>
              <a:ext uri="{FF2B5EF4-FFF2-40B4-BE49-F238E27FC236}">
                <a16:creationId xmlns:a16="http://schemas.microsoft.com/office/drawing/2014/main" id="{F3D662BE-09E4-56D4-C239-D1A7784BEB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9489" y="3509150"/>
            <a:ext cx="2520950" cy="1663700"/>
          </a:xfrm>
          <a:prstGeom prst="rect">
            <a:avLst/>
          </a:prstGeom>
        </p:spPr>
      </p:pic>
      <p:sp>
        <p:nvSpPr>
          <p:cNvPr id="10" name="Rectangle 9">
            <a:extLst>
              <a:ext uri="{FF2B5EF4-FFF2-40B4-BE49-F238E27FC236}">
                <a16:creationId xmlns:a16="http://schemas.microsoft.com/office/drawing/2014/main" id="{3175B014-CC85-D75A-6CD5-019B422F81D4}"/>
              </a:ext>
            </a:extLst>
          </p:cNvPr>
          <p:cNvSpPr/>
          <p:nvPr/>
        </p:nvSpPr>
        <p:spPr>
          <a:xfrm>
            <a:off x="10348959" y="2195836"/>
            <a:ext cx="1784319" cy="444531"/>
          </a:xfrm>
          <a:prstGeom prst="rect">
            <a:avLst/>
          </a:prstGeom>
          <a:noFill/>
          <a:ln>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11" name="Rectangle 10">
            <a:extLst>
              <a:ext uri="{FF2B5EF4-FFF2-40B4-BE49-F238E27FC236}">
                <a16:creationId xmlns:a16="http://schemas.microsoft.com/office/drawing/2014/main" id="{4188AFDE-BCD5-0486-52A7-2C1B7DB0C1A9}"/>
              </a:ext>
            </a:extLst>
          </p:cNvPr>
          <p:cNvSpPr/>
          <p:nvPr/>
        </p:nvSpPr>
        <p:spPr>
          <a:xfrm>
            <a:off x="32739" y="1832404"/>
            <a:ext cx="2900406" cy="363984"/>
          </a:xfrm>
          <a:prstGeom prst="rect">
            <a:avLst/>
          </a:prstGeom>
          <a:noFill/>
          <a:ln>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12" name="Rectangle 11">
            <a:extLst>
              <a:ext uri="{FF2B5EF4-FFF2-40B4-BE49-F238E27FC236}">
                <a16:creationId xmlns:a16="http://schemas.microsoft.com/office/drawing/2014/main" id="{5B7174BF-118B-D044-AD16-4FAE7958C41E}"/>
              </a:ext>
            </a:extLst>
          </p:cNvPr>
          <p:cNvSpPr/>
          <p:nvPr/>
        </p:nvSpPr>
        <p:spPr>
          <a:xfrm>
            <a:off x="8213006" y="1836806"/>
            <a:ext cx="3910747" cy="363984"/>
          </a:xfrm>
          <a:prstGeom prst="rect">
            <a:avLst/>
          </a:prstGeom>
          <a:noFill/>
          <a:ln>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13" name="Rectangle 12">
            <a:extLst>
              <a:ext uri="{FF2B5EF4-FFF2-40B4-BE49-F238E27FC236}">
                <a16:creationId xmlns:a16="http://schemas.microsoft.com/office/drawing/2014/main" id="{B42F7927-CB0D-EA08-B734-5CD6179876A0}"/>
              </a:ext>
            </a:extLst>
          </p:cNvPr>
          <p:cNvSpPr/>
          <p:nvPr/>
        </p:nvSpPr>
        <p:spPr>
          <a:xfrm>
            <a:off x="23214" y="2580757"/>
            <a:ext cx="11597735" cy="587869"/>
          </a:xfrm>
          <a:prstGeom prst="rect">
            <a:avLst/>
          </a:prstGeom>
          <a:noFill/>
          <a:ln>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14" name="Rectangle 13">
            <a:extLst>
              <a:ext uri="{FF2B5EF4-FFF2-40B4-BE49-F238E27FC236}">
                <a16:creationId xmlns:a16="http://schemas.microsoft.com/office/drawing/2014/main" id="{88AA62F0-98DD-B684-7475-77ED19E6D18B}"/>
              </a:ext>
            </a:extLst>
          </p:cNvPr>
          <p:cNvSpPr/>
          <p:nvPr/>
        </p:nvSpPr>
        <p:spPr>
          <a:xfrm>
            <a:off x="9986915" y="2127056"/>
            <a:ext cx="361340" cy="584775"/>
          </a:xfrm>
          <a:prstGeom prst="rect">
            <a:avLst/>
          </a:prstGeom>
          <a:noFill/>
        </p:spPr>
        <p:txBody>
          <a:bodyPr wrap="square" lIns="91440" tIns="45720" rIns="91440" bIns="45720">
            <a:spAutoFit/>
          </a:bodyPr>
          <a:lstStyle/>
          <a:p>
            <a:pPr algn="ctr"/>
            <a:r>
              <a:rPr lang="en-150" sz="3200" b="0" cap="none" spc="0">
                <a:ln w="0"/>
                <a:solidFill>
                  <a:srgbClr val="316300"/>
                </a:solidFill>
                <a:effectLst>
                  <a:outerShdw blurRad="38100" dist="19050" dir="2700000" algn="tl" rotWithShape="0">
                    <a:schemeClr val="dk1">
                      <a:alpha val="40000"/>
                    </a:schemeClr>
                  </a:outerShdw>
                </a:effectLst>
              </a:rPr>
              <a:t>1</a:t>
            </a:r>
            <a:endParaRPr lang="en-US" sz="5400" b="0" cap="none" spc="0">
              <a:ln w="0"/>
              <a:solidFill>
                <a:srgbClr val="316300"/>
              </a:solidFill>
              <a:effectLst>
                <a:outerShdw blurRad="38100" dist="19050" dir="2700000" algn="tl" rotWithShape="0">
                  <a:schemeClr val="dk1">
                    <a:alpha val="40000"/>
                  </a:schemeClr>
                </a:outerShdw>
              </a:effectLst>
            </a:endParaRPr>
          </a:p>
        </p:txBody>
      </p:sp>
      <p:sp>
        <p:nvSpPr>
          <p:cNvPr id="15" name="Rectangle 14">
            <a:extLst>
              <a:ext uri="{FF2B5EF4-FFF2-40B4-BE49-F238E27FC236}">
                <a16:creationId xmlns:a16="http://schemas.microsoft.com/office/drawing/2014/main" id="{AFBFE25F-24EE-E105-DA79-C32BD887E12A}"/>
              </a:ext>
            </a:extLst>
          </p:cNvPr>
          <p:cNvSpPr/>
          <p:nvPr/>
        </p:nvSpPr>
        <p:spPr>
          <a:xfrm>
            <a:off x="3005795" y="1749449"/>
            <a:ext cx="361340" cy="584775"/>
          </a:xfrm>
          <a:prstGeom prst="rect">
            <a:avLst/>
          </a:prstGeom>
          <a:noFill/>
        </p:spPr>
        <p:txBody>
          <a:bodyPr wrap="square" lIns="91440" tIns="45720" rIns="91440" bIns="45720">
            <a:spAutoFit/>
          </a:bodyPr>
          <a:lstStyle/>
          <a:p>
            <a:pPr algn="ctr"/>
            <a:r>
              <a:rPr lang="en-150" sz="3200" b="0" cap="none" spc="0">
                <a:ln w="0"/>
                <a:solidFill>
                  <a:srgbClr val="316300"/>
                </a:solidFill>
                <a:effectLst>
                  <a:outerShdw blurRad="38100" dist="19050" dir="2700000" algn="tl" rotWithShape="0">
                    <a:schemeClr val="dk1">
                      <a:alpha val="40000"/>
                    </a:schemeClr>
                  </a:outerShdw>
                </a:effectLst>
              </a:rPr>
              <a:t>2</a:t>
            </a:r>
            <a:endParaRPr lang="en-US" sz="5400" b="0" cap="none" spc="0">
              <a:ln w="0"/>
              <a:solidFill>
                <a:srgbClr val="316300"/>
              </a:solidFill>
              <a:effectLst>
                <a:outerShdw blurRad="38100" dist="19050" dir="2700000" algn="tl" rotWithShape="0">
                  <a:schemeClr val="dk1">
                    <a:alpha val="40000"/>
                  </a:schemeClr>
                </a:outerShdw>
              </a:effectLst>
            </a:endParaRPr>
          </a:p>
        </p:txBody>
      </p:sp>
      <p:sp>
        <p:nvSpPr>
          <p:cNvPr id="16" name="Rectangle 15">
            <a:extLst>
              <a:ext uri="{FF2B5EF4-FFF2-40B4-BE49-F238E27FC236}">
                <a16:creationId xmlns:a16="http://schemas.microsoft.com/office/drawing/2014/main" id="{00E0A1F4-15D1-2D1C-3A7F-7084E269E6AD}"/>
              </a:ext>
            </a:extLst>
          </p:cNvPr>
          <p:cNvSpPr/>
          <p:nvPr/>
        </p:nvSpPr>
        <p:spPr>
          <a:xfrm>
            <a:off x="7854074" y="1751575"/>
            <a:ext cx="275615" cy="584775"/>
          </a:xfrm>
          <a:prstGeom prst="rect">
            <a:avLst/>
          </a:prstGeom>
          <a:noFill/>
        </p:spPr>
        <p:txBody>
          <a:bodyPr wrap="square" lIns="91440" tIns="45720" rIns="91440" bIns="45720">
            <a:spAutoFit/>
          </a:bodyPr>
          <a:lstStyle/>
          <a:p>
            <a:pPr algn="ctr"/>
            <a:r>
              <a:rPr lang="en-150" sz="3200" b="0" cap="none" spc="0">
                <a:ln w="0"/>
                <a:solidFill>
                  <a:srgbClr val="316300"/>
                </a:solidFill>
                <a:effectLst>
                  <a:outerShdw blurRad="38100" dist="19050" dir="2700000" algn="tl" rotWithShape="0">
                    <a:schemeClr val="dk1">
                      <a:alpha val="40000"/>
                    </a:schemeClr>
                  </a:outerShdw>
                </a:effectLst>
              </a:rPr>
              <a:t>3</a:t>
            </a:r>
            <a:endParaRPr lang="en-US" sz="5400" b="0" cap="none" spc="0">
              <a:ln w="0"/>
              <a:solidFill>
                <a:srgbClr val="316300"/>
              </a:solidFill>
              <a:effectLst>
                <a:outerShdw blurRad="38100" dist="19050" dir="2700000" algn="tl" rotWithShape="0">
                  <a:schemeClr val="dk1">
                    <a:alpha val="40000"/>
                  </a:schemeClr>
                </a:outerShdw>
              </a:effectLst>
            </a:endParaRPr>
          </a:p>
        </p:txBody>
      </p:sp>
      <p:sp>
        <p:nvSpPr>
          <p:cNvPr id="17" name="Rectangle 16">
            <a:extLst>
              <a:ext uri="{FF2B5EF4-FFF2-40B4-BE49-F238E27FC236}">
                <a16:creationId xmlns:a16="http://schemas.microsoft.com/office/drawing/2014/main" id="{A7BE3A81-BE1E-541C-18E3-29657FDBEE2B}"/>
              </a:ext>
            </a:extLst>
          </p:cNvPr>
          <p:cNvSpPr/>
          <p:nvPr/>
        </p:nvSpPr>
        <p:spPr>
          <a:xfrm>
            <a:off x="11620949" y="2635631"/>
            <a:ext cx="361340" cy="584775"/>
          </a:xfrm>
          <a:prstGeom prst="rect">
            <a:avLst/>
          </a:prstGeom>
          <a:noFill/>
        </p:spPr>
        <p:txBody>
          <a:bodyPr wrap="square" lIns="91440" tIns="45720" rIns="91440" bIns="45720">
            <a:spAutoFit/>
          </a:bodyPr>
          <a:lstStyle/>
          <a:p>
            <a:pPr algn="ctr"/>
            <a:r>
              <a:rPr lang="en-150" sz="3200" b="0" cap="none" spc="0">
                <a:ln w="0"/>
                <a:solidFill>
                  <a:srgbClr val="316300"/>
                </a:solidFill>
                <a:effectLst>
                  <a:outerShdw blurRad="38100" dist="19050" dir="2700000" algn="tl" rotWithShape="0">
                    <a:schemeClr val="dk1">
                      <a:alpha val="40000"/>
                    </a:schemeClr>
                  </a:outerShdw>
                </a:effectLst>
              </a:rPr>
              <a:t>4</a:t>
            </a:r>
            <a:endParaRPr lang="en-US" sz="5400" b="0" cap="none" spc="0">
              <a:ln w="0"/>
              <a:solidFill>
                <a:srgbClr val="316300"/>
              </a:solidFill>
              <a:effectLst>
                <a:outerShdw blurRad="38100" dist="19050" dir="2700000" algn="tl" rotWithShape="0">
                  <a:schemeClr val="dk1">
                    <a:alpha val="40000"/>
                  </a:schemeClr>
                </a:outerShdw>
              </a:effectLst>
            </a:endParaRPr>
          </a:p>
        </p:txBody>
      </p:sp>
      <p:cxnSp>
        <p:nvCxnSpPr>
          <p:cNvPr id="19" name="Connector: Elbow 18">
            <a:extLst>
              <a:ext uri="{FF2B5EF4-FFF2-40B4-BE49-F238E27FC236}">
                <a16:creationId xmlns:a16="http://schemas.microsoft.com/office/drawing/2014/main" id="{3E0610D4-5851-09C2-1B8C-43FD81F7B498}"/>
              </a:ext>
            </a:extLst>
          </p:cNvPr>
          <p:cNvCxnSpPr>
            <a:cxnSpLocks/>
          </p:cNvCxnSpPr>
          <p:nvPr/>
        </p:nvCxnSpPr>
        <p:spPr>
          <a:xfrm rot="16200000" flipH="1">
            <a:off x="-546198" y="3266762"/>
            <a:ext cx="2326139" cy="184286"/>
          </a:xfrm>
          <a:prstGeom prst="bentConnector2">
            <a:avLst/>
          </a:prstGeom>
          <a:ln w="19050">
            <a:solidFill>
              <a:srgbClr val="316300"/>
            </a:solidFill>
            <a:tailEnd type="triangle"/>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FB077EAD-AD47-2C11-94E9-2CAD1023A295}"/>
              </a:ext>
            </a:extLst>
          </p:cNvPr>
          <p:cNvSpPr/>
          <p:nvPr/>
        </p:nvSpPr>
        <p:spPr>
          <a:xfrm>
            <a:off x="393700" y="1536700"/>
            <a:ext cx="4635500" cy="21994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5" name="Picture 4" descr="A logo with a black background&#10;&#10;Description automatically generated">
            <a:extLst>
              <a:ext uri="{FF2B5EF4-FFF2-40B4-BE49-F238E27FC236}">
                <a16:creationId xmlns:a16="http://schemas.microsoft.com/office/drawing/2014/main" id="{CB1C4406-511C-7152-F6AF-30EAFDE9E78A}"/>
              </a:ext>
            </a:extLst>
          </p:cNvPr>
          <p:cNvPicPr>
            <a:picLocks noChangeAspect="1"/>
          </p:cNvPicPr>
          <p:nvPr/>
        </p:nvPicPr>
        <p:blipFill rotWithShape="1">
          <a:blip r:embed="rId6">
            <a:extLst>
              <a:ext uri="{28A0092B-C50C-407E-A947-70E740481C1C}">
                <a14:useLocalDpi xmlns:a14="http://schemas.microsoft.com/office/drawing/2010/main" val="0"/>
              </a:ext>
            </a:extLst>
          </a:blip>
          <a:srcRect l="38167" t="-11528" r="48578" b="-1"/>
          <a:stretch/>
        </p:blipFill>
        <p:spPr bwMode="auto">
          <a:xfrm>
            <a:off x="10698764" y="5359400"/>
            <a:ext cx="1429227" cy="1598560"/>
          </a:xfrm>
          <a:prstGeom prst="rect">
            <a:avLst/>
          </a:prstGeom>
          <a:noFill/>
          <a:ln>
            <a:noFill/>
          </a:ln>
          <a:extLst>
            <a:ext uri="{53640926-AAD7-44D8-BBD7-CCE9431645EC}">
              <a14:shadowObscured xmlns:a14="http://schemas.microsoft.com/office/drawing/2010/main"/>
            </a:ext>
          </a:extLst>
        </p:spPr>
      </p:pic>
      <p:sp>
        <p:nvSpPr>
          <p:cNvPr id="6" name="Rectangle 5">
            <a:extLst>
              <a:ext uri="{FF2B5EF4-FFF2-40B4-BE49-F238E27FC236}">
                <a16:creationId xmlns:a16="http://schemas.microsoft.com/office/drawing/2014/main" id="{AC5DA9CE-374E-2F22-0D3E-E68936D2D746}"/>
              </a:ext>
            </a:extLst>
          </p:cNvPr>
          <p:cNvSpPr/>
          <p:nvPr/>
        </p:nvSpPr>
        <p:spPr>
          <a:xfrm>
            <a:off x="6814868" y="4341140"/>
            <a:ext cx="3876135" cy="10930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Prefilling is only possible if data was submitted in 2023.</a:t>
            </a:r>
          </a:p>
        </p:txBody>
      </p:sp>
    </p:spTree>
    <p:extLst>
      <p:ext uri="{BB962C8B-B14F-4D97-AF65-F5344CB8AC3E}">
        <p14:creationId xmlns:p14="http://schemas.microsoft.com/office/powerpoint/2010/main" val="14157212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92450A6D-4941-664A-B991-3E9E662FD69A}"/>
              </a:ext>
            </a:extLst>
          </p:cNvPr>
          <p:cNvSpPr txBox="1"/>
          <p:nvPr/>
        </p:nvSpPr>
        <p:spPr>
          <a:xfrm>
            <a:off x="314037" y="1228436"/>
            <a:ext cx="5610895" cy="369332"/>
          </a:xfrm>
          <a:prstGeom prst="rect">
            <a:avLst/>
          </a:prstGeom>
          <a:noFill/>
        </p:spPr>
        <p:txBody>
          <a:bodyPr wrap="none" rtlCol="0">
            <a:spAutoFit/>
          </a:bodyPr>
          <a:lstStyle/>
          <a:p>
            <a:r>
              <a:rPr lang="en-US"/>
              <a:t>Add any number of slides for print screens for this Section</a:t>
            </a:r>
            <a:endParaRPr lang="en-DK"/>
          </a:p>
        </p:txBody>
      </p:sp>
      <p:pic>
        <p:nvPicPr>
          <p:cNvPr id="23" name="Picture 22">
            <a:extLst>
              <a:ext uri="{FF2B5EF4-FFF2-40B4-BE49-F238E27FC236}">
                <a16:creationId xmlns:a16="http://schemas.microsoft.com/office/drawing/2014/main" id="{3FA18213-DE92-D902-2704-2B0820AD0EC2}"/>
              </a:ext>
            </a:extLst>
          </p:cNvPr>
          <p:cNvPicPr>
            <a:picLocks noChangeAspect="1"/>
          </p:cNvPicPr>
          <p:nvPr/>
        </p:nvPicPr>
        <p:blipFill rotWithShape="1">
          <a:blip r:embed="rId3"/>
          <a:srcRect t="1295" r="2576"/>
          <a:stretch/>
        </p:blipFill>
        <p:spPr>
          <a:xfrm>
            <a:off x="0" y="905522"/>
            <a:ext cx="12163490" cy="5748780"/>
          </a:xfrm>
          <a:prstGeom prst="rect">
            <a:avLst/>
          </a:prstGeom>
        </p:spPr>
      </p:pic>
      <p:pic>
        <p:nvPicPr>
          <p:cNvPr id="25" name="Picture 24" descr="A screenshot of a computer&#10;&#10;Description automatically generated">
            <a:extLst>
              <a:ext uri="{FF2B5EF4-FFF2-40B4-BE49-F238E27FC236}">
                <a16:creationId xmlns:a16="http://schemas.microsoft.com/office/drawing/2014/main" id="{E5630840-7B15-2FDE-AF88-0567073B9A39}"/>
              </a:ext>
            </a:extLst>
          </p:cNvPr>
          <p:cNvPicPr>
            <a:picLocks noChangeAspect="1"/>
          </p:cNvPicPr>
          <p:nvPr/>
        </p:nvPicPr>
        <p:blipFill rotWithShape="1">
          <a:blip r:embed="rId4"/>
          <a:srcRect l="63786" t="32881" r="25292" b="63466"/>
          <a:stretch/>
        </p:blipFill>
        <p:spPr>
          <a:xfrm>
            <a:off x="6953878" y="2743200"/>
            <a:ext cx="1620967" cy="302581"/>
          </a:xfrm>
          <a:prstGeom prst="rect">
            <a:avLst/>
          </a:prstGeom>
        </p:spPr>
      </p:pic>
      <p:sp>
        <p:nvSpPr>
          <p:cNvPr id="27" name="Rectangle 26">
            <a:extLst>
              <a:ext uri="{FF2B5EF4-FFF2-40B4-BE49-F238E27FC236}">
                <a16:creationId xmlns:a16="http://schemas.microsoft.com/office/drawing/2014/main" id="{08C2D683-BB32-56E0-6477-08603D8B46C0}"/>
              </a:ext>
            </a:extLst>
          </p:cNvPr>
          <p:cNvSpPr/>
          <p:nvPr/>
        </p:nvSpPr>
        <p:spPr>
          <a:xfrm>
            <a:off x="1775534" y="4225771"/>
            <a:ext cx="239697" cy="1597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9" name="Rectangle 28">
            <a:extLst>
              <a:ext uri="{FF2B5EF4-FFF2-40B4-BE49-F238E27FC236}">
                <a16:creationId xmlns:a16="http://schemas.microsoft.com/office/drawing/2014/main" id="{A32D9189-ACBF-4497-1786-74539AC8DB5F}"/>
              </a:ext>
            </a:extLst>
          </p:cNvPr>
          <p:cNvSpPr/>
          <p:nvPr/>
        </p:nvSpPr>
        <p:spPr>
          <a:xfrm>
            <a:off x="1808085" y="4848688"/>
            <a:ext cx="239697" cy="1597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1" name="Rectangle 30">
            <a:extLst>
              <a:ext uri="{FF2B5EF4-FFF2-40B4-BE49-F238E27FC236}">
                <a16:creationId xmlns:a16="http://schemas.microsoft.com/office/drawing/2014/main" id="{ED896A8F-4A4A-2CDE-5290-DDF488D276E1}"/>
              </a:ext>
            </a:extLst>
          </p:cNvPr>
          <p:cNvSpPr/>
          <p:nvPr/>
        </p:nvSpPr>
        <p:spPr>
          <a:xfrm>
            <a:off x="1769615" y="5471605"/>
            <a:ext cx="239697" cy="1597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3" name="Rectangle 32">
            <a:extLst>
              <a:ext uri="{FF2B5EF4-FFF2-40B4-BE49-F238E27FC236}">
                <a16:creationId xmlns:a16="http://schemas.microsoft.com/office/drawing/2014/main" id="{04E0A3A5-8ABF-D6F1-63FB-1132D1CC71D0}"/>
              </a:ext>
            </a:extLst>
          </p:cNvPr>
          <p:cNvSpPr/>
          <p:nvPr/>
        </p:nvSpPr>
        <p:spPr>
          <a:xfrm>
            <a:off x="1772574" y="4546900"/>
            <a:ext cx="239697" cy="159798"/>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5" name="Rectangle 34">
            <a:extLst>
              <a:ext uri="{FF2B5EF4-FFF2-40B4-BE49-F238E27FC236}">
                <a16:creationId xmlns:a16="http://schemas.microsoft.com/office/drawing/2014/main" id="{6EABDF4B-D083-E2AE-1DD3-CBBEF5956A26}"/>
              </a:ext>
            </a:extLst>
          </p:cNvPr>
          <p:cNvSpPr/>
          <p:nvPr/>
        </p:nvSpPr>
        <p:spPr>
          <a:xfrm>
            <a:off x="1769614" y="5189899"/>
            <a:ext cx="239697" cy="159798"/>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7" name="Rectangle 36">
            <a:extLst>
              <a:ext uri="{FF2B5EF4-FFF2-40B4-BE49-F238E27FC236}">
                <a16:creationId xmlns:a16="http://schemas.microsoft.com/office/drawing/2014/main" id="{755F6681-673A-E923-DC43-05D850014AC5}"/>
              </a:ext>
            </a:extLst>
          </p:cNvPr>
          <p:cNvSpPr/>
          <p:nvPr/>
        </p:nvSpPr>
        <p:spPr>
          <a:xfrm>
            <a:off x="1748899" y="5792680"/>
            <a:ext cx="239697" cy="159798"/>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9" name="Rectangle 38">
            <a:extLst>
              <a:ext uri="{FF2B5EF4-FFF2-40B4-BE49-F238E27FC236}">
                <a16:creationId xmlns:a16="http://schemas.microsoft.com/office/drawing/2014/main" id="{D8D6FEE1-CDC1-2617-B0D2-8CD1079F874A}"/>
              </a:ext>
            </a:extLst>
          </p:cNvPr>
          <p:cNvSpPr/>
          <p:nvPr/>
        </p:nvSpPr>
        <p:spPr>
          <a:xfrm>
            <a:off x="3774489" y="3225156"/>
            <a:ext cx="158320" cy="19496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1" name="Rectangle 40">
            <a:extLst>
              <a:ext uri="{FF2B5EF4-FFF2-40B4-BE49-F238E27FC236}">
                <a16:creationId xmlns:a16="http://schemas.microsoft.com/office/drawing/2014/main" id="{DA704E14-09E2-CAA9-5DD8-7B3AAABAF8C6}"/>
              </a:ext>
            </a:extLst>
          </p:cNvPr>
          <p:cNvSpPr/>
          <p:nvPr/>
        </p:nvSpPr>
        <p:spPr>
          <a:xfrm>
            <a:off x="5762725" y="3198868"/>
            <a:ext cx="158320" cy="19496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3" name="Rectangle 42">
            <a:extLst>
              <a:ext uri="{FF2B5EF4-FFF2-40B4-BE49-F238E27FC236}">
                <a16:creationId xmlns:a16="http://schemas.microsoft.com/office/drawing/2014/main" id="{B8510211-BD4C-B313-DEF0-4C56DBA99A68}"/>
              </a:ext>
            </a:extLst>
          </p:cNvPr>
          <p:cNvSpPr/>
          <p:nvPr/>
        </p:nvSpPr>
        <p:spPr>
          <a:xfrm>
            <a:off x="6563194" y="3225155"/>
            <a:ext cx="158320" cy="19496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5" name="Rectangle 44">
            <a:extLst>
              <a:ext uri="{FF2B5EF4-FFF2-40B4-BE49-F238E27FC236}">
                <a16:creationId xmlns:a16="http://schemas.microsoft.com/office/drawing/2014/main" id="{2377FC23-9655-EBEF-5A4E-BD7EBE735D69}"/>
              </a:ext>
            </a:extLst>
          </p:cNvPr>
          <p:cNvSpPr/>
          <p:nvPr/>
        </p:nvSpPr>
        <p:spPr>
          <a:xfrm>
            <a:off x="7968989" y="3225154"/>
            <a:ext cx="158320" cy="19496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7" name="Rectangle 46">
            <a:extLst>
              <a:ext uri="{FF2B5EF4-FFF2-40B4-BE49-F238E27FC236}">
                <a16:creationId xmlns:a16="http://schemas.microsoft.com/office/drawing/2014/main" id="{2C0604C0-1FBB-5E60-EB72-5D39DED1DF65}"/>
              </a:ext>
            </a:extLst>
          </p:cNvPr>
          <p:cNvSpPr/>
          <p:nvPr/>
        </p:nvSpPr>
        <p:spPr>
          <a:xfrm>
            <a:off x="8690298" y="3225153"/>
            <a:ext cx="158320" cy="194965"/>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9" name="Rectangle 48">
            <a:extLst>
              <a:ext uri="{FF2B5EF4-FFF2-40B4-BE49-F238E27FC236}">
                <a16:creationId xmlns:a16="http://schemas.microsoft.com/office/drawing/2014/main" id="{401A1CC3-62C9-EAB9-1AAA-7F47C4EB468C}"/>
              </a:ext>
            </a:extLst>
          </p:cNvPr>
          <p:cNvSpPr/>
          <p:nvPr/>
        </p:nvSpPr>
        <p:spPr>
          <a:xfrm>
            <a:off x="1305556" y="3242239"/>
            <a:ext cx="158320" cy="1949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endParaRPr lang="en-DK"/>
          </a:p>
        </p:txBody>
      </p:sp>
      <p:cxnSp>
        <p:nvCxnSpPr>
          <p:cNvPr id="51" name="Straight Arrow Connector 50">
            <a:extLst>
              <a:ext uri="{FF2B5EF4-FFF2-40B4-BE49-F238E27FC236}">
                <a16:creationId xmlns:a16="http://schemas.microsoft.com/office/drawing/2014/main" id="{2EBB12BB-6017-E3C8-929C-5EB9BB3D4836}"/>
              </a:ext>
            </a:extLst>
          </p:cNvPr>
          <p:cNvCxnSpPr>
            <a:cxnSpLocks/>
          </p:cNvCxnSpPr>
          <p:nvPr/>
        </p:nvCxnSpPr>
        <p:spPr>
          <a:xfrm flipV="1">
            <a:off x="7291117" y="3045781"/>
            <a:ext cx="0" cy="1406107"/>
          </a:xfrm>
          <a:prstGeom prst="straightConnector1">
            <a:avLst/>
          </a:prstGeom>
          <a:ln w="76200">
            <a:solidFill>
              <a:srgbClr val="316300"/>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3FB79C8E-6A95-F074-7800-82963E8B4E0A}"/>
              </a:ext>
            </a:extLst>
          </p:cNvPr>
          <p:cNvSpPr/>
          <p:nvPr/>
        </p:nvSpPr>
        <p:spPr>
          <a:xfrm>
            <a:off x="6953878" y="2743200"/>
            <a:ext cx="672030" cy="381740"/>
          </a:xfrm>
          <a:prstGeom prst="rect">
            <a:avLst/>
          </a:prstGeom>
          <a:noFill/>
          <a:ln w="25400">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grpSp>
        <p:nvGrpSpPr>
          <p:cNvPr id="57" name="Group 56">
            <a:extLst>
              <a:ext uri="{FF2B5EF4-FFF2-40B4-BE49-F238E27FC236}">
                <a16:creationId xmlns:a16="http://schemas.microsoft.com/office/drawing/2014/main" id="{A81B98A6-480E-CEBA-2F05-CCAEC99F69FB}"/>
              </a:ext>
            </a:extLst>
          </p:cNvPr>
          <p:cNvGrpSpPr/>
          <p:nvPr/>
        </p:nvGrpSpPr>
        <p:grpSpPr>
          <a:xfrm>
            <a:off x="804862" y="3626292"/>
            <a:ext cx="9172575" cy="2038350"/>
            <a:chOff x="1509712" y="2663199"/>
            <a:chExt cx="9172575" cy="2038350"/>
          </a:xfrm>
        </p:grpSpPr>
        <p:pic>
          <p:nvPicPr>
            <p:cNvPr id="55" name="Picture 54">
              <a:extLst>
                <a:ext uri="{FF2B5EF4-FFF2-40B4-BE49-F238E27FC236}">
                  <a16:creationId xmlns:a16="http://schemas.microsoft.com/office/drawing/2014/main" id="{01067876-1FF9-9915-AF44-6B39AB7D2551}"/>
                </a:ext>
              </a:extLst>
            </p:cNvPr>
            <p:cNvPicPr>
              <a:picLocks noChangeAspect="1"/>
            </p:cNvPicPr>
            <p:nvPr/>
          </p:nvPicPr>
          <p:blipFill>
            <a:blip r:embed="rId5"/>
            <a:stretch>
              <a:fillRect/>
            </a:stretch>
          </p:blipFill>
          <p:spPr>
            <a:xfrm>
              <a:off x="1509712" y="2663199"/>
              <a:ext cx="9172575" cy="2038350"/>
            </a:xfrm>
            <a:prstGeom prst="rect">
              <a:avLst/>
            </a:prstGeom>
          </p:spPr>
        </p:pic>
        <p:sp>
          <p:nvSpPr>
            <p:cNvPr id="56" name="Rectangle 55">
              <a:extLst>
                <a:ext uri="{FF2B5EF4-FFF2-40B4-BE49-F238E27FC236}">
                  <a16:creationId xmlns:a16="http://schemas.microsoft.com/office/drawing/2014/main" id="{FF0CE081-EE30-A0FC-6C28-B3D99131A21D}"/>
                </a:ext>
              </a:extLst>
            </p:cNvPr>
            <p:cNvSpPr/>
            <p:nvPr/>
          </p:nvSpPr>
          <p:spPr>
            <a:xfrm>
              <a:off x="9051636" y="4152116"/>
              <a:ext cx="743331" cy="438358"/>
            </a:xfrm>
            <a:prstGeom prst="rect">
              <a:avLst/>
            </a:prstGeom>
            <a:noFill/>
            <a:ln w="25400">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grpSp>
      <p:pic>
        <p:nvPicPr>
          <p:cNvPr id="59" name="Picture 58">
            <a:extLst>
              <a:ext uri="{FF2B5EF4-FFF2-40B4-BE49-F238E27FC236}">
                <a16:creationId xmlns:a16="http://schemas.microsoft.com/office/drawing/2014/main" id="{FA475713-8C4E-3826-C254-F0E25A6C91B3}"/>
              </a:ext>
            </a:extLst>
          </p:cNvPr>
          <p:cNvPicPr>
            <a:picLocks noChangeAspect="1"/>
          </p:cNvPicPr>
          <p:nvPr/>
        </p:nvPicPr>
        <p:blipFill>
          <a:blip r:embed="rId6"/>
          <a:stretch>
            <a:fillRect/>
          </a:stretch>
        </p:blipFill>
        <p:spPr>
          <a:xfrm>
            <a:off x="5056437" y="1203531"/>
            <a:ext cx="3486150" cy="981075"/>
          </a:xfrm>
          <a:prstGeom prst="rect">
            <a:avLst/>
          </a:prstGeom>
        </p:spPr>
      </p:pic>
      <p:pic>
        <p:nvPicPr>
          <p:cNvPr id="61" name="Picture 60" descr="A close-up of a green box&#10;&#10;Description automatically generated">
            <a:extLst>
              <a:ext uri="{FF2B5EF4-FFF2-40B4-BE49-F238E27FC236}">
                <a16:creationId xmlns:a16="http://schemas.microsoft.com/office/drawing/2014/main" id="{3C5F35A0-C847-022A-A6A3-F974A2359E59}"/>
              </a:ext>
            </a:extLst>
          </p:cNvPr>
          <p:cNvPicPr>
            <a:picLocks noChangeAspect="1"/>
          </p:cNvPicPr>
          <p:nvPr/>
        </p:nvPicPr>
        <p:blipFill>
          <a:blip r:embed="rId7"/>
          <a:stretch>
            <a:fillRect/>
          </a:stretch>
        </p:blipFill>
        <p:spPr>
          <a:xfrm>
            <a:off x="8624251" y="905522"/>
            <a:ext cx="3457575" cy="1343025"/>
          </a:xfrm>
          <a:prstGeom prst="rect">
            <a:avLst/>
          </a:prstGeom>
        </p:spPr>
      </p:pic>
      <p:pic>
        <p:nvPicPr>
          <p:cNvPr id="63" name="Picture 62">
            <a:extLst>
              <a:ext uri="{FF2B5EF4-FFF2-40B4-BE49-F238E27FC236}">
                <a16:creationId xmlns:a16="http://schemas.microsoft.com/office/drawing/2014/main" id="{54E6133A-2713-02F7-9E4F-D07ADB46F7E4}"/>
              </a:ext>
            </a:extLst>
          </p:cNvPr>
          <p:cNvPicPr>
            <a:picLocks noChangeAspect="1"/>
          </p:cNvPicPr>
          <p:nvPr/>
        </p:nvPicPr>
        <p:blipFill>
          <a:blip r:embed="rId8"/>
          <a:stretch>
            <a:fillRect/>
          </a:stretch>
        </p:blipFill>
        <p:spPr>
          <a:xfrm>
            <a:off x="10984216" y="2768413"/>
            <a:ext cx="709768" cy="286512"/>
          </a:xfrm>
          <a:prstGeom prst="rect">
            <a:avLst/>
          </a:prstGeom>
        </p:spPr>
      </p:pic>
      <p:sp>
        <p:nvSpPr>
          <p:cNvPr id="65" name="Rectangle 64">
            <a:extLst>
              <a:ext uri="{FF2B5EF4-FFF2-40B4-BE49-F238E27FC236}">
                <a16:creationId xmlns:a16="http://schemas.microsoft.com/office/drawing/2014/main" id="{D1842981-E032-FB8B-E807-35EE2DD5CA2F}"/>
              </a:ext>
            </a:extLst>
          </p:cNvPr>
          <p:cNvSpPr/>
          <p:nvPr/>
        </p:nvSpPr>
        <p:spPr>
          <a:xfrm>
            <a:off x="10959797" y="2723158"/>
            <a:ext cx="743331" cy="368343"/>
          </a:xfrm>
          <a:prstGeom prst="rect">
            <a:avLst/>
          </a:prstGeom>
          <a:noFill/>
          <a:ln w="25400">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 name="TextBox 2">
            <a:extLst>
              <a:ext uri="{FF2B5EF4-FFF2-40B4-BE49-F238E27FC236}">
                <a16:creationId xmlns:a16="http://schemas.microsoft.com/office/drawing/2014/main" id="{5600E943-0C56-7C12-D953-7B6A146CEFF9}"/>
              </a:ext>
            </a:extLst>
          </p:cNvPr>
          <p:cNvSpPr txBox="1"/>
          <p:nvPr/>
        </p:nvSpPr>
        <p:spPr>
          <a:xfrm>
            <a:off x="314037" y="212213"/>
            <a:ext cx="9098280" cy="646331"/>
          </a:xfrm>
          <a:prstGeom prst="rect">
            <a:avLst/>
          </a:prstGeom>
          <a:noFill/>
        </p:spPr>
        <p:txBody>
          <a:bodyPr wrap="square" rtlCol="0">
            <a:spAutoFit/>
          </a:bodyPr>
          <a:lstStyle/>
          <a:p>
            <a:r>
              <a:rPr lang="en-GB" sz="3600">
                <a:solidFill>
                  <a:srgbClr val="009999"/>
                </a:solidFill>
              </a:rPr>
              <a:t>Validation</a:t>
            </a:r>
            <a:endParaRPr lang="en-DK" sz="3600">
              <a:solidFill>
                <a:srgbClr val="009999"/>
              </a:solidFill>
            </a:endParaRPr>
          </a:p>
        </p:txBody>
      </p:sp>
      <p:sp>
        <p:nvSpPr>
          <p:cNvPr id="4" name="Rectangle 3">
            <a:extLst>
              <a:ext uri="{FF2B5EF4-FFF2-40B4-BE49-F238E27FC236}">
                <a16:creationId xmlns:a16="http://schemas.microsoft.com/office/drawing/2014/main" id="{06084450-D243-ECB6-AEB0-F0C11DA2C837}"/>
              </a:ext>
            </a:extLst>
          </p:cNvPr>
          <p:cNvSpPr/>
          <p:nvPr/>
        </p:nvSpPr>
        <p:spPr>
          <a:xfrm>
            <a:off x="1073881" y="2312178"/>
            <a:ext cx="7219561" cy="20619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3387716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38B61BD-0EE1-4D29-B894-126CD61C5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BC14DD5-C584-4158-BF76-ECE3C6DB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5947992 w 12192000"/>
              <a:gd name="connsiteY0" fmla="*/ 2457985 h 6858000"/>
              <a:gd name="connsiteX1" fmla="*/ 5926156 w 12192000"/>
              <a:gd name="connsiteY1" fmla="*/ 2472983 h 6858000"/>
              <a:gd name="connsiteX2" fmla="*/ 6047792 w 12192000"/>
              <a:gd name="connsiteY2" fmla="*/ 2529213 h 6858000"/>
              <a:gd name="connsiteX3" fmla="*/ 5857576 w 12192000"/>
              <a:gd name="connsiteY3" fmla="*/ 2499619 h 6858000"/>
              <a:gd name="connsiteX4" fmla="*/ 5854328 w 12192000"/>
              <a:gd name="connsiteY4" fmla="*/ 2518740 h 6858000"/>
              <a:gd name="connsiteX5" fmla="*/ 6070351 w 12192000"/>
              <a:gd name="connsiteY5" fmla="*/ 2591134 h 6858000"/>
              <a:gd name="connsiteX6" fmla="*/ 6051040 w 12192000"/>
              <a:gd name="connsiteY6" fmla="*/ 2602290 h 6858000"/>
              <a:gd name="connsiteX7" fmla="*/ 5936261 w 12192000"/>
              <a:gd name="connsiteY7" fmla="*/ 2574288 h 6858000"/>
              <a:gd name="connsiteX8" fmla="*/ 5913160 w 12192000"/>
              <a:gd name="connsiteY8" fmla="*/ 2581573 h 6858000"/>
              <a:gd name="connsiteX9" fmla="*/ 5924531 w 12192000"/>
              <a:gd name="connsiteY9" fmla="*/ 2615492 h 6858000"/>
              <a:gd name="connsiteX10" fmla="*/ 5974341 w 12192000"/>
              <a:gd name="connsiteY10" fmla="*/ 2628696 h 6858000"/>
              <a:gd name="connsiteX11" fmla="*/ 6051944 w 12192000"/>
              <a:gd name="connsiteY11" fmla="*/ 2708377 h 6858000"/>
              <a:gd name="connsiteX12" fmla="*/ 5934457 w 12192000"/>
              <a:gd name="connsiteY12" fmla="*/ 2698814 h 6858000"/>
              <a:gd name="connsiteX13" fmla="*/ 5913702 w 12192000"/>
              <a:gd name="connsiteY13" fmla="*/ 2718165 h 6858000"/>
              <a:gd name="connsiteX14" fmla="*/ 5905761 w 12192000"/>
              <a:gd name="connsiteY14" fmla="*/ 2743207 h 6858000"/>
              <a:gd name="connsiteX15" fmla="*/ 5860282 w 12192000"/>
              <a:gd name="connsiteY15" fmla="*/ 2763923 h 6858000"/>
              <a:gd name="connsiteX16" fmla="*/ 5931750 w 12192000"/>
              <a:gd name="connsiteY16" fmla="*/ 2787144 h 6858000"/>
              <a:gd name="connsiteX17" fmla="*/ 5855409 w 12192000"/>
              <a:gd name="connsiteY17" fmla="*/ 2787144 h 6858000"/>
              <a:gd name="connsiteX18" fmla="*/ 5767701 w 12192000"/>
              <a:gd name="connsiteY18" fmla="*/ 2771209 h 6858000"/>
              <a:gd name="connsiteX19" fmla="*/ 5674216 w 12192000"/>
              <a:gd name="connsiteY19" fmla="*/ 2776216 h 6858000"/>
              <a:gd name="connsiteX20" fmla="*/ 5487249 w 12192000"/>
              <a:gd name="connsiteY20" fmla="*/ 2746850 h 6858000"/>
              <a:gd name="connsiteX21" fmla="*/ 5398276 w 12192000"/>
              <a:gd name="connsiteY21" fmla="*/ 2748898 h 6858000"/>
              <a:gd name="connsiteX22" fmla="*/ 5892947 w 12192000"/>
              <a:gd name="connsiteY22" fmla="*/ 2946502 h 6858000"/>
              <a:gd name="connsiteX23" fmla="*/ 5867682 w 12192000"/>
              <a:gd name="connsiteY23" fmla="*/ 2989983 h 6858000"/>
              <a:gd name="connsiteX24" fmla="*/ 5971273 w 12192000"/>
              <a:gd name="connsiteY24" fmla="*/ 3037335 h 6858000"/>
              <a:gd name="connsiteX25" fmla="*/ 5996719 w 12192000"/>
              <a:gd name="connsiteY25" fmla="*/ 3084231 h 6858000"/>
              <a:gd name="connsiteX26" fmla="*/ 5964776 w 12192000"/>
              <a:gd name="connsiteY26" fmla="*/ 3080134 h 6858000"/>
              <a:gd name="connsiteX27" fmla="*/ 5937344 w 12192000"/>
              <a:gd name="connsiteY27" fmla="*/ 3089012 h 6858000"/>
              <a:gd name="connsiteX28" fmla="*/ 5948713 w 12192000"/>
              <a:gd name="connsiteY28" fmla="*/ 3148657 h 6858000"/>
              <a:gd name="connsiteX29" fmla="*/ 6095075 w 12192000"/>
              <a:gd name="connsiteY29" fmla="*/ 3225605 h 6858000"/>
              <a:gd name="connsiteX30" fmla="*/ 6108249 w 12192000"/>
              <a:gd name="connsiteY30" fmla="*/ 3250646 h 6858000"/>
              <a:gd name="connsiteX31" fmla="*/ 6090744 w 12192000"/>
              <a:gd name="connsiteY31" fmla="*/ 3268403 h 6858000"/>
              <a:gd name="connsiteX32" fmla="*/ 6043461 w 12192000"/>
              <a:gd name="connsiteY32" fmla="*/ 3277509 h 6858000"/>
              <a:gd name="connsiteX33" fmla="*/ 6109692 w 12192000"/>
              <a:gd name="connsiteY33" fmla="*/ 3362879 h 6858000"/>
              <a:gd name="connsiteX34" fmla="*/ 6133877 w 12192000"/>
              <a:gd name="connsiteY34" fmla="*/ 3386554 h 6858000"/>
              <a:gd name="connsiteX35" fmla="*/ 6175205 w 12192000"/>
              <a:gd name="connsiteY35" fmla="*/ 3423208 h 6858000"/>
              <a:gd name="connsiteX36" fmla="*/ 6175926 w 12192000"/>
              <a:gd name="connsiteY36" fmla="*/ 3434363 h 6858000"/>
              <a:gd name="connsiteX37" fmla="*/ 6119620 w 12192000"/>
              <a:gd name="connsiteY37" fmla="*/ 3473747 h 6858000"/>
              <a:gd name="connsiteX38" fmla="*/ 6018015 w 12192000"/>
              <a:gd name="connsiteY38" fmla="*/ 3463046 h 6858000"/>
              <a:gd name="connsiteX39" fmla="*/ 6168166 w 12192000"/>
              <a:gd name="connsiteY39" fmla="*/ 3521781 h 6858000"/>
              <a:gd name="connsiteX40" fmla="*/ 5682157 w 12192000"/>
              <a:gd name="connsiteY40" fmla="*/ 3381775 h 6858000"/>
              <a:gd name="connsiteX41" fmla="*/ 5713198 w 12192000"/>
              <a:gd name="connsiteY41" fmla="*/ 3418426 h 6858000"/>
              <a:gd name="connsiteX42" fmla="*/ 5883202 w 12192000"/>
              <a:gd name="connsiteY42" fmla="*/ 3514950 h 6858000"/>
              <a:gd name="connsiteX43" fmla="*/ 5931387 w 12192000"/>
              <a:gd name="connsiteY43" fmla="*/ 3575508 h 6858000"/>
              <a:gd name="connsiteX44" fmla="*/ 5981919 w 12192000"/>
              <a:gd name="connsiteY44" fmla="*/ 3608971 h 6858000"/>
              <a:gd name="connsiteX45" fmla="*/ 6052845 w 12192000"/>
              <a:gd name="connsiteY45" fmla="*/ 3608290 h 6858000"/>
              <a:gd name="connsiteX46" fmla="*/ 6103196 w 12192000"/>
              <a:gd name="connsiteY46" fmla="*/ 3659739 h 6858000"/>
              <a:gd name="connsiteX47" fmla="*/ 6050680 w 12192000"/>
              <a:gd name="connsiteY47" fmla="*/ 3670666 h 6858000"/>
              <a:gd name="connsiteX48" fmla="*/ 5989139 w 12192000"/>
              <a:gd name="connsiteY48" fmla="*/ 3662243 h 6858000"/>
              <a:gd name="connsiteX49" fmla="*/ 5856311 w 12192000"/>
              <a:gd name="connsiteY49" fmla="*/ 3664973 h 6858000"/>
              <a:gd name="connsiteX50" fmla="*/ 5780153 w 12192000"/>
              <a:gd name="connsiteY50" fmla="*/ 3674991 h 6858000"/>
              <a:gd name="connsiteX51" fmla="*/ 5605096 w 12192000"/>
              <a:gd name="connsiteY51" fmla="*/ 3657917 h 6858000"/>
              <a:gd name="connsiteX52" fmla="*/ 5615384 w 12192000"/>
              <a:gd name="connsiteY52" fmla="*/ 3701627 h 6858000"/>
              <a:gd name="connsiteX53" fmla="*/ 5608886 w 12192000"/>
              <a:gd name="connsiteY53" fmla="*/ 3739645 h 6858000"/>
              <a:gd name="connsiteX54" fmla="*/ 5606359 w 12192000"/>
              <a:gd name="connsiteY54" fmla="*/ 3822284 h 6858000"/>
              <a:gd name="connsiteX55" fmla="*/ 5607984 w 12192000"/>
              <a:gd name="connsiteY55" fmla="*/ 3835716 h 6858000"/>
              <a:gd name="connsiteX56" fmla="*/ 5568822 w 12192000"/>
              <a:gd name="connsiteY56" fmla="*/ 3844366 h 6858000"/>
              <a:gd name="connsiteX57" fmla="*/ 5802171 w 12192000"/>
              <a:gd name="connsiteY57" fmla="*/ 4016244 h 6858000"/>
              <a:gd name="connsiteX58" fmla="*/ 5646244 w 12192000"/>
              <a:gd name="connsiteY58" fmla="*/ 3972534 h 6858000"/>
              <a:gd name="connsiteX59" fmla="*/ 5625129 w 12192000"/>
              <a:gd name="connsiteY59" fmla="*/ 4044701 h 6858000"/>
              <a:gd name="connsiteX60" fmla="*/ 5698400 w 12192000"/>
              <a:gd name="connsiteY60" fmla="*/ 4108899 h 6858000"/>
              <a:gd name="connsiteX61" fmla="*/ 5725470 w 12192000"/>
              <a:gd name="connsiteY61" fmla="*/ 4235930 h 6858000"/>
              <a:gd name="connsiteX62" fmla="*/ 5712295 w 12192000"/>
              <a:gd name="connsiteY62" fmla="*/ 4352032 h 6858000"/>
              <a:gd name="connsiteX63" fmla="*/ 5680894 w 12192000"/>
              <a:gd name="connsiteY63" fmla="*/ 4388911 h 6858000"/>
              <a:gd name="connsiteX64" fmla="*/ 5635415 w 12192000"/>
              <a:gd name="connsiteY64" fmla="*/ 4455158 h 6858000"/>
              <a:gd name="connsiteX65" fmla="*/ 5607263 w 12192000"/>
              <a:gd name="connsiteY65" fmla="*/ 4496136 h 6858000"/>
              <a:gd name="connsiteX66" fmla="*/ 5509446 w 12192000"/>
              <a:gd name="connsiteY66" fmla="*/ 4480201 h 6858000"/>
              <a:gd name="connsiteX67" fmla="*/ 5639928 w 12192000"/>
              <a:gd name="connsiteY67" fmla="*/ 4584239 h 6858000"/>
              <a:gd name="connsiteX68" fmla="*/ 5534171 w 12192000"/>
              <a:gd name="connsiteY68" fmla="*/ 4571262 h 6858000"/>
              <a:gd name="connsiteX69" fmla="*/ 5499701 w 12192000"/>
              <a:gd name="connsiteY69" fmla="*/ 4578547 h 6858000"/>
              <a:gd name="connsiteX70" fmla="*/ 5519373 w 12192000"/>
              <a:gd name="connsiteY70" fmla="*/ 4612239 h 6858000"/>
              <a:gd name="connsiteX71" fmla="*/ 5596974 w 12192000"/>
              <a:gd name="connsiteY71" fmla="*/ 4669379 h 6858000"/>
              <a:gd name="connsiteX72" fmla="*/ 5756873 w 12192000"/>
              <a:gd name="connsiteY72" fmla="*/ 4824185 h 6858000"/>
              <a:gd name="connsiteX73" fmla="*/ 5602028 w 12192000"/>
              <a:gd name="connsiteY73" fmla="*/ 4753158 h 6858000"/>
              <a:gd name="connsiteX74" fmla="*/ 5765173 w 12192000"/>
              <a:gd name="connsiteY74" fmla="*/ 4912286 h 6858000"/>
              <a:gd name="connsiteX75" fmla="*/ 5801450 w 12192000"/>
              <a:gd name="connsiteY75" fmla="*/ 4965101 h 6858000"/>
              <a:gd name="connsiteX76" fmla="*/ 5874721 w 12192000"/>
              <a:gd name="connsiteY76" fmla="*/ 5096229 h 6858000"/>
              <a:gd name="connsiteX77" fmla="*/ 5871110 w 12192000"/>
              <a:gd name="connsiteY77" fmla="*/ 5111026 h 6858000"/>
              <a:gd name="connsiteX78" fmla="*/ 5786469 w 12192000"/>
              <a:gd name="connsiteY78" fmla="*/ 5089855 h 6858000"/>
              <a:gd name="connsiteX79" fmla="*/ 5896196 w 12192000"/>
              <a:gd name="connsiteY79" fmla="*/ 5200041 h 6858000"/>
              <a:gd name="connsiteX80" fmla="*/ 6009534 w 12192000"/>
              <a:gd name="connsiteY80" fmla="*/ 5284725 h 6858000"/>
              <a:gd name="connsiteX81" fmla="*/ 5929042 w 12192000"/>
              <a:gd name="connsiteY81" fmla="*/ 5271751 h 6858000"/>
              <a:gd name="connsiteX82" fmla="*/ 5818413 w 12192000"/>
              <a:gd name="connsiteY82" fmla="*/ 5223260 h 6858000"/>
              <a:gd name="connsiteX83" fmla="*/ 5779973 w 12192000"/>
              <a:gd name="connsiteY83" fmla="*/ 5241473 h 6858000"/>
              <a:gd name="connsiteX84" fmla="*/ 5884826 w 12192000"/>
              <a:gd name="connsiteY84" fmla="*/ 5321606 h 6858000"/>
              <a:gd name="connsiteX85" fmla="*/ 5944924 w 12192000"/>
              <a:gd name="connsiteY85" fmla="*/ 5358715 h 6858000"/>
              <a:gd name="connsiteX86" fmla="*/ 5968926 w 12192000"/>
              <a:gd name="connsiteY86" fmla="*/ 5387170 h 6858000"/>
              <a:gd name="connsiteX87" fmla="*/ 6037505 w 12192000"/>
              <a:gd name="connsiteY87" fmla="*/ 5488704 h 6858000"/>
              <a:gd name="connsiteX88" fmla="*/ 6238910 w 12192000"/>
              <a:gd name="connsiteY88" fmla="*/ 5599571 h 6858000"/>
              <a:gd name="connsiteX89" fmla="*/ 6427321 w 12192000"/>
              <a:gd name="connsiteY89" fmla="*/ 5737302 h 6858000"/>
              <a:gd name="connsiteX90" fmla="*/ 6574408 w 12192000"/>
              <a:gd name="connsiteY90" fmla="*/ 5823126 h 6858000"/>
              <a:gd name="connsiteX91" fmla="*/ 6946177 w 12192000"/>
              <a:gd name="connsiteY91" fmla="*/ 5933538 h 6858000"/>
              <a:gd name="connsiteX92" fmla="*/ 8356197 w 12192000"/>
              <a:gd name="connsiteY92" fmla="*/ 5184561 h 6858000"/>
              <a:gd name="connsiteX93" fmla="*/ 8374063 w 12192000"/>
              <a:gd name="connsiteY93" fmla="*/ 5162249 h 6858000"/>
              <a:gd name="connsiteX94" fmla="*/ 8442461 w 12192000"/>
              <a:gd name="connsiteY94" fmla="*/ 5078246 h 6858000"/>
              <a:gd name="connsiteX95" fmla="*/ 8500574 w 12192000"/>
              <a:gd name="connsiteY95" fmla="*/ 5002664 h 6858000"/>
              <a:gd name="connsiteX96" fmla="*/ 8470255 w 12192000"/>
              <a:gd name="connsiteY96" fmla="*/ 4977167 h 6858000"/>
              <a:gd name="connsiteX97" fmla="*/ 8511222 w 12192000"/>
              <a:gd name="connsiteY97" fmla="*/ 4905001 h 6858000"/>
              <a:gd name="connsiteX98" fmla="*/ 8641522 w 12192000"/>
              <a:gd name="connsiteY98" fmla="*/ 4682584 h 6858000"/>
              <a:gd name="connsiteX99" fmla="*/ 8698730 w 12192000"/>
              <a:gd name="connsiteY99" fmla="*/ 4633640 h 6858000"/>
              <a:gd name="connsiteX100" fmla="*/ 8768393 w 12192000"/>
              <a:gd name="connsiteY100" fmla="*/ 4510479 h 6858000"/>
              <a:gd name="connsiteX101" fmla="*/ 8778319 w 12192000"/>
              <a:gd name="connsiteY101" fmla="*/ 4482024 h 6858000"/>
              <a:gd name="connsiteX102" fmla="*/ 8764062 w 12192000"/>
              <a:gd name="connsiteY102" fmla="*/ 4445824 h 6858000"/>
              <a:gd name="connsiteX103" fmla="*/ 8753414 w 12192000"/>
              <a:gd name="connsiteY103" fmla="*/ 4409400 h 6858000"/>
              <a:gd name="connsiteX104" fmla="*/ 8767310 w 12192000"/>
              <a:gd name="connsiteY104" fmla="*/ 4398700 h 6858000"/>
              <a:gd name="connsiteX105" fmla="*/ 8856643 w 12192000"/>
              <a:gd name="connsiteY105" fmla="*/ 4380261 h 6858000"/>
              <a:gd name="connsiteX106" fmla="*/ 8804848 w 12192000"/>
              <a:gd name="connsiteY106" fmla="*/ 4311055 h 6858000"/>
              <a:gd name="connsiteX107" fmla="*/ 8713530 w 12192000"/>
              <a:gd name="connsiteY107" fmla="*/ 4207927 h 6858000"/>
              <a:gd name="connsiteX108" fmla="*/ 8672022 w 12192000"/>
              <a:gd name="connsiteY108" fmla="*/ 4134623 h 6858000"/>
              <a:gd name="connsiteX109" fmla="*/ 8667148 w 12192000"/>
              <a:gd name="connsiteY109" fmla="*/ 4069059 h 6858000"/>
              <a:gd name="connsiteX110" fmla="*/ 8585575 w 12192000"/>
              <a:gd name="connsiteY110" fmla="*/ 4030359 h 6858000"/>
              <a:gd name="connsiteX111" fmla="*/ 8662275 w 12192000"/>
              <a:gd name="connsiteY111" fmla="*/ 3891717 h 6858000"/>
              <a:gd name="connsiteX112" fmla="*/ 8670037 w 12192000"/>
              <a:gd name="connsiteY112" fmla="*/ 3863033 h 6858000"/>
              <a:gd name="connsiteX113" fmla="*/ 8624017 w 12192000"/>
              <a:gd name="connsiteY113" fmla="*/ 3760362 h 6858000"/>
              <a:gd name="connsiteX114" fmla="*/ 8616436 w 12192000"/>
              <a:gd name="connsiteY114" fmla="*/ 3743970 h 6858000"/>
              <a:gd name="connsiteX115" fmla="*/ 8599473 w 12192000"/>
              <a:gd name="connsiteY115" fmla="*/ 3711188 h 6858000"/>
              <a:gd name="connsiteX116" fmla="*/ 8550745 w 12192000"/>
              <a:gd name="connsiteY116" fmla="*/ 3703220 h 6858000"/>
              <a:gd name="connsiteX117" fmla="*/ 8576010 w 12192000"/>
              <a:gd name="connsiteY117" fmla="*/ 3680000 h 6858000"/>
              <a:gd name="connsiteX118" fmla="*/ 8625100 w 12192000"/>
              <a:gd name="connsiteY118" fmla="*/ 3601459 h 6858000"/>
              <a:gd name="connsiteX119" fmla="*/ 8592433 w 12192000"/>
              <a:gd name="connsiteY119" fmla="*/ 3526333 h 6858000"/>
              <a:gd name="connsiteX120" fmla="*/ 8590269 w 12192000"/>
              <a:gd name="connsiteY120" fmla="*/ 3484900 h 6858000"/>
              <a:gd name="connsiteX121" fmla="*/ 8645312 w 12192000"/>
              <a:gd name="connsiteY121" fmla="*/ 3431858 h 6858000"/>
              <a:gd name="connsiteX122" fmla="*/ 8686820 w 12192000"/>
              <a:gd name="connsiteY122" fmla="*/ 3410914 h 6858000"/>
              <a:gd name="connsiteX123" fmla="*/ 8705950 w 12192000"/>
              <a:gd name="connsiteY123" fmla="*/ 3380864 h 6858000"/>
              <a:gd name="connsiteX124" fmla="*/ 8683391 w 12192000"/>
              <a:gd name="connsiteY124" fmla="*/ 3355822 h 6858000"/>
              <a:gd name="connsiteX125" fmla="*/ 8583229 w 12192000"/>
              <a:gd name="connsiteY125" fmla="*/ 3296177 h 6858000"/>
              <a:gd name="connsiteX126" fmla="*/ 8637190 w 12192000"/>
              <a:gd name="connsiteY126" fmla="*/ 3246320 h 6858000"/>
              <a:gd name="connsiteX127" fmla="*/ 8355114 w 12192000"/>
              <a:gd name="connsiteY127" fmla="*/ 3011154 h 6858000"/>
              <a:gd name="connsiteX128" fmla="*/ 8321004 w 12192000"/>
              <a:gd name="connsiteY128" fmla="*/ 2975186 h 6858000"/>
              <a:gd name="connsiteX129" fmla="*/ 8139993 w 12192000"/>
              <a:gd name="connsiteY129" fmla="*/ 2887993 h 6858000"/>
              <a:gd name="connsiteX130" fmla="*/ 7953747 w 12192000"/>
              <a:gd name="connsiteY130" fmla="*/ 2826301 h 6858000"/>
              <a:gd name="connsiteX131" fmla="*/ 8083145 w 12192000"/>
              <a:gd name="connsiteY131" fmla="*/ 2696083 h 6858000"/>
              <a:gd name="connsiteX132" fmla="*/ 7885529 w 12192000"/>
              <a:gd name="connsiteY132" fmla="*/ 2665804 h 6858000"/>
              <a:gd name="connsiteX133" fmla="*/ 7866219 w 12192000"/>
              <a:gd name="connsiteY133" fmla="*/ 2666715 h 6858000"/>
              <a:gd name="connsiteX134" fmla="*/ 7478205 w 12192000"/>
              <a:gd name="connsiteY134" fmla="*/ 2646681 h 6858000"/>
              <a:gd name="connsiteX135" fmla="*/ 6921993 w 12192000"/>
              <a:gd name="connsiteY135" fmla="*/ 2580207 h 6858000"/>
              <a:gd name="connsiteX136" fmla="*/ 6461612 w 12192000"/>
              <a:gd name="connsiteY136" fmla="*/ 2540368 h 6858000"/>
              <a:gd name="connsiteX137" fmla="*/ 5971453 w 12192000"/>
              <a:gd name="connsiteY137" fmla="*/ 2462965 h 6858000"/>
              <a:gd name="connsiteX138" fmla="*/ 5947992 w 12192000"/>
              <a:gd name="connsiteY138" fmla="*/ 2457985 h 6858000"/>
              <a:gd name="connsiteX139" fmla="*/ 0 w 12192000"/>
              <a:gd name="connsiteY139" fmla="*/ 0 h 6858000"/>
              <a:gd name="connsiteX140" fmla="*/ 8078332 w 12192000"/>
              <a:gd name="connsiteY140" fmla="*/ 0 h 6858000"/>
              <a:gd name="connsiteX141" fmla="*/ 8051806 w 12192000"/>
              <a:gd name="connsiteY141" fmla="*/ 19899 h 6858000"/>
              <a:gd name="connsiteX142" fmla="*/ 7919411 w 12192000"/>
              <a:gd name="connsiteY142" fmla="*/ 69998 h 6858000"/>
              <a:gd name="connsiteX143" fmla="*/ 7880558 w 12192000"/>
              <a:gd name="connsiteY143" fmla="*/ 103665 h 6858000"/>
              <a:gd name="connsiteX144" fmla="*/ 7913505 w 12192000"/>
              <a:gd name="connsiteY144" fmla="*/ 144066 h 6858000"/>
              <a:gd name="connsiteX145" fmla="*/ 7984993 w 12192000"/>
              <a:gd name="connsiteY145" fmla="*/ 172224 h 6858000"/>
              <a:gd name="connsiteX146" fmla="*/ 8079793 w 12192000"/>
              <a:gd name="connsiteY146" fmla="*/ 243535 h 6858000"/>
              <a:gd name="connsiteX147" fmla="*/ 8076065 w 12192000"/>
              <a:gd name="connsiteY147" fmla="*/ 299239 h 6858000"/>
              <a:gd name="connsiteX148" fmla="*/ 8019804 w 12192000"/>
              <a:gd name="connsiteY148" fmla="*/ 400240 h 6858000"/>
              <a:gd name="connsiteX149" fmla="*/ 8104349 w 12192000"/>
              <a:gd name="connsiteY149" fmla="*/ 505833 h 6858000"/>
              <a:gd name="connsiteX150" fmla="*/ 8147864 w 12192000"/>
              <a:gd name="connsiteY150" fmla="*/ 537052 h 6858000"/>
              <a:gd name="connsiteX151" fmla="*/ 8063941 w 12192000"/>
              <a:gd name="connsiteY151" fmla="*/ 547764 h 6858000"/>
              <a:gd name="connsiteX152" fmla="*/ 8034725 w 12192000"/>
              <a:gd name="connsiteY152" fmla="*/ 591836 h 6858000"/>
              <a:gd name="connsiteX153" fmla="*/ 8021669 w 12192000"/>
              <a:gd name="connsiteY153" fmla="*/ 613874 h 6858000"/>
              <a:gd name="connsiteX154" fmla="*/ 7942410 w 12192000"/>
              <a:gd name="connsiteY154" fmla="*/ 751909 h 6858000"/>
              <a:gd name="connsiteX155" fmla="*/ 7955778 w 12192000"/>
              <a:gd name="connsiteY155" fmla="*/ 790472 h 6858000"/>
              <a:gd name="connsiteX156" fmla="*/ 8087876 w 12192000"/>
              <a:gd name="connsiteY156" fmla="*/ 976867 h 6858000"/>
              <a:gd name="connsiteX157" fmla="*/ 7947386 w 12192000"/>
              <a:gd name="connsiteY157" fmla="*/ 1028897 h 6858000"/>
              <a:gd name="connsiteX158" fmla="*/ 7938992 w 12192000"/>
              <a:gd name="connsiteY158" fmla="*/ 1117042 h 6858000"/>
              <a:gd name="connsiteX159" fmla="*/ 7867503 w 12192000"/>
              <a:gd name="connsiteY159" fmla="*/ 1215596 h 6858000"/>
              <a:gd name="connsiteX160" fmla="*/ 7710229 w 12192000"/>
              <a:gd name="connsiteY160" fmla="*/ 1354244 h 6858000"/>
              <a:gd name="connsiteX161" fmla="*/ 7621024 w 12192000"/>
              <a:gd name="connsiteY161" fmla="*/ 1447286 h 6858000"/>
              <a:gd name="connsiteX162" fmla="*/ 7774880 w 12192000"/>
              <a:gd name="connsiteY162" fmla="*/ 1472076 h 6858000"/>
              <a:gd name="connsiteX163" fmla="*/ 7798812 w 12192000"/>
              <a:gd name="connsiteY163" fmla="*/ 1486462 h 6858000"/>
              <a:gd name="connsiteX164" fmla="*/ 7780474 w 12192000"/>
              <a:gd name="connsiteY164" fmla="*/ 1535432 h 6858000"/>
              <a:gd name="connsiteX165" fmla="*/ 7755919 w 12192000"/>
              <a:gd name="connsiteY165" fmla="*/ 1584099 h 6858000"/>
              <a:gd name="connsiteX166" fmla="*/ 7773014 w 12192000"/>
              <a:gd name="connsiteY166" fmla="*/ 1622355 h 6858000"/>
              <a:gd name="connsiteX167" fmla="*/ 7892993 w 12192000"/>
              <a:gd name="connsiteY167" fmla="*/ 1787937 h 6858000"/>
              <a:gd name="connsiteX168" fmla="*/ 7991521 w 12192000"/>
              <a:gd name="connsiteY168" fmla="*/ 1853739 h 6858000"/>
              <a:gd name="connsiteX169" fmla="*/ 8215932 w 12192000"/>
              <a:gd name="connsiteY169" fmla="*/ 2152764 h 6858000"/>
              <a:gd name="connsiteX170" fmla="*/ 8286489 w 12192000"/>
              <a:gd name="connsiteY170" fmla="*/ 2249786 h 6858000"/>
              <a:gd name="connsiteX171" fmla="*/ 8234270 w 12192000"/>
              <a:gd name="connsiteY171" fmla="*/ 2284064 h 6858000"/>
              <a:gd name="connsiteX172" fmla="*/ 8334357 w 12192000"/>
              <a:gd name="connsiteY172" fmla="*/ 2385679 h 6858000"/>
              <a:gd name="connsiteX173" fmla="*/ 8452157 w 12192000"/>
              <a:gd name="connsiteY173" fmla="*/ 2498616 h 6858000"/>
              <a:gd name="connsiteX174" fmla="*/ 8482927 w 12192000"/>
              <a:gd name="connsiteY174" fmla="*/ 2528612 h 6858000"/>
              <a:gd name="connsiteX175" fmla="*/ 10911361 w 12192000"/>
              <a:gd name="connsiteY175" fmla="*/ 3535561 h 6858000"/>
              <a:gd name="connsiteX176" fmla="*/ 11551649 w 12192000"/>
              <a:gd name="connsiteY176" fmla="*/ 3387120 h 6858000"/>
              <a:gd name="connsiteX177" fmla="*/ 11804971 w 12192000"/>
              <a:gd name="connsiteY177" fmla="*/ 3271735 h 6858000"/>
              <a:gd name="connsiteX178" fmla="*/ 12129465 w 12192000"/>
              <a:gd name="connsiteY178" fmla="*/ 3086565 h 6858000"/>
              <a:gd name="connsiteX179" fmla="*/ 12192000 w 12192000"/>
              <a:gd name="connsiteY179" fmla="*/ 3060706 h 6858000"/>
              <a:gd name="connsiteX180" fmla="*/ 12192000 w 12192000"/>
              <a:gd name="connsiteY180" fmla="*/ 3766004 h 6858000"/>
              <a:gd name="connsiteX181" fmla="*/ 12069511 w 12192000"/>
              <a:gd name="connsiteY181" fmla="*/ 3730912 h 6858000"/>
              <a:gd name="connsiteX182" fmla="*/ 11743305 w 12192000"/>
              <a:gd name="connsiteY182" fmla="*/ 3682401 h 6858000"/>
              <a:gd name="connsiteX183" fmla="*/ 11692833 w 12192000"/>
              <a:gd name="connsiteY183" fmla="*/ 3681484 h 6858000"/>
              <a:gd name="connsiteX184" fmla="*/ 9314871 w 12192000"/>
              <a:gd name="connsiteY184" fmla="*/ 4689350 h 6858000"/>
              <a:gd name="connsiteX185" fmla="*/ 9284101 w 12192000"/>
              <a:gd name="connsiteY185" fmla="*/ 4719346 h 6858000"/>
              <a:gd name="connsiteX186" fmla="*/ 9166300 w 12192000"/>
              <a:gd name="connsiteY186" fmla="*/ 4832283 h 6858000"/>
              <a:gd name="connsiteX187" fmla="*/ 9066214 w 12192000"/>
              <a:gd name="connsiteY187" fmla="*/ 4933898 h 6858000"/>
              <a:gd name="connsiteX188" fmla="*/ 9118433 w 12192000"/>
              <a:gd name="connsiteY188" fmla="*/ 4968176 h 6858000"/>
              <a:gd name="connsiteX189" fmla="*/ 9047876 w 12192000"/>
              <a:gd name="connsiteY189" fmla="*/ 5065198 h 6858000"/>
              <a:gd name="connsiteX190" fmla="*/ 8823465 w 12192000"/>
              <a:gd name="connsiteY190" fmla="*/ 5364223 h 6858000"/>
              <a:gd name="connsiteX191" fmla="*/ 8724937 w 12192000"/>
              <a:gd name="connsiteY191" fmla="*/ 5430025 h 6858000"/>
              <a:gd name="connsiteX192" fmla="*/ 8604958 w 12192000"/>
              <a:gd name="connsiteY192" fmla="*/ 5595607 h 6858000"/>
              <a:gd name="connsiteX193" fmla="*/ 8587863 w 12192000"/>
              <a:gd name="connsiteY193" fmla="*/ 5633863 h 6858000"/>
              <a:gd name="connsiteX194" fmla="*/ 8612418 w 12192000"/>
              <a:gd name="connsiteY194" fmla="*/ 5682530 h 6858000"/>
              <a:gd name="connsiteX195" fmla="*/ 8630756 w 12192000"/>
              <a:gd name="connsiteY195" fmla="*/ 5731500 h 6858000"/>
              <a:gd name="connsiteX196" fmla="*/ 8606823 w 12192000"/>
              <a:gd name="connsiteY196" fmla="*/ 5745886 h 6858000"/>
              <a:gd name="connsiteX197" fmla="*/ 8452968 w 12192000"/>
              <a:gd name="connsiteY197" fmla="*/ 5770676 h 6858000"/>
              <a:gd name="connsiteX198" fmla="*/ 8542173 w 12192000"/>
              <a:gd name="connsiteY198" fmla="*/ 5863718 h 6858000"/>
              <a:gd name="connsiteX199" fmla="*/ 8699447 w 12192000"/>
              <a:gd name="connsiteY199" fmla="*/ 6002366 h 6858000"/>
              <a:gd name="connsiteX200" fmla="*/ 8770936 w 12192000"/>
              <a:gd name="connsiteY200" fmla="*/ 6100920 h 6858000"/>
              <a:gd name="connsiteX201" fmla="*/ 8779329 w 12192000"/>
              <a:gd name="connsiteY201" fmla="*/ 6189065 h 6858000"/>
              <a:gd name="connsiteX202" fmla="*/ 8919820 w 12192000"/>
              <a:gd name="connsiteY202" fmla="*/ 6241095 h 6858000"/>
              <a:gd name="connsiteX203" fmla="*/ 8787721 w 12192000"/>
              <a:gd name="connsiteY203" fmla="*/ 6427490 h 6858000"/>
              <a:gd name="connsiteX204" fmla="*/ 8774354 w 12192000"/>
              <a:gd name="connsiteY204" fmla="*/ 6466053 h 6858000"/>
              <a:gd name="connsiteX205" fmla="*/ 8853613 w 12192000"/>
              <a:gd name="connsiteY205" fmla="*/ 6604088 h 6858000"/>
              <a:gd name="connsiteX206" fmla="*/ 8866669 w 12192000"/>
              <a:gd name="connsiteY206" fmla="*/ 6626125 h 6858000"/>
              <a:gd name="connsiteX207" fmla="*/ 8895884 w 12192000"/>
              <a:gd name="connsiteY207" fmla="*/ 6670198 h 6858000"/>
              <a:gd name="connsiteX208" fmla="*/ 8979808 w 12192000"/>
              <a:gd name="connsiteY208" fmla="*/ 6680910 h 6858000"/>
              <a:gd name="connsiteX209" fmla="*/ 8936293 w 12192000"/>
              <a:gd name="connsiteY209" fmla="*/ 6712128 h 6858000"/>
              <a:gd name="connsiteX210" fmla="*/ 8851748 w 12192000"/>
              <a:gd name="connsiteY210" fmla="*/ 6817721 h 6858000"/>
              <a:gd name="connsiteX211" fmla="*/ 8854326 w 12192000"/>
              <a:gd name="connsiteY211" fmla="*/ 6858000 h 6858000"/>
              <a:gd name="connsiteX212" fmla="*/ 0 w 12192000"/>
              <a:gd name="connsiteY21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12192000" h="6858000">
                <a:moveTo>
                  <a:pt x="5947992" y="2457985"/>
                </a:moveTo>
                <a:cubicBezTo>
                  <a:pt x="5940097" y="2457729"/>
                  <a:pt x="5932472" y="2460803"/>
                  <a:pt x="5926156" y="2472983"/>
                </a:cubicBezTo>
                <a:cubicBezTo>
                  <a:pt x="5959722" y="2505081"/>
                  <a:pt x="6002495" y="2493015"/>
                  <a:pt x="6047792" y="2529213"/>
                </a:cubicBezTo>
                <a:cubicBezTo>
                  <a:pt x="5974160" y="2517829"/>
                  <a:pt x="5915867" y="2508723"/>
                  <a:pt x="5857576" y="2499619"/>
                </a:cubicBezTo>
                <a:cubicBezTo>
                  <a:pt x="5856491" y="2505992"/>
                  <a:pt x="5855409" y="2512367"/>
                  <a:pt x="5854328" y="2518740"/>
                </a:cubicBezTo>
                <a:cubicBezTo>
                  <a:pt x="5928861" y="2532172"/>
                  <a:pt x="5997802" y="2566775"/>
                  <a:pt x="6070351" y="2591134"/>
                </a:cubicBezTo>
                <a:cubicBezTo>
                  <a:pt x="6063673" y="2606161"/>
                  <a:pt x="6056996" y="2603200"/>
                  <a:pt x="6051040" y="2602290"/>
                </a:cubicBezTo>
                <a:cubicBezTo>
                  <a:pt x="6012239" y="2596370"/>
                  <a:pt x="5973439" y="2590453"/>
                  <a:pt x="5936261" y="2574288"/>
                </a:cubicBezTo>
                <a:cubicBezTo>
                  <a:pt x="5927960" y="2570644"/>
                  <a:pt x="5917853" y="2570644"/>
                  <a:pt x="5913160" y="2581573"/>
                </a:cubicBezTo>
                <a:cubicBezTo>
                  <a:pt x="5906483" y="2597054"/>
                  <a:pt x="5916047" y="2607071"/>
                  <a:pt x="5924531" y="2615492"/>
                </a:cubicBezTo>
                <a:cubicBezTo>
                  <a:pt x="5939329" y="2630063"/>
                  <a:pt x="5957196" y="2625966"/>
                  <a:pt x="5974341" y="2628696"/>
                </a:cubicBezTo>
                <a:cubicBezTo>
                  <a:pt x="6019999" y="2635754"/>
                  <a:pt x="6041837" y="2657837"/>
                  <a:pt x="6051944" y="2708377"/>
                </a:cubicBezTo>
                <a:cubicBezTo>
                  <a:pt x="6011879" y="2687887"/>
                  <a:pt x="5973256" y="2713157"/>
                  <a:pt x="5934457" y="2698814"/>
                </a:cubicBezTo>
                <a:cubicBezTo>
                  <a:pt x="5924351" y="2695173"/>
                  <a:pt x="5908288" y="2700635"/>
                  <a:pt x="5913702" y="2718165"/>
                </a:cubicBezTo>
                <a:cubicBezTo>
                  <a:pt x="5918755" y="2734556"/>
                  <a:pt x="5935540" y="2746393"/>
                  <a:pt x="5905761" y="2743207"/>
                </a:cubicBezTo>
                <a:cubicBezTo>
                  <a:pt x="5884465" y="2740930"/>
                  <a:pt x="5842778" y="2759370"/>
                  <a:pt x="5860282" y="2763923"/>
                </a:cubicBezTo>
                <a:cubicBezTo>
                  <a:pt x="5882300" y="2769615"/>
                  <a:pt x="5903777" y="2777811"/>
                  <a:pt x="5931750" y="2787144"/>
                </a:cubicBezTo>
                <a:cubicBezTo>
                  <a:pt x="5900888" y="2802395"/>
                  <a:pt x="5878690" y="2799208"/>
                  <a:pt x="5855409" y="2787144"/>
                </a:cubicBezTo>
                <a:cubicBezTo>
                  <a:pt x="5827256" y="2772574"/>
                  <a:pt x="5790619" y="2754817"/>
                  <a:pt x="5767701" y="2771209"/>
                </a:cubicBezTo>
                <a:cubicBezTo>
                  <a:pt x="5733410" y="2795794"/>
                  <a:pt x="5704896" y="2780314"/>
                  <a:pt x="5674216" y="2776216"/>
                </a:cubicBezTo>
                <a:cubicBezTo>
                  <a:pt x="5611774" y="2767792"/>
                  <a:pt x="5549872" y="2753678"/>
                  <a:pt x="5487249" y="2746850"/>
                </a:cubicBezTo>
                <a:cubicBezTo>
                  <a:pt x="5462163" y="2744118"/>
                  <a:pt x="5435093" y="2731143"/>
                  <a:pt x="5398276" y="2748898"/>
                </a:cubicBezTo>
                <a:cubicBezTo>
                  <a:pt x="5565032" y="2839732"/>
                  <a:pt x="5744058" y="2834041"/>
                  <a:pt x="5892947" y="2946502"/>
                </a:cubicBezTo>
                <a:cubicBezTo>
                  <a:pt x="5886631" y="2957201"/>
                  <a:pt x="5854508" y="2987707"/>
                  <a:pt x="5867682" y="2989983"/>
                </a:cubicBezTo>
                <a:cubicBezTo>
                  <a:pt x="5904678" y="2996585"/>
                  <a:pt x="5937523" y="3018895"/>
                  <a:pt x="5971273" y="3037335"/>
                </a:cubicBezTo>
                <a:cubicBezTo>
                  <a:pt x="5985891" y="3045302"/>
                  <a:pt x="6003576" y="3055776"/>
                  <a:pt x="5996719" y="3084231"/>
                </a:cubicBezTo>
                <a:cubicBezTo>
                  <a:pt x="5984267" y="3092199"/>
                  <a:pt x="5975063" y="3081044"/>
                  <a:pt x="5964776" y="3080134"/>
                </a:cubicBezTo>
                <a:cubicBezTo>
                  <a:pt x="5954308" y="3079224"/>
                  <a:pt x="5930847" y="3085141"/>
                  <a:pt x="5937344" y="3089012"/>
                </a:cubicBezTo>
                <a:cubicBezTo>
                  <a:pt x="5966942" y="3106542"/>
                  <a:pt x="5913702" y="3148657"/>
                  <a:pt x="5948713" y="3148657"/>
                </a:cubicBezTo>
                <a:cubicBezTo>
                  <a:pt x="6007366" y="3148884"/>
                  <a:pt x="6038588" y="3223555"/>
                  <a:pt x="6095075" y="3225605"/>
                </a:cubicBezTo>
                <a:cubicBezTo>
                  <a:pt x="6104098" y="3225831"/>
                  <a:pt x="6108430" y="3239035"/>
                  <a:pt x="6108249" y="3250646"/>
                </a:cubicBezTo>
                <a:cubicBezTo>
                  <a:pt x="6108249" y="3264533"/>
                  <a:pt x="6099948" y="3267037"/>
                  <a:pt x="6090744" y="3268403"/>
                </a:cubicBezTo>
                <a:cubicBezTo>
                  <a:pt x="6076667" y="3270451"/>
                  <a:pt x="6062049" y="3250646"/>
                  <a:pt x="6043461" y="3277509"/>
                </a:cubicBezTo>
                <a:cubicBezTo>
                  <a:pt x="6076847" y="3293216"/>
                  <a:pt x="6110234" y="3308925"/>
                  <a:pt x="6109692" y="3362879"/>
                </a:cubicBezTo>
                <a:cubicBezTo>
                  <a:pt x="6109513" y="3377448"/>
                  <a:pt x="6123409" y="3382912"/>
                  <a:pt x="6133877" y="3386554"/>
                </a:cubicBezTo>
                <a:cubicBezTo>
                  <a:pt x="6151202" y="3392474"/>
                  <a:pt x="6165818" y="3402946"/>
                  <a:pt x="6175205" y="3423208"/>
                </a:cubicBezTo>
                <a:cubicBezTo>
                  <a:pt x="6175023" y="3427077"/>
                  <a:pt x="6174842" y="3431175"/>
                  <a:pt x="6175926" y="3434363"/>
                </a:cubicBezTo>
                <a:cubicBezTo>
                  <a:pt x="6172859" y="3483307"/>
                  <a:pt x="6147593" y="3481940"/>
                  <a:pt x="6119620" y="3473747"/>
                </a:cubicBezTo>
                <a:cubicBezTo>
                  <a:pt x="6086232" y="3463729"/>
                  <a:pt x="6053206" y="3445516"/>
                  <a:pt x="6018015" y="3463046"/>
                </a:cubicBezTo>
                <a:cubicBezTo>
                  <a:pt x="6067646" y="3486494"/>
                  <a:pt x="6121605" y="3488316"/>
                  <a:pt x="6168166" y="3521781"/>
                </a:cubicBezTo>
                <a:cubicBezTo>
                  <a:pt x="5997802" y="3527928"/>
                  <a:pt x="5847289" y="3422296"/>
                  <a:pt x="5682157" y="3381775"/>
                </a:cubicBezTo>
                <a:cubicBezTo>
                  <a:pt x="5687753" y="3408864"/>
                  <a:pt x="5701106" y="3414328"/>
                  <a:pt x="5713198" y="3418426"/>
                </a:cubicBezTo>
                <a:cubicBezTo>
                  <a:pt x="5774197" y="3438916"/>
                  <a:pt x="5827616" y="3479666"/>
                  <a:pt x="5883202" y="3514950"/>
                </a:cubicBezTo>
                <a:cubicBezTo>
                  <a:pt x="5906121" y="3529520"/>
                  <a:pt x="5922726" y="3544092"/>
                  <a:pt x="5931387" y="3575508"/>
                </a:cubicBezTo>
                <a:cubicBezTo>
                  <a:pt x="5939149" y="3603965"/>
                  <a:pt x="5954128" y="3617168"/>
                  <a:pt x="5981919" y="3608971"/>
                </a:cubicBezTo>
                <a:cubicBezTo>
                  <a:pt x="6004478" y="3602142"/>
                  <a:pt x="6029202" y="3605784"/>
                  <a:pt x="6052845" y="3608290"/>
                </a:cubicBezTo>
                <a:cubicBezTo>
                  <a:pt x="6080096" y="3611021"/>
                  <a:pt x="6110596" y="3643120"/>
                  <a:pt x="6103196" y="3659739"/>
                </a:cubicBezTo>
                <a:cubicBezTo>
                  <a:pt x="6090564" y="3687968"/>
                  <a:pt x="6069448" y="3673853"/>
                  <a:pt x="6050680" y="3670666"/>
                </a:cubicBezTo>
                <a:cubicBezTo>
                  <a:pt x="6029383" y="3666796"/>
                  <a:pt x="5989861" y="3658828"/>
                  <a:pt x="5989139" y="3662243"/>
                </a:cubicBezTo>
                <a:cubicBezTo>
                  <a:pt x="5975242" y="3733043"/>
                  <a:pt x="5877426" y="3671351"/>
                  <a:pt x="5856311" y="3664973"/>
                </a:cubicBezTo>
                <a:cubicBezTo>
                  <a:pt x="5829964" y="3657007"/>
                  <a:pt x="5805239" y="3671577"/>
                  <a:pt x="5780153" y="3674991"/>
                </a:cubicBezTo>
                <a:cubicBezTo>
                  <a:pt x="5757776" y="3678178"/>
                  <a:pt x="5631264" y="3687968"/>
                  <a:pt x="5605096" y="3657917"/>
                </a:cubicBezTo>
                <a:cubicBezTo>
                  <a:pt x="5601487" y="3681365"/>
                  <a:pt x="5609066" y="3690927"/>
                  <a:pt x="5615384" y="3701627"/>
                </a:cubicBezTo>
                <a:cubicBezTo>
                  <a:pt x="5624226" y="3716879"/>
                  <a:pt x="5625670" y="3727579"/>
                  <a:pt x="5608886" y="3739645"/>
                </a:cubicBezTo>
                <a:cubicBezTo>
                  <a:pt x="5561061" y="3774249"/>
                  <a:pt x="5561784" y="3775386"/>
                  <a:pt x="5606359" y="3822284"/>
                </a:cubicBezTo>
                <a:cubicBezTo>
                  <a:pt x="5608526" y="3824332"/>
                  <a:pt x="5607622" y="3831162"/>
                  <a:pt x="5607984" y="3835716"/>
                </a:cubicBezTo>
                <a:cubicBezTo>
                  <a:pt x="5596254" y="3843000"/>
                  <a:pt x="5582537" y="3824787"/>
                  <a:pt x="5568822" y="3844366"/>
                </a:cubicBezTo>
                <a:cubicBezTo>
                  <a:pt x="5628557" y="3930418"/>
                  <a:pt x="5719696" y="3951589"/>
                  <a:pt x="5802171" y="4016244"/>
                </a:cubicBezTo>
                <a:cubicBezTo>
                  <a:pt x="5735397" y="4037643"/>
                  <a:pt x="5695332" y="3962973"/>
                  <a:pt x="5646244" y="3972534"/>
                </a:cubicBezTo>
                <a:cubicBezTo>
                  <a:pt x="5621699" y="3995983"/>
                  <a:pt x="5694611" y="4033546"/>
                  <a:pt x="5625129" y="4044701"/>
                </a:cubicBezTo>
                <a:cubicBezTo>
                  <a:pt x="5655268" y="4065189"/>
                  <a:pt x="5677646" y="4085221"/>
                  <a:pt x="5698400" y="4108899"/>
                </a:cubicBezTo>
                <a:cubicBezTo>
                  <a:pt x="5735397" y="4151242"/>
                  <a:pt x="5742615" y="4179015"/>
                  <a:pt x="5725470" y="4235930"/>
                </a:cubicBezTo>
                <a:cubicBezTo>
                  <a:pt x="5714280" y="4273265"/>
                  <a:pt x="5697858" y="4307641"/>
                  <a:pt x="5712295" y="4352032"/>
                </a:cubicBezTo>
                <a:cubicBezTo>
                  <a:pt x="5722402" y="4382538"/>
                  <a:pt x="5718431" y="4402571"/>
                  <a:pt x="5680894" y="4388911"/>
                </a:cubicBezTo>
                <a:cubicBezTo>
                  <a:pt x="5640469" y="4374341"/>
                  <a:pt x="5625311" y="4401660"/>
                  <a:pt x="5635415" y="4455158"/>
                </a:cubicBezTo>
                <a:cubicBezTo>
                  <a:pt x="5641912" y="4489535"/>
                  <a:pt x="5635053" y="4500006"/>
                  <a:pt x="5607263" y="4496136"/>
                </a:cubicBezTo>
                <a:cubicBezTo>
                  <a:pt x="5576581" y="4491811"/>
                  <a:pt x="5547347" y="4469272"/>
                  <a:pt x="5509446" y="4480201"/>
                </a:cubicBezTo>
                <a:cubicBezTo>
                  <a:pt x="5539765" y="4542578"/>
                  <a:pt x="5604556" y="4524821"/>
                  <a:pt x="5639928" y="4584239"/>
                </a:cubicBezTo>
                <a:cubicBezTo>
                  <a:pt x="5597697" y="4584465"/>
                  <a:pt x="5565392" y="4584239"/>
                  <a:pt x="5534171" y="4571262"/>
                </a:cubicBezTo>
                <a:cubicBezTo>
                  <a:pt x="5521177" y="4566025"/>
                  <a:pt x="5506919" y="4560563"/>
                  <a:pt x="5499701" y="4578547"/>
                </a:cubicBezTo>
                <a:cubicBezTo>
                  <a:pt x="5491219" y="4600174"/>
                  <a:pt x="5508725" y="4608370"/>
                  <a:pt x="5519373" y="4612239"/>
                </a:cubicBezTo>
                <a:cubicBezTo>
                  <a:pt x="5549331" y="4623167"/>
                  <a:pt x="5572251" y="4649119"/>
                  <a:pt x="5596974" y="4669379"/>
                </a:cubicBezTo>
                <a:cubicBezTo>
                  <a:pt x="5651296" y="4713773"/>
                  <a:pt x="5710854" y="4750880"/>
                  <a:pt x="5756873" y="4824185"/>
                </a:cubicBezTo>
                <a:cubicBezTo>
                  <a:pt x="5698941" y="4805517"/>
                  <a:pt x="5655808" y="4762036"/>
                  <a:pt x="5602028" y="4753158"/>
                </a:cubicBezTo>
                <a:cubicBezTo>
                  <a:pt x="5648590" y="4819860"/>
                  <a:pt x="5708506" y="4863796"/>
                  <a:pt x="5765173" y="4912286"/>
                </a:cubicBezTo>
                <a:cubicBezTo>
                  <a:pt x="5781416" y="4925946"/>
                  <a:pt x="5797839" y="4935280"/>
                  <a:pt x="5801450" y="4965101"/>
                </a:cubicBezTo>
                <a:cubicBezTo>
                  <a:pt x="5808487" y="5022926"/>
                  <a:pt x="5829602" y="5070733"/>
                  <a:pt x="5874721" y="5096229"/>
                </a:cubicBezTo>
                <a:cubicBezTo>
                  <a:pt x="5875080" y="5096458"/>
                  <a:pt x="5872555" y="5105110"/>
                  <a:pt x="5871110" y="5111026"/>
                </a:cubicBezTo>
                <a:cubicBezTo>
                  <a:pt x="5843499" y="5112849"/>
                  <a:pt x="5821663" y="5078700"/>
                  <a:pt x="5786469" y="5089855"/>
                </a:cubicBezTo>
                <a:cubicBezTo>
                  <a:pt x="5820218" y="5136296"/>
                  <a:pt x="5848372" y="5177958"/>
                  <a:pt x="5896196" y="5200041"/>
                </a:cubicBezTo>
                <a:cubicBezTo>
                  <a:pt x="5934457" y="5217568"/>
                  <a:pt x="5981739" y="5227813"/>
                  <a:pt x="6009534" y="5284725"/>
                </a:cubicBezTo>
                <a:cubicBezTo>
                  <a:pt x="5977228" y="5295882"/>
                  <a:pt x="5953224" y="5281769"/>
                  <a:pt x="5929042" y="5271751"/>
                </a:cubicBezTo>
                <a:cubicBezTo>
                  <a:pt x="5892045" y="5256270"/>
                  <a:pt x="5855409" y="5238742"/>
                  <a:pt x="5818413" y="5223260"/>
                </a:cubicBezTo>
                <a:cubicBezTo>
                  <a:pt x="5804336" y="5217341"/>
                  <a:pt x="5788996" y="5213242"/>
                  <a:pt x="5779973" y="5241473"/>
                </a:cubicBezTo>
                <a:cubicBezTo>
                  <a:pt x="5827077" y="5247392"/>
                  <a:pt x="5855230" y="5285637"/>
                  <a:pt x="5884826" y="5321606"/>
                </a:cubicBezTo>
                <a:cubicBezTo>
                  <a:pt x="5901430" y="5341868"/>
                  <a:pt x="5914966" y="5368959"/>
                  <a:pt x="5944924" y="5358715"/>
                </a:cubicBezTo>
                <a:cubicBezTo>
                  <a:pt x="5960626" y="5353252"/>
                  <a:pt x="5970550" y="5368502"/>
                  <a:pt x="5968926" y="5387170"/>
                </a:cubicBezTo>
                <a:cubicBezTo>
                  <a:pt x="5962971" y="5452963"/>
                  <a:pt x="5999606" y="5475955"/>
                  <a:pt x="6037505" y="5488704"/>
                </a:cubicBezTo>
                <a:cubicBezTo>
                  <a:pt x="6109333" y="5512608"/>
                  <a:pt x="6169069" y="5568837"/>
                  <a:pt x="6238910" y="5599571"/>
                </a:cubicBezTo>
                <a:cubicBezTo>
                  <a:pt x="6306768" y="5629394"/>
                  <a:pt x="6359285" y="5700193"/>
                  <a:pt x="6427321" y="5737302"/>
                </a:cubicBezTo>
                <a:cubicBezTo>
                  <a:pt x="6476592" y="5764165"/>
                  <a:pt x="6523694" y="5798767"/>
                  <a:pt x="6574408" y="5823126"/>
                </a:cubicBezTo>
                <a:cubicBezTo>
                  <a:pt x="6694419" y="5880723"/>
                  <a:pt x="6816779" y="5926936"/>
                  <a:pt x="6946177" y="5933538"/>
                </a:cubicBezTo>
                <a:cubicBezTo>
                  <a:pt x="7053016" y="5938775"/>
                  <a:pt x="7979734" y="5933767"/>
                  <a:pt x="8356197" y="5184561"/>
                </a:cubicBezTo>
                <a:cubicBezTo>
                  <a:pt x="8363416" y="5180917"/>
                  <a:pt x="8371536" y="5171356"/>
                  <a:pt x="8374063" y="5162249"/>
                </a:cubicBezTo>
                <a:cubicBezTo>
                  <a:pt x="8386155" y="5119678"/>
                  <a:pt x="8415752" y="5101238"/>
                  <a:pt x="8442461" y="5078246"/>
                </a:cubicBezTo>
                <a:cubicBezTo>
                  <a:pt x="8465923" y="5057984"/>
                  <a:pt x="8490829" y="5036813"/>
                  <a:pt x="8500574" y="5002664"/>
                </a:cubicBezTo>
                <a:cubicBezTo>
                  <a:pt x="8513388" y="4957134"/>
                  <a:pt x="8476933" y="4994469"/>
                  <a:pt x="8470255" y="4977167"/>
                </a:cubicBezTo>
                <a:cubicBezTo>
                  <a:pt x="8484151" y="4953492"/>
                  <a:pt x="8505628" y="4931864"/>
                  <a:pt x="8511222" y="4905001"/>
                </a:cubicBezTo>
                <a:cubicBezTo>
                  <a:pt x="8531614" y="4808021"/>
                  <a:pt x="8575650" y="4737448"/>
                  <a:pt x="8641522" y="4682584"/>
                </a:cubicBezTo>
                <a:cubicBezTo>
                  <a:pt x="8660471" y="4666876"/>
                  <a:pt x="8672923" y="4638191"/>
                  <a:pt x="8698730" y="4633640"/>
                </a:cubicBezTo>
                <a:cubicBezTo>
                  <a:pt x="8756120" y="4623622"/>
                  <a:pt x="8738073" y="4545310"/>
                  <a:pt x="8768393" y="4510479"/>
                </a:cubicBezTo>
                <a:cubicBezTo>
                  <a:pt x="8774168" y="4503875"/>
                  <a:pt x="8779401" y="4490901"/>
                  <a:pt x="8778319" y="4482024"/>
                </a:cubicBezTo>
                <a:cubicBezTo>
                  <a:pt x="8776696" y="4469272"/>
                  <a:pt x="8769837" y="4457207"/>
                  <a:pt x="8764062" y="4445824"/>
                </a:cubicBezTo>
                <a:cubicBezTo>
                  <a:pt x="8758106" y="4434442"/>
                  <a:pt x="8749083" y="4424425"/>
                  <a:pt x="8753414" y="4409400"/>
                </a:cubicBezTo>
                <a:cubicBezTo>
                  <a:pt x="8755217" y="4403254"/>
                  <a:pt x="8753956" y="4381855"/>
                  <a:pt x="8767310" y="4398700"/>
                </a:cubicBezTo>
                <a:cubicBezTo>
                  <a:pt x="8803945" y="4444915"/>
                  <a:pt x="8825242" y="4401206"/>
                  <a:pt x="8856643" y="4380261"/>
                </a:cubicBezTo>
                <a:cubicBezTo>
                  <a:pt x="8831377" y="4358633"/>
                  <a:pt x="8808638" y="4343381"/>
                  <a:pt x="8804848" y="4311055"/>
                </a:cubicBezTo>
                <a:cubicBezTo>
                  <a:pt x="8797088" y="4244352"/>
                  <a:pt x="8763883" y="4213847"/>
                  <a:pt x="8713530" y="4207927"/>
                </a:cubicBezTo>
                <a:cubicBezTo>
                  <a:pt x="8732118" y="4143502"/>
                  <a:pt x="8732118" y="4143502"/>
                  <a:pt x="8672022" y="4134623"/>
                </a:cubicBezTo>
                <a:cubicBezTo>
                  <a:pt x="8695122" y="4093646"/>
                  <a:pt x="8695122" y="4083174"/>
                  <a:pt x="8667148" y="4069059"/>
                </a:cubicBezTo>
                <a:cubicBezTo>
                  <a:pt x="8640258" y="4055627"/>
                  <a:pt x="8610481" y="4051074"/>
                  <a:pt x="8585575" y="4030359"/>
                </a:cubicBezTo>
                <a:cubicBezTo>
                  <a:pt x="8608496" y="3977998"/>
                  <a:pt x="8614992" y="3917215"/>
                  <a:pt x="8662275" y="3891717"/>
                </a:cubicBezTo>
                <a:cubicBezTo>
                  <a:pt x="8669675" y="3887847"/>
                  <a:pt x="8674728" y="3872139"/>
                  <a:pt x="8670037" y="3863033"/>
                </a:cubicBezTo>
                <a:cubicBezTo>
                  <a:pt x="8652891" y="3830024"/>
                  <a:pt x="8677435" y="3767419"/>
                  <a:pt x="8624017" y="3760362"/>
                </a:cubicBezTo>
                <a:cubicBezTo>
                  <a:pt x="8617338" y="3759679"/>
                  <a:pt x="8611202" y="3752848"/>
                  <a:pt x="8616436" y="3743970"/>
                </a:cubicBezTo>
                <a:cubicBezTo>
                  <a:pt x="8634484" y="3713010"/>
                  <a:pt x="8612646" y="3715058"/>
                  <a:pt x="8599473" y="3711188"/>
                </a:cubicBezTo>
                <a:cubicBezTo>
                  <a:pt x="8583590" y="3706409"/>
                  <a:pt x="8565543" y="3720067"/>
                  <a:pt x="8550745" y="3703220"/>
                </a:cubicBezTo>
                <a:cubicBezTo>
                  <a:pt x="8554174" y="3685463"/>
                  <a:pt x="8566987" y="3685690"/>
                  <a:pt x="8576010" y="3680000"/>
                </a:cubicBezTo>
                <a:cubicBezTo>
                  <a:pt x="8602359" y="3663608"/>
                  <a:pt x="8623836" y="3644031"/>
                  <a:pt x="8625100" y="3601459"/>
                </a:cubicBezTo>
                <a:cubicBezTo>
                  <a:pt x="8626001" y="3567084"/>
                  <a:pt x="8628889" y="3536807"/>
                  <a:pt x="8592433" y="3526333"/>
                </a:cubicBezTo>
                <a:cubicBezTo>
                  <a:pt x="8577274" y="3522007"/>
                  <a:pt x="8581606" y="3497194"/>
                  <a:pt x="8590269" y="3484900"/>
                </a:cubicBezTo>
                <a:cubicBezTo>
                  <a:pt x="8605789" y="3463046"/>
                  <a:pt x="8618601" y="3433907"/>
                  <a:pt x="8645312" y="3431858"/>
                </a:cubicBezTo>
                <a:cubicBezTo>
                  <a:pt x="8661554" y="3430493"/>
                  <a:pt x="8674007" y="3421385"/>
                  <a:pt x="8686820" y="3410914"/>
                </a:cubicBezTo>
                <a:cubicBezTo>
                  <a:pt x="8696024" y="3403399"/>
                  <a:pt x="8707033" y="3397026"/>
                  <a:pt x="8705950" y="3380864"/>
                </a:cubicBezTo>
                <a:cubicBezTo>
                  <a:pt x="8704867" y="3365383"/>
                  <a:pt x="8694220" y="3359009"/>
                  <a:pt x="8683391" y="3355822"/>
                </a:cubicBezTo>
                <a:cubicBezTo>
                  <a:pt x="8647296" y="3345578"/>
                  <a:pt x="8613369" y="3330552"/>
                  <a:pt x="8583229" y="3296177"/>
                </a:cubicBezTo>
                <a:cubicBezTo>
                  <a:pt x="8603262" y="3277964"/>
                  <a:pt x="8622392" y="3264761"/>
                  <a:pt x="8637190" y="3246320"/>
                </a:cubicBezTo>
                <a:cubicBezTo>
                  <a:pt x="8672923" y="3201702"/>
                  <a:pt x="8370273" y="3061239"/>
                  <a:pt x="8355114" y="3011154"/>
                </a:cubicBezTo>
                <a:cubicBezTo>
                  <a:pt x="8350422" y="2995674"/>
                  <a:pt x="8334361" y="2979739"/>
                  <a:pt x="8321004" y="2975186"/>
                </a:cubicBezTo>
                <a:cubicBezTo>
                  <a:pt x="8258382" y="2953786"/>
                  <a:pt x="8204061" y="2905750"/>
                  <a:pt x="8139993" y="2887993"/>
                </a:cubicBezTo>
                <a:cubicBezTo>
                  <a:pt x="8079535" y="2871148"/>
                  <a:pt x="8019980" y="2848609"/>
                  <a:pt x="7953747" y="2826301"/>
                </a:cubicBezTo>
                <a:cubicBezTo>
                  <a:pt x="7994353" y="2770297"/>
                  <a:pt x="8066361" y="2776900"/>
                  <a:pt x="8083145" y="2696083"/>
                </a:cubicBezTo>
                <a:cubicBezTo>
                  <a:pt x="8017633" y="2675138"/>
                  <a:pt x="7948695" y="2699043"/>
                  <a:pt x="7885529" y="2665804"/>
                </a:cubicBezTo>
                <a:cubicBezTo>
                  <a:pt x="7880115" y="2662846"/>
                  <a:pt x="7872715" y="2665804"/>
                  <a:pt x="7866219" y="2666715"/>
                </a:cubicBezTo>
                <a:cubicBezTo>
                  <a:pt x="7736099" y="2684472"/>
                  <a:pt x="7606520" y="2668993"/>
                  <a:pt x="7478205" y="2646681"/>
                </a:cubicBezTo>
                <a:cubicBezTo>
                  <a:pt x="7293403" y="2614811"/>
                  <a:pt x="7107878" y="2594550"/>
                  <a:pt x="6921993" y="2580207"/>
                </a:cubicBezTo>
                <a:cubicBezTo>
                  <a:pt x="6768412" y="2568368"/>
                  <a:pt x="6614471" y="2563133"/>
                  <a:pt x="6461612" y="2540368"/>
                </a:cubicBezTo>
                <a:cubicBezTo>
                  <a:pt x="6298106" y="2516010"/>
                  <a:pt x="6134780" y="2488463"/>
                  <a:pt x="5971453" y="2462965"/>
                </a:cubicBezTo>
                <a:cubicBezTo>
                  <a:pt x="5964054" y="2461826"/>
                  <a:pt x="5955887" y="2458241"/>
                  <a:pt x="5947992" y="2457985"/>
                </a:cubicBezTo>
                <a:close/>
                <a:moveTo>
                  <a:pt x="0" y="0"/>
                </a:moveTo>
                <a:lnTo>
                  <a:pt x="8078332" y="0"/>
                </a:lnTo>
                <a:lnTo>
                  <a:pt x="8051806" y="19899"/>
                </a:lnTo>
                <a:cubicBezTo>
                  <a:pt x="8010559" y="45723"/>
                  <a:pt x="7966035" y="59669"/>
                  <a:pt x="7919411" y="69998"/>
                </a:cubicBezTo>
                <a:cubicBezTo>
                  <a:pt x="7900760" y="74283"/>
                  <a:pt x="7882423" y="82852"/>
                  <a:pt x="7880558" y="103665"/>
                </a:cubicBezTo>
                <a:cubicBezTo>
                  <a:pt x="7878694" y="125395"/>
                  <a:pt x="7897654" y="133963"/>
                  <a:pt x="7913505" y="144066"/>
                </a:cubicBezTo>
                <a:cubicBezTo>
                  <a:pt x="7935573" y="158143"/>
                  <a:pt x="7957019" y="170388"/>
                  <a:pt x="7984993" y="172224"/>
                </a:cubicBezTo>
                <a:cubicBezTo>
                  <a:pt x="8030996" y="174978"/>
                  <a:pt x="8053062" y="214154"/>
                  <a:pt x="8079793" y="243535"/>
                </a:cubicBezTo>
                <a:cubicBezTo>
                  <a:pt x="8094711" y="260064"/>
                  <a:pt x="8102173" y="293423"/>
                  <a:pt x="8076065" y="299239"/>
                </a:cubicBezTo>
                <a:cubicBezTo>
                  <a:pt x="8013279" y="313320"/>
                  <a:pt x="8018253" y="354025"/>
                  <a:pt x="8019804" y="400240"/>
                </a:cubicBezTo>
                <a:cubicBezTo>
                  <a:pt x="8021980" y="457476"/>
                  <a:pt x="8058970" y="483796"/>
                  <a:pt x="8104349" y="505833"/>
                </a:cubicBezTo>
                <a:cubicBezTo>
                  <a:pt x="8119890" y="513484"/>
                  <a:pt x="8141956" y="513178"/>
                  <a:pt x="8147864" y="537052"/>
                </a:cubicBezTo>
                <a:cubicBezTo>
                  <a:pt x="8122377" y="559700"/>
                  <a:pt x="8091295" y="541338"/>
                  <a:pt x="8063941" y="547764"/>
                </a:cubicBezTo>
                <a:cubicBezTo>
                  <a:pt x="8041252" y="552966"/>
                  <a:pt x="8003642" y="550213"/>
                  <a:pt x="8034725" y="591836"/>
                </a:cubicBezTo>
                <a:cubicBezTo>
                  <a:pt x="8043740" y="603773"/>
                  <a:pt x="8033171" y="612956"/>
                  <a:pt x="8021669" y="613874"/>
                </a:cubicBezTo>
                <a:cubicBezTo>
                  <a:pt x="7929668" y="623362"/>
                  <a:pt x="7971939" y="707531"/>
                  <a:pt x="7942410" y="751909"/>
                </a:cubicBezTo>
                <a:cubicBezTo>
                  <a:pt x="7934331" y="764151"/>
                  <a:pt x="7943034" y="785269"/>
                  <a:pt x="7955778" y="790472"/>
                </a:cubicBezTo>
                <a:cubicBezTo>
                  <a:pt x="8037212" y="824753"/>
                  <a:pt x="8048401" y="906472"/>
                  <a:pt x="8087876" y="976867"/>
                </a:cubicBezTo>
                <a:cubicBezTo>
                  <a:pt x="8044981" y="1004717"/>
                  <a:pt x="7993697" y="1010838"/>
                  <a:pt x="7947386" y="1028897"/>
                </a:cubicBezTo>
                <a:cubicBezTo>
                  <a:pt x="7899207" y="1047873"/>
                  <a:pt x="7899207" y="1061952"/>
                  <a:pt x="7938992" y="1117042"/>
                </a:cubicBezTo>
                <a:cubicBezTo>
                  <a:pt x="7835489" y="1128980"/>
                  <a:pt x="7835489" y="1128980"/>
                  <a:pt x="7867503" y="1215596"/>
                </a:cubicBezTo>
                <a:cubicBezTo>
                  <a:pt x="7780782" y="1223554"/>
                  <a:pt x="7723594" y="1264566"/>
                  <a:pt x="7710229" y="1354244"/>
                </a:cubicBezTo>
                <a:cubicBezTo>
                  <a:pt x="7703701" y="1397704"/>
                  <a:pt x="7664539" y="1418209"/>
                  <a:pt x="7621024" y="1447286"/>
                </a:cubicBezTo>
                <a:cubicBezTo>
                  <a:pt x="7675106" y="1475446"/>
                  <a:pt x="7711784" y="1534209"/>
                  <a:pt x="7774880" y="1472076"/>
                </a:cubicBezTo>
                <a:cubicBezTo>
                  <a:pt x="7797879" y="1449429"/>
                  <a:pt x="7795707" y="1478199"/>
                  <a:pt x="7798812" y="1486462"/>
                </a:cubicBezTo>
                <a:cubicBezTo>
                  <a:pt x="7806271" y="1506661"/>
                  <a:pt x="7790732" y="1520130"/>
                  <a:pt x="7780474" y="1535432"/>
                </a:cubicBezTo>
                <a:cubicBezTo>
                  <a:pt x="7770528" y="1550736"/>
                  <a:pt x="7758715" y="1566956"/>
                  <a:pt x="7755919" y="1584099"/>
                </a:cubicBezTo>
                <a:cubicBezTo>
                  <a:pt x="7754055" y="1596034"/>
                  <a:pt x="7763068" y="1613478"/>
                  <a:pt x="7773014" y="1622355"/>
                </a:cubicBezTo>
                <a:cubicBezTo>
                  <a:pt x="7825233" y="1669183"/>
                  <a:pt x="7794151" y="1774469"/>
                  <a:pt x="7892993" y="1787937"/>
                </a:cubicBezTo>
                <a:cubicBezTo>
                  <a:pt x="7937439" y="1794056"/>
                  <a:pt x="7958885" y="1832621"/>
                  <a:pt x="7991521" y="1853739"/>
                </a:cubicBezTo>
                <a:cubicBezTo>
                  <a:pt x="8104970" y="1927500"/>
                  <a:pt x="8180811" y="2022380"/>
                  <a:pt x="8215932" y="2152764"/>
                </a:cubicBezTo>
                <a:cubicBezTo>
                  <a:pt x="8225567" y="2188879"/>
                  <a:pt x="8262556" y="2217957"/>
                  <a:pt x="8286489" y="2249786"/>
                </a:cubicBezTo>
                <a:cubicBezTo>
                  <a:pt x="8274987" y="2273047"/>
                  <a:pt x="8212203" y="2222852"/>
                  <a:pt x="8234270" y="2284064"/>
                </a:cubicBezTo>
                <a:cubicBezTo>
                  <a:pt x="8251054" y="2329975"/>
                  <a:pt x="8293949" y="2358439"/>
                  <a:pt x="8334357" y="2385679"/>
                </a:cubicBezTo>
                <a:cubicBezTo>
                  <a:pt x="8380357" y="2416591"/>
                  <a:pt x="8431331" y="2441382"/>
                  <a:pt x="8452157" y="2498616"/>
                </a:cubicBezTo>
                <a:cubicBezTo>
                  <a:pt x="8456509" y="2510859"/>
                  <a:pt x="8470494" y="2523714"/>
                  <a:pt x="8482927" y="2528612"/>
                </a:cubicBezTo>
                <a:cubicBezTo>
                  <a:pt x="9131298" y="3535869"/>
                  <a:pt x="10727356" y="3542602"/>
                  <a:pt x="10911361" y="3535561"/>
                </a:cubicBezTo>
                <a:cubicBezTo>
                  <a:pt x="11134219" y="3526686"/>
                  <a:pt x="11344956" y="3464554"/>
                  <a:pt x="11551649" y="3387120"/>
                </a:cubicBezTo>
                <a:cubicBezTo>
                  <a:pt x="11638991" y="3354371"/>
                  <a:pt x="11720114" y="3307851"/>
                  <a:pt x="11804971" y="3271735"/>
                </a:cubicBezTo>
                <a:cubicBezTo>
                  <a:pt x="11922148" y="3221845"/>
                  <a:pt x="12012596" y="3126660"/>
                  <a:pt x="12129465" y="3086565"/>
                </a:cubicBezTo>
                <a:lnTo>
                  <a:pt x="12192000" y="3060706"/>
                </a:lnTo>
                <a:lnTo>
                  <a:pt x="12192000" y="3766004"/>
                </a:lnTo>
                <a:lnTo>
                  <a:pt x="12069511" y="3730912"/>
                </a:lnTo>
                <a:cubicBezTo>
                  <a:pt x="11963133" y="3704591"/>
                  <a:pt x="11854734" y="3686839"/>
                  <a:pt x="11743305" y="3682401"/>
                </a:cubicBezTo>
                <a:cubicBezTo>
                  <a:pt x="11731805" y="3681961"/>
                  <a:pt x="11714789" y="3681575"/>
                  <a:pt x="11692833" y="3681484"/>
                </a:cubicBezTo>
                <a:cubicBezTo>
                  <a:pt x="11363495" y="3680110"/>
                  <a:pt x="9922719" y="3745047"/>
                  <a:pt x="9314871" y="4689350"/>
                </a:cubicBezTo>
                <a:cubicBezTo>
                  <a:pt x="9302438" y="4694248"/>
                  <a:pt x="9288453" y="4707103"/>
                  <a:pt x="9284101" y="4719346"/>
                </a:cubicBezTo>
                <a:cubicBezTo>
                  <a:pt x="9263275" y="4776580"/>
                  <a:pt x="9212301" y="4801371"/>
                  <a:pt x="9166300" y="4832283"/>
                </a:cubicBezTo>
                <a:cubicBezTo>
                  <a:pt x="9125893" y="4859523"/>
                  <a:pt x="9082998" y="4887987"/>
                  <a:pt x="9066214" y="4933898"/>
                </a:cubicBezTo>
                <a:cubicBezTo>
                  <a:pt x="9044146" y="4995110"/>
                  <a:pt x="9106931" y="4944915"/>
                  <a:pt x="9118433" y="4968176"/>
                </a:cubicBezTo>
                <a:cubicBezTo>
                  <a:pt x="9094500" y="5000005"/>
                  <a:pt x="9057511" y="5029083"/>
                  <a:pt x="9047876" y="5065198"/>
                </a:cubicBezTo>
                <a:cubicBezTo>
                  <a:pt x="9012755" y="5195582"/>
                  <a:pt x="8936914" y="5290462"/>
                  <a:pt x="8823465" y="5364223"/>
                </a:cubicBezTo>
                <a:cubicBezTo>
                  <a:pt x="8790828" y="5385341"/>
                  <a:pt x="8769383" y="5423906"/>
                  <a:pt x="8724937" y="5430025"/>
                </a:cubicBezTo>
                <a:cubicBezTo>
                  <a:pt x="8626095" y="5443493"/>
                  <a:pt x="8657177" y="5548779"/>
                  <a:pt x="8604958" y="5595607"/>
                </a:cubicBezTo>
                <a:cubicBezTo>
                  <a:pt x="8595012" y="5604484"/>
                  <a:pt x="8585999" y="5621928"/>
                  <a:pt x="8587863" y="5633863"/>
                </a:cubicBezTo>
                <a:cubicBezTo>
                  <a:pt x="8590659" y="5651006"/>
                  <a:pt x="8602472" y="5667226"/>
                  <a:pt x="8612418" y="5682530"/>
                </a:cubicBezTo>
                <a:cubicBezTo>
                  <a:pt x="8622675" y="5697832"/>
                  <a:pt x="8638215" y="5711301"/>
                  <a:pt x="8630756" y="5731500"/>
                </a:cubicBezTo>
                <a:cubicBezTo>
                  <a:pt x="8627651" y="5739763"/>
                  <a:pt x="8629823" y="5768533"/>
                  <a:pt x="8606823" y="5745886"/>
                </a:cubicBezTo>
                <a:cubicBezTo>
                  <a:pt x="8543727" y="5683753"/>
                  <a:pt x="8507049" y="5742516"/>
                  <a:pt x="8452968" y="5770676"/>
                </a:cubicBezTo>
                <a:cubicBezTo>
                  <a:pt x="8496482" y="5799753"/>
                  <a:pt x="8535645" y="5820258"/>
                  <a:pt x="8542173" y="5863718"/>
                </a:cubicBezTo>
                <a:cubicBezTo>
                  <a:pt x="8555538" y="5953396"/>
                  <a:pt x="8612726" y="5994408"/>
                  <a:pt x="8699447" y="6002366"/>
                </a:cubicBezTo>
                <a:cubicBezTo>
                  <a:pt x="8667433" y="6088982"/>
                  <a:pt x="8667433" y="6088982"/>
                  <a:pt x="8770936" y="6100920"/>
                </a:cubicBezTo>
                <a:cubicBezTo>
                  <a:pt x="8731151" y="6156010"/>
                  <a:pt x="8731151" y="6170089"/>
                  <a:pt x="8779329" y="6189065"/>
                </a:cubicBezTo>
                <a:cubicBezTo>
                  <a:pt x="8825641" y="6207124"/>
                  <a:pt x="8876925" y="6213245"/>
                  <a:pt x="8919820" y="6241095"/>
                </a:cubicBezTo>
                <a:cubicBezTo>
                  <a:pt x="8880345" y="6311490"/>
                  <a:pt x="8869155" y="6393209"/>
                  <a:pt x="8787721" y="6427490"/>
                </a:cubicBezTo>
                <a:cubicBezTo>
                  <a:pt x="8774978" y="6432693"/>
                  <a:pt x="8766275" y="6453811"/>
                  <a:pt x="8774354" y="6466053"/>
                </a:cubicBezTo>
                <a:cubicBezTo>
                  <a:pt x="8803883" y="6510431"/>
                  <a:pt x="8761612" y="6594600"/>
                  <a:pt x="8853613" y="6604088"/>
                </a:cubicBezTo>
                <a:cubicBezTo>
                  <a:pt x="8865115" y="6605005"/>
                  <a:pt x="8875684" y="6614189"/>
                  <a:pt x="8866669" y="6626125"/>
                </a:cubicBezTo>
                <a:cubicBezTo>
                  <a:pt x="8835586" y="6667749"/>
                  <a:pt x="8873196" y="6664996"/>
                  <a:pt x="8895884" y="6670198"/>
                </a:cubicBezTo>
                <a:cubicBezTo>
                  <a:pt x="8923238" y="6676624"/>
                  <a:pt x="8954320" y="6658261"/>
                  <a:pt x="8979808" y="6680910"/>
                </a:cubicBezTo>
                <a:cubicBezTo>
                  <a:pt x="8973900" y="6704783"/>
                  <a:pt x="8951834" y="6704478"/>
                  <a:pt x="8936293" y="6712128"/>
                </a:cubicBezTo>
                <a:cubicBezTo>
                  <a:pt x="8890913" y="6734166"/>
                  <a:pt x="8853924" y="6760486"/>
                  <a:pt x="8851748" y="6817721"/>
                </a:cubicBezTo>
                <a:lnTo>
                  <a:pt x="8854326" y="6858000"/>
                </a:lnTo>
                <a:lnTo>
                  <a:pt x="0" y="6858000"/>
                </a:lnTo>
                <a:close/>
              </a:path>
            </a:pathLst>
          </a:custGeom>
          <a:solidFill>
            <a:schemeClr val="bg2">
              <a:alpha val="50000"/>
            </a:schemeClr>
          </a:solidFill>
          <a:ln w="32707" cap="flat">
            <a:noFill/>
            <a:prstDash val="solid"/>
            <a:miter/>
          </a:ln>
        </p:spPr>
        <p:txBody>
          <a:bodyPr rtlCol="0" anchor="ctr"/>
          <a:lstStyle/>
          <a:p>
            <a:pPr defTabSz="457200"/>
            <a:endParaRPr lang="en-US">
              <a:solidFill>
                <a:schemeClr val="tx1"/>
              </a:solidFill>
            </a:endParaRPr>
          </a:p>
        </p:txBody>
      </p:sp>
      <p:sp>
        <p:nvSpPr>
          <p:cNvPr id="2" name="TextBox 1">
            <a:extLst>
              <a:ext uri="{FF2B5EF4-FFF2-40B4-BE49-F238E27FC236}">
                <a16:creationId xmlns:a16="http://schemas.microsoft.com/office/drawing/2014/main" id="{8615DA0E-2479-65A3-8C78-81F063A809D9}"/>
              </a:ext>
            </a:extLst>
          </p:cNvPr>
          <p:cNvSpPr txBox="1"/>
          <p:nvPr/>
        </p:nvSpPr>
        <p:spPr>
          <a:xfrm>
            <a:off x="971368" y="371719"/>
            <a:ext cx="6125964" cy="1906863"/>
          </a:xfrm>
          <a:prstGeom prst="rect">
            <a:avLst/>
          </a:prstGeom>
        </p:spPr>
        <p:txBody>
          <a:bodyPr vert="horz" lIns="91440" tIns="45720" rIns="91440" bIns="45720" rtlCol="0" anchor="b">
            <a:normAutofit/>
          </a:bodyPr>
          <a:lstStyle/>
          <a:p>
            <a:pPr>
              <a:lnSpc>
                <a:spcPct val="90000"/>
              </a:lnSpc>
              <a:spcBef>
                <a:spcPct val="0"/>
              </a:spcBef>
              <a:spcAft>
                <a:spcPts val="600"/>
              </a:spcAft>
            </a:pPr>
            <a:endParaRPr lang="en-US" sz="4400">
              <a:latin typeface="+mj-lt"/>
              <a:ea typeface="+mj-ea"/>
              <a:cs typeface="+mj-cs"/>
            </a:endParaRPr>
          </a:p>
        </p:txBody>
      </p:sp>
      <p:pic>
        <p:nvPicPr>
          <p:cNvPr id="8" name="Graphic 7" descr="Warning with solid fill">
            <a:extLst>
              <a:ext uri="{FF2B5EF4-FFF2-40B4-BE49-F238E27FC236}">
                <a16:creationId xmlns:a16="http://schemas.microsoft.com/office/drawing/2014/main" id="{B62DB645-DD1F-4D15-A1DA-9AB9533C04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85413" y="4278138"/>
            <a:ext cx="2151950" cy="2151950"/>
          </a:xfrm>
          <a:prstGeom prst="rect">
            <a:avLst/>
          </a:prstGeom>
        </p:spPr>
      </p:pic>
      <p:pic>
        <p:nvPicPr>
          <p:cNvPr id="6" name="Graphic 5" descr="Forbidden with solid fill">
            <a:extLst>
              <a:ext uri="{FF2B5EF4-FFF2-40B4-BE49-F238E27FC236}">
                <a16:creationId xmlns:a16="http://schemas.microsoft.com/office/drawing/2014/main" id="{080756BB-6E59-9981-CD49-D20CC9C3D47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3078672"/>
            <a:ext cx="2151950" cy="2151950"/>
          </a:xfrm>
          <a:prstGeom prst="rect">
            <a:avLst/>
          </a:prstGeom>
        </p:spPr>
      </p:pic>
      <p:pic>
        <p:nvPicPr>
          <p:cNvPr id="10" name="Graphic 9" descr="Warning with solid fill">
            <a:extLst>
              <a:ext uri="{FF2B5EF4-FFF2-40B4-BE49-F238E27FC236}">
                <a16:creationId xmlns:a16="http://schemas.microsoft.com/office/drawing/2014/main" id="{E1D26D22-FADD-823D-6DD1-41187F3D9F2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20114" y="929742"/>
            <a:ext cx="1919024" cy="1919024"/>
          </a:xfrm>
          <a:prstGeom prst="rect">
            <a:avLst/>
          </a:prstGeom>
        </p:spPr>
      </p:pic>
      <p:sp>
        <p:nvSpPr>
          <p:cNvPr id="5" name="TextBox 4">
            <a:extLst>
              <a:ext uri="{FF2B5EF4-FFF2-40B4-BE49-F238E27FC236}">
                <a16:creationId xmlns:a16="http://schemas.microsoft.com/office/drawing/2014/main" id="{591FFCC9-6805-0420-9687-F085B48C3B35}"/>
              </a:ext>
            </a:extLst>
          </p:cNvPr>
          <p:cNvSpPr txBox="1"/>
          <p:nvPr/>
        </p:nvSpPr>
        <p:spPr>
          <a:xfrm>
            <a:off x="1964640" y="2959573"/>
            <a:ext cx="9098280" cy="646331"/>
          </a:xfrm>
          <a:prstGeom prst="rect">
            <a:avLst/>
          </a:prstGeom>
          <a:noFill/>
        </p:spPr>
        <p:txBody>
          <a:bodyPr wrap="square" rtlCol="0">
            <a:spAutoFit/>
          </a:bodyPr>
          <a:lstStyle/>
          <a:p>
            <a:r>
              <a:rPr lang="en-GB" sz="3600">
                <a:solidFill>
                  <a:srgbClr val="009999"/>
                </a:solidFill>
              </a:rPr>
              <a:t>VALIDATION</a:t>
            </a:r>
            <a:endParaRPr lang="en-DK" sz="3600">
              <a:solidFill>
                <a:srgbClr val="009999"/>
              </a:solidFill>
            </a:endParaRPr>
          </a:p>
        </p:txBody>
      </p:sp>
      <p:sp>
        <p:nvSpPr>
          <p:cNvPr id="9" name="TextBox 8">
            <a:extLst>
              <a:ext uri="{FF2B5EF4-FFF2-40B4-BE49-F238E27FC236}">
                <a16:creationId xmlns:a16="http://schemas.microsoft.com/office/drawing/2014/main" id="{84D857BA-546D-43CB-E2EB-B259794DC453}"/>
              </a:ext>
            </a:extLst>
          </p:cNvPr>
          <p:cNvSpPr txBox="1"/>
          <p:nvPr/>
        </p:nvSpPr>
        <p:spPr>
          <a:xfrm>
            <a:off x="9043452" y="2770391"/>
            <a:ext cx="6096000" cy="669479"/>
          </a:xfrm>
          <a:prstGeom prst="rect">
            <a:avLst/>
          </a:prstGeom>
          <a:noFill/>
        </p:spPr>
        <p:txBody>
          <a:bodyPr wrap="square">
            <a:spAutoFit/>
          </a:bodyPr>
          <a:lstStyle/>
          <a:p>
            <a:pPr marL="228600">
              <a:lnSpc>
                <a:spcPct val="90000"/>
              </a:lnSpc>
              <a:spcAft>
                <a:spcPts val="600"/>
              </a:spcAft>
            </a:pPr>
            <a:r>
              <a:rPr lang="en-US" sz="1800" b="1"/>
              <a:t>Warning </a:t>
            </a:r>
            <a:r>
              <a:rPr lang="en-US" sz="1800" i="1"/>
              <a:t>(can release data)</a:t>
            </a:r>
          </a:p>
          <a:p>
            <a:pPr marL="457200" indent="-228600">
              <a:lnSpc>
                <a:spcPct val="90000"/>
              </a:lnSpc>
              <a:spcAft>
                <a:spcPts val="600"/>
              </a:spcAft>
              <a:buFont typeface="Arial" panose="020B0604020202020204" pitchFamily="34" charset="0"/>
              <a:buChar char="•"/>
            </a:pPr>
            <a:endParaRPr lang="en-US" sz="1800" i="1"/>
          </a:p>
        </p:txBody>
      </p:sp>
      <p:sp>
        <p:nvSpPr>
          <p:cNvPr id="14" name="TextBox 13">
            <a:extLst>
              <a:ext uri="{FF2B5EF4-FFF2-40B4-BE49-F238E27FC236}">
                <a16:creationId xmlns:a16="http://schemas.microsoft.com/office/drawing/2014/main" id="{D654325B-0438-6DF9-DF03-DEACE1D72A08}"/>
              </a:ext>
            </a:extLst>
          </p:cNvPr>
          <p:cNvSpPr txBox="1"/>
          <p:nvPr/>
        </p:nvSpPr>
        <p:spPr>
          <a:xfrm>
            <a:off x="9132352" y="6384124"/>
            <a:ext cx="7175500" cy="343235"/>
          </a:xfrm>
          <a:prstGeom prst="rect">
            <a:avLst/>
          </a:prstGeom>
          <a:noFill/>
        </p:spPr>
        <p:txBody>
          <a:bodyPr wrap="square">
            <a:spAutoFit/>
          </a:bodyPr>
          <a:lstStyle/>
          <a:p>
            <a:pPr marL="228600">
              <a:lnSpc>
                <a:spcPct val="90000"/>
              </a:lnSpc>
              <a:spcAft>
                <a:spcPts val="600"/>
              </a:spcAft>
            </a:pPr>
            <a:r>
              <a:rPr lang="en-US" sz="1800" b="1"/>
              <a:t>Error </a:t>
            </a:r>
            <a:r>
              <a:rPr lang="en-US" sz="1800" i="1"/>
              <a:t>(</a:t>
            </a:r>
            <a:r>
              <a:rPr lang="en-US" sz="1800" i="1" u="sng"/>
              <a:t>can’t</a:t>
            </a:r>
            <a:r>
              <a:rPr lang="en-US" sz="1800" i="1"/>
              <a:t> release data)</a:t>
            </a:r>
          </a:p>
        </p:txBody>
      </p:sp>
      <p:sp>
        <p:nvSpPr>
          <p:cNvPr id="18" name="TextBox 17">
            <a:extLst>
              <a:ext uri="{FF2B5EF4-FFF2-40B4-BE49-F238E27FC236}">
                <a16:creationId xmlns:a16="http://schemas.microsoft.com/office/drawing/2014/main" id="{F97F729A-E696-7F8E-F1EF-CA671D6D1894}"/>
              </a:ext>
            </a:extLst>
          </p:cNvPr>
          <p:cNvSpPr txBox="1"/>
          <p:nvPr/>
        </p:nvSpPr>
        <p:spPr>
          <a:xfrm>
            <a:off x="6410002" y="2037299"/>
            <a:ext cx="8051800" cy="343235"/>
          </a:xfrm>
          <a:prstGeom prst="rect">
            <a:avLst/>
          </a:prstGeom>
          <a:noFill/>
        </p:spPr>
        <p:txBody>
          <a:bodyPr wrap="square">
            <a:spAutoFit/>
          </a:bodyPr>
          <a:lstStyle/>
          <a:p>
            <a:pPr marL="228600">
              <a:lnSpc>
                <a:spcPct val="90000"/>
              </a:lnSpc>
              <a:spcAft>
                <a:spcPts val="600"/>
              </a:spcAft>
            </a:pPr>
            <a:r>
              <a:rPr lang="en-US" b="1"/>
              <a:t>Information</a:t>
            </a:r>
            <a:r>
              <a:rPr lang="en-US" sz="1800" b="1"/>
              <a:t> </a:t>
            </a:r>
            <a:r>
              <a:rPr lang="en-US" sz="1800" i="1"/>
              <a:t>(can release data)</a:t>
            </a:r>
          </a:p>
        </p:txBody>
      </p:sp>
      <p:pic>
        <p:nvPicPr>
          <p:cNvPr id="19" name="Picture 18" descr="A logo with a black background&#10;&#10;Description automatically generated">
            <a:extLst>
              <a:ext uri="{FF2B5EF4-FFF2-40B4-BE49-F238E27FC236}">
                <a16:creationId xmlns:a16="http://schemas.microsoft.com/office/drawing/2014/main" id="{641657ED-B7F3-DC56-F82D-C23C25E622E8}"/>
              </a:ext>
            </a:extLst>
          </p:cNvPr>
          <p:cNvPicPr>
            <a:picLocks noChangeAspect="1"/>
          </p:cNvPicPr>
          <p:nvPr/>
        </p:nvPicPr>
        <p:blipFill rotWithShape="1">
          <a:blip r:embed="rId9">
            <a:extLst>
              <a:ext uri="{28A0092B-C50C-407E-A947-70E740481C1C}">
                <a14:useLocalDpi xmlns:a14="http://schemas.microsoft.com/office/drawing/2010/main" val="0"/>
              </a:ext>
            </a:extLst>
          </a:blip>
          <a:srcRect l="38167" t="-11528" r="48578" b="-1"/>
          <a:stretch/>
        </p:blipFill>
        <p:spPr bwMode="auto">
          <a:xfrm>
            <a:off x="518445" y="2554257"/>
            <a:ext cx="1429227" cy="1598560"/>
          </a:xfrm>
          <a:prstGeom prst="rect">
            <a:avLst/>
          </a:prstGeom>
          <a:noFill/>
          <a:ln>
            <a:noFill/>
          </a:ln>
          <a:extLst>
            <a:ext uri="{53640926-AAD7-44D8-BBD7-CCE9431645EC}">
              <a14:shadowObscured xmlns:a14="http://schemas.microsoft.com/office/drawing/2010/main"/>
            </a:ext>
          </a:extLst>
        </p:spPr>
      </p:pic>
      <p:pic>
        <p:nvPicPr>
          <p:cNvPr id="20" name="Graphic 19" descr="Warning with solid fill">
            <a:extLst>
              <a:ext uri="{FF2B5EF4-FFF2-40B4-BE49-F238E27FC236}">
                <a16:creationId xmlns:a16="http://schemas.microsoft.com/office/drawing/2014/main" id="{55081E46-60B3-29B6-B42A-CA685B316BA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035347" y="103548"/>
            <a:ext cx="1942162" cy="1942162"/>
          </a:xfrm>
          <a:prstGeom prst="rect">
            <a:avLst/>
          </a:prstGeom>
        </p:spPr>
      </p:pic>
      <p:sp>
        <p:nvSpPr>
          <p:cNvPr id="21" name="TextBox 20">
            <a:extLst>
              <a:ext uri="{FF2B5EF4-FFF2-40B4-BE49-F238E27FC236}">
                <a16:creationId xmlns:a16="http://schemas.microsoft.com/office/drawing/2014/main" id="{AA782FB1-47D2-90E6-79A6-334A7B3A4CE0}"/>
              </a:ext>
            </a:extLst>
          </p:cNvPr>
          <p:cNvSpPr txBox="1"/>
          <p:nvPr/>
        </p:nvSpPr>
        <p:spPr>
          <a:xfrm>
            <a:off x="5494599" y="5158827"/>
            <a:ext cx="8051800" cy="343235"/>
          </a:xfrm>
          <a:prstGeom prst="rect">
            <a:avLst/>
          </a:prstGeom>
          <a:noFill/>
        </p:spPr>
        <p:txBody>
          <a:bodyPr wrap="square">
            <a:spAutoFit/>
          </a:bodyPr>
          <a:lstStyle/>
          <a:p>
            <a:pPr marL="228600">
              <a:lnSpc>
                <a:spcPct val="90000"/>
              </a:lnSpc>
              <a:spcAft>
                <a:spcPts val="600"/>
              </a:spcAft>
            </a:pPr>
            <a:r>
              <a:rPr lang="en-US" sz="1800" b="1"/>
              <a:t>Blocker </a:t>
            </a:r>
            <a:r>
              <a:rPr lang="en-US" sz="1800" i="1"/>
              <a:t>(</a:t>
            </a:r>
            <a:r>
              <a:rPr lang="en-US" sz="1800" i="1" u="sng"/>
              <a:t>can’t</a:t>
            </a:r>
            <a:r>
              <a:rPr lang="en-US" sz="1800" i="1"/>
              <a:t> release data)</a:t>
            </a:r>
          </a:p>
        </p:txBody>
      </p:sp>
    </p:spTree>
    <p:extLst>
      <p:ext uri="{BB962C8B-B14F-4D97-AF65-F5344CB8AC3E}">
        <p14:creationId xmlns:p14="http://schemas.microsoft.com/office/powerpoint/2010/main" val="4057695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15DA0E-2479-65A3-8C78-81F063A809D9}"/>
              </a:ext>
            </a:extLst>
          </p:cNvPr>
          <p:cNvSpPr txBox="1"/>
          <p:nvPr/>
        </p:nvSpPr>
        <p:spPr>
          <a:xfrm>
            <a:off x="409576" y="231624"/>
            <a:ext cx="4358640" cy="646331"/>
          </a:xfrm>
          <a:prstGeom prst="rect">
            <a:avLst/>
          </a:prstGeom>
          <a:noFill/>
        </p:spPr>
        <p:txBody>
          <a:bodyPr wrap="square" lIns="91440" tIns="45720" rIns="91440" bIns="45720" rtlCol="0" anchor="t">
            <a:spAutoFit/>
          </a:bodyPr>
          <a:lstStyle/>
          <a:p>
            <a:r>
              <a:rPr lang="en-150" sz="3600">
                <a:solidFill>
                  <a:srgbClr val="009999"/>
                </a:solidFill>
              </a:rPr>
              <a:t>QC</a:t>
            </a:r>
            <a:r>
              <a:rPr lang="en-GB" sz="3600">
                <a:solidFill>
                  <a:srgbClr val="009999"/>
                </a:solidFill>
              </a:rPr>
              <a:t> Rules</a:t>
            </a:r>
            <a:endParaRPr lang="en-US" sz="3600">
              <a:solidFill>
                <a:srgbClr val="009999"/>
              </a:solidFill>
            </a:endParaRPr>
          </a:p>
        </p:txBody>
      </p:sp>
      <p:pic>
        <p:nvPicPr>
          <p:cNvPr id="5" name="Picture 4" descr="Graphical user interface, text, application, email&#10;&#10;Description automatically generated">
            <a:extLst>
              <a:ext uri="{FF2B5EF4-FFF2-40B4-BE49-F238E27FC236}">
                <a16:creationId xmlns:a16="http://schemas.microsoft.com/office/drawing/2014/main" id="{8A1A1E98-B76D-964D-1161-AC8D81A08B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576" y="947058"/>
            <a:ext cx="11372848" cy="5679318"/>
          </a:xfrm>
          <a:prstGeom prst="rect">
            <a:avLst/>
          </a:prstGeom>
        </p:spPr>
      </p:pic>
    </p:spTree>
    <p:extLst>
      <p:ext uri="{BB962C8B-B14F-4D97-AF65-F5344CB8AC3E}">
        <p14:creationId xmlns:p14="http://schemas.microsoft.com/office/powerpoint/2010/main" val="3768412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15DA0E-2479-65A3-8C78-81F063A809D9}"/>
              </a:ext>
            </a:extLst>
          </p:cNvPr>
          <p:cNvSpPr txBox="1"/>
          <p:nvPr/>
        </p:nvSpPr>
        <p:spPr>
          <a:xfrm>
            <a:off x="388620" y="453566"/>
            <a:ext cx="4358640" cy="646331"/>
          </a:xfrm>
          <a:prstGeom prst="rect">
            <a:avLst/>
          </a:prstGeom>
          <a:noFill/>
        </p:spPr>
        <p:txBody>
          <a:bodyPr wrap="square" lIns="91440" tIns="45720" rIns="91440" bIns="45720" rtlCol="0" anchor="t">
            <a:spAutoFit/>
          </a:bodyPr>
          <a:lstStyle/>
          <a:p>
            <a:r>
              <a:rPr lang="en-GB" sz="3600">
                <a:solidFill>
                  <a:srgbClr val="009999"/>
                </a:solidFill>
              </a:rPr>
              <a:t>Manage copies</a:t>
            </a:r>
            <a:endParaRPr lang="en-US" sz="3600">
              <a:solidFill>
                <a:srgbClr val="009999"/>
              </a:solidFill>
            </a:endParaRPr>
          </a:p>
        </p:txBody>
      </p:sp>
      <p:pic>
        <p:nvPicPr>
          <p:cNvPr id="4" name="Picture 3" descr="Graphical user interface, text, application&#10;&#10;Description automatically generated">
            <a:extLst>
              <a:ext uri="{FF2B5EF4-FFF2-40B4-BE49-F238E27FC236}">
                <a16:creationId xmlns:a16="http://schemas.microsoft.com/office/drawing/2014/main" id="{D6971AF6-996C-856C-09AC-4DC6F5CED1F6}"/>
              </a:ext>
            </a:extLst>
          </p:cNvPr>
          <p:cNvPicPr>
            <a:picLocks noChangeAspect="1"/>
          </p:cNvPicPr>
          <p:nvPr/>
        </p:nvPicPr>
        <p:blipFill rotWithShape="1">
          <a:blip r:embed="rId3">
            <a:extLst>
              <a:ext uri="{28A0092B-C50C-407E-A947-70E740481C1C}">
                <a14:useLocalDpi xmlns:a14="http://schemas.microsoft.com/office/drawing/2010/main" val="0"/>
              </a:ext>
            </a:extLst>
          </a:blip>
          <a:srcRect t="4185" r="3881"/>
          <a:stretch/>
        </p:blipFill>
        <p:spPr>
          <a:xfrm>
            <a:off x="8819902" y="1494966"/>
            <a:ext cx="2673350" cy="2817000"/>
          </a:xfrm>
          <a:prstGeom prst="rect">
            <a:avLst/>
          </a:prstGeom>
          <a:ln w="28575">
            <a:solidFill>
              <a:srgbClr val="004B7F"/>
            </a:solidFill>
          </a:ln>
        </p:spPr>
      </p:pic>
      <p:pic>
        <p:nvPicPr>
          <p:cNvPr id="7" name="Picture 6" descr="Graphical user interface, text, application, Word&#10;&#10;Description automatically generated">
            <a:extLst>
              <a:ext uri="{FF2B5EF4-FFF2-40B4-BE49-F238E27FC236}">
                <a16:creationId xmlns:a16="http://schemas.microsoft.com/office/drawing/2014/main" id="{A4CCF2C6-6DE6-AC28-5012-BADFE434B4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7940" y="4065128"/>
            <a:ext cx="6076950" cy="2082800"/>
          </a:xfrm>
          <a:prstGeom prst="rect">
            <a:avLst/>
          </a:prstGeom>
          <a:ln w="28575">
            <a:solidFill>
              <a:srgbClr val="004B7F"/>
            </a:solidFill>
          </a:ln>
        </p:spPr>
      </p:pic>
      <p:pic>
        <p:nvPicPr>
          <p:cNvPr id="9" name="Picture 8" descr="Graphical user interface, text, application&#10;&#10;Description automatically generated">
            <a:extLst>
              <a:ext uri="{FF2B5EF4-FFF2-40B4-BE49-F238E27FC236}">
                <a16:creationId xmlns:a16="http://schemas.microsoft.com/office/drawing/2014/main" id="{47BA17E3-A2C7-7664-0C8C-AE4750E3C6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0627" y="1494966"/>
            <a:ext cx="2673350" cy="2133600"/>
          </a:xfrm>
          <a:prstGeom prst="rect">
            <a:avLst/>
          </a:prstGeom>
          <a:ln w="28575">
            <a:solidFill>
              <a:srgbClr val="004B7F"/>
            </a:solidFill>
          </a:ln>
        </p:spPr>
      </p:pic>
      <p:cxnSp>
        <p:nvCxnSpPr>
          <p:cNvPr id="11" name="Connector: Elbow 10">
            <a:extLst>
              <a:ext uri="{FF2B5EF4-FFF2-40B4-BE49-F238E27FC236}">
                <a16:creationId xmlns:a16="http://schemas.microsoft.com/office/drawing/2014/main" id="{21CB7B54-C472-6869-0A1C-2C22665443F0}"/>
              </a:ext>
            </a:extLst>
          </p:cNvPr>
          <p:cNvCxnSpPr/>
          <p:nvPr/>
        </p:nvCxnSpPr>
        <p:spPr>
          <a:xfrm rot="16200000" flipH="1">
            <a:off x="1463640" y="4002228"/>
            <a:ext cx="1477962" cy="730638"/>
          </a:xfrm>
          <a:prstGeom prst="bentConnector2">
            <a:avLst/>
          </a:prstGeom>
          <a:ln w="28575">
            <a:solidFill>
              <a:srgbClr val="004B7F"/>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C4F8D802-FA00-4991-4E18-87DFED7CC184}"/>
              </a:ext>
            </a:extLst>
          </p:cNvPr>
          <p:cNvCxnSpPr/>
          <p:nvPr/>
        </p:nvCxnSpPr>
        <p:spPr>
          <a:xfrm flipV="1">
            <a:off x="8644890" y="4311966"/>
            <a:ext cx="1511687" cy="794562"/>
          </a:xfrm>
          <a:prstGeom prst="bentConnector2">
            <a:avLst/>
          </a:prstGeom>
          <a:ln w="28575">
            <a:solidFill>
              <a:srgbClr val="004B7F"/>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descr="A logo with a black background&#10;&#10;Description automatically generated">
            <a:extLst>
              <a:ext uri="{FF2B5EF4-FFF2-40B4-BE49-F238E27FC236}">
                <a16:creationId xmlns:a16="http://schemas.microsoft.com/office/drawing/2014/main" id="{6F29E958-47F5-17D0-8974-BE14AF9F6DBA}"/>
              </a:ext>
            </a:extLst>
          </p:cNvPr>
          <p:cNvPicPr>
            <a:picLocks noChangeAspect="1"/>
          </p:cNvPicPr>
          <p:nvPr/>
        </p:nvPicPr>
        <p:blipFill rotWithShape="1">
          <a:blip r:embed="rId6">
            <a:extLst>
              <a:ext uri="{28A0092B-C50C-407E-A947-70E740481C1C}">
                <a14:useLocalDpi xmlns:a14="http://schemas.microsoft.com/office/drawing/2010/main" val="0"/>
              </a:ext>
            </a:extLst>
          </a:blip>
          <a:srcRect l="38167" t="-11528" r="48578" b="-1"/>
          <a:stretch/>
        </p:blipFill>
        <p:spPr bwMode="auto">
          <a:xfrm>
            <a:off x="10636602" y="534864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26054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4EA2C7C-A313-B6DF-6859-9A8B561E5859}"/>
              </a:ext>
            </a:extLst>
          </p:cNvPr>
          <p:cNvSpPr txBox="1"/>
          <p:nvPr/>
        </p:nvSpPr>
        <p:spPr>
          <a:xfrm>
            <a:off x="316398" y="276228"/>
            <a:ext cx="5739924" cy="646331"/>
          </a:xfrm>
          <a:prstGeom prst="rect">
            <a:avLst/>
          </a:prstGeom>
          <a:noFill/>
        </p:spPr>
        <p:txBody>
          <a:bodyPr wrap="square" rtlCol="0">
            <a:spAutoFit/>
          </a:bodyPr>
          <a:lstStyle/>
          <a:p>
            <a:r>
              <a:rPr lang="en-GB" sz="3600">
                <a:solidFill>
                  <a:srgbClr val="009999"/>
                </a:solidFill>
              </a:rPr>
              <a:t>Data submission</a:t>
            </a:r>
          </a:p>
        </p:txBody>
      </p:sp>
      <p:pic>
        <p:nvPicPr>
          <p:cNvPr id="5" name="Picture 4">
            <a:extLst>
              <a:ext uri="{FF2B5EF4-FFF2-40B4-BE49-F238E27FC236}">
                <a16:creationId xmlns:a16="http://schemas.microsoft.com/office/drawing/2014/main" id="{B55AA64D-CA63-A159-924A-C89F4AE7D46C}"/>
              </a:ext>
            </a:extLst>
          </p:cNvPr>
          <p:cNvPicPr>
            <a:picLocks noChangeAspect="1"/>
          </p:cNvPicPr>
          <p:nvPr/>
        </p:nvPicPr>
        <p:blipFill>
          <a:blip r:embed="rId3"/>
          <a:stretch>
            <a:fillRect/>
          </a:stretch>
        </p:blipFill>
        <p:spPr>
          <a:xfrm>
            <a:off x="4907146" y="721125"/>
            <a:ext cx="6710695" cy="5235175"/>
          </a:xfrm>
          <a:prstGeom prst="rect">
            <a:avLst/>
          </a:prstGeom>
        </p:spPr>
      </p:pic>
      <p:pic>
        <p:nvPicPr>
          <p:cNvPr id="9" name="Picture 8" descr="Graphical user interface, application&#10;&#10;Description automatically generated">
            <a:extLst>
              <a:ext uri="{FF2B5EF4-FFF2-40B4-BE49-F238E27FC236}">
                <a16:creationId xmlns:a16="http://schemas.microsoft.com/office/drawing/2014/main" id="{09A7CAD8-3C1C-DBD5-8C9A-CE34645351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773" y="929660"/>
            <a:ext cx="3021041" cy="1616075"/>
          </a:xfrm>
          <a:prstGeom prst="rect">
            <a:avLst/>
          </a:prstGeom>
        </p:spPr>
      </p:pic>
      <p:pic>
        <p:nvPicPr>
          <p:cNvPr id="11" name="Picture 10" descr="Graphical user interface, application&#10;&#10;Description automatically generated">
            <a:extLst>
              <a:ext uri="{FF2B5EF4-FFF2-40B4-BE49-F238E27FC236}">
                <a16:creationId xmlns:a16="http://schemas.microsoft.com/office/drawing/2014/main" id="{C51E7905-F749-3C3F-CCD9-D7A7FCD9D5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5533" y="2406090"/>
            <a:ext cx="4107523" cy="1616075"/>
          </a:xfrm>
          <a:prstGeom prst="rect">
            <a:avLst/>
          </a:prstGeom>
        </p:spPr>
      </p:pic>
      <p:pic>
        <p:nvPicPr>
          <p:cNvPr id="2" name="Picture 1" descr="A logo with a black background&#10;&#10;Description automatically generated">
            <a:extLst>
              <a:ext uri="{FF2B5EF4-FFF2-40B4-BE49-F238E27FC236}">
                <a16:creationId xmlns:a16="http://schemas.microsoft.com/office/drawing/2014/main" id="{188CC887-E23E-18E7-DBE8-573565ADB587}"/>
              </a:ext>
            </a:extLst>
          </p:cNvPr>
          <p:cNvPicPr>
            <a:picLocks noChangeAspect="1"/>
          </p:cNvPicPr>
          <p:nvPr/>
        </p:nvPicPr>
        <p:blipFill rotWithShape="1">
          <a:blip r:embed="rId6">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pic>
        <p:nvPicPr>
          <p:cNvPr id="3" name="Picture 7">
            <a:extLst>
              <a:ext uri="{FF2B5EF4-FFF2-40B4-BE49-F238E27FC236}">
                <a16:creationId xmlns:a16="http://schemas.microsoft.com/office/drawing/2014/main" id="{7852B652-6F89-3B66-8808-46979E3DEC4F}"/>
              </a:ext>
            </a:extLst>
          </p:cNvPr>
          <p:cNvPicPr>
            <a:picLocks noChangeAspect="1"/>
          </p:cNvPicPr>
          <p:nvPr/>
        </p:nvPicPr>
        <p:blipFill>
          <a:blip r:embed="rId7"/>
          <a:stretch/>
        </p:blipFill>
        <p:spPr bwMode="auto">
          <a:xfrm>
            <a:off x="208509" y="3936557"/>
            <a:ext cx="3701927" cy="1850964"/>
          </a:xfrm>
          <a:prstGeom prst="rect">
            <a:avLst/>
          </a:prstGeom>
          <a:ln>
            <a:solidFill>
              <a:schemeClr val="bg1">
                <a:lumMod val="75000"/>
              </a:schemeClr>
            </a:solidFill>
          </a:ln>
        </p:spPr>
      </p:pic>
      <p:pic>
        <p:nvPicPr>
          <p:cNvPr id="6" name="Picture 5">
            <a:extLst>
              <a:ext uri="{FF2B5EF4-FFF2-40B4-BE49-F238E27FC236}">
                <a16:creationId xmlns:a16="http://schemas.microsoft.com/office/drawing/2014/main" id="{64325013-BB99-B639-F8D7-58690A3F5D10}"/>
              </a:ext>
            </a:extLst>
          </p:cNvPr>
          <p:cNvPicPr>
            <a:picLocks noChangeAspect="1"/>
          </p:cNvPicPr>
          <p:nvPr/>
        </p:nvPicPr>
        <p:blipFill rotWithShape="1">
          <a:blip r:embed="rId8"/>
          <a:srcRect l="6667" t="8154" r="3489"/>
          <a:stretch/>
        </p:blipFill>
        <p:spPr bwMode="auto">
          <a:xfrm>
            <a:off x="2933291" y="4872007"/>
            <a:ext cx="1954290" cy="1848756"/>
          </a:xfrm>
          <a:prstGeom prst="rect">
            <a:avLst/>
          </a:prstGeom>
          <a:ln>
            <a:noFill/>
          </a:ln>
          <a:effectLst>
            <a:softEdge rad="112500"/>
          </a:effectLst>
        </p:spPr>
      </p:pic>
    </p:spTree>
    <p:extLst>
      <p:ext uri="{BB962C8B-B14F-4D97-AF65-F5344CB8AC3E}">
        <p14:creationId xmlns:p14="http://schemas.microsoft.com/office/powerpoint/2010/main" val="1046357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AD793-C62F-449B-2B8A-DCB87FD1231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FDA1070-F993-A2FA-5EFD-EBB6F1909D8A}"/>
              </a:ext>
            </a:extLst>
          </p:cNvPr>
          <p:cNvSpPr txBox="1"/>
          <p:nvPr/>
        </p:nvSpPr>
        <p:spPr>
          <a:xfrm>
            <a:off x="5615843" y="1699722"/>
            <a:ext cx="992579" cy="584775"/>
          </a:xfrm>
          <a:prstGeom prst="rect">
            <a:avLst/>
          </a:prstGeom>
          <a:noFill/>
        </p:spPr>
        <p:txBody>
          <a:bodyPr wrap="none" lIns="91440" tIns="45720" rIns="91440" bIns="45720" rtlCol="0" anchor="t">
            <a:spAutoFit/>
          </a:bodyPr>
          <a:lstStyle/>
          <a:p>
            <a:pPr algn="ctr"/>
            <a:r>
              <a:rPr lang="en-US" sz="3200">
                <a:solidFill>
                  <a:schemeClr val="bg1"/>
                </a:solidFill>
              </a:rPr>
              <a:t>Q&amp;A</a:t>
            </a:r>
            <a:endParaRPr lang="en-DK" sz="3200">
              <a:solidFill>
                <a:schemeClr val="bg1"/>
              </a:solidFill>
            </a:endParaRPr>
          </a:p>
        </p:txBody>
      </p:sp>
      <p:pic>
        <p:nvPicPr>
          <p:cNvPr id="4" name="Graphic 3" descr="Badge Question Mark outline">
            <a:extLst>
              <a:ext uri="{FF2B5EF4-FFF2-40B4-BE49-F238E27FC236}">
                <a16:creationId xmlns:a16="http://schemas.microsoft.com/office/drawing/2014/main" id="{9254D82E-8BB5-849B-5F67-EE46AD78F9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566166" y="2284497"/>
            <a:ext cx="3091934" cy="3091934"/>
          </a:xfrm>
          <a:prstGeom prst="rect">
            <a:avLst/>
          </a:prstGeom>
        </p:spPr>
      </p:pic>
    </p:spTree>
    <p:extLst>
      <p:ext uri="{BB962C8B-B14F-4D97-AF65-F5344CB8AC3E}">
        <p14:creationId xmlns:p14="http://schemas.microsoft.com/office/powerpoint/2010/main" val="429710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71579-C8E9-40FA-6E9E-721B082C0C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1FF264-88F6-E52E-5197-101375395500}"/>
              </a:ext>
            </a:extLst>
          </p:cNvPr>
          <p:cNvSpPr>
            <a:spLocks noGrp="1"/>
          </p:cNvSpPr>
          <p:nvPr>
            <p:ph type="ctrTitle"/>
          </p:nvPr>
        </p:nvSpPr>
        <p:spPr/>
        <p:txBody>
          <a:bodyPr/>
          <a:lstStyle/>
          <a:p>
            <a:endParaRPr lang="en-DK"/>
          </a:p>
        </p:txBody>
      </p:sp>
      <p:sp>
        <p:nvSpPr>
          <p:cNvPr id="3" name="Subtitle 2">
            <a:extLst>
              <a:ext uri="{FF2B5EF4-FFF2-40B4-BE49-F238E27FC236}">
                <a16:creationId xmlns:a16="http://schemas.microsoft.com/office/drawing/2014/main" id="{6FD764BD-040C-20F4-B888-44164D1748A7}"/>
              </a:ext>
            </a:extLst>
          </p:cNvPr>
          <p:cNvSpPr>
            <a:spLocks noGrp="1"/>
          </p:cNvSpPr>
          <p:nvPr>
            <p:ph type="subTitle" idx="1"/>
          </p:nvPr>
        </p:nvSpPr>
        <p:spPr/>
        <p:txBody>
          <a:bodyPr/>
          <a:lstStyle/>
          <a:p>
            <a:endParaRPr lang="en-DK"/>
          </a:p>
        </p:txBody>
      </p:sp>
      <p:pic>
        <p:nvPicPr>
          <p:cNvPr id="5" name="Picture 4" descr="A group of people walking on a bridge&#10;&#10;AI-generated content may be incorrect.">
            <a:extLst>
              <a:ext uri="{FF2B5EF4-FFF2-40B4-BE49-F238E27FC236}">
                <a16:creationId xmlns:a16="http://schemas.microsoft.com/office/drawing/2014/main" id="{C8F6B093-CBB8-33BC-9A13-7AC6417CBF04}"/>
              </a:ext>
            </a:extLst>
          </p:cNvPr>
          <p:cNvPicPr>
            <a:picLocks noChangeAspect="1"/>
          </p:cNvPicPr>
          <p:nvPr/>
        </p:nvPicPr>
        <p:blipFill>
          <a:blip r:embed="rId2">
            <a:extLst>
              <a:ext uri="{28A0092B-C50C-407E-A947-70E740481C1C}">
                <a14:useLocalDpi xmlns:a14="http://schemas.microsoft.com/office/drawing/2010/main" val="0"/>
              </a:ext>
            </a:extLst>
          </a:blip>
          <a:srcRect t="15605"/>
          <a:stretch/>
        </p:blipFill>
        <p:spPr>
          <a:xfrm>
            <a:off x="0" y="0"/>
            <a:ext cx="12192000" cy="6858000"/>
          </a:xfrm>
          <a:prstGeom prst="rect">
            <a:avLst/>
          </a:prstGeom>
        </p:spPr>
      </p:pic>
      <p:sp>
        <p:nvSpPr>
          <p:cNvPr id="4" name="TextBox 3">
            <a:extLst>
              <a:ext uri="{FF2B5EF4-FFF2-40B4-BE49-F238E27FC236}">
                <a16:creationId xmlns:a16="http://schemas.microsoft.com/office/drawing/2014/main" id="{AD3AB4D7-465B-D9F1-8456-FCD408393BB9}"/>
              </a:ext>
            </a:extLst>
          </p:cNvPr>
          <p:cNvSpPr txBox="1"/>
          <p:nvPr/>
        </p:nvSpPr>
        <p:spPr>
          <a:xfrm>
            <a:off x="-25939" y="1701521"/>
            <a:ext cx="12191999" cy="1200329"/>
          </a:xfrm>
          <a:prstGeom prst="rect">
            <a:avLst/>
          </a:prstGeom>
          <a:solidFill>
            <a:schemeClr val="bg2">
              <a:lumMod val="25000"/>
              <a:alpha val="16000"/>
            </a:schemeClr>
          </a:solidFill>
        </p:spPr>
        <p:txBody>
          <a:bodyPr wrap="square" rtlCol="0">
            <a:spAutoFit/>
          </a:bodyPr>
          <a:lstStyle/>
          <a:p>
            <a:pPr algn="r"/>
            <a:r>
              <a:rPr lang="en-US" sz="3600">
                <a:solidFill>
                  <a:schemeClr val="bg1"/>
                </a:solidFill>
              </a:rPr>
              <a:t>Reporting on GovReg Article 19</a:t>
            </a:r>
          </a:p>
          <a:p>
            <a:pPr algn="r"/>
            <a:r>
              <a:rPr lang="en-US" sz="3600">
                <a:solidFill>
                  <a:schemeClr val="bg1"/>
                </a:solidFill>
              </a:rPr>
              <a:t> National climate change adaptation planning and strategies</a:t>
            </a:r>
          </a:p>
        </p:txBody>
      </p:sp>
      <p:sp>
        <p:nvSpPr>
          <p:cNvPr id="6" name="TextBox 5">
            <a:extLst>
              <a:ext uri="{FF2B5EF4-FFF2-40B4-BE49-F238E27FC236}">
                <a16:creationId xmlns:a16="http://schemas.microsoft.com/office/drawing/2014/main" id="{BEDA337D-C920-825F-53C1-96852D7B4A56}"/>
              </a:ext>
            </a:extLst>
          </p:cNvPr>
          <p:cNvSpPr txBox="1"/>
          <p:nvPr/>
        </p:nvSpPr>
        <p:spPr>
          <a:xfrm>
            <a:off x="147485" y="6511623"/>
            <a:ext cx="6272980" cy="261610"/>
          </a:xfrm>
          <a:prstGeom prst="rect">
            <a:avLst/>
          </a:prstGeom>
          <a:noFill/>
        </p:spPr>
        <p:txBody>
          <a:bodyPr wrap="square">
            <a:spAutoFit/>
          </a:bodyPr>
          <a:lstStyle/>
          <a:p>
            <a:r>
              <a:rPr lang="en-US" sz="1100">
                <a:solidFill>
                  <a:schemeClr val="bg1"/>
                </a:solidFill>
              </a:rPr>
              <a:t>©T</a:t>
            </a:r>
            <a:r>
              <a:rPr lang="en-DK" sz="1100">
                <a:solidFill>
                  <a:schemeClr val="bg1"/>
                </a:solidFill>
              </a:rPr>
              <a:t>Peter </a:t>
            </a:r>
            <a:r>
              <a:rPr lang="en-DK" sz="1100" err="1">
                <a:solidFill>
                  <a:schemeClr val="bg1"/>
                </a:solidFill>
              </a:rPr>
              <a:t>Vadocz</a:t>
            </a:r>
            <a:r>
              <a:rPr lang="en-DK" sz="1100">
                <a:solidFill>
                  <a:schemeClr val="bg1"/>
                </a:solidFill>
              </a:rPr>
              <a:t>, Urban Treasures  EEA</a:t>
            </a:r>
          </a:p>
        </p:txBody>
      </p:sp>
      <p:pic>
        <p:nvPicPr>
          <p:cNvPr id="7" name="Picture 8" descr="Graphical user interface, text&#10;&#10;Description automatically generated">
            <a:extLst>
              <a:ext uri="{FF2B5EF4-FFF2-40B4-BE49-F238E27FC236}">
                <a16:creationId xmlns:a16="http://schemas.microsoft.com/office/drawing/2014/main" id="{D1512510-82D9-35A1-F813-7EEE7A0A6AF2}"/>
              </a:ext>
            </a:extLst>
          </p:cNvPr>
          <p:cNvPicPr>
            <a:picLocks noChangeAspect="1"/>
          </p:cNvPicPr>
          <p:nvPr/>
        </p:nvPicPr>
        <p:blipFill>
          <a:blip r:embed="rId3"/>
          <a:stretch>
            <a:fillRect/>
          </a:stretch>
        </p:blipFill>
        <p:spPr>
          <a:xfrm>
            <a:off x="8251148" y="5861644"/>
            <a:ext cx="3789337" cy="765523"/>
          </a:xfrm>
          <a:prstGeom prst="rect">
            <a:avLst/>
          </a:prstGeom>
        </p:spPr>
      </p:pic>
    </p:spTree>
    <p:extLst>
      <p:ext uri="{BB962C8B-B14F-4D97-AF65-F5344CB8AC3E}">
        <p14:creationId xmlns:p14="http://schemas.microsoft.com/office/powerpoint/2010/main" val="3273875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7C8E61-A0A8-8BB2-2098-221774CF38B4}"/>
              </a:ext>
            </a:extLst>
          </p:cNvPr>
          <p:cNvSpPr txBox="1"/>
          <p:nvPr/>
        </p:nvSpPr>
        <p:spPr>
          <a:xfrm>
            <a:off x="388619" y="335280"/>
            <a:ext cx="5982925" cy="461665"/>
          </a:xfrm>
          <a:prstGeom prst="rect">
            <a:avLst/>
          </a:prstGeom>
          <a:noFill/>
        </p:spPr>
        <p:txBody>
          <a:bodyPr wrap="square" lIns="91440" tIns="45720" rIns="91440" bIns="45720" rtlCol="0" anchor="t">
            <a:spAutoFit/>
          </a:bodyPr>
          <a:lstStyle/>
          <a:p>
            <a:r>
              <a:rPr lang="en-US" sz="2400">
                <a:solidFill>
                  <a:srgbClr val="002060"/>
                </a:solidFill>
              </a:rPr>
              <a:t>REPORTING TIMESTAMP</a:t>
            </a:r>
          </a:p>
        </p:txBody>
      </p:sp>
      <p:pic>
        <p:nvPicPr>
          <p:cNvPr id="3" name="Picture 2" descr="A screenshot of a computer&#10;&#10;AI-generated content may be incorrect.">
            <a:extLst>
              <a:ext uri="{FF2B5EF4-FFF2-40B4-BE49-F238E27FC236}">
                <a16:creationId xmlns:a16="http://schemas.microsoft.com/office/drawing/2014/main" id="{EEB663E0-3D64-E1B2-F242-9E2FA16303F9}"/>
              </a:ext>
            </a:extLst>
          </p:cNvPr>
          <p:cNvPicPr>
            <a:picLocks noChangeAspect="1"/>
          </p:cNvPicPr>
          <p:nvPr/>
        </p:nvPicPr>
        <p:blipFill>
          <a:blip r:embed="rId3"/>
          <a:stretch>
            <a:fillRect/>
          </a:stretch>
        </p:blipFill>
        <p:spPr>
          <a:xfrm>
            <a:off x="0" y="1793320"/>
            <a:ext cx="12192000" cy="3271360"/>
          </a:xfrm>
          <a:prstGeom prst="rect">
            <a:avLst/>
          </a:prstGeom>
        </p:spPr>
      </p:pic>
      <p:pic>
        <p:nvPicPr>
          <p:cNvPr id="6" name="Picture 5" descr="A screenshot of a calendar&#10;&#10;AI-generated content may be incorrect.">
            <a:extLst>
              <a:ext uri="{FF2B5EF4-FFF2-40B4-BE49-F238E27FC236}">
                <a16:creationId xmlns:a16="http://schemas.microsoft.com/office/drawing/2014/main" id="{5E754F38-7801-C616-4378-F647EF99E197}"/>
              </a:ext>
            </a:extLst>
          </p:cNvPr>
          <p:cNvPicPr>
            <a:picLocks noChangeAspect="1"/>
          </p:cNvPicPr>
          <p:nvPr/>
        </p:nvPicPr>
        <p:blipFill>
          <a:blip r:embed="rId4"/>
          <a:stretch>
            <a:fillRect/>
          </a:stretch>
        </p:blipFill>
        <p:spPr>
          <a:xfrm>
            <a:off x="3904570" y="3775982"/>
            <a:ext cx="2466975" cy="2571750"/>
          </a:xfrm>
          <a:prstGeom prst="rect">
            <a:avLst/>
          </a:prstGeom>
          <a:ln>
            <a:solidFill>
              <a:schemeClr val="accent3"/>
            </a:solidFill>
          </a:ln>
        </p:spPr>
      </p:pic>
      <p:sp>
        <p:nvSpPr>
          <p:cNvPr id="7" name="Rectangle 6">
            <a:extLst>
              <a:ext uri="{FF2B5EF4-FFF2-40B4-BE49-F238E27FC236}">
                <a16:creationId xmlns:a16="http://schemas.microsoft.com/office/drawing/2014/main" id="{A587DFAB-1974-98FC-DEA6-F31DE7F49BC7}"/>
              </a:ext>
            </a:extLst>
          </p:cNvPr>
          <p:cNvSpPr/>
          <p:nvPr/>
        </p:nvSpPr>
        <p:spPr>
          <a:xfrm>
            <a:off x="370477" y="2108200"/>
            <a:ext cx="4767580" cy="228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8" name="Picture 7" descr="A logo with a black background&#10;&#10;Description automatically generated">
            <a:extLst>
              <a:ext uri="{FF2B5EF4-FFF2-40B4-BE49-F238E27FC236}">
                <a16:creationId xmlns:a16="http://schemas.microsoft.com/office/drawing/2014/main" id="{91449BAD-4E6F-89D5-7C00-C6408E12ECA8}"/>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72615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69DE63-94A8-4A65-2D84-1EC8A0261C78}"/>
              </a:ext>
            </a:extLst>
          </p:cNvPr>
          <p:cNvPicPr>
            <a:picLocks noChangeAspect="1"/>
          </p:cNvPicPr>
          <p:nvPr/>
        </p:nvPicPr>
        <p:blipFill>
          <a:blip r:embed="rId3"/>
          <a:stretch>
            <a:fillRect/>
          </a:stretch>
        </p:blipFill>
        <p:spPr>
          <a:xfrm>
            <a:off x="0" y="771679"/>
            <a:ext cx="12192000" cy="5314642"/>
          </a:xfrm>
          <a:prstGeom prst="rect">
            <a:avLst/>
          </a:prstGeom>
        </p:spPr>
      </p:pic>
      <p:sp>
        <p:nvSpPr>
          <p:cNvPr id="2" name="TextBox 1">
            <a:extLst>
              <a:ext uri="{FF2B5EF4-FFF2-40B4-BE49-F238E27FC236}">
                <a16:creationId xmlns:a16="http://schemas.microsoft.com/office/drawing/2014/main" id="{237C8E61-A0A8-8BB2-2098-221774CF38B4}"/>
              </a:ext>
            </a:extLst>
          </p:cNvPr>
          <p:cNvSpPr txBox="1"/>
          <p:nvPr/>
        </p:nvSpPr>
        <p:spPr>
          <a:xfrm>
            <a:off x="388620" y="335280"/>
            <a:ext cx="4682490" cy="461665"/>
          </a:xfrm>
          <a:prstGeom prst="rect">
            <a:avLst/>
          </a:prstGeom>
          <a:noFill/>
        </p:spPr>
        <p:txBody>
          <a:bodyPr wrap="square" rtlCol="0">
            <a:spAutoFit/>
          </a:bodyPr>
          <a:lstStyle/>
          <a:p>
            <a:r>
              <a:rPr lang="en-US" sz="2400">
                <a:solidFill>
                  <a:srgbClr val="002060"/>
                </a:solidFill>
              </a:rPr>
              <a:t>NATIONAL CIRCUMSTANCES </a:t>
            </a:r>
            <a:r>
              <a:rPr lang="en-150" sz="2400">
                <a:solidFill>
                  <a:srgbClr val="002060"/>
                </a:solidFill>
              </a:rPr>
              <a:t>(1)</a:t>
            </a:r>
            <a:r>
              <a:rPr lang="en-US" sz="2400">
                <a:solidFill>
                  <a:srgbClr val="002060"/>
                </a:solidFill>
              </a:rPr>
              <a:t> </a:t>
            </a:r>
            <a:endParaRPr lang="en-DK" sz="2400">
              <a:solidFill>
                <a:srgbClr val="002060"/>
              </a:solidFill>
            </a:endParaRPr>
          </a:p>
        </p:txBody>
      </p:sp>
      <p:pic>
        <p:nvPicPr>
          <p:cNvPr id="8" name="Picture 7">
            <a:extLst>
              <a:ext uri="{FF2B5EF4-FFF2-40B4-BE49-F238E27FC236}">
                <a16:creationId xmlns:a16="http://schemas.microsoft.com/office/drawing/2014/main" id="{E48C6E0C-0FDC-56D1-B2EA-DCB4B09F34C8}"/>
              </a:ext>
            </a:extLst>
          </p:cNvPr>
          <p:cNvPicPr>
            <a:picLocks noChangeAspect="1"/>
          </p:cNvPicPr>
          <p:nvPr/>
        </p:nvPicPr>
        <p:blipFill rotWithShape="1">
          <a:blip r:embed="rId4"/>
          <a:srcRect b="28375"/>
          <a:stretch/>
        </p:blipFill>
        <p:spPr>
          <a:xfrm>
            <a:off x="4943810" y="2193005"/>
            <a:ext cx="1352620" cy="727748"/>
          </a:xfrm>
          <a:prstGeom prst="rect">
            <a:avLst/>
          </a:prstGeom>
          <a:ln w="28575">
            <a:solidFill>
              <a:srgbClr val="316300"/>
            </a:solidFill>
          </a:ln>
        </p:spPr>
      </p:pic>
      <p:sp>
        <p:nvSpPr>
          <p:cNvPr id="9" name="Oval 8">
            <a:extLst>
              <a:ext uri="{FF2B5EF4-FFF2-40B4-BE49-F238E27FC236}">
                <a16:creationId xmlns:a16="http://schemas.microsoft.com/office/drawing/2014/main" id="{5AD4C58E-EF7C-CA39-8368-814E1629A558}"/>
              </a:ext>
            </a:extLst>
          </p:cNvPr>
          <p:cNvSpPr/>
          <p:nvPr/>
        </p:nvSpPr>
        <p:spPr>
          <a:xfrm>
            <a:off x="3394784" y="2068497"/>
            <a:ext cx="479394" cy="461639"/>
          </a:xfrm>
          <a:prstGeom prst="ellipse">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11" name="Connector: Elbow 10">
            <a:extLst>
              <a:ext uri="{FF2B5EF4-FFF2-40B4-BE49-F238E27FC236}">
                <a16:creationId xmlns:a16="http://schemas.microsoft.com/office/drawing/2014/main" id="{26BE8086-453D-0D76-A016-A5E127305621}"/>
              </a:ext>
            </a:extLst>
          </p:cNvPr>
          <p:cNvCxnSpPr>
            <a:stCxn id="9" idx="6"/>
            <a:endCxn id="8" idx="1"/>
          </p:cNvCxnSpPr>
          <p:nvPr/>
        </p:nvCxnSpPr>
        <p:spPr>
          <a:xfrm>
            <a:off x="3874178" y="2299317"/>
            <a:ext cx="1069632" cy="257562"/>
          </a:xfrm>
          <a:prstGeom prst="bentConnector3">
            <a:avLst/>
          </a:prstGeom>
          <a:ln w="19050">
            <a:solidFill>
              <a:srgbClr val="3163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descr="A logo with a black background&#10;&#10;Description automatically generated">
            <a:extLst>
              <a:ext uri="{FF2B5EF4-FFF2-40B4-BE49-F238E27FC236}">
                <a16:creationId xmlns:a16="http://schemas.microsoft.com/office/drawing/2014/main" id="{BB8EFEAC-4878-3620-3396-5CC88F206C67}"/>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571240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28481D64-E80A-309E-22E9-3D73A8C85B3F}"/>
              </a:ext>
            </a:extLst>
          </p:cNvPr>
          <p:cNvPicPr>
            <a:picLocks noChangeAspect="1"/>
          </p:cNvPicPr>
          <p:nvPr/>
        </p:nvPicPr>
        <p:blipFill>
          <a:blip r:embed="rId3"/>
          <a:stretch>
            <a:fillRect/>
          </a:stretch>
        </p:blipFill>
        <p:spPr>
          <a:xfrm>
            <a:off x="0" y="1186430"/>
            <a:ext cx="12192000" cy="4485140"/>
          </a:xfrm>
          <a:prstGeom prst="rect">
            <a:avLst/>
          </a:prstGeom>
        </p:spPr>
      </p:pic>
      <p:sp>
        <p:nvSpPr>
          <p:cNvPr id="2" name="TextBox 1">
            <a:extLst>
              <a:ext uri="{FF2B5EF4-FFF2-40B4-BE49-F238E27FC236}">
                <a16:creationId xmlns:a16="http://schemas.microsoft.com/office/drawing/2014/main" id="{237C8E61-A0A8-8BB2-2098-221774CF38B4}"/>
              </a:ext>
            </a:extLst>
          </p:cNvPr>
          <p:cNvSpPr txBox="1"/>
          <p:nvPr/>
        </p:nvSpPr>
        <p:spPr>
          <a:xfrm>
            <a:off x="388620" y="335280"/>
            <a:ext cx="4672965" cy="461665"/>
          </a:xfrm>
          <a:prstGeom prst="rect">
            <a:avLst/>
          </a:prstGeom>
          <a:noFill/>
        </p:spPr>
        <p:txBody>
          <a:bodyPr wrap="square" rtlCol="0">
            <a:spAutoFit/>
          </a:bodyPr>
          <a:lstStyle/>
          <a:p>
            <a:r>
              <a:rPr lang="en-US" sz="2400">
                <a:solidFill>
                  <a:srgbClr val="002060"/>
                </a:solidFill>
              </a:rPr>
              <a:t>NATIONAL CIRCUMSTANCES </a:t>
            </a:r>
            <a:r>
              <a:rPr lang="en-150" sz="2400">
                <a:solidFill>
                  <a:srgbClr val="002060"/>
                </a:solidFill>
              </a:rPr>
              <a:t>(2)</a:t>
            </a:r>
            <a:r>
              <a:rPr lang="en-US" sz="2400">
                <a:solidFill>
                  <a:srgbClr val="002060"/>
                </a:solidFill>
              </a:rPr>
              <a:t> </a:t>
            </a:r>
            <a:endParaRPr lang="en-DK" sz="2400">
              <a:solidFill>
                <a:srgbClr val="002060"/>
              </a:solidFill>
            </a:endParaRPr>
          </a:p>
        </p:txBody>
      </p:sp>
      <p:sp>
        <p:nvSpPr>
          <p:cNvPr id="3" name="Oval 2">
            <a:extLst>
              <a:ext uri="{FF2B5EF4-FFF2-40B4-BE49-F238E27FC236}">
                <a16:creationId xmlns:a16="http://schemas.microsoft.com/office/drawing/2014/main" id="{AC1D0CF1-B9C0-21BB-9B6B-3F23D6CFFC64}"/>
              </a:ext>
            </a:extLst>
          </p:cNvPr>
          <p:cNvSpPr/>
          <p:nvPr/>
        </p:nvSpPr>
        <p:spPr>
          <a:xfrm>
            <a:off x="3073431" y="1409330"/>
            <a:ext cx="1402672" cy="452761"/>
          </a:xfrm>
          <a:prstGeom prst="ellipse">
            <a:avLst/>
          </a:prstGeom>
          <a:noFill/>
          <a:ln>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5" name="Oval 4">
            <a:extLst>
              <a:ext uri="{FF2B5EF4-FFF2-40B4-BE49-F238E27FC236}">
                <a16:creationId xmlns:a16="http://schemas.microsoft.com/office/drawing/2014/main" id="{FF63D128-2FD3-924F-823E-E58573C816AE}"/>
              </a:ext>
            </a:extLst>
          </p:cNvPr>
          <p:cNvSpPr/>
          <p:nvPr/>
        </p:nvSpPr>
        <p:spPr>
          <a:xfrm>
            <a:off x="3536549" y="2635928"/>
            <a:ext cx="1402672" cy="452761"/>
          </a:xfrm>
          <a:prstGeom prst="ellipse">
            <a:avLst/>
          </a:prstGeom>
          <a:noFill/>
          <a:ln>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7" name="Rectangle 6">
            <a:extLst>
              <a:ext uri="{FF2B5EF4-FFF2-40B4-BE49-F238E27FC236}">
                <a16:creationId xmlns:a16="http://schemas.microsoft.com/office/drawing/2014/main" id="{32DDA3BC-5D7A-CB98-2706-714210EC6A02}"/>
              </a:ext>
            </a:extLst>
          </p:cNvPr>
          <p:cNvSpPr/>
          <p:nvPr/>
        </p:nvSpPr>
        <p:spPr>
          <a:xfrm>
            <a:off x="4871479" y="2174263"/>
            <a:ext cx="410690" cy="923330"/>
          </a:xfrm>
          <a:prstGeom prst="rect">
            <a:avLst/>
          </a:prstGeom>
          <a:noFill/>
        </p:spPr>
        <p:txBody>
          <a:bodyPr wrap="none" lIns="91440" tIns="45720" rIns="91440" bIns="45720">
            <a:spAutoFit/>
          </a:bodyPr>
          <a:lstStyle/>
          <a:p>
            <a:pPr algn="ctr"/>
            <a:r>
              <a:rPr lang="en-150" sz="5400" b="0" cap="none" spc="0">
                <a:ln w="0"/>
                <a:solidFill>
                  <a:srgbClr val="004B7F"/>
                </a:solidFill>
                <a:effectLst>
                  <a:outerShdw blurRad="38100" dist="19050" dir="2700000" algn="tl" rotWithShape="0">
                    <a:schemeClr val="dk1">
                      <a:alpha val="40000"/>
                    </a:schemeClr>
                  </a:outerShdw>
                </a:effectLst>
              </a:rPr>
              <a:t>!</a:t>
            </a:r>
            <a:endParaRPr lang="en-US" sz="5400" b="0" cap="none" spc="0">
              <a:ln w="0"/>
              <a:solidFill>
                <a:srgbClr val="004B7F"/>
              </a:solidFill>
              <a:effectLst>
                <a:outerShdw blurRad="38100" dist="19050" dir="2700000" algn="tl" rotWithShape="0">
                  <a:schemeClr val="dk1">
                    <a:alpha val="40000"/>
                  </a:schemeClr>
                </a:outerShdw>
              </a:effectLst>
            </a:endParaRPr>
          </a:p>
        </p:txBody>
      </p:sp>
      <p:sp>
        <p:nvSpPr>
          <p:cNvPr id="8" name="Teardrop 7">
            <a:extLst>
              <a:ext uri="{FF2B5EF4-FFF2-40B4-BE49-F238E27FC236}">
                <a16:creationId xmlns:a16="http://schemas.microsoft.com/office/drawing/2014/main" id="{99396430-2A5F-D69B-9A73-C7A5D7CC3512}"/>
              </a:ext>
            </a:extLst>
          </p:cNvPr>
          <p:cNvSpPr/>
          <p:nvPr/>
        </p:nvSpPr>
        <p:spPr>
          <a:xfrm>
            <a:off x="10266378" y="3541266"/>
            <a:ext cx="674702" cy="621436"/>
          </a:xfrm>
          <a:prstGeom prst="teardrop">
            <a:avLst/>
          </a:prstGeom>
          <a:noFill/>
          <a:ln>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9" name="Rectangle: Rounded Corners 8">
            <a:extLst>
              <a:ext uri="{FF2B5EF4-FFF2-40B4-BE49-F238E27FC236}">
                <a16:creationId xmlns:a16="http://schemas.microsoft.com/office/drawing/2014/main" id="{8A3DCC04-AF46-6FCB-4CE3-F7E066E6EA0B}"/>
              </a:ext>
            </a:extLst>
          </p:cNvPr>
          <p:cNvSpPr/>
          <p:nvPr/>
        </p:nvSpPr>
        <p:spPr>
          <a:xfrm>
            <a:off x="379095" y="4155952"/>
            <a:ext cx="1612000" cy="621436"/>
          </a:xfrm>
          <a:prstGeom prst="roundRect">
            <a:avLst/>
          </a:prstGeom>
          <a:noFill/>
          <a:ln w="28575">
            <a:solidFill>
              <a:srgbClr val="004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pic>
        <p:nvPicPr>
          <p:cNvPr id="10" name="Picture 9" descr="A logo with a black background&#10;&#10;Description automatically generated">
            <a:extLst>
              <a:ext uri="{FF2B5EF4-FFF2-40B4-BE49-F238E27FC236}">
                <a16:creationId xmlns:a16="http://schemas.microsoft.com/office/drawing/2014/main" id="{69850A8A-31FE-316E-8FB6-3226BF2A59FF}"/>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30495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BCC464-555E-F39D-E840-F87F759D97F4}"/>
              </a:ext>
            </a:extLst>
          </p:cNvPr>
          <p:cNvSpPr txBox="1"/>
          <p:nvPr/>
        </p:nvSpPr>
        <p:spPr>
          <a:xfrm>
            <a:off x="388619" y="335280"/>
            <a:ext cx="10459894" cy="461665"/>
          </a:xfrm>
          <a:prstGeom prst="rect">
            <a:avLst/>
          </a:prstGeom>
          <a:noFill/>
        </p:spPr>
        <p:txBody>
          <a:bodyPr wrap="square" rtlCol="0">
            <a:spAutoFit/>
          </a:bodyPr>
          <a:lstStyle/>
          <a:p>
            <a:r>
              <a:rPr lang="en-150" sz="2400" cap="all">
                <a:solidFill>
                  <a:srgbClr val="002060"/>
                </a:solidFill>
              </a:rPr>
              <a:t>Meteorological services</a:t>
            </a:r>
            <a:r>
              <a:rPr lang="en-150" sz="2400">
                <a:solidFill>
                  <a:srgbClr val="002060"/>
                </a:solidFill>
              </a:rPr>
              <a:t> and </a:t>
            </a:r>
            <a:r>
              <a:rPr lang="en-150" sz="2400" cap="all">
                <a:solidFill>
                  <a:srgbClr val="002060"/>
                </a:solidFill>
              </a:rPr>
              <a:t>Climate projections and services </a:t>
            </a:r>
            <a:r>
              <a:rPr lang="en-150" sz="2400" i="1">
                <a:solidFill>
                  <a:srgbClr val="002060"/>
                </a:solidFill>
              </a:rPr>
              <a:t>(optional)</a:t>
            </a:r>
            <a:r>
              <a:rPr lang="en-US" sz="2400" i="1">
                <a:solidFill>
                  <a:srgbClr val="002060"/>
                </a:solidFill>
              </a:rPr>
              <a:t> </a:t>
            </a:r>
            <a:endParaRPr lang="en-DK" sz="2400" i="1">
              <a:solidFill>
                <a:srgbClr val="002060"/>
              </a:solidFill>
            </a:endParaRPr>
          </a:p>
        </p:txBody>
      </p:sp>
      <p:pic>
        <p:nvPicPr>
          <p:cNvPr id="4" name="Picture 3" descr="Graphical user interface, text, application&#10;&#10;Description automatically generated">
            <a:extLst>
              <a:ext uri="{FF2B5EF4-FFF2-40B4-BE49-F238E27FC236}">
                <a16:creationId xmlns:a16="http://schemas.microsoft.com/office/drawing/2014/main" id="{AC539A57-5079-B9EA-5FBD-8D374D3667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19" y="820420"/>
            <a:ext cx="10915650" cy="5702300"/>
          </a:xfrm>
          <a:prstGeom prst="rect">
            <a:avLst/>
          </a:prstGeom>
        </p:spPr>
      </p:pic>
      <p:sp>
        <p:nvSpPr>
          <p:cNvPr id="5" name="Teardrop 4">
            <a:extLst>
              <a:ext uri="{FF2B5EF4-FFF2-40B4-BE49-F238E27FC236}">
                <a16:creationId xmlns:a16="http://schemas.microsoft.com/office/drawing/2014/main" id="{8F9B1F97-43DD-811A-B99B-5672287C27B9}"/>
              </a:ext>
            </a:extLst>
          </p:cNvPr>
          <p:cNvSpPr/>
          <p:nvPr/>
        </p:nvSpPr>
        <p:spPr>
          <a:xfrm>
            <a:off x="1504950" y="942975"/>
            <a:ext cx="828675" cy="419100"/>
          </a:xfrm>
          <a:prstGeom prst="teardrop">
            <a:avLst/>
          </a:prstGeom>
          <a:noFill/>
          <a:ln>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6" name="Teardrop 5">
            <a:extLst>
              <a:ext uri="{FF2B5EF4-FFF2-40B4-BE49-F238E27FC236}">
                <a16:creationId xmlns:a16="http://schemas.microsoft.com/office/drawing/2014/main" id="{25F0F71B-6C7D-57BA-B2CA-8DB50FC134D3}"/>
              </a:ext>
            </a:extLst>
          </p:cNvPr>
          <p:cNvSpPr/>
          <p:nvPr/>
        </p:nvSpPr>
        <p:spPr>
          <a:xfrm>
            <a:off x="1905000" y="1457325"/>
            <a:ext cx="295275" cy="276225"/>
          </a:xfrm>
          <a:prstGeom prst="teardrop">
            <a:avLst/>
          </a:prstGeom>
          <a:noFill/>
          <a:ln>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7" name="Teardrop 6">
            <a:extLst>
              <a:ext uri="{FF2B5EF4-FFF2-40B4-BE49-F238E27FC236}">
                <a16:creationId xmlns:a16="http://schemas.microsoft.com/office/drawing/2014/main" id="{41ABE9F1-B0B7-7585-7506-B875F12D05FF}"/>
              </a:ext>
            </a:extLst>
          </p:cNvPr>
          <p:cNvSpPr/>
          <p:nvPr/>
        </p:nvSpPr>
        <p:spPr>
          <a:xfrm>
            <a:off x="1919287" y="2143125"/>
            <a:ext cx="295275" cy="276225"/>
          </a:xfrm>
          <a:prstGeom prst="teardrop">
            <a:avLst/>
          </a:prstGeom>
          <a:noFill/>
          <a:ln>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9" name="Connector: Elbow 8">
            <a:extLst>
              <a:ext uri="{FF2B5EF4-FFF2-40B4-BE49-F238E27FC236}">
                <a16:creationId xmlns:a16="http://schemas.microsoft.com/office/drawing/2014/main" id="{C75A0FA3-29F9-2A56-EA42-73A4965883AF}"/>
              </a:ext>
            </a:extLst>
          </p:cNvPr>
          <p:cNvCxnSpPr>
            <a:stCxn id="5" idx="0"/>
            <a:endCxn id="6" idx="0"/>
          </p:cNvCxnSpPr>
          <p:nvPr/>
        </p:nvCxnSpPr>
        <p:spPr>
          <a:xfrm flipH="1">
            <a:off x="2200275" y="1152525"/>
            <a:ext cx="133350" cy="442913"/>
          </a:xfrm>
          <a:prstGeom prst="bentConnector3">
            <a:avLst>
              <a:gd name="adj1" fmla="val -171429"/>
            </a:avLst>
          </a:prstGeom>
          <a:ln>
            <a:solidFill>
              <a:srgbClr val="004B7F"/>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84ED38CF-07CE-D617-6CF0-17C9EF6460E2}"/>
              </a:ext>
            </a:extLst>
          </p:cNvPr>
          <p:cNvCxnSpPr>
            <a:cxnSpLocks/>
            <a:stCxn id="5" idx="3"/>
            <a:endCxn id="7" idx="5"/>
          </p:cNvCxnSpPr>
          <p:nvPr/>
        </p:nvCxnSpPr>
        <p:spPr>
          <a:xfrm rot="16200000" flipH="1">
            <a:off x="1352979" y="1574027"/>
            <a:ext cx="882878" cy="336222"/>
          </a:xfrm>
          <a:prstGeom prst="bentConnector3">
            <a:avLst/>
          </a:prstGeom>
          <a:ln>
            <a:solidFill>
              <a:srgbClr val="004B7F"/>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18FDF8BD-32B8-B991-89BE-CE63C79D427D}"/>
              </a:ext>
            </a:extLst>
          </p:cNvPr>
          <p:cNvSpPr/>
          <p:nvPr/>
        </p:nvSpPr>
        <p:spPr>
          <a:xfrm>
            <a:off x="2961336" y="1069865"/>
            <a:ext cx="5764206" cy="1323439"/>
          </a:xfrm>
          <a:prstGeom prst="rect">
            <a:avLst/>
          </a:prstGeom>
          <a:noFill/>
        </p:spPr>
        <p:txBody>
          <a:bodyPr wrap="none" lIns="91440" tIns="45720" rIns="91440" bIns="45720">
            <a:spAutoFit/>
          </a:bodyPr>
          <a:lstStyle/>
          <a:p>
            <a:pPr algn="ctr"/>
            <a:r>
              <a:rPr lang="da-DK" sz="2000" b="0" cap="none" spc="0">
                <a:ln w="0"/>
                <a:solidFill>
                  <a:srgbClr val="004B7F"/>
                </a:solidFill>
                <a:effectLst>
                  <a:outerShdw blurRad="38100" dist="19050" dir="2700000" algn="tl" rotWithShape="0">
                    <a:schemeClr val="dk1">
                      <a:alpha val="40000"/>
                    </a:schemeClr>
                  </a:outerShdw>
                </a:effectLst>
              </a:rPr>
              <a:t>N</a:t>
            </a:r>
            <a:r>
              <a:rPr lang="en-150" sz="2000" err="1">
                <a:ln w="0"/>
                <a:solidFill>
                  <a:srgbClr val="004B7F"/>
                </a:solidFill>
                <a:effectLst>
                  <a:outerShdw blurRad="38100" dist="19050" dir="2700000" algn="tl" rotWithShape="0">
                    <a:schemeClr val="dk1">
                      <a:alpha val="40000"/>
                    </a:schemeClr>
                  </a:outerShdw>
                </a:effectLst>
              </a:rPr>
              <a:t>ot</a:t>
            </a:r>
            <a:r>
              <a:rPr lang="en-150" sz="2000">
                <a:ln w="0"/>
                <a:solidFill>
                  <a:srgbClr val="004B7F"/>
                </a:solidFill>
                <a:effectLst>
                  <a:outerShdw blurRad="38100" dist="19050" dir="2700000" algn="tl" rotWithShape="0">
                    <a:schemeClr val="dk1">
                      <a:alpha val="40000"/>
                    </a:schemeClr>
                  </a:outerShdw>
                </a:effectLst>
              </a:rPr>
              <a:t> a contradiction</a:t>
            </a:r>
          </a:p>
          <a:p>
            <a:pPr algn="ctr"/>
            <a:r>
              <a:rPr lang="en-150" sz="2000" b="0" cap="none" spc="0">
                <a:ln w="0"/>
                <a:solidFill>
                  <a:srgbClr val="004B7F"/>
                </a:solidFill>
                <a:effectLst>
                  <a:outerShdw blurRad="38100" dist="19050" dir="2700000" algn="tl" rotWithShape="0">
                    <a:schemeClr val="dk1">
                      <a:alpha val="40000"/>
                    </a:schemeClr>
                  </a:outerShdw>
                </a:effectLst>
              </a:rPr>
              <a:t>“</a:t>
            </a:r>
            <a:r>
              <a:rPr lang="da-DK" sz="2000" b="0" cap="none" spc="0">
                <a:ln w="0"/>
                <a:solidFill>
                  <a:srgbClr val="004B7F"/>
                </a:solidFill>
                <a:effectLst>
                  <a:outerShdw blurRad="38100" dist="19050" dir="2700000" algn="tl" rotWithShape="0">
                    <a:schemeClr val="dk1">
                      <a:alpha val="40000"/>
                    </a:schemeClr>
                  </a:outerShdw>
                </a:effectLst>
              </a:rPr>
              <a:t>C</a:t>
            </a:r>
            <a:r>
              <a:rPr lang="en-150" sz="2000" b="0" cap="none" spc="0" err="1">
                <a:ln w="0"/>
                <a:solidFill>
                  <a:srgbClr val="004B7F"/>
                </a:solidFill>
                <a:effectLst>
                  <a:outerShdw blurRad="38100" dist="19050" dir="2700000" algn="tl" rotWithShape="0">
                    <a:schemeClr val="dk1">
                      <a:alpha val="40000"/>
                    </a:schemeClr>
                  </a:outerShdw>
                </a:effectLst>
              </a:rPr>
              <a:t>onditional</a:t>
            </a:r>
            <a:r>
              <a:rPr lang="en-150" sz="2000" b="0" cap="none" spc="0">
                <a:ln w="0"/>
                <a:solidFill>
                  <a:srgbClr val="004B7F"/>
                </a:solidFill>
                <a:effectLst>
                  <a:outerShdw blurRad="38100" dist="19050" dir="2700000" algn="tl" rotWithShape="0">
                    <a:schemeClr val="dk1">
                      <a:alpha val="40000"/>
                    </a:schemeClr>
                  </a:outerShdw>
                </a:effectLst>
              </a:rPr>
              <a:t> rules”: </a:t>
            </a:r>
            <a:br>
              <a:rPr lang="en-150" sz="2000" b="0" cap="none" spc="0">
                <a:ln w="0"/>
                <a:solidFill>
                  <a:srgbClr val="004B7F"/>
                </a:solidFill>
                <a:effectLst>
                  <a:outerShdw blurRad="38100" dist="19050" dir="2700000" algn="tl" rotWithShape="0">
                    <a:schemeClr val="dk1">
                      <a:alpha val="40000"/>
                    </a:schemeClr>
                  </a:outerShdw>
                </a:effectLst>
              </a:rPr>
            </a:br>
            <a:r>
              <a:rPr lang="en-150" sz="2000" b="1" cap="none" spc="0">
                <a:ln w="0"/>
                <a:solidFill>
                  <a:srgbClr val="004B7F"/>
                </a:solidFill>
                <a:effectLst>
                  <a:outerShdw blurRad="38100" dist="19050" dir="2700000" algn="tl" rotWithShape="0">
                    <a:schemeClr val="dk1">
                      <a:alpha val="40000"/>
                    </a:schemeClr>
                  </a:outerShdw>
                </a:effectLst>
              </a:rPr>
              <a:t>if</a:t>
            </a:r>
            <a:r>
              <a:rPr lang="en-150" sz="2000" b="0" cap="none" spc="0">
                <a:ln w="0"/>
                <a:solidFill>
                  <a:srgbClr val="004B7F"/>
                </a:solidFill>
                <a:effectLst>
                  <a:outerShdw blurRad="38100" dist="19050" dir="2700000" algn="tl" rotWithShape="0">
                    <a:schemeClr val="dk1">
                      <a:alpha val="40000"/>
                    </a:schemeClr>
                  </a:outerShdw>
                </a:effectLst>
              </a:rPr>
              <a:t> a record is created, </a:t>
            </a:r>
            <a:r>
              <a:rPr lang="en-150" sz="2000" b="1" cap="none" spc="0">
                <a:ln w="0"/>
                <a:solidFill>
                  <a:srgbClr val="004B7F"/>
                </a:solidFill>
                <a:effectLst>
                  <a:outerShdw blurRad="38100" dist="19050" dir="2700000" algn="tl" rotWithShape="0">
                    <a:schemeClr val="dk1">
                      <a:alpha val="40000"/>
                    </a:schemeClr>
                  </a:outerShdw>
                </a:effectLst>
              </a:rPr>
              <a:t>then</a:t>
            </a:r>
            <a:r>
              <a:rPr lang="en-150" sz="2000" b="0" cap="none" spc="0">
                <a:ln w="0"/>
                <a:solidFill>
                  <a:srgbClr val="004B7F"/>
                </a:solidFill>
                <a:effectLst>
                  <a:outerShdw blurRad="38100" dist="19050" dir="2700000" algn="tl" rotWithShape="0">
                    <a:schemeClr val="dk1">
                      <a:alpha val="40000"/>
                    </a:schemeClr>
                  </a:outerShdw>
                </a:effectLst>
              </a:rPr>
              <a:t> these </a:t>
            </a:r>
            <a:r>
              <a:rPr lang="en-150" sz="2000" b="0" u="sng" cap="none" spc="0">
                <a:ln w="0"/>
                <a:solidFill>
                  <a:srgbClr val="004B7F"/>
                </a:solidFill>
                <a:effectLst>
                  <a:outerShdw blurRad="38100" dist="19050" dir="2700000" algn="tl" rotWithShape="0">
                    <a:schemeClr val="dk1">
                      <a:alpha val="40000"/>
                    </a:schemeClr>
                  </a:outerShdw>
                </a:effectLst>
              </a:rPr>
              <a:t>fields</a:t>
            </a:r>
            <a:r>
              <a:rPr lang="en-150" sz="2000" b="0" cap="none" spc="0">
                <a:ln w="0"/>
                <a:solidFill>
                  <a:srgbClr val="004B7F"/>
                </a:solidFill>
                <a:effectLst>
                  <a:outerShdw blurRad="38100" dist="19050" dir="2700000" algn="tl" rotWithShape="0">
                    <a:schemeClr val="dk1">
                      <a:alpha val="40000"/>
                    </a:schemeClr>
                  </a:outerShdw>
                </a:effectLst>
              </a:rPr>
              <a:t> are </a:t>
            </a:r>
            <a:r>
              <a:rPr lang="en-150" sz="2000" b="0" u="sng" cap="none" spc="0">
                <a:ln w="0"/>
                <a:solidFill>
                  <a:srgbClr val="004B7F"/>
                </a:solidFill>
                <a:effectLst>
                  <a:outerShdw blurRad="38100" dist="19050" dir="2700000" algn="tl" rotWithShape="0">
                    <a:schemeClr val="dk1">
                      <a:alpha val="40000"/>
                    </a:schemeClr>
                  </a:outerShdw>
                </a:effectLst>
              </a:rPr>
              <a:t>mandatory</a:t>
            </a:r>
            <a:br>
              <a:rPr lang="en-150" sz="2000" b="0" cap="none" spc="0">
                <a:ln w="0"/>
                <a:solidFill>
                  <a:srgbClr val="004B7F"/>
                </a:solidFill>
                <a:effectLst>
                  <a:outerShdw blurRad="38100" dist="19050" dir="2700000" algn="tl" rotWithShape="0">
                    <a:schemeClr val="dk1">
                      <a:alpha val="40000"/>
                    </a:schemeClr>
                  </a:outerShdw>
                </a:effectLst>
              </a:rPr>
            </a:br>
            <a:r>
              <a:rPr lang="en-150" sz="2000" b="0" cap="none" spc="0">
                <a:ln w="0"/>
                <a:solidFill>
                  <a:srgbClr val="004B7F"/>
                </a:solidFill>
                <a:effectLst>
                  <a:outerShdw blurRad="38100" dist="19050" dir="2700000" algn="tl" rotWithShape="0">
                    <a:schemeClr val="dk1">
                      <a:alpha val="40000"/>
                    </a:schemeClr>
                  </a:outerShdw>
                </a:effectLst>
              </a:rPr>
              <a:t>However, the creation of a </a:t>
            </a:r>
            <a:r>
              <a:rPr lang="en-150" sz="2000" b="0" u="sng" cap="none" spc="0">
                <a:ln w="0"/>
                <a:solidFill>
                  <a:srgbClr val="004B7F"/>
                </a:solidFill>
                <a:effectLst>
                  <a:outerShdw blurRad="38100" dist="19050" dir="2700000" algn="tl" rotWithShape="0">
                    <a:schemeClr val="dk1">
                      <a:alpha val="40000"/>
                    </a:schemeClr>
                  </a:outerShdw>
                </a:effectLst>
              </a:rPr>
              <a:t>record</a:t>
            </a:r>
            <a:r>
              <a:rPr lang="en-150" sz="2000" b="0" cap="none" spc="0">
                <a:ln w="0"/>
                <a:solidFill>
                  <a:srgbClr val="004B7F"/>
                </a:solidFill>
                <a:effectLst>
                  <a:outerShdw blurRad="38100" dist="19050" dir="2700000" algn="tl" rotWithShape="0">
                    <a:schemeClr val="dk1">
                      <a:alpha val="40000"/>
                    </a:schemeClr>
                  </a:outerShdw>
                </a:effectLst>
              </a:rPr>
              <a:t> is </a:t>
            </a:r>
            <a:r>
              <a:rPr lang="en-150" sz="2000" b="0" u="sng" cap="none" spc="0">
                <a:ln w="0"/>
                <a:solidFill>
                  <a:srgbClr val="004B7F"/>
                </a:solidFill>
                <a:effectLst>
                  <a:outerShdw blurRad="38100" dist="19050" dir="2700000" algn="tl" rotWithShape="0">
                    <a:schemeClr val="dk1">
                      <a:alpha val="40000"/>
                    </a:schemeClr>
                  </a:outerShdw>
                </a:effectLst>
              </a:rPr>
              <a:t>optional</a:t>
            </a:r>
            <a:r>
              <a:rPr lang="en-150" sz="2000" b="0" cap="none" spc="0">
                <a:ln w="0"/>
                <a:solidFill>
                  <a:srgbClr val="004B7F"/>
                </a:solidFill>
                <a:effectLst>
                  <a:outerShdw blurRad="38100" dist="19050" dir="2700000" algn="tl" rotWithShape="0">
                    <a:schemeClr val="dk1">
                      <a:alpha val="40000"/>
                    </a:schemeClr>
                  </a:outerShdw>
                </a:effectLst>
              </a:rPr>
              <a:t>!</a:t>
            </a:r>
            <a:endParaRPr lang="en-US" sz="2000" b="0" cap="none" spc="0">
              <a:ln w="0"/>
              <a:solidFill>
                <a:srgbClr val="004B7F"/>
              </a:solidFill>
              <a:effectLst>
                <a:outerShdw blurRad="38100" dist="19050" dir="2700000" algn="tl" rotWithShape="0">
                  <a:schemeClr val="dk1">
                    <a:alpha val="40000"/>
                  </a:schemeClr>
                </a:outerShdw>
              </a:effectLst>
            </a:endParaRPr>
          </a:p>
        </p:txBody>
      </p:sp>
      <p:pic>
        <p:nvPicPr>
          <p:cNvPr id="3" name="Picture 2" descr="A logo with a black background&#10;&#10;Description automatically generated">
            <a:extLst>
              <a:ext uri="{FF2B5EF4-FFF2-40B4-BE49-F238E27FC236}">
                <a16:creationId xmlns:a16="http://schemas.microsoft.com/office/drawing/2014/main" id="{B896F86F-EC5F-E167-BC8F-1225E668AD89}"/>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315688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0E242944-A887-8C5E-6BAA-D319E3D6B670}"/>
              </a:ext>
            </a:extLst>
          </p:cNvPr>
          <p:cNvPicPr>
            <a:picLocks noChangeAspect="1"/>
          </p:cNvPicPr>
          <p:nvPr/>
        </p:nvPicPr>
        <p:blipFill>
          <a:blip r:embed="rId3"/>
          <a:stretch>
            <a:fillRect/>
          </a:stretch>
        </p:blipFill>
        <p:spPr>
          <a:xfrm>
            <a:off x="0" y="724950"/>
            <a:ext cx="12192000" cy="5846250"/>
          </a:xfrm>
          <a:prstGeom prst="rect">
            <a:avLst/>
          </a:prstGeom>
        </p:spPr>
      </p:pic>
      <p:sp>
        <p:nvSpPr>
          <p:cNvPr id="2" name="TextBox 1">
            <a:extLst>
              <a:ext uri="{FF2B5EF4-FFF2-40B4-BE49-F238E27FC236}">
                <a16:creationId xmlns:a16="http://schemas.microsoft.com/office/drawing/2014/main" id="{237C8E61-A0A8-8BB2-2098-221774CF38B4}"/>
              </a:ext>
            </a:extLst>
          </p:cNvPr>
          <p:cNvSpPr txBox="1"/>
          <p:nvPr/>
        </p:nvSpPr>
        <p:spPr>
          <a:xfrm>
            <a:off x="388619" y="335280"/>
            <a:ext cx="6574617" cy="461665"/>
          </a:xfrm>
          <a:prstGeom prst="rect">
            <a:avLst/>
          </a:prstGeom>
          <a:noFill/>
        </p:spPr>
        <p:txBody>
          <a:bodyPr wrap="square" rtlCol="0">
            <a:spAutoFit/>
          </a:bodyPr>
          <a:lstStyle/>
          <a:p>
            <a:r>
              <a:rPr lang="en-US" sz="2400">
                <a:solidFill>
                  <a:srgbClr val="002060"/>
                </a:solidFill>
              </a:rPr>
              <a:t>OBSERVED AND FUTURE CLIMATE HAZARDS</a:t>
            </a:r>
            <a:r>
              <a:rPr lang="en-150" sz="2400">
                <a:solidFill>
                  <a:srgbClr val="002060"/>
                </a:solidFill>
              </a:rPr>
              <a:t> (1)</a:t>
            </a:r>
            <a:r>
              <a:rPr lang="en-US" sz="2400">
                <a:solidFill>
                  <a:srgbClr val="002060"/>
                </a:solidFill>
              </a:rPr>
              <a:t>  </a:t>
            </a:r>
            <a:endParaRPr lang="en-DK" sz="2400">
              <a:solidFill>
                <a:srgbClr val="002060"/>
              </a:solidFill>
            </a:endParaRPr>
          </a:p>
        </p:txBody>
      </p:sp>
      <p:sp>
        <p:nvSpPr>
          <p:cNvPr id="9" name="Rectangle 8">
            <a:extLst>
              <a:ext uri="{FF2B5EF4-FFF2-40B4-BE49-F238E27FC236}">
                <a16:creationId xmlns:a16="http://schemas.microsoft.com/office/drawing/2014/main" id="{84668CF9-92DE-8311-61FF-A4150745E5C9}"/>
              </a:ext>
            </a:extLst>
          </p:cNvPr>
          <p:cNvSpPr/>
          <p:nvPr/>
        </p:nvSpPr>
        <p:spPr>
          <a:xfrm>
            <a:off x="440924" y="4976026"/>
            <a:ext cx="1944210" cy="1313896"/>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11" name="Connector: Elbow 10">
            <a:extLst>
              <a:ext uri="{FF2B5EF4-FFF2-40B4-BE49-F238E27FC236}">
                <a16:creationId xmlns:a16="http://schemas.microsoft.com/office/drawing/2014/main" id="{8C5B12EA-F902-F5C8-CE7E-885C06418345}"/>
              </a:ext>
            </a:extLst>
          </p:cNvPr>
          <p:cNvCxnSpPr>
            <a:cxnSpLocks/>
            <a:stCxn id="9" idx="3"/>
          </p:cNvCxnSpPr>
          <p:nvPr/>
        </p:nvCxnSpPr>
        <p:spPr>
          <a:xfrm flipV="1">
            <a:off x="2385134" y="4726772"/>
            <a:ext cx="1124183" cy="906202"/>
          </a:xfrm>
          <a:prstGeom prst="bentConnector3">
            <a:avLst/>
          </a:prstGeom>
          <a:ln w="28575">
            <a:solidFill>
              <a:srgbClr val="3163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descr="A screenshot of a computer&#10;&#10;AI-generated content may be incorrect.">
            <a:extLst>
              <a:ext uri="{FF2B5EF4-FFF2-40B4-BE49-F238E27FC236}">
                <a16:creationId xmlns:a16="http://schemas.microsoft.com/office/drawing/2014/main" id="{0460072A-9113-DC24-51BC-A1CAEA9858F0}"/>
              </a:ext>
            </a:extLst>
          </p:cNvPr>
          <p:cNvPicPr>
            <a:picLocks noChangeAspect="1"/>
          </p:cNvPicPr>
          <p:nvPr/>
        </p:nvPicPr>
        <p:blipFill>
          <a:blip r:embed="rId4"/>
          <a:stretch>
            <a:fillRect/>
          </a:stretch>
        </p:blipFill>
        <p:spPr>
          <a:xfrm>
            <a:off x="3503839" y="3490232"/>
            <a:ext cx="6164036" cy="2283279"/>
          </a:xfrm>
          <a:prstGeom prst="rect">
            <a:avLst/>
          </a:prstGeom>
          <a:ln w="28575">
            <a:solidFill>
              <a:schemeClr val="accent3"/>
            </a:solidFill>
          </a:ln>
        </p:spPr>
      </p:pic>
      <p:pic>
        <p:nvPicPr>
          <p:cNvPr id="10" name="Picture 9" descr="A logo with a black background&#10;&#10;Description automatically generated">
            <a:extLst>
              <a:ext uri="{FF2B5EF4-FFF2-40B4-BE49-F238E27FC236}">
                <a16:creationId xmlns:a16="http://schemas.microsoft.com/office/drawing/2014/main" id="{E818C817-B142-FC4D-362E-E99934CEACA6}"/>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670587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8B330EEE-B76B-8887-978D-CC102EB4CE34}"/>
              </a:ext>
            </a:extLst>
          </p:cNvPr>
          <p:cNvPicPr>
            <a:picLocks noChangeAspect="1"/>
          </p:cNvPicPr>
          <p:nvPr/>
        </p:nvPicPr>
        <p:blipFill>
          <a:blip r:embed="rId3"/>
          <a:stretch>
            <a:fillRect/>
          </a:stretch>
        </p:blipFill>
        <p:spPr>
          <a:xfrm>
            <a:off x="1524000" y="4000766"/>
            <a:ext cx="9241971" cy="2818870"/>
          </a:xfrm>
          <a:prstGeom prst="rect">
            <a:avLst/>
          </a:prstGeom>
        </p:spPr>
      </p:pic>
      <p:pic>
        <p:nvPicPr>
          <p:cNvPr id="2" name="Picture 1" descr="A screenshot of a phone&#10;&#10;AI-generated content may be incorrect.">
            <a:extLst>
              <a:ext uri="{FF2B5EF4-FFF2-40B4-BE49-F238E27FC236}">
                <a16:creationId xmlns:a16="http://schemas.microsoft.com/office/drawing/2014/main" id="{9DB59921-EA41-5F4A-BAE6-CF41337C5EAA}"/>
              </a:ext>
            </a:extLst>
          </p:cNvPr>
          <p:cNvPicPr>
            <a:picLocks noChangeAspect="1"/>
          </p:cNvPicPr>
          <p:nvPr/>
        </p:nvPicPr>
        <p:blipFill>
          <a:blip r:embed="rId4"/>
          <a:stretch>
            <a:fillRect/>
          </a:stretch>
        </p:blipFill>
        <p:spPr>
          <a:xfrm>
            <a:off x="435427" y="954491"/>
            <a:ext cx="11244944" cy="2978704"/>
          </a:xfrm>
          <a:prstGeom prst="rect">
            <a:avLst/>
          </a:prstGeom>
        </p:spPr>
      </p:pic>
      <p:sp>
        <p:nvSpPr>
          <p:cNvPr id="4" name="TextBox 3">
            <a:extLst>
              <a:ext uri="{FF2B5EF4-FFF2-40B4-BE49-F238E27FC236}">
                <a16:creationId xmlns:a16="http://schemas.microsoft.com/office/drawing/2014/main" id="{95FB8E24-B47A-3F18-C203-CB078D9DCDC0}"/>
              </a:ext>
            </a:extLst>
          </p:cNvPr>
          <p:cNvSpPr txBox="1"/>
          <p:nvPr/>
        </p:nvSpPr>
        <p:spPr>
          <a:xfrm>
            <a:off x="388619" y="335280"/>
            <a:ext cx="6604552" cy="461665"/>
          </a:xfrm>
          <a:prstGeom prst="rect">
            <a:avLst/>
          </a:prstGeom>
          <a:noFill/>
        </p:spPr>
        <p:txBody>
          <a:bodyPr wrap="square" rtlCol="0">
            <a:spAutoFit/>
          </a:bodyPr>
          <a:lstStyle/>
          <a:p>
            <a:r>
              <a:rPr lang="en-US" sz="2400">
                <a:solidFill>
                  <a:srgbClr val="002060"/>
                </a:solidFill>
              </a:rPr>
              <a:t>OBSERVED AND FUTURE CLIMATE HAZARDS</a:t>
            </a:r>
            <a:r>
              <a:rPr lang="en-150" sz="2400">
                <a:solidFill>
                  <a:srgbClr val="002060"/>
                </a:solidFill>
              </a:rPr>
              <a:t> (2)</a:t>
            </a:r>
            <a:r>
              <a:rPr lang="en-US" sz="2400">
                <a:solidFill>
                  <a:srgbClr val="002060"/>
                </a:solidFill>
              </a:rPr>
              <a:t>  </a:t>
            </a:r>
            <a:endParaRPr lang="en-DK" sz="2400">
              <a:solidFill>
                <a:srgbClr val="002060"/>
              </a:solidFill>
            </a:endParaRPr>
          </a:p>
        </p:txBody>
      </p:sp>
      <p:pic>
        <p:nvPicPr>
          <p:cNvPr id="8" name="Picture 7" descr="Graphical user interface, text, application&#10;&#10;Description automatically generated">
            <a:extLst>
              <a:ext uri="{FF2B5EF4-FFF2-40B4-BE49-F238E27FC236}">
                <a16:creationId xmlns:a16="http://schemas.microsoft.com/office/drawing/2014/main" id="{8537321A-C943-5D56-2460-249AF388F451}"/>
              </a:ext>
            </a:extLst>
          </p:cNvPr>
          <p:cNvPicPr>
            <a:picLocks noChangeAspect="1"/>
          </p:cNvPicPr>
          <p:nvPr/>
        </p:nvPicPr>
        <p:blipFill rotWithShape="1">
          <a:blip r:embed="rId5">
            <a:extLst>
              <a:ext uri="{28A0092B-C50C-407E-A947-70E740481C1C}">
                <a14:useLocalDpi xmlns:a14="http://schemas.microsoft.com/office/drawing/2010/main" val="0"/>
              </a:ext>
            </a:extLst>
          </a:blip>
          <a:srcRect t="12864" b="16561"/>
          <a:stretch/>
        </p:blipFill>
        <p:spPr>
          <a:xfrm>
            <a:off x="5731156" y="3443165"/>
            <a:ext cx="3835400" cy="932156"/>
          </a:xfrm>
          <a:prstGeom prst="rect">
            <a:avLst/>
          </a:prstGeom>
          <a:ln w="28575">
            <a:solidFill>
              <a:srgbClr val="316300"/>
            </a:solidFill>
          </a:ln>
        </p:spPr>
      </p:pic>
      <p:pic>
        <p:nvPicPr>
          <p:cNvPr id="10" name="Picture 9" descr="Graphical user interface, text, application, email&#10;&#10;Description automatically generated">
            <a:extLst>
              <a:ext uri="{FF2B5EF4-FFF2-40B4-BE49-F238E27FC236}">
                <a16:creationId xmlns:a16="http://schemas.microsoft.com/office/drawing/2014/main" id="{B394D78A-958F-6F51-3DF8-D1E5B6CCABCB}"/>
              </a:ext>
            </a:extLst>
          </p:cNvPr>
          <p:cNvPicPr>
            <a:picLocks noChangeAspect="1"/>
          </p:cNvPicPr>
          <p:nvPr/>
        </p:nvPicPr>
        <p:blipFill rotWithShape="1">
          <a:blip r:embed="rId6">
            <a:extLst>
              <a:ext uri="{28A0092B-C50C-407E-A947-70E740481C1C}">
                <a14:useLocalDpi xmlns:a14="http://schemas.microsoft.com/office/drawing/2010/main" val="0"/>
              </a:ext>
            </a:extLst>
          </a:blip>
          <a:srcRect t="6309" b="10091"/>
          <a:stretch/>
        </p:blipFill>
        <p:spPr>
          <a:xfrm>
            <a:off x="2926554" y="957938"/>
            <a:ext cx="2300149" cy="1979720"/>
          </a:xfrm>
          <a:prstGeom prst="rect">
            <a:avLst/>
          </a:prstGeom>
          <a:ln w="28575">
            <a:solidFill>
              <a:srgbClr val="316300"/>
            </a:solidFill>
          </a:ln>
        </p:spPr>
      </p:pic>
      <p:sp>
        <p:nvSpPr>
          <p:cNvPr id="11" name="Rectangle 10">
            <a:extLst>
              <a:ext uri="{FF2B5EF4-FFF2-40B4-BE49-F238E27FC236}">
                <a16:creationId xmlns:a16="http://schemas.microsoft.com/office/drawing/2014/main" id="{8E2CCE08-DBDC-DFD5-CDF5-420E036FDA79}"/>
              </a:ext>
            </a:extLst>
          </p:cNvPr>
          <p:cNvSpPr/>
          <p:nvPr/>
        </p:nvSpPr>
        <p:spPr>
          <a:xfrm>
            <a:off x="437542" y="1006030"/>
            <a:ext cx="843379" cy="355107"/>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13" name="Connector: Elbow 12">
            <a:extLst>
              <a:ext uri="{FF2B5EF4-FFF2-40B4-BE49-F238E27FC236}">
                <a16:creationId xmlns:a16="http://schemas.microsoft.com/office/drawing/2014/main" id="{7E39BF89-5516-9E06-EDF3-1FA42A053E7A}"/>
              </a:ext>
            </a:extLst>
          </p:cNvPr>
          <p:cNvCxnSpPr>
            <a:cxnSpLocks/>
          </p:cNvCxnSpPr>
          <p:nvPr/>
        </p:nvCxnSpPr>
        <p:spPr>
          <a:xfrm>
            <a:off x="1291806" y="1183584"/>
            <a:ext cx="1634748" cy="666242"/>
          </a:xfrm>
          <a:prstGeom prst="bentConnector3">
            <a:avLst/>
          </a:prstGeom>
          <a:ln w="19050">
            <a:solidFill>
              <a:srgbClr val="316300"/>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626354DC-11F4-75A8-2E65-C84B662B5A2B}"/>
              </a:ext>
            </a:extLst>
          </p:cNvPr>
          <p:cNvSpPr/>
          <p:nvPr/>
        </p:nvSpPr>
        <p:spPr>
          <a:xfrm>
            <a:off x="3328386" y="4162253"/>
            <a:ext cx="360000" cy="360000"/>
          </a:xfrm>
          <a:prstGeom prst="ellipse">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17" name="Connector: Elbow 16">
            <a:extLst>
              <a:ext uri="{FF2B5EF4-FFF2-40B4-BE49-F238E27FC236}">
                <a16:creationId xmlns:a16="http://schemas.microsoft.com/office/drawing/2014/main" id="{B73C67B1-9176-6047-53C2-A3D73A17E8DA}"/>
              </a:ext>
            </a:extLst>
          </p:cNvPr>
          <p:cNvCxnSpPr>
            <a:cxnSpLocks/>
          </p:cNvCxnSpPr>
          <p:nvPr/>
        </p:nvCxnSpPr>
        <p:spPr>
          <a:xfrm flipV="1">
            <a:off x="3688386" y="3909243"/>
            <a:ext cx="2042770" cy="433010"/>
          </a:xfrm>
          <a:prstGeom prst="bentConnector3">
            <a:avLst/>
          </a:prstGeom>
          <a:ln w="19050">
            <a:solidFill>
              <a:srgbClr val="316300"/>
            </a:solidFill>
            <a:tailEnd type="triangle"/>
          </a:ln>
        </p:spPr>
        <p:style>
          <a:lnRef idx="1">
            <a:schemeClr val="accent1"/>
          </a:lnRef>
          <a:fillRef idx="0">
            <a:schemeClr val="accent1"/>
          </a:fillRef>
          <a:effectRef idx="0">
            <a:schemeClr val="accent1"/>
          </a:effectRef>
          <a:fontRef idx="minor">
            <a:schemeClr val="tx1"/>
          </a:fontRef>
        </p:style>
      </p:cxnSp>
      <p:sp>
        <p:nvSpPr>
          <p:cNvPr id="18" name="Teardrop 17">
            <a:extLst>
              <a:ext uri="{FF2B5EF4-FFF2-40B4-BE49-F238E27FC236}">
                <a16:creationId xmlns:a16="http://schemas.microsoft.com/office/drawing/2014/main" id="{A2E548F4-0235-752C-EA56-CE155A232FDA}"/>
              </a:ext>
            </a:extLst>
          </p:cNvPr>
          <p:cNvSpPr/>
          <p:nvPr/>
        </p:nvSpPr>
        <p:spPr>
          <a:xfrm>
            <a:off x="10294187" y="4991893"/>
            <a:ext cx="443883" cy="426128"/>
          </a:xfrm>
          <a:prstGeom prst="teardrop">
            <a:avLst/>
          </a:prstGeom>
          <a:noFill/>
          <a:ln w="19050">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19" name="Rectangle: Rounded Corners 18">
            <a:extLst>
              <a:ext uri="{FF2B5EF4-FFF2-40B4-BE49-F238E27FC236}">
                <a16:creationId xmlns:a16="http://schemas.microsoft.com/office/drawing/2014/main" id="{F2BAFB99-745F-44CA-D2CA-086F2A80EBC3}"/>
              </a:ext>
            </a:extLst>
          </p:cNvPr>
          <p:cNvSpPr/>
          <p:nvPr/>
        </p:nvSpPr>
        <p:spPr>
          <a:xfrm>
            <a:off x="1575162" y="5714999"/>
            <a:ext cx="710211" cy="355107"/>
          </a:xfrm>
          <a:prstGeom prst="roundRect">
            <a:avLst/>
          </a:prstGeom>
          <a:noFill/>
          <a:ln w="19050">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20" name="Rectangle: Rounded Corners 19">
            <a:extLst>
              <a:ext uri="{FF2B5EF4-FFF2-40B4-BE49-F238E27FC236}">
                <a16:creationId xmlns:a16="http://schemas.microsoft.com/office/drawing/2014/main" id="{8BBCA5DF-C34F-CDEE-2924-D7BBFAE0B17F}"/>
              </a:ext>
            </a:extLst>
          </p:cNvPr>
          <p:cNvSpPr/>
          <p:nvPr/>
        </p:nvSpPr>
        <p:spPr>
          <a:xfrm>
            <a:off x="8172750" y="5714999"/>
            <a:ext cx="710211" cy="355107"/>
          </a:xfrm>
          <a:prstGeom prst="roundRect">
            <a:avLst/>
          </a:prstGeom>
          <a:noFill/>
          <a:ln w="19050">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22" name="Connector: Elbow 21">
            <a:extLst>
              <a:ext uri="{FF2B5EF4-FFF2-40B4-BE49-F238E27FC236}">
                <a16:creationId xmlns:a16="http://schemas.microsoft.com/office/drawing/2014/main" id="{B73DC6A6-DF56-3E98-C3BE-AEE26AAAAE5F}"/>
              </a:ext>
            </a:extLst>
          </p:cNvPr>
          <p:cNvCxnSpPr>
            <a:cxnSpLocks/>
          </p:cNvCxnSpPr>
          <p:nvPr/>
        </p:nvCxnSpPr>
        <p:spPr>
          <a:xfrm rot="16200000" flipH="1">
            <a:off x="5229062" y="2771312"/>
            <a:ext cx="12700" cy="6597588"/>
          </a:xfrm>
          <a:prstGeom prst="bentConnector3">
            <a:avLst>
              <a:gd name="adj1" fmla="val 1800000"/>
            </a:avLst>
          </a:prstGeom>
          <a:ln>
            <a:solidFill>
              <a:srgbClr val="3163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descr="A logo with a black background&#10;&#10;Description automatically generated">
            <a:extLst>
              <a:ext uri="{FF2B5EF4-FFF2-40B4-BE49-F238E27FC236}">
                <a16:creationId xmlns:a16="http://schemas.microsoft.com/office/drawing/2014/main" id="{91788953-DBA7-75AF-F408-40F99CD69CDF}"/>
              </a:ext>
            </a:extLst>
          </p:cNvPr>
          <p:cNvPicPr>
            <a:picLocks noChangeAspect="1"/>
          </p:cNvPicPr>
          <p:nvPr/>
        </p:nvPicPr>
        <p:blipFill rotWithShape="1">
          <a:blip r:embed="rId7">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428311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EBB8F6-E848-AEDC-881C-6F8A9714F584}"/>
              </a:ext>
            </a:extLst>
          </p:cNvPr>
          <p:cNvPicPr>
            <a:picLocks noChangeAspect="1"/>
          </p:cNvPicPr>
          <p:nvPr/>
        </p:nvPicPr>
        <p:blipFill>
          <a:blip r:embed="rId3"/>
          <a:stretch>
            <a:fillRect/>
          </a:stretch>
        </p:blipFill>
        <p:spPr>
          <a:xfrm>
            <a:off x="1617299" y="137653"/>
            <a:ext cx="9259592" cy="6582694"/>
          </a:xfrm>
          <a:prstGeom prst="rect">
            <a:avLst/>
          </a:prstGeom>
        </p:spPr>
      </p:pic>
      <p:pic>
        <p:nvPicPr>
          <p:cNvPr id="4" name="Picture 3" descr="A logo with a black background&#10;&#10;Description automatically generated">
            <a:extLst>
              <a:ext uri="{FF2B5EF4-FFF2-40B4-BE49-F238E27FC236}">
                <a16:creationId xmlns:a16="http://schemas.microsoft.com/office/drawing/2014/main" id="{C7348161-E71E-EB26-B28A-6046C1C1A3CF}"/>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
        <p:nvSpPr>
          <p:cNvPr id="5" name="Oval 4">
            <a:extLst>
              <a:ext uri="{FF2B5EF4-FFF2-40B4-BE49-F238E27FC236}">
                <a16:creationId xmlns:a16="http://schemas.microsoft.com/office/drawing/2014/main" id="{6EFB93E5-EBB5-CA2D-9478-0AEEE9E781C2}"/>
              </a:ext>
            </a:extLst>
          </p:cNvPr>
          <p:cNvSpPr/>
          <p:nvPr/>
        </p:nvSpPr>
        <p:spPr>
          <a:xfrm>
            <a:off x="1762443" y="768272"/>
            <a:ext cx="1060527" cy="461665"/>
          </a:xfrm>
          <a:prstGeom prst="ellipse">
            <a:avLst/>
          </a:prstGeom>
          <a:noFill/>
          <a:ln>
            <a:solidFill>
              <a:srgbClr val="004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6" name="Oval 5">
            <a:extLst>
              <a:ext uri="{FF2B5EF4-FFF2-40B4-BE49-F238E27FC236}">
                <a16:creationId xmlns:a16="http://schemas.microsoft.com/office/drawing/2014/main" id="{0129F878-8CC7-9619-B2EA-B698CF5C5991}"/>
              </a:ext>
            </a:extLst>
          </p:cNvPr>
          <p:cNvSpPr/>
          <p:nvPr/>
        </p:nvSpPr>
        <p:spPr>
          <a:xfrm>
            <a:off x="1762443" y="1860556"/>
            <a:ext cx="1060527" cy="461665"/>
          </a:xfrm>
          <a:prstGeom prst="ellipse">
            <a:avLst/>
          </a:prstGeom>
          <a:noFill/>
          <a:ln>
            <a:solidFill>
              <a:srgbClr val="004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7" name="Connector: Elbow 6">
            <a:extLst>
              <a:ext uri="{FF2B5EF4-FFF2-40B4-BE49-F238E27FC236}">
                <a16:creationId xmlns:a16="http://schemas.microsoft.com/office/drawing/2014/main" id="{16B7C591-D5AF-AB60-6B22-1AA42E90D0DB}"/>
              </a:ext>
            </a:extLst>
          </p:cNvPr>
          <p:cNvCxnSpPr>
            <a:stCxn id="5" idx="2"/>
            <a:endCxn id="6" idx="2"/>
          </p:cNvCxnSpPr>
          <p:nvPr/>
        </p:nvCxnSpPr>
        <p:spPr>
          <a:xfrm rot="10800000" flipV="1">
            <a:off x="1762443" y="999105"/>
            <a:ext cx="12700" cy="1092284"/>
          </a:xfrm>
          <a:prstGeom prst="bentConnector3">
            <a:avLst>
              <a:gd name="adj1" fmla="val 1800000"/>
            </a:avLst>
          </a:prstGeom>
          <a:ln w="12700">
            <a:solidFill>
              <a:srgbClr val="004B7F"/>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8" name="Picture 7" descr="Graphical user interface, text, application, email&#10;&#10;Description automatically generated">
            <a:extLst>
              <a:ext uri="{FF2B5EF4-FFF2-40B4-BE49-F238E27FC236}">
                <a16:creationId xmlns:a16="http://schemas.microsoft.com/office/drawing/2014/main" id="{1C2E5A1F-90D4-9F44-12AC-39E4EEE7BE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1949" y="210073"/>
            <a:ext cx="2597150" cy="2159000"/>
          </a:xfrm>
          <a:prstGeom prst="rect">
            <a:avLst/>
          </a:prstGeom>
          <a:ln w="28575">
            <a:solidFill>
              <a:srgbClr val="316300"/>
            </a:solidFill>
          </a:ln>
        </p:spPr>
      </p:pic>
      <p:cxnSp>
        <p:nvCxnSpPr>
          <p:cNvPr id="9" name="Connector: Elbow 8">
            <a:extLst>
              <a:ext uri="{FF2B5EF4-FFF2-40B4-BE49-F238E27FC236}">
                <a16:creationId xmlns:a16="http://schemas.microsoft.com/office/drawing/2014/main" id="{59F85E52-F94E-5682-02BC-2CBF2EEC96C6}"/>
              </a:ext>
            </a:extLst>
          </p:cNvPr>
          <p:cNvCxnSpPr>
            <a:stCxn id="6" idx="6"/>
            <a:endCxn id="8" idx="1"/>
          </p:cNvCxnSpPr>
          <p:nvPr/>
        </p:nvCxnSpPr>
        <p:spPr>
          <a:xfrm flipV="1">
            <a:off x="2822970" y="1289573"/>
            <a:ext cx="2848979" cy="801816"/>
          </a:xfrm>
          <a:prstGeom prst="bentConnector3">
            <a:avLst/>
          </a:prstGeom>
          <a:ln w="12700">
            <a:solidFill>
              <a:srgbClr val="316300"/>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descr="Graphical user interface, application&#10;&#10;Description automatically generated">
            <a:extLst>
              <a:ext uri="{FF2B5EF4-FFF2-40B4-BE49-F238E27FC236}">
                <a16:creationId xmlns:a16="http://schemas.microsoft.com/office/drawing/2014/main" id="{C928BC28-D8BB-2BFE-86CE-DB613D41D8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23265" y="3429000"/>
            <a:ext cx="1228622" cy="1274811"/>
          </a:xfrm>
          <a:prstGeom prst="rect">
            <a:avLst/>
          </a:prstGeom>
          <a:ln w="28575">
            <a:solidFill>
              <a:srgbClr val="316300"/>
            </a:solidFill>
          </a:ln>
        </p:spPr>
      </p:pic>
      <p:sp>
        <p:nvSpPr>
          <p:cNvPr id="14" name="Rectangle 13">
            <a:extLst>
              <a:ext uri="{FF2B5EF4-FFF2-40B4-BE49-F238E27FC236}">
                <a16:creationId xmlns:a16="http://schemas.microsoft.com/office/drawing/2014/main" id="{3A6D8D29-0815-5CCD-9F24-A5B3F6B16BA6}"/>
              </a:ext>
            </a:extLst>
          </p:cNvPr>
          <p:cNvSpPr/>
          <p:nvPr/>
        </p:nvSpPr>
        <p:spPr>
          <a:xfrm>
            <a:off x="1630000" y="3555898"/>
            <a:ext cx="5136560" cy="265331"/>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15" name="Connector: Elbow 14">
            <a:extLst>
              <a:ext uri="{FF2B5EF4-FFF2-40B4-BE49-F238E27FC236}">
                <a16:creationId xmlns:a16="http://schemas.microsoft.com/office/drawing/2014/main" id="{103E2CFB-70FD-7F26-9BEA-4399B1776EDA}"/>
              </a:ext>
            </a:extLst>
          </p:cNvPr>
          <p:cNvCxnSpPr>
            <a:stCxn id="14" idx="2"/>
            <a:endCxn id="13" idx="1"/>
          </p:cNvCxnSpPr>
          <p:nvPr/>
        </p:nvCxnSpPr>
        <p:spPr>
          <a:xfrm rot="16200000" flipH="1">
            <a:off x="5688184" y="2331324"/>
            <a:ext cx="245177" cy="3224985"/>
          </a:xfrm>
          <a:prstGeom prst="bentConnector2">
            <a:avLst/>
          </a:prstGeom>
          <a:ln w="12700">
            <a:solidFill>
              <a:srgbClr val="316300"/>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descr="Graphical user interface, text, application&#10;&#10;Description automatically generated">
            <a:extLst>
              <a:ext uri="{FF2B5EF4-FFF2-40B4-BE49-F238E27FC236}">
                <a16:creationId xmlns:a16="http://schemas.microsoft.com/office/drawing/2014/main" id="{9A404308-1A7E-3E78-271A-14EF69090AD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75082" y="5082652"/>
            <a:ext cx="2457450" cy="971550"/>
          </a:xfrm>
          <a:prstGeom prst="rect">
            <a:avLst/>
          </a:prstGeom>
          <a:ln w="28575">
            <a:solidFill>
              <a:srgbClr val="316300"/>
            </a:solidFill>
          </a:ln>
        </p:spPr>
      </p:pic>
      <p:sp>
        <p:nvSpPr>
          <p:cNvPr id="18" name="Rectangle 17">
            <a:extLst>
              <a:ext uri="{FF2B5EF4-FFF2-40B4-BE49-F238E27FC236}">
                <a16:creationId xmlns:a16="http://schemas.microsoft.com/office/drawing/2014/main" id="{7A911687-67AE-07C0-5B5D-0A8A5C32677C}"/>
              </a:ext>
            </a:extLst>
          </p:cNvPr>
          <p:cNvSpPr/>
          <p:nvPr/>
        </p:nvSpPr>
        <p:spPr>
          <a:xfrm>
            <a:off x="1617299" y="4311464"/>
            <a:ext cx="3974090" cy="263113"/>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19" name="Connector: Elbow 18">
            <a:extLst>
              <a:ext uri="{FF2B5EF4-FFF2-40B4-BE49-F238E27FC236}">
                <a16:creationId xmlns:a16="http://schemas.microsoft.com/office/drawing/2014/main" id="{1BA40441-F283-FDA1-8A42-B5B133E664F3}"/>
              </a:ext>
            </a:extLst>
          </p:cNvPr>
          <p:cNvCxnSpPr>
            <a:cxnSpLocks/>
          </p:cNvCxnSpPr>
          <p:nvPr/>
        </p:nvCxnSpPr>
        <p:spPr>
          <a:xfrm>
            <a:off x="3489024" y="4597986"/>
            <a:ext cx="4086058" cy="970441"/>
          </a:xfrm>
          <a:prstGeom prst="bentConnector3">
            <a:avLst>
              <a:gd name="adj1" fmla="val 50000"/>
            </a:avLst>
          </a:prstGeom>
          <a:ln w="12700">
            <a:solidFill>
              <a:srgbClr val="3163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E5AFFE6-082C-5C1E-A139-5516ED250D71}"/>
              </a:ext>
            </a:extLst>
          </p:cNvPr>
          <p:cNvSpPr/>
          <p:nvPr/>
        </p:nvSpPr>
        <p:spPr>
          <a:xfrm>
            <a:off x="2677827" y="6185311"/>
            <a:ext cx="6843412" cy="523220"/>
          </a:xfrm>
          <a:prstGeom prst="rect">
            <a:avLst/>
          </a:prstGeom>
          <a:noFill/>
        </p:spPr>
        <p:txBody>
          <a:bodyPr wrap="none" lIns="91440" tIns="45720" rIns="91440" bIns="45720">
            <a:spAutoFit/>
          </a:bodyPr>
          <a:lstStyle/>
          <a:p>
            <a:pPr algn="ctr"/>
            <a:r>
              <a:rPr lang="da-DK" sz="2800" b="0" cap="none" spc="0">
                <a:ln w="0"/>
                <a:solidFill>
                  <a:srgbClr val="004B7F"/>
                </a:solidFill>
                <a:effectLst>
                  <a:outerShdw blurRad="38100" dist="19050" dir="2700000" algn="tl" rotWithShape="0">
                    <a:schemeClr val="dk1">
                      <a:alpha val="40000"/>
                    </a:schemeClr>
                  </a:outerShdw>
                </a:effectLst>
              </a:rPr>
              <a:t>A</a:t>
            </a:r>
            <a:r>
              <a:rPr lang="en-150" sz="2800" b="0" cap="none" spc="0">
                <a:ln w="0"/>
                <a:solidFill>
                  <a:srgbClr val="004B7F"/>
                </a:solidFill>
                <a:effectLst>
                  <a:outerShdw blurRad="38100" dist="19050" dir="2700000" algn="tl" rotWithShape="0">
                    <a:schemeClr val="dk1">
                      <a:alpha val="40000"/>
                    </a:schemeClr>
                  </a:outerShdw>
                </a:effectLst>
              </a:rPr>
              <a:t>dditional information in reporting guidelines</a:t>
            </a:r>
            <a:endParaRPr lang="en-US" sz="2800" b="0" cap="none" spc="0">
              <a:ln w="0"/>
              <a:solidFill>
                <a:srgbClr val="004B7F"/>
              </a:solidFill>
              <a:effectLst>
                <a:outerShdw blurRad="38100" dist="19050" dir="2700000" algn="tl" rotWithShape="0">
                  <a:schemeClr val="dk1">
                    <a:alpha val="40000"/>
                  </a:schemeClr>
                </a:outerShdw>
              </a:effectLst>
            </a:endParaRPr>
          </a:p>
        </p:txBody>
      </p:sp>
      <p:sp>
        <p:nvSpPr>
          <p:cNvPr id="22" name="TextBox 21">
            <a:extLst>
              <a:ext uri="{FF2B5EF4-FFF2-40B4-BE49-F238E27FC236}">
                <a16:creationId xmlns:a16="http://schemas.microsoft.com/office/drawing/2014/main" id="{CB65BCEA-4316-5A80-EE80-0D0652E5B25D}"/>
              </a:ext>
            </a:extLst>
          </p:cNvPr>
          <p:cNvSpPr txBox="1"/>
          <p:nvPr/>
        </p:nvSpPr>
        <p:spPr>
          <a:xfrm>
            <a:off x="34100" y="150355"/>
            <a:ext cx="1621155" cy="1200329"/>
          </a:xfrm>
          <a:prstGeom prst="rect">
            <a:avLst/>
          </a:prstGeom>
          <a:noFill/>
        </p:spPr>
        <p:txBody>
          <a:bodyPr wrap="square" rtlCol="0">
            <a:spAutoFit/>
          </a:bodyPr>
          <a:lstStyle/>
          <a:p>
            <a:r>
              <a:rPr lang="en-US" sz="2400">
                <a:solidFill>
                  <a:srgbClr val="002060"/>
                </a:solidFill>
              </a:rPr>
              <a:t>KEY AFFECTED SECTORS  </a:t>
            </a:r>
            <a:endParaRPr lang="en-DK" sz="2400">
              <a:solidFill>
                <a:srgbClr val="002060"/>
              </a:solidFill>
            </a:endParaRPr>
          </a:p>
        </p:txBody>
      </p:sp>
    </p:spTree>
    <p:extLst>
      <p:ext uri="{BB962C8B-B14F-4D97-AF65-F5344CB8AC3E}">
        <p14:creationId xmlns:p14="http://schemas.microsoft.com/office/powerpoint/2010/main" val="1706611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F99166-D65E-F2F6-6288-3DD8FEE2EFCB}"/>
              </a:ext>
            </a:extLst>
          </p:cNvPr>
          <p:cNvPicPr>
            <a:picLocks noChangeAspect="1"/>
          </p:cNvPicPr>
          <p:nvPr/>
        </p:nvPicPr>
        <p:blipFill>
          <a:blip r:embed="rId3"/>
          <a:stretch>
            <a:fillRect/>
          </a:stretch>
        </p:blipFill>
        <p:spPr>
          <a:xfrm>
            <a:off x="2647468" y="47153"/>
            <a:ext cx="6897063" cy="6763694"/>
          </a:xfrm>
          <a:prstGeom prst="rect">
            <a:avLst/>
          </a:prstGeom>
        </p:spPr>
      </p:pic>
      <p:pic>
        <p:nvPicPr>
          <p:cNvPr id="4" name="Picture 3" descr="A logo with a black background&#10;&#10;Description automatically generated">
            <a:extLst>
              <a:ext uri="{FF2B5EF4-FFF2-40B4-BE49-F238E27FC236}">
                <a16:creationId xmlns:a16="http://schemas.microsoft.com/office/drawing/2014/main" id="{A63E54C2-A17F-B624-B54C-3AC4EF82619C}"/>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2E571BFF-C611-27A0-BBA3-24E81F6F6B8F}"/>
              </a:ext>
            </a:extLst>
          </p:cNvPr>
          <p:cNvSpPr txBox="1"/>
          <p:nvPr/>
        </p:nvSpPr>
        <p:spPr>
          <a:xfrm>
            <a:off x="243117" y="217030"/>
            <a:ext cx="2451925" cy="830997"/>
          </a:xfrm>
          <a:prstGeom prst="rect">
            <a:avLst/>
          </a:prstGeom>
          <a:noFill/>
        </p:spPr>
        <p:txBody>
          <a:bodyPr wrap="square" rtlCol="0">
            <a:spAutoFit/>
          </a:bodyPr>
          <a:lstStyle/>
          <a:p>
            <a:r>
              <a:rPr lang="en-US" sz="2400">
                <a:solidFill>
                  <a:srgbClr val="002060"/>
                </a:solidFill>
              </a:rPr>
              <a:t>KEY AFFECTED SECTORS  </a:t>
            </a:r>
            <a:endParaRPr lang="en-DK" sz="2400">
              <a:solidFill>
                <a:srgbClr val="002060"/>
              </a:solidFill>
            </a:endParaRPr>
          </a:p>
        </p:txBody>
      </p:sp>
    </p:spTree>
    <p:extLst>
      <p:ext uri="{BB962C8B-B14F-4D97-AF65-F5344CB8AC3E}">
        <p14:creationId xmlns:p14="http://schemas.microsoft.com/office/powerpoint/2010/main" val="7304512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8952BE-556D-216D-0880-B0058B0F9994}"/>
              </a:ext>
            </a:extLst>
          </p:cNvPr>
          <p:cNvSpPr txBox="1"/>
          <p:nvPr/>
        </p:nvSpPr>
        <p:spPr>
          <a:xfrm>
            <a:off x="388620" y="335280"/>
            <a:ext cx="5608320" cy="461665"/>
          </a:xfrm>
          <a:prstGeom prst="rect">
            <a:avLst/>
          </a:prstGeom>
          <a:noFill/>
        </p:spPr>
        <p:txBody>
          <a:bodyPr wrap="square" rtlCol="0">
            <a:spAutoFit/>
          </a:bodyPr>
          <a:lstStyle/>
          <a:p>
            <a:r>
              <a:rPr lang="en-US" sz="2400">
                <a:solidFill>
                  <a:srgbClr val="002060"/>
                </a:solidFill>
              </a:rPr>
              <a:t>LEGAL AND POLICIES (1)</a:t>
            </a:r>
            <a:endParaRPr lang="en-DK" sz="2400">
              <a:solidFill>
                <a:srgbClr val="002060"/>
              </a:solidFill>
            </a:endParaRPr>
          </a:p>
        </p:txBody>
      </p:sp>
      <p:pic>
        <p:nvPicPr>
          <p:cNvPr id="3" name="Picture 2" descr="Graphical user interface, application, Teams&#10;&#10;Description automatically generated">
            <a:extLst>
              <a:ext uri="{FF2B5EF4-FFF2-40B4-BE49-F238E27FC236}">
                <a16:creationId xmlns:a16="http://schemas.microsoft.com/office/drawing/2014/main" id="{57318E42-5B20-773C-9883-E9B0D1AFC1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9543" y="0"/>
            <a:ext cx="5349238" cy="6858000"/>
          </a:xfrm>
          <a:prstGeom prst="rect">
            <a:avLst/>
          </a:prstGeom>
        </p:spPr>
      </p:pic>
      <p:pic>
        <p:nvPicPr>
          <p:cNvPr id="4" name="Picture 3" descr="A logo with a black background&#10;&#10;Description automatically generated">
            <a:extLst>
              <a:ext uri="{FF2B5EF4-FFF2-40B4-BE49-F238E27FC236}">
                <a16:creationId xmlns:a16="http://schemas.microsoft.com/office/drawing/2014/main" id="{A9C4B8F8-4455-68CD-9B9F-5F417D89DF5C}"/>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352C9D46-4C51-CDA2-0ECD-0BBC6CE34242}"/>
              </a:ext>
            </a:extLst>
          </p:cNvPr>
          <p:cNvSpPr txBox="1"/>
          <p:nvPr/>
        </p:nvSpPr>
        <p:spPr>
          <a:xfrm>
            <a:off x="144780" y="1132225"/>
            <a:ext cx="5064763" cy="3970318"/>
          </a:xfrm>
          <a:prstGeom prst="rect">
            <a:avLst/>
          </a:prstGeom>
          <a:noFill/>
        </p:spPr>
        <p:txBody>
          <a:bodyPr wrap="square">
            <a:spAutoFit/>
          </a:bodyPr>
          <a:lstStyle/>
          <a:p>
            <a:pPr marL="285750" indent="-285750">
              <a:buFont typeface="Arial" panose="020B0604020202020204" pitchFamily="34" charset="0"/>
              <a:buChar char="•"/>
            </a:pPr>
            <a:r>
              <a:rPr lang="en-US" b="0" i="0">
                <a:effectLst/>
              </a:rPr>
              <a:t>Legal and policy frameworks and regulations</a:t>
            </a:r>
          </a:p>
          <a:p>
            <a:pPr marL="285750" indent="-285750">
              <a:buFont typeface="Arial" panose="020B0604020202020204" pitchFamily="34" charset="0"/>
              <a:buChar char="•"/>
            </a:pPr>
            <a:r>
              <a:rPr lang="en-US" b="0" i="0">
                <a:effectLst/>
              </a:rPr>
              <a:t>National adaptation policies</a:t>
            </a:r>
          </a:p>
          <a:p>
            <a:pPr marL="285750" indent="-285750">
              <a:buFont typeface="Arial" panose="020B0604020202020204" pitchFamily="34" charset="0"/>
              <a:buChar char="•"/>
            </a:pPr>
            <a:r>
              <a:rPr lang="en-US" b="0" i="0">
                <a:effectLst/>
              </a:rPr>
              <a:t>Climate vulnerability and risk assessment </a:t>
            </a:r>
            <a:endParaRPr lang="en-US"/>
          </a:p>
          <a:p>
            <a:pPr marL="285750" indent="-285750">
              <a:buFont typeface="Arial" panose="020B0604020202020204" pitchFamily="34" charset="0"/>
              <a:buChar char="•"/>
            </a:pPr>
            <a:r>
              <a:rPr lang="en-US" b="0" i="0">
                <a:effectLst/>
              </a:rPr>
              <a:t>Planning, implementation, monitoring, evaluation and revision of adaptation policy</a:t>
            </a:r>
          </a:p>
          <a:p>
            <a:pPr marL="285750" indent="-285750">
              <a:buFont typeface="Arial" panose="020B0604020202020204" pitchFamily="34" charset="0"/>
              <a:buChar char="•"/>
            </a:pPr>
            <a:r>
              <a:rPr lang="en-US" b="0" i="0">
                <a:effectLst/>
              </a:rPr>
              <a:t>Integration of climate change impacts and resilience into environmental assessment procedures</a:t>
            </a:r>
            <a:endParaRPr lang="en-US"/>
          </a:p>
          <a:p>
            <a:pPr marL="285750" indent="-285750">
              <a:buFont typeface="Arial" panose="020B0604020202020204" pitchFamily="34" charset="0"/>
              <a:buChar char="•"/>
            </a:pPr>
            <a:r>
              <a:rPr lang="en-US" b="0" i="0">
                <a:effectLst/>
              </a:rPr>
              <a:t>Collection, ownership and re-use of relevant data and access to it</a:t>
            </a:r>
          </a:p>
          <a:p>
            <a:pPr marL="285750" indent="-285750">
              <a:buFont typeface="Arial" panose="020B0604020202020204" pitchFamily="34" charset="0"/>
              <a:buChar char="•"/>
            </a:pPr>
            <a:r>
              <a:rPr lang="en-US" b="0" i="0">
                <a:effectLst/>
              </a:rPr>
              <a:t>Integration of climate change impacts and adaptation planning into disaster risk management frameworks</a:t>
            </a:r>
          </a:p>
          <a:p>
            <a:pPr marL="285750" indent="-285750">
              <a:buFont typeface="Arial" panose="020B0604020202020204" pitchFamily="34" charset="0"/>
              <a:buChar char="•"/>
            </a:pPr>
            <a:endParaRPr lang="en-DK"/>
          </a:p>
        </p:txBody>
      </p:sp>
    </p:spTree>
    <p:extLst>
      <p:ext uri="{BB962C8B-B14F-4D97-AF65-F5344CB8AC3E}">
        <p14:creationId xmlns:p14="http://schemas.microsoft.com/office/powerpoint/2010/main" val="707763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5C825501-F5E4-2B47-7D48-D4A62F7A4B38}"/>
              </a:ext>
            </a:extLst>
          </p:cNvPr>
          <p:cNvPicPr>
            <a:picLocks noChangeAspect="1"/>
          </p:cNvPicPr>
          <p:nvPr/>
        </p:nvPicPr>
        <p:blipFill>
          <a:blip r:embed="rId3"/>
          <a:stretch>
            <a:fillRect/>
          </a:stretch>
        </p:blipFill>
        <p:spPr>
          <a:xfrm>
            <a:off x="3493946" y="0"/>
            <a:ext cx="7257736" cy="6858000"/>
          </a:xfrm>
          <a:prstGeom prst="rect">
            <a:avLst/>
          </a:prstGeom>
        </p:spPr>
      </p:pic>
      <p:sp>
        <p:nvSpPr>
          <p:cNvPr id="2" name="TextBox 1">
            <a:extLst>
              <a:ext uri="{FF2B5EF4-FFF2-40B4-BE49-F238E27FC236}">
                <a16:creationId xmlns:a16="http://schemas.microsoft.com/office/drawing/2014/main" id="{7F2FE241-AA5D-C8E5-9DA0-3E40FB453B1E}"/>
              </a:ext>
            </a:extLst>
          </p:cNvPr>
          <p:cNvSpPr txBox="1"/>
          <p:nvPr/>
        </p:nvSpPr>
        <p:spPr>
          <a:xfrm>
            <a:off x="124816" y="335280"/>
            <a:ext cx="5608320" cy="830997"/>
          </a:xfrm>
          <a:prstGeom prst="rect">
            <a:avLst/>
          </a:prstGeom>
          <a:noFill/>
        </p:spPr>
        <p:txBody>
          <a:bodyPr wrap="square" rtlCol="0">
            <a:spAutoFit/>
          </a:bodyPr>
          <a:lstStyle/>
          <a:p>
            <a:r>
              <a:rPr lang="en-US" sz="2400">
                <a:solidFill>
                  <a:srgbClr val="002060"/>
                </a:solidFill>
              </a:rPr>
              <a:t>LEGAL AND POLICIES </a:t>
            </a:r>
            <a:r>
              <a:rPr lang="en-150" sz="2400">
                <a:solidFill>
                  <a:srgbClr val="002060"/>
                </a:solidFill>
              </a:rPr>
              <a:t>(2)</a:t>
            </a:r>
            <a:endParaRPr lang="en-GB" sz="2400">
              <a:solidFill>
                <a:srgbClr val="002060"/>
              </a:solidFill>
            </a:endParaRPr>
          </a:p>
          <a:p>
            <a:r>
              <a:rPr lang="en-GB" sz="2400">
                <a:solidFill>
                  <a:srgbClr val="002060"/>
                </a:solidFill>
              </a:rPr>
              <a:t>POLICY TABLE</a:t>
            </a:r>
            <a:r>
              <a:rPr lang="en-US" sz="2400">
                <a:solidFill>
                  <a:srgbClr val="002060"/>
                </a:solidFill>
              </a:rPr>
              <a:t>  </a:t>
            </a:r>
            <a:endParaRPr lang="en-DK" sz="2400">
              <a:solidFill>
                <a:srgbClr val="002060"/>
              </a:solidFill>
            </a:endParaRPr>
          </a:p>
        </p:txBody>
      </p:sp>
      <p:pic>
        <p:nvPicPr>
          <p:cNvPr id="4" name="Picture 3" descr="Graphical user interface, text, application&#10;&#10;Description automatically generated">
            <a:extLst>
              <a:ext uri="{FF2B5EF4-FFF2-40B4-BE49-F238E27FC236}">
                <a16:creationId xmlns:a16="http://schemas.microsoft.com/office/drawing/2014/main" id="{68B79B4F-6D65-B318-69D9-405EE0F173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85160" y="5302257"/>
            <a:ext cx="1263650" cy="647700"/>
          </a:xfrm>
          <a:prstGeom prst="rect">
            <a:avLst/>
          </a:prstGeom>
          <a:ln w="28575">
            <a:solidFill>
              <a:srgbClr val="316300"/>
            </a:solidFill>
          </a:ln>
        </p:spPr>
      </p:pic>
      <p:pic>
        <p:nvPicPr>
          <p:cNvPr id="6" name="Picture 5" descr="Graphical user interface, text, application, email&#10;&#10;Description automatically generated">
            <a:extLst>
              <a:ext uri="{FF2B5EF4-FFF2-40B4-BE49-F238E27FC236}">
                <a16:creationId xmlns:a16="http://schemas.microsoft.com/office/drawing/2014/main" id="{D42F4B1F-FED6-9D13-8F4A-6C9D9ABE8CD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28792" y="148521"/>
            <a:ext cx="1714500" cy="1676400"/>
          </a:xfrm>
          <a:prstGeom prst="rect">
            <a:avLst/>
          </a:prstGeom>
          <a:ln w="28575">
            <a:solidFill>
              <a:srgbClr val="316300"/>
            </a:solidFill>
          </a:ln>
        </p:spPr>
      </p:pic>
      <p:sp>
        <p:nvSpPr>
          <p:cNvPr id="9" name="Oval 8">
            <a:extLst>
              <a:ext uri="{FF2B5EF4-FFF2-40B4-BE49-F238E27FC236}">
                <a16:creationId xmlns:a16="http://schemas.microsoft.com/office/drawing/2014/main" id="{696F04D5-D4B4-E75C-C035-DA2165211455}"/>
              </a:ext>
            </a:extLst>
          </p:cNvPr>
          <p:cNvSpPr/>
          <p:nvPr/>
        </p:nvSpPr>
        <p:spPr>
          <a:xfrm>
            <a:off x="3493946" y="625421"/>
            <a:ext cx="1260629" cy="374934"/>
          </a:xfrm>
          <a:prstGeom prst="ellipse">
            <a:avLst/>
          </a:prstGeom>
          <a:noFill/>
          <a:ln w="28575">
            <a:solidFill>
              <a:srgbClr val="004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10" name="Oval 9">
            <a:extLst>
              <a:ext uri="{FF2B5EF4-FFF2-40B4-BE49-F238E27FC236}">
                <a16:creationId xmlns:a16="http://schemas.microsoft.com/office/drawing/2014/main" id="{321006FC-84DB-AC58-5E33-C0418F491090}"/>
              </a:ext>
            </a:extLst>
          </p:cNvPr>
          <p:cNvSpPr/>
          <p:nvPr/>
        </p:nvSpPr>
        <p:spPr>
          <a:xfrm>
            <a:off x="3525799" y="3300291"/>
            <a:ext cx="1260629" cy="374934"/>
          </a:xfrm>
          <a:prstGeom prst="ellipse">
            <a:avLst/>
          </a:prstGeom>
          <a:noFill/>
          <a:ln w="28575">
            <a:solidFill>
              <a:srgbClr val="004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14" name="Connector: Elbow 13">
            <a:extLst>
              <a:ext uri="{FF2B5EF4-FFF2-40B4-BE49-F238E27FC236}">
                <a16:creationId xmlns:a16="http://schemas.microsoft.com/office/drawing/2014/main" id="{0B15B197-E839-2717-040B-D4D7EF85D620}"/>
              </a:ext>
            </a:extLst>
          </p:cNvPr>
          <p:cNvCxnSpPr>
            <a:stCxn id="9" idx="6"/>
            <a:endCxn id="6" idx="1"/>
          </p:cNvCxnSpPr>
          <p:nvPr/>
        </p:nvCxnSpPr>
        <p:spPr>
          <a:xfrm>
            <a:off x="4754575" y="812888"/>
            <a:ext cx="3674217" cy="173833"/>
          </a:xfrm>
          <a:prstGeom prst="bentConnector3">
            <a:avLst/>
          </a:prstGeom>
          <a:ln w="19050">
            <a:solidFill>
              <a:srgbClr val="3163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73976BE4-3A38-599B-D34E-132A82F5FE5F}"/>
              </a:ext>
            </a:extLst>
          </p:cNvPr>
          <p:cNvSpPr/>
          <p:nvPr/>
        </p:nvSpPr>
        <p:spPr>
          <a:xfrm>
            <a:off x="3493946" y="3950308"/>
            <a:ext cx="1917576" cy="248643"/>
          </a:xfrm>
          <a:prstGeom prst="roundRect">
            <a:avLst/>
          </a:prstGeom>
          <a:noFill/>
          <a:ln w="19050">
            <a:solidFill>
              <a:srgbClr val="004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19" name="Straight Arrow Connector 18">
            <a:extLst>
              <a:ext uri="{FF2B5EF4-FFF2-40B4-BE49-F238E27FC236}">
                <a16:creationId xmlns:a16="http://schemas.microsoft.com/office/drawing/2014/main" id="{F19E479D-8D23-E6AF-F41F-AEC9C0238865}"/>
              </a:ext>
            </a:extLst>
          </p:cNvPr>
          <p:cNvCxnSpPr>
            <a:cxnSpLocks/>
            <a:stCxn id="10" idx="6"/>
          </p:cNvCxnSpPr>
          <p:nvPr/>
        </p:nvCxnSpPr>
        <p:spPr>
          <a:xfrm flipV="1">
            <a:off x="4786428" y="3453162"/>
            <a:ext cx="3276624" cy="34596"/>
          </a:xfrm>
          <a:prstGeom prst="straightConnector1">
            <a:avLst/>
          </a:prstGeom>
          <a:ln w="19050">
            <a:solidFill>
              <a:srgbClr val="004B7F"/>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FE1459F-A122-932A-D258-C9D6A404C27D}"/>
              </a:ext>
            </a:extLst>
          </p:cNvPr>
          <p:cNvCxnSpPr/>
          <p:nvPr/>
        </p:nvCxnSpPr>
        <p:spPr>
          <a:xfrm>
            <a:off x="3493946" y="4648979"/>
            <a:ext cx="5001309" cy="0"/>
          </a:xfrm>
          <a:prstGeom prst="line">
            <a:avLst/>
          </a:prstGeom>
          <a:ln w="38100">
            <a:solidFill>
              <a:srgbClr val="316300"/>
            </a:solidFill>
            <a:prstDash val="sysDot"/>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BC029073-BD93-7BFE-52BA-F66A4169E8A0}"/>
              </a:ext>
            </a:extLst>
          </p:cNvPr>
          <p:cNvSpPr/>
          <p:nvPr/>
        </p:nvSpPr>
        <p:spPr>
          <a:xfrm>
            <a:off x="3613212" y="6245466"/>
            <a:ext cx="1331650" cy="205714"/>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27" name="Connector: Elbow 26">
            <a:extLst>
              <a:ext uri="{FF2B5EF4-FFF2-40B4-BE49-F238E27FC236}">
                <a16:creationId xmlns:a16="http://schemas.microsoft.com/office/drawing/2014/main" id="{322DE52A-8BC8-63E5-D9E0-C3A6B6761409}"/>
              </a:ext>
            </a:extLst>
          </p:cNvPr>
          <p:cNvCxnSpPr>
            <a:stCxn id="25" idx="3"/>
            <a:endCxn id="4" idx="1"/>
          </p:cNvCxnSpPr>
          <p:nvPr/>
        </p:nvCxnSpPr>
        <p:spPr>
          <a:xfrm flipV="1">
            <a:off x="4944862" y="5626107"/>
            <a:ext cx="4340298" cy="722216"/>
          </a:xfrm>
          <a:prstGeom prst="bentConnector3">
            <a:avLst/>
          </a:prstGeom>
          <a:ln w="12700">
            <a:solidFill>
              <a:srgbClr val="316300"/>
            </a:solidFill>
            <a:tailEnd type="triangle"/>
          </a:ln>
        </p:spPr>
        <p:style>
          <a:lnRef idx="1">
            <a:schemeClr val="accent1"/>
          </a:lnRef>
          <a:fillRef idx="0">
            <a:schemeClr val="accent1"/>
          </a:fillRef>
          <a:effectRef idx="0">
            <a:schemeClr val="accent1"/>
          </a:effectRef>
          <a:fontRef idx="minor">
            <a:schemeClr val="tx1"/>
          </a:fontRef>
        </p:style>
      </p:cxnSp>
      <p:sp>
        <p:nvSpPr>
          <p:cNvPr id="28" name="Arrow: Up 27">
            <a:extLst>
              <a:ext uri="{FF2B5EF4-FFF2-40B4-BE49-F238E27FC236}">
                <a16:creationId xmlns:a16="http://schemas.microsoft.com/office/drawing/2014/main" id="{A20F9A87-F98F-6F68-6A38-1BA791B5C5E7}"/>
              </a:ext>
            </a:extLst>
          </p:cNvPr>
          <p:cNvSpPr/>
          <p:nvPr/>
        </p:nvSpPr>
        <p:spPr>
          <a:xfrm>
            <a:off x="3165671" y="3429000"/>
            <a:ext cx="140245" cy="988618"/>
          </a:xfrm>
          <a:prstGeom prst="upArrow">
            <a:avLst/>
          </a:prstGeom>
          <a:solidFill>
            <a:srgbClr val="316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29" name="Arrow: Up 28">
            <a:extLst>
              <a:ext uri="{FF2B5EF4-FFF2-40B4-BE49-F238E27FC236}">
                <a16:creationId xmlns:a16="http://schemas.microsoft.com/office/drawing/2014/main" id="{FB5185C5-D876-2A1C-5E3A-9A78E24BB98E}"/>
              </a:ext>
            </a:extLst>
          </p:cNvPr>
          <p:cNvSpPr/>
          <p:nvPr/>
        </p:nvSpPr>
        <p:spPr>
          <a:xfrm rot="10800000">
            <a:off x="3165672" y="4801026"/>
            <a:ext cx="125402" cy="381706"/>
          </a:xfrm>
          <a:prstGeom prst="upArrow">
            <a:avLst/>
          </a:prstGeom>
          <a:solidFill>
            <a:srgbClr val="3163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0" name="Rectangle 29">
            <a:extLst>
              <a:ext uri="{FF2B5EF4-FFF2-40B4-BE49-F238E27FC236}">
                <a16:creationId xmlns:a16="http://schemas.microsoft.com/office/drawing/2014/main" id="{1FE96A3D-47E7-96D2-A837-C8DA86C95FE4}"/>
              </a:ext>
            </a:extLst>
          </p:cNvPr>
          <p:cNvSpPr/>
          <p:nvPr/>
        </p:nvSpPr>
        <p:spPr>
          <a:xfrm>
            <a:off x="0" y="4130193"/>
            <a:ext cx="3019481" cy="400110"/>
          </a:xfrm>
          <a:prstGeom prst="rect">
            <a:avLst/>
          </a:prstGeom>
          <a:noFill/>
        </p:spPr>
        <p:txBody>
          <a:bodyPr wrap="none" lIns="91440" tIns="45720" rIns="91440" bIns="45720">
            <a:spAutoFit/>
          </a:bodyPr>
          <a:lstStyle/>
          <a:p>
            <a:pPr algn="ctr"/>
            <a:r>
              <a:rPr lang="da-DK" sz="2000" b="0" cap="none" spc="0">
                <a:ln w="0"/>
                <a:solidFill>
                  <a:srgbClr val="316300"/>
                </a:solidFill>
                <a:effectLst>
                  <a:outerShdw blurRad="38100" dist="19050" dir="2700000" algn="tl" rotWithShape="0">
                    <a:schemeClr val="dk1">
                      <a:alpha val="40000"/>
                    </a:schemeClr>
                  </a:outerShdw>
                </a:effectLst>
              </a:rPr>
              <a:t>M</a:t>
            </a:r>
            <a:r>
              <a:rPr lang="en-150" sz="2000" b="0" cap="none" spc="0">
                <a:ln w="0"/>
                <a:solidFill>
                  <a:srgbClr val="316300"/>
                </a:solidFill>
                <a:effectLst>
                  <a:outerShdw blurRad="38100" dist="19050" dir="2700000" algn="tl" rotWithShape="0">
                    <a:schemeClr val="dk1">
                      <a:alpha val="40000"/>
                    </a:schemeClr>
                  </a:outerShdw>
                </a:effectLst>
              </a:rPr>
              <a:t>andatory and conditional</a:t>
            </a:r>
            <a:endParaRPr lang="en-US" sz="2000" b="0" cap="none" spc="0">
              <a:ln w="0"/>
              <a:solidFill>
                <a:srgbClr val="316300"/>
              </a:solidFill>
              <a:effectLst>
                <a:outerShdw blurRad="38100" dist="19050" dir="2700000" algn="tl" rotWithShape="0">
                  <a:schemeClr val="dk1">
                    <a:alpha val="40000"/>
                  </a:schemeClr>
                </a:outerShdw>
              </a:effectLst>
            </a:endParaRPr>
          </a:p>
        </p:txBody>
      </p:sp>
      <p:sp>
        <p:nvSpPr>
          <p:cNvPr id="31" name="Rectangle 30">
            <a:extLst>
              <a:ext uri="{FF2B5EF4-FFF2-40B4-BE49-F238E27FC236}">
                <a16:creationId xmlns:a16="http://schemas.microsoft.com/office/drawing/2014/main" id="{29733D7E-CED8-1D35-07FD-495B58D17239}"/>
              </a:ext>
            </a:extLst>
          </p:cNvPr>
          <p:cNvSpPr/>
          <p:nvPr/>
        </p:nvSpPr>
        <p:spPr>
          <a:xfrm>
            <a:off x="1788456" y="4782622"/>
            <a:ext cx="1281945" cy="400110"/>
          </a:xfrm>
          <a:prstGeom prst="rect">
            <a:avLst/>
          </a:prstGeom>
          <a:noFill/>
        </p:spPr>
        <p:txBody>
          <a:bodyPr wrap="square" lIns="91440" tIns="45720" rIns="91440" bIns="45720">
            <a:spAutoFit/>
          </a:bodyPr>
          <a:lstStyle/>
          <a:p>
            <a:pPr algn="ctr"/>
            <a:r>
              <a:rPr lang="en-150" sz="2000" b="0" cap="none" spc="0">
                <a:ln w="0"/>
                <a:solidFill>
                  <a:srgbClr val="316300"/>
                </a:solidFill>
                <a:effectLst>
                  <a:outerShdw blurRad="38100" dist="19050" dir="2700000" algn="tl" rotWithShape="0">
                    <a:schemeClr val="dk1">
                      <a:alpha val="40000"/>
                    </a:schemeClr>
                  </a:outerShdw>
                </a:effectLst>
              </a:rPr>
              <a:t>Optional</a:t>
            </a:r>
            <a:endParaRPr lang="en-US" sz="2000" b="0" cap="none" spc="0">
              <a:ln w="0"/>
              <a:solidFill>
                <a:srgbClr val="316300"/>
              </a:solidFill>
              <a:effectLst>
                <a:outerShdw blurRad="38100" dist="19050" dir="2700000" algn="tl" rotWithShape="0">
                  <a:schemeClr val="dk1">
                    <a:alpha val="40000"/>
                  </a:schemeClr>
                </a:outerShdw>
              </a:effectLst>
            </a:endParaRPr>
          </a:p>
        </p:txBody>
      </p:sp>
      <p:pic>
        <p:nvPicPr>
          <p:cNvPr id="3" name="Picture 2" descr="A logo with a black background&#10;&#10;Description automatically generated">
            <a:extLst>
              <a:ext uri="{FF2B5EF4-FFF2-40B4-BE49-F238E27FC236}">
                <a16:creationId xmlns:a16="http://schemas.microsoft.com/office/drawing/2014/main" id="{BC82E8C0-9743-7AD6-DE6D-7C8B49DF90E7}"/>
              </a:ext>
            </a:extLst>
          </p:cNvPr>
          <p:cNvPicPr>
            <a:picLocks noChangeAspect="1"/>
          </p:cNvPicPr>
          <p:nvPr/>
        </p:nvPicPr>
        <p:blipFill rotWithShape="1">
          <a:blip r:embed="rId6">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
        <p:nvSpPr>
          <p:cNvPr id="5" name="Rectangle: Rounded Corners 4">
            <a:extLst>
              <a:ext uri="{FF2B5EF4-FFF2-40B4-BE49-F238E27FC236}">
                <a16:creationId xmlns:a16="http://schemas.microsoft.com/office/drawing/2014/main" id="{37243C0F-35B4-6756-C084-B9461FC8F1EA}"/>
              </a:ext>
            </a:extLst>
          </p:cNvPr>
          <p:cNvSpPr/>
          <p:nvPr/>
        </p:nvSpPr>
        <p:spPr>
          <a:xfrm>
            <a:off x="3493946" y="1266634"/>
            <a:ext cx="1917576" cy="248643"/>
          </a:xfrm>
          <a:prstGeom prst="roundRect">
            <a:avLst/>
          </a:prstGeom>
          <a:noFill/>
          <a:ln w="19050">
            <a:solidFill>
              <a:srgbClr val="004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pic>
        <p:nvPicPr>
          <p:cNvPr id="13" name="Picture 12">
            <a:extLst>
              <a:ext uri="{FF2B5EF4-FFF2-40B4-BE49-F238E27FC236}">
                <a16:creationId xmlns:a16="http://schemas.microsoft.com/office/drawing/2014/main" id="{C74242FB-EFD9-B50D-641B-F47414136C38}"/>
              </a:ext>
            </a:extLst>
          </p:cNvPr>
          <p:cNvPicPr>
            <a:picLocks noChangeAspect="1"/>
          </p:cNvPicPr>
          <p:nvPr/>
        </p:nvPicPr>
        <p:blipFill>
          <a:blip r:embed="rId7"/>
          <a:stretch>
            <a:fillRect/>
          </a:stretch>
        </p:blipFill>
        <p:spPr>
          <a:xfrm>
            <a:off x="8063052" y="2076963"/>
            <a:ext cx="1552059" cy="1459505"/>
          </a:xfrm>
          <a:prstGeom prst="rect">
            <a:avLst/>
          </a:prstGeom>
          <a:ln w="19050">
            <a:solidFill>
              <a:srgbClr val="002060"/>
            </a:solidFill>
          </a:ln>
        </p:spPr>
      </p:pic>
      <p:sp>
        <p:nvSpPr>
          <p:cNvPr id="34" name="Rectangle: Rounded Corners 33">
            <a:extLst>
              <a:ext uri="{FF2B5EF4-FFF2-40B4-BE49-F238E27FC236}">
                <a16:creationId xmlns:a16="http://schemas.microsoft.com/office/drawing/2014/main" id="{F62083A8-9B97-CB35-FF64-1A9AA5A38BC5}"/>
              </a:ext>
            </a:extLst>
          </p:cNvPr>
          <p:cNvSpPr/>
          <p:nvPr/>
        </p:nvSpPr>
        <p:spPr>
          <a:xfrm>
            <a:off x="3502123" y="2617647"/>
            <a:ext cx="1917576" cy="248643"/>
          </a:xfrm>
          <a:prstGeom prst="roundRect">
            <a:avLst/>
          </a:prstGeom>
          <a:noFill/>
          <a:ln w="19050">
            <a:solidFill>
              <a:srgbClr val="004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36" name="TextBox 35">
            <a:extLst>
              <a:ext uri="{FF2B5EF4-FFF2-40B4-BE49-F238E27FC236}">
                <a16:creationId xmlns:a16="http://schemas.microsoft.com/office/drawing/2014/main" id="{86D940DD-78A3-084A-146F-1A80D3FCC509}"/>
              </a:ext>
            </a:extLst>
          </p:cNvPr>
          <p:cNvSpPr txBox="1"/>
          <p:nvPr/>
        </p:nvSpPr>
        <p:spPr>
          <a:xfrm>
            <a:off x="199161" y="1284354"/>
            <a:ext cx="3106755" cy="1569660"/>
          </a:xfrm>
          <a:prstGeom prst="rect">
            <a:avLst/>
          </a:prstGeom>
          <a:noFill/>
        </p:spPr>
        <p:txBody>
          <a:bodyPr wrap="square">
            <a:spAutoFit/>
          </a:bodyPr>
          <a:lstStyle/>
          <a:p>
            <a:r>
              <a:rPr lang="en-US" sz="1600" b="0" i="0">
                <a:solidFill>
                  <a:srgbClr val="333333"/>
                </a:solidFill>
                <a:effectLst/>
              </a:rPr>
              <a:t>‘Member States </a:t>
            </a:r>
            <a:r>
              <a:rPr lang="en-US" sz="1600" b="0" i="0">
                <a:solidFill>
                  <a:schemeClr val="accent5">
                    <a:lumMod val="75000"/>
                  </a:schemeClr>
                </a:solidFill>
                <a:effectLst/>
              </a:rPr>
              <a:t>shall</a:t>
            </a:r>
            <a:r>
              <a:rPr lang="en-US" sz="1600" b="0" i="0">
                <a:solidFill>
                  <a:srgbClr val="333333"/>
                </a:solidFill>
                <a:effectLst/>
              </a:rPr>
              <a:t> report the title, year of adoption and status [superseded / adopted / completed and submitted for adoption / being developed] of each NAS and NAP.’</a:t>
            </a:r>
            <a:endParaRPr lang="en-DK" sz="1600"/>
          </a:p>
        </p:txBody>
      </p:sp>
    </p:spTree>
    <p:extLst>
      <p:ext uri="{BB962C8B-B14F-4D97-AF65-F5344CB8AC3E}">
        <p14:creationId xmlns:p14="http://schemas.microsoft.com/office/powerpoint/2010/main" val="11593538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B37481C-E5B8-C982-2F51-1250D3354603}"/>
              </a:ext>
            </a:extLst>
          </p:cNvPr>
          <p:cNvPicPr>
            <a:picLocks noChangeAspect="1"/>
          </p:cNvPicPr>
          <p:nvPr/>
        </p:nvPicPr>
        <p:blipFill>
          <a:blip r:embed="rId3"/>
          <a:stretch>
            <a:fillRect/>
          </a:stretch>
        </p:blipFill>
        <p:spPr>
          <a:xfrm>
            <a:off x="4687241" y="0"/>
            <a:ext cx="6035678" cy="6857999"/>
          </a:xfrm>
          <a:prstGeom prst="rect">
            <a:avLst/>
          </a:prstGeom>
        </p:spPr>
      </p:pic>
      <p:sp>
        <p:nvSpPr>
          <p:cNvPr id="2" name="TextBox 1">
            <a:extLst>
              <a:ext uri="{FF2B5EF4-FFF2-40B4-BE49-F238E27FC236}">
                <a16:creationId xmlns:a16="http://schemas.microsoft.com/office/drawing/2014/main" id="{237C8E61-A0A8-8BB2-2098-221774CF38B4}"/>
              </a:ext>
            </a:extLst>
          </p:cNvPr>
          <p:cNvSpPr txBox="1"/>
          <p:nvPr/>
        </p:nvSpPr>
        <p:spPr>
          <a:xfrm>
            <a:off x="388620" y="335280"/>
            <a:ext cx="5608320" cy="461665"/>
          </a:xfrm>
          <a:prstGeom prst="rect">
            <a:avLst/>
          </a:prstGeom>
          <a:noFill/>
        </p:spPr>
        <p:txBody>
          <a:bodyPr wrap="square" rtlCol="0">
            <a:spAutoFit/>
          </a:bodyPr>
          <a:lstStyle/>
          <a:p>
            <a:r>
              <a:rPr lang="en-US" sz="2400">
                <a:solidFill>
                  <a:srgbClr val="002060"/>
                </a:solidFill>
              </a:rPr>
              <a:t>STRATEGIES AND PLANS </a:t>
            </a:r>
            <a:r>
              <a:rPr lang="en-150" sz="2400">
                <a:solidFill>
                  <a:srgbClr val="002060"/>
                </a:solidFill>
              </a:rPr>
              <a:t>(1)</a:t>
            </a:r>
            <a:r>
              <a:rPr lang="en-US" sz="2400">
                <a:solidFill>
                  <a:srgbClr val="002060"/>
                </a:solidFill>
              </a:rPr>
              <a:t>   </a:t>
            </a:r>
            <a:endParaRPr lang="en-DK" sz="2400">
              <a:solidFill>
                <a:srgbClr val="002060"/>
              </a:solidFill>
            </a:endParaRPr>
          </a:p>
        </p:txBody>
      </p:sp>
      <p:sp>
        <p:nvSpPr>
          <p:cNvPr id="7" name="Rectangle: Rounded Corners 6">
            <a:extLst>
              <a:ext uri="{FF2B5EF4-FFF2-40B4-BE49-F238E27FC236}">
                <a16:creationId xmlns:a16="http://schemas.microsoft.com/office/drawing/2014/main" id="{EDA0803B-8341-5575-BC71-1292033A2266}"/>
              </a:ext>
            </a:extLst>
          </p:cNvPr>
          <p:cNvSpPr/>
          <p:nvPr/>
        </p:nvSpPr>
        <p:spPr>
          <a:xfrm flipV="1">
            <a:off x="4563091" y="3543589"/>
            <a:ext cx="3427749" cy="262526"/>
          </a:xfrm>
          <a:prstGeom prst="roundRect">
            <a:avLst/>
          </a:prstGeom>
          <a:noFill/>
          <a:ln w="19050">
            <a:solidFill>
              <a:srgbClr val="004B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10" name="Rectangle 9">
            <a:extLst>
              <a:ext uri="{FF2B5EF4-FFF2-40B4-BE49-F238E27FC236}">
                <a16:creationId xmlns:a16="http://schemas.microsoft.com/office/drawing/2014/main" id="{82C15A9E-9A7D-164B-4BA7-812477E35C18}"/>
              </a:ext>
            </a:extLst>
          </p:cNvPr>
          <p:cNvSpPr/>
          <p:nvPr/>
        </p:nvSpPr>
        <p:spPr>
          <a:xfrm>
            <a:off x="7875419" y="3429000"/>
            <a:ext cx="4164181" cy="461665"/>
          </a:xfrm>
          <a:prstGeom prst="rect">
            <a:avLst/>
          </a:prstGeom>
          <a:noFill/>
        </p:spPr>
        <p:txBody>
          <a:bodyPr wrap="square" lIns="91440" tIns="45720" rIns="91440" bIns="45720">
            <a:spAutoFit/>
          </a:bodyPr>
          <a:lstStyle/>
          <a:p>
            <a:pPr algn="ctr"/>
            <a:r>
              <a:rPr lang="da-DK" sz="2400" b="0" cap="none" spc="0">
                <a:ln w="0"/>
                <a:solidFill>
                  <a:srgbClr val="004B7F"/>
                </a:solidFill>
                <a:effectLst>
                  <a:outerShdw blurRad="38100" dist="19050" dir="2700000" algn="tl" rotWithShape="0">
                    <a:schemeClr val="dk1">
                      <a:alpha val="40000"/>
                    </a:schemeClr>
                  </a:outerShdw>
                </a:effectLst>
              </a:rPr>
              <a:t>K</a:t>
            </a:r>
            <a:r>
              <a:rPr lang="en-150" sz="2400" b="0" cap="none" spc="0">
                <a:ln w="0"/>
                <a:solidFill>
                  <a:srgbClr val="004B7F"/>
                </a:solidFill>
                <a:effectLst>
                  <a:outerShdw blurRad="38100" dist="19050" dir="2700000" algn="tl" rotWithShape="0">
                    <a:schemeClr val="dk1">
                      <a:alpha val="40000"/>
                    </a:schemeClr>
                  </a:outerShdw>
                </a:effectLst>
              </a:rPr>
              <a:t>ey type </a:t>
            </a:r>
            <a:r>
              <a:rPr lang="en-GB" sz="2400" b="0" cap="none" spc="0">
                <a:ln w="0"/>
                <a:solidFill>
                  <a:srgbClr val="004B7F"/>
                </a:solidFill>
                <a:effectLst>
                  <a:outerShdw blurRad="38100" dist="19050" dir="2700000" algn="tl" rotWithShape="0">
                    <a:schemeClr val="dk1">
                      <a:alpha val="40000"/>
                    </a:schemeClr>
                  </a:outerShdw>
                </a:effectLst>
              </a:rPr>
              <a:t>of </a:t>
            </a:r>
            <a:r>
              <a:rPr lang="en-150" sz="2400" b="0" cap="none" spc="0">
                <a:ln w="0"/>
                <a:solidFill>
                  <a:srgbClr val="004B7F"/>
                </a:solidFill>
                <a:effectLst>
                  <a:outerShdw blurRad="38100" dist="19050" dir="2700000" algn="tl" rotWithShape="0">
                    <a:schemeClr val="dk1">
                      <a:alpha val="40000"/>
                    </a:schemeClr>
                  </a:outerShdw>
                </a:effectLst>
              </a:rPr>
              <a:t>measures (KTMs)</a:t>
            </a:r>
            <a:endParaRPr lang="en-US" sz="2400" b="0" cap="none" spc="0">
              <a:ln w="0"/>
              <a:solidFill>
                <a:srgbClr val="004B7F"/>
              </a:solidFill>
              <a:effectLst>
                <a:outerShdw blurRad="38100" dist="19050" dir="2700000" algn="tl" rotWithShape="0">
                  <a:schemeClr val="dk1">
                    <a:alpha val="40000"/>
                  </a:schemeClr>
                </a:outerShdw>
              </a:effectLst>
            </a:endParaRPr>
          </a:p>
        </p:txBody>
      </p:sp>
      <p:pic>
        <p:nvPicPr>
          <p:cNvPr id="8" name="Picture 7" descr="A logo with a black background&#10;&#10;Description automatically generated">
            <a:extLst>
              <a:ext uri="{FF2B5EF4-FFF2-40B4-BE49-F238E27FC236}">
                <a16:creationId xmlns:a16="http://schemas.microsoft.com/office/drawing/2014/main" id="{7318CC33-1356-40A1-37CF-AB3368DCDE80}"/>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
        <p:nvSpPr>
          <p:cNvPr id="17" name="TextBox 16">
            <a:extLst>
              <a:ext uri="{FF2B5EF4-FFF2-40B4-BE49-F238E27FC236}">
                <a16:creationId xmlns:a16="http://schemas.microsoft.com/office/drawing/2014/main" id="{3B23C62A-E045-8F88-FEEC-AE8504645428}"/>
              </a:ext>
            </a:extLst>
          </p:cNvPr>
          <p:cNvSpPr txBox="1"/>
          <p:nvPr/>
        </p:nvSpPr>
        <p:spPr>
          <a:xfrm>
            <a:off x="180965" y="1144553"/>
            <a:ext cx="4382126" cy="8125301"/>
          </a:xfrm>
          <a:prstGeom prst="rect">
            <a:avLst/>
          </a:prstGeom>
          <a:noFill/>
        </p:spPr>
        <p:txBody>
          <a:bodyPr wrap="square">
            <a:spAutoFit/>
          </a:bodyPr>
          <a:lstStyle/>
          <a:p>
            <a:pPr marL="285750" indent="-285750">
              <a:buFont typeface="Arial" panose="020B0604020202020204" pitchFamily="34" charset="0"/>
              <a:buChar char="•"/>
            </a:pPr>
            <a:r>
              <a:rPr lang="fr-FR" b="0" i="0">
                <a:effectLst/>
                <a:latin typeface="Aptos" panose="020B0004020202020204" pitchFamily="34" charset="0"/>
              </a:rPr>
              <a:t>Adaptation </a:t>
            </a:r>
            <a:r>
              <a:rPr lang="fr-FR" b="0" i="0" err="1">
                <a:effectLst/>
                <a:latin typeface="Aptos" panose="020B0004020202020204" pitchFamily="34" charset="0"/>
              </a:rPr>
              <a:t>priorities</a:t>
            </a:r>
            <a:endParaRPr lang="fr-FR" b="0" i="0">
              <a:effectLst/>
              <a:latin typeface="Aptos" panose="020B0004020202020204" pitchFamily="34" charset="0"/>
            </a:endParaRPr>
          </a:p>
          <a:p>
            <a:pPr marL="285750" indent="-285750">
              <a:buFont typeface="Arial" panose="020B0604020202020204" pitchFamily="34" charset="0"/>
              <a:buChar char="•"/>
            </a:pPr>
            <a:r>
              <a:rPr kumimoji="0" lang="en-DK" altLang="en-DK" sz="1800" b="0" i="0" u="none" strike="noStrike" cap="none" normalizeH="0" baseline="0">
                <a:ln>
                  <a:noFill/>
                </a:ln>
                <a:effectLst/>
                <a:latin typeface="Aptos" panose="020B0004020202020204" pitchFamily="34" charset="0"/>
              </a:rPr>
              <a:t>Challenges, gaps and barriers to adaptation</a:t>
            </a:r>
            <a:endParaRPr kumimoji="0" lang="en-GB" altLang="en-DK" sz="1800" b="0" i="0" u="none" strike="noStrike" cap="none" normalizeH="0" baseline="0">
              <a:ln>
                <a:noFill/>
              </a:ln>
              <a:effectLst/>
              <a:latin typeface="Aptos" panose="020B0004020202020204" pitchFamily="34" charset="0"/>
            </a:endParaRPr>
          </a:p>
          <a:p>
            <a:pPr marL="285750" indent="-285750">
              <a:buFont typeface="Arial" panose="020B0604020202020204" pitchFamily="34" charset="0"/>
              <a:buChar char="•"/>
            </a:pPr>
            <a:r>
              <a:rPr kumimoji="0" lang="en-US" altLang="en-DK" sz="1800" b="0" i="0" u="none" strike="noStrike" cap="none" normalizeH="0" baseline="0">
                <a:ln>
                  <a:noFill/>
                </a:ln>
                <a:effectLst/>
                <a:latin typeface="Aptos" panose="020B0004020202020204" pitchFamily="34" charset="0"/>
              </a:rPr>
              <a:t>Summaries of national strategies, policies, plans and efforts, with a focus on goals and objectives, foreseen actions, budget and timeline</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DK" altLang="en-DK" sz="1800" b="0" i="0" u="none" strike="noStrike" cap="none" normalizeH="0" baseline="0">
                <a:ln>
                  <a:noFill/>
                </a:ln>
                <a:effectLst/>
                <a:latin typeface="Aptos" panose="020B0004020202020204" pitchFamily="34" charset="0"/>
              </a:rPr>
              <a:t>Overview of efforts to integrate climate change adaptation into sectoral policies, plans and programs, including disaster risk management strategies and action plans</a:t>
            </a:r>
            <a:endParaRPr kumimoji="0" lang="en-GB" altLang="en-DK" sz="1800" b="0" i="0" u="none" strike="noStrike" cap="none" normalizeH="0" baseline="0">
              <a:ln>
                <a:noFill/>
              </a:ln>
              <a:effectLst/>
              <a:latin typeface="Aptos" panose="020B0004020202020204" pitchFamily="34" charset="0"/>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DK" altLang="en-DK" sz="1800" b="0" i="0" u="none" strike="noStrike" cap="none" normalizeH="0" baseline="0">
                <a:ln>
                  <a:noFill/>
                </a:ln>
                <a:effectLst/>
                <a:latin typeface="Aptos" panose="020B0004020202020204" pitchFamily="34" charset="0"/>
              </a:rPr>
              <a:t>Overview of measures in adaptation policy at the national level to engage with stakeholders particularly vulnerable to climate change impacts</a:t>
            </a:r>
            <a:endParaRPr kumimoji="0" lang="en-GB" altLang="en-DK" sz="1800" b="0" i="0" u="none" strike="noStrike" cap="none" normalizeH="0" baseline="0">
              <a:ln>
                <a:noFill/>
              </a:ln>
              <a:effectLst/>
              <a:latin typeface="Aptos" panose="020B0004020202020204" pitchFamily="34" charset="0"/>
            </a:endParaRP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DK" altLang="en-DK" sz="1800" b="0" i="0" u="none" strike="noStrike" cap="none" normalizeH="0" baseline="0">
                <a:ln>
                  <a:noFill/>
                </a:ln>
                <a:effectLst/>
                <a:latin typeface="Aptos" panose="020B0004020202020204" pitchFamily="34" charset="0"/>
              </a:rPr>
              <a:t>Overview of measures in adaptation policy at the national level to engage with the private sector</a:t>
            </a:r>
            <a:endParaRPr kumimoji="0" lang="en-GB" altLang="en-DK" sz="1800" b="0" i="0" u="none" strike="noStrike" cap="none" normalizeH="0" baseline="0">
              <a:ln>
                <a:noFill/>
              </a:ln>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DK"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DK"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DK" altLang="en-DK" sz="1800" b="0" i="0" u="none" strike="noStrike" cap="none" normalizeH="0" baseline="0">
                <a:ln>
                  <a:noFill/>
                </a:ln>
                <a:solidFill>
                  <a:srgbClr val="404040"/>
                </a:solidFill>
                <a:effectLst/>
                <a:latin typeface="Open Sans" panose="020B0606030504020204" pitchFamily="34" charset="0"/>
                <a:cs typeface="Open Sans" panose="020B0606030504020204" pitchFamily="34" charset="0"/>
              </a:rPr>
            </a:br>
            <a:endParaRPr kumimoji="0" lang="en-DK" altLang="en-DK" sz="1800" b="0" i="0" u="none" strike="noStrike" cap="none" normalizeH="0" baseline="0">
              <a:ln>
                <a:noFill/>
              </a:ln>
              <a:solidFill>
                <a:schemeClr val="tx1"/>
              </a:solidFill>
              <a:effectLst/>
              <a:latin typeface="Arial" panose="020B0604020202020204" pitchFamily="34" charset="0"/>
            </a:endParaRPr>
          </a:p>
          <a:p>
            <a:endParaRPr kumimoji="0" lang="en-US" altLang="en-DK" sz="1800" b="0" i="0" u="none" strike="noStrike" cap="none" normalizeH="0" baseline="0">
              <a:ln>
                <a:noFill/>
              </a:ln>
              <a:solidFill>
                <a:schemeClr val="tx1"/>
              </a:solidFill>
              <a:effectLst/>
              <a:latin typeface="Arial" panose="020B0604020202020204" pitchFamily="34" charset="0"/>
            </a:endParaRPr>
          </a:p>
          <a:p>
            <a:endParaRPr kumimoji="0" lang="en-GB" altLang="en-DK" sz="1800" b="0" i="0" u="none" strike="noStrike" cap="none" normalizeH="0" baseline="0">
              <a:ln>
                <a:noFill/>
              </a:ln>
              <a:solidFill>
                <a:schemeClr val="tx1"/>
              </a:solidFill>
              <a:effectLst/>
              <a:latin typeface="Arial" panose="020B0604020202020204" pitchFamily="34" charset="0"/>
            </a:endParaRPr>
          </a:p>
          <a:p>
            <a:endParaRPr kumimoji="0" lang="en-DK" altLang="en-DK" sz="1800" b="0" i="0" u="none" strike="noStrike" cap="none" normalizeH="0" baseline="0">
              <a:ln>
                <a:noFill/>
              </a:ln>
              <a:solidFill>
                <a:schemeClr val="tx1"/>
              </a:solidFill>
              <a:effectLst/>
              <a:latin typeface="Arial" panose="020B0604020202020204" pitchFamily="34" charset="0"/>
            </a:endParaRPr>
          </a:p>
          <a:p>
            <a:endParaRPr lang="fr-FR" b="0" i="0">
              <a:solidFill>
                <a:srgbClr val="404040"/>
              </a:solidFill>
              <a:effectLst/>
              <a:latin typeface="open sans" panose="020B0606030504020204" pitchFamily="34" charset="0"/>
            </a:endParaRPr>
          </a:p>
          <a:p>
            <a:endParaRPr lang="fr-FR">
              <a:solidFill>
                <a:srgbClr val="404040"/>
              </a:solidFill>
              <a:latin typeface="open sans" panose="020B0606030504020204" pitchFamily="34" charset="0"/>
            </a:endParaRPr>
          </a:p>
          <a:p>
            <a:endParaRPr lang="en-DK"/>
          </a:p>
        </p:txBody>
      </p:sp>
      <p:sp>
        <p:nvSpPr>
          <p:cNvPr id="19" name="Rectangle 5">
            <a:extLst>
              <a:ext uri="{FF2B5EF4-FFF2-40B4-BE49-F238E27FC236}">
                <a16:creationId xmlns:a16="http://schemas.microsoft.com/office/drawing/2014/main" id="{C658A003-5F4E-E738-0D5A-94D7A5D86DDB}"/>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DK" altLang="en-DK" sz="1800" b="0" i="0" u="none" strike="noStrike" cap="none" normalizeH="0" baseline="0">
                <a:ln>
                  <a:noFill/>
                </a:ln>
                <a:solidFill>
                  <a:srgbClr val="404040"/>
                </a:solidFill>
                <a:effectLst/>
                <a:latin typeface="Open Sans" panose="020B0606030504020204" pitchFamily="34" charset="0"/>
                <a:cs typeface="Open Sans" panose="020B0606030504020204" pitchFamily="34" charset="0"/>
              </a:rPr>
            </a:br>
            <a:endParaRPr kumimoji="0" lang="en-DK" altLang="en-DK"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202995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Graphical user interface, application&#10;&#10;Description automatically generated">
            <a:extLst>
              <a:ext uri="{FF2B5EF4-FFF2-40B4-BE49-F238E27FC236}">
                <a16:creationId xmlns:a16="http://schemas.microsoft.com/office/drawing/2014/main" id="{2CFCAB42-975A-1197-EFBF-C7729F7917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 y="796945"/>
            <a:ext cx="10744200" cy="5524500"/>
          </a:xfrm>
          <a:prstGeom prst="rect">
            <a:avLst/>
          </a:prstGeom>
        </p:spPr>
      </p:pic>
      <p:sp>
        <p:nvSpPr>
          <p:cNvPr id="2" name="TextBox 1">
            <a:extLst>
              <a:ext uri="{FF2B5EF4-FFF2-40B4-BE49-F238E27FC236}">
                <a16:creationId xmlns:a16="http://schemas.microsoft.com/office/drawing/2014/main" id="{440F57AC-AC91-E2E1-366D-0FF8BA3482FB}"/>
              </a:ext>
            </a:extLst>
          </p:cNvPr>
          <p:cNvSpPr txBox="1"/>
          <p:nvPr/>
        </p:nvSpPr>
        <p:spPr>
          <a:xfrm>
            <a:off x="388620" y="335280"/>
            <a:ext cx="5608320" cy="461665"/>
          </a:xfrm>
          <a:prstGeom prst="rect">
            <a:avLst/>
          </a:prstGeom>
          <a:noFill/>
        </p:spPr>
        <p:txBody>
          <a:bodyPr wrap="square" rtlCol="0">
            <a:spAutoFit/>
          </a:bodyPr>
          <a:lstStyle/>
          <a:p>
            <a:r>
              <a:rPr lang="en-US" sz="2400">
                <a:solidFill>
                  <a:srgbClr val="002060"/>
                </a:solidFill>
              </a:rPr>
              <a:t>STRATEGIES AND PLANS - KTMs </a:t>
            </a:r>
            <a:r>
              <a:rPr lang="en-150" sz="2400">
                <a:solidFill>
                  <a:srgbClr val="002060"/>
                </a:solidFill>
              </a:rPr>
              <a:t>(2)</a:t>
            </a:r>
            <a:r>
              <a:rPr lang="en-US" sz="2400">
                <a:solidFill>
                  <a:srgbClr val="002060"/>
                </a:solidFill>
              </a:rPr>
              <a:t>   </a:t>
            </a:r>
            <a:endParaRPr lang="en-DK" sz="2400">
              <a:solidFill>
                <a:srgbClr val="002060"/>
              </a:solidFill>
            </a:endParaRPr>
          </a:p>
        </p:txBody>
      </p:sp>
      <p:pic>
        <p:nvPicPr>
          <p:cNvPr id="4" name="Picture 3" descr="Graphical user interface, text, application, email&#10;&#10;Description automatically generated">
            <a:extLst>
              <a:ext uri="{FF2B5EF4-FFF2-40B4-BE49-F238E27FC236}">
                <a16:creationId xmlns:a16="http://schemas.microsoft.com/office/drawing/2014/main" id="{99070815-B7C9-64DC-A741-D9E635B428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39664" y="4036547"/>
            <a:ext cx="2762250" cy="1657350"/>
          </a:xfrm>
          <a:prstGeom prst="rect">
            <a:avLst/>
          </a:prstGeom>
          <a:ln w="28575">
            <a:solidFill>
              <a:srgbClr val="316300"/>
            </a:solidFill>
          </a:ln>
        </p:spPr>
      </p:pic>
      <p:pic>
        <p:nvPicPr>
          <p:cNvPr id="6" name="Picture 5" descr="Graphical user interface, text, application&#10;&#10;Description automatically generated">
            <a:extLst>
              <a:ext uri="{FF2B5EF4-FFF2-40B4-BE49-F238E27FC236}">
                <a16:creationId xmlns:a16="http://schemas.microsoft.com/office/drawing/2014/main" id="{94AB8F67-E839-9EC5-9391-9DB7696F87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32209" y="2910454"/>
            <a:ext cx="1606550" cy="1092200"/>
          </a:xfrm>
          <a:prstGeom prst="rect">
            <a:avLst/>
          </a:prstGeom>
          <a:ln w="28575">
            <a:solidFill>
              <a:srgbClr val="316300"/>
            </a:solidFill>
          </a:ln>
        </p:spPr>
      </p:pic>
      <p:pic>
        <p:nvPicPr>
          <p:cNvPr id="8" name="Picture 7" descr="Graphical user interface, text, application, email&#10;&#10;Description automatically generated">
            <a:extLst>
              <a:ext uri="{FF2B5EF4-FFF2-40B4-BE49-F238E27FC236}">
                <a16:creationId xmlns:a16="http://schemas.microsoft.com/office/drawing/2014/main" id="{047D1B9A-838F-43F8-E5E4-DF0C4AB314F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39664" y="1525062"/>
            <a:ext cx="2730500" cy="1600200"/>
          </a:xfrm>
          <a:prstGeom prst="rect">
            <a:avLst/>
          </a:prstGeom>
          <a:ln w="28575">
            <a:solidFill>
              <a:srgbClr val="316300"/>
            </a:solidFill>
          </a:ln>
        </p:spPr>
      </p:pic>
      <p:sp>
        <p:nvSpPr>
          <p:cNvPr id="11" name="Rectangle 10">
            <a:extLst>
              <a:ext uri="{FF2B5EF4-FFF2-40B4-BE49-F238E27FC236}">
                <a16:creationId xmlns:a16="http://schemas.microsoft.com/office/drawing/2014/main" id="{F876D1B1-B5C7-AE97-96A0-736B2F9A74AC}"/>
              </a:ext>
            </a:extLst>
          </p:cNvPr>
          <p:cNvSpPr/>
          <p:nvPr/>
        </p:nvSpPr>
        <p:spPr>
          <a:xfrm>
            <a:off x="634482" y="2463282"/>
            <a:ext cx="1642187" cy="373224"/>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12" name="Rectangle 11">
            <a:extLst>
              <a:ext uri="{FF2B5EF4-FFF2-40B4-BE49-F238E27FC236}">
                <a16:creationId xmlns:a16="http://schemas.microsoft.com/office/drawing/2014/main" id="{E411CEB5-6635-542F-4B1B-BF01B230993F}"/>
              </a:ext>
            </a:extLst>
          </p:cNvPr>
          <p:cNvSpPr/>
          <p:nvPr/>
        </p:nvSpPr>
        <p:spPr>
          <a:xfrm>
            <a:off x="634481" y="3268424"/>
            <a:ext cx="1642187" cy="373224"/>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13" name="Rectangle 12">
            <a:extLst>
              <a:ext uri="{FF2B5EF4-FFF2-40B4-BE49-F238E27FC236}">
                <a16:creationId xmlns:a16="http://schemas.microsoft.com/office/drawing/2014/main" id="{506F8840-A251-A68F-3E67-5DC711E30521}"/>
              </a:ext>
            </a:extLst>
          </p:cNvPr>
          <p:cNvSpPr/>
          <p:nvPr/>
        </p:nvSpPr>
        <p:spPr>
          <a:xfrm>
            <a:off x="634481" y="4073567"/>
            <a:ext cx="1642187" cy="373224"/>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14" name="TextBox 13">
            <a:extLst>
              <a:ext uri="{FF2B5EF4-FFF2-40B4-BE49-F238E27FC236}">
                <a16:creationId xmlns:a16="http://schemas.microsoft.com/office/drawing/2014/main" id="{37FAFE01-B838-87C3-456E-E06D3C07F0EF}"/>
              </a:ext>
            </a:extLst>
          </p:cNvPr>
          <p:cNvSpPr txBox="1"/>
          <p:nvPr/>
        </p:nvSpPr>
        <p:spPr>
          <a:xfrm>
            <a:off x="6863826" y="4676080"/>
            <a:ext cx="2549865" cy="369332"/>
          </a:xfrm>
          <a:prstGeom prst="rect">
            <a:avLst/>
          </a:prstGeom>
          <a:noFill/>
        </p:spPr>
        <p:txBody>
          <a:bodyPr wrap="none" rtlCol="0">
            <a:spAutoFit/>
          </a:bodyPr>
          <a:lstStyle/>
          <a:p>
            <a:r>
              <a:rPr lang="en-150">
                <a:solidFill>
                  <a:srgbClr val="316300"/>
                </a:solidFill>
              </a:rPr>
              <a:t>D:NbS, D1: green options</a:t>
            </a:r>
          </a:p>
        </p:txBody>
      </p:sp>
      <p:cxnSp>
        <p:nvCxnSpPr>
          <p:cNvPr id="16" name="Connector: Elbow 15">
            <a:extLst>
              <a:ext uri="{FF2B5EF4-FFF2-40B4-BE49-F238E27FC236}">
                <a16:creationId xmlns:a16="http://schemas.microsoft.com/office/drawing/2014/main" id="{158E3B90-FD74-76D6-1C2D-ACBE2BA85F32}"/>
              </a:ext>
            </a:extLst>
          </p:cNvPr>
          <p:cNvCxnSpPr>
            <a:stCxn id="11" idx="3"/>
            <a:endCxn id="8" idx="1"/>
          </p:cNvCxnSpPr>
          <p:nvPr/>
        </p:nvCxnSpPr>
        <p:spPr>
          <a:xfrm flipV="1">
            <a:off x="2276669" y="2325162"/>
            <a:ext cx="1362995" cy="324732"/>
          </a:xfrm>
          <a:prstGeom prst="bentConnector3">
            <a:avLst/>
          </a:prstGeom>
          <a:ln w="12700">
            <a:solidFill>
              <a:srgbClr val="3163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32AC152B-77F8-6998-906F-98FC08BAED87}"/>
              </a:ext>
            </a:extLst>
          </p:cNvPr>
          <p:cNvCxnSpPr>
            <a:stCxn id="12" idx="3"/>
            <a:endCxn id="6" idx="1"/>
          </p:cNvCxnSpPr>
          <p:nvPr/>
        </p:nvCxnSpPr>
        <p:spPr>
          <a:xfrm>
            <a:off x="2276668" y="3455036"/>
            <a:ext cx="4255541" cy="1518"/>
          </a:xfrm>
          <a:prstGeom prst="bentConnector3">
            <a:avLst/>
          </a:prstGeom>
          <a:ln w="12700">
            <a:solidFill>
              <a:srgbClr val="3163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435C90B7-B7AE-CCDF-CB3C-74BC5803EE73}"/>
              </a:ext>
            </a:extLst>
          </p:cNvPr>
          <p:cNvCxnSpPr>
            <a:stCxn id="13" idx="3"/>
            <a:endCxn id="4" idx="1"/>
          </p:cNvCxnSpPr>
          <p:nvPr/>
        </p:nvCxnSpPr>
        <p:spPr>
          <a:xfrm>
            <a:off x="2276668" y="4260179"/>
            <a:ext cx="1362996" cy="605043"/>
          </a:xfrm>
          <a:prstGeom prst="bentConnector3">
            <a:avLst/>
          </a:prstGeom>
          <a:ln w="12700">
            <a:solidFill>
              <a:srgbClr val="3163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E51572E-A8B6-969B-385A-B4E9D3D33EA4}"/>
              </a:ext>
            </a:extLst>
          </p:cNvPr>
          <p:cNvCxnSpPr>
            <a:stCxn id="14" idx="1"/>
            <a:endCxn id="4" idx="3"/>
          </p:cNvCxnSpPr>
          <p:nvPr/>
        </p:nvCxnSpPr>
        <p:spPr>
          <a:xfrm flipH="1">
            <a:off x="6401914" y="4860746"/>
            <a:ext cx="461912" cy="4476"/>
          </a:xfrm>
          <a:prstGeom prst="straightConnector1">
            <a:avLst/>
          </a:prstGeom>
          <a:ln w="12700">
            <a:solidFill>
              <a:srgbClr val="004B7F"/>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descr="A logo with a black background&#10;&#10;Description automatically generated">
            <a:extLst>
              <a:ext uri="{FF2B5EF4-FFF2-40B4-BE49-F238E27FC236}">
                <a16:creationId xmlns:a16="http://schemas.microsoft.com/office/drawing/2014/main" id="{4343CFAE-2309-DDEC-2EFB-C912739496E7}"/>
              </a:ext>
            </a:extLst>
          </p:cNvPr>
          <p:cNvPicPr>
            <a:picLocks noChangeAspect="1"/>
          </p:cNvPicPr>
          <p:nvPr/>
        </p:nvPicPr>
        <p:blipFill rotWithShape="1">
          <a:blip r:embed="rId7">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
        <p:nvSpPr>
          <p:cNvPr id="5" name="Rectangle 4">
            <a:extLst>
              <a:ext uri="{FF2B5EF4-FFF2-40B4-BE49-F238E27FC236}">
                <a16:creationId xmlns:a16="http://schemas.microsoft.com/office/drawing/2014/main" id="{5458B062-7C42-8AB6-B556-C50588B1CCCA}"/>
              </a:ext>
            </a:extLst>
          </p:cNvPr>
          <p:cNvSpPr/>
          <p:nvPr/>
        </p:nvSpPr>
        <p:spPr>
          <a:xfrm>
            <a:off x="7548119" y="335280"/>
            <a:ext cx="4384085" cy="461665"/>
          </a:xfrm>
          <a:prstGeom prst="rect">
            <a:avLst/>
          </a:prstGeom>
          <a:noFill/>
        </p:spPr>
        <p:txBody>
          <a:bodyPr wrap="none" lIns="91440" tIns="45720" rIns="91440" bIns="45720">
            <a:spAutoFit/>
          </a:bodyPr>
          <a:lstStyle/>
          <a:p>
            <a:pPr algn="r"/>
            <a:r>
              <a:rPr lang="en-150" sz="2400" b="0" cap="none" spc="0">
                <a:ln w="0"/>
                <a:solidFill>
                  <a:srgbClr val="316300"/>
                </a:solidFill>
                <a:effectLst>
                  <a:outerShdw blurRad="38100" dist="19050" dir="2700000" algn="tl" rotWithShape="0">
                    <a:schemeClr val="dk1">
                      <a:alpha val="40000"/>
                    </a:schemeClr>
                  </a:outerShdw>
                </a:effectLst>
              </a:rPr>
              <a:t>Voluntary additional information</a:t>
            </a:r>
            <a:endParaRPr lang="en-US" sz="2400" b="0" cap="none" spc="0">
              <a:ln w="0"/>
              <a:solidFill>
                <a:srgbClr val="3163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684830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Graphical user interface, text, application, email&#10;&#10;Description automatically generated">
            <a:extLst>
              <a:ext uri="{FF2B5EF4-FFF2-40B4-BE49-F238E27FC236}">
                <a16:creationId xmlns:a16="http://schemas.microsoft.com/office/drawing/2014/main" id="{3D90751B-B289-F079-5EA7-88EF7835E45E}"/>
              </a:ext>
            </a:extLst>
          </p:cNvPr>
          <p:cNvPicPr>
            <a:picLocks noChangeAspect="1"/>
          </p:cNvPicPr>
          <p:nvPr/>
        </p:nvPicPr>
        <p:blipFill>
          <a:blip r:embed="rId3">
            <a:extLst>
              <a:ext uri="{28A0092B-C50C-407E-A947-70E740481C1C}">
                <a14:useLocalDpi xmlns:a14="http://schemas.microsoft.com/office/drawing/2010/main" val="0"/>
              </a:ext>
            </a:extLst>
          </a:blip>
          <a:srcRect b="5532"/>
          <a:stretch/>
        </p:blipFill>
        <p:spPr>
          <a:xfrm>
            <a:off x="388619" y="796945"/>
            <a:ext cx="11543585" cy="5725776"/>
          </a:xfrm>
          <a:prstGeom prst="rect">
            <a:avLst/>
          </a:prstGeom>
        </p:spPr>
      </p:pic>
      <p:sp>
        <p:nvSpPr>
          <p:cNvPr id="2" name="TextBox 1">
            <a:extLst>
              <a:ext uri="{FF2B5EF4-FFF2-40B4-BE49-F238E27FC236}">
                <a16:creationId xmlns:a16="http://schemas.microsoft.com/office/drawing/2014/main" id="{17BC75D7-42E7-2257-C131-9149D1B0C32F}"/>
              </a:ext>
            </a:extLst>
          </p:cNvPr>
          <p:cNvSpPr txBox="1"/>
          <p:nvPr/>
        </p:nvSpPr>
        <p:spPr>
          <a:xfrm>
            <a:off x="388620" y="335280"/>
            <a:ext cx="5608320" cy="461665"/>
          </a:xfrm>
          <a:prstGeom prst="rect">
            <a:avLst/>
          </a:prstGeom>
          <a:noFill/>
        </p:spPr>
        <p:txBody>
          <a:bodyPr wrap="square" rtlCol="0">
            <a:spAutoFit/>
          </a:bodyPr>
          <a:lstStyle/>
          <a:p>
            <a:r>
              <a:rPr lang="en-US" sz="2400">
                <a:solidFill>
                  <a:srgbClr val="002060"/>
                </a:solidFill>
              </a:rPr>
              <a:t>STRATEGIES AND PLANS - KTMs </a:t>
            </a:r>
            <a:r>
              <a:rPr lang="en-150" sz="2400">
                <a:solidFill>
                  <a:srgbClr val="002060"/>
                </a:solidFill>
              </a:rPr>
              <a:t>(3)</a:t>
            </a:r>
            <a:r>
              <a:rPr lang="en-US" sz="2400">
                <a:solidFill>
                  <a:srgbClr val="002060"/>
                </a:solidFill>
              </a:rPr>
              <a:t>   </a:t>
            </a:r>
            <a:endParaRPr lang="en-DK" sz="2400">
              <a:solidFill>
                <a:srgbClr val="002060"/>
              </a:solidFill>
            </a:endParaRPr>
          </a:p>
        </p:txBody>
      </p:sp>
      <p:pic>
        <p:nvPicPr>
          <p:cNvPr id="4" name="Picture 3" descr="Graphical user interface, application&#10;&#10;Description automatically generated">
            <a:extLst>
              <a:ext uri="{FF2B5EF4-FFF2-40B4-BE49-F238E27FC236}">
                <a16:creationId xmlns:a16="http://schemas.microsoft.com/office/drawing/2014/main" id="{CD984EA9-810E-E878-3E71-373BDB73A8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4244" y="3388855"/>
            <a:ext cx="1301750" cy="1333500"/>
          </a:xfrm>
          <a:prstGeom prst="rect">
            <a:avLst/>
          </a:prstGeom>
          <a:ln w="28575">
            <a:solidFill>
              <a:srgbClr val="316300"/>
            </a:solidFill>
          </a:ln>
        </p:spPr>
      </p:pic>
      <p:pic>
        <p:nvPicPr>
          <p:cNvPr id="6" name="Picture 5" descr="Graphical user interface, text, application&#10;&#10;Description automatically generated">
            <a:extLst>
              <a:ext uri="{FF2B5EF4-FFF2-40B4-BE49-F238E27FC236}">
                <a16:creationId xmlns:a16="http://schemas.microsoft.com/office/drawing/2014/main" id="{5AD829CB-33CA-1F58-BDEC-9D3F3621F8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74244" y="2247669"/>
            <a:ext cx="1143000" cy="762000"/>
          </a:xfrm>
          <a:prstGeom prst="rect">
            <a:avLst/>
          </a:prstGeom>
          <a:ln w="28575">
            <a:solidFill>
              <a:srgbClr val="316300"/>
            </a:solidFill>
          </a:ln>
        </p:spPr>
      </p:pic>
      <p:sp>
        <p:nvSpPr>
          <p:cNvPr id="9" name="Rectangle 8">
            <a:extLst>
              <a:ext uri="{FF2B5EF4-FFF2-40B4-BE49-F238E27FC236}">
                <a16:creationId xmlns:a16="http://schemas.microsoft.com/office/drawing/2014/main" id="{9BA13E07-CA94-1049-FB08-0E8C4653BFC4}"/>
              </a:ext>
            </a:extLst>
          </p:cNvPr>
          <p:cNvSpPr/>
          <p:nvPr/>
        </p:nvSpPr>
        <p:spPr>
          <a:xfrm>
            <a:off x="1541994" y="1047378"/>
            <a:ext cx="4783297" cy="461665"/>
          </a:xfrm>
          <a:prstGeom prst="rect">
            <a:avLst/>
          </a:prstGeom>
          <a:noFill/>
        </p:spPr>
        <p:txBody>
          <a:bodyPr wrap="none" lIns="91440" tIns="45720" rIns="91440" bIns="45720">
            <a:spAutoFit/>
          </a:bodyPr>
          <a:lstStyle/>
          <a:p>
            <a:pPr algn="ctr"/>
            <a:r>
              <a:rPr lang="da-DK" sz="2400" b="0" cap="none" spc="0">
                <a:ln w="0"/>
                <a:solidFill>
                  <a:srgbClr val="004B7F"/>
                </a:solidFill>
                <a:effectLst>
                  <a:outerShdw blurRad="38100" dist="19050" dir="2700000" algn="tl" rotWithShape="0">
                    <a:schemeClr val="dk1">
                      <a:alpha val="40000"/>
                    </a:schemeClr>
                  </a:outerShdw>
                </a:effectLst>
              </a:rPr>
              <a:t>O</a:t>
            </a:r>
            <a:r>
              <a:rPr lang="en-150" sz="2400" b="0" cap="none" spc="0" err="1">
                <a:ln w="0"/>
                <a:solidFill>
                  <a:srgbClr val="004B7F"/>
                </a:solidFill>
                <a:effectLst>
                  <a:outerShdw blurRad="38100" dist="19050" dir="2700000" algn="tl" rotWithShape="0">
                    <a:schemeClr val="dk1">
                      <a:alpha val="40000"/>
                    </a:schemeClr>
                  </a:outerShdw>
                </a:effectLst>
              </a:rPr>
              <a:t>bserved</a:t>
            </a:r>
            <a:r>
              <a:rPr lang="en-150" sz="2400" b="0" cap="none" spc="0">
                <a:ln w="0"/>
                <a:solidFill>
                  <a:srgbClr val="004B7F"/>
                </a:solidFill>
                <a:effectLst>
                  <a:outerShdw blurRad="38100" dist="19050" dir="2700000" algn="tl" rotWithShape="0">
                    <a:schemeClr val="dk1">
                      <a:alpha val="40000"/>
                    </a:schemeClr>
                  </a:outerShdw>
                </a:effectLst>
              </a:rPr>
              <a:t> and future climate hazards</a:t>
            </a:r>
            <a:endParaRPr lang="en-US" sz="2400" b="0" cap="none" spc="0">
              <a:ln w="0"/>
              <a:solidFill>
                <a:srgbClr val="004B7F"/>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5467745D-3811-D4B7-1FEC-7B99097D9625}"/>
              </a:ext>
            </a:extLst>
          </p:cNvPr>
          <p:cNvSpPr/>
          <p:nvPr/>
        </p:nvSpPr>
        <p:spPr>
          <a:xfrm>
            <a:off x="7548119" y="335280"/>
            <a:ext cx="4384085" cy="461665"/>
          </a:xfrm>
          <a:prstGeom prst="rect">
            <a:avLst/>
          </a:prstGeom>
          <a:noFill/>
        </p:spPr>
        <p:txBody>
          <a:bodyPr wrap="none" lIns="91440" tIns="45720" rIns="91440" bIns="45720">
            <a:spAutoFit/>
          </a:bodyPr>
          <a:lstStyle/>
          <a:p>
            <a:pPr algn="r"/>
            <a:r>
              <a:rPr lang="en-150" sz="2400" b="0" cap="none" spc="0">
                <a:ln w="0"/>
                <a:solidFill>
                  <a:srgbClr val="316300"/>
                </a:solidFill>
                <a:effectLst>
                  <a:outerShdw blurRad="38100" dist="19050" dir="2700000" algn="tl" rotWithShape="0">
                    <a:schemeClr val="dk1">
                      <a:alpha val="40000"/>
                    </a:schemeClr>
                  </a:outerShdw>
                </a:effectLst>
              </a:rPr>
              <a:t>Voluntary additional information</a:t>
            </a:r>
            <a:endParaRPr lang="en-US" sz="2400" b="0" cap="none" spc="0">
              <a:ln w="0"/>
              <a:solidFill>
                <a:srgbClr val="316300"/>
              </a:solidFill>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85F5B6AD-2AD7-EC14-9497-08C8E30C7A6E}"/>
              </a:ext>
            </a:extLst>
          </p:cNvPr>
          <p:cNvSpPr/>
          <p:nvPr/>
        </p:nvSpPr>
        <p:spPr>
          <a:xfrm>
            <a:off x="2593948" y="1673981"/>
            <a:ext cx="2679388" cy="461665"/>
          </a:xfrm>
          <a:prstGeom prst="rect">
            <a:avLst/>
          </a:prstGeom>
          <a:noFill/>
        </p:spPr>
        <p:txBody>
          <a:bodyPr wrap="none" lIns="91440" tIns="45720" rIns="91440" bIns="45720">
            <a:spAutoFit/>
          </a:bodyPr>
          <a:lstStyle/>
          <a:p>
            <a:pPr algn="ctr"/>
            <a:r>
              <a:rPr lang="da-DK" sz="2400" b="0" cap="none" spc="0">
                <a:ln w="0"/>
                <a:solidFill>
                  <a:srgbClr val="004B7F"/>
                </a:solidFill>
                <a:effectLst>
                  <a:outerShdw blurRad="38100" dist="19050" dir="2700000" algn="tl" rotWithShape="0">
                    <a:schemeClr val="dk1">
                      <a:alpha val="40000"/>
                    </a:schemeClr>
                  </a:outerShdw>
                </a:effectLst>
              </a:rPr>
              <a:t>K</a:t>
            </a:r>
            <a:r>
              <a:rPr lang="en-150" sz="2400" b="0" cap="none" spc="0" err="1">
                <a:ln w="0"/>
                <a:solidFill>
                  <a:srgbClr val="004B7F"/>
                </a:solidFill>
                <a:effectLst>
                  <a:outerShdw blurRad="38100" dist="19050" dir="2700000" algn="tl" rotWithShape="0">
                    <a:schemeClr val="dk1">
                      <a:alpha val="40000"/>
                    </a:schemeClr>
                  </a:outerShdw>
                </a:effectLst>
              </a:rPr>
              <a:t>ey</a:t>
            </a:r>
            <a:r>
              <a:rPr lang="en-150" sz="2400" b="0" cap="none" spc="0">
                <a:ln w="0"/>
                <a:solidFill>
                  <a:srgbClr val="004B7F"/>
                </a:solidFill>
                <a:effectLst>
                  <a:outerShdw blurRad="38100" dist="19050" dir="2700000" algn="tl" rotWithShape="0">
                    <a:schemeClr val="dk1">
                      <a:alpha val="40000"/>
                    </a:schemeClr>
                  </a:outerShdw>
                </a:effectLst>
              </a:rPr>
              <a:t> affected sectors</a:t>
            </a:r>
            <a:endParaRPr lang="en-US" sz="2400" b="0" cap="none" spc="0">
              <a:ln w="0"/>
              <a:solidFill>
                <a:srgbClr val="004B7F"/>
              </a:solidFill>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F118EB8C-D988-AD85-0665-770C35C86793}"/>
              </a:ext>
            </a:extLst>
          </p:cNvPr>
          <p:cNvSpPr/>
          <p:nvPr/>
        </p:nvSpPr>
        <p:spPr>
          <a:xfrm>
            <a:off x="699796" y="2135646"/>
            <a:ext cx="457200" cy="280983"/>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sp>
        <p:nvSpPr>
          <p:cNvPr id="13" name="Rectangle 12">
            <a:extLst>
              <a:ext uri="{FF2B5EF4-FFF2-40B4-BE49-F238E27FC236}">
                <a16:creationId xmlns:a16="http://schemas.microsoft.com/office/drawing/2014/main" id="{16B4D7EC-EF3C-6540-599D-AAD5D2338901}"/>
              </a:ext>
            </a:extLst>
          </p:cNvPr>
          <p:cNvSpPr/>
          <p:nvPr/>
        </p:nvSpPr>
        <p:spPr>
          <a:xfrm>
            <a:off x="699796" y="2743200"/>
            <a:ext cx="2211356" cy="280983"/>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p>
        </p:txBody>
      </p:sp>
      <p:cxnSp>
        <p:nvCxnSpPr>
          <p:cNvPr id="15" name="Connector: Elbow 14">
            <a:extLst>
              <a:ext uri="{FF2B5EF4-FFF2-40B4-BE49-F238E27FC236}">
                <a16:creationId xmlns:a16="http://schemas.microsoft.com/office/drawing/2014/main" id="{611A5005-A941-98B5-9C11-132EF313F773}"/>
              </a:ext>
            </a:extLst>
          </p:cNvPr>
          <p:cNvCxnSpPr>
            <a:stCxn id="12" idx="3"/>
            <a:endCxn id="6" idx="1"/>
          </p:cNvCxnSpPr>
          <p:nvPr/>
        </p:nvCxnSpPr>
        <p:spPr>
          <a:xfrm>
            <a:off x="1156996" y="2276138"/>
            <a:ext cx="3817248" cy="352531"/>
          </a:xfrm>
          <a:prstGeom prst="bentConnector3">
            <a:avLst/>
          </a:prstGeom>
          <a:ln w="19050">
            <a:solidFill>
              <a:srgbClr val="3163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C5EC7EFD-7D82-E2FE-177C-8466B2464DF1}"/>
              </a:ext>
            </a:extLst>
          </p:cNvPr>
          <p:cNvCxnSpPr>
            <a:stCxn id="13" idx="3"/>
            <a:endCxn id="4" idx="1"/>
          </p:cNvCxnSpPr>
          <p:nvPr/>
        </p:nvCxnSpPr>
        <p:spPr>
          <a:xfrm>
            <a:off x="2911152" y="2883692"/>
            <a:ext cx="2063092" cy="1171913"/>
          </a:xfrm>
          <a:prstGeom prst="bentConnector3">
            <a:avLst/>
          </a:prstGeom>
          <a:ln w="19050">
            <a:solidFill>
              <a:srgbClr val="316300"/>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descr="A logo with a black background&#10;&#10;Description automatically generated">
            <a:extLst>
              <a:ext uri="{FF2B5EF4-FFF2-40B4-BE49-F238E27FC236}">
                <a16:creationId xmlns:a16="http://schemas.microsoft.com/office/drawing/2014/main" id="{87582D88-0EEF-9DF9-4819-18C0D1437D12}"/>
              </a:ext>
            </a:extLst>
          </p:cNvPr>
          <p:cNvPicPr>
            <a:picLocks noChangeAspect="1"/>
          </p:cNvPicPr>
          <p:nvPr/>
        </p:nvPicPr>
        <p:blipFill rotWithShape="1">
          <a:blip r:embed="rId6">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214435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CAAD1-98F3-3620-D222-EEA59CB24E8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D1926FB-D5D5-9B4F-1FE2-81BA44F87FFD}"/>
              </a:ext>
            </a:extLst>
          </p:cNvPr>
          <p:cNvPicPr>
            <a:picLocks noChangeAspect="1"/>
          </p:cNvPicPr>
          <p:nvPr/>
        </p:nvPicPr>
        <p:blipFill>
          <a:blip r:embed="rId3"/>
          <a:stretch>
            <a:fillRect/>
          </a:stretch>
        </p:blipFill>
        <p:spPr>
          <a:xfrm>
            <a:off x="6538961" y="0"/>
            <a:ext cx="4898571" cy="6858000"/>
          </a:xfrm>
          <a:prstGeom prst="rect">
            <a:avLst/>
          </a:prstGeom>
        </p:spPr>
      </p:pic>
      <p:sp>
        <p:nvSpPr>
          <p:cNvPr id="2" name="TextBox 1">
            <a:extLst>
              <a:ext uri="{FF2B5EF4-FFF2-40B4-BE49-F238E27FC236}">
                <a16:creationId xmlns:a16="http://schemas.microsoft.com/office/drawing/2014/main" id="{7BEA2CE4-2EDD-C7E1-7025-ED25864DCDB0}"/>
              </a:ext>
            </a:extLst>
          </p:cNvPr>
          <p:cNvSpPr txBox="1"/>
          <p:nvPr/>
        </p:nvSpPr>
        <p:spPr>
          <a:xfrm>
            <a:off x="287019" y="322580"/>
            <a:ext cx="6251941" cy="830997"/>
          </a:xfrm>
          <a:prstGeom prst="rect">
            <a:avLst/>
          </a:prstGeom>
          <a:noFill/>
        </p:spPr>
        <p:txBody>
          <a:bodyPr wrap="square" rtlCol="0">
            <a:spAutoFit/>
          </a:bodyPr>
          <a:lstStyle/>
          <a:p>
            <a:r>
              <a:rPr lang="en-US" sz="2400">
                <a:solidFill>
                  <a:srgbClr val="002060"/>
                </a:solidFill>
              </a:rPr>
              <a:t>MONITORING </a:t>
            </a:r>
          </a:p>
          <a:p>
            <a:r>
              <a:rPr lang="en-US" sz="2400">
                <a:solidFill>
                  <a:srgbClr val="002060"/>
                </a:solidFill>
              </a:rPr>
              <a:t>AND EVALUATION (1)    </a:t>
            </a:r>
            <a:endParaRPr lang="en-DK" sz="2400">
              <a:solidFill>
                <a:srgbClr val="002060"/>
              </a:solidFill>
            </a:endParaRPr>
          </a:p>
        </p:txBody>
      </p:sp>
      <p:pic>
        <p:nvPicPr>
          <p:cNvPr id="3" name="Picture 2" descr="A logo with a black background&#10;&#10;Description automatically generated">
            <a:extLst>
              <a:ext uri="{FF2B5EF4-FFF2-40B4-BE49-F238E27FC236}">
                <a16:creationId xmlns:a16="http://schemas.microsoft.com/office/drawing/2014/main" id="{E807E5D9-5884-BA99-6453-8E1E0568C40A}"/>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pic>
        <p:nvPicPr>
          <p:cNvPr id="6" name="Picture 5">
            <a:extLst>
              <a:ext uri="{FF2B5EF4-FFF2-40B4-BE49-F238E27FC236}">
                <a16:creationId xmlns:a16="http://schemas.microsoft.com/office/drawing/2014/main" id="{DFDFB0FE-0CEA-CEE7-A4B5-1A7D64BD0388}"/>
              </a:ext>
            </a:extLst>
          </p:cNvPr>
          <p:cNvPicPr>
            <a:picLocks noChangeAspect="1"/>
          </p:cNvPicPr>
          <p:nvPr/>
        </p:nvPicPr>
        <p:blipFill>
          <a:blip r:embed="rId5"/>
          <a:stretch>
            <a:fillRect/>
          </a:stretch>
        </p:blipFill>
        <p:spPr>
          <a:xfrm>
            <a:off x="287019" y="1631484"/>
            <a:ext cx="6022573" cy="4235916"/>
          </a:xfrm>
          <a:prstGeom prst="rect">
            <a:avLst/>
          </a:prstGeom>
        </p:spPr>
      </p:pic>
    </p:spTree>
    <p:extLst>
      <p:ext uri="{BB962C8B-B14F-4D97-AF65-F5344CB8AC3E}">
        <p14:creationId xmlns:p14="http://schemas.microsoft.com/office/powerpoint/2010/main" val="29515010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7C8E61-A0A8-8BB2-2098-221774CF38B4}"/>
              </a:ext>
            </a:extLst>
          </p:cNvPr>
          <p:cNvSpPr txBox="1"/>
          <p:nvPr/>
        </p:nvSpPr>
        <p:spPr>
          <a:xfrm>
            <a:off x="388620" y="335280"/>
            <a:ext cx="5608320" cy="461665"/>
          </a:xfrm>
          <a:prstGeom prst="rect">
            <a:avLst/>
          </a:prstGeom>
          <a:noFill/>
        </p:spPr>
        <p:txBody>
          <a:bodyPr wrap="square" rtlCol="0">
            <a:spAutoFit/>
          </a:bodyPr>
          <a:lstStyle/>
          <a:p>
            <a:r>
              <a:rPr lang="en-US" sz="2400">
                <a:solidFill>
                  <a:srgbClr val="002060"/>
                </a:solidFill>
              </a:rPr>
              <a:t>MONITORING AND EVALUATION (2)    </a:t>
            </a:r>
            <a:endParaRPr lang="en-DK" sz="2400">
              <a:solidFill>
                <a:srgbClr val="002060"/>
              </a:solidFill>
            </a:endParaRPr>
          </a:p>
        </p:txBody>
      </p:sp>
      <p:pic>
        <p:nvPicPr>
          <p:cNvPr id="7" name="Picture 6" descr="A screenshot of a computer&#10;&#10;AI-generated content may be incorrect.">
            <a:extLst>
              <a:ext uri="{FF2B5EF4-FFF2-40B4-BE49-F238E27FC236}">
                <a16:creationId xmlns:a16="http://schemas.microsoft.com/office/drawing/2014/main" id="{1F51C190-095F-1F2C-F755-C73AB2C8FD0E}"/>
              </a:ext>
            </a:extLst>
          </p:cNvPr>
          <p:cNvPicPr>
            <a:picLocks noChangeAspect="1"/>
          </p:cNvPicPr>
          <p:nvPr/>
        </p:nvPicPr>
        <p:blipFill>
          <a:blip r:embed="rId3"/>
          <a:stretch>
            <a:fillRect/>
          </a:stretch>
        </p:blipFill>
        <p:spPr>
          <a:xfrm>
            <a:off x="7095471" y="797718"/>
            <a:ext cx="4370905" cy="5643563"/>
          </a:xfrm>
          <a:prstGeom prst="rect">
            <a:avLst/>
          </a:prstGeom>
        </p:spPr>
      </p:pic>
      <p:grpSp>
        <p:nvGrpSpPr>
          <p:cNvPr id="29" name="Group 28">
            <a:extLst>
              <a:ext uri="{FF2B5EF4-FFF2-40B4-BE49-F238E27FC236}">
                <a16:creationId xmlns:a16="http://schemas.microsoft.com/office/drawing/2014/main" id="{BF427477-5725-A19F-687B-8CAD5813B9CB}"/>
              </a:ext>
            </a:extLst>
          </p:cNvPr>
          <p:cNvGrpSpPr/>
          <p:nvPr/>
        </p:nvGrpSpPr>
        <p:grpSpPr>
          <a:xfrm>
            <a:off x="385557" y="797718"/>
            <a:ext cx="6325012" cy="5798344"/>
            <a:chOff x="385557" y="797718"/>
            <a:chExt cx="6325012" cy="5798344"/>
          </a:xfrm>
        </p:grpSpPr>
        <p:pic>
          <p:nvPicPr>
            <p:cNvPr id="5" name="Picture 4" descr="A screenshot of a computer&#10;&#10;AI-generated content may be incorrect.">
              <a:extLst>
                <a:ext uri="{FF2B5EF4-FFF2-40B4-BE49-F238E27FC236}">
                  <a16:creationId xmlns:a16="http://schemas.microsoft.com/office/drawing/2014/main" id="{F7E1BA19-C15E-815F-5219-C89F37730A64}"/>
                </a:ext>
              </a:extLst>
            </p:cNvPr>
            <p:cNvPicPr>
              <a:picLocks noChangeAspect="1"/>
            </p:cNvPicPr>
            <p:nvPr/>
          </p:nvPicPr>
          <p:blipFill>
            <a:blip r:embed="rId4"/>
            <a:stretch>
              <a:fillRect/>
            </a:stretch>
          </p:blipFill>
          <p:spPr>
            <a:xfrm>
              <a:off x="385557" y="797718"/>
              <a:ext cx="6325012" cy="5798344"/>
            </a:xfrm>
            <a:prstGeom prst="rect">
              <a:avLst/>
            </a:prstGeom>
          </p:spPr>
        </p:pic>
        <p:pic>
          <p:nvPicPr>
            <p:cNvPr id="28" name="Picture 27">
              <a:extLst>
                <a:ext uri="{FF2B5EF4-FFF2-40B4-BE49-F238E27FC236}">
                  <a16:creationId xmlns:a16="http://schemas.microsoft.com/office/drawing/2014/main" id="{EC283D04-48F9-1F4E-E769-B5E216FE9054}"/>
                </a:ext>
              </a:extLst>
            </p:cNvPr>
            <p:cNvPicPr>
              <a:picLocks noChangeAspect="1"/>
            </p:cNvPicPr>
            <p:nvPr/>
          </p:nvPicPr>
          <p:blipFill>
            <a:blip r:embed="rId5"/>
            <a:stretch>
              <a:fillRect/>
            </a:stretch>
          </p:blipFill>
          <p:spPr>
            <a:xfrm>
              <a:off x="5994400" y="3338512"/>
              <a:ext cx="609600" cy="180975"/>
            </a:xfrm>
            <a:prstGeom prst="rect">
              <a:avLst/>
            </a:prstGeom>
          </p:spPr>
        </p:pic>
      </p:grpSp>
      <p:grpSp>
        <p:nvGrpSpPr>
          <p:cNvPr id="30" name="Group 29">
            <a:extLst>
              <a:ext uri="{FF2B5EF4-FFF2-40B4-BE49-F238E27FC236}">
                <a16:creationId xmlns:a16="http://schemas.microsoft.com/office/drawing/2014/main" id="{E70F0913-8B43-7151-2665-BA8CC928F32B}"/>
              </a:ext>
            </a:extLst>
          </p:cNvPr>
          <p:cNvGrpSpPr/>
          <p:nvPr/>
        </p:nvGrpSpPr>
        <p:grpSpPr>
          <a:xfrm>
            <a:off x="621625" y="2071687"/>
            <a:ext cx="9252625" cy="2714625"/>
            <a:chOff x="1221065" y="4012247"/>
            <a:chExt cx="9252625" cy="2714625"/>
          </a:xfrm>
        </p:grpSpPr>
        <p:grpSp>
          <p:nvGrpSpPr>
            <p:cNvPr id="31" name="Group 30">
              <a:extLst>
                <a:ext uri="{FF2B5EF4-FFF2-40B4-BE49-F238E27FC236}">
                  <a16:creationId xmlns:a16="http://schemas.microsoft.com/office/drawing/2014/main" id="{02767444-431F-22B9-DD61-B2D950FCEE20}"/>
                </a:ext>
              </a:extLst>
            </p:cNvPr>
            <p:cNvGrpSpPr/>
            <p:nvPr/>
          </p:nvGrpSpPr>
          <p:grpSpPr>
            <a:xfrm>
              <a:off x="1221065" y="4012247"/>
              <a:ext cx="9252625" cy="2714625"/>
              <a:chOff x="1221065" y="4012247"/>
              <a:chExt cx="9252625" cy="2714625"/>
            </a:xfrm>
          </p:grpSpPr>
          <p:grpSp>
            <p:nvGrpSpPr>
              <p:cNvPr id="34" name="Group 33">
                <a:extLst>
                  <a:ext uri="{FF2B5EF4-FFF2-40B4-BE49-F238E27FC236}">
                    <a16:creationId xmlns:a16="http://schemas.microsoft.com/office/drawing/2014/main" id="{5873FC2A-76D0-A704-735D-D185886312C7}"/>
                  </a:ext>
                </a:extLst>
              </p:cNvPr>
              <p:cNvGrpSpPr/>
              <p:nvPr/>
            </p:nvGrpSpPr>
            <p:grpSpPr>
              <a:xfrm>
                <a:off x="1221065" y="4012247"/>
                <a:ext cx="8750499" cy="2714625"/>
                <a:chOff x="1221065" y="4012247"/>
                <a:chExt cx="8750499" cy="2714625"/>
              </a:xfrm>
            </p:grpSpPr>
            <p:grpSp>
              <p:nvGrpSpPr>
                <p:cNvPr id="36" name="Group 35">
                  <a:extLst>
                    <a:ext uri="{FF2B5EF4-FFF2-40B4-BE49-F238E27FC236}">
                      <a16:creationId xmlns:a16="http://schemas.microsoft.com/office/drawing/2014/main" id="{8A6BEDD9-B776-6C26-6F06-7C610DD4682C}"/>
                    </a:ext>
                  </a:extLst>
                </p:cNvPr>
                <p:cNvGrpSpPr/>
                <p:nvPr/>
              </p:nvGrpSpPr>
              <p:grpSpPr>
                <a:xfrm>
                  <a:off x="1221065" y="5183774"/>
                  <a:ext cx="4253337" cy="364379"/>
                  <a:chOff x="1221065" y="5183774"/>
                  <a:chExt cx="4185193" cy="364379"/>
                </a:xfrm>
              </p:grpSpPr>
              <p:sp>
                <p:nvSpPr>
                  <p:cNvPr id="38" name="Rectangle 37">
                    <a:extLst>
                      <a:ext uri="{FF2B5EF4-FFF2-40B4-BE49-F238E27FC236}">
                        <a16:creationId xmlns:a16="http://schemas.microsoft.com/office/drawing/2014/main" id="{28226E54-FA82-0893-4DA6-D49D8D5A3309}"/>
                      </a:ext>
                    </a:extLst>
                  </p:cNvPr>
                  <p:cNvSpPr/>
                  <p:nvPr/>
                </p:nvSpPr>
                <p:spPr>
                  <a:xfrm>
                    <a:off x="1221065" y="5183774"/>
                    <a:ext cx="3452035" cy="364379"/>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150"/>
                  </a:p>
                </p:txBody>
              </p:sp>
              <p:cxnSp>
                <p:nvCxnSpPr>
                  <p:cNvPr id="39" name="Straight Arrow Connector 38">
                    <a:extLst>
                      <a:ext uri="{FF2B5EF4-FFF2-40B4-BE49-F238E27FC236}">
                        <a16:creationId xmlns:a16="http://schemas.microsoft.com/office/drawing/2014/main" id="{B9F4A14E-95BE-FE97-A7B4-44940E25494B}"/>
                      </a:ext>
                    </a:extLst>
                  </p:cNvPr>
                  <p:cNvCxnSpPr>
                    <a:cxnSpLocks/>
                  </p:cNvCxnSpPr>
                  <p:nvPr/>
                </p:nvCxnSpPr>
                <p:spPr>
                  <a:xfrm>
                    <a:off x="4661195" y="5367711"/>
                    <a:ext cx="745063" cy="6665"/>
                  </a:xfrm>
                  <a:prstGeom prst="straightConnector1">
                    <a:avLst/>
                  </a:prstGeom>
                  <a:ln w="12700">
                    <a:solidFill>
                      <a:srgbClr val="316300"/>
                    </a:solidFill>
                    <a:tailEnd type="triangle"/>
                  </a:ln>
                </p:spPr>
                <p:style>
                  <a:lnRef idx="1">
                    <a:schemeClr val="accent1"/>
                  </a:lnRef>
                  <a:fillRef idx="0">
                    <a:schemeClr val="accent1"/>
                  </a:fillRef>
                  <a:effectRef idx="0">
                    <a:schemeClr val="accent1"/>
                  </a:effectRef>
                  <a:fontRef idx="minor">
                    <a:schemeClr val="tx1"/>
                  </a:fontRef>
                </p:style>
              </p:cxnSp>
            </p:grpSp>
            <p:pic>
              <p:nvPicPr>
                <p:cNvPr id="37" name="Picture 36" descr="A screenshot of a survey&#10;&#10;AI-generated content may be incorrect.">
                  <a:extLst>
                    <a:ext uri="{FF2B5EF4-FFF2-40B4-BE49-F238E27FC236}">
                      <a16:creationId xmlns:a16="http://schemas.microsoft.com/office/drawing/2014/main" id="{8EDD2CFD-9C4E-07E1-B5BE-9215152AB710}"/>
                    </a:ext>
                  </a:extLst>
                </p:cNvPr>
                <p:cNvPicPr>
                  <a:picLocks noChangeAspect="1"/>
                </p:cNvPicPr>
                <p:nvPr/>
              </p:nvPicPr>
              <p:blipFill>
                <a:blip r:embed="rId6"/>
                <a:stretch>
                  <a:fillRect/>
                </a:stretch>
              </p:blipFill>
              <p:spPr>
                <a:xfrm>
                  <a:off x="5561489" y="4012247"/>
                  <a:ext cx="4410075" cy="2714625"/>
                </a:xfrm>
                <a:prstGeom prst="rect">
                  <a:avLst/>
                </a:prstGeom>
                <a:ln w="28575">
                  <a:solidFill>
                    <a:schemeClr val="accent6">
                      <a:lumMod val="50000"/>
                    </a:schemeClr>
                  </a:solidFill>
                </a:ln>
              </p:spPr>
            </p:pic>
          </p:grpSp>
          <p:pic>
            <p:nvPicPr>
              <p:cNvPr id="35" name="Picture 34" descr="A screenshot of a computer&#10;&#10;AI-generated content may be incorrect.">
                <a:extLst>
                  <a:ext uri="{FF2B5EF4-FFF2-40B4-BE49-F238E27FC236}">
                    <a16:creationId xmlns:a16="http://schemas.microsoft.com/office/drawing/2014/main" id="{6AF795D1-4125-1A39-8FE4-9512C2A047C1}"/>
                  </a:ext>
                </a:extLst>
              </p:cNvPr>
              <p:cNvPicPr>
                <a:picLocks noChangeAspect="1"/>
              </p:cNvPicPr>
              <p:nvPr/>
            </p:nvPicPr>
            <p:blipFill>
              <a:blip r:embed="rId7"/>
              <a:stretch>
                <a:fillRect/>
              </a:stretch>
            </p:blipFill>
            <p:spPr>
              <a:xfrm>
                <a:off x="8606790" y="5090795"/>
                <a:ext cx="1866900" cy="1085850"/>
              </a:xfrm>
              <a:prstGeom prst="rect">
                <a:avLst/>
              </a:prstGeom>
              <a:ln w="28575">
                <a:solidFill>
                  <a:schemeClr val="accent6">
                    <a:lumMod val="50000"/>
                  </a:schemeClr>
                </a:solidFill>
              </a:ln>
            </p:spPr>
          </p:pic>
        </p:grpSp>
        <p:sp>
          <p:nvSpPr>
            <p:cNvPr id="32" name="Rectangle 31">
              <a:extLst>
                <a:ext uri="{FF2B5EF4-FFF2-40B4-BE49-F238E27FC236}">
                  <a16:creationId xmlns:a16="http://schemas.microsoft.com/office/drawing/2014/main" id="{C4D1A3FC-9743-BA9F-DA39-2953AB3BE64D}"/>
                </a:ext>
              </a:extLst>
            </p:cNvPr>
            <p:cNvSpPr/>
            <p:nvPr/>
          </p:nvSpPr>
          <p:spPr>
            <a:xfrm>
              <a:off x="5770880" y="5323840"/>
              <a:ext cx="2001519" cy="193040"/>
            </a:xfrm>
            <a:prstGeom prst="rect">
              <a:avLst/>
            </a:prstGeom>
            <a:noFill/>
            <a:ln w="28575">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3" name="Straight Arrow Connector 32">
              <a:extLst>
                <a:ext uri="{FF2B5EF4-FFF2-40B4-BE49-F238E27FC236}">
                  <a16:creationId xmlns:a16="http://schemas.microsoft.com/office/drawing/2014/main" id="{31E43D74-17BD-D763-B3E2-451DC988FF6F}"/>
                </a:ext>
              </a:extLst>
            </p:cNvPr>
            <p:cNvCxnSpPr>
              <a:cxnSpLocks/>
            </p:cNvCxnSpPr>
            <p:nvPr/>
          </p:nvCxnSpPr>
          <p:spPr>
            <a:xfrm>
              <a:off x="7775368" y="5418511"/>
              <a:ext cx="757194" cy="6665"/>
            </a:xfrm>
            <a:prstGeom prst="straightConnector1">
              <a:avLst/>
            </a:prstGeom>
            <a:ln w="12700">
              <a:solidFill>
                <a:srgbClr val="316300"/>
              </a:solidFill>
              <a:tailEnd type="triangle"/>
            </a:ln>
          </p:spPr>
          <p:style>
            <a:lnRef idx="1">
              <a:schemeClr val="accent1"/>
            </a:lnRef>
            <a:fillRef idx="0">
              <a:schemeClr val="accent1"/>
            </a:fillRef>
            <a:effectRef idx="0">
              <a:schemeClr val="accent1"/>
            </a:effectRef>
            <a:fontRef idx="minor">
              <a:schemeClr val="tx1"/>
            </a:fontRef>
          </p:style>
        </p:cxnSp>
      </p:grpSp>
      <p:pic>
        <p:nvPicPr>
          <p:cNvPr id="3" name="Picture 2" descr="A logo with a black background&#10;&#10;Description automatically generated">
            <a:extLst>
              <a:ext uri="{FF2B5EF4-FFF2-40B4-BE49-F238E27FC236}">
                <a16:creationId xmlns:a16="http://schemas.microsoft.com/office/drawing/2014/main" id="{FA3E5EB5-F1D5-A280-AE12-E5C8CD337B23}"/>
              </a:ext>
            </a:extLst>
          </p:cNvPr>
          <p:cNvPicPr>
            <a:picLocks noChangeAspect="1"/>
          </p:cNvPicPr>
          <p:nvPr/>
        </p:nvPicPr>
        <p:blipFill rotWithShape="1">
          <a:blip r:embed="rId8">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203165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FC462-36D5-4EF3-EB75-44B0F6A808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98131A-120B-FCA3-CD47-6DEC228A7EAC}"/>
              </a:ext>
            </a:extLst>
          </p:cNvPr>
          <p:cNvSpPr txBox="1"/>
          <p:nvPr/>
        </p:nvSpPr>
        <p:spPr>
          <a:xfrm>
            <a:off x="388620" y="335280"/>
            <a:ext cx="5608320" cy="461665"/>
          </a:xfrm>
          <a:prstGeom prst="rect">
            <a:avLst/>
          </a:prstGeom>
          <a:noFill/>
        </p:spPr>
        <p:txBody>
          <a:bodyPr wrap="square" rtlCol="0">
            <a:spAutoFit/>
          </a:bodyPr>
          <a:lstStyle/>
          <a:p>
            <a:r>
              <a:rPr lang="en-US" sz="2400">
                <a:solidFill>
                  <a:srgbClr val="002060"/>
                </a:solidFill>
              </a:rPr>
              <a:t>COOPERATION AND EXPERIENCE    </a:t>
            </a:r>
            <a:endParaRPr lang="en-DK" sz="2400">
              <a:solidFill>
                <a:srgbClr val="002060"/>
              </a:solidFill>
            </a:endParaRPr>
          </a:p>
        </p:txBody>
      </p:sp>
      <p:pic>
        <p:nvPicPr>
          <p:cNvPr id="5" name="Picture 4" descr="A screenshot of a computer&#10;&#10;AI-generated content may be incorrect.">
            <a:extLst>
              <a:ext uri="{FF2B5EF4-FFF2-40B4-BE49-F238E27FC236}">
                <a16:creationId xmlns:a16="http://schemas.microsoft.com/office/drawing/2014/main" id="{FC0013D7-B4FE-E431-BF3E-948E716EEDC6}"/>
              </a:ext>
            </a:extLst>
          </p:cNvPr>
          <p:cNvPicPr>
            <a:picLocks noChangeAspect="1"/>
          </p:cNvPicPr>
          <p:nvPr/>
        </p:nvPicPr>
        <p:blipFill>
          <a:blip r:embed="rId3"/>
          <a:stretch>
            <a:fillRect/>
          </a:stretch>
        </p:blipFill>
        <p:spPr>
          <a:xfrm>
            <a:off x="0" y="1001569"/>
            <a:ext cx="12192000" cy="5545742"/>
          </a:xfrm>
          <a:prstGeom prst="rect">
            <a:avLst/>
          </a:prstGeom>
        </p:spPr>
      </p:pic>
      <p:grpSp>
        <p:nvGrpSpPr>
          <p:cNvPr id="12" name="Group 11">
            <a:extLst>
              <a:ext uri="{FF2B5EF4-FFF2-40B4-BE49-F238E27FC236}">
                <a16:creationId xmlns:a16="http://schemas.microsoft.com/office/drawing/2014/main" id="{A5CA86D7-286F-003F-5FEA-9E04C7D496B5}"/>
              </a:ext>
            </a:extLst>
          </p:cNvPr>
          <p:cNvGrpSpPr/>
          <p:nvPr/>
        </p:nvGrpSpPr>
        <p:grpSpPr>
          <a:xfrm>
            <a:off x="313716" y="1923350"/>
            <a:ext cx="11561981" cy="4370195"/>
            <a:chOff x="313716" y="1923350"/>
            <a:chExt cx="11561981" cy="4370195"/>
          </a:xfrm>
        </p:grpSpPr>
        <p:sp>
          <p:nvSpPr>
            <p:cNvPr id="7" name="Rectangle 6">
              <a:extLst>
                <a:ext uri="{FF2B5EF4-FFF2-40B4-BE49-F238E27FC236}">
                  <a16:creationId xmlns:a16="http://schemas.microsoft.com/office/drawing/2014/main" id="{B0A920A7-0433-C42C-D824-6559F8BDF3A7}"/>
                </a:ext>
              </a:extLst>
            </p:cNvPr>
            <p:cNvSpPr/>
            <p:nvPr/>
          </p:nvSpPr>
          <p:spPr>
            <a:xfrm>
              <a:off x="313716" y="1923350"/>
              <a:ext cx="1809724" cy="270588"/>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150"/>
            </a:p>
          </p:txBody>
        </p:sp>
        <p:pic>
          <p:nvPicPr>
            <p:cNvPr id="3" name="Picture 2" descr="A screenshot of a computer&#10;&#10;AI-generated content may be incorrect.">
              <a:extLst>
                <a:ext uri="{FF2B5EF4-FFF2-40B4-BE49-F238E27FC236}">
                  <a16:creationId xmlns:a16="http://schemas.microsoft.com/office/drawing/2014/main" id="{06C0C044-033B-72EF-A357-C9DA0FFAC339}"/>
                </a:ext>
              </a:extLst>
            </p:cNvPr>
            <p:cNvPicPr>
              <a:picLocks noChangeAspect="1"/>
            </p:cNvPicPr>
            <p:nvPr/>
          </p:nvPicPr>
          <p:blipFill>
            <a:blip r:embed="rId4"/>
            <a:stretch>
              <a:fillRect/>
            </a:stretch>
          </p:blipFill>
          <p:spPr>
            <a:xfrm>
              <a:off x="546339" y="2875552"/>
              <a:ext cx="11329358" cy="2688403"/>
            </a:xfrm>
            <a:prstGeom prst="rect">
              <a:avLst/>
            </a:prstGeom>
            <a:ln w="28575">
              <a:solidFill>
                <a:schemeClr val="accent6">
                  <a:lumMod val="50000"/>
                </a:schemeClr>
              </a:solidFill>
            </a:ln>
          </p:spPr>
        </p:pic>
        <p:cxnSp>
          <p:nvCxnSpPr>
            <p:cNvPr id="6" name="Straight Arrow Connector 5">
              <a:extLst>
                <a:ext uri="{FF2B5EF4-FFF2-40B4-BE49-F238E27FC236}">
                  <a16:creationId xmlns:a16="http://schemas.microsoft.com/office/drawing/2014/main" id="{AB03AEE6-9580-3BD9-ABA2-6D52CCCAE617}"/>
                </a:ext>
              </a:extLst>
            </p:cNvPr>
            <p:cNvCxnSpPr/>
            <p:nvPr/>
          </p:nvCxnSpPr>
          <p:spPr>
            <a:xfrm flipH="1">
              <a:off x="1217859" y="2190343"/>
              <a:ext cx="5750" cy="641231"/>
            </a:xfrm>
            <a:prstGeom prst="straightConnector1">
              <a:avLst/>
            </a:prstGeom>
            <a:ln>
              <a:solidFill>
                <a:schemeClr val="accent6">
                  <a:lumMod val="5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8" name="Picture 7" descr="A screenshot of a browser window&#10;&#10;AI-generated content may be incorrect.">
              <a:extLst>
                <a:ext uri="{FF2B5EF4-FFF2-40B4-BE49-F238E27FC236}">
                  <a16:creationId xmlns:a16="http://schemas.microsoft.com/office/drawing/2014/main" id="{6D99A519-FE62-9817-94B8-1D6D258428D6}"/>
                </a:ext>
              </a:extLst>
            </p:cNvPr>
            <p:cNvPicPr>
              <a:picLocks noChangeAspect="1"/>
            </p:cNvPicPr>
            <p:nvPr/>
          </p:nvPicPr>
          <p:blipFill>
            <a:blip r:embed="rId5"/>
            <a:stretch>
              <a:fillRect/>
            </a:stretch>
          </p:blipFill>
          <p:spPr>
            <a:xfrm>
              <a:off x="1581509" y="4532604"/>
              <a:ext cx="9949133" cy="1760941"/>
            </a:xfrm>
            <a:prstGeom prst="rect">
              <a:avLst/>
            </a:prstGeom>
            <a:ln w="28575">
              <a:solidFill>
                <a:schemeClr val="accent6">
                  <a:lumMod val="50000"/>
                </a:schemeClr>
              </a:solidFill>
            </a:ln>
          </p:spPr>
        </p:pic>
        <p:sp>
          <p:nvSpPr>
            <p:cNvPr id="9" name="Rectangle 8">
              <a:extLst>
                <a:ext uri="{FF2B5EF4-FFF2-40B4-BE49-F238E27FC236}">
                  <a16:creationId xmlns:a16="http://schemas.microsoft.com/office/drawing/2014/main" id="{50BA74D1-5F23-F42A-38C4-45FD275E3BBA}"/>
                </a:ext>
              </a:extLst>
            </p:cNvPr>
            <p:cNvSpPr/>
            <p:nvPr/>
          </p:nvSpPr>
          <p:spPr>
            <a:xfrm>
              <a:off x="673149" y="3504858"/>
              <a:ext cx="1277762" cy="256211"/>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150"/>
            </a:p>
          </p:txBody>
        </p:sp>
        <p:cxnSp>
          <p:nvCxnSpPr>
            <p:cNvPr id="11" name="Straight Arrow Connector 10">
              <a:extLst>
                <a:ext uri="{FF2B5EF4-FFF2-40B4-BE49-F238E27FC236}">
                  <a16:creationId xmlns:a16="http://schemas.microsoft.com/office/drawing/2014/main" id="{ED15C199-D101-6F2A-3A6B-3192E16D73D2}"/>
                </a:ext>
              </a:extLst>
            </p:cNvPr>
            <p:cNvCxnSpPr>
              <a:cxnSpLocks/>
            </p:cNvCxnSpPr>
            <p:nvPr/>
          </p:nvCxnSpPr>
          <p:spPr>
            <a:xfrm flipH="1">
              <a:off x="1792953" y="3771851"/>
              <a:ext cx="5750" cy="713118"/>
            </a:xfrm>
            <a:prstGeom prst="straightConnector1">
              <a:avLst/>
            </a:prstGeom>
            <a:ln>
              <a:solidFill>
                <a:schemeClr val="accent6">
                  <a:lumMod val="50000"/>
                </a:schemeClr>
              </a:solidFill>
              <a:tailEnd type="triangle"/>
            </a:ln>
          </p:spPr>
          <p:style>
            <a:lnRef idx="2">
              <a:schemeClr val="accent1"/>
            </a:lnRef>
            <a:fillRef idx="0">
              <a:schemeClr val="accent1"/>
            </a:fillRef>
            <a:effectRef idx="1">
              <a:schemeClr val="accent1"/>
            </a:effectRef>
            <a:fontRef idx="minor">
              <a:schemeClr val="tx1"/>
            </a:fontRef>
          </p:style>
        </p:cxnSp>
      </p:grpSp>
      <p:pic>
        <p:nvPicPr>
          <p:cNvPr id="10" name="Picture 9" descr="A logo with a black background&#10;&#10;Description automatically generated">
            <a:extLst>
              <a:ext uri="{FF2B5EF4-FFF2-40B4-BE49-F238E27FC236}">
                <a16:creationId xmlns:a16="http://schemas.microsoft.com/office/drawing/2014/main" id="{8676DADD-B3F3-8BFA-019F-D26EB8CC0C6C}"/>
              </a:ext>
            </a:extLst>
          </p:cNvPr>
          <p:cNvPicPr>
            <a:picLocks noChangeAspect="1"/>
          </p:cNvPicPr>
          <p:nvPr/>
        </p:nvPicPr>
        <p:blipFill rotWithShape="1">
          <a:blip r:embed="rId6">
            <a:extLst>
              <a:ext uri="{28A0092B-C50C-407E-A947-70E740481C1C}">
                <a14:useLocalDpi xmlns:a14="http://schemas.microsoft.com/office/drawing/2010/main" val="0"/>
              </a:ext>
            </a:extLst>
          </a:blip>
          <a:srcRect l="38167" t="-11528" r="48578" b="-1"/>
          <a:stretch/>
        </p:blipFill>
        <p:spPr bwMode="auto">
          <a:xfrm>
            <a:off x="10583219" y="91945"/>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61814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2E504-2BEE-1B18-02FF-7024E435285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3BD5FE-024E-40AC-5E5B-9214F8F10BB1}"/>
              </a:ext>
            </a:extLst>
          </p:cNvPr>
          <p:cNvSpPr txBox="1"/>
          <p:nvPr/>
        </p:nvSpPr>
        <p:spPr>
          <a:xfrm>
            <a:off x="388620" y="335280"/>
            <a:ext cx="5608320" cy="461665"/>
          </a:xfrm>
          <a:prstGeom prst="rect">
            <a:avLst/>
          </a:prstGeom>
          <a:noFill/>
        </p:spPr>
        <p:txBody>
          <a:bodyPr wrap="square" rtlCol="0">
            <a:spAutoFit/>
          </a:bodyPr>
          <a:lstStyle/>
          <a:p>
            <a:r>
              <a:rPr lang="en-US" sz="2400">
                <a:solidFill>
                  <a:srgbClr val="002060"/>
                </a:solidFill>
              </a:rPr>
              <a:t>SUB-NATIONAL ADAPTATION    </a:t>
            </a:r>
            <a:endParaRPr lang="en-DK" sz="2400">
              <a:solidFill>
                <a:srgbClr val="002060"/>
              </a:solidFill>
            </a:endParaRPr>
          </a:p>
        </p:txBody>
      </p:sp>
      <p:pic>
        <p:nvPicPr>
          <p:cNvPr id="4" name="Picture 3" descr="A screenshot of a computer&#10;&#10;AI-generated content may be incorrect.">
            <a:extLst>
              <a:ext uri="{FF2B5EF4-FFF2-40B4-BE49-F238E27FC236}">
                <a16:creationId xmlns:a16="http://schemas.microsoft.com/office/drawing/2014/main" id="{62FB1EAD-F7F9-9B15-9259-27C0690C0F0D}"/>
              </a:ext>
            </a:extLst>
          </p:cNvPr>
          <p:cNvPicPr>
            <a:picLocks noChangeAspect="1"/>
          </p:cNvPicPr>
          <p:nvPr/>
        </p:nvPicPr>
        <p:blipFill>
          <a:blip r:embed="rId3"/>
          <a:stretch>
            <a:fillRect/>
          </a:stretch>
        </p:blipFill>
        <p:spPr>
          <a:xfrm>
            <a:off x="90476" y="792480"/>
            <a:ext cx="4411368" cy="596392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EBA578F1-F9EE-4F5F-A5E6-C9E2001FB5D1}"/>
              </a:ext>
            </a:extLst>
          </p:cNvPr>
          <p:cNvPicPr>
            <a:picLocks noChangeAspect="1"/>
          </p:cNvPicPr>
          <p:nvPr/>
        </p:nvPicPr>
        <p:blipFill>
          <a:blip r:embed="rId4"/>
          <a:stretch>
            <a:fillRect/>
          </a:stretch>
        </p:blipFill>
        <p:spPr>
          <a:xfrm>
            <a:off x="4951095" y="1383348"/>
            <a:ext cx="6831330" cy="4355465"/>
          </a:xfrm>
          <a:prstGeom prst="rect">
            <a:avLst/>
          </a:prstGeom>
        </p:spPr>
      </p:pic>
      <p:grpSp>
        <p:nvGrpSpPr>
          <p:cNvPr id="7" name="Group 6">
            <a:extLst>
              <a:ext uri="{FF2B5EF4-FFF2-40B4-BE49-F238E27FC236}">
                <a16:creationId xmlns:a16="http://schemas.microsoft.com/office/drawing/2014/main" id="{0E390A57-E17C-AE17-0A1D-217A4CC4F910}"/>
              </a:ext>
            </a:extLst>
          </p:cNvPr>
          <p:cNvGrpSpPr/>
          <p:nvPr/>
        </p:nvGrpSpPr>
        <p:grpSpPr>
          <a:xfrm>
            <a:off x="5069840" y="4287520"/>
            <a:ext cx="5283358" cy="2037696"/>
            <a:chOff x="5069840" y="4287520"/>
            <a:chExt cx="5283358" cy="2037696"/>
          </a:xfrm>
        </p:grpSpPr>
        <p:sp>
          <p:nvSpPr>
            <p:cNvPr id="6" name="TextBox 11">
              <a:extLst>
                <a:ext uri="{FF2B5EF4-FFF2-40B4-BE49-F238E27FC236}">
                  <a16:creationId xmlns:a16="http://schemas.microsoft.com/office/drawing/2014/main" id="{8E28CB58-20EA-A71E-AE5B-287A1E2EA2A9}"/>
                </a:ext>
              </a:extLst>
            </p:cNvPr>
            <p:cNvSpPr txBox="1"/>
            <p:nvPr/>
          </p:nvSpPr>
          <p:spPr>
            <a:xfrm>
              <a:off x="5653815" y="5678885"/>
              <a:ext cx="4699383" cy="646331"/>
            </a:xfrm>
            <a:prstGeom prst="rect">
              <a:avLst/>
            </a:prstGeom>
            <a:noFill/>
          </p:spPr>
          <p:txBody>
            <a:bodyPr wrap="square" lIns="91440" tIns="45720" rIns="91440" bIns="45720" rtlCol="0" anchor="t">
              <a:spAutoFit/>
            </a:bodyP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solidFill>
                  <a:srgbClr val="004B7F"/>
                </a:solidFill>
              </a:endParaRPr>
            </a:p>
            <a:p>
              <a:pPr algn="ctr"/>
              <a:r>
                <a:rPr lang="en-150">
                  <a:solidFill>
                    <a:srgbClr val="004B7F"/>
                  </a:solidFill>
                </a:rPr>
                <a:t>See “Cooperation and experience” webform</a:t>
              </a:r>
              <a:endParaRPr lang="en-150"/>
            </a:p>
          </p:txBody>
        </p:sp>
        <p:sp>
          <p:nvSpPr>
            <p:cNvPr id="8" name="Oval 7">
              <a:extLst>
                <a:ext uri="{FF2B5EF4-FFF2-40B4-BE49-F238E27FC236}">
                  <a16:creationId xmlns:a16="http://schemas.microsoft.com/office/drawing/2014/main" id="{394EE2F8-A9AB-9BEC-E730-7F01460FADDF}"/>
                </a:ext>
              </a:extLst>
            </p:cNvPr>
            <p:cNvSpPr/>
            <p:nvPr/>
          </p:nvSpPr>
          <p:spPr>
            <a:xfrm>
              <a:off x="5069840" y="4287520"/>
              <a:ext cx="2336800" cy="508000"/>
            </a:xfrm>
            <a:prstGeom prst="ellipse">
              <a:avLst/>
            </a:prstGeom>
            <a:no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025BFC05-31C4-E6BD-FF9F-3CCD34D5F128}"/>
                </a:ext>
              </a:extLst>
            </p:cNvPr>
            <p:cNvCxnSpPr/>
            <p:nvPr/>
          </p:nvCxnSpPr>
          <p:spPr>
            <a:xfrm>
              <a:off x="7071360" y="4724400"/>
              <a:ext cx="1137920" cy="12192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pic>
        <p:nvPicPr>
          <p:cNvPr id="3" name="Picture 2">
            <a:extLst>
              <a:ext uri="{FF2B5EF4-FFF2-40B4-BE49-F238E27FC236}">
                <a16:creationId xmlns:a16="http://schemas.microsoft.com/office/drawing/2014/main" id="{ABF3F9B1-28CD-366A-9E70-4720CF97DCA6}"/>
              </a:ext>
            </a:extLst>
          </p:cNvPr>
          <p:cNvPicPr>
            <a:picLocks noChangeAspect="1"/>
          </p:cNvPicPr>
          <p:nvPr/>
        </p:nvPicPr>
        <p:blipFill>
          <a:blip r:embed="rId5"/>
          <a:stretch>
            <a:fillRect/>
          </a:stretch>
        </p:blipFill>
        <p:spPr>
          <a:xfrm>
            <a:off x="10837743" y="4450422"/>
            <a:ext cx="638175" cy="200025"/>
          </a:xfrm>
          <a:prstGeom prst="rect">
            <a:avLst/>
          </a:prstGeom>
        </p:spPr>
      </p:pic>
      <p:pic>
        <p:nvPicPr>
          <p:cNvPr id="9" name="Picture 8" descr="A logo with a black background&#10;&#10;Description automatically generated">
            <a:extLst>
              <a:ext uri="{FF2B5EF4-FFF2-40B4-BE49-F238E27FC236}">
                <a16:creationId xmlns:a16="http://schemas.microsoft.com/office/drawing/2014/main" id="{AF17A16E-5AA6-2D17-40E8-F42C92DFAF1B}"/>
              </a:ext>
            </a:extLst>
          </p:cNvPr>
          <p:cNvPicPr>
            <a:picLocks noChangeAspect="1"/>
          </p:cNvPicPr>
          <p:nvPr/>
        </p:nvPicPr>
        <p:blipFill rotWithShape="1">
          <a:blip r:embed="rId6">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907391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C961F-69A4-789D-FDA1-BFFED523C2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75A3457-F7C6-959D-8E38-8760F7B11896}"/>
              </a:ext>
            </a:extLst>
          </p:cNvPr>
          <p:cNvSpPr txBox="1"/>
          <p:nvPr/>
        </p:nvSpPr>
        <p:spPr>
          <a:xfrm>
            <a:off x="388620" y="335280"/>
            <a:ext cx="5608320" cy="461665"/>
          </a:xfrm>
          <a:prstGeom prst="rect">
            <a:avLst/>
          </a:prstGeom>
          <a:noFill/>
        </p:spPr>
        <p:txBody>
          <a:bodyPr wrap="square" lIns="91440" tIns="45720" rIns="91440" bIns="45720" rtlCol="0" anchor="t">
            <a:spAutoFit/>
          </a:bodyPr>
          <a:lstStyle/>
          <a:p>
            <a:r>
              <a:rPr lang="en-US" sz="2400">
                <a:solidFill>
                  <a:srgbClr val="002060"/>
                </a:solidFill>
              </a:rPr>
              <a:t>GENERAL INFORMATION (1)</a:t>
            </a:r>
          </a:p>
        </p:txBody>
      </p:sp>
      <p:pic>
        <p:nvPicPr>
          <p:cNvPr id="4" name="Picture 3" descr="A screenshot of a computer&#10;&#10;AI-generated content may be incorrect.">
            <a:extLst>
              <a:ext uri="{FF2B5EF4-FFF2-40B4-BE49-F238E27FC236}">
                <a16:creationId xmlns:a16="http://schemas.microsoft.com/office/drawing/2014/main" id="{22F1C79C-20A1-A375-4968-D3B41D9F5342}"/>
              </a:ext>
            </a:extLst>
          </p:cNvPr>
          <p:cNvPicPr>
            <a:picLocks noChangeAspect="1"/>
          </p:cNvPicPr>
          <p:nvPr/>
        </p:nvPicPr>
        <p:blipFill>
          <a:blip r:embed="rId3"/>
          <a:stretch>
            <a:fillRect/>
          </a:stretch>
        </p:blipFill>
        <p:spPr>
          <a:xfrm>
            <a:off x="0" y="906275"/>
            <a:ext cx="12192000" cy="5045450"/>
          </a:xfrm>
          <a:prstGeom prst="rect">
            <a:avLst/>
          </a:prstGeom>
        </p:spPr>
      </p:pic>
      <p:sp>
        <p:nvSpPr>
          <p:cNvPr id="5" name="Rectangle 4">
            <a:extLst>
              <a:ext uri="{FF2B5EF4-FFF2-40B4-BE49-F238E27FC236}">
                <a16:creationId xmlns:a16="http://schemas.microsoft.com/office/drawing/2014/main" id="{213D0095-FE4F-6735-7672-AF950AD64359}"/>
              </a:ext>
            </a:extLst>
          </p:cNvPr>
          <p:cNvSpPr/>
          <p:nvPr/>
        </p:nvSpPr>
        <p:spPr>
          <a:xfrm>
            <a:off x="6366618" y="1459391"/>
            <a:ext cx="535723" cy="923330"/>
          </a:xfrm>
          <a:prstGeom prst="rect">
            <a:avLst/>
          </a:prstGeom>
          <a:noFill/>
          <a:ln>
            <a:noFill/>
          </a:ln>
        </p:spPr>
        <p:txBody>
          <a:bodyPr wrap="none" lIns="91440" tIns="45720" rIns="91440" bIns="45720">
            <a:spAutoFit/>
          </a:bodyP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150" sz="5400" b="0" cap="none" spc="0">
                <a:ln w="0"/>
                <a:solidFill>
                  <a:srgbClr val="316300"/>
                </a:solidFill>
                <a:effectLst>
                  <a:outerShdw blurRad="38100" dist="19050" dir="2700000" algn="tl" rotWithShape="0">
                    <a:schemeClr val="dk1">
                      <a:alpha val="40000"/>
                    </a:schemeClr>
                  </a:outerShdw>
                </a:effectLst>
              </a:rPr>
              <a:t>1</a:t>
            </a:r>
            <a:endParaRPr lang="en-US" sz="5400" b="0" cap="none" spc="0">
              <a:ln w="0"/>
              <a:solidFill>
                <a:srgbClr val="316300"/>
              </a:solidFill>
              <a:effectLst>
                <a:outerShdw blurRad="38100" dist="19050" dir="2700000" algn="tl" rotWithShape="0">
                  <a:schemeClr val="dk1">
                    <a:alpha val="40000"/>
                  </a:schemeClr>
                </a:outerShdw>
              </a:effectLst>
            </a:endParaRPr>
          </a:p>
        </p:txBody>
      </p:sp>
      <p:sp>
        <p:nvSpPr>
          <p:cNvPr id="6" name="Rectangle 5">
            <a:extLst>
              <a:ext uri="{FF2B5EF4-FFF2-40B4-BE49-F238E27FC236}">
                <a16:creationId xmlns:a16="http://schemas.microsoft.com/office/drawing/2014/main" id="{5BE44DFC-D134-181F-EFBB-76134C7682A5}"/>
              </a:ext>
            </a:extLst>
          </p:cNvPr>
          <p:cNvSpPr/>
          <p:nvPr/>
        </p:nvSpPr>
        <p:spPr>
          <a:xfrm>
            <a:off x="6366618" y="2222026"/>
            <a:ext cx="535724" cy="923330"/>
          </a:xfrm>
          <a:prstGeom prst="rect">
            <a:avLst/>
          </a:prstGeom>
          <a:noFill/>
          <a:ln>
            <a:noFill/>
          </a:ln>
        </p:spPr>
        <p:txBody>
          <a:bodyPr wrap="none" lIns="91440" tIns="45720" rIns="91440" bIns="45720">
            <a:spAutoFit/>
          </a:bodyP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150" sz="5400" b="0" cap="none" spc="0">
                <a:ln w="0"/>
                <a:solidFill>
                  <a:srgbClr val="316300"/>
                </a:solidFill>
                <a:effectLst>
                  <a:outerShdw blurRad="38100" dist="19050" dir="2700000" algn="tl" rotWithShape="0">
                    <a:schemeClr val="dk1">
                      <a:alpha val="40000"/>
                    </a:schemeClr>
                  </a:outerShdw>
                </a:effectLst>
              </a:rPr>
              <a:t>2</a:t>
            </a:r>
            <a:endParaRPr lang="en-US" sz="5400" b="0" cap="none" spc="0">
              <a:ln w="0"/>
              <a:solidFill>
                <a:srgbClr val="316300"/>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9426B87A-C6B5-DF3A-94EB-0476C3118AD8}"/>
              </a:ext>
            </a:extLst>
          </p:cNvPr>
          <p:cNvSpPr/>
          <p:nvPr/>
        </p:nvSpPr>
        <p:spPr>
          <a:xfrm>
            <a:off x="6364712" y="2970036"/>
            <a:ext cx="535724" cy="923330"/>
          </a:xfrm>
          <a:prstGeom prst="rect">
            <a:avLst/>
          </a:prstGeom>
          <a:noFill/>
          <a:ln>
            <a:noFill/>
          </a:ln>
        </p:spPr>
        <p:txBody>
          <a:bodyPr wrap="none" lIns="91440" tIns="45720" rIns="91440" bIns="45720">
            <a:spAutoFit/>
          </a:bodyP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150" sz="5400" b="0" cap="none" spc="0">
                <a:ln w="0"/>
                <a:solidFill>
                  <a:srgbClr val="316300"/>
                </a:solidFill>
                <a:effectLst>
                  <a:outerShdw blurRad="38100" dist="19050" dir="2700000" algn="tl" rotWithShape="0">
                    <a:schemeClr val="dk1">
                      <a:alpha val="40000"/>
                    </a:schemeClr>
                  </a:outerShdw>
                </a:effectLst>
              </a:rPr>
              <a:t>3</a:t>
            </a:r>
            <a:endParaRPr lang="en-US" sz="5400" b="0" cap="none" spc="0">
              <a:ln w="0"/>
              <a:solidFill>
                <a:srgbClr val="316300"/>
              </a:solidFill>
              <a:effectLst>
                <a:outerShdw blurRad="38100" dist="19050" dir="2700000" algn="tl" rotWithShape="0">
                  <a:schemeClr val="dk1">
                    <a:alpha val="40000"/>
                  </a:schemeClr>
                </a:outerShdw>
              </a:effectLst>
            </a:endParaRPr>
          </a:p>
        </p:txBody>
      </p:sp>
      <p:sp>
        <p:nvSpPr>
          <p:cNvPr id="8" name="Right Brace 7">
            <a:extLst>
              <a:ext uri="{FF2B5EF4-FFF2-40B4-BE49-F238E27FC236}">
                <a16:creationId xmlns:a16="http://schemas.microsoft.com/office/drawing/2014/main" id="{8C60EE98-2251-0990-18E4-C69C5BD6B8EB}"/>
              </a:ext>
            </a:extLst>
          </p:cNvPr>
          <p:cNvSpPr/>
          <p:nvPr/>
        </p:nvSpPr>
        <p:spPr>
          <a:xfrm>
            <a:off x="5552440" y="1625781"/>
            <a:ext cx="268605" cy="2113915"/>
          </a:xfrm>
          <a:prstGeom prst="rightBrace">
            <a:avLst/>
          </a:prstGeom>
          <a:ln w="28575">
            <a:solidFill>
              <a:srgbClr val="316300"/>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150"/>
          </a:p>
        </p:txBody>
      </p:sp>
      <p:sp>
        <p:nvSpPr>
          <p:cNvPr id="10" name="TextBox 9">
            <a:extLst>
              <a:ext uri="{FF2B5EF4-FFF2-40B4-BE49-F238E27FC236}">
                <a16:creationId xmlns:a16="http://schemas.microsoft.com/office/drawing/2014/main" id="{2F757533-D960-6EF3-1D38-534A2653D83C}"/>
              </a:ext>
            </a:extLst>
          </p:cNvPr>
          <p:cNvSpPr txBox="1"/>
          <p:nvPr/>
        </p:nvSpPr>
        <p:spPr>
          <a:xfrm>
            <a:off x="1274744" y="6195243"/>
            <a:ext cx="3537187" cy="369332"/>
          </a:xfrm>
          <a:prstGeom prst="rect">
            <a:avLst/>
          </a:prstGeom>
          <a:noFill/>
        </p:spPr>
        <p:txBody>
          <a:bodyPr wrap="none" rtlCol="0">
            <a:spAutoFit/>
          </a:bodyPr>
          <a:lstStyle/>
          <a:p>
            <a:r>
              <a:rPr lang="en-150">
                <a:solidFill>
                  <a:srgbClr val="004B7F"/>
                </a:solidFill>
              </a:rPr>
              <a:t>NO need to attach key publications!</a:t>
            </a:r>
          </a:p>
        </p:txBody>
      </p:sp>
      <p:sp>
        <p:nvSpPr>
          <p:cNvPr id="17" name="Oval 16">
            <a:extLst>
              <a:ext uri="{FF2B5EF4-FFF2-40B4-BE49-F238E27FC236}">
                <a16:creationId xmlns:a16="http://schemas.microsoft.com/office/drawing/2014/main" id="{75C35E76-FE53-5E56-1EE9-BADEC35F7A2C}"/>
              </a:ext>
            </a:extLst>
          </p:cNvPr>
          <p:cNvSpPr/>
          <p:nvPr/>
        </p:nvSpPr>
        <p:spPr>
          <a:xfrm>
            <a:off x="10160" y="4866640"/>
            <a:ext cx="3048000" cy="1005840"/>
          </a:xfrm>
          <a:prstGeom prst="ellipse">
            <a:avLst/>
          </a:prstGeom>
          <a:no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E97B1D30-6D91-0519-F40F-EEFA668B8F8D}"/>
              </a:ext>
            </a:extLst>
          </p:cNvPr>
          <p:cNvCxnSpPr/>
          <p:nvPr/>
        </p:nvCxnSpPr>
        <p:spPr>
          <a:xfrm>
            <a:off x="2001520" y="5852160"/>
            <a:ext cx="193040" cy="3657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 name="Picture 2" descr="A logo with a black background&#10;&#10;Description automatically generated">
            <a:extLst>
              <a:ext uri="{FF2B5EF4-FFF2-40B4-BE49-F238E27FC236}">
                <a16:creationId xmlns:a16="http://schemas.microsoft.com/office/drawing/2014/main" id="{1DC0C242-F9C6-EBC6-4C38-D0D9D090F112}"/>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46677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DB653-CA4C-0DDC-5490-4C4E2984DCB5}"/>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4060A9BC-6576-8FCA-E136-3A656DD1291F}"/>
              </a:ext>
            </a:extLst>
          </p:cNvPr>
          <p:cNvPicPr>
            <a:picLocks noChangeAspect="1"/>
          </p:cNvPicPr>
          <p:nvPr/>
        </p:nvPicPr>
        <p:blipFill>
          <a:blip r:embed="rId3"/>
          <a:stretch>
            <a:fillRect/>
          </a:stretch>
        </p:blipFill>
        <p:spPr>
          <a:xfrm>
            <a:off x="3716862" y="1303655"/>
            <a:ext cx="4543220" cy="3570841"/>
          </a:xfrm>
          <a:prstGeom prst="rect">
            <a:avLst/>
          </a:prstGeom>
        </p:spPr>
      </p:pic>
      <p:sp>
        <p:nvSpPr>
          <p:cNvPr id="6" name="Rectangle 5">
            <a:extLst>
              <a:ext uri="{FF2B5EF4-FFF2-40B4-BE49-F238E27FC236}">
                <a16:creationId xmlns:a16="http://schemas.microsoft.com/office/drawing/2014/main" id="{EB37CA9E-1F52-4527-2373-06CD7A974278}"/>
              </a:ext>
            </a:extLst>
          </p:cNvPr>
          <p:cNvSpPr/>
          <p:nvPr/>
        </p:nvSpPr>
        <p:spPr>
          <a:xfrm>
            <a:off x="9952570" y="563245"/>
            <a:ext cx="535724" cy="923330"/>
          </a:xfrm>
          <a:prstGeom prst="rect">
            <a:avLst/>
          </a:prstGeom>
          <a:noFill/>
          <a:ln>
            <a:noFill/>
          </a:ln>
        </p:spPr>
        <p:txBody>
          <a:bodyPr wrap="none" lIns="91440" tIns="45720" rIns="91440" bIns="45720">
            <a:spAutoFit/>
          </a:bodyPr>
          <a:lstStyle/>
          <a:p>
            <a:pPr algn="ctr"/>
            <a:r>
              <a:rPr lang="en-150" sz="5400" b="0" cap="none" spc="0">
                <a:ln w="0"/>
                <a:solidFill>
                  <a:srgbClr val="316300"/>
                </a:solidFill>
                <a:effectLst>
                  <a:outerShdw blurRad="38100" dist="19050" dir="2700000" algn="tl" rotWithShape="0">
                    <a:schemeClr val="dk1">
                      <a:alpha val="40000"/>
                    </a:schemeClr>
                  </a:outerShdw>
                </a:effectLst>
              </a:rPr>
              <a:t>3</a:t>
            </a:r>
            <a:endParaRPr lang="en-US" sz="5400" b="0" cap="none" spc="0">
              <a:ln w="0"/>
              <a:solidFill>
                <a:srgbClr val="316300"/>
              </a:solidFill>
              <a:effectLst>
                <a:outerShdw blurRad="38100" dist="19050" dir="2700000" algn="tl" rotWithShape="0">
                  <a:schemeClr val="dk1">
                    <a:alpha val="40000"/>
                  </a:schemeClr>
                </a:outerShdw>
              </a:effectLst>
            </a:endParaRPr>
          </a:p>
        </p:txBody>
      </p:sp>
      <p:sp>
        <p:nvSpPr>
          <p:cNvPr id="7" name="Rectangle 6">
            <a:extLst>
              <a:ext uri="{FF2B5EF4-FFF2-40B4-BE49-F238E27FC236}">
                <a16:creationId xmlns:a16="http://schemas.microsoft.com/office/drawing/2014/main" id="{99074C38-79AB-4E51-8CF6-868DC48550EA}"/>
              </a:ext>
            </a:extLst>
          </p:cNvPr>
          <p:cNvSpPr/>
          <p:nvPr/>
        </p:nvSpPr>
        <p:spPr>
          <a:xfrm>
            <a:off x="5728334" y="565130"/>
            <a:ext cx="535724" cy="923330"/>
          </a:xfrm>
          <a:prstGeom prst="rect">
            <a:avLst/>
          </a:prstGeom>
          <a:noFill/>
          <a:ln>
            <a:noFill/>
          </a:ln>
        </p:spPr>
        <p:txBody>
          <a:bodyPr wrap="none" lIns="91440" tIns="45720" rIns="91440" bIns="45720">
            <a:spAutoFit/>
          </a:bodyPr>
          <a:lstStyle/>
          <a:p>
            <a:pPr algn="ctr"/>
            <a:r>
              <a:rPr lang="en-150" sz="5400" b="0" cap="none" spc="0">
                <a:ln w="0"/>
                <a:solidFill>
                  <a:srgbClr val="316300"/>
                </a:solidFill>
                <a:effectLst>
                  <a:outerShdw blurRad="38100" dist="19050" dir="2700000" algn="tl" rotWithShape="0">
                    <a:schemeClr val="dk1">
                      <a:alpha val="40000"/>
                    </a:schemeClr>
                  </a:outerShdw>
                </a:effectLst>
              </a:rPr>
              <a:t>2</a:t>
            </a:r>
            <a:endParaRPr lang="en-US" sz="5400" b="0" cap="none" spc="0">
              <a:ln w="0"/>
              <a:solidFill>
                <a:srgbClr val="316300"/>
              </a:solidFill>
              <a:effectLst>
                <a:outerShdw blurRad="38100" dist="19050" dir="2700000" algn="tl" rotWithShape="0">
                  <a:schemeClr val="dk1">
                    <a:alpha val="40000"/>
                  </a:schemeClr>
                </a:outerShdw>
              </a:effectLst>
            </a:endParaRPr>
          </a:p>
        </p:txBody>
      </p:sp>
      <p:sp>
        <p:nvSpPr>
          <p:cNvPr id="22" name="Rectangle 21">
            <a:extLst>
              <a:ext uri="{FF2B5EF4-FFF2-40B4-BE49-F238E27FC236}">
                <a16:creationId xmlns:a16="http://schemas.microsoft.com/office/drawing/2014/main" id="{FED04411-2D28-D852-F76F-8D0DAA889E1A}"/>
              </a:ext>
            </a:extLst>
          </p:cNvPr>
          <p:cNvSpPr/>
          <p:nvPr/>
        </p:nvSpPr>
        <p:spPr>
          <a:xfrm>
            <a:off x="1593004" y="565130"/>
            <a:ext cx="535723" cy="923330"/>
          </a:xfrm>
          <a:prstGeom prst="rect">
            <a:avLst/>
          </a:prstGeom>
          <a:noFill/>
          <a:ln>
            <a:noFill/>
          </a:ln>
        </p:spPr>
        <p:txBody>
          <a:bodyPr wrap="none" lIns="91440" tIns="45720" rIns="91440" bIns="45720">
            <a:spAutoFit/>
          </a:bodyP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150" sz="5400" b="0" cap="none" spc="0">
                <a:ln w="0"/>
                <a:solidFill>
                  <a:srgbClr val="316300"/>
                </a:solidFill>
                <a:effectLst>
                  <a:outerShdw blurRad="38100" dist="19050" dir="2700000" algn="tl" rotWithShape="0">
                    <a:schemeClr val="dk1">
                      <a:alpha val="40000"/>
                    </a:schemeClr>
                  </a:outerShdw>
                </a:effectLst>
              </a:rPr>
              <a:t>1</a:t>
            </a:r>
            <a:endParaRPr lang="en-US" sz="5400" b="0" cap="none" spc="0">
              <a:ln w="0"/>
              <a:solidFill>
                <a:srgbClr val="316300"/>
              </a:solidFill>
              <a:effectLst>
                <a:outerShdw blurRad="38100" dist="19050" dir="2700000" algn="tl" rotWithShape="0">
                  <a:schemeClr val="dk1">
                    <a:alpha val="40000"/>
                  </a:schemeClr>
                </a:outerShdw>
              </a:effectLst>
            </a:endParaRPr>
          </a:p>
        </p:txBody>
      </p:sp>
      <p:pic>
        <p:nvPicPr>
          <p:cNvPr id="23" name="Picture 22" descr="A screenshot of a computer&#10;&#10;AI-generated content may be incorrect.">
            <a:extLst>
              <a:ext uri="{FF2B5EF4-FFF2-40B4-BE49-F238E27FC236}">
                <a16:creationId xmlns:a16="http://schemas.microsoft.com/office/drawing/2014/main" id="{4CC09D58-BA44-AF6B-EE7E-7E6BCE859B0F}"/>
              </a:ext>
            </a:extLst>
          </p:cNvPr>
          <p:cNvPicPr>
            <a:picLocks noChangeAspect="1"/>
          </p:cNvPicPr>
          <p:nvPr/>
        </p:nvPicPr>
        <p:blipFill>
          <a:blip r:embed="rId4"/>
          <a:stretch>
            <a:fillRect/>
          </a:stretch>
        </p:blipFill>
        <p:spPr>
          <a:xfrm>
            <a:off x="1637347" y="4924742"/>
            <a:ext cx="1724025" cy="1438275"/>
          </a:xfrm>
          <a:prstGeom prst="rect">
            <a:avLst/>
          </a:prstGeom>
          <a:ln w="28575">
            <a:solidFill>
              <a:schemeClr val="accent6">
                <a:lumMod val="50000"/>
              </a:schemeClr>
            </a:solidFill>
          </a:ln>
        </p:spPr>
      </p:pic>
      <p:pic>
        <p:nvPicPr>
          <p:cNvPr id="28" name="Picture 27" descr="A screenshot of a search box&#10;&#10;AI-generated content may be incorrect.">
            <a:extLst>
              <a:ext uri="{FF2B5EF4-FFF2-40B4-BE49-F238E27FC236}">
                <a16:creationId xmlns:a16="http://schemas.microsoft.com/office/drawing/2014/main" id="{5CCB22BC-FDD2-6FBF-ACF9-9E0741A3206D}"/>
              </a:ext>
            </a:extLst>
          </p:cNvPr>
          <p:cNvPicPr>
            <a:picLocks noChangeAspect="1"/>
          </p:cNvPicPr>
          <p:nvPr/>
        </p:nvPicPr>
        <p:blipFill>
          <a:blip r:embed="rId5"/>
          <a:stretch>
            <a:fillRect/>
          </a:stretch>
        </p:blipFill>
        <p:spPr>
          <a:xfrm>
            <a:off x="7235190" y="5392420"/>
            <a:ext cx="1257300" cy="1295400"/>
          </a:xfrm>
          <a:prstGeom prst="rect">
            <a:avLst/>
          </a:prstGeom>
          <a:ln w="28575">
            <a:solidFill>
              <a:schemeClr val="accent6">
                <a:lumMod val="50000"/>
              </a:schemeClr>
            </a:solidFill>
          </a:ln>
        </p:spPr>
      </p:pic>
      <p:pic>
        <p:nvPicPr>
          <p:cNvPr id="2" name="Picture 1" descr="A screenshot of a computer&#10;&#10;AI-generated content may be incorrect.">
            <a:extLst>
              <a:ext uri="{FF2B5EF4-FFF2-40B4-BE49-F238E27FC236}">
                <a16:creationId xmlns:a16="http://schemas.microsoft.com/office/drawing/2014/main" id="{3A56A6CA-3D38-3FD2-20D1-4BEAA17BCB67}"/>
              </a:ext>
            </a:extLst>
          </p:cNvPr>
          <p:cNvPicPr>
            <a:picLocks noChangeAspect="1"/>
          </p:cNvPicPr>
          <p:nvPr/>
        </p:nvPicPr>
        <p:blipFill>
          <a:blip r:embed="rId6"/>
          <a:stretch>
            <a:fillRect/>
          </a:stretch>
        </p:blipFill>
        <p:spPr>
          <a:xfrm>
            <a:off x="73025" y="1303655"/>
            <a:ext cx="3572510" cy="3153410"/>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50879C99-A41B-7D47-D2AB-4637DBDFCAE9}"/>
              </a:ext>
            </a:extLst>
          </p:cNvPr>
          <p:cNvPicPr>
            <a:picLocks noChangeAspect="1"/>
          </p:cNvPicPr>
          <p:nvPr/>
        </p:nvPicPr>
        <p:blipFill>
          <a:blip r:embed="rId7"/>
          <a:stretch>
            <a:fillRect/>
          </a:stretch>
        </p:blipFill>
        <p:spPr>
          <a:xfrm>
            <a:off x="8335962" y="1296352"/>
            <a:ext cx="3749675" cy="3930015"/>
          </a:xfrm>
          <a:prstGeom prst="rect">
            <a:avLst/>
          </a:prstGeom>
        </p:spPr>
      </p:pic>
      <p:sp>
        <p:nvSpPr>
          <p:cNvPr id="5" name="Rectangle 4">
            <a:extLst>
              <a:ext uri="{FF2B5EF4-FFF2-40B4-BE49-F238E27FC236}">
                <a16:creationId xmlns:a16="http://schemas.microsoft.com/office/drawing/2014/main" id="{45648B26-F11A-FF6B-E8B4-857D1ED8AFD1}"/>
              </a:ext>
            </a:extLst>
          </p:cNvPr>
          <p:cNvSpPr/>
          <p:nvPr/>
        </p:nvSpPr>
        <p:spPr>
          <a:xfrm>
            <a:off x="4005262" y="2476735"/>
            <a:ext cx="985520" cy="254000"/>
          </a:xfrm>
          <a:prstGeom prst="rect">
            <a:avLst/>
          </a:prstGeom>
          <a:no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Rectangle 7">
            <a:extLst>
              <a:ext uri="{FF2B5EF4-FFF2-40B4-BE49-F238E27FC236}">
                <a16:creationId xmlns:a16="http://schemas.microsoft.com/office/drawing/2014/main" id="{4F7BB7E2-A454-AA03-6057-D0B27C1934AD}"/>
              </a:ext>
            </a:extLst>
          </p:cNvPr>
          <p:cNvSpPr/>
          <p:nvPr/>
        </p:nvSpPr>
        <p:spPr>
          <a:xfrm>
            <a:off x="3997323" y="1965960"/>
            <a:ext cx="538480" cy="223520"/>
          </a:xfrm>
          <a:prstGeom prst="rect">
            <a:avLst/>
          </a:prstGeom>
          <a:no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Rectangle 8">
            <a:extLst>
              <a:ext uri="{FF2B5EF4-FFF2-40B4-BE49-F238E27FC236}">
                <a16:creationId xmlns:a16="http://schemas.microsoft.com/office/drawing/2014/main" id="{EACF7FD3-8607-2F07-6843-E69A2B78D01F}"/>
              </a:ext>
            </a:extLst>
          </p:cNvPr>
          <p:cNvSpPr/>
          <p:nvPr/>
        </p:nvSpPr>
        <p:spPr>
          <a:xfrm>
            <a:off x="3931920" y="3738878"/>
            <a:ext cx="538480" cy="223520"/>
          </a:xfrm>
          <a:prstGeom prst="rect">
            <a:avLst/>
          </a:prstGeom>
          <a:no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10" name="Connector: Elbow 9">
            <a:extLst>
              <a:ext uri="{FF2B5EF4-FFF2-40B4-BE49-F238E27FC236}">
                <a16:creationId xmlns:a16="http://schemas.microsoft.com/office/drawing/2014/main" id="{6F12C304-E025-C41B-63E6-07158E4F71FF}"/>
              </a:ext>
            </a:extLst>
          </p:cNvPr>
          <p:cNvCxnSpPr>
            <a:cxnSpLocks/>
          </p:cNvCxnSpPr>
          <p:nvPr/>
        </p:nvCxnSpPr>
        <p:spPr>
          <a:xfrm rot="5400000">
            <a:off x="2179439" y="3797417"/>
            <a:ext cx="2994422" cy="607060"/>
          </a:xfrm>
          <a:prstGeom prst="bentConnector3">
            <a:avLst>
              <a:gd name="adj1" fmla="val -471"/>
            </a:avLst>
          </a:prstGeom>
          <a:ln>
            <a:solidFill>
              <a:schemeClr val="accent6">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Elbow 10">
            <a:extLst>
              <a:ext uri="{FF2B5EF4-FFF2-40B4-BE49-F238E27FC236}">
                <a16:creationId xmlns:a16="http://schemas.microsoft.com/office/drawing/2014/main" id="{B1D19B82-8BDD-AE2A-F438-4610006E83BA}"/>
              </a:ext>
            </a:extLst>
          </p:cNvPr>
          <p:cNvCxnSpPr/>
          <p:nvPr/>
        </p:nvCxnSpPr>
        <p:spPr>
          <a:xfrm>
            <a:off x="4470400" y="3850640"/>
            <a:ext cx="2763520" cy="1859280"/>
          </a:xfrm>
          <a:prstGeom prst="bentConnector3">
            <a:avLst/>
          </a:prstGeom>
          <a:ln>
            <a:solidFill>
              <a:schemeClr val="accent6">
                <a:lumMod val="5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5" name="Picture 14" descr="A screenshot of a computer&#10;&#10;AI-generated content may be incorrect.">
            <a:extLst>
              <a:ext uri="{FF2B5EF4-FFF2-40B4-BE49-F238E27FC236}">
                <a16:creationId xmlns:a16="http://schemas.microsoft.com/office/drawing/2014/main" id="{F6C9B4E4-81D5-8804-1542-4004289EA30F}"/>
              </a:ext>
            </a:extLst>
          </p:cNvPr>
          <p:cNvPicPr>
            <a:picLocks noChangeAspect="1"/>
          </p:cNvPicPr>
          <p:nvPr/>
        </p:nvPicPr>
        <p:blipFill>
          <a:blip r:embed="rId8"/>
          <a:stretch>
            <a:fillRect/>
          </a:stretch>
        </p:blipFill>
        <p:spPr>
          <a:xfrm>
            <a:off x="4164965" y="5391150"/>
            <a:ext cx="1504950" cy="1257300"/>
          </a:xfrm>
          <a:prstGeom prst="rect">
            <a:avLst/>
          </a:prstGeom>
        </p:spPr>
      </p:pic>
      <p:cxnSp>
        <p:nvCxnSpPr>
          <p:cNvPr id="17" name="Straight Arrow Connector 16">
            <a:extLst>
              <a:ext uri="{FF2B5EF4-FFF2-40B4-BE49-F238E27FC236}">
                <a16:creationId xmlns:a16="http://schemas.microsoft.com/office/drawing/2014/main" id="{4FDB9A27-813A-0B1E-7C6A-39440BB36A12}"/>
              </a:ext>
            </a:extLst>
          </p:cNvPr>
          <p:cNvCxnSpPr>
            <a:cxnSpLocks/>
          </p:cNvCxnSpPr>
          <p:nvPr/>
        </p:nvCxnSpPr>
        <p:spPr>
          <a:xfrm flipH="1">
            <a:off x="3830320" y="2077720"/>
            <a:ext cx="30273" cy="3896360"/>
          </a:xfrm>
          <a:prstGeom prst="straightConnector1">
            <a:avLst/>
          </a:prstGeom>
          <a:ln>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DD50EB6E-8160-6A1E-B775-F8F07D03089E}"/>
              </a:ext>
            </a:extLst>
          </p:cNvPr>
          <p:cNvCxnSpPr/>
          <p:nvPr/>
        </p:nvCxnSpPr>
        <p:spPr>
          <a:xfrm>
            <a:off x="3830320" y="5963920"/>
            <a:ext cx="335280" cy="0"/>
          </a:xfrm>
          <a:prstGeom prst="straightConnector1">
            <a:avLst/>
          </a:prstGeom>
          <a:ln>
            <a:solidFill>
              <a:schemeClr val="accent6">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6597B8AF-F694-59D5-93C9-682202E4D206}"/>
              </a:ext>
            </a:extLst>
          </p:cNvPr>
          <p:cNvSpPr txBox="1"/>
          <p:nvPr/>
        </p:nvSpPr>
        <p:spPr>
          <a:xfrm>
            <a:off x="-2054" y="4526443"/>
            <a:ext cx="1632961" cy="646331"/>
          </a:xfrm>
          <a:prstGeom prst="rect">
            <a:avLst/>
          </a:prstGeom>
          <a:noFill/>
        </p:spPr>
        <p:txBody>
          <a:bodyPr wrap="square" lIns="91440" tIns="45720" rIns="91440" bIns="45720" rtlCol="0" anchor="t">
            <a:spAutoFit/>
          </a:bodyPr>
          <a:lstStyle/>
          <a:p>
            <a:pPr algn="ctr"/>
            <a:r>
              <a:rPr lang="da-DK">
                <a:solidFill>
                  <a:srgbClr val="004B7F"/>
                </a:solidFill>
              </a:rPr>
              <a:t>O</a:t>
            </a:r>
            <a:r>
              <a:rPr lang="en-150" err="1">
                <a:solidFill>
                  <a:srgbClr val="004B7F"/>
                </a:solidFill>
              </a:rPr>
              <a:t>rganisational</a:t>
            </a:r>
            <a:r>
              <a:rPr lang="en-150">
                <a:solidFill>
                  <a:srgbClr val="004B7F"/>
                </a:solidFill>
              </a:rPr>
              <a:t> </a:t>
            </a:r>
            <a:endParaRPr lang="en-US"/>
          </a:p>
          <a:p>
            <a:pPr algn="ctr"/>
            <a:r>
              <a:rPr lang="en-150">
                <a:solidFill>
                  <a:srgbClr val="004B7F"/>
                </a:solidFill>
              </a:rPr>
              <a:t>website</a:t>
            </a:r>
            <a:endParaRPr lang="en-150"/>
          </a:p>
        </p:txBody>
      </p:sp>
      <p:cxnSp>
        <p:nvCxnSpPr>
          <p:cNvPr id="35" name="Straight Arrow Connector 34">
            <a:extLst>
              <a:ext uri="{FF2B5EF4-FFF2-40B4-BE49-F238E27FC236}">
                <a16:creationId xmlns:a16="http://schemas.microsoft.com/office/drawing/2014/main" id="{7C22165F-150E-C46D-802A-3EFAF509D161}"/>
              </a:ext>
            </a:extLst>
          </p:cNvPr>
          <p:cNvCxnSpPr/>
          <p:nvPr/>
        </p:nvCxnSpPr>
        <p:spPr>
          <a:xfrm flipH="1">
            <a:off x="589280" y="4135120"/>
            <a:ext cx="10160" cy="4165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3FD6EC5C-7CF9-B8DA-BA88-5E6C1348E084}"/>
              </a:ext>
            </a:extLst>
          </p:cNvPr>
          <p:cNvSpPr/>
          <p:nvPr/>
        </p:nvSpPr>
        <p:spPr>
          <a:xfrm>
            <a:off x="284480" y="1889760"/>
            <a:ext cx="1036320" cy="599440"/>
          </a:xfrm>
          <a:prstGeom prst="ellipse">
            <a:avLst/>
          </a:prstGeom>
          <a:no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5B3D3EB-C061-B3D5-5E34-CB08EF52D819}"/>
              </a:ext>
            </a:extLst>
          </p:cNvPr>
          <p:cNvSpPr/>
          <p:nvPr/>
        </p:nvSpPr>
        <p:spPr>
          <a:xfrm>
            <a:off x="162560" y="3545840"/>
            <a:ext cx="1036320" cy="599440"/>
          </a:xfrm>
          <a:prstGeom prst="ellipse">
            <a:avLst/>
          </a:prstGeom>
          <a:no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398DD3A6-5C31-2F12-7EC3-40647E2632AB}"/>
              </a:ext>
            </a:extLst>
          </p:cNvPr>
          <p:cNvSpPr txBox="1"/>
          <p:nvPr/>
        </p:nvSpPr>
        <p:spPr>
          <a:xfrm>
            <a:off x="388620" y="335280"/>
            <a:ext cx="5608320" cy="461665"/>
          </a:xfrm>
          <a:prstGeom prst="rect">
            <a:avLst/>
          </a:prstGeom>
          <a:noFill/>
        </p:spPr>
        <p:txBody>
          <a:bodyPr wrap="square" lIns="91440" tIns="45720" rIns="91440" bIns="45720" rtlCol="0" anchor="t">
            <a:spAutoFit/>
          </a:bodyPr>
          <a:lstStyle/>
          <a:p>
            <a:r>
              <a:rPr lang="en-US" sz="2400">
                <a:solidFill>
                  <a:srgbClr val="002060"/>
                </a:solidFill>
              </a:rPr>
              <a:t>GENERAL INFORMATION (2)</a:t>
            </a:r>
          </a:p>
        </p:txBody>
      </p:sp>
      <p:pic>
        <p:nvPicPr>
          <p:cNvPr id="12" name="Picture 11" descr="A logo with a black background&#10;&#10;Description automatically generated">
            <a:extLst>
              <a:ext uri="{FF2B5EF4-FFF2-40B4-BE49-F238E27FC236}">
                <a16:creationId xmlns:a16="http://schemas.microsoft.com/office/drawing/2014/main" id="{946E1A35-B7AA-5009-D3BA-37AFCBC295F3}"/>
              </a:ext>
            </a:extLst>
          </p:cNvPr>
          <p:cNvPicPr>
            <a:picLocks noChangeAspect="1"/>
          </p:cNvPicPr>
          <p:nvPr/>
        </p:nvPicPr>
        <p:blipFill rotWithShape="1">
          <a:blip r:embed="rId9">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cxnSp>
        <p:nvCxnSpPr>
          <p:cNvPr id="43" name="Straight Arrow Connector 42">
            <a:extLst>
              <a:ext uri="{FF2B5EF4-FFF2-40B4-BE49-F238E27FC236}">
                <a16:creationId xmlns:a16="http://schemas.microsoft.com/office/drawing/2014/main" id="{58552C61-BF1F-8BED-32DF-0CB9496CD659}"/>
              </a:ext>
            </a:extLst>
          </p:cNvPr>
          <p:cNvCxnSpPr>
            <a:cxnSpLocks/>
          </p:cNvCxnSpPr>
          <p:nvPr/>
        </p:nvCxnSpPr>
        <p:spPr>
          <a:xfrm flipH="1">
            <a:off x="3860593" y="2077720"/>
            <a:ext cx="129747" cy="0"/>
          </a:xfrm>
          <a:prstGeom prst="straightConnector1">
            <a:avLst/>
          </a:prstGeom>
          <a:ln>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45333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640938-4972-C45B-C67A-05CC2F709F7A}"/>
              </a:ext>
            </a:extLst>
          </p:cNvPr>
          <p:cNvSpPr txBox="1"/>
          <p:nvPr/>
        </p:nvSpPr>
        <p:spPr>
          <a:xfrm>
            <a:off x="4790494" y="1625865"/>
            <a:ext cx="2332690" cy="584775"/>
          </a:xfrm>
          <a:prstGeom prst="rect">
            <a:avLst/>
          </a:prstGeom>
          <a:noFill/>
        </p:spPr>
        <p:txBody>
          <a:bodyPr wrap="none" rtlCol="0">
            <a:spAutoFit/>
          </a:bodyPr>
          <a:lstStyle/>
          <a:p>
            <a:r>
              <a:rPr lang="en-US" sz="3200">
                <a:solidFill>
                  <a:schemeClr val="bg1"/>
                </a:solidFill>
              </a:rPr>
              <a:t>Data Release</a:t>
            </a:r>
            <a:endParaRPr lang="en-DK" sz="3200">
              <a:solidFill>
                <a:schemeClr val="bg1"/>
              </a:solidFill>
            </a:endParaRPr>
          </a:p>
        </p:txBody>
      </p:sp>
      <p:pic>
        <p:nvPicPr>
          <p:cNvPr id="7" name="Graphic 6" descr="Upload with solid fill">
            <a:extLst>
              <a:ext uri="{FF2B5EF4-FFF2-40B4-BE49-F238E27FC236}">
                <a16:creationId xmlns:a16="http://schemas.microsoft.com/office/drawing/2014/main" id="{4DCC676B-6C36-57B0-0F1F-C0801C9738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49986" y="2340108"/>
            <a:ext cx="2892027" cy="2892027"/>
          </a:xfrm>
          <a:prstGeom prst="rect">
            <a:avLst/>
          </a:prstGeom>
        </p:spPr>
      </p:pic>
    </p:spTree>
    <p:extLst>
      <p:ext uri="{BB962C8B-B14F-4D97-AF65-F5344CB8AC3E}">
        <p14:creationId xmlns:p14="http://schemas.microsoft.com/office/powerpoint/2010/main" val="209345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9E0A67E7-A1D5-0FD5-2D32-CCCEAC96BF4D}"/>
              </a:ext>
            </a:extLst>
          </p:cNvPr>
          <p:cNvPicPr>
            <a:picLocks noChangeAspect="1"/>
          </p:cNvPicPr>
          <p:nvPr/>
        </p:nvPicPr>
        <p:blipFill>
          <a:blip r:embed="rId3"/>
          <a:stretch>
            <a:fillRect/>
          </a:stretch>
        </p:blipFill>
        <p:spPr>
          <a:xfrm>
            <a:off x="0" y="928372"/>
            <a:ext cx="12192000" cy="1800856"/>
          </a:xfrm>
          <a:prstGeom prst="rect">
            <a:avLst/>
          </a:prstGeom>
        </p:spPr>
      </p:pic>
      <p:sp>
        <p:nvSpPr>
          <p:cNvPr id="8" name="Rectangle 7">
            <a:extLst>
              <a:ext uri="{FF2B5EF4-FFF2-40B4-BE49-F238E27FC236}">
                <a16:creationId xmlns:a16="http://schemas.microsoft.com/office/drawing/2014/main" id="{FB5AA071-60A7-39CC-9569-51DD4A760D3C}"/>
              </a:ext>
            </a:extLst>
          </p:cNvPr>
          <p:cNvSpPr/>
          <p:nvPr/>
        </p:nvSpPr>
        <p:spPr>
          <a:xfrm>
            <a:off x="8115300" y="1485900"/>
            <a:ext cx="4076700" cy="466725"/>
          </a:xfrm>
          <a:prstGeom prst="rect">
            <a:avLst/>
          </a:prstGeom>
          <a:noFill/>
          <a:ln w="28575">
            <a:solidFill>
              <a:srgbClr val="316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solidFill>
                <a:schemeClr val="tx1"/>
              </a:solidFill>
            </a:endParaRPr>
          </a:p>
        </p:txBody>
      </p:sp>
      <p:sp>
        <p:nvSpPr>
          <p:cNvPr id="12" name="TextBox 11">
            <a:extLst>
              <a:ext uri="{FF2B5EF4-FFF2-40B4-BE49-F238E27FC236}">
                <a16:creationId xmlns:a16="http://schemas.microsoft.com/office/drawing/2014/main" id="{9107B977-9637-0684-76AF-67092185DACB}"/>
              </a:ext>
            </a:extLst>
          </p:cNvPr>
          <p:cNvSpPr txBox="1"/>
          <p:nvPr/>
        </p:nvSpPr>
        <p:spPr>
          <a:xfrm>
            <a:off x="581025" y="2738382"/>
            <a:ext cx="5746766" cy="1015663"/>
          </a:xfrm>
          <a:prstGeom prst="rect">
            <a:avLst/>
          </a:prstGeom>
          <a:noFill/>
        </p:spPr>
        <p:txBody>
          <a:bodyPr wrap="none" lIns="91440" tIns="45720" rIns="91440" bIns="45720" rtlCol="0" anchor="t">
            <a:spAutoFit/>
          </a:bodyPr>
          <a:lstStyle/>
          <a:p>
            <a:pPr marL="285750" indent="-285750">
              <a:buFont typeface="Arial" panose="020B0604020202020204" pitchFamily="34" charset="0"/>
              <a:buChar char="•"/>
            </a:pPr>
            <a:r>
              <a:rPr lang="da-DK" sz="2000"/>
              <a:t>V</a:t>
            </a:r>
            <a:r>
              <a:rPr lang="en-150" sz="2000" err="1"/>
              <a:t>alidate</a:t>
            </a:r>
            <a:r>
              <a:rPr lang="en-150" sz="2000"/>
              <a:t> (and refresh)</a:t>
            </a:r>
            <a:endParaRPr lang="en-US" sz="2000"/>
          </a:p>
          <a:p>
            <a:pPr marL="285750" indent="-285750">
              <a:buFont typeface="Arial" panose="020B0604020202020204" pitchFamily="34" charset="0"/>
              <a:buChar char="•"/>
            </a:pPr>
            <a:r>
              <a:rPr lang="da-DK" sz="2000"/>
              <a:t>C</a:t>
            </a:r>
            <a:r>
              <a:rPr lang="en-150" sz="2000" err="1"/>
              <a:t>orrect</a:t>
            </a:r>
            <a:r>
              <a:rPr lang="en-150" sz="2000"/>
              <a:t> “blockers and errors”, check “warnings”</a:t>
            </a:r>
          </a:p>
          <a:p>
            <a:pPr marL="285750" indent="-285750">
              <a:buFont typeface="Arial" panose="020B0604020202020204" pitchFamily="34" charset="0"/>
              <a:buChar char="•"/>
            </a:pPr>
            <a:r>
              <a:rPr lang="en-150" sz="2000"/>
              <a:t>Manage copies</a:t>
            </a:r>
          </a:p>
        </p:txBody>
      </p:sp>
      <p:sp>
        <p:nvSpPr>
          <p:cNvPr id="15" name="Arrow: Curved Up 14">
            <a:extLst>
              <a:ext uri="{FF2B5EF4-FFF2-40B4-BE49-F238E27FC236}">
                <a16:creationId xmlns:a16="http://schemas.microsoft.com/office/drawing/2014/main" id="{EEC320F8-355C-C6D6-2C43-211C3628D4C5}"/>
              </a:ext>
            </a:extLst>
          </p:cNvPr>
          <p:cNvSpPr/>
          <p:nvPr/>
        </p:nvSpPr>
        <p:spPr>
          <a:xfrm rot="16200000">
            <a:off x="6440635" y="2966483"/>
            <a:ext cx="749005" cy="559502"/>
          </a:xfrm>
          <a:prstGeom prst="curvedUpArrow">
            <a:avLst/>
          </a:prstGeom>
          <a:solidFill>
            <a:srgbClr val="004B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solidFill>
                <a:schemeClr val="tx1"/>
              </a:solidFill>
            </a:endParaRPr>
          </a:p>
        </p:txBody>
      </p:sp>
      <p:sp>
        <p:nvSpPr>
          <p:cNvPr id="17" name="TextBox 16">
            <a:extLst>
              <a:ext uri="{FF2B5EF4-FFF2-40B4-BE49-F238E27FC236}">
                <a16:creationId xmlns:a16="http://schemas.microsoft.com/office/drawing/2014/main" id="{F7886A36-C965-F185-824E-72C9B021C43B}"/>
              </a:ext>
            </a:extLst>
          </p:cNvPr>
          <p:cNvSpPr txBox="1"/>
          <p:nvPr/>
        </p:nvSpPr>
        <p:spPr>
          <a:xfrm>
            <a:off x="7381875" y="3077314"/>
            <a:ext cx="4405693" cy="369332"/>
          </a:xfrm>
          <a:prstGeom prst="rect">
            <a:avLst/>
          </a:prstGeom>
          <a:noFill/>
        </p:spPr>
        <p:txBody>
          <a:bodyPr wrap="none" rtlCol="0">
            <a:spAutoFit/>
          </a:bodyPr>
          <a:lstStyle/>
          <a:p>
            <a:r>
              <a:rPr lang="da-DK"/>
              <a:t>R</a:t>
            </a:r>
            <a:r>
              <a:rPr lang="en-150" err="1"/>
              <a:t>epeat</a:t>
            </a:r>
            <a:r>
              <a:rPr lang="en-150"/>
              <a:t> until no more “blockers” or “errors”</a:t>
            </a:r>
          </a:p>
        </p:txBody>
      </p:sp>
      <p:sp>
        <p:nvSpPr>
          <p:cNvPr id="19" name="TextBox 18">
            <a:extLst>
              <a:ext uri="{FF2B5EF4-FFF2-40B4-BE49-F238E27FC236}">
                <a16:creationId xmlns:a16="http://schemas.microsoft.com/office/drawing/2014/main" id="{5CC66173-D663-1524-09DD-90911E3A252C}"/>
              </a:ext>
            </a:extLst>
          </p:cNvPr>
          <p:cNvSpPr txBox="1"/>
          <p:nvPr/>
        </p:nvSpPr>
        <p:spPr>
          <a:xfrm>
            <a:off x="581024" y="4995114"/>
            <a:ext cx="11279484" cy="70788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da-DK" sz="2000"/>
              <a:t>O</a:t>
            </a:r>
            <a:r>
              <a:rPr lang="en-150" sz="2000"/>
              <a:t>n the top of the screen, click country name to leave “dataset” and go back to the overview page</a:t>
            </a:r>
            <a:br>
              <a:rPr lang="en-150" sz="2000"/>
            </a:br>
            <a:r>
              <a:rPr lang="en-150" sz="2000"/>
              <a:t>(also do this anytime you want to go back to the help files)</a:t>
            </a:r>
          </a:p>
        </p:txBody>
      </p:sp>
      <p:sp>
        <p:nvSpPr>
          <p:cNvPr id="21" name="Arrow: Left 20">
            <a:extLst>
              <a:ext uri="{FF2B5EF4-FFF2-40B4-BE49-F238E27FC236}">
                <a16:creationId xmlns:a16="http://schemas.microsoft.com/office/drawing/2014/main" id="{BC8D110D-C191-9453-E9F7-D8496033D27B}"/>
              </a:ext>
            </a:extLst>
          </p:cNvPr>
          <p:cNvSpPr/>
          <p:nvPr/>
        </p:nvSpPr>
        <p:spPr>
          <a:xfrm rot="5400000">
            <a:off x="5725543" y="4710384"/>
            <a:ext cx="493264" cy="95250"/>
          </a:xfrm>
          <a:prstGeom prst="leftArrow">
            <a:avLst/>
          </a:prstGeom>
          <a:solidFill>
            <a:srgbClr val="004B7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150">
              <a:solidFill>
                <a:schemeClr val="tx1"/>
              </a:solidFill>
            </a:endParaRPr>
          </a:p>
        </p:txBody>
      </p:sp>
      <p:pic>
        <p:nvPicPr>
          <p:cNvPr id="4" name="Picture 3">
            <a:extLst>
              <a:ext uri="{FF2B5EF4-FFF2-40B4-BE49-F238E27FC236}">
                <a16:creationId xmlns:a16="http://schemas.microsoft.com/office/drawing/2014/main" id="{EE248BCD-FAE5-8337-18E7-D998B4B77FA7}"/>
              </a:ext>
            </a:extLst>
          </p:cNvPr>
          <p:cNvPicPr>
            <a:picLocks noChangeAspect="1"/>
          </p:cNvPicPr>
          <p:nvPr/>
        </p:nvPicPr>
        <p:blipFill>
          <a:blip r:embed="rId4"/>
          <a:stretch>
            <a:fillRect/>
          </a:stretch>
        </p:blipFill>
        <p:spPr>
          <a:xfrm>
            <a:off x="2900363" y="4095750"/>
            <a:ext cx="4200525" cy="419100"/>
          </a:xfrm>
          <a:prstGeom prst="rect">
            <a:avLst/>
          </a:prstGeom>
        </p:spPr>
      </p:pic>
      <p:sp>
        <p:nvSpPr>
          <p:cNvPr id="6" name="Rectangle 5">
            <a:extLst>
              <a:ext uri="{FF2B5EF4-FFF2-40B4-BE49-F238E27FC236}">
                <a16:creationId xmlns:a16="http://schemas.microsoft.com/office/drawing/2014/main" id="{9F3920FA-4049-D141-423B-0E3D4E1C2CCB}"/>
              </a:ext>
            </a:extLst>
          </p:cNvPr>
          <p:cNvSpPr/>
          <p:nvPr/>
        </p:nvSpPr>
        <p:spPr>
          <a:xfrm>
            <a:off x="388620" y="1251606"/>
            <a:ext cx="4767580" cy="2286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solidFill>
                <a:schemeClr val="tx1"/>
              </a:solidFill>
            </a:endParaRPr>
          </a:p>
        </p:txBody>
      </p:sp>
      <p:pic>
        <p:nvPicPr>
          <p:cNvPr id="7" name="Picture 6" descr="A logo with a black background&#10;&#10;Description automatically generated">
            <a:extLst>
              <a:ext uri="{FF2B5EF4-FFF2-40B4-BE49-F238E27FC236}">
                <a16:creationId xmlns:a16="http://schemas.microsoft.com/office/drawing/2014/main" id="{4D835484-E19C-593C-8C07-F068727FB559}"/>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6FA5C193-69DB-1F08-F20D-1125E417C1EF}"/>
              </a:ext>
            </a:extLst>
          </p:cNvPr>
          <p:cNvSpPr txBox="1"/>
          <p:nvPr/>
        </p:nvSpPr>
        <p:spPr>
          <a:xfrm>
            <a:off x="279876" y="190382"/>
            <a:ext cx="5739924" cy="646331"/>
          </a:xfrm>
          <a:prstGeom prst="rect">
            <a:avLst/>
          </a:prstGeom>
          <a:noFill/>
        </p:spPr>
        <p:txBody>
          <a:bodyPr wrap="square" rtlCol="0">
            <a:spAutoFit/>
          </a:bodyPr>
          <a:lstStyle/>
          <a:p>
            <a:r>
              <a:rPr lang="en-GB" sz="3600">
                <a:solidFill>
                  <a:srgbClr val="009999"/>
                </a:solidFill>
              </a:rPr>
              <a:t>Before submitting</a:t>
            </a:r>
          </a:p>
        </p:txBody>
      </p:sp>
    </p:spTree>
    <p:extLst>
      <p:ext uri="{BB962C8B-B14F-4D97-AF65-F5344CB8AC3E}">
        <p14:creationId xmlns:p14="http://schemas.microsoft.com/office/powerpoint/2010/main" val="2782986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E2BD0-9770-8F2C-ED18-3B5B66642C4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C9A954C-C1AA-582B-0BC2-C1421CD009B0}"/>
              </a:ext>
            </a:extLst>
          </p:cNvPr>
          <p:cNvSpPr txBox="1"/>
          <p:nvPr/>
        </p:nvSpPr>
        <p:spPr>
          <a:xfrm>
            <a:off x="316398" y="276228"/>
            <a:ext cx="5739924" cy="646331"/>
          </a:xfrm>
          <a:prstGeom prst="rect">
            <a:avLst/>
          </a:prstGeom>
          <a:noFill/>
        </p:spPr>
        <p:txBody>
          <a:bodyPr wrap="square" rtlCol="0">
            <a:spAutoFit/>
          </a:bodyPr>
          <a:lstStyle/>
          <a:p>
            <a:r>
              <a:rPr lang="en-GB" sz="3600">
                <a:solidFill>
                  <a:srgbClr val="009999"/>
                </a:solidFill>
              </a:rPr>
              <a:t>Data submission</a:t>
            </a:r>
          </a:p>
        </p:txBody>
      </p:sp>
      <p:pic>
        <p:nvPicPr>
          <p:cNvPr id="5" name="Picture 4">
            <a:extLst>
              <a:ext uri="{FF2B5EF4-FFF2-40B4-BE49-F238E27FC236}">
                <a16:creationId xmlns:a16="http://schemas.microsoft.com/office/drawing/2014/main" id="{9C776248-2B17-0C8A-0C83-307F8095476F}"/>
              </a:ext>
            </a:extLst>
          </p:cNvPr>
          <p:cNvPicPr>
            <a:picLocks noChangeAspect="1"/>
          </p:cNvPicPr>
          <p:nvPr/>
        </p:nvPicPr>
        <p:blipFill>
          <a:blip r:embed="rId3"/>
          <a:stretch>
            <a:fillRect/>
          </a:stretch>
        </p:blipFill>
        <p:spPr>
          <a:xfrm>
            <a:off x="4907146" y="721125"/>
            <a:ext cx="6710695" cy="5235175"/>
          </a:xfrm>
          <a:prstGeom prst="rect">
            <a:avLst/>
          </a:prstGeom>
        </p:spPr>
      </p:pic>
      <p:pic>
        <p:nvPicPr>
          <p:cNvPr id="9" name="Picture 8" descr="Graphical user interface, application&#10;&#10;Description automatically generated">
            <a:extLst>
              <a:ext uri="{FF2B5EF4-FFF2-40B4-BE49-F238E27FC236}">
                <a16:creationId xmlns:a16="http://schemas.microsoft.com/office/drawing/2014/main" id="{80105D6F-48BD-7FBB-E252-8AC8175E58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773" y="929660"/>
            <a:ext cx="3021041" cy="1616075"/>
          </a:xfrm>
          <a:prstGeom prst="rect">
            <a:avLst/>
          </a:prstGeom>
        </p:spPr>
      </p:pic>
      <p:pic>
        <p:nvPicPr>
          <p:cNvPr id="11" name="Picture 10" descr="Graphical user interface, application&#10;&#10;Description automatically generated">
            <a:extLst>
              <a:ext uri="{FF2B5EF4-FFF2-40B4-BE49-F238E27FC236}">
                <a16:creationId xmlns:a16="http://schemas.microsoft.com/office/drawing/2014/main" id="{67CAD345-F45B-9EC0-7956-EECC172A92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5533" y="2406090"/>
            <a:ext cx="4107523" cy="1616075"/>
          </a:xfrm>
          <a:prstGeom prst="rect">
            <a:avLst/>
          </a:prstGeom>
        </p:spPr>
      </p:pic>
      <p:pic>
        <p:nvPicPr>
          <p:cNvPr id="2" name="Picture 1" descr="A logo with a black background&#10;&#10;Description automatically generated">
            <a:extLst>
              <a:ext uri="{FF2B5EF4-FFF2-40B4-BE49-F238E27FC236}">
                <a16:creationId xmlns:a16="http://schemas.microsoft.com/office/drawing/2014/main" id="{B1C2A4B6-0DF5-BD25-D45A-D219FA47893D}"/>
              </a:ext>
            </a:extLst>
          </p:cNvPr>
          <p:cNvPicPr>
            <a:picLocks noChangeAspect="1"/>
          </p:cNvPicPr>
          <p:nvPr/>
        </p:nvPicPr>
        <p:blipFill rotWithShape="1">
          <a:blip r:embed="rId6">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pic>
        <p:nvPicPr>
          <p:cNvPr id="3" name="Picture 7">
            <a:extLst>
              <a:ext uri="{FF2B5EF4-FFF2-40B4-BE49-F238E27FC236}">
                <a16:creationId xmlns:a16="http://schemas.microsoft.com/office/drawing/2014/main" id="{8405A021-45A6-1E0F-AC20-02FF48735939}"/>
              </a:ext>
            </a:extLst>
          </p:cNvPr>
          <p:cNvPicPr>
            <a:picLocks noChangeAspect="1"/>
          </p:cNvPicPr>
          <p:nvPr/>
        </p:nvPicPr>
        <p:blipFill>
          <a:blip r:embed="rId7"/>
          <a:stretch/>
        </p:blipFill>
        <p:spPr bwMode="auto">
          <a:xfrm>
            <a:off x="208509" y="3936557"/>
            <a:ext cx="3701927" cy="1850964"/>
          </a:xfrm>
          <a:prstGeom prst="rect">
            <a:avLst/>
          </a:prstGeom>
          <a:ln>
            <a:solidFill>
              <a:schemeClr val="bg1">
                <a:lumMod val="75000"/>
              </a:schemeClr>
            </a:solidFill>
          </a:ln>
        </p:spPr>
      </p:pic>
      <p:pic>
        <p:nvPicPr>
          <p:cNvPr id="6" name="Picture 5">
            <a:extLst>
              <a:ext uri="{FF2B5EF4-FFF2-40B4-BE49-F238E27FC236}">
                <a16:creationId xmlns:a16="http://schemas.microsoft.com/office/drawing/2014/main" id="{2F12381E-1FE4-EE8B-13FF-F743BF674D59}"/>
              </a:ext>
            </a:extLst>
          </p:cNvPr>
          <p:cNvPicPr>
            <a:picLocks noChangeAspect="1"/>
          </p:cNvPicPr>
          <p:nvPr/>
        </p:nvPicPr>
        <p:blipFill rotWithShape="1">
          <a:blip r:embed="rId8"/>
          <a:srcRect l="6667" t="8154" r="3489"/>
          <a:stretch/>
        </p:blipFill>
        <p:spPr bwMode="auto">
          <a:xfrm>
            <a:off x="2933291" y="4872007"/>
            <a:ext cx="1954290" cy="1848756"/>
          </a:xfrm>
          <a:prstGeom prst="rect">
            <a:avLst/>
          </a:prstGeom>
          <a:ln>
            <a:noFill/>
          </a:ln>
          <a:effectLst>
            <a:softEdge rad="112500"/>
          </a:effectLst>
        </p:spPr>
      </p:pic>
    </p:spTree>
    <p:extLst>
      <p:ext uri="{BB962C8B-B14F-4D97-AF65-F5344CB8AC3E}">
        <p14:creationId xmlns:p14="http://schemas.microsoft.com/office/powerpoint/2010/main" val="40297119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640938-4972-C45B-C67A-05CC2F709F7A}"/>
              </a:ext>
            </a:extLst>
          </p:cNvPr>
          <p:cNvSpPr txBox="1"/>
          <p:nvPr/>
        </p:nvSpPr>
        <p:spPr>
          <a:xfrm>
            <a:off x="4078875" y="856760"/>
            <a:ext cx="4034246" cy="1077218"/>
          </a:xfrm>
          <a:prstGeom prst="rect">
            <a:avLst/>
          </a:prstGeom>
          <a:noFill/>
        </p:spPr>
        <p:txBody>
          <a:bodyPr wrap="none" rtlCol="0">
            <a:spAutoFit/>
          </a:bodyPr>
          <a:lstStyle/>
          <a:p>
            <a:pPr algn="ctr"/>
            <a:r>
              <a:rPr lang="en-US" sz="3200">
                <a:solidFill>
                  <a:schemeClr val="bg1"/>
                </a:solidFill>
              </a:rPr>
              <a:t>Reporting on Article 19</a:t>
            </a:r>
          </a:p>
          <a:p>
            <a:pPr algn="ctr"/>
            <a:r>
              <a:rPr lang="en-US" sz="3200">
                <a:solidFill>
                  <a:schemeClr val="bg1"/>
                </a:solidFill>
              </a:rPr>
              <a:t>Q&amp;A</a:t>
            </a:r>
            <a:endParaRPr lang="en-DK" sz="3200">
              <a:solidFill>
                <a:schemeClr val="bg1"/>
              </a:solidFill>
            </a:endParaRPr>
          </a:p>
        </p:txBody>
      </p:sp>
      <p:pic>
        <p:nvPicPr>
          <p:cNvPr id="4" name="Graphic 3" descr="Badge Question Mark outline">
            <a:extLst>
              <a:ext uri="{FF2B5EF4-FFF2-40B4-BE49-F238E27FC236}">
                <a16:creationId xmlns:a16="http://schemas.microsoft.com/office/drawing/2014/main" id="{5FBBA83D-A194-9C94-C462-EB8A7E732D4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566166" y="2284497"/>
            <a:ext cx="3091934" cy="3091934"/>
          </a:xfrm>
          <a:prstGeom prst="rect">
            <a:avLst/>
          </a:prstGeom>
        </p:spPr>
      </p:pic>
    </p:spTree>
    <p:extLst>
      <p:ext uri="{BB962C8B-B14F-4D97-AF65-F5344CB8AC3E}">
        <p14:creationId xmlns:p14="http://schemas.microsoft.com/office/powerpoint/2010/main" val="36637646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ECDC54-E2A1-CC68-F798-BE71DB878279}"/>
              </a:ext>
            </a:extLst>
          </p:cNvPr>
          <p:cNvSpPr txBox="1"/>
          <p:nvPr/>
        </p:nvSpPr>
        <p:spPr>
          <a:xfrm>
            <a:off x="3045278" y="1049413"/>
            <a:ext cx="6101442" cy="1138773"/>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dirty="0">
                <a:solidFill>
                  <a:prstClr val="white"/>
                </a:solidFill>
                <a:latin typeface="Calibri" panose="020F0502020204030204"/>
              </a:rPr>
              <a:t>Break</a:t>
            </a:r>
          </a:p>
          <a:p>
            <a:pPr algn="ctr">
              <a:defRPr/>
            </a:pPr>
            <a:r>
              <a:rPr kumimoji="0" lang="en-US" sz="3200" b="0" i="0" u="none" strike="noStrike" kern="1200" cap="none" spc="0" normalizeH="0" baseline="0" noProof="0" dirty="0">
                <a:ln>
                  <a:noFill/>
                </a:ln>
                <a:solidFill>
                  <a:prstClr val="white"/>
                </a:solidFill>
                <a:effectLst/>
                <a:uLnTx/>
                <a:uFillTx/>
                <a:latin typeface="Calibri" panose="020F0502020204030204"/>
                <a:ea typeface="+mn-ea"/>
                <a:cs typeface="+mn-cs"/>
              </a:rPr>
              <a:t>(</a:t>
            </a:r>
            <a:r>
              <a:rPr lang="en-US" sz="3200" dirty="0">
                <a:solidFill>
                  <a:prstClr val="white"/>
                </a:solidFill>
                <a:latin typeface="Calibri" panose="020F0502020204030204"/>
              </a:rPr>
              <a:t>15 minutes)</a:t>
            </a:r>
            <a:endParaRPr kumimoji="0" lang="en-DK" sz="3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7" name="Graphic 6" descr="Coconut outline">
            <a:extLst>
              <a:ext uri="{FF2B5EF4-FFF2-40B4-BE49-F238E27FC236}">
                <a16:creationId xmlns:a16="http://schemas.microsoft.com/office/drawing/2014/main" id="{18063522-593C-7048-CC16-D22D74CBA7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20984" y="2471057"/>
            <a:ext cx="2950029" cy="2950029"/>
          </a:xfrm>
          <a:prstGeom prst="rect">
            <a:avLst/>
          </a:prstGeom>
        </p:spPr>
      </p:pic>
    </p:spTree>
    <p:extLst>
      <p:ext uri="{BB962C8B-B14F-4D97-AF65-F5344CB8AC3E}">
        <p14:creationId xmlns:p14="http://schemas.microsoft.com/office/powerpoint/2010/main" val="33803573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ABC5E-950F-AC7E-034C-73657CA9A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0A501-D3FA-2148-C8EC-D6D8DF43FE4F}"/>
              </a:ext>
            </a:extLst>
          </p:cNvPr>
          <p:cNvSpPr>
            <a:spLocks noGrp="1"/>
          </p:cNvSpPr>
          <p:nvPr>
            <p:ph type="ctrTitle"/>
          </p:nvPr>
        </p:nvSpPr>
        <p:spPr/>
        <p:txBody>
          <a:bodyPr/>
          <a:lstStyle/>
          <a:p>
            <a:endParaRPr lang="en-DK"/>
          </a:p>
        </p:txBody>
      </p:sp>
      <p:sp>
        <p:nvSpPr>
          <p:cNvPr id="3" name="Subtitle 2">
            <a:extLst>
              <a:ext uri="{FF2B5EF4-FFF2-40B4-BE49-F238E27FC236}">
                <a16:creationId xmlns:a16="http://schemas.microsoft.com/office/drawing/2014/main" id="{0A45C19A-F0B1-DBC3-55E7-76643369DB60}"/>
              </a:ext>
            </a:extLst>
          </p:cNvPr>
          <p:cNvSpPr>
            <a:spLocks noGrp="1"/>
          </p:cNvSpPr>
          <p:nvPr>
            <p:ph type="subTitle" idx="1"/>
          </p:nvPr>
        </p:nvSpPr>
        <p:spPr/>
        <p:txBody>
          <a:bodyPr/>
          <a:lstStyle/>
          <a:p>
            <a:endParaRPr lang="en-DK"/>
          </a:p>
        </p:txBody>
      </p:sp>
      <p:pic>
        <p:nvPicPr>
          <p:cNvPr id="5" name="Picture 4" descr="A group of people walking on a bridge&#10;&#10;AI-generated content may be incorrect.">
            <a:extLst>
              <a:ext uri="{FF2B5EF4-FFF2-40B4-BE49-F238E27FC236}">
                <a16:creationId xmlns:a16="http://schemas.microsoft.com/office/drawing/2014/main" id="{38D2C998-D3FD-B6AC-D27B-403BA1A3AD78}"/>
              </a:ext>
            </a:extLst>
          </p:cNvPr>
          <p:cNvPicPr>
            <a:picLocks noChangeAspect="1"/>
          </p:cNvPicPr>
          <p:nvPr/>
        </p:nvPicPr>
        <p:blipFill>
          <a:blip r:embed="rId3">
            <a:extLst>
              <a:ext uri="{28A0092B-C50C-407E-A947-70E740481C1C}">
                <a14:useLocalDpi xmlns:a14="http://schemas.microsoft.com/office/drawing/2010/main" val="0"/>
              </a:ext>
            </a:extLst>
          </a:blip>
          <a:srcRect t="15605"/>
          <a:stretch/>
        </p:blipFill>
        <p:spPr>
          <a:xfrm>
            <a:off x="0" y="0"/>
            <a:ext cx="12192000" cy="6858000"/>
          </a:xfrm>
          <a:prstGeom prst="rect">
            <a:avLst/>
          </a:prstGeom>
        </p:spPr>
      </p:pic>
      <p:sp>
        <p:nvSpPr>
          <p:cNvPr id="4" name="TextBox 3">
            <a:extLst>
              <a:ext uri="{FF2B5EF4-FFF2-40B4-BE49-F238E27FC236}">
                <a16:creationId xmlns:a16="http://schemas.microsoft.com/office/drawing/2014/main" id="{A189E78D-80CD-736A-73F6-BCC91495371B}"/>
              </a:ext>
            </a:extLst>
          </p:cNvPr>
          <p:cNvSpPr txBox="1"/>
          <p:nvPr/>
        </p:nvSpPr>
        <p:spPr>
          <a:xfrm>
            <a:off x="-25939" y="1701521"/>
            <a:ext cx="12191999" cy="1200329"/>
          </a:xfrm>
          <a:prstGeom prst="rect">
            <a:avLst/>
          </a:prstGeom>
          <a:solidFill>
            <a:schemeClr val="bg2">
              <a:lumMod val="25000"/>
              <a:alpha val="16000"/>
            </a:schemeClr>
          </a:solidFill>
        </p:spPr>
        <p:txBody>
          <a:bodyPr wrap="square" rtlCol="0">
            <a:spAutoFit/>
          </a:bodyPr>
          <a:lstStyle/>
          <a:p>
            <a:pPr algn="r"/>
            <a:r>
              <a:rPr lang="en-US" sz="3600">
                <a:solidFill>
                  <a:schemeClr val="bg1"/>
                </a:solidFill>
              </a:rPr>
              <a:t>Reporting on GovReg Article 17</a:t>
            </a:r>
          </a:p>
          <a:p>
            <a:pPr algn="r"/>
            <a:r>
              <a:rPr lang="en-US" sz="3600">
                <a:solidFill>
                  <a:schemeClr val="bg1"/>
                </a:solidFill>
              </a:rPr>
              <a:t> Annex III Decarbonization - Adaptation</a:t>
            </a:r>
          </a:p>
        </p:txBody>
      </p:sp>
      <p:sp>
        <p:nvSpPr>
          <p:cNvPr id="6" name="TextBox 5">
            <a:extLst>
              <a:ext uri="{FF2B5EF4-FFF2-40B4-BE49-F238E27FC236}">
                <a16:creationId xmlns:a16="http://schemas.microsoft.com/office/drawing/2014/main" id="{3776A4E5-392C-67E9-018A-D80643B06683}"/>
              </a:ext>
            </a:extLst>
          </p:cNvPr>
          <p:cNvSpPr txBox="1"/>
          <p:nvPr/>
        </p:nvSpPr>
        <p:spPr>
          <a:xfrm>
            <a:off x="147485" y="6562423"/>
            <a:ext cx="6272980" cy="261610"/>
          </a:xfrm>
          <a:prstGeom prst="rect">
            <a:avLst/>
          </a:prstGeom>
          <a:noFill/>
        </p:spPr>
        <p:txBody>
          <a:bodyPr wrap="square">
            <a:spAutoFit/>
          </a:bodyPr>
          <a:lstStyle/>
          <a:p>
            <a:r>
              <a:rPr lang="en-US" sz="1100">
                <a:solidFill>
                  <a:schemeClr val="bg1"/>
                </a:solidFill>
              </a:rPr>
              <a:t>©T</a:t>
            </a:r>
            <a:r>
              <a:rPr lang="en-DK" sz="1100">
                <a:solidFill>
                  <a:schemeClr val="bg1"/>
                </a:solidFill>
              </a:rPr>
              <a:t>Peter </a:t>
            </a:r>
            <a:r>
              <a:rPr lang="en-DK" sz="1100" err="1">
                <a:solidFill>
                  <a:schemeClr val="bg1"/>
                </a:solidFill>
              </a:rPr>
              <a:t>Vadocz</a:t>
            </a:r>
            <a:r>
              <a:rPr lang="en-DK" sz="1100">
                <a:solidFill>
                  <a:schemeClr val="bg1"/>
                </a:solidFill>
              </a:rPr>
              <a:t>, Urban Treasures  EEA</a:t>
            </a:r>
          </a:p>
        </p:txBody>
      </p:sp>
      <p:pic>
        <p:nvPicPr>
          <p:cNvPr id="7" name="Picture 8" descr="Graphical user interface, text&#10;&#10;Description automatically generated">
            <a:extLst>
              <a:ext uri="{FF2B5EF4-FFF2-40B4-BE49-F238E27FC236}">
                <a16:creationId xmlns:a16="http://schemas.microsoft.com/office/drawing/2014/main" id="{28013AC2-9384-2A5D-0A5A-59B6C3D3B62C}"/>
              </a:ext>
            </a:extLst>
          </p:cNvPr>
          <p:cNvPicPr>
            <a:picLocks noChangeAspect="1"/>
          </p:cNvPicPr>
          <p:nvPr/>
        </p:nvPicPr>
        <p:blipFill>
          <a:blip r:embed="rId4"/>
          <a:stretch>
            <a:fillRect/>
          </a:stretch>
        </p:blipFill>
        <p:spPr>
          <a:xfrm>
            <a:off x="8251148" y="5912444"/>
            <a:ext cx="3789337" cy="765523"/>
          </a:xfrm>
          <a:prstGeom prst="rect">
            <a:avLst/>
          </a:prstGeom>
        </p:spPr>
      </p:pic>
    </p:spTree>
    <p:extLst>
      <p:ext uri="{BB962C8B-B14F-4D97-AF65-F5344CB8AC3E}">
        <p14:creationId xmlns:p14="http://schemas.microsoft.com/office/powerpoint/2010/main" val="42141508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BFC8F1-5E2A-1773-ADBA-CFCE53ECF788}"/>
              </a:ext>
            </a:extLst>
          </p:cNvPr>
          <p:cNvSpPr txBox="1"/>
          <p:nvPr/>
        </p:nvSpPr>
        <p:spPr>
          <a:xfrm>
            <a:off x="280176" y="205477"/>
            <a:ext cx="5608320" cy="646331"/>
          </a:xfrm>
          <a:prstGeom prst="rect">
            <a:avLst/>
          </a:prstGeom>
          <a:noFill/>
        </p:spPr>
        <p:txBody>
          <a:bodyPr wrap="square" lIns="91440" tIns="45720" rIns="91440" bIns="45720" rtlCol="0" anchor="t">
            <a:spAutoFit/>
          </a:bodyPr>
          <a:lstStyle/>
          <a:p>
            <a:r>
              <a:rPr lang="en-US" sz="3600">
                <a:solidFill>
                  <a:srgbClr val="009999"/>
                </a:solidFill>
                <a:ea typeface="Calibri Light"/>
                <a:cs typeface="Calibri Light"/>
              </a:rPr>
              <a:t>Dataflow overview</a:t>
            </a:r>
          </a:p>
        </p:txBody>
      </p:sp>
      <p:pic>
        <p:nvPicPr>
          <p:cNvPr id="5" name="Picture 4" descr="A screenshot of a computer&#10;&#10;AI-generated content may be incorrect.">
            <a:extLst>
              <a:ext uri="{FF2B5EF4-FFF2-40B4-BE49-F238E27FC236}">
                <a16:creationId xmlns:a16="http://schemas.microsoft.com/office/drawing/2014/main" id="{29841B95-05D1-7959-8BE1-CB8D0852CEF5}"/>
              </a:ext>
            </a:extLst>
          </p:cNvPr>
          <p:cNvPicPr>
            <a:picLocks noChangeAspect="1"/>
          </p:cNvPicPr>
          <p:nvPr/>
        </p:nvPicPr>
        <p:blipFill>
          <a:blip r:embed="rId3"/>
          <a:stretch>
            <a:fillRect/>
          </a:stretch>
        </p:blipFill>
        <p:spPr>
          <a:xfrm>
            <a:off x="280176" y="3189804"/>
            <a:ext cx="5553075" cy="2305050"/>
          </a:xfrm>
          <a:prstGeom prst="rect">
            <a:avLst/>
          </a:prstGeom>
        </p:spPr>
      </p:pic>
      <p:pic>
        <p:nvPicPr>
          <p:cNvPr id="7" name="Picture 6">
            <a:extLst>
              <a:ext uri="{FF2B5EF4-FFF2-40B4-BE49-F238E27FC236}">
                <a16:creationId xmlns:a16="http://schemas.microsoft.com/office/drawing/2014/main" id="{E527DF54-0632-7362-25D5-AEF8EAE7BCEB}"/>
              </a:ext>
            </a:extLst>
          </p:cNvPr>
          <p:cNvPicPr>
            <a:picLocks noChangeAspect="1"/>
          </p:cNvPicPr>
          <p:nvPr/>
        </p:nvPicPr>
        <p:blipFill>
          <a:blip r:embed="rId4"/>
          <a:stretch>
            <a:fillRect/>
          </a:stretch>
        </p:blipFill>
        <p:spPr>
          <a:xfrm>
            <a:off x="280176" y="2852657"/>
            <a:ext cx="11631648" cy="1152686"/>
          </a:xfrm>
          <a:prstGeom prst="rect">
            <a:avLst/>
          </a:prstGeom>
        </p:spPr>
      </p:pic>
      <p:pic>
        <p:nvPicPr>
          <p:cNvPr id="9" name="Picture 8">
            <a:extLst>
              <a:ext uri="{FF2B5EF4-FFF2-40B4-BE49-F238E27FC236}">
                <a16:creationId xmlns:a16="http://schemas.microsoft.com/office/drawing/2014/main" id="{7AF7A0C9-EC66-3CB4-E376-28D19943750C}"/>
              </a:ext>
            </a:extLst>
          </p:cNvPr>
          <p:cNvPicPr>
            <a:picLocks noChangeAspect="1"/>
          </p:cNvPicPr>
          <p:nvPr/>
        </p:nvPicPr>
        <p:blipFill>
          <a:blip r:embed="rId5"/>
          <a:stretch>
            <a:fillRect/>
          </a:stretch>
        </p:blipFill>
        <p:spPr>
          <a:xfrm>
            <a:off x="0" y="920055"/>
            <a:ext cx="12192000" cy="2133255"/>
          </a:xfrm>
          <a:prstGeom prst="rect">
            <a:avLst/>
          </a:prstGeom>
        </p:spPr>
      </p:pic>
      <p:pic>
        <p:nvPicPr>
          <p:cNvPr id="10" name="Picture 9" descr="A logo with a black background&#10;&#10;Description automatically generated">
            <a:extLst>
              <a:ext uri="{FF2B5EF4-FFF2-40B4-BE49-F238E27FC236}">
                <a16:creationId xmlns:a16="http://schemas.microsoft.com/office/drawing/2014/main" id="{34F01C36-28AB-9673-B99C-AC4F10E26CFE}"/>
              </a:ext>
            </a:extLst>
          </p:cNvPr>
          <p:cNvPicPr>
            <a:picLocks noChangeAspect="1"/>
          </p:cNvPicPr>
          <p:nvPr/>
        </p:nvPicPr>
        <p:blipFill rotWithShape="1">
          <a:blip r:embed="rId6">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096397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F5FE04BE-4FE4-B4E0-B421-55B560A5ACEA}"/>
              </a:ext>
            </a:extLst>
          </p:cNvPr>
          <p:cNvPicPr>
            <a:picLocks noChangeAspect="1"/>
          </p:cNvPicPr>
          <p:nvPr/>
        </p:nvPicPr>
        <p:blipFill>
          <a:blip r:embed="rId3"/>
          <a:stretch>
            <a:fillRect/>
          </a:stretch>
        </p:blipFill>
        <p:spPr>
          <a:xfrm>
            <a:off x="0" y="890606"/>
            <a:ext cx="12192000" cy="5686387"/>
          </a:xfrm>
          <a:prstGeom prst="rect">
            <a:avLst/>
          </a:prstGeom>
        </p:spPr>
      </p:pic>
      <p:sp>
        <p:nvSpPr>
          <p:cNvPr id="2" name="TextBox 1">
            <a:extLst>
              <a:ext uri="{FF2B5EF4-FFF2-40B4-BE49-F238E27FC236}">
                <a16:creationId xmlns:a16="http://schemas.microsoft.com/office/drawing/2014/main" id="{A6BFC8F1-5E2A-1773-ADBA-CFCE53ECF788}"/>
              </a:ext>
            </a:extLst>
          </p:cNvPr>
          <p:cNvSpPr txBox="1"/>
          <p:nvPr/>
        </p:nvSpPr>
        <p:spPr>
          <a:xfrm>
            <a:off x="299720" y="180676"/>
            <a:ext cx="5608320" cy="646331"/>
          </a:xfrm>
          <a:prstGeom prst="rect">
            <a:avLst/>
          </a:prstGeom>
          <a:noFill/>
        </p:spPr>
        <p:txBody>
          <a:bodyPr wrap="square" lIns="91440" tIns="45720" rIns="91440" bIns="45720" rtlCol="0" anchor="t">
            <a:spAutoFit/>
          </a:bodyPr>
          <a:lstStyle/>
          <a:p>
            <a:r>
              <a:rPr lang="en-US" sz="3600">
                <a:solidFill>
                  <a:srgbClr val="009999"/>
                </a:solidFill>
                <a:ea typeface="Calibri Light"/>
                <a:cs typeface="Calibri Light"/>
              </a:rPr>
              <a:t>Dataflow overview</a:t>
            </a:r>
            <a:endParaRPr lang="en-DK" sz="3600">
              <a:solidFill>
                <a:srgbClr val="009999"/>
              </a:solidFill>
              <a:ea typeface="Calibri Light"/>
              <a:cs typeface="Calibri Light"/>
            </a:endParaRPr>
          </a:p>
        </p:txBody>
      </p:sp>
      <p:sp>
        <p:nvSpPr>
          <p:cNvPr id="3" name="Rectangle: Rounded Corners 2">
            <a:extLst>
              <a:ext uri="{FF2B5EF4-FFF2-40B4-BE49-F238E27FC236}">
                <a16:creationId xmlns:a16="http://schemas.microsoft.com/office/drawing/2014/main" id="{890B8CAF-863F-E0EC-338A-39A2AB2D510E}"/>
              </a:ext>
            </a:extLst>
          </p:cNvPr>
          <p:cNvSpPr/>
          <p:nvPr/>
        </p:nvSpPr>
        <p:spPr>
          <a:xfrm>
            <a:off x="1052376" y="1457325"/>
            <a:ext cx="994682" cy="409575"/>
          </a:xfrm>
          <a:prstGeom prst="roundRect">
            <a:avLst/>
          </a:prstGeom>
          <a:noFill/>
          <a:ln w="19050">
            <a:solidFill>
              <a:srgbClr val="008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 name="Rectangle: Rounded Corners 3">
            <a:extLst>
              <a:ext uri="{FF2B5EF4-FFF2-40B4-BE49-F238E27FC236}">
                <a16:creationId xmlns:a16="http://schemas.microsoft.com/office/drawing/2014/main" id="{CA316937-4246-1B34-C2D8-CC683E30035A}"/>
              </a:ext>
            </a:extLst>
          </p:cNvPr>
          <p:cNvSpPr/>
          <p:nvPr/>
        </p:nvSpPr>
        <p:spPr>
          <a:xfrm>
            <a:off x="8089718" y="1447800"/>
            <a:ext cx="4098200" cy="381000"/>
          </a:xfrm>
          <a:prstGeom prst="roundRect">
            <a:avLst/>
          </a:prstGeom>
          <a:noFill/>
          <a:ln w="19050">
            <a:solidFill>
              <a:srgbClr val="008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5" name="Rectangle: Rounded Corners 4">
            <a:extLst>
              <a:ext uri="{FF2B5EF4-FFF2-40B4-BE49-F238E27FC236}">
                <a16:creationId xmlns:a16="http://schemas.microsoft.com/office/drawing/2014/main" id="{1C93CED4-D32E-AE7F-2CE9-57C9E4BD75F9}"/>
              </a:ext>
            </a:extLst>
          </p:cNvPr>
          <p:cNvSpPr/>
          <p:nvPr/>
        </p:nvSpPr>
        <p:spPr>
          <a:xfrm>
            <a:off x="10312037" y="1865698"/>
            <a:ext cx="1881324" cy="381000"/>
          </a:xfrm>
          <a:prstGeom prst="roundRect">
            <a:avLst/>
          </a:prstGeom>
          <a:noFill/>
          <a:ln w="19050">
            <a:solidFill>
              <a:srgbClr val="008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 name="Rectangle: Rounded Corners 6">
            <a:extLst>
              <a:ext uri="{FF2B5EF4-FFF2-40B4-BE49-F238E27FC236}">
                <a16:creationId xmlns:a16="http://schemas.microsoft.com/office/drawing/2014/main" id="{38081E44-AD30-102C-AE7E-B5AB7C54D91D}"/>
              </a:ext>
            </a:extLst>
          </p:cNvPr>
          <p:cNvSpPr/>
          <p:nvPr/>
        </p:nvSpPr>
        <p:spPr>
          <a:xfrm>
            <a:off x="40005" y="2246539"/>
            <a:ext cx="4443549" cy="381000"/>
          </a:xfrm>
          <a:prstGeom prst="roundRect">
            <a:avLst/>
          </a:prstGeom>
          <a:noFill/>
          <a:ln w="19050">
            <a:solidFill>
              <a:srgbClr val="008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8" name="Picture 7" descr="A logo with a black background&#10;&#10;Description automatically generated">
            <a:extLst>
              <a:ext uri="{FF2B5EF4-FFF2-40B4-BE49-F238E27FC236}">
                <a16:creationId xmlns:a16="http://schemas.microsoft.com/office/drawing/2014/main" id="{0734BABE-5EF4-4ABC-A585-D9E9B184A21B}"/>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521473" y="0"/>
            <a:ext cx="1429227" cy="1598560"/>
          </a:xfrm>
          <a:prstGeom prst="rect">
            <a:avLst/>
          </a:prstGeom>
          <a:noFill/>
          <a:ln>
            <a:noFill/>
          </a:ln>
          <a:extLst>
            <a:ext uri="{53640926-AAD7-44D8-BBD7-CCE9431645EC}">
              <a14:shadowObscured xmlns:a14="http://schemas.microsoft.com/office/drawing/2010/main"/>
            </a:ext>
          </a:extLst>
        </p:spPr>
      </p:pic>
      <p:sp>
        <p:nvSpPr>
          <p:cNvPr id="10" name="Rectangle 9">
            <a:extLst>
              <a:ext uri="{FF2B5EF4-FFF2-40B4-BE49-F238E27FC236}">
                <a16:creationId xmlns:a16="http://schemas.microsoft.com/office/drawing/2014/main" id="{3EFAC749-79C6-1475-14E4-D777DB73D9EE}"/>
              </a:ext>
            </a:extLst>
          </p:cNvPr>
          <p:cNvSpPr/>
          <p:nvPr/>
        </p:nvSpPr>
        <p:spPr>
          <a:xfrm>
            <a:off x="401319" y="1155700"/>
            <a:ext cx="4443549" cy="23802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Tree>
    <p:extLst>
      <p:ext uri="{BB962C8B-B14F-4D97-AF65-F5344CB8AC3E}">
        <p14:creationId xmlns:p14="http://schemas.microsoft.com/office/powerpoint/2010/main" val="10419163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CE4A7A51-0D7F-04BC-C743-9E3172F170AD}"/>
              </a:ext>
            </a:extLst>
          </p:cNvPr>
          <p:cNvPicPr>
            <a:picLocks noChangeAspect="1"/>
          </p:cNvPicPr>
          <p:nvPr/>
        </p:nvPicPr>
        <p:blipFill>
          <a:blip r:embed="rId3"/>
          <a:stretch>
            <a:fillRect/>
          </a:stretch>
        </p:blipFill>
        <p:spPr>
          <a:xfrm>
            <a:off x="0" y="884973"/>
            <a:ext cx="12192000" cy="5088054"/>
          </a:xfrm>
          <a:prstGeom prst="rect">
            <a:avLst/>
          </a:prstGeom>
        </p:spPr>
      </p:pic>
      <p:sp>
        <p:nvSpPr>
          <p:cNvPr id="2" name="TextBox 1">
            <a:extLst>
              <a:ext uri="{FF2B5EF4-FFF2-40B4-BE49-F238E27FC236}">
                <a16:creationId xmlns:a16="http://schemas.microsoft.com/office/drawing/2014/main" id="{237C8E61-A0A8-8BB2-2098-221774CF38B4}"/>
              </a:ext>
            </a:extLst>
          </p:cNvPr>
          <p:cNvSpPr txBox="1"/>
          <p:nvPr/>
        </p:nvSpPr>
        <p:spPr>
          <a:xfrm>
            <a:off x="388620" y="335280"/>
            <a:ext cx="5608320" cy="523220"/>
          </a:xfrm>
          <a:prstGeom prst="rect">
            <a:avLst/>
          </a:prstGeom>
          <a:noFill/>
        </p:spPr>
        <p:txBody>
          <a:bodyPr wrap="square" lIns="91440" tIns="45720" rIns="91440" bIns="45720" rtlCol="0" anchor="t">
            <a:spAutoFit/>
          </a:bodyPr>
          <a:lstStyle/>
          <a:p>
            <a:r>
              <a:rPr lang="en-US" sz="2400">
                <a:solidFill>
                  <a:srgbClr val="002060"/>
                </a:solidFill>
              </a:rPr>
              <a:t>TABLE 1 - ADAPTATION GOALS </a:t>
            </a:r>
            <a:r>
              <a:rPr lang="en-US" sz="2800">
                <a:solidFill>
                  <a:srgbClr val="008080"/>
                </a:solidFill>
              </a:rPr>
              <a:t>   </a:t>
            </a:r>
            <a:endParaRPr lang="en-DK" sz="2800">
              <a:solidFill>
                <a:srgbClr val="008080"/>
              </a:solidFill>
            </a:endParaRPr>
          </a:p>
        </p:txBody>
      </p:sp>
      <p:sp>
        <p:nvSpPr>
          <p:cNvPr id="3" name="Rectangle: Rounded Corners 2">
            <a:extLst>
              <a:ext uri="{FF2B5EF4-FFF2-40B4-BE49-F238E27FC236}">
                <a16:creationId xmlns:a16="http://schemas.microsoft.com/office/drawing/2014/main" id="{80B98B6C-FA10-74A3-F799-2A54292B1941}"/>
              </a:ext>
            </a:extLst>
          </p:cNvPr>
          <p:cNvSpPr/>
          <p:nvPr/>
        </p:nvSpPr>
        <p:spPr>
          <a:xfrm>
            <a:off x="10755630" y="5388428"/>
            <a:ext cx="889907" cy="352425"/>
          </a:xfrm>
          <a:prstGeom prst="roundRect">
            <a:avLst/>
          </a:prstGeom>
          <a:noFill/>
          <a:ln w="19050">
            <a:solidFill>
              <a:srgbClr val="008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4" name="Picture 3" descr="A logo with a black background&#10;&#10;Description automatically generated">
            <a:extLst>
              <a:ext uri="{FF2B5EF4-FFF2-40B4-BE49-F238E27FC236}">
                <a16:creationId xmlns:a16="http://schemas.microsoft.com/office/drawing/2014/main" id="{988856F8-9BAC-A0D7-2500-EC1B9C30AC00}"/>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121133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F2F973AD-5A04-C29B-A162-DDBBDC65F4CF}"/>
              </a:ext>
            </a:extLst>
          </p:cNvPr>
          <p:cNvPicPr>
            <a:picLocks noChangeAspect="1"/>
          </p:cNvPicPr>
          <p:nvPr/>
        </p:nvPicPr>
        <p:blipFill>
          <a:blip r:embed="rId3"/>
          <a:stretch>
            <a:fillRect/>
          </a:stretch>
        </p:blipFill>
        <p:spPr>
          <a:xfrm>
            <a:off x="0" y="984041"/>
            <a:ext cx="12192000" cy="4889918"/>
          </a:xfrm>
          <a:prstGeom prst="rect">
            <a:avLst/>
          </a:prstGeom>
        </p:spPr>
      </p:pic>
      <p:sp>
        <p:nvSpPr>
          <p:cNvPr id="2" name="Rectangle: Rounded Corners 1">
            <a:extLst>
              <a:ext uri="{FF2B5EF4-FFF2-40B4-BE49-F238E27FC236}">
                <a16:creationId xmlns:a16="http://schemas.microsoft.com/office/drawing/2014/main" id="{33BC38A9-3086-E134-4E7F-CE17E099837E}"/>
              </a:ext>
            </a:extLst>
          </p:cNvPr>
          <p:cNvSpPr/>
          <p:nvPr/>
        </p:nvSpPr>
        <p:spPr>
          <a:xfrm>
            <a:off x="11256372" y="1195958"/>
            <a:ext cx="766082" cy="438150"/>
          </a:xfrm>
          <a:prstGeom prst="roundRect">
            <a:avLst/>
          </a:prstGeom>
          <a:noFill/>
          <a:ln w="19050">
            <a:solidFill>
              <a:srgbClr val="008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 name="TextBox 5">
            <a:extLst>
              <a:ext uri="{FF2B5EF4-FFF2-40B4-BE49-F238E27FC236}">
                <a16:creationId xmlns:a16="http://schemas.microsoft.com/office/drawing/2014/main" id="{E7F70CFD-DED6-D7A3-E2A9-8B629F1AB8F2}"/>
              </a:ext>
            </a:extLst>
          </p:cNvPr>
          <p:cNvSpPr txBox="1"/>
          <p:nvPr/>
        </p:nvSpPr>
        <p:spPr>
          <a:xfrm>
            <a:off x="388620" y="335280"/>
            <a:ext cx="5608320" cy="523220"/>
          </a:xfrm>
          <a:prstGeom prst="rect">
            <a:avLst/>
          </a:prstGeom>
          <a:noFill/>
        </p:spPr>
        <p:txBody>
          <a:bodyPr wrap="square" lIns="91440" tIns="45720" rIns="91440" bIns="45720" rtlCol="0" anchor="t">
            <a:spAutoFit/>
          </a:bodyPr>
          <a:lstStyle/>
          <a:p>
            <a:r>
              <a:rPr lang="en-US" sz="2400">
                <a:solidFill>
                  <a:srgbClr val="002060"/>
                </a:solidFill>
              </a:rPr>
              <a:t>TABLE 1 - ADAPTATION GOALS </a:t>
            </a:r>
            <a:r>
              <a:rPr lang="en-US" sz="2800">
                <a:solidFill>
                  <a:srgbClr val="008080"/>
                </a:solidFill>
              </a:rPr>
              <a:t>   </a:t>
            </a:r>
            <a:endParaRPr lang="en-DK" sz="2800">
              <a:solidFill>
                <a:srgbClr val="008080"/>
              </a:solidFill>
            </a:endParaRPr>
          </a:p>
        </p:txBody>
      </p:sp>
      <p:pic>
        <p:nvPicPr>
          <p:cNvPr id="5" name="Picture 4" descr="A logo with a black background&#10;&#10;Description automatically generated">
            <a:extLst>
              <a:ext uri="{FF2B5EF4-FFF2-40B4-BE49-F238E27FC236}">
                <a16:creationId xmlns:a16="http://schemas.microsoft.com/office/drawing/2014/main" id="{F7C9709B-2640-B216-F50E-1CAFE0765B02}"/>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7830541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BD4F0C-033F-A2A7-847F-5E59D574DEA4}"/>
              </a:ext>
            </a:extLst>
          </p:cNvPr>
          <p:cNvSpPr txBox="1"/>
          <p:nvPr/>
        </p:nvSpPr>
        <p:spPr>
          <a:xfrm>
            <a:off x="388620" y="335280"/>
            <a:ext cx="8281367" cy="461665"/>
          </a:xfrm>
          <a:prstGeom prst="rect">
            <a:avLst/>
          </a:prstGeom>
          <a:noFill/>
        </p:spPr>
        <p:txBody>
          <a:bodyPr wrap="square" lIns="91440" tIns="45720" rIns="91440" bIns="45720" rtlCol="0" anchor="t">
            <a:spAutoFit/>
          </a:bodyPr>
          <a:lstStyle/>
          <a:p>
            <a:r>
              <a:rPr lang="en-US" sz="2400">
                <a:solidFill>
                  <a:srgbClr val="002060"/>
                </a:solidFill>
              </a:rPr>
              <a:t>TABLE 2 - NATIONAL CIRCUMSTANCES</a:t>
            </a:r>
            <a:endParaRPr lang="en-US" sz="2400">
              <a:solidFill>
                <a:srgbClr val="000000"/>
              </a:solidFill>
            </a:endParaRPr>
          </a:p>
        </p:txBody>
      </p:sp>
      <p:pic>
        <p:nvPicPr>
          <p:cNvPr id="2" name="Picture 1" descr="A screenshot of a computer&#10;&#10;AI-generated content may be incorrect.">
            <a:extLst>
              <a:ext uri="{FF2B5EF4-FFF2-40B4-BE49-F238E27FC236}">
                <a16:creationId xmlns:a16="http://schemas.microsoft.com/office/drawing/2014/main" id="{9DBA0165-323B-7496-EF45-AA204BF5599C}"/>
              </a:ext>
            </a:extLst>
          </p:cNvPr>
          <p:cNvPicPr>
            <a:picLocks noChangeAspect="1"/>
          </p:cNvPicPr>
          <p:nvPr/>
        </p:nvPicPr>
        <p:blipFill>
          <a:blip r:embed="rId3"/>
          <a:stretch>
            <a:fillRect/>
          </a:stretch>
        </p:blipFill>
        <p:spPr>
          <a:xfrm>
            <a:off x="47625" y="1898088"/>
            <a:ext cx="12192000" cy="3061823"/>
          </a:xfrm>
          <a:prstGeom prst="rect">
            <a:avLst/>
          </a:prstGeom>
        </p:spPr>
      </p:pic>
      <p:pic>
        <p:nvPicPr>
          <p:cNvPr id="3" name="Picture 2" descr="A logo with a black background&#10;&#10;Description automatically generated">
            <a:extLst>
              <a:ext uri="{FF2B5EF4-FFF2-40B4-BE49-F238E27FC236}">
                <a16:creationId xmlns:a16="http://schemas.microsoft.com/office/drawing/2014/main" id="{FB05C889-230C-369F-55E8-BA4C96BD33F5}"/>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326744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80BCA8E-7861-931C-A20D-E0A55FCAD9C0}"/>
              </a:ext>
            </a:extLst>
          </p:cNvPr>
          <p:cNvPicPr>
            <a:picLocks noChangeAspect="1"/>
          </p:cNvPicPr>
          <p:nvPr/>
        </p:nvPicPr>
        <p:blipFill>
          <a:blip r:embed="rId3"/>
          <a:stretch>
            <a:fillRect/>
          </a:stretch>
        </p:blipFill>
        <p:spPr>
          <a:xfrm>
            <a:off x="0" y="1615333"/>
            <a:ext cx="12192000" cy="5006191"/>
          </a:xfrm>
          <a:prstGeom prst="rect">
            <a:avLst/>
          </a:prstGeom>
          <a:ln w="12700">
            <a:solidFill>
              <a:srgbClr val="002060"/>
            </a:solidFill>
          </a:ln>
        </p:spPr>
      </p:pic>
      <p:pic>
        <p:nvPicPr>
          <p:cNvPr id="3" name="Picture 2">
            <a:extLst>
              <a:ext uri="{FF2B5EF4-FFF2-40B4-BE49-F238E27FC236}">
                <a16:creationId xmlns:a16="http://schemas.microsoft.com/office/drawing/2014/main" id="{D72C830F-69A2-0B73-BD4F-CF50D4AB7923}"/>
              </a:ext>
            </a:extLst>
          </p:cNvPr>
          <p:cNvPicPr>
            <a:picLocks noChangeAspect="1"/>
          </p:cNvPicPr>
          <p:nvPr/>
        </p:nvPicPr>
        <p:blipFill>
          <a:blip r:embed="rId4"/>
          <a:stretch>
            <a:fillRect/>
          </a:stretch>
        </p:blipFill>
        <p:spPr>
          <a:xfrm>
            <a:off x="4688533" y="674195"/>
            <a:ext cx="3435364" cy="2511879"/>
          </a:xfrm>
          <a:prstGeom prst="rect">
            <a:avLst/>
          </a:prstGeom>
          <a:ln w="38100">
            <a:solidFill>
              <a:srgbClr val="008080"/>
            </a:solidFill>
          </a:ln>
        </p:spPr>
      </p:pic>
      <p:pic>
        <p:nvPicPr>
          <p:cNvPr id="8" name="Picture 7">
            <a:extLst>
              <a:ext uri="{FF2B5EF4-FFF2-40B4-BE49-F238E27FC236}">
                <a16:creationId xmlns:a16="http://schemas.microsoft.com/office/drawing/2014/main" id="{646D655A-F328-48BA-267C-F55B2C02AF25}"/>
              </a:ext>
            </a:extLst>
          </p:cNvPr>
          <p:cNvPicPr>
            <a:picLocks noChangeAspect="1"/>
          </p:cNvPicPr>
          <p:nvPr/>
        </p:nvPicPr>
        <p:blipFill>
          <a:blip r:embed="rId5"/>
          <a:stretch>
            <a:fillRect/>
          </a:stretch>
        </p:blipFill>
        <p:spPr>
          <a:xfrm>
            <a:off x="4311048" y="4762918"/>
            <a:ext cx="3803284" cy="1981880"/>
          </a:xfrm>
          <a:prstGeom prst="rect">
            <a:avLst/>
          </a:prstGeom>
          <a:ln w="38100">
            <a:solidFill>
              <a:srgbClr val="008080"/>
            </a:solidFill>
          </a:ln>
        </p:spPr>
      </p:pic>
      <p:sp>
        <p:nvSpPr>
          <p:cNvPr id="2" name="TextBox 1">
            <a:extLst>
              <a:ext uri="{FF2B5EF4-FFF2-40B4-BE49-F238E27FC236}">
                <a16:creationId xmlns:a16="http://schemas.microsoft.com/office/drawing/2014/main" id="{80D34FF8-C9B8-0EA6-10B3-2AD0DFE395A2}"/>
              </a:ext>
            </a:extLst>
          </p:cNvPr>
          <p:cNvSpPr txBox="1"/>
          <p:nvPr/>
        </p:nvSpPr>
        <p:spPr>
          <a:xfrm>
            <a:off x="568476" y="423333"/>
            <a:ext cx="3604380" cy="830997"/>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Reporting on GHG emissions and removals under the </a:t>
            </a:r>
            <a:r>
              <a:rPr lang="en-US" sz="1600" err="1">
                <a:solidFill>
                  <a:srgbClr val="316300"/>
                </a:solidFill>
                <a:ea typeface="Calibri"/>
                <a:cs typeface="Calibri"/>
              </a:rPr>
              <a:t>Decarbonisation</a:t>
            </a:r>
            <a:r>
              <a:rPr lang="en-US" sz="1600">
                <a:solidFill>
                  <a:srgbClr val="316300"/>
                </a:solidFill>
                <a:ea typeface="Calibri"/>
                <a:cs typeface="Calibri"/>
              </a:rPr>
              <a:t> dimension is mandatory.</a:t>
            </a:r>
          </a:p>
        </p:txBody>
      </p:sp>
      <p:sp>
        <p:nvSpPr>
          <p:cNvPr id="4" name="TextBox 3">
            <a:extLst>
              <a:ext uri="{FF2B5EF4-FFF2-40B4-BE49-F238E27FC236}">
                <a16:creationId xmlns:a16="http://schemas.microsoft.com/office/drawing/2014/main" id="{A5515204-77B4-E0F0-BC44-294667217E35}"/>
              </a:ext>
            </a:extLst>
          </p:cNvPr>
          <p:cNvSpPr txBox="1"/>
          <p:nvPr/>
        </p:nvSpPr>
        <p:spPr>
          <a:xfrm>
            <a:off x="447523" y="5370285"/>
            <a:ext cx="3604380" cy="830997"/>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Other documents listed under the Adaptation goals webform will appear here.</a:t>
            </a:r>
          </a:p>
        </p:txBody>
      </p:sp>
      <p:pic>
        <p:nvPicPr>
          <p:cNvPr id="5" name="Picture 4" descr="A screenshot of a computer&#10;&#10;AI-generated content may be incorrect.">
            <a:extLst>
              <a:ext uri="{FF2B5EF4-FFF2-40B4-BE49-F238E27FC236}">
                <a16:creationId xmlns:a16="http://schemas.microsoft.com/office/drawing/2014/main" id="{54F88E2F-FA14-23A1-6109-19C4E074FAC4}"/>
              </a:ext>
            </a:extLst>
          </p:cNvPr>
          <p:cNvPicPr>
            <a:picLocks noChangeAspect="1"/>
          </p:cNvPicPr>
          <p:nvPr/>
        </p:nvPicPr>
        <p:blipFill>
          <a:blip r:embed="rId6"/>
          <a:stretch>
            <a:fillRect/>
          </a:stretch>
        </p:blipFill>
        <p:spPr>
          <a:xfrm>
            <a:off x="7496175" y="2871788"/>
            <a:ext cx="4267200" cy="1666875"/>
          </a:xfrm>
          <a:prstGeom prst="rect">
            <a:avLst/>
          </a:prstGeom>
          <a:ln w="28575">
            <a:solidFill>
              <a:srgbClr val="008080"/>
            </a:solidFill>
          </a:ln>
        </p:spPr>
      </p:pic>
      <p:pic>
        <p:nvPicPr>
          <p:cNvPr id="7" name="Picture 6" descr="A logo with a black background&#10;&#10;Description automatically generated">
            <a:extLst>
              <a:ext uri="{FF2B5EF4-FFF2-40B4-BE49-F238E27FC236}">
                <a16:creationId xmlns:a16="http://schemas.microsoft.com/office/drawing/2014/main" id="{1DCA85EC-EFFD-10D3-7FA9-E43780F6ADB0}"/>
              </a:ext>
            </a:extLst>
          </p:cNvPr>
          <p:cNvPicPr>
            <a:picLocks noChangeAspect="1"/>
          </p:cNvPicPr>
          <p:nvPr/>
        </p:nvPicPr>
        <p:blipFill rotWithShape="1">
          <a:blip r:embed="rId7">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7610158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BF790E-B41F-F1A9-CB70-D52DEE9AA022}"/>
              </a:ext>
            </a:extLst>
          </p:cNvPr>
          <p:cNvPicPr>
            <a:picLocks noChangeAspect="1"/>
          </p:cNvPicPr>
          <p:nvPr/>
        </p:nvPicPr>
        <p:blipFill>
          <a:blip r:embed="rId3"/>
          <a:stretch>
            <a:fillRect/>
          </a:stretch>
        </p:blipFill>
        <p:spPr>
          <a:xfrm>
            <a:off x="0" y="854072"/>
            <a:ext cx="12192000" cy="3081572"/>
          </a:xfrm>
          <a:prstGeom prst="rect">
            <a:avLst/>
          </a:prstGeom>
          <a:ln w="12700">
            <a:solidFill>
              <a:srgbClr val="002060"/>
            </a:solidFill>
          </a:ln>
        </p:spPr>
      </p:pic>
      <p:pic>
        <p:nvPicPr>
          <p:cNvPr id="2" name="Picture 1" descr="A screenshot of a search box&#10;&#10;AI-generated content may be incorrect.">
            <a:extLst>
              <a:ext uri="{FF2B5EF4-FFF2-40B4-BE49-F238E27FC236}">
                <a16:creationId xmlns:a16="http://schemas.microsoft.com/office/drawing/2014/main" id="{BD6AD356-903F-6BC6-E7E1-21F56311E95F}"/>
              </a:ext>
            </a:extLst>
          </p:cNvPr>
          <p:cNvPicPr>
            <a:picLocks noChangeAspect="1"/>
          </p:cNvPicPr>
          <p:nvPr/>
        </p:nvPicPr>
        <p:blipFill>
          <a:blip r:embed="rId4"/>
          <a:stretch>
            <a:fillRect/>
          </a:stretch>
        </p:blipFill>
        <p:spPr>
          <a:xfrm>
            <a:off x="6572250" y="3324225"/>
            <a:ext cx="3009900" cy="2400300"/>
          </a:xfrm>
          <a:prstGeom prst="rect">
            <a:avLst/>
          </a:prstGeom>
          <a:ln w="28575">
            <a:solidFill>
              <a:srgbClr val="008080"/>
            </a:solidFill>
          </a:ln>
        </p:spPr>
      </p:pic>
      <p:pic>
        <p:nvPicPr>
          <p:cNvPr id="5" name="Picture 4" descr="A logo with a black background&#10;&#10;Description automatically generated">
            <a:extLst>
              <a:ext uri="{FF2B5EF4-FFF2-40B4-BE49-F238E27FC236}">
                <a16:creationId xmlns:a16="http://schemas.microsoft.com/office/drawing/2014/main" id="{741BD083-7C5F-A81C-8EF3-3DB5CEFDAF9C}"/>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209A1E61-ACF0-F0C5-9214-7736DEEFCB14}"/>
              </a:ext>
            </a:extLst>
          </p:cNvPr>
          <p:cNvSpPr txBox="1"/>
          <p:nvPr/>
        </p:nvSpPr>
        <p:spPr>
          <a:xfrm>
            <a:off x="188082" y="4141505"/>
            <a:ext cx="1512963" cy="338554"/>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Voluntary field</a:t>
            </a:r>
          </a:p>
        </p:txBody>
      </p:sp>
    </p:spTree>
    <p:extLst>
      <p:ext uri="{BB962C8B-B14F-4D97-AF65-F5344CB8AC3E}">
        <p14:creationId xmlns:p14="http://schemas.microsoft.com/office/powerpoint/2010/main" val="19814898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19195B-F13F-781F-B3E5-A831AEFC267D}"/>
              </a:ext>
            </a:extLst>
          </p:cNvPr>
          <p:cNvPicPr>
            <a:picLocks noChangeAspect="1"/>
          </p:cNvPicPr>
          <p:nvPr/>
        </p:nvPicPr>
        <p:blipFill>
          <a:blip r:embed="rId3"/>
          <a:stretch>
            <a:fillRect/>
          </a:stretch>
        </p:blipFill>
        <p:spPr>
          <a:xfrm>
            <a:off x="0" y="1250327"/>
            <a:ext cx="12192000" cy="5370925"/>
          </a:xfrm>
          <a:prstGeom prst="rect">
            <a:avLst/>
          </a:prstGeom>
          <a:ln w="12700">
            <a:solidFill>
              <a:schemeClr val="tx1"/>
            </a:solidFill>
          </a:ln>
        </p:spPr>
      </p:pic>
      <p:pic>
        <p:nvPicPr>
          <p:cNvPr id="4" name="Picture 3">
            <a:extLst>
              <a:ext uri="{FF2B5EF4-FFF2-40B4-BE49-F238E27FC236}">
                <a16:creationId xmlns:a16="http://schemas.microsoft.com/office/drawing/2014/main" id="{F96F4E2C-94B4-535F-BD05-C4D468CB3339}"/>
              </a:ext>
            </a:extLst>
          </p:cNvPr>
          <p:cNvPicPr>
            <a:picLocks noChangeAspect="1"/>
          </p:cNvPicPr>
          <p:nvPr/>
        </p:nvPicPr>
        <p:blipFill>
          <a:blip r:embed="rId4"/>
          <a:stretch>
            <a:fillRect/>
          </a:stretch>
        </p:blipFill>
        <p:spPr>
          <a:xfrm>
            <a:off x="4311049" y="4700022"/>
            <a:ext cx="3803284" cy="1981880"/>
          </a:xfrm>
          <a:prstGeom prst="rect">
            <a:avLst/>
          </a:prstGeom>
          <a:ln w="38100">
            <a:solidFill>
              <a:srgbClr val="008080"/>
            </a:solidFill>
          </a:ln>
        </p:spPr>
      </p:pic>
      <p:pic>
        <p:nvPicPr>
          <p:cNvPr id="5" name="Picture 4">
            <a:extLst>
              <a:ext uri="{FF2B5EF4-FFF2-40B4-BE49-F238E27FC236}">
                <a16:creationId xmlns:a16="http://schemas.microsoft.com/office/drawing/2014/main" id="{60D6D5C3-6B94-CAB7-8AAC-BEA929F10110}"/>
              </a:ext>
            </a:extLst>
          </p:cNvPr>
          <p:cNvPicPr>
            <a:picLocks noChangeAspect="1"/>
          </p:cNvPicPr>
          <p:nvPr/>
        </p:nvPicPr>
        <p:blipFill>
          <a:blip r:embed="rId5"/>
          <a:stretch>
            <a:fillRect/>
          </a:stretch>
        </p:blipFill>
        <p:spPr>
          <a:xfrm>
            <a:off x="4684904" y="529052"/>
            <a:ext cx="3435364" cy="2511879"/>
          </a:xfrm>
          <a:prstGeom prst="rect">
            <a:avLst/>
          </a:prstGeom>
          <a:ln w="38100">
            <a:solidFill>
              <a:srgbClr val="008080"/>
            </a:solidFill>
          </a:ln>
        </p:spPr>
      </p:pic>
      <p:sp>
        <p:nvSpPr>
          <p:cNvPr id="7" name="TextBox 6">
            <a:extLst>
              <a:ext uri="{FF2B5EF4-FFF2-40B4-BE49-F238E27FC236}">
                <a16:creationId xmlns:a16="http://schemas.microsoft.com/office/drawing/2014/main" id="{94B66814-CE3A-2841-AAB0-2ECC15E45EBA}"/>
              </a:ext>
            </a:extLst>
          </p:cNvPr>
          <p:cNvSpPr txBox="1"/>
          <p:nvPr/>
        </p:nvSpPr>
        <p:spPr>
          <a:xfrm>
            <a:off x="508000" y="241905"/>
            <a:ext cx="3604380" cy="830997"/>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Reporting on GHG emissions and removals under the </a:t>
            </a:r>
            <a:r>
              <a:rPr lang="en-US" sz="1600" err="1">
                <a:solidFill>
                  <a:srgbClr val="316300"/>
                </a:solidFill>
                <a:ea typeface="Calibri"/>
                <a:cs typeface="Calibri"/>
              </a:rPr>
              <a:t>Decarbonisation</a:t>
            </a:r>
            <a:r>
              <a:rPr lang="en-US" sz="1600">
                <a:solidFill>
                  <a:srgbClr val="316300"/>
                </a:solidFill>
                <a:ea typeface="Calibri"/>
                <a:cs typeface="Calibri"/>
              </a:rPr>
              <a:t> dimension is mandatory.</a:t>
            </a:r>
          </a:p>
        </p:txBody>
      </p:sp>
      <p:pic>
        <p:nvPicPr>
          <p:cNvPr id="2" name="Picture 1" descr="A screenshot of a computer&#10;&#10;AI-generated content may be incorrect.">
            <a:extLst>
              <a:ext uri="{FF2B5EF4-FFF2-40B4-BE49-F238E27FC236}">
                <a16:creationId xmlns:a16="http://schemas.microsoft.com/office/drawing/2014/main" id="{2A08D26E-A9AC-9F65-8275-73A8234B7A2C}"/>
              </a:ext>
            </a:extLst>
          </p:cNvPr>
          <p:cNvPicPr>
            <a:picLocks noChangeAspect="1"/>
          </p:cNvPicPr>
          <p:nvPr/>
        </p:nvPicPr>
        <p:blipFill>
          <a:blip r:embed="rId6"/>
          <a:stretch>
            <a:fillRect/>
          </a:stretch>
        </p:blipFill>
        <p:spPr>
          <a:xfrm>
            <a:off x="7600950" y="3033713"/>
            <a:ext cx="4267200" cy="1666875"/>
          </a:xfrm>
          <a:prstGeom prst="rect">
            <a:avLst/>
          </a:prstGeom>
        </p:spPr>
      </p:pic>
      <p:pic>
        <p:nvPicPr>
          <p:cNvPr id="8" name="Picture 7" descr="A logo with a black background&#10;&#10;Description automatically generated">
            <a:extLst>
              <a:ext uri="{FF2B5EF4-FFF2-40B4-BE49-F238E27FC236}">
                <a16:creationId xmlns:a16="http://schemas.microsoft.com/office/drawing/2014/main" id="{C88EB2EF-CB04-4061-0C4D-FCFE99EA2BC5}"/>
              </a:ext>
            </a:extLst>
          </p:cNvPr>
          <p:cNvPicPr>
            <a:picLocks noChangeAspect="1"/>
          </p:cNvPicPr>
          <p:nvPr/>
        </p:nvPicPr>
        <p:blipFill rotWithShape="1">
          <a:blip r:embed="rId7">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337281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5CF04D2-256F-23B8-6C0A-53F32BEBA7B2}"/>
              </a:ext>
            </a:extLst>
          </p:cNvPr>
          <p:cNvSpPr txBox="1"/>
          <p:nvPr/>
        </p:nvSpPr>
        <p:spPr>
          <a:xfrm>
            <a:off x="388620" y="335280"/>
            <a:ext cx="8281367" cy="461665"/>
          </a:xfrm>
          <a:prstGeom prst="rect">
            <a:avLst/>
          </a:prstGeom>
          <a:noFill/>
        </p:spPr>
        <p:txBody>
          <a:bodyPr wrap="square" lIns="91440" tIns="45720" rIns="91440" bIns="45720" rtlCol="0" anchor="t">
            <a:spAutoFit/>
          </a:bodyPr>
          <a:lstStyle/>
          <a:p>
            <a:r>
              <a:rPr lang="en-US" sz="2400">
                <a:solidFill>
                  <a:srgbClr val="002060"/>
                </a:solidFill>
              </a:rPr>
              <a:t>TABLE 2 - STRATEGIES AND PLANS</a:t>
            </a:r>
            <a:endParaRPr lang="en-US" sz="2400">
              <a:solidFill>
                <a:srgbClr val="000000"/>
              </a:solidFill>
            </a:endParaRPr>
          </a:p>
        </p:txBody>
      </p:sp>
      <p:pic>
        <p:nvPicPr>
          <p:cNvPr id="2" name="Picture 1" descr="A screenshot of a computer&#10;&#10;AI-generated content may be incorrect.">
            <a:extLst>
              <a:ext uri="{FF2B5EF4-FFF2-40B4-BE49-F238E27FC236}">
                <a16:creationId xmlns:a16="http://schemas.microsoft.com/office/drawing/2014/main" id="{D3758875-82D9-2F5E-7C79-4ABF93216D80}"/>
              </a:ext>
            </a:extLst>
          </p:cNvPr>
          <p:cNvPicPr>
            <a:picLocks noChangeAspect="1"/>
          </p:cNvPicPr>
          <p:nvPr/>
        </p:nvPicPr>
        <p:blipFill>
          <a:blip r:embed="rId3"/>
          <a:stretch>
            <a:fillRect/>
          </a:stretch>
        </p:blipFill>
        <p:spPr>
          <a:xfrm>
            <a:off x="0" y="968841"/>
            <a:ext cx="12192000" cy="4920318"/>
          </a:xfrm>
          <a:prstGeom prst="rect">
            <a:avLst/>
          </a:prstGeom>
        </p:spPr>
      </p:pic>
      <p:pic>
        <p:nvPicPr>
          <p:cNvPr id="3" name="Picture 2" descr="A logo with a black background&#10;&#10;Description automatically generated">
            <a:extLst>
              <a:ext uri="{FF2B5EF4-FFF2-40B4-BE49-F238E27FC236}">
                <a16:creationId xmlns:a16="http://schemas.microsoft.com/office/drawing/2014/main" id="{99324E71-40DC-E268-6A2F-2B004CFAB141}"/>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821958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F93D96-0740-44AA-88EF-4A8D08C9168D}"/>
              </a:ext>
            </a:extLst>
          </p:cNvPr>
          <p:cNvPicPr>
            <a:picLocks noChangeAspect="1"/>
          </p:cNvPicPr>
          <p:nvPr/>
        </p:nvPicPr>
        <p:blipFill>
          <a:blip r:embed="rId3"/>
          <a:stretch>
            <a:fillRect/>
          </a:stretch>
        </p:blipFill>
        <p:spPr>
          <a:xfrm>
            <a:off x="0" y="1437813"/>
            <a:ext cx="12192000" cy="5194316"/>
          </a:xfrm>
          <a:prstGeom prst="rect">
            <a:avLst/>
          </a:prstGeom>
          <a:ln>
            <a:solidFill>
              <a:srgbClr val="002060"/>
            </a:solidFill>
          </a:ln>
        </p:spPr>
      </p:pic>
      <p:pic>
        <p:nvPicPr>
          <p:cNvPr id="4" name="Picture 3">
            <a:extLst>
              <a:ext uri="{FF2B5EF4-FFF2-40B4-BE49-F238E27FC236}">
                <a16:creationId xmlns:a16="http://schemas.microsoft.com/office/drawing/2014/main" id="{EDAF201B-078A-CCB8-A287-AF83708C7D9F}"/>
              </a:ext>
            </a:extLst>
          </p:cNvPr>
          <p:cNvPicPr>
            <a:picLocks noChangeAspect="1"/>
          </p:cNvPicPr>
          <p:nvPr/>
        </p:nvPicPr>
        <p:blipFill>
          <a:blip r:embed="rId4"/>
          <a:stretch>
            <a:fillRect/>
          </a:stretch>
        </p:blipFill>
        <p:spPr>
          <a:xfrm>
            <a:off x="4311049" y="4712117"/>
            <a:ext cx="3803284" cy="1981880"/>
          </a:xfrm>
          <a:prstGeom prst="rect">
            <a:avLst/>
          </a:prstGeom>
          <a:ln w="38100">
            <a:solidFill>
              <a:srgbClr val="008080"/>
            </a:solidFill>
          </a:ln>
        </p:spPr>
      </p:pic>
      <p:pic>
        <p:nvPicPr>
          <p:cNvPr id="5" name="Picture 4">
            <a:extLst>
              <a:ext uri="{FF2B5EF4-FFF2-40B4-BE49-F238E27FC236}">
                <a16:creationId xmlns:a16="http://schemas.microsoft.com/office/drawing/2014/main" id="{238DE75F-0469-022F-5E97-D519B1DE08B2}"/>
              </a:ext>
            </a:extLst>
          </p:cNvPr>
          <p:cNvPicPr>
            <a:picLocks noChangeAspect="1"/>
          </p:cNvPicPr>
          <p:nvPr/>
        </p:nvPicPr>
        <p:blipFill>
          <a:blip r:embed="rId5"/>
          <a:stretch>
            <a:fillRect/>
          </a:stretch>
        </p:blipFill>
        <p:spPr>
          <a:xfrm>
            <a:off x="4503476" y="928195"/>
            <a:ext cx="3435364" cy="2511879"/>
          </a:xfrm>
          <a:prstGeom prst="rect">
            <a:avLst/>
          </a:prstGeom>
          <a:ln w="38100">
            <a:solidFill>
              <a:srgbClr val="008080"/>
            </a:solidFill>
          </a:ln>
        </p:spPr>
      </p:pic>
      <p:sp>
        <p:nvSpPr>
          <p:cNvPr id="7" name="TextBox 6">
            <a:extLst>
              <a:ext uri="{FF2B5EF4-FFF2-40B4-BE49-F238E27FC236}">
                <a16:creationId xmlns:a16="http://schemas.microsoft.com/office/drawing/2014/main" id="{BC3EE63A-D532-B212-1593-5D834EAA19E6}"/>
              </a:ext>
            </a:extLst>
          </p:cNvPr>
          <p:cNvSpPr txBox="1"/>
          <p:nvPr/>
        </p:nvSpPr>
        <p:spPr>
          <a:xfrm>
            <a:off x="449548" y="352007"/>
            <a:ext cx="3604380" cy="830997"/>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Reporting on GHG emissions and removals under the </a:t>
            </a:r>
            <a:r>
              <a:rPr lang="en-US" sz="1600" err="1">
                <a:solidFill>
                  <a:srgbClr val="316300"/>
                </a:solidFill>
                <a:ea typeface="Calibri"/>
                <a:cs typeface="Calibri"/>
              </a:rPr>
              <a:t>Decarbonisation</a:t>
            </a:r>
            <a:r>
              <a:rPr lang="en-US" sz="1600">
                <a:solidFill>
                  <a:srgbClr val="316300"/>
                </a:solidFill>
                <a:ea typeface="Calibri"/>
                <a:cs typeface="Calibri"/>
              </a:rPr>
              <a:t> dimension is mandatory.</a:t>
            </a:r>
          </a:p>
        </p:txBody>
      </p:sp>
      <p:pic>
        <p:nvPicPr>
          <p:cNvPr id="8" name="Picture 7" descr="A screenshot of a computer&#10;&#10;AI-generated content may be incorrect.">
            <a:extLst>
              <a:ext uri="{FF2B5EF4-FFF2-40B4-BE49-F238E27FC236}">
                <a16:creationId xmlns:a16="http://schemas.microsoft.com/office/drawing/2014/main" id="{423D27D0-0ADD-5285-CCFE-B80FF5A68154}"/>
              </a:ext>
            </a:extLst>
          </p:cNvPr>
          <p:cNvPicPr>
            <a:picLocks noChangeAspect="1"/>
          </p:cNvPicPr>
          <p:nvPr/>
        </p:nvPicPr>
        <p:blipFill>
          <a:blip r:embed="rId6"/>
          <a:stretch>
            <a:fillRect/>
          </a:stretch>
        </p:blipFill>
        <p:spPr>
          <a:xfrm>
            <a:off x="7600950" y="3100388"/>
            <a:ext cx="4267200" cy="1666875"/>
          </a:xfrm>
          <a:prstGeom prst="rect">
            <a:avLst/>
          </a:prstGeom>
        </p:spPr>
      </p:pic>
      <p:pic>
        <p:nvPicPr>
          <p:cNvPr id="2" name="Picture 1" descr="A logo with a black background&#10;&#10;Description automatically generated">
            <a:extLst>
              <a:ext uri="{FF2B5EF4-FFF2-40B4-BE49-F238E27FC236}">
                <a16:creationId xmlns:a16="http://schemas.microsoft.com/office/drawing/2014/main" id="{20B53DD8-281A-48B0-FE60-D9832F092082}"/>
              </a:ext>
            </a:extLst>
          </p:cNvPr>
          <p:cNvPicPr>
            <a:picLocks noChangeAspect="1"/>
          </p:cNvPicPr>
          <p:nvPr/>
        </p:nvPicPr>
        <p:blipFill rotWithShape="1">
          <a:blip r:embed="rId7">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816275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B444F5-E15E-46C5-55E3-398260B6F0C7}"/>
              </a:ext>
            </a:extLst>
          </p:cNvPr>
          <p:cNvPicPr>
            <a:picLocks noChangeAspect="1"/>
          </p:cNvPicPr>
          <p:nvPr/>
        </p:nvPicPr>
        <p:blipFill>
          <a:blip r:embed="rId3"/>
          <a:stretch>
            <a:fillRect/>
          </a:stretch>
        </p:blipFill>
        <p:spPr>
          <a:xfrm>
            <a:off x="0" y="1286669"/>
            <a:ext cx="12192000" cy="4284662"/>
          </a:xfrm>
          <a:prstGeom prst="rect">
            <a:avLst/>
          </a:prstGeom>
          <a:ln w="12700">
            <a:solidFill>
              <a:schemeClr val="tx1"/>
            </a:solidFill>
          </a:ln>
        </p:spPr>
      </p:pic>
      <p:pic>
        <p:nvPicPr>
          <p:cNvPr id="2" name="Picture 1">
            <a:extLst>
              <a:ext uri="{FF2B5EF4-FFF2-40B4-BE49-F238E27FC236}">
                <a16:creationId xmlns:a16="http://schemas.microsoft.com/office/drawing/2014/main" id="{4FFD3EAF-8779-7FF1-2A94-9888587B162C}"/>
              </a:ext>
            </a:extLst>
          </p:cNvPr>
          <p:cNvPicPr>
            <a:picLocks noChangeAspect="1"/>
          </p:cNvPicPr>
          <p:nvPr/>
        </p:nvPicPr>
        <p:blipFill>
          <a:blip r:embed="rId4"/>
          <a:stretch>
            <a:fillRect/>
          </a:stretch>
        </p:blipFill>
        <p:spPr>
          <a:xfrm>
            <a:off x="4311049" y="3986403"/>
            <a:ext cx="3803284" cy="1981880"/>
          </a:xfrm>
          <a:prstGeom prst="rect">
            <a:avLst/>
          </a:prstGeom>
          <a:ln w="38100">
            <a:solidFill>
              <a:srgbClr val="008080"/>
            </a:solidFill>
          </a:ln>
        </p:spPr>
      </p:pic>
      <p:pic>
        <p:nvPicPr>
          <p:cNvPr id="4" name="Picture 3">
            <a:extLst>
              <a:ext uri="{FF2B5EF4-FFF2-40B4-BE49-F238E27FC236}">
                <a16:creationId xmlns:a16="http://schemas.microsoft.com/office/drawing/2014/main" id="{F19FE499-9340-F501-D530-CF897F641EDE}"/>
              </a:ext>
            </a:extLst>
          </p:cNvPr>
          <p:cNvPicPr>
            <a:picLocks noChangeAspect="1"/>
          </p:cNvPicPr>
          <p:nvPr/>
        </p:nvPicPr>
        <p:blipFill>
          <a:blip r:embed="rId5"/>
          <a:stretch>
            <a:fillRect/>
          </a:stretch>
        </p:blipFill>
        <p:spPr>
          <a:xfrm>
            <a:off x="4527666" y="359719"/>
            <a:ext cx="3435364" cy="2511879"/>
          </a:xfrm>
          <a:prstGeom prst="rect">
            <a:avLst/>
          </a:prstGeom>
          <a:ln w="38100">
            <a:solidFill>
              <a:srgbClr val="008080"/>
            </a:solidFill>
          </a:ln>
        </p:spPr>
      </p:pic>
      <p:sp>
        <p:nvSpPr>
          <p:cNvPr id="7" name="TextBox 6">
            <a:extLst>
              <a:ext uri="{FF2B5EF4-FFF2-40B4-BE49-F238E27FC236}">
                <a16:creationId xmlns:a16="http://schemas.microsoft.com/office/drawing/2014/main" id="{01A8DCF3-164A-5D8C-0CE6-71507CDD31FF}"/>
              </a:ext>
            </a:extLst>
          </p:cNvPr>
          <p:cNvSpPr txBox="1"/>
          <p:nvPr/>
        </p:nvSpPr>
        <p:spPr>
          <a:xfrm>
            <a:off x="1342572" y="568476"/>
            <a:ext cx="1503438" cy="338554"/>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Voluntary field</a:t>
            </a:r>
          </a:p>
        </p:txBody>
      </p:sp>
      <p:pic>
        <p:nvPicPr>
          <p:cNvPr id="8" name="Picture 7" descr="A screenshot of a computer&#10;&#10;AI-generated content may be incorrect.">
            <a:extLst>
              <a:ext uri="{FF2B5EF4-FFF2-40B4-BE49-F238E27FC236}">
                <a16:creationId xmlns:a16="http://schemas.microsoft.com/office/drawing/2014/main" id="{70BFF675-1989-069B-8728-E4181D7672D0}"/>
              </a:ext>
            </a:extLst>
          </p:cNvPr>
          <p:cNvPicPr>
            <a:picLocks noChangeAspect="1"/>
          </p:cNvPicPr>
          <p:nvPr/>
        </p:nvPicPr>
        <p:blipFill>
          <a:blip r:embed="rId6"/>
          <a:stretch>
            <a:fillRect/>
          </a:stretch>
        </p:blipFill>
        <p:spPr>
          <a:xfrm>
            <a:off x="7924800" y="2595563"/>
            <a:ext cx="4267200" cy="1666875"/>
          </a:xfrm>
          <a:prstGeom prst="rect">
            <a:avLst/>
          </a:prstGeom>
        </p:spPr>
      </p:pic>
      <p:pic>
        <p:nvPicPr>
          <p:cNvPr id="6" name="Picture 5" descr="A logo with a black background&#10;&#10;Description automatically generated">
            <a:extLst>
              <a:ext uri="{FF2B5EF4-FFF2-40B4-BE49-F238E27FC236}">
                <a16:creationId xmlns:a16="http://schemas.microsoft.com/office/drawing/2014/main" id="{4F0C0704-BEB9-CC4F-1167-D79D2338B028}"/>
              </a:ext>
            </a:extLst>
          </p:cNvPr>
          <p:cNvPicPr>
            <a:picLocks noChangeAspect="1"/>
          </p:cNvPicPr>
          <p:nvPr/>
        </p:nvPicPr>
        <p:blipFill rotWithShape="1">
          <a:blip r:embed="rId7">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937186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DC84A0-D686-BD64-71B2-5977BC1A4F3D}"/>
              </a:ext>
            </a:extLst>
          </p:cNvPr>
          <p:cNvPicPr>
            <a:picLocks noChangeAspect="1"/>
          </p:cNvPicPr>
          <p:nvPr/>
        </p:nvPicPr>
        <p:blipFill>
          <a:blip r:embed="rId3"/>
          <a:stretch>
            <a:fillRect/>
          </a:stretch>
        </p:blipFill>
        <p:spPr>
          <a:xfrm>
            <a:off x="0" y="1982049"/>
            <a:ext cx="12192000" cy="2893902"/>
          </a:xfrm>
          <a:prstGeom prst="rect">
            <a:avLst/>
          </a:prstGeom>
          <a:ln w="12700">
            <a:solidFill>
              <a:srgbClr val="002060"/>
            </a:solidFill>
          </a:ln>
        </p:spPr>
      </p:pic>
      <p:pic>
        <p:nvPicPr>
          <p:cNvPr id="7" name="Picture 6">
            <a:extLst>
              <a:ext uri="{FF2B5EF4-FFF2-40B4-BE49-F238E27FC236}">
                <a16:creationId xmlns:a16="http://schemas.microsoft.com/office/drawing/2014/main" id="{90257D9A-864E-6B96-A7F5-B2A2BDD8E5A5}"/>
              </a:ext>
            </a:extLst>
          </p:cNvPr>
          <p:cNvPicPr>
            <a:picLocks noChangeAspect="1"/>
          </p:cNvPicPr>
          <p:nvPr/>
        </p:nvPicPr>
        <p:blipFill>
          <a:blip r:embed="rId4"/>
          <a:stretch>
            <a:fillRect/>
          </a:stretch>
        </p:blipFill>
        <p:spPr>
          <a:xfrm>
            <a:off x="7064038" y="512119"/>
            <a:ext cx="3435364" cy="2511879"/>
          </a:xfrm>
          <a:prstGeom prst="rect">
            <a:avLst/>
          </a:prstGeom>
          <a:ln w="38100">
            <a:solidFill>
              <a:srgbClr val="008080"/>
            </a:solidFill>
          </a:ln>
        </p:spPr>
      </p:pic>
      <p:sp>
        <p:nvSpPr>
          <p:cNvPr id="3" name="TextBox 2">
            <a:extLst>
              <a:ext uri="{FF2B5EF4-FFF2-40B4-BE49-F238E27FC236}">
                <a16:creationId xmlns:a16="http://schemas.microsoft.com/office/drawing/2014/main" id="{E8C6C229-AE94-CC4D-F155-0DB6B0603708}"/>
              </a:ext>
            </a:extLst>
          </p:cNvPr>
          <p:cNvSpPr txBox="1"/>
          <p:nvPr/>
        </p:nvSpPr>
        <p:spPr>
          <a:xfrm>
            <a:off x="126265" y="1469572"/>
            <a:ext cx="1566333" cy="338554"/>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Voluntary field</a:t>
            </a:r>
          </a:p>
        </p:txBody>
      </p:sp>
      <p:pic>
        <p:nvPicPr>
          <p:cNvPr id="2" name="Picture 1" descr="A logo with a black background&#10;&#10;Description automatically generated">
            <a:extLst>
              <a:ext uri="{FF2B5EF4-FFF2-40B4-BE49-F238E27FC236}">
                <a16:creationId xmlns:a16="http://schemas.microsoft.com/office/drawing/2014/main" id="{06AAFBFC-526F-BE5B-0D18-F84D84E38749}"/>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948435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4AE653-5FB4-BFF3-A974-2603738DAC2A}"/>
              </a:ext>
            </a:extLst>
          </p:cNvPr>
          <p:cNvPicPr>
            <a:picLocks noChangeAspect="1"/>
          </p:cNvPicPr>
          <p:nvPr/>
        </p:nvPicPr>
        <p:blipFill>
          <a:blip r:embed="rId3"/>
          <a:stretch>
            <a:fillRect/>
          </a:stretch>
        </p:blipFill>
        <p:spPr>
          <a:xfrm>
            <a:off x="0" y="1984524"/>
            <a:ext cx="12192000" cy="2888951"/>
          </a:xfrm>
          <a:prstGeom prst="rect">
            <a:avLst/>
          </a:prstGeom>
          <a:ln w="12700">
            <a:solidFill>
              <a:srgbClr val="002060"/>
            </a:solidFill>
          </a:ln>
        </p:spPr>
      </p:pic>
      <p:pic>
        <p:nvPicPr>
          <p:cNvPr id="7" name="Picture 6">
            <a:extLst>
              <a:ext uri="{FF2B5EF4-FFF2-40B4-BE49-F238E27FC236}">
                <a16:creationId xmlns:a16="http://schemas.microsoft.com/office/drawing/2014/main" id="{17DDFD47-F6EE-E408-0313-609B06C039A9}"/>
              </a:ext>
            </a:extLst>
          </p:cNvPr>
          <p:cNvPicPr>
            <a:picLocks noChangeAspect="1"/>
          </p:cNvPicPr>
          <p:nvPr/>
        </p:nvPicPr>
        <p:blipFill>
          <a:blip r:embed="rId4"/>
          <a:stretch>
            <a:fillRect/>
          </a:stretch>
        </p:blipFill>
        <p:spPr>
          <a:xfrm>
            <a:off x="7325294" y="337948"/>
            <a:ext cx="3435364" cy="2511879"/>
          </a:xfrm>
          <a:prstGeom prst="rect">
            <a:avLst/>
          </a:prstGeom>
          <a:ln w="38100">
            <a:solidFill>
              <a:srgbClr val="008080"/>
            </a:solidFill>
          </a:ln>
        </p:spPr>
      </p:pic>
      <p:sp>
        <p:nvSpPr>
          <p:cNvPr id="4" name="TextBox 3">
            <a:extLst>
              <a:ext uri="{FF2B5EF4-FFF2-40B4-BE49-F238E27FC236}">
                <a16:creationId xmlns:a16="http://schemas.microsoft.com/office/drawing/2014/main" id="{1099693A-CED5-D4FF-99D6-3D1CDBEC3A77}"/>
              </a:ext>
            </a:extLst>
          </p:cNvPr>
          <p:cNvSpPr txBox="1"/>
          <p:nvPr/>
        </p:nvSpPr>
        <p:spPr>
          <a:xfrm>
            <a:off x="188082" y="1424610"/>
            <a:ext cx="1512963" cy="338554"/>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Voluntary field</a:t>
            </a:r>
          </a:p>
        </p:txBody>
      </p:sp>
      <p:pic>
        <p:nvPicPr>
          <p:cNvPr id="2" name="Picture 1" descr="A logo with a black background&#10;&#10;Description automatically generated">
            <a:extLst>
              <a:ext uri="{FF2B5EF4-FFF2-40B4-BE49-F238E27FC236}">
                <a16:creationId xmlns:a16="http://schemas.microsoft.com/office/drawing/2014/main" id="{329F230F-7874-EEC4-8377-40DD5BADFE48}"/>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945096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8A33A3-2A73-FB97-3AD5-C19A531ED031}"/>
              </a:ext>
            </a:extLst>
          </p:cNvPr>
          <p:cNvSpPr txBox="1"/>
          <p:nvPr/>
        </p:nvSpPr>
        <p:spPr>
          <a:xfrm>
            <a:off x="388620" y="335280"/>
            <a:ext cx="8281367" cy="461665"/>
          </a:xfrm>
          <a:prstGeom prst="rect">
            <a:avLst/>
          </a:prstGeom>
          <a:noFill/>
        </p:spPr>
        <p:txBody>
          <a:bodyPr wrap="square" lIns="91440" tIns="45720" rIns="91440" bIns="45720" rtlCol="0" anchor="t">
            <a:spAutoFit/>
          </a:bodyPr>
          <a:lstStyle/>
          <a:p>
            <a:r>
              <a:rPr lang="en-US" sz="2400">
                <a:solidFill>
                  <a:srgbClr val="002060"/>
                </a:solidFill>
              </a:rPr>
              <a:t>TABLE 2 - MONITORING AND EVALUATION</a:t>
            </a:r>
            <a:endParaRPr lang="en-US" sz="2400">
              <a:solidFill>
                <a:srgbClr val="000000"/>
              </a:solidFill>
            </a:endParaRPr>
          </a:p>
        </p:txBody>
      </p:sp>
      <p:pic>
        <p:nvPicPr>
          <p:cNvPr id="2" name="Picture 1" descr="A screenshot of a computer&#10;&#10;AI-generated content may be incorrect.">
            <a:extLst>
              <a:ext uri="{FF2B5EF4-FFF2-40B4-BE49-F238E27FC236}">
                <a16:creationId xmlns:a16="http://schemas.microsoft.com/office/drawing/2014/main" id="{FDB4098A-56D8-5E79-825C-30FAE4C084DD}"/>
              </a:ext>
            </a:extLst>
          </p:cNvPr>
          <p:cNvPicPr>
            <a:picLocks noChangeAspect="1"/>
          </p:cNvPicPr>
          <p:nvPr/>
        </p:nvPicPr>
        <p:blipFill>
          <a:blip r:embed="rId3"/>
          <a:stretch>
            <a:fillRect/>
          </a:stretch>
        </p:blipFill>
        <p:spPr>
          <a:xfrm>
            <a:off x="0" y="961739"/>
            <a:ext cx="12192000" cy="4934522"/>
          </a:xfrm>
          <a:prstGeom prst="rect">
            <a:avLst/>
          </a:prstGeom>
        </p:spPr>
      </p:pic>
      <p:pic>
        <p:nvPicPr>
          <p:cNvPr id="3" name="Picture 2" descr="A logo with a black background&#10;&#10;Description automatically generated">
            <a:extLst>
              <a:ext uri="{FF2B5EF4-FFF2-40B4-BE49-F238E27FC236}">
                <a16:creationId xmlns:a16="http://schemas.microsoft.com/office/drawing/2014/main" id="{3CEB4CF0-1EF9-85F6-CBF7-ABB12E21DE4A}"/>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289749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7EF331-970E-E00B-1EA1-9D16F2AFB489}"/>
              </a:ext>
            </a:extLst>
          </p:cNvPr>
          <p:cNvPicPr>
            <a:picLocks noChangeAspect="1"/>
          </p:cNvPicPr>
          <p:nvPr/>
        </p:nvPicPr>
        <p:blipFill>
          <a:blip r:embed="rId3"/>
          <a:stretch>
            <a:fillRect/>
          </a:stretch>
        </p:blipFill>
        <p:spPr>
          <a:xfrm>
            <a:off x="0" y="266301"/>
            <a:ext cx="12192000" cy="5663918"/>
          </a:xfrm>
          <a:prstGeom prst="rect">
            <a:avLst/>
          </a:prstGeom>
          <a:ln w="12700">
            <a:solidFill>
              <a:srgbClr val="002060"/>
            </a:solidFill>
          </a:ln>
        </p:spPr>
      </p:pic>
      <p:pic>
        <p:nvPicPr>
          <p:cNvPr id="2" name="Picture 1">
            <a:extLst>
              <a:ext uri="{FF2B5EF4-FFF2-40B4-BE49-F238E27FC236}">
                <a16:creationId xmlns:a16="http://schemas.microsoft.com/office/drawing/2014/main" id="{F2C344A7-6938-E2F0-8859-E998F085FEE3}"/>
              </a:ext>
            </a:extLst>
          </p:cNvPr>
          <p:cNvPicPr>
            <a:picLocks noChangeAspect="1"/>
          </p:cNvPicPr>
          <p:nvPr/>
        </p:nvPicPr>
        <p:blipFill>
          <a:blip r:embed="rId4"/>
          <a:stretch>
            <a:fillRect/>
          </a:stretch>
        </p:blipFill>
        <p:spPr>
          <a:xfrm>
            <a:off x="4378782" y="4462956"/>
            <a:ext cx="3803284" cy="1981880"/>
          </a:xfrm>
          <a:prstGeom prst="rect">
            <a:avLst/>
          </a:prstGeom>
          <a:ln w="38100">
            <a:solidFill>
              <a:srgbClr val="008080"/>
            </a:solidFill>
          </a:ln>
        </p:spPr>
      </p:pic>
      <p:pic>
        <p:nvPicPr>
          <p:cNvPr id="4" name="Picture 3">
            <a:extLst>
              <a:ext uri="{FF2B5EF4-FFF2-40B4-BE49-F238E27FC236}">
                <a16:creationId xmlns:a16="http://schemas.microsoft.com/office/drawing/2014/main" id="{9A9B7526-5B55-A6CF-3C69-6C9551BD0949}"/>
              </a:ext>
            </a:extLst>
          </p:cNvPr>
          <p:cNvPicPr>
            <a:picLocks noChangeAspect="1"/>
          </p:cNvPicPr>
          <p:nvPr/>
        </p:nvPicPr>
        <p:blipFill>
          <a:blip r:embed="rId5"/>
          <a:stretch>
            <a:fillRect/>
          </a:stretch>
        </p:blipFill>
        <p:spPr>
          <a:xfrm>
            <a:off x="4647409" y="403262"/>
            <a:ext cx="3435364" cy="2511879"/>
          </a:xfrm>
          <a:prstGeom prst="rect">
            <a:avLst/>
          </a:prstGeom>
          <a:ln w="38100">
            <a:solidFill>
              <a:srgbClr val="008080"/>
            </a:solidFill>
          </a:ln>
        </p:spPr>
      </p:pic>
      <p:pic>
        <p:nvPicPr>
          <p:cNvPr id="7" name="Picture 6" descr="A screenshot of a computer&#10;&#10;AI-generated content may be incorrect.">
            <a:extLst>
              <a:ext uri="{FF2B5EF4-FFF2-40B4-BE49-F238E27FC236}">
                <a16:creationId xmlns:a16="http://schemas.microsoft.com/office/drawing/2014/main" id="{03463DAD-37DC-FAD2-FE7D-670EDDF9DB1D}"/>
              </a:ext>
            </a:extLst>
          </p:cNvPr>
          <p:cNvPicPr>
            <a:picLocks noChangeAspect="1"/>
          </p:cNvPicPr>
          <p:nvPr/>
        </p:nvPicPr>
        <p:blipFill>
          <a:blip r:embed="rId6"/>
          <a:stretch>
            <a:fillRect/>
          </a:stretch>
        </p:blipFill>
        <p:spPr>
          <a:xfrm>
            <a:off x="7505700" y="2795588"/>
            <a:ext cx="4267200" cy="1666875"/>
          </a:xfrm>
          <a:prstGeom prst="rect">
            <a:avLst/>
          </a:prstGeom>
        </p:spPr>
      </p:pic>
      <p:pic>
        <p:nvPicPr>
          <p:cNvPr id="6" name="Picture 5" descr="A logo with a black background&#10;&#10;Description automatically generated">
            <a:extLst>
              <a:ext uri="{FF2B5EF4-FFF2-40B4-BE49-F238E27FC236}">
                <a16:creationId xmlns:a16="http://schemas.microsoft.com/office/drawing/2014/main" id="{2C4D7050-304B-50D7-F4DC-DC655DF58511}"/>
              </a:ext>
            </a:extLst>
          </p:cNvPr>
          <p:cNvPicPr>
            <a:picLocks noChangeAspect="1"/>
          </p:cNvPicPr>
          <p:nvPr/>
        </p:nvPicPr>
        <p:blipFill rotWithShape="1">
          <a:blip r:embed="rId7">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1D8EC31C-3E79-E1D6-FBCA-AD39C2ECDC94}"/>
              </a:ext>
            </a:extLst>
          </p:cNvPr>
          <p:cNvSpPr txBox="1"/>
          <p:nvPr/>
        </p:nvSpPr>
        <p:spPr>
          <a:xfrm>
            <a:off x="175382" y="6106282"/>
            <a:ext cx="1512963" cy="338554"/>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Voluntary field</a:t>
            </a:r>
          </a:p>
        </p:txBody>
      </p:sp>
    </p:spTree>
    <p:extLst>
      <p:ext uri="{BB962C8B-B14F-4D97-AF65-F5344CB8AC3E}">
        <p14:creationId xmlns:p14="http://schemas.microsoft.com/office/powerpoint/2010/main" val="35793762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D46344-DE1B-B21F-5FD2-863A0A60A2D0}"/>
              </a:ext>
            </a:extLst>
          </p:cNvPr>
          <p:cNvPicPr>
            <a:picLocks noChangeAspect="1"/>
          </p:cNvPicPr>
          <p:nvPr/>
        </p:nvPicPr>
        <p:blipFill>
          <a:blip r:embed="rId3"/>
          <a:stretch>
            <a:fillRect/>
          </a:stretch>
        </p:blipFill>
        <p:spPr>
          <a:xfrm>
            <a:off x="0" y="2335582"/>
            <a:ext cx="12192000" cy="2186836"/>
          </a:xfrm>
          <a:prstGeom prst="rect">
            <a:avLst/>
          </a:prstGeom>
          <a:ln w="12700">
            <a:solidFill>
              <a:srgbClr val="002060"/>
            </a:solidFill>
          </a:ln>
        </p:spPr>
      </p:pic>
      <p:pic>
        <p:nvPicPr>
          <p:cNvPr id="4" name="Picture 3" descr="A screenshot of a computer&#10;&#10;AI-generated content may be incorrect.">
            <a:extLst>
              <a:ext uri="{FF2B5EF4-FFF2-40B4-BE49-F238E27FC236}">
                <a16:creationId xmlns:a16="http://schemas.microsoft.com/office/drawing/2014/main" id="{E9DA2CD6-159C-04AB-878F-DCEE0991171F}"/>
              </a:ext>
            </a:extLst>
          </p:cNvPr>
          <p:cNvPicPr>
            <a:picLocks noChangeAspect="1"/>
          </p:cNvPicPr>
          <p:nvPr/>
        </p:nvPicPr>
        <p:blipFill>
          <a:blip r:embed="rId4"/>
          <a:stretch>
            <a:fillRect/>
          </a:stretch>
        </p:blipFill>
        <p:spPr>
          <a:xfrm>
            <a:off x="7177088" y="3657600"/>
            <a:ext cx="2409825" cy="2628900"/>
          </a:xfrm>
          <a:prstGeom prst="rect">
            <a:avLst/>
          </a:prstGeom>
          <a:ln w="28575">
            <a:solidFill>
              <a:srgbClr val="008080"/>
            </a:solidFill>
          </a:ln>
        </p:spPr>
      </p:pic>
      <p:pic>
        <p:nvPicPr>
          <p:cNvPr id="5" name="Picture 4" descr="A logo with a black background&#10;&#10;Description automatically generated">
            <a:extLst>
              <a:ext uri="{FF2B5EF4-FFF2-40B4-BE49-F238E27FC236}">
                <a16:creationId xmlns:a16="http://schemas.microsoft.com/office/drawing/2014/main" id="{4F00D3A6-E13B-0478-A217-3B8E38D53B67}"/>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31CA1214-0376-1F43-30C3-9AC11D7DDFFC}"/>
              </a:ext>
            </a:extLst>
          </p:cNvPr>
          <p:cNvSpPr txBox="1"/>
          <p:nvPr/>
        </p:nvSpPr>
        <p:spPr>
          <a:xfrm>
            <a:off x="149982" y="1742110"/>
            <a:ext cx="1512963" cy="338554"/>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Voluntary field</a:t>
            </a:r>
          </a:p>
        </p:txBody>
      </p:sp>
    </p:spTree>
    <p:extLst>
      <p:ext uri="{BB962C8B-B14F-4D97-AF65-F5344CB8AC3E}">
        <p14:creationId xmlns:p14="http://schemas.microsoft.com/office/powerpoint/2010/main" val="30962562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A1E9F0-BD62-DB18-1C7C-6178EFDD2E3E}"/>
              </a:ext>
            </a:extLst>
          </p:cNvPr>
          <p:cNvPicPr>
            <a:picLocks noChangeAspect="1"/>
          </p:cNvPicPr>
          <p:nvPr/>
        </p:nvPicPr>
        <p:blipFill>
          <a:blip r:embed="rId3"/>
          <a:stretch>
            <a:fillRect/>
          </a:stretch>
        </p:blipFill>
        <p:spPr>
          <a:xfrm>
            <a:off x="0" y="1441287"/>
            <a:ext cx="12192000" cy="3975426"/>
          </a:xfrm>
          <a:prstGeom prst="rect">
            <a:avLst/>
          </a:prstGeom>
          <a:ln w="12700">
            <a:solidFill>
              <a:srgbClr val="002060"/>
            </a:solidFill>
          </a:ln>
        </p:spPr>
      </p:pic>
      <p:pic>
        <p:nvPicPr>
          <p:cNvPr id="2" name="Picture 1">
            <a:extLst>
              <a:ext uri="{FF2B5EF4-FFF2-40B4-BE49-F238E27FC236}">
                <a16:creationId xmlns:a16="http://schemas.microsoft.com/office/drawing/2014/main" id="{603CDDFA-F231-4E24-C1F1-DA94A595138E}"/>
              </a:ext>
            </a:extLst>
          </p:cNvPr>
          <p:cNvPicPr>
            <a:picLocks noChangeAspect="1"/>
          </p:cNvPicPr>
          <p:nvPr/>
        </p:nvPicPr>
        <p:blipFill>
          <a:blip r:embed="rId4"/>
          <a:stretch>
            <a:fillRect/>
          </a:stretch>
        </p:blipFill>
        <p:spPr>
          <a:xfrm>
            <a:off x="4463449" y="4269432"/>
            <a:ext cx="3803284" cy="1981880"/>
          </a:xfrm>
          <a:prstGeom prst="rect">
            <a:avLst/>
          </a:prstGeom>
          <a:ln w="38100">
            <a:solidFill>
              <a:srgbClr val="008080"/>
            </a:solidFill>
          </a:ln>
        </p:spPr>
      </p:pic>
      <p:pic>
        <p:nvPicPr>
          <p:cNvPr id="4" name="Picture 3">
            <a:extLst>
              <a:ext uri="{FF2B5EF4-FFF2-40B4-BE49-F238E27FC236}">
                <a16:creationId xmlns:a16="http://schemas.microsoft.com/office/drawing/2014/main" id="{9A6AB38A-B293-EA3B-E2AC-860991C5000B}"/>
              </a:ext>
            </a:extLst>
          </p:cNvPr>
          <p:cNvPicPr>
            <a:picLocks noChangeAspect="1"/>
          </p:cNvPicPr>
          <p:nvPr/>
        </p:nvPicPr>
        <p:blipFill>
          <a:blip r:embed="rId5"/>
          <a:stretch>
            <a:fillRect/>
          </a:stretch>
        </p:blipFill>
        <p:spPr>
          <a:xfrm>
            <a:off x="4680066" y="642748"/>
            <a:ext cx="3435364" cy="2511879"/>
          </a:xfrm>
          <a:prstGeom prst="rect">
            <a:avLst/>
          </a:prstGeom>
          <a:ln w="38100">
            <a:solidFill>
              <a:srgbClr val="008080"/>
            </a:solidFill>
          </a:ln>
        </p:spPr>
      </p:pic>
      <p:pic>
        <p:nvPicPr>
          <p:cNvPr id="7" name="Picture 6" descr="A screenshot of a computer&#10;&#10;AI-generated content may be incorrect.">
            <a:extLst>
              <a:ext uri="{FF2B5EF4-FFF2-40B4-BE49-F238E27FC236}">
                <a16:creationId xmlns:a16="http://schemas.microsoft.com/office/drawing/2014/main" id="{473D2805-FAFD-7ED1-B216-E31A76FC0CDB}"/>
              </a:ext>
            </a:extLst>
          </p:cNvPr>
          <p:cNvPicPr>
            <a:picLocks noChangeAspect="1"/>
          </p:cNvPicPr>
          <p:nvPr/>
        </p:nvPicPr>
        <p:blipFill>
          <a:blip r:embed="rId6"/>
          <a:stretch>
            <a:fillRect/>
          </a:stretch>
        </p:blipFill>
        <p:spPr>
          <a:xfrm>
            <a:off x="7753350" y="2605088"/>
            <a:ext cx="4267200" cy="1666875"/>
          </a:xfrm>
          <a:prstGeom prst="rect">
            <a:avLst/>
          </a:prstGeom>
        </p:spPr>
      </p:pic>
      <p:pic>
        <p:nvPicPr>
          <p:cNvPr id="6" name="Picture 5" descr="A logo with a black background&#10;&#10;Description automatically generated">
            <a:extLst>
              <a:ext uri="{FF2B5EF4-FFF2-40B4-BE49-F238E27FC236}">
                <a16:creationId xmlns:a16="http://schemas.microsoft.com/office/drawing/2014/main" id="{F4AAFF6A-5A26-F837-766B-2E6F7525D89F}"/>
              </a:ext>
            </a:extLst>
          </p:cNvPr>
          <p:cNvPicPr>
            <a:picLocks noChangeAspect="1"/>
          </p:cNvPicPr>
          <p:nvPr/>
        </p:nvPicPr>
        <p:blipFill rotWithShape="1">
          <a:blip r:embed="rId7">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0396FB89-30F5-4773-7857-05B74CB1CE0E}"/>
              </a:ext>
            </a:extLst>
          </p:cNvPr>
          <p:cNvSpPr txBox="1"/>
          <p:nvPr/>
        </p:nvSpPr>
        <p:spPr>
          <a:xfrm>
            <a:off x="162682" y="872741"/>
            <a:ext cx="1512963" cy="338554"/>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Voluntary field</a:t>
            </a:r>
          </a:p>
        </p:txBody>
      </p:sp>
    </p:spTree>
    <p:extLst>
      <p:ext uri="{BB962C8B-B14F-4D97-AF65-F5344CB8AC3E}">
        <p14:creationId xmlns:p14="http://schemas.microsoft.com/office/powerpoint/2010/main" val="1522620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B1B4D-9743-6388-82F5-453DE4E5ECE9}"/>
              </a:ext>
            </a:extLst>
          </p:cNvPr>
          <p:cNvPicPr>
            <a:picLocks noChangeAspect="1"/>
          </p:cNvPicPr>
          <p:nvPr/>
        </p:nvPicPr>
        <p:blipFill>
          <a:blip r:embed="rId3"/>
          <a:stretch>
            <a:fillRect/>
          </a:stretch>
        </p:blipFill>
        <p:spPr>
          <a:xfrm>
            <a:off x="0" y="1840660"/>
            <a:ext cx="12192000" cy="3176679"/>
          </a:xfrm>
          <a:prstGeom prst="rect">
            <a:avLst/>
          </a:prstGeom>
          <a:ln w="12700">
            <a:solidFill>
              <a:schemeClr val="tx1"/>
            </a:solidFill>
          </a:ln>
        </p:spPr>
      </p:pic>
      <p:pic>
        <p:nvPicPr>
          <p:cNvPr id="7" name="Picture 6">
            <a:extLst>
              <a:ext uri="{FF2B5EF4-FFF2-40B4-BE49-F238E27FC236}">
                <a16:creationId xmlns:a16="http://schemas.microsoft.com/office/drawing/2014/main" id="{D6B36177-2A71-8568-C3DF-C3E7D6812F02}"/>
              </a:ext>
            </a:extLst>
          </p:cNvPr>
          <p:cNvPicPr>
            <a:picLocks noChangeAspect="1"/>
          </p:cNvPicPr>
          <p:nvPr/>
        </p:nvPicPr>
        <p:blipFill>
          <a:blip r:embed="rId4"/>
          <a:stretch>
            <a:fillRect/>
          </a:stretch>
        </p:blipFill>
        <p:spPr>
          <a:xfrm>
            <a:off x="6628608" y="740719"/>
            <a:ext cx="3435364" cy="2511879"/>
          </a:xfrm>
          <a:prstGeom prst="rect">
            <a:avLst/>
          </a:prstGeom>
          <a:ln w="38100">
            <a:solidFill>
              <a:srgbClr val="008080"/>
            </a:solidFill>
          </a:ln>
        </p:spPr>
      </p:pic>
      <p:sp>
        <p:nvSpPr>
          <p:cNvPr id="4" name="TextBox 3">
            <a:extLst>
              <a:ext uri="{FF2B5EF4-FFF2-40B4-BE49-F238E27FC236}">
                <a16:creationId xmlns:a16="http://schemas.microsoft.com/office/drawing/2014/main" id="{302DAD7D-D547-6CDE-6ACB-132C5A5D665C}"/>
              </a:ext>
            </a:extLst>
          </p:cNvPr>
          <p:cNvSpPr txBox="1"/>
          <p:nvPr/>
        </p:nvSpPr>
        <p:spPr>
          <a:xfrm>
            <a:off x="604762" y="447523"/>
            <a:ext cx="5285618" cy="1077218"/>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Reporting on GHG emissions and removals under the </a:t>
            </a:r>
            <a:r>
              <a:rPr lang="en-US" sz="1600" err="1">
                <a:solidFill>
                  <a:srgbClr val="316300"/>
                </a:solidFill>
                <a:ea typeface="Calibri"/>
                <a:cs typeface="Calibri"/>
              </a:rPr>
              <a:t>Decarbonisation</a:t>
            </a:r>
            <a:r>
              <a:rPr lang="en-US" sz="1600">
                <a:solidFill>
                  <a:srgbClr val="316300"/>
                </a:solidFill>
                <a:ea typeface="Calibri"/>
                <a:cs typeface="Calibri"/>
              </a:rPr>
              <a:t> dimension is mandatory only under the 'Progress of implementation towards meeting the adaptation goals' section.</a:t>
            </a:r>
          </a:p>
        </p:txBody>
      </p:sp>
      <p:pic>
        <p:nvPicPr>
          <p:cNvPr id="2" name="Picture 1" descr="A logo with a black background&#10;&#10;Description automatically generated">
            <a:extLst>
              <a:ext uri="{FF2B5EF4-FFF2-40B4-BE49-F238E27FC236}">
                <a16:creationId xmlns:a16="http://schemas.microsoft.com/office/drawing/2014/main" id="{FB59E49A-B9AA-B90D-F5F7-31CE9CFA3443}"/>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47436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7B000B-8F25-8213-3EB1-2EC57CCF833A}"/>
              </a:ext>
            </a:extLst>
          </p:cNvPr>
          <p:cNvPicPr>
            <a:picLocks noChangeAspect="1"/>
          </p:cNvPicPr>
          <p:nvPr/>
        </p:nvPicPr>
        <p:blipFill>
          <a:blip r:embed="rId3"/>
          <a:stretch>
            <a:fillRect/>
          </a:stretch>
        </p:blipFill>
        <p:spPr>
          <a:xfrm>
            <a:off x="0" y="1453324"/>
            <a:ext cx="12192000" cy="3951352"/>
          </a:xfrm>
          <a:prstGeom prst="rect">
            <a:avLst/>
          </a:prstGeom>
          <a:ln>
            <a:solidFill>
              <a:schemeClr val="accent1">
                <a:lumMod val="50000"/>
              </a:schemeClr>
            </a:solidFill>
          </a:ln>
        </p:spPr>
      </p:pic>
      <p:pic>
        <p:nvPicPr>
          <p:cNvPr id="2" name="Picture 1">
            <a:extLst>
              <a:ext uri="{FF2B5EF4-FFF2-40B4-BE49-F238E27FC236}">
                <a16:creationId xmlns:a16="http://schemas.microsoft.com/office/drawing/2014/main" id="{086B210E-E137-93CE-811F-EE0C2662D424}"/>
              </a:ext>
            </a:extLst>
          </p:cNvPr>
          <p:cNvPicPr>
            <a:picLocks noChangeAspect="1"/>
          </p:cNvPicPr>
          <p:nvPr/>
        </p:nvPicPr>
        <p:blipFill>
          <a:blip r:embed="rId4"/>
          <a:stretch>
            <a:fillRect/>
          </a:stretch>
        </p:blipFill>
        <p:spPr>
          <a:xfrm>
            <a:off x="4463449" y="4269432"/>
            <a:ext cx="3803284" cy="1981880"/>
          </a:xfrm>
          <a:prstGeom prst="rect">
            <a:avLst/>
          </a:prstGeom>
          <a:ln w="38100">
            <a:solidFill>
              <a:srgbClr val="008080"/>
            </a:solidFill>
          </a:ln>
        </p:spPr>
      </p:pic>
      <p:pic>
        <p:nvPicPr>
          <p:cNvPr id="4" name="Picture 3">
            <a:extLst>
              <a:ext uri="{FF2B5EF4-FFF2-40B4-BE49-F238E27FC236}">
                <a16:creationId xmlns:a16="http://schemas.microsoft.com/office/drawing/2014/main" id="{D7A4DDAF-A4C0-A22E-1221-0E0861971DAB}"/>
              </a:ext>
            </a:extLst>
          </p:cNvPr>
          <p:cNvPicPr>
            <a:picLocks noChangeAspect="1"/>
          </p:cNvPicPr>
          <p:nvPr/>
        </p:nvPicPr>
        <p:blipFill>
          <a:blip r:embed="rId5"/>
          <a:stretch>
            <a:fillRect/>
          </a:stretch>
        </p:blipFill>
        <p:spPr>
          <a:xfrm>
            <a:off x="4680066" y="642748"/>
            <a:ext cx="3435364" cy="2511879"/>
          </a:xfrm>
          <a:prstGeom prst="rect">
            <a:avLst/>
          </a:prstGeom>
          <a:ln w="38100">
            <a:solidFill>
              <a:srgbClr val="008080"/>
            </a:solidFill>
          </a:ln>
        </p:spPr>
      </p:pic>
      <p:pic>
        <p:nvPicPr>
          <p:cNvPr id="7" name="Picture 6" descr="A screenshot of a computer&#10;&#10;AI-generated content may be incorrect.">
            <a:extLst>
              <a:ext uri="{FF2B5EF4-FFF2-40B4-BE49-F238E27FC236}">
                <a16:creationId xmlns:a16="http://schemas.microsoft.com/office/drawing/2014/main" id="{15D4A577-4781-A3FA-E328-C138A3FD34CF}"/>
              </a:ext>
            </a:extLst>
          </p:cNvPr>
          <p:cNvPicPr>
            <a:picLocks noChangeAspect="1"/>
          </p:cNvPicPr>
          <p:nvPr/>
        </p:nvPicPr>
        <p:blipFill>
          <a:blip r:embed="rId6"/>
          <a:stretch>
            <a:fillRect/>
          </a:stretch>
        </p:blipFill>
        <p:spPr>
          <a:xfrm>
            <a:off x="7610475" y="2690813"/>
            <a:ext cx="4267200" cy="1666875"/>
          </a:xfrm>
          <a:prstGeom prst="rect">
            <a:avLst/>
          </a:prstGeom>
        </p:spPr>
      </p:pic>
      <p:pic>
        <p:nvPicPr>
          <p:cNvPr id="6" name="Picture 5" descr="A logo with a black background&#10;&#10;Description automatically generated">
            <a:extLst>
              <a:ext uri="{FF2B5EF4-FFF2-40B4-BE49-F238E27FC236}">
                <a16:creationId xmlns:a16="http://schemas.microsoft.com/office/drawing/2014/main" id="{3C0616B7-A289-CBA7-4DF6-208D91DAEC0D}"/>
              </a:ext>
            </a:extLst>
          </p:cNvPr>
          <p:cNvPicPr>
            <a:picLocks noChangeAspect="1"/>
          </p:cNvPicPr>
          <p:nvPr/>
        </p:nvPicPr>
        <p:blipFill rotWithShape="1">
          <a:blip r:embed="rId7">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1E742635-55A4-CA00-5ADA-245B1B98B4D5}"/>
              </a:ext>
            </a:extLst>
          </p:cNvPr>
          <p:cNvSpPr txBox="1"/>
          <p:nvPr/>
        </p:nvSpPr>
        <p:spPr>
          <a:xfrm>
            <a:off x="161339" y="878759"/>
            <a:ext cx="1512963" cy="338554"/>
          </a:xfrm>
          <a:prstGeom prst="rect">
            <a:avLst/>
          </a:prstGeom>
          <a:noFill/>
          <a:ln>
            <a:solidFill>
              <a:schemeClr val="accent5">
                <a:lumMod val="50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316300"/>
                </a:solidFill>
                <a:ea typeface="Calibri"/>
                <a:cs typeface="Calibri"/>
              </a:rPr>
              <a:t>Voluntary field</a:t>
            </a:r>
          </a:p>
        </p:txBody>
      </p:sp>
    </p:spTree>
    <p:extLst>
      <p:ext uri="{BB962C8B-B14F-4D97-AF65-F5344CB8AC3E}">
        <p14:creationId xmlns:p14="http://schemas.microsoft.com/office/powerpoint/2010/main" val="26290615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B0BD3A-0CCE-90F7-4216-6655E53D796C}"/>
              </a:ext>
            </a:extLst>
          </p:cNvPr>
          <p:cNvPicPr>
            <a:picLocks noChangeAspect="1"/>
          </p:cNvPicPr>
          <p:nvPr/>
        </p:nvPicPr>
        <p:blipFill>
          <a:blip r:embed="rId3"/>
          <a:stretch>
            <a:fillRect/>
          </a:stretch>
        </p:blipFill>
        <p:spPr>
          <a:xfrm>
            <a:off x="1066800" y="822345"/>
            <a:ext cx="10058400" cy="1394507"/>
          </a:xfrm>
          <a:prstGeom prst="rect">
            <a:avLst/>
          </a:prstGeom>
        </p:spPr>
      </p:pic>
      <p:pic>
        <p:nvPicPr>
          <p:cNvPr id="6" name="Picture 5">
            <a:extLst>
              <a:ext uri="{FF2B5EF4-FFF2-40B4-BE49-F238E27FC236}">
                <a16:creationId xmlns:a16="http://schemas.microsoft.com/office/drawing/2014/main" id="{2E25B2A9-1593-66D3-1E06-B5EE01C53A1E}"/>
              </a:ext>
            </a:extLst>
          </p:cNvPr>
          <p:cNvPicPr>
            <a:picLocks noChangeAspect="1"/>
          </p:cNvPicPr>
          <p:nvPr/>
        </p:nvPicPr>
        <p:blipFill>
          <a:blip r:embed="rId4"/>
          <a:stretch>
            <a:fillRect/>
          </a:stretch>
        </p:blipFill>
        <p:spPr>
          <a:xfrm>
            <a:off x="0" y="2258936"/>
            <a:ext cx="12192000" cy="4599064"/>
          </a:xfrm>
          <a:prstGeom prst="rect">
            <a:avLst/>
          </a:prstGeom>
        </p:spPr>
      </p:pic>
      <p:sp>
        <p:nvSpPr>
          <p:cNvPr id="5" name="TextBox 4">
            <a:extLst>
              <a:ext uri="{FF2B5EF4-FFF2-40B4-BE49-F238E27FC236}">
                <a16:creationId xmlns:a16="http://schemas.microsoft.com/office/drawing/2014/main" id="{FA79CE16-B901-877B-846E-50A171DAC468}"/>
              </a:ext>
            </a:extLst>
          </p:cNvPr>
          <p:cNvSpPr txBox="1"/>
          <p:nvPr/>
        </p:nvSpPr>
        <p:spPr>
          <a:xfrm>
            <a:off x="388620" y="335280"/>
            <a:ext cx="8281367" cy="461665"/>
          </a:xfrm>
          <a:prstGeom prst="rect">
            <a:avLst/>
          </a:prstGeom>
          <a:noFill/>
        </p:spPr>
        <p:txBody>
          <a:bodyPr wrap="square" lIns="91440" tIns="45720" rIns="91440" bIns="45720" rtlCol="0" anchor="t">
            <a:spAutoFit/>
          </a:bodyPr>
          <a:lstStyle/>
          <a:p>
            <a:r>
              <a:rPr lang="en-US" sz="2400">
                <a:solidFill>
                  <a:srgbClr val="002060"/>
                </a:solidFill>
                <a:ea typeface="Calibri"/>
                <a:cs typeface="Calibri"/>
              </a:rPr>
              <a:t>VALIDATIONS</a:t>
            </a:r>
            <a:endParaRPr lang="en-US"/>
          </a:p>
        </p:txBody>
      </p:sp>
      <p:pic>
        <p:nvPicPr>
          <p:cNvPr id="2" name="Picture 1" descr="A logo with a black background&#10;&#10;Description automatically generated">
            <a:extLst>
              <a:ext uri="{FF2B5EF4-FFF2-40B4-BE49-F238E27FC236}">
                <a16:creationId xmlns:a16="http://schemas.microsoft.com/office/drawing/2014/main" id="{76B89CA8-6174-2373-D0D8-22BE96CFFBC3}"/>
              </a:ext>
            </a:extLst>
          </p:cNvPr>
          <p:cNvPicPr>
            <a:picLocks noChangeAspect="1"/>
          </p:cNvPicPr>
          <p:nvPr/>
        </p:nvPicPr>
        <p:blipFill rotWithShape="1">
          <a:blip r:embed="rId5">
            <a:extLst>
              <a:ext uri="{28A0092B-C50C-407E-A947-70E740481C1C}">
                <a14:useLocalDpi xmlns:a14="http://schemas.microsoft.com/office/drawing/2010/main" val="0"/>
              </a:ext>
            </a:extLst>
          </a:blip>
          <a:srcRect l="38167" t="-11528" r="48578" b="-1"/>
          <a:stretch/>
        </p:blipFill>
        <p:spPr bwMode="auto">
          <a:xfrm>
            <a:off x="10651069" y="23065"/>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793415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773198-0D46-B37F-8EC0-E0C93AD1C53B}"/>
              </a:ext>
            </a:extLst>
          </p:cNvPr>
          <p:cNvPicPr>
            <a:picLocks noChangeAspect="1"/>
          </p:cNvPicPr>
          <p:nvPr/>
        </p:nvPicPr>
        <p:blipFill>
          <a:blip r:embed="rId3"/>
          <a:stretch>
            <a:fillRect/>
          </a:stretch>
        </p:blipFill>
        <p:spPr>
          <a:xfrm>
            <a:off x="6318817" y="1437706"/>
            <a:ext cx="2714625" cy="2762250"/>
          </a:xfrm>
          <a:prstGeom prst="rect">
            <a:avLst/>
          </a:prstGeom>
        </p:spPr>
      </p:pic>
      <p:pic>
        <p:nvPicPr>
          <p:cNvPr id="9" name="Picture 8">
            <a:extLst>
              <a:ext uri="{FF2B5EF4-FFF2-40B4-BE49-F238E27FC236}">
                <a16:creationId xmlns:a16="http://schemas.microsoft.com/office/drawing/2014/main" id="{B714414C-A83D-3927-161B-763EBF9FBD9F}"/>
              </a:ext>
            </a:extLst>
          </p:cNvPr>
          <p:cNvPicPr>
            <a:picLocks noChangeAspect="1"/>
          </p:cNvPicPr>
          <p:nvPr/>
        </p:nvPicPr>
        <p:blipFill>
          <a:blip r:embed="rId4"/>
          <a:stretch>
            <a:fillRect/>
          </a:stretch>
        </p:blipFill>
        <p:spPr>
          <a:xfrm>
            <a:off x="9256260" y="1570166"/>
            <a:ext cx="2017259" cy="2881799"/>
          </a:xfrm>
          <a:prstGeom prst="rect">
            <a:avLst/>
          </a:prstGeom>
        </p:spPr>
      </p:pic>
      <p:pic>
        <p:nvPicPr>
          <p:cNvPr id="10" name="Picture 9">
            <a:extLst>
              <a:ext uri="{FF2B5EF4-FFF2-40B4-BE49-F238E27FC236}">
                <a16:creationId xmlns:a16="http://schemas.microsoft.com/office/drawing/2014/main" id="{F42D6F55-24C9-4F89-749F-EC8A329ADC7A}"/>
              </a:ext>
            </a:extLst>
          </p:cNvPr>
          <p:cNvPicPr>
            <a:picLocks noChangeAspect="1"/>
          </p:cNvPicPr>
          <p:nvPr/>
        </p:nvPicPr>
        <p:blipFill rotWithShape="1">
          <a:blip r:embed="rId5"/>
          <a:srcRect r="40260"/>
          <a:stretch/>
        </p:blipFill>
        <p:spPr>
          <a:xfrm>
            <a:off x="87086" y="1935730"/>
            <a:ext cx="6008914" cy="1394507"/>
          </a:xfrm>
          <a:prstGeom prst="rect">
            <a:avLst/>
          </a:prstGeom>
        </p:spPr>
      </p:pic>
      <p:sp>
        <p:nvSpPr>
          <p:cNvPr id="11" name="TextBox 10">
            <a:extLst>
              <a:ext uri="{FF2B5EF4-FFF2-40B4-BE49-F238E27FC236}">
                <a16:creationId xmlns:a16="http://schemas.microsoft.com/office/drawing/2014/main" id="{90B531E2-6865-6535-30FC-902CD9F82BDB}"/>
              </a:ext>
            </a:extLst>
          </p:cNvPr>
          <p:cNvSpPr txBox="1"/>
          <p:nvPr/>
        </p:nvSpPr>
        <p:spPr>
          <a:xfrm>
            <a:off x="9256260" y="4451965"/>
            <a:ext cx="1789509" cy="923330"/>
          </a:xfrm>
          <a:prstGeom prst="rect">
            <a:avLst/>
          </a:prstGeom>
          <a:noFill/>
        </p:spPr>
        <p:txBody>
          <a:bodyPr wrap="square" rtlCol="0">
            <a:spAutoFit/>
          </a:bodyPr>
          <a:lstStyle/>
          <a:p>
            <a:pPr algn="ctr"/>
            <a:r>
              <a:rPr lang="en-US"/>
              <a:t>Download confirmation letter </a:t>
            </a:r>
            <a:endParaRPr lang="en-DK"/>
          </a:p>
        </p:txBody>
      </p:sp>
      <p:sp>
        <p:nvSpPr>
          <p:cNvPr id="12" name="TextBox 11">
            <a:extLst>
              <a:ext uri="{FF2B5EF4-FFF2-40B4-BE49-F238E27FC236}">
                <a16:creationId xmlns:a16="http://schemas.microsoft.com/office/drawing/2014/main" id="{C15F6080-84C0-5333-7572-1B2039F7C188}"/>
              </a:ext>
            </a:extLst>
          </p:cNvPr>
          <p:cNvSpPr txBox="1"/>
          <p:nvPr/>
        </p:nvSpPr>
        <p:spPr>
          <a:xfrm>
            <a:off x="6410861" y="4333509"/>
            <a:ext cx="2259126" cy="923330"/>
          </a:xfrm>
          <a:prstGeom prst="rect">
            <a:avLst/>
          </a:prstGeom>
          <a:noFill/>
        </p:spPr>
        <p:txBody>
          <a:bodyPr wrap="square" rtlCol="0">
            <a:spAutoFit/>
          </a:bodyPr>
          <a:lstStyle/>
          <a:p>
            <a:pPr algn="ctr"/>
            <a:r>
              <a:rPr lang="en-US"/>
              <a:t>Save a copy </a:t>
            </a:r>
          </a:p>
          <a:p>
            <a:pPr algn="ctr"/>
            <a:r>
              <a:rPr lang="en-US"/>
              <a:t>before you release your date </a:t>
            </a:r>
          </a:p>
        </p:txBody>
      </p:sp>
      <p:sp>
        <p:nvSpPr>
          <p:cNvPr id="14" name="TextBox 13">
            <a:extLst>
              <a:ext uri="{FF2B5EF4-FFF2-40B4-BE49-F238E27FC236}">
                <a16:creationId xmlns:a16="http://schemas.microsoft.com/office/drawing/2014/main" id="{CC1576BF-607C-A381-F0D1-C507805192BD}"/>
              </a:ext>
            </a:extLst>
          </p:cNvPr>
          <p:cNvSpPr txBox="1"/>
          <p:nvPr/>
        </p:nvSpPr>
        <p:spPr>
          <a:xfrm>
            <a:off x="91338" y="3779512"/>
            <a:ext cx="6455228" cy="2031325"/>
          </a:xfrm>
          <a:prstGeom prst="rect">
            <a:avLst/>
          </a:prstGeom>
          <a:noFill/>
        </p:spPr>
        <p:txBody>
          <a:bodyPr wrap="square" lIns="91440" tIns="45720" rIns="91440" bIns="45720" anchor="t">
            <a:spAutoFit/>
          </a:bodyPr>
          <a:lstStyle/>
          <a:p>
            <a:pPr marL="285750" indent="-285750">
              <a:buFont typeface="Arial" panose="020B0604020202020204" pitchFamily="34" charset="0"/>
              <a:buChar char="•"/>
            </a:pPr>
            <a:r>
              <a:rPr lang="da-DK" sz="1800"/>
              <a:t>V</a:t>
            </a:r>
            <a:r>
              <a:rPr lang="en-150" sz="1800"/>
              <a:t>alidate (and refresh)</a:t>
            </a:r>
          </a:p>
          <a:p>
            <a:pPr marL="742950" lvl="1" indent="-285750">
              <a:buFont typeface="Courier New" panose="020B0604020202020204" pitchFamily="34" charset="0"/>
              <a:buChar char="o"/>
            </a:pPr>
            <a:r>
              <a:rPr lang="da-DK">
                <a:ea typeface="Calibri"/>
                <a:cs typeface="Calibri"/>
              </a:rPr>
              <a:t>Do not close Reportnet while the validation is running. This may take some time.</a:t>
            </a:r>
          </a:p>
          <a:p>
            <a:pPr marL="285750" indent="-285750">
              <a:buFont typeface="Arial" panose="020B0604020202020204" pitchFamily="34" charset="0"/>
              <a:buChar char="•"/>
            </a:pPr>
            <a:r>
              <a:rPr lang="da-DK" sz="1800"/>
              <a:t>C</a:t>
            </a:r>
            <a:r>
              <a:rPr lang="en-150" sz="1800"/>
              <a:t>orrect “blockers and errors”, check </a:t>
            </a:r>
            <a:r>
              <a:rPr lang="en-150"/>
              <a:t>the </a:t>
            </a:r>
            <a:r>
              <a:rPr lang="en-150" sz="1800"/>
              <a:t>“warnings”</a:t>
            </a:r>
            <a:r>
              <a:rPr lang="en-US" sz="1800"/>
              <a:t> </a:t>
            </a:r>
            <a:r>
              <a:rPr lang="en-US"/>
              <a:t>in the webforms</a:t>
            </a:r>
            <a:endParaRPr lang="en-US" sz="1800">
              <a:ea typeface="Calibri" panose="020F0502020204030204"/>
              <a:cs typeface="Calibri" panose="020F0502020204030204"/>
            </a:endParaRPr>
          </a:p>
          <a:p>
            <a:pPr marL="285750" indent="-285750">
              <a:buFont typeface="Arial" panose="020B0604020202020204" pitchFamily="34" charset="0"/>
              <a:buChar char="•"/>
            </a:pPr>
            <a:r>
              <a:rPr lang="en-US" sz="1800"/>
              <a:t>Repeat until </a:t>
            </a:r>
            <a:r>
              <a:rPr lang="en-US"/>
              <a:t>there are no</a:t>
            </a:r>
            <a:r>
              <a:rPr lang="en-US" sz="1800"/>
              <a:t> more “blockers” or “errors”</a:t>
            </a:r>
            <a:endParaRPr lang="en-150" sz="1800"/>
          </a:p>
          <a:p>
            <a:pPr marL="285750" indent="-285750">
              <a:buFont typeface="Arial" panose="020B0604020202020204" pitchFamily="34" charset="0"/>
              <a:buChar char="•"/>
            </a:pPr>
            <a:r>
              <a:rPr lang="en-150" sz="1800"/>
              <a:t>Manage copies</a:t>
            </a:r>
            <a:endParaRPr lang="en-150" sz="1800">
              <a:ea typeface="Calibri"/>
              <a:cs typeface="Calibri"/>
            </a:endParaRPr>
          </a:p>
        </p:txBody>
      </p:sp>
      <p:sp>
        <p:nvSpPr>
          <p:cNvPr id="4" name="TextBox 3">
            <a:extLst>
              <a:ext uri="{FF2B5EF4-FFF2-40B4-BE49-F238E27FC236}">
                <a16:creationId xmlns:a16="http://schemas.microsoft.com/office/drawing/2014/main" id="{188CDE04-941C-F992-0AFA-CD1C75CE78C9}"/>
              </a:ext>
            </a:extLst>
          </p:cNvPr>
          <p:cNvSpPr txBox="1"/>
          <p:nvPr/>
        </p:nvSpPr>
        <p:spPr>
          <a:xfrm>
            <a:off x="388620" y="335280"/>
            <a:ext cx="8281367" cy="461665"/>
          </a:xfrm>
          <a:prstGeom prst="rect">
            <a:avLst/>
          </a:prstGeom>
          <a:noFill/>
        </p:spPr>
        <p:txBody>
          <a:bodyPr wrap="square" lIns="91440" tIns="45720" rIns="91440" bIns="45720" rtlCol="0" anchor="t">
            <a:spAutoFit/>
          </a:bodyPr>
          <a:lstStyle/>
          <a:p>
            <a:r>
              <a:rPr lang="en-US" sz="2400">
                <a:solidFill>
                  <a:srgbClr val="002060"/>
                </a:solidFill>
                <a:ea typeface="Calibri"/>
                <a:cs typeface="Calibri"/>
              </a:rPr>
              <a:t>BEFORE SUBMITTING</a:t>
            </a:r>
          </a:p>
        </p:txBody>
      </p:sp>
      <p:pic>
        <p:nvPicPr>
          <p:cNvPr id="2" name="Picture 1" descr="A logo with a black background&#10;&#10;Description automatically generated">
            <a:extLst>
              <a:ext uri="{FF2B5EF4-FFF2-40B4-BE49-F238E27FC236}">
                <a16:creationId xmlns:a16="http://schemas.microsoft.com/office/drawing/2014/main" id="{38C3D739-64F0-FF11-87E5-59AEE45950B0}"/>
              </a:ext>
            </a:extLst>
          </p:cNvPr>
          <p:cNvPicPr>
            <a:picLocks noChangeAspect="1"/>
          </p:cNvPicPr>
          <p:nvPr/>
        </p:nvPicPr>
        <p:blipFill rotWithShape="1">
          <a:blip r:embed="rId6">
            <a:extLst>
              <a:ext uri="{28A0092B-C50C-407E-A947-70E740481C1C}">
                <a14:useLocalDpi xmlns:a14="http://schemas.microsoft.com/office/drawing/2010/main" val="0"/>
              </a:ext>
            </a:extLst>
          </a:blip>
          <a:srcRect l="38167" t="-11528" r="48578" b="-1"/>
          <a:stretch/>
        </p:blipFill>
        <p:spPr bwMode="auto">
          <a:xfrm>
            <a:off x="10485969" y="5388428"/>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83916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1B644-B387-8595-3A2D-5AD99035DB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D14C1-438F-ED51-D287-758DB55094D5}"/>
              </a:ext>
            </a:extLst>
          </p:cNvPr>
          <p:cNvSpPr>
            <a:spLocks noGrp="1"/>
          </p:cNvSpPr>
          <p:nvPr>
            <p:ph type="ctrTitle"/>
          </p:nvPr>
        </p:nvSpPr>
        <p:spPr/>
        <p:txBody>
          <a:bodyPr/>
          <a:lstStyle/>
          <a:p>
            <a:endParaRPr lang="en-DK"/>
          </a:p>
        </p:txBody>
      </p:sp>
      <p:sp>
        <p:nvSpPr>
          <p:cNvPr id="3" name="Subtitle 2">
            <a:extLst>
              <a:ext uri="{FF2B5EF4-FFF2-40B4-BE49-F238E27FC236}">
                <a16:creationId xmlns:a16="http://schemas.microsoft.com/office/drawing/2014/main" id="{14472601-B0B5-365E-D8EF-1E9E0182E432}"/>
              </a:ext>
            </a:extLst>
          </p:cNvPr>
          <p:cNvSpPr>
            <a:spLocks noGrp="1"/>
          </p:cNvSpPr>
          <p:nvPr>
            <p:ph type="subTitle" idx="1"/>
          </p:nvPr>
        </p:nvSpPr>
        <p:spPr/>
        <p:txBody>
          <a:bodyPr/>
          <a:lstStyle/>
          <a:p>
            <a:endParaRPr lang="en-DK"/>
          </a:p>
        </p:txBody>
      </p:sp>
      <p:pic>
        <p:nvPicPr>
          <p:cNvPr id="5" name="Picture 4" descr="A group of people walking on a bridge&#10;&#10;AI-generated content may be incorrect.">
            <a:extLst>
              <a:ext uri="{FF2B5EF4-FFF2-40B4-BE49-F238E27FC236}">
                <a16:creationId xmlns:a16="http://schemas.microsoft.com/office/drawing/2014/main" id="{C2FCA4CA-7874-F902-1904-E36EE8F40B11}"/>
              </a:ext>
            </a:extLst>
          </p:cNvPr>
          <p:cNvPicPr>
            <a:picLocks noChangeAspect="1"/>
          </p:cNvPicPr>
          <p:nvPr/>
        </p:nvPicPr>
        <p:blipFill>
          <a:blip r:embed="rId2">
            <a:extLst>
              <a:ext uri="{28A0092B-C50C-407E-A947-70E740481C1C}">
                <a14:useLocalDpi xmlns:a14="http://schemas.microsoft.com/office/drawing/2010/main" val="0"/>
              </a:ext>
            </a:extLst>
          </a:blip>
          <a:srcRect t="15605"/>
          <a:stretch/>
        </p:blipFill>
        <p:spPr>
          <a:xfrm>
            <a:off x="0" y="0"/>
            <a:ext cx="12192000" cy="6858000"/>
          </a:xfrm>
          <a:prstGeom prst="rect">
            <a:avLst/>
          </a:prstGeom>
        </p:spPr>
      </p:pic>
      <p:sp>
        <p:nvSpPr>
          <p:cNvPr id="9" name="TextBox 8">
            <a:extLst>
              <a:ext uri="{FF2B5EF4-FFF2-40B4-BE49-F238E27FC236}">
                <a16:creationId xmlns:a16="http://schemas.microsoft.com/office/drawing/2014/main" id="{1593F071-B752-436B-4ED8-80EB93350B6C}"/>
              </a:ext>
            </a:extLst>
          </p:cNvPr>
          <p:cNvSpPr txBox="1"/>
          <p:nvPr/>
        </p:nvSpPr>
        <p:spPr>
          <a:xfrm>
            <a:off x="1" y="5088403"/>
            <a:ext cx="12191999" cy="646331"/>
          </a:xfrm>
          <a:prstGeom prst="rect">
            <a:avLst/>
          </a:prstGeom>
          <a:solidFill>
            <a:schemeClr val="bg2">
              <a:lumMod val="25000"/>
              <a:alpha val="16000"/>
            </a:schemeClr>
          </a:solidFill>
        </p:spPr>
        <p:txBody>
          <a:bodyPr wrap="square" rtlCol="0">
            <a:spAutoFit/>
          </a:bodyPr>
          <a:lstStyle/>
          <a:p>
            <a:pPr algn="r"/>
            <a:r>
              <a:rPr lang="en-US" sz="3600">
                <a:solidFill>
                  <a:schemeClr val="bg1"/>
                </a:solidFill>
              </a:rPr>
              <a:t>Next steps and activities</a:t>
            </a:r>
            <a:endParaRPr lang="en-DK" sz="3600">
              <a:solidFill>
                <a:schemeClr val="bg1"/>
              </a:solidFill>
            </a:endParaRPr>
          </a:p>
        </p:txBody>
      </p:sp>
      <p:sp>
        <p:nvSpPr>
          <p:cNvPr id="10" name="TextBox 9">
            <a:extLst>
              <a:ext uri="{FF2B5EF4-FFF2-40B4-BE49-F238E27FC236}">
                <a16:creationId xmlns:a16="http://schemas.microsoft.com/office/drawing/2014/main" id="{E6E5EC46-F5AC-2A85-E1C7-69720DA99BB8}"/>
              </a:ext>
            </a:extLst>
          </p:cNvPr>
          <p:cNvSpPr txBox="1"/>
          <p:nvPr/>
        </p:nvSpPr>
        <p:spPr>
          <a:xfrm>
            <a:off x="147485" y="6524323"/>
            <a:ext cx="6272980" cy="261610"/>
          </a:xfrm>
          <a:prstGeom prst="rect">
            <a:avLst/>
          </a:prstGeom>
          <a:noFill/>
        </p:spPr>
        <p:txBody>
          <a:bodyPr wrap="square">
            <a:spAutoFit/>
          </a:bodyPr>
          <a:lstStyle/>
          <a:p>
            <a:r>
              <a:rPr lang="en-US" sz="1100">
                <a:solidFill>
                  <a:schemeClr val="bg1"/>
                </a:solidFill>
              </a:rPr>
              <a:t>©T</a:t>
            </a:r>
            <a:r>
              <a:rPr lang="en-DK" sz="1100">
                <a:solidFill>
                  <a:schemeClr val="bg1"/>
                </a:solidFill>
              </a:rPr>
              <a:t>Peter </a:t>
            </a:r>
            <a:r>
              <a:rPr lang="en-DK" sz="1100" err="1">
                <a:solidFill>
                  <a:schemeClr val="bg1"/>
                </a:solidFill>
              </a:rPr>
              <a:t>Vadocz</a:t>
            </a:r>
            <a:r>
              <a:rPr lang="en-DK" sz="1100">
                <a:solidFill>
                  <a:schemeClr val="bg1"/>
                </a:solidFill>
              </a:rPr>
              <a:t>, Urban Treasures  EEA</a:t>
            </a:r>
          </a:p>
        </p:txBody>
      </p:sp>
      <p:pic>
        <p:nvPicPr>
          <p:cNvPr id="11" name="Picture 8" descr="Graphical user interface, text&#10;&#10;Description automatically generated">
            <a:extLst>
              <a:ext uri="{FF2B5EF4-FFF2-40B4-BE49-F238E27FC236}">
                <a16:creationId xmlns:a16="http://schemas.microsoft.com/office/drawing/2014/main" id="{4387510E-30F8-49E6-BC23-57EE9E2A0F88}"/>
              </a:ext>
            </a:extLst>
          </p:cNvPr>
          <p:cNvPicPr>
            <a:picLocks noChangeAspect="1"/>
          </p:cNvPicPr>
          <p:nvPr/>
        </p:nvPicPr>
        <p:blipFill>
          <a:blip r:embed="rId3"/>
          <a:stretch>
            <a:fillRect/>
          </a:stretch>
        </p:blipFill>
        <p:spPr>
          <a:xfrm>
            <a:off x="8251148" y="5874344"/>
            <a:ext cx="3789337" cy="765523"/>
          </a:xfrm>
          <a:prstGeom prst="rect">
            <a:avLst/>
          </a:prstGeom>
        </p:spPr>
      </p:pic>
    </p:spTree>
    <p:extLst>
      <p:ext uri="{BB962C8B-B14F-4D97-AF65-F5344CB8AC3E}">
        <p14:creationId xmlns:p14="http://schemas.microsoft.com/office/powerpoint/2010/main" val="793489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3415C901-039D-4058-80C7-5ABA400CDB06}"/>
              </a:ext>
            </a:extLst>
          </p:cNvPr>
          <p:cNvSpPr/>
          <p:nvPr/>
        </p:nvSpPr>
        <p:spPr>
          <a:xfrm>
            <a:off x="3911034" y="1796430"/>
            <a:ext cx="1429226" cy="1319972"/>
          </a:xfrm>
          <a:prstGeom prst="ellipse">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chemeClr val="accent5"/>
                </a:solidFill>
              </a:rPr>
              <a:t>Q2</a:t>
            </a:r>
          </a:p>
          <a:p>
            <a:pPr algn="ctr"/>
            <a:r>
              <a:rPr lang="en-US" sz="2400">
                <a:solidFill>
                  <a:schemeClr val="accent5"/>
                </a:solidFill>
              </a:rPr>
              <a:t>2025</a:t>
            </a:r>
          </a:p>
        </p:txBody>
      </p:sp>
      <p:sp>
        <p:nvSpPr>
          <p:cNvPr id="5" name="Oval 4">
            <a:extLst>
              <a:ext uri="{FF2B5EF4-FFF2-40B4-BE49-F238E27FC236}">
                <a16:creationId xmlns:a16="http://schemas.microsoft.com/office/drawing/2014/main" id="{966DA334-7569-42CB-95CD-419F4AC26092}"/>
              </a:ext>
            </a:extLst>
          </p:cNvPr>
          <p:cNvSpPr/>
          <p:nvPr/>
        </p:nvSpPr>
        <p:spPr>
          <a:xfrm>
            <a:off x="6891959" y="1732551"/>
            <a:ext cx="1429225" cy="1319973"/>
          </a:xfrm>
          <a:prstGeom prst="ellipse">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rgbClr val="00B0F0"/>
                </a:solidFill>
              </a:rPr>
              <a:t>Q3</a:t>
            </a:r>
          </a:p>
          <a:p>
            <a:pPr algn="ctr"/>
            <a:r>
              <a:rPr lang="en-US" sz="2400">
                <a:solidFill>
                  <a:srgbClr val="00B0F0"/>
                </a:solidFill>
              </a:rPr>
              <a:t>2025</a:t>
            </a:r>
          </a:p>
        </p:txBody>
      </p:sp>
      <p:sp>
        <p:nvSpPr>
          <p:cNvPr id="6" name="Oval 5">
            <a:extLst>
              <a:ext uri="{FF2B5EF4-FFF2-40B4-BE49-F238E27FC236}">
                <a16:creationId xmlns:a16="http://schemas.microsoft.com/office/drawing/2014/main" id="{6D8E2964-D9A5-4A16-8604-F04921C189EB}"/>
              </a:ext>
            </a:extLst>
          </p:cNvPr>
          <p:cNvSpPr/>
          <p:nvPr/>
        </p:nvSpPr>
        <p:spPr>
          <a:xfrm>
            <a:off x="9827064" y="1738047"/>
            <a:ext cx="1429225" cy="1319972"/>
          </a:xfrm>
          <a:prstGeom prst="ellips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chemeClr val="accent3"/>
                </a:solidFill>
              </a:rPr>
              <a:t>Q4</a:t>
            </a:r>
          </a:p>
          <a:p>
            <a:pPr algn="ctr"/>
            <a:r>
              <a:rPr lang="en-US" sz="2400">
                <a:solidFill>
                  <a:schemeClr val="accent3"/>
                </a:solidFill>
              </a:rPr>
              <a:t>2025</a:t>
            </a:r>
          </a:p>
        </p:txBody>
      </p:sp>
      <p:sp>
        <p:nvSpPr>
          <p:cNvPr id="19" name="Oval 18">
            <a:extLst>
              <a:ext uri="{FF2B5EF4-FFF2-40B4-BE49-F238E27FC236}">
                <a16:creationId xmlns:a16="http://schemas.microsoft.com/office/drawing/2014/main" id="{FC17936A-EE2B-4C30-A31C-496282D48B87}"/>
              </a:ext>
            </a:extLst>
          </p:cNvPr>
          <p:cNvSpPr/>
          <p:nvPr/>
        </p:nvSpPr>
        <p:spPr>
          <a:xfrm>
            <a:off x="935711" y="1791527"/>
            <a:ext cx="1429226" cy="1319973"/>
          </a:xfrm>
          <a:prstGeom prst="ellipse">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chemeClr val="accent4"/>
                </a:solidFill>
              </a:rPr>
              <a:t>Q1</a:t>
            </a:r>
          </a:p>
          <a:p>
            <a:pPr algn="ctr"/>
            <a:r>
              <a:rPr lang="en-US" sz="2400">
                <a:solidFill>
                  <a:schemeClr val="accent4"/>
                </a:solidFill>
              </a:rPr>
              <a:t>2025</a:t>
            </a:r>
          </a:p>
        </p:txBody>
      </p:sp>
      <p:sp>
        <p:nvSpPr>
          <p:cNvPr id="23" name="Freeform: Shape 22" descr="timeline ">
            <a:extLst>
              <a:ext uri="{FF2B5EF4-FFF2-40B4-BE49-F238E27FC236}">
                <a16:creationId xmlns:a16="http://schemas.microsoft.com/office/drawing/2014/main" id="{7889103E-B405-4427-BC20-A3CA893D099A}"/>
              </a:ext>
            </a:extLst>
          </p:cNvPr>
          <p:cNvSpPr/>
          <p:nvPr/>
        </p:nvSpPr>
        <p:spPr>
          <a:xfrm flipH="1" flipV="1">
            <a:off x="-1" y="888191"/>
            <a:ext cx="12192000" cy="2929474"/>
          </a:xfrm>
          <a:custGeom>
            <a:avLst/>
            <a:gdLst>
              <a:gd name="connsiteX0" fmla="*/ 1192508 w 9252295"/>
              <a:gd name="connsiteY0" fmla="*/ 2410190 h 2410190"/>
              <a:gd name="connsiteX1" fmla="*/ 0 w 9252295"/>
              <a:gd name="connsiteY1" fmla="*/ 1217682 h 2410190"/>
              <a:gd name="connsiteX2" fmla="*/ 1107 w 9252295"/>
              <a:gd name="connsiteY2" fmla="*/ 1206703 h 2410190"/>
              <a:gd name="connsiteX3" fmla="*/ 96158 w 9252295"/>
              <a:gd name="connsiteY3" fmla="*/ 1206703 h 2410190"/>
              <a:gd name="connsiteX4" fmla="*/ 95051 w 9252295"/>
              <a:gd name="connsiteY4" fmla="*/ 1217682 h 2410190"/>
              <a:gd name="connsiteX5" fmla="*/ 1192508 w 9252295"/>
              <a:gd name="connsiteY5" fmla="*/ 2315139 h 2410190"/>
              <a:gd name="connsiteX6" fmla="*/ 2289965 w 9252295"/>
              <a:gd name="connsiteY6" fmla="*/ 1217682 h 2410190"/>
              <a:gd name="connsiteX7" fmla="*/ 2289554 w 9252295"/>
              <a:gd name="connsiteY7" fmla="*/ 1209531 h 2410190"/>
              <a:gd name="connsiteX8" fmla="*/ 2290085 w 9252295"/>
              <a:gd name="connsiteY8" fmla="*/ 1209531 h 2410190"/>
              <a:gd name="connsiteX9" fmla="*/ 2295831 w 9252295"/>
              <a:gd name="connsiteY9" fmla="*/ 1095755 h 2410190"/>
              <a:gd name="connsiteX10" fmla="*/ 3482182 w 9252295"/>
              <a:gd name="connsiteY10" fmla="*/ 25174 h 2410190"/>
              <a:gd name="connsiteX11" fmla="*/ 4668533 w 9252295"/>
              <a:gd name="connsiteY11" fmla="*/ 1095755 h 2410190"/>
              <a:gd name="connsiteX12" fmla="*/ 4674278 w 9252295"/>
              <a:gd name="connsiteY12" fmla="*/ 1209531 h 2410190"/>
              <a:gd name="connsiteX13" fmla="*/ 4673516 w 9252295"/>
              <a:gd name="connsiteY13" fmla="*/ 1209531 h 2410190"/>
              <a:gd name="connsiteX14" fmla="*/ 4678322 w 9252295"/>
              <a:gd name="connsiteY14" fmla="*/ 1304717 h 2410190"/>
              <a:gd name="connsiteX15" fmla="*/ 5770114 w 9252295"/>
              <a:gd name="connsiteY15" fmla="*/ 2289966 h 2410190"/>
              <a:gd name="connsiteX16" fmla="*/ 6861904 w 9252295"/>
              <a:gd name="connsiteY16" fmla="*/ 1304717 h 2410190"/>
              <a:gd name="connsiteX17" fmla="*/ 6867159 w 9252295"/>
              <a:gd name="connsiteY17" fmla="*/ 1200660 h 2410190"/>
              <a:gd name="connsiteX18" fmla="*/ 6867690 w 9252295"/>
              <a:gd name="connsiteY18" fmla="*/ 1200660 h 2410190"/>
              <a:gd name="connsiteX19" fmla="*/ 6867279 w 9252295"/>
              <a:gd name="connsiteY19" fmla="*/ 1192508 h 2410190"/>
              <a:gd name="connsiteX20" fmla="*/ 8059787 w 9252295"/>
              <a:gd name="connsiteY20" fmla="*/ 0 h 2410190"/>
              <a:gd name="connsiteX21" fmla="*/ 9252295 w 9252295"/>
              <a:gd name="connsiteY21" fmla="*/ 1192508 h 2410190"/>
              <a:gd name="connsiteX22" fmla="*/ 9251964 w 9252295"/>
              <a:gd name="connsiteY22" fmla="*/ 1195794 h 2410190"/>
              <a:gd name="connsiteX23" fmla="*/ 9156913 w 9252295"/>
              <a:gd name="connsiteY23" fmla="*/ 1195794 h 2410190"/>
              <a:gd name="connsiteX24" fmla="*/ 9157244 w 9252295"/>
              <a:gd name="connsiteY24" fmla="*/ 1192508 h 2410190"/>
              <a:gd name="connsiteX25" fmla="*/ 8059787 w 9252295"/>
              <a:gd name="connsiteY25" fmla="*/ 95051 h 2410190"/>
              <a:gd name="connsiteX26" fmla="*/ 6962330 w 9252295"/>
              <a:gd name="connsiteY26" fmla="*/ 1192508 h 2410190"/>
              <a:gd name="connsiteX27" fmla="*/ 6962741 w 9252295"/>
              <a:gd name="connsiteY27" fmla="*/ 1200660 h 2410190"/>
              <a:gd name="connsiteX28" fmla="*/ 6962209 w 9252295"/>
              <a:gd name="connsiteY28" fmla="*/ 1200660 h 2410190"/>
              <a:gd name="connsiteX29" fmla="*/ 6956464 w 9252295"/>
              <a:gd name="connsiteY29" fmla="*/ 1314435 h 2410190"/>
              <a:gd name="connsiteX30" fmla="*/ 5770114 w 9252295"/>
              <a:gd name="connsiteY30" fmla="*/ 2385016 h 2410190"/>
              <a:gd name="connsiteX31" fmla="*/ 4583763 w 9252295"/>
              <a:gd name="connsiteY31" fmla="*/ 1314435 h 2410190"/>
              <a:gd name="connsiteX32" fmla="*/ 4578017 w 9252295"/>
              <a:gd name="connsiteY32" fmla="*/ 1200660 h 2410190"/>
              <a:gd name="connsiteX33" fmla="*/ 4578780 w 9252295"/>
              <a:gd name="connsiteY33" fmla="*/ 1200660 h 2410190"/>
              <a:gd name="connsiteX34" fmla="*/ 4573974 w 9252295"/>
              <a:gd name="connsiteY34" fmla="*/ 1105474 h 2410190"/>
              <a:gd name="connsiteX35" fmla="*/ 3482182 w 9252295"/>
              <a:gd name="connsiteY35" fmla="*/ 120225 h 2410190"/>
              <a:gd name="connsiteX36" fmla="*/ 2390391 w 9252295"/>
              <a:gd name="connsiteY36" fmla="*/ 1105474 h 2410190"/>
              <a:gd name="connsiteX37" fmla="*/ 2385136 w 9252295"/>
              <a:gd name="connsiteY37" fmla="*/ 1209531 h 2410190"/>
              <a:gd name="connsiteX38" fmla="*/ 2384604 w 9252295"/>
              <a:gd name="connsiteY38" fmla="*/ 1209531 h 2410190"/>
              <a:gd name="connsiteX39" fmla="*/ 2385016 w 9252295"/>
              <a:gd name="connsiteY39" fmla="*/ 1217682 h 2410190"/>
              <a:gd name="connsiteX40" fmla="*/ 1192508 w 9252295"/>
              <a:gd name="connsiteY40" fmla="*/ 2410190 h 241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252295" h="2410190">
                <a:moveTo>
                  <a:pt x="1192508" y="2410190"/>
                </a:moveTo>
                <a:cubicBezTo>
                  <a:pt x="533904" y="2410190"/>
                  <a:pt x="0" y="1876286"/>
                  <a:pt x="0" y="1217682"/>
                </a:cubicBezTo>
                <a:lnTo>
                  <a:pt x="1107" y="1206703"/>
                </a:lnTo>
                <a:lnTo>
                  <a:pt x="96158" y="1206703"/>
                </a:lnTo>
                <a:lnTo>
                  <a:pt x="95051" y="1217682"/>
                </a:lnTo>
                <a:cubicBezTo>
                  <a:pt x="95051" y="1823791"/>
                  <a:pt x="586400" y="2315139"/>
                  <a:pt x="1192508" y="2315139"/>
                </a:cubicBezTo>
                <a:cubicBezTo>
                  <a:pt x="1798616" y="2315139"/>
                  <a:pt x="2289965" y="1823791"/>
                  <a:pt x="2289965" y="1217682"/>
                </a:cubicBezTo>
                <a:lnTo>
                  <a:pt x="2289554" y="1209531"/>
                </a:lnTo>
                <a:lnTo>
                  <a:pt x="2290085" y="1209531"/>
                </a:lnTo>
                <a:lnTo>
                  <a:pt x="2295831" y="1095755"/>
                </a:lnTo>
                <a:cubicBezTo>
                  <a:pt x="2356899" y="494427"/>
                  <a:pt x="2864742" y="25174"/>
                  <a:pt x="3482182" y="25174"/>
                </a:cubicBezTo>
                <a:cubicBezTo>
                  <a:pt x="4099623" y="25174"/>
                  <a:pt x="4607465" y="494427"/>
                  <a:pt x="4668533" y="1095755"/>
                </a:cubicBezTo>
                <a:lnTo>
                  <a:pt x="4674278" y="1209531"/>
                </a:lnTo>
                <a:lnTo>
                  <a:pt x="4673516" y="1209531"/>
                </a:lnTo>
                <a:lnTo>
                  <a:pt x="4678322" y="1304717"/>
                </a:lnTo>
                <a:cubicBezTo>
                  <a:pt x="4734523" y="1858116"/>
                  <a:pt x="5201886" y="2289966"/>
                  <a:pt x="5770114" y="2289966"/>
                </a:cubicBezTo>
                <a:cubicBezTo>
                  <a:pt x="6338340" y="2289966"/>
                  <a:pt x="6805704" y="1858116"/>
                  <a:pt x="6861904" y="1304717"/>
                </a:cubicBezTo>
                <a:lnTo>
                  <a:pt x="6867159" y="1200660"/>
                </a:lnTo>
                <a:lnTo>
                  <a:pt x="6867690" y="1200660"/>
                </a:lnTo>
                <a:lnTo>
                  <a:pt x="6867279" y="1192508"/>
                </a:lnTo>
                <a:cubicBezTo>
                  <a:pt x="6867279" y="533905"/>
                  <a:pt x="7401183" y="0"/>
                  <a:pt x="8059787" y="0"/>
                </a:cubicBezTo>
                <a:cubicBezTo>
                  <a:pt x="8718390" y="0"/>
                  <a:pt x="9252295" y="533905"/>
                  <a:pt x="9252295" y="1192508"/>
                </a:cubicBezTo>
                <a:lnTo>
                  <a:pt x="9251964" y="1195794"/>
                </a:lnTo>
                <a:lnTo>
                  <a:pt x="9156913" y="1195794"/>
                </a:lnTo>
                <a:lnTo>
                  <a:pt x="9157244" y="1192508"/>
                </a:lnTo>
                <a:cubicBezTo>
                  <a:pt x="9157244" y="586400"/>
                  <a:pt x="8665895" y="95051"/>
                  <a:pt x="8059787" y="95051"/>
                </a:cubicBezTo>
                <a:cubicBezTo>
                  <a:pt x="7453679" y="95051"/>
                  <a:pt x="6962330" y="586400"/>
                  <a:pt x="6962330" y="1192508"/>
                </a:cubicBezTo>
                <a:lnTo>
                  <a:pt x="6962741" y="1200660"/>
                </a:lnTo>
                <a:lnTo>
                  <a:pt x="6962209" y="1200660"/>
                </a:lnTo>
                <a:lnTo>
                  <a:pt x="6956464" y="1314435"/>
                </a:lnTo>
                <a:cubicBezTo>
                  <a:pt x="6895396" y="1915764"/>
                  <a:pt x="6387554" y="2385016"/>
                  <a:pt x="5770114" y="2385016"/>
                </a:cubicBezTo>
                <a:cubicBezTo>
                  <a:pt x="5152672" y="2385016"/>
                  <a:pt x="4644831" y="1915764"/>
                  <a:pt x="4583763" y="1314435"/>
                </a:cubicBezTo>
                <a:lnTo>
                  <a:pt x="4578017" y="1200660"/>
                </a:lnTo>
                <a:lnTo>
                  <a:pt x="4578780" y="1200660"/>
                </a:lnTo>
                <a:lnTo>
                  <a:pt x="4573974" y="1105474"/>
                </a:lnTo>
                <a:cubicBezTo>
                  <a:pt x="4517772" y="552075"/>
                  <a:pt x="4050409" y="120225"/>
                  <a:pt x="3482182" y="120225"/>
                </a:cubicBezTo>
                <a:cubicBezTo>
                  <a:pt x="2913956" y="120225"/>
                  <a:pt x="2446592" y="552075"/>
                  <a:pt x="2390391" y="1105474"/>
                </a:cubicBezTo>
                <a:lnTo>
                  <a:pt x="2385136" y="1209531"/>
                </a:lnTo>
                <a:lnTo>
                  <a:pt x="2384604" y="1209531"/>
                </a:lnTo>
                <a:lnTo>
                  <a:pt x="2385016" y="1217682"/>
                </a:lnTo>
                <a:cubicBezTo>
                  <a:pt x="2385016" y="1876286"/>
                  <a:pt x="1851111" y="2410190"/>
                  <a:pt x="1192508" y="2410190"/>
                </a:cubicBezTo>
                <a:close/>
              </a:path>
            </a:pathLst>
          </a:custGeom>
          <a:gradFill flip="none" rotWithShape="1">
            <a:gsLst>
              <a:gs pos="61000">
                <a:srgbClr val="00B0F0"/>
              </a:gs>
              <a:gs pos="39000">
                <a:schemeClr val="accent5"/>
              </a:gs>
              <a:gs pos="18000">
                <a:schemeClr val="accent4"/>
              </a:gs>
              <a:gs pos="92000">
                <a:schemeClr val="accent3"/>
              </a:gs>
            </a:gsLst>
            <a:lin ang="10800000" scaled="0"/>
            <a:tileRect/>
          </a:gra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4400">
              <a:solidFill>
                <a:schemeClr val="accent2"/>
              </a:solidFill>
            </a:endParaRPr>
          </a:p>
        </p:txBody>
      </p:sp>
      <p:sp>
        <p:nvSpPr>
          <p:cNvPr id="2" name="Oval 1" descr="timeline endpoints">
            <a:extLst>
              <a:ext uri="{FF2B5EF4-FFF2-40B4-BE49-F238E27FC236}">
                <a16:creationId xmlns:a16="http://schemas.microsoft.com/office/drawing/2014/main" id="{81AA7F01-98B3-49CE-A287-1B558536C306}"/>
              </a:ext>
            </a:extLst>
          </p:cNvPr>
          <p:cNvSpPr/>
          <p:nvPr/>
        </p:nvSpPr>
        <p:spPr>
          <a:xfrm>
            <a:off x="-1" y="2285187"/>
            <a:ext cx="218092" cy="218092"/>
          </a:xfrm>
          <a:prstGeom prst="ellipse">
            <a:avLst/>
          </a:prstGeom>
          <a:solidFill>
            <a:schemeClr val="accent4"/>
          </a:solidFill>
          <a:ln w="762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 name="Oval 2" descr="timeline endpoints">
            <a:extLst>
              <a:ext uri="{FF2B5EF4-FFF2-40B4-BE49-F238E27FC236}">
                <a16:creationId xmlns:a16="http://schemas.microsoft.com/office/drawing/2014/main" id="{491CCD59-030F-4F79-9A33-EBC86A2EC9FE}"/>
              </a:ext>
            </a:extLst>
          </p:cNvPr>
          <p:cNvSpPr/>
          <p:nvPr/>
        </p:nvSpPr>
        <p:spPr>
          <a:xfrm>
            <a:off x="11966034" y="2323243"/>
            <a:ext cx="218092" cy="218092"/>
          </a:xfrm>
          <a:prstGeom prst="ellipse">
            <a:avLst/>
          </a:prstGeom>
          <a:solidFill>
            <a:srgbClr val="20A472"/>
          </a:solidFill>
          <a:ln w="76200">
            <a:solidFill>
              <a:srgbClr val="20A4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rgbClr val="20A472"/>
              </a:solidFill>
            </a:endParaRPr>
          </a:p>
        </p:txBody>
      </p:sp>
      <p:sp>
        <p:nvSpPr>
          <p:cNvPr id="16" name="Text Placeholder 15">
            <a:extLst>
              <a:ext uri="{FF2B5EF4-FFF2-40B4-BE49-F238E27FC236}">
                <a16:creationId xmlns:a16="http://schemas.microsoft.com/office/drawing/2014/main" id="{B6086B1F-4F6D-4493-AE84-2520E93642DE}"/>
              </a:ext>
            </a:extLst>
          </p:cNvPr>
          <p:cNvSpPr>
            <a:spLocks noGrp="1"/>
          </p:cNvSpPr>
          <p:nvPr>
            <p:ph type="body" sz="quarter" idx="10"/>
          </p:nvPr>
        </p:nvSpPr>
        <p:spPr>
          <a:xfrm>
            <a:off x="751642" y="3881799"/>
            <a:ext cx="2878320" cy="341469"/>
          </a:xfrm>
        </p:spPr>
        <p:txBody>
          <a:bodyPr/>
          <a:lstStyle/>
          <a:p>
            <a:r>
              <a:rPr lang="en-US" sz="2400">
                <a:latin typeface="+mn-lt"/>
              </a:rPr>
              <a:t>Reporting period</a:t>
            </a:r>
          </a:p>
        </p:txBody>
      </p:sp>
      <p:sp>
        <p:nvSpPr>
          <p:cNvPr id="17" name="Text Placeholder 16">
            <a:extLst>
              <a:ext uri="{FF2B5EF4-FFF2-40B4-BE49-F238E27FC236}">
                <a16:creationId xmlns:a16="http://schemas.microsoft.com/office/drawing/2014/main" id="{6A44816B-378D-41B5-84D7-39CECE2E452E}"/>
              </a:ext>
            </a:extLst>
          </p:cNvPr>
          <p:cNvSpPr>
            <a:spLocks noGrp="1"/>
          </p:cNvSpPr>
          <p:nvPr>
            <p:ph type="body" sz="quarter" idx="11"/>
          </p:nvPr>
        </p:nvSpPr>
        <p:spPr>
          <a:xfrm>
            <a:off x="804114" y="4304152"/>
            <a:ext cx="2408014" cy="1790701"/>
          </a:xfrm>
        </p:spPr>
        <p:txBody>
          <a:bodyPr/>
          <a:lstStyle/>
          <a:p>
            <a:pPr marL="342900" indent="-342900">
              <a:buFont typeface="+mj-lt"/>
              <a:buAutoNum type="arabicPeriod"/>
            </a:pPr>
            <a:r>
              <a:rPr lang="en-US" sz="1400">
                <a:ea typeface="Lato Light" panose="020F0502020204030203" pitchFamily="34" charset="0"/>
                <a:cs typeface="Lato Light" panose="020F0502020204030203" pitchFamily="34" charset="0"/>
              </a:rPr>
              <a:t>Opening the dataflows</a:t>
            </a:r>
          </a:p>
          <a:p>
            <a:pPr marL="342900" indent="-342900">
              <a:buFont typeface="+mj-lt"/>
              <a:buAutoNum type="arabicPeriod"/>
            </a:pPr>
            <a:r>
              <a:rPr lang="en-US" sz="1400">
                <a:ea typeface="Lato Light" panose="020F0502020204030203" pitchFamily="34" charset="0"/>
                <a:cs typeface="Lato Light" panose="020F0502020204030203" pitchFamily="34" charset="0"/>
              </a:rPr>
              <a:t>Reporting ongoing</a:t>
            </a:r>
          </a:p>
          <a:p>
            <a:pPr marL="342900" indent="-342900">
              <a:buFont typeface="+mj-lt"/>
              <a:buAutoNum type="arabicPeriod"/>
            </a:pPr>
            <a:r>
              <a:rPr lang="en-US" sz="1400">
                <a:ea typeface="Lato Light" panose="020F0502020204030203" pitchFamily="34" charset="0"/>
                <a:cs typeface="Lato Light" panose="020F0502020204030203" pitchFamily="34" charset="0"/>
              </a:rPr>
              <a:t>Training for reporters</a:t>
            </a:r>
          </a:p>
          <a:p>
            <a:pPr marL="342900" indent="-342900">
              <a:buFont typeface="+mj-lt"/>
              <a:buAutoNum type="arabicPeriod"/>
            </a:pPr>
            <a:r>
              <a:rPr lang="en-US" sz="1400">
                <a:ea typeface="Lato Light" panose="020F0502020204030203" pitchFamily="34" charset="0"/>
                <a:cs typeface="Lato Light" panose="020F0502020204030203" pitchFamily="34" charset="0"/>
              </a:rPr>
              <a:t>Country support</a:t>
            </a:r>
          </a:p>
          <a:p>
            <a:pPr marL="342900" indent="-342900">
              <a:buFont typeface="+mj-lt"/>
              <a:buAutoNum type="arabicPeriod"/>
            </a:pPr>
            <a:r>
              <a:rPr lang="en-US" sz="1400">
                <a:ea typeface="Lato Light" panose="020F0502020204030203" pitchFamily="34" charset="0"/>
                <a:cs typeface="Lato Light" panose="020F0502020204030203" pitchFamily="34" charset="0"/>
              </a:rPr>
              <a:t>Reporting period, reporting due 15 March</a:t>
            </a:r>
          </a:p>
        </p:txBody>
      </p:sp>
      <p:sp>
        <p:nvSpPr>
          <p:cNvPr id="18" name="Text Placeholder 17">
            <a:extLst>
              <a:ext uri="{FF2B5EF4-FFF2-40B4-BE49-F238E27FC236}">
                <a16:creationId xmlns:a16="http://schemas.microsoft.com/office/drawing/2014/main" id="{2EFC63F8-23B1-4F22-9868-15EB446170F3}"/>
              </a:ext>
            </a:extLst>
          </p:cNvPr>
          <p:cNvSpPr>
            <a:spLocks noGrp="1"/>
          </p:cNvSpPr>
          <p:nvPr>
            <p:ph type="body" sz="quarter" idx="12"/>
          </p:nvPr>
        </p:nvSpPr>
        <p:spPr>
          <a:xfrm>
            <a:off x="3629962" y="3854986"/>
            <a:ext cx="2878319" cy="420388"/>
          </a:xfrm>
        </p:spPr>
        <p:txBody>
          <a:bodyPr/>
          <a:lstStyle/>
          <a:p>
            <a:r>
              <a:rPr lang="en-US" sz="2400">
                <a:latin typeface="+mn-lt"/>
              </a:rPr>
              <a:t>Quality assurance</a:t>
            </a:r>
          </a:p>
        </p:txBody>
      </p:sp>
      <p:sp>
        <p:nvSpPr>
          <p:cNvPr id="20" name="Text Placeholder 19">
            <a:extLst>
              <a:ext uri="{FF2B5EF4-FFF2-40B4-BE49-F238E27FC236}">
                <a16:creationId xmlns:a16="http://schemas.microsoft.com/office/drawing/2014/main" id="{AA64E66E-DA3C-42CD-80D9-89BD3A8A401A}"/>
              </a:ext>
            </a:extLst>
          </p:cNvPr>
          <p:cNvSpPr>
            <a:spLocks noGrp="1"/>
          </p:cNvSpPr>
          <p:nvPr>
            <p:ph type="body" sz="quarter" idx="13"/>
          </p:nvPr>
        </p:nvSpPr>
        <p:spPr>
          <a:xfrm>
            <a:off x="3372982" y="4287624"/>
            <a:ext cx="3233439" cy="2574521"/>
          </a:xfrm>
        </p:spPr>
        <p:txBody>
          <a:bodyPr vert="horz" lIns="91440" tIns="45720" rIns="91440" bIns="45720" rtlCol="0" anchor="t">
            <a:noAutofit/>
          </a:bodyPr>
          <a:lstStyle/>
          <a:p>
            <a:pPr marL="342900" indent="-342900">
              <a:buFont typeface="+mj-lt"/>
              <a:buAutoNum type="arabicPeriod"/>
            </a:pPr>
            <a:r>
              <a:rPr lang="en-US" sz="1400" dirty="0">
                <a:ea typeface="Lato Light"/>
                <a:cs typeface="Lato Light"/>
              </a:rPr>
              <a:t>QAQC process</a:t>
            </a:r>
          </a:p>
          <a:p>
            <a:pPr marL="342900" indent="-342900">
              <a:buFont typeface="+mj-lt"/>
              <a:buAutoNum type="arabicPeriod"/>
            </a:pPr>
            <a:r>
              <a:rPr lang="en-US" sz="1400" dirty="0">
                <a:ea typeface="Lato Light"/>
                <a:cs typeface="Lato Light"/>
              </a:rPr>
              <a:t>Feedback issued in April (or after submission)</a:t>
            </a:r>
          </a:p>
          <a:p>
            <a:pPr marL="342900" indent="-342900">
              <a:buFont typeface="+mj-lt"/>
              <a:buAutoNum type="arabicPeriod"/>
            </a:pPr>
            <a:r>
              <a:rPr lang="en-US" sz="1400" dirty="0">
                <a:ea typeface="Lato Light"/>
                <a:cs typeface="Lato Light"/>
              </a:rPr>
              <a:t>Country support</a:t>
            </a:r>
          </a:p>
          <a:p>
            <a:pPr marL="342900" indent="-342900">
              <a:buFont typeface="+mj-lt"/>
              <a:buAutoNum type="arabicPeriod"/>
            </a:pPr>
            <a:r>
              <a:rPr lang="en-US" sz="1400" dirty="0">
                <a:ea typeface="Lato Light"/>
                <a:cs typeface="Lato Light"/>
              </a:rPr>
              <a:t>Possible resubmissions in May</a:t>
            </a:r>
          </a:p>
          <a:p>
            <a:pPr marL="342900" indent="-342900">
              <a:buFont typeface="+mj-lt"/>
              <a:buAutoNum type="arabicPeriod"/>
            </a:pPr>
            <a:endParaRPr lang="en-US" sz="1400" dirty="0">
              <a:ea typeface="Lato Light" panose="020F0502020204030203" pitchFamily="34" charset="0"/>
              <a:cs typeface="Lato Light" panose="020F0502020204030203" pitchFamily="34" charset="0"/>
            </a:endParaRPr>
          </a:p>
        </p:txBody>
      </p:sp>
      <p:sp>
        <p:nvSpPr>
          <p:cNvPr id="21" name="Text Placeholder 20">
            <a:extLst>
              <a:ext uri="{FF2B5EF4-FFF2-40B4-BE49-F238E27FC236}">
                <a16:creationId xmlns:a16="http://schemas.microsoft.com/office/drawing/2014/main" id="{F5A6A695-5271-4895-88EF-663A3F593E59}"/>
              </a:ext>
            </a:extLst>
          </p:cNvPr>
          <p:cNvSpPr>
            <a:spLocks noGrp="1"/>
          </p:cNvSpPr>
          <p:nvPr>
            <p:ph type="body" sz="quarter" idx="14"/>
          </p:nvPr>
        </p:nvSpPr>
        <p:spPr>
          <a:xfrm>
            <a:off x="6635692" y="3861854"/>
            <a:ext cx="2397291" cy="361060"/>
          </a:xfrm>
        </p:spPr>
        <p:txBody>
          <a:bodyPr/>
          <a:lstStyle/>
          <a:p>
            <a:r>
              <a:rPr lang="en-US" sz="2400">
                <a:solidFill>
                  <a:srgbClr val="00B0F0"/>
                </a:solidFill>
                <a:latin typeface="+mn-lt"/>
              </a:rPr>
              <a:t>Assessment </a:t>
            </a:r>
          </a:p>
        </p:txBody>
      </p:sp>
      <p:sp>
        <p:nvSpPr>
          <p:cNvPr id="22" name="Text Placeholder 21">
            <a:extLst>
              <a:ext uri="{FF2B5EF4-FFF2-40B4-BE49-F238E27FC236}">
                <a16:creationId xmlns:a16="http://schemas.microsoft.com/office/drawing/2014/main" id="{93CA8393-83FA-4B7B-BF41-CB601BA16432}"/>
              </a:ext>
            </a:extLst>
          </p:cNvPr>
          <p:cNvSpPr>
            <a:spLocks noGrp="1"/>
          </p:cNvSpPr>
          <p:nvPr>
            <p:ph type="body" sz="quarter" idx="15"/>
          </p:nvPr>
        </p:nvSpPr>
        <p:spPr>
          <a:xfrm>
            <a:off x="6508281" y="4324945"/>
            <a:ext cx="2623018" cy="1644864"/>
          </a:xfrm>
        </p:spPr>
        <p:txBody>
          <a:bodyPr vert="horz" lIns="91440" tIns="45720" rIns="91440" bIns="45720" rtlCol="0" anchor="t">
            <a:noAutofit/>
          </a:bodyPr>
          <a:lstStyle/>
          <a:p>
            <a:pPr marL="342900" indent="-342900">
              <a:buFont typeface="+mj-lt"/>
              <a:buAutoNum type="arabicPeriod"/>
            </a:pPr>
            <a:r>
              <a:rPr lang="en-US" sz="1400" dirty="0">
                <a:ea typeface="Lato Light"/>
                <a:cs typeface="Lato Light"/>
              </a:rPr>
              <a:t>Assessment of information</a:t>
            </a:r>
          </a:p>
          <a:p>
            <a:pPr marL="342900" indent="-342900">
              <a:buFont typeface="+mj-lt"/>
              <a:buAutoNum type="arabicPeriod"/>
            </a:pPr>
            <a:r>
              <a:rPr lang="en-US" sz="1400" dirty="0">
                <a:ea typeface="Lato Light"/>
                <a:cs typeface="Lato Light"/>
              </a:rPr>
              <a:t>Supporting </a:t>
            </a:r>
            <a:r>
              <a:rPr lang="en-US" sz="1400" dirty="0" err="1">
                <a:ea typeface="Lato Light"/>
                <a:cs typeface="Lato Light"/>
              </a:rPr>
              <a:t>EnCS</a:t>
            </a:r>
            <a:r>
              <a:rPr lang="en-US" sz="1400" dirty="0">
                <a:ea typeface="Lato Light"/>
                <a:cs typeface="Lato Light"/>
              </a:rPr>
              <a:t> products</a:t>
            </a:r>
          </a:p>
          <a:p>
            <a:pPr marL="342900" indent="-342900">
              <a:buFont typeface="+mj-lt"/>
              <a:buAutoNum type="arabicPeriod"/>
            </a:pPr>
            <a:r>
              <a:rPr lang="en-US" sz="1400" dirty="0">
                <a:ea typeface="Lato Light"/>
                <a:cs typeface="Lato Light"/>
              </a:rPr>
              <a:t>Outcomes feeding into EEA products</a:t>
            </a:r>
          </a:p>
          <a:p>
            <a:pPr marL="342900" indent="-342900">
              <a:buFont typeface="+mj-lt"/>
              <a:buAutoNum type="arabicPeriod"/>
            </a:pPr>
            <a:r>
              <a:rPr lang="en-US" sz="1400" dirty="0">
                <a:ea typeface="Lato Light"/>
                <a:cs typeface="Lato Light"/>
              </a:rPr>
              <a:t>Closing Article 17 dataflow</a:t>
            </a:r>
          </a:p>
          <a:p>
            <a:pPr marL="342900" indent="-342900">
              <a:buFont typeface="+mj-lt"/>
              <a:buAutoNum type="arabicPeriod"/>
            </a:pPr>
            <a:r>
              <a:rPr lang="en-US" sz="1400" dirty="0">
                <a:ea typeface="Lato Light"/>
                <a:cs typeface="Lato Light"/>
              </a:rPr>
              <a:t>Publication of final EU datasets</a:t>
            </a:r>
          </a:p>
          <a:p>
            <a:pPr marL="342900" indent="-342900">
              <a:buFont typeface="+mj-lt"/>
              <a:buAutoNum type="arabicPeriod"/>
            </a:pPr>
            <a:endParaRPr lang="en-US" sz="1400"/>
          </a:p>
        </p:txBody>
      </p:sp>
      <p:sp>
        <p:nvSpPr>
          <p:cNvPr id="24" name="Text Placeholder 23">
            <a:extLst>
              <a:ext uri="{FF2B5EF4-FFF2-40B4-BE49-F238E27FC236}">
                <a16:creationId xmlns:a16="http://schemas.microsoft.com/office/drawing/2014/main" id="{3CD04606-2C05-4AC9-9F6C-C0E9EDF1BC26}"/>
              </a:ext>
            </a:extLst>
          </p:cNvPr>
          <p:cNvSpPr>
            <a:spLocks noGrp="1"/>
          </p:cNvSpPr>
          <p:nvPr>
            <p:ph type="body" sz="quarter" idx="16"/>
          </p:nvPr>
        </p:nvSpPr>
        <p:spPr>
          <a:xfrm>
            <a:off x="9032983" y="3879882"/>
            <a:ext cx="3386808" cy="382846"/>
          </a:xfrm>
        </p:spPr>
        <p:txBody>
          <a:bodyPr/>
          <a:lstStyle/>
          <a:p>
            <a:r>
              <a:rPr lang="en-US" sz="2400">
                <a:latin typeface="+mn-lt"/>
              </a:rPr>
              <a:t>Product development</a:t>
            </a:r>
          </a:p>
        </p:txBody>
      </p:sp>
      <p:sp>
        <p:nvSpPr>
          <p:cNvPr id="25" name="Text Placeholder 24">
            <a:extLst>
              <a:ext uri="{FF2B5EF4-FFF2-40B4-BE49-F238E27FC236}">
                <a16:creationId xmlns:a16="http://schemas.microsoft.com/office/drawing/2014/main" id="{DA3309B0-9F41-47B2-8F25-109874864183}"/>
              </a:ext>
            </a:extLst>
          </p:cNvPr>
          <p:cNvSpPr>
            <a:spLocks noGrp="1"/>
          </p:cNvSpPr>
          <p:nvPr>
            <p:ph type="body" sz="quarter" idx="17"/>
          </p:nvPr>
        </p:nvSpPr>
        <p:spPr>
          <a:xfrm>
            <a:off x="9173274" y="4324945"/>
            <a:ext cx="3018725" cy="2082259"/>
          </a:xfrm>
        </p:spPr>
        <p:txBody>
          <a:bodyPr/>
          <a:lstStyle/>
          <a:p>
            <a:pPr marL="342900" indent="-342900">
              <a:buFont typeface="+mj-lt"/>
              <a:buAutoNum type="arabicPeriod"/>
            </a:pPr>
            <a:r>
              <a:rPr lang="en-US" sz="1400">
                <a:ea typeface="Lato Light" panose="020F0502020204030203" pitchFamily="34" charset="0"/>
                <a:cs typeface="Lato Light" panose="020F0502020204030203" pitchFamily="34" charset="0"/>
              </a:rPr>
              <a:t>EEA product development of the 2026 assessment report</a:t>
            </a:r>
          </a:p>
          <a:p>
            <a:pPr marL="342900" indent="-342900">
              <a:buFont typeface="+mj-lt"/>
              <a:buAutoNum type="arabicPeriod"/>
            </a:pPr>
            <a:r>
              <a:rPr lang="en-US" sz="1400">
                <a:ea typeface="Lato Light" panose="020F0502020204030203" pitchFamily="34" charset="0"/>
                <a:cs typeface="Lato Light" panose="020F0502020204030203" pitchFamily="34" charset="0"/>
              </a:rPr>
              <a:t>Article 19 dataflow remains open</a:t>
            </a:r>
          </a:p>
          <a:p>
            <a:pPr marL="342900" indent="-342900">
              <a:buFont typeface="+mj-lt"/>
              <a:buAutoNum type="arabicPeriod"/>
            </a:pPr>
            <a:r>
              <a:rPr lang="en-US" sz="1400">
                <a:ea typeface="Lato Light" panose="020F0502020204030203" pitchFamily="34" charset="0"/>
                <a:cs typeface="Lato Light" panose="020F0502020204030203" pitchFamily="34" charset="0"/>
              </a:rPr>
              <a:t>Country support with voluntary resubmissions</a:t>
            </a:r>
          </a:p>
        </p:txBody>
      </p:sp>
      <p:sp>
        <p:nvSpPr>
          <p:cNvPr id="34" name="Title 33">
            <a:extLst>
              <a:ext uri="{FF2B5EF4-FFF2-40B4-BE49-F238E27FC236}">
                <a16:creationId xmlns:a16="http://schemas.microsoft.com/office/drawing/2014/main" id="{F28D01B5-A5BC-45A3-8718-13BDC694F21C}"/>
              </a:ext>
            </a:extLst>
          </p:cNvPr>
          <p:cNvSpPr>
            <a:spLocks noGrp="1"/>
          </p:cNvSpPr>
          <p:nvPr>
            <p:ph type="title"/>
          </p:nvPr>
        </p:nvSpPr>
        <p:spPr>
          <a:xfrm>
            <a:off x="80137" y="145601"/>
            <a:ext cx="10515600" cy="977900"/>
          </a:xfrm>
        </p:spPr>
        <p:txBody>
          <a:bodyPr>
            <a:normAutofit fontScale="90000"/>
          </a:bodyPr>
          <a:lstStyle/>
          <a:p>
            <a:pPr algn="l"/>
            <a:br>
              <a:rPr lang="en-US" sz="2800" b="1">
                <a:solidFill>
                  <a:srgbClr val="008080"/>
                </a:solidFill>
                <a:latin typeface="+mn-lt"/>
                <a:ea typeface="Open Sans Semibold"/>
                <a:cs typeface="Open Sans Semibold"/>
              </a:rPr>
            </a:br>
            <a:r>
              <a:rPr lang="en-US" sz="4000">
                <a:solidFill>
                  <a:srgbClr val="009999"/>
                </a:solidFill>
                <a:latin typeface="+mn-lt"/>
                <a:ea typeface="Open Sans Semibold"/>
                <a:cs typeface="Open Sans Semibold"/>
              </a:rPr>
              <a:t>    2025 Activities</a:t>
            </a:r>
            <a:endParaRPr lang="en-US" sz="4000" cap="all">
              <a:solidFill>
                <a:srgbClr val="009999"/>
              </a:solidFill>
              <a:latin typeface="+mn-lt"/>
            </a:endParaRPr>
          </a:p>
        </p:txBody>
      </p:sp>
      <p:pic>
        <p:nvPicPr>
          <p:cNvPr id="7" name="Picture 6" descr="A logo with a black background&#10;&#10;Description automatically generated">
            <a:extLst>
              <a:ext uri="{FF2B5EF4-FFF2-40B4-BE49-F238E27FC236}">
                <a16:creationId xmlns:a16="http://schemas.microsoft.com/office/drawing/2014/main" id="{81175E3C-380B-49C3-955A-4426FCC1595B}"/>
              </a:ext>
            </a:extLst>
          </p:cNvPr>
          <p:cNvPicPr>
            <a:picLocks noChangeAspect="1"/>
          </p:cNvPicPr>
          <p:nvPr/>
        </p:nvPicPr>
        <p:blipFill rotWithShape="1">
          <a:blip r:embed="rId3">
            <a:extLst>
              <a:ext uri="{28A0092B-C50C-407E-A947-70E740481C1C}">
                <a14:useLocalDpi xmlns:a14="http://schemas.microsoft.com/office/drawing/2010/main" val="0"/>
              </a:ext>
            </a:extLst>
          </a:blip>
          <a:srcRect l="38167" t="-11528" r="48578" b="-1"/>
          <a:stretch/>
        </p:blipFill>
        <p:spPr bwMode="auto">
          <a:xfrm>
            <a:off x="10682636" y="0"/>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107634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5381B-2AA2-E6AC-FF21-66BCD5DADDFC}"/>
            </a:ext>
          </a:extLst>
        </p:cNvPr>
        <p:cNvGrpSpPr/>
        <p:nvPr/>
      </p:nvGrpSpPr>
      <p:grpSpPr>
        <a:xfrm>
          <a:off x="0" y="0"/>
          <a:ext cx="0" cy="0"/>
          <a:chOff x="0" y="0"/>
          <a:chExt cx="0" cy="0"/>
        </a:xfrm>
      </p:grpSpPr>
      <p:pic>
        <p:nvPicPr>
          <p:cNvPr id="5" name="Picture 4" descr="A group of people walking on a bridge&#10;&#10;AI-generated content may be incorrect.">
            <a:extLst>
              <a:ext uri="{FF2B5EF4-FFF2-40B4-BE49-F238E27FC236}">
                <a16:creationId xmlns:a16="http://schemas.microsoft.com/office/drawing/2014/main" id="{5F946695-EBC4-D734-2589-A59351F14CD3}"/>
              </a:ext>
            </a:extLst>
          </p:cNvPr>
          <p:cNvPicPr>
            <a:picLocks noChangeAspect="1"/>
          </p:cNvPicPr>
          <p:nvPr/>
        </p:nvPicPr>
        <p:blipFill>
          <a:blip r:embed="rId3">
            <a:extLst>
              <a:ext uri="{28A0092B-C50C-407E-A947-70E740481C1C}">
                <a14:useLocalDpi xmlns:a14="http://schemas.microsoft.com/office/drawing/2010/main" val="0"/>
              </a:ext>
            </a:extLst>
          </a:blip>
          <a:srcRect l="4758" t="15605" r="59274"/>
          <a:stretch/>
        </p:blipFill>
        <p:spPr>
          <a:xfrm>
            <a:off x="0" y="0"/>
            <a:ext cx="4385187" cy="6858000"/>
          </a:xfrm>
          <a:prstGeom prst="rect">
            <a:avLst/>
          </a:prstGeom>
        </p:spPr>
      </p:pic>
      <p:sp>
        <p:nvSpPr>
          <p:cNvPr id="7" name="TextBox 6">
            <a:extLst>
              <a:ext uri="{FF2B5EF4-FFF2-40B4-BE49-F238E27FC236}">
                <a16:creationId xmlns:a16="http://schemas.microsoft.com/office/drawing/2014/main" id="{C0314698-B2C5-B4E9-9456-B93ACD854899}"/>
              </a:ext>
            </a:extLst>
          </p:cNvPr>
          <p:cNvSpPr txBox="1"/>
          <p:nvPr/>
        </p:nvSpPr>
        <p:spPr>
          <a:xfrm>
            <a:off x="98324" y="6511623"/>
            <a:ext cx="6272980" cy="261610"/>
          </a:xfrm>
          <a:prstGeom prst="rect">
            <a:avLst/>
          </a:prstGeom>
          <a:noFill/>
        </p:spPr>
        <p:txBody>
          <a:bodyPr wrap="square">
            <a:spAutoFit/>
          </a:bodyPr>
          <a:lstStyle/>
          <a:p>
            <a:r>
              <a:rPr lang="en-US" sz="1100">
                <a:solidFill>
                  <a:schemeClr val="bg1"/>
                </a:solidFill>
              </a:rPr>
              <a:t>©T</a:t>
            </a:r>
            <a:r>
              <a:rPr lang="en-DK" sz="1100">
                <a:solidFill>
                  <a:schemeClr val="bg1"/>
                </a:solidFill>
              </a:rPr>
              <a:t>Peter </a:t>
            </a:r>
            <a:r>
              <a:rPr lang="en-DK" sz="1100" err="1">
                <a:solidFill>
                  <a:schemeClr val="bg1"/>
                </a:solidFill>
              </a:rPr>
              <a:t>Vadocz</a:t>
            </a:r>
            <a:r>
              <a:rPr lang="en-DK" sz="1100">
                <a:solidFill>
                  <a:schemeClr val="bg1"/>
                </a:solidFill>
              </a:rPr>
              <a:t>, Urban Treasures  EEA</a:t>
            </a:r>
          </a:p>
        </p:txBody>
      </p:sp>
      <p:sp>
        <p:nvSpPr>
          <p:cNvPr id="9" name="Title 1">
            <a:extLst>
              <a:ext uri="{FF2B5EF4-FFF2-40B4-BE49-F238E27FC236}">
                <a16:creationId xmlns:a16="http://schemas.microsoft.com/office/drawing/2014/main" id="{ECD3A61D-A9CB-A641-D773-B3B6B4B7790E}"/>
              </a:ext>
            </a:extLst>
          </p:cNvPr>
          <p:cNvSpPr>
            <a:spLocks noGrp="1"/>
          </p:cNvSpPr>
          <p:nvPr>
            <p:ph type="ctrTitle"/>
          </p:nvPr>
        </p:nvSpPr>
        <p:spPr>
          <a:xfrm>
            <a:off x="6371304" y="809039"/>
            <a:ext cx="6086168" cy="617947"/>
          </a:xfrm>
        </p:spPr>
        <p:txBody>
          <a:bodyPr>
            <a:noAutofit/>
          </a:bodyPr>
          <a:lstStyle/>
          <a:p>
            <a:pPr algn="l"/>
            <a:r>
              <a:rPr lang="en-US" sz="3600">
                <a:solidFill>
                  <a:schemeClr val="accent4"/>
                </a:solidFill>
                <a:latin typeface="+mn-lt"/>
              </a:rPr>
              <a:t>Reporting period</a:t>
            </a:r>
            <a:endParaRPr lang="en-DK" sz="3600">
              <a:solidFill>
                <a:schemeClr val="accent4"/>
              </a:solidFill>
              <a:latin typeface="+mn-lt"/>
            </a:endParaRPr>
          </a:p>
        </p:txBody>
      </p:sp>
      <p:sp>
        <p:nvSpPr>
          <p:cNvPr id="2" name="Oval 1">
            <a:extLst>
              <a:ext uri="{FF2B5EF4-FFF2-40B4-BE49-F238E27FC236}">
                <a16:creationId xmlns:a16="http://schemas.microsoft.com/office/drawing/2014/main" id="{7553B67B-11DD-4CB7-6DBE-B2B93FE750AB}"/>
              </a:ext>
            </a:extLst>
          </p:cNvPr>
          <p:cNvSpPr/>
          <p:nvPr/>
        </p:nvSpPr>
        <p:spPr>
          <a:xfrm>
            <a:off x="4666774" y="458027"/>
            <a:ext cx="1429226" cy="1319973"/>
          </a:xfrm>
          <a:prstGeom prst="ellipse">
            <a:avLst/>
          </a:prstGeom>
          <a:solidFill>
            <a:schemeClr val="bg1"/>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chemeClr val="accent4"/>
                </a:solidFill>
              </a:rPr>
              <a:t>Q1</a:t>
            </a:r>
          </a:p>
          <a:p>
            <a:pPr algn="ctr"/>
            <a:r>
              <a:rPr lang="en-US" sz="2400">
                <a:solidFill>
                  <a:schemeClr val="accent4"/>
                </a:solidFill>
              </a:rPr>
              <a:t>2025</a:t>
            </a:r>
          </a:p>
        </p:txBody>
      </p:sp>
      <p:sp>
        <p:nvSpPr>
          <p:cNvPr id="3" name="Text Placeholder 16">
            <a:extLst>
              <a:ext uri="{FF2B5EF4-FFF2-40B4-BE49-F238E27FC236}">
                <a16:creationId xmlns:a16="http://schemas.microsoft.com/office/drawing/2014/main" id="{155C420A-1888-4450-3A92-CE5409489F9F}"/>
              </a:ext>
            </a:extLst>
          </p:cNvPr>
          <p:cNvSpPr txBox="1">
            <a:spLocks/>
          </p:cNvSpPr>
          <p:nvPr/>
        </p:nvSpPr>
        <p:spPr>
          <a:xfrm>
            <a:off x="4917392" y="2930071"/>
            <a:ext cx="6272979" cy="1875751"/>
          </a:xfrm>
          <a:prstGeom prst="rect">
            <a:avLst/>
          </a:prstGeom>
        </p:spPr>
        <p:txBody>
          <a:bodyPr vert="horz" lIns="91440" tIns="45720" rIns="91440" bIns="45720" rtlCol="0" anchor="ctr"/>
          <a:lstStyle>
            <a:defPPr>
              <a:defRPr lang="en-DK"/>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400" dirty="0">
                <a:solidFill>
                  <a:schemeClr val="tx1"/>
                </a:solidFill>
                <a:ea typeface="Lato Light"/>
                <a:cs typeface="Lato Light"/>
              </a:rPr>
              <a:t>Opening dataflows</a:t>
            </a:r>
          </a:p>
          <a:p>
            <a:pPr algn="l"/>
            <a:r>
              <a:rPr lang="en-US" sz="2400" dirty="0">
                <a:solidFill>
                  <a:schemeClr val="tx1"/>
                </a:solidFill>
                <a:ea typeface="Lato Light"/>
                <a:cs typeface="Lato Light"/>
              </a:rPr>
              <a:t>	Article 17 – open</a:t>
            </a:r>
          </a:p>
          <a:p>
            <a:pPr algn="l"/>
            <a:r>
              <a:rPr lang="en-US" sz="2400" dirty="0">
                <a:solidFill>
                  <a:schemeClr val="tx1"/>
                </a:solidFill>
                <a:ea typeface="Lato Light"/>
                <a:cs typeface="Lato Light"/>
              </a:rPr>
              <a:t>	Article 19 – open</a:t>
            </a:r>
          </a:p>
          <a:p>
            <a:pPr algn="l"/>
            <a:endParaRPr lang="en-US" sz="2400">
              <a:solidFill>
                <a:schemeClr val="tx1"/>
              </a:solidFill>
              <a:ea typeface="Lato Light" panose="020F0502020204030203" pitchFamily="34" charset="0"/>
              <a:cs typeface="Lato Light" panose="020F0502020204030203" pitchFamily="34" charset="0"/>
            </a:endParaRPr>
          </a:p>
          <a:p>
            <a:pPr algn="l"/>
            <a:r>
              <a:rPr lang="en-US" sz="2400" dirty="0">
                <a:solidFill>
                  <a:schemeClr val="tx1"/>
                </a:solidFill>
                <a:ea typeface="Lato Light"/>
                <a:cs typeface="Lato Light"/>
              </a:rPr>
              <a:t>Reporting period until 15 March</a:t>
            </a:r>
          </a:p>
          <a:p>
            <a:pPr algn="l"/>
            <a:r>
              <a:rPr lang="en-US" sz="2400" dirty="0">
                <a:solidFill>
                  <a:schemeClr val="tx1"/>
                </a:solidFill>
                <a:ea typeface="Lato Light"/>
                <a:cs typeface="Lato Light"/>
              </a:rPr>
              <a:t>Training for reporters</a:t>
            </a:r>
          </a:p>
          <a:p>
            <a:pPr algn="l"/>
            <a:r>
              <a:rPr lang="en-US" sz="2400" dirty="0">
                <a:solidFill>
                  <a:schemeClr val="tx1"/>
                </a:solidFill>
                <a:ea typeface="Lato Light"/>
                <a:cs typeface="Lato Light"/>
              </a:rPr>
              <a:t>Country support ongoing </a:t>
            </a:r>
          </a:p>
        </p:txBody>
      </p:sp>
      <p:sp>
        <p:nvSpPr>
          <p:cNvPr id="4" name="Rectangle 3">
            <a:extLst>
              <a:ext uri="{FF2B5EF4-FFF2-40B4-BE49-F238E27FC236}">
                <a16:creationId xmlns:a16="http://schemas.microsoft.com/office/drawing/2014/main" id="{0D73F04B-07DB-E4BC-57A2-565DF6B47E29}"/>
              </a:ext>
            </a:extLst>
          </p:cNvPr>
          <p:cNvSpPr/>
          <p:nvPr/>
        </p:nvSpPr>
        <p:spPr>
          <a:xfrm>
            <a:off x="8616098" y="5601611"/>
            <a:ext cx="2106821" cy="975951"/>
          </a:xfrm>
          <a:prstGeom prst="rect">
            <a:avLst/>
          </a:prstGeom>
          <a:solidFill>
            <a:schemeClr val="accent5">
              <a:lumMod val="7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u="sng"/>
              <a:t>When?</a:t>
            </a:r>
          </a:p>
          <a:p>
            <a:pPr algn="ctr"/>
            <a:r>
              <a:rPr lang="en-GB" b="1"/>
              <a:t>by 15 March</a:t>
            </a:r>
            <a:endParaRPr lang="LID4096" b="1"/>
          </a:p>
        </p:txBody>
      </p:sp>
      <p:pic>
        <p:nvPicPr>
          <p:cNvPr id="8" name="Picture 7" descr="A logo with a black background&#10;&#10;Description automatically generated">
            <a:extLst>
              <a:ext uri="{FF2B5EF4-FFF2-40B4-BE49-F238E27FC236}">
                <a16:creationId xmlns:a16="http://schemas.microsoft.com/office/drawing/2014/main" id="{D277EC46-2FDD-9694-D933-3108FDC14D99}"/>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808146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CC1C2-0F35-250E-2A48-0237D7593A91}"/>
            </a:ext>
          </a:extLst>
        </p:cNvPr>
        <p:cNvGrpSpPr/>
        <p:nvPr/>
      </p:nvGrpSpPr>
      <p:grpSpPr>
        <a:xfrm>
          <a:off x="0" y="0"/>
          <a:ext cx="0" cy="0"/>
          <a:chOff x="0" y="0"/>
          <a:chExt cx="0" cy="0"/>
        </a:xfrm>
      </p:grpSpPr>
      <p:cxnSp>
        <p:nvCxnSpPr>
          <p:cNvPr id="23" name="Straight Arrow Connector 22">
            <a:extLst>
              <a:ext uri="{FF2B5EF4-FFF2-40B4-BE49-F238E27FC236}">
                <a16:creationId xmlns:a16="http://schemas.microsoft.com/office/drawing/2014/main" id="{49847FAE-23B6-8E21-6799-109B927B04B4}"/>
              </a:ext>
            </a:extLst>
          </p:cNvPr>
          <p:cNvCxnSpPr>
            <a:cxnSpLocks/>
            <a:stCxn id="8" idx="3"/>
            <a:endCxn id="11" idx="1"/>
          </p:cNvCxnSpPr>
          <p:nvPr/>
        </p:nvCxnSpPr>
        <p:spPr>
          <a:xfrm>
            <a:off x="4018935" y="3114146"/>
            <a:ext cx="4161504" cy="0"/>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EF5E487-7E6E-DF6F-36A8-37965562476E}"/>
              </a:ext>
            </a:extLst>
          </p:cNvPr>
          <p:cNvSpPr txBox="1"/>
          <p:nvPr/>
        </p:nvSpPr>
        <p:spPr>
          <a:xfrm>
            <a:off x="1789886" y="204438"/>
            <a:ext cx="10302034" cy="1077218"/>
          </a:xfrm>
          <a:prstGeom prst="rect">
            <a:avLst/>
          </a:prstGeom>
          <a:noFill/>
        </p:spPr>
        <p:txBody>
          <a:bodyPr wrap="square" lIns="91440" tIns="45720" rIns="91440" bIns="45720" rtlCol="0" anchor="t">
            <a:spAutoFit/>
          </a:bodyPr>
          <a:lstStyle/>
          <a:p>
            <a:pPr>
              <a:defRPr/>
            </a:pPr>
            <a:r>
              <a:rPr kumimoji="0" lang="en-GB" sz="3200" i="0" u="none" strike="noStrike" kern="1200" cap="none" spc="0" normalizeH="0" baseline="0" noProof="0">
                <a:ln>
                  <a:noFill/>
                </a:ln>
                <a:solidFill>
                  <a:schemeClr val="accent5">
                    <a:lumMod val="75000"/>
                  </a:schemeClr>
                </a:solidFill>
                <a:effectLst/>
                <a:uLnTx/>
                <a:uFillTx/>
              </a:rPr>
              <a:t>Post-submission Quality Assurance and Quality Control</a:t>
            </a:r>
          </a:p>
          <a:p>
            <a:pPr>
              <a:defRPr/>
            </a:pPr>
            <a:r>
              <a:rPr lang="en-GB" sz="3200">
                <a:solidFill>
                  <a:schemeClr val="accent5">
                    <a:lumMod val="75000"/>
                  </a:schemeClr>
                </a:solidFill>
              </a:rPr>
              <a:t>Voluntary feedback</a:t>
            </a:r>
            <a:endParaRPr kumimoji="0" lang="en-DK" sz="3200" i="0" u="none" strike="noStrike" kern="1200" cap="none" spc="0" normalizeH="0" baseline="0" noProof="0">
              <a:ln>
                <a:noFill/>
              </a:ln>
              <a:solidFill>
                <a:schemeClr val="accent5">
                  <a:lumMod val="75000"/>
                </a:schemeClr>
              </a:solidFill>
              <a:effectLst/>
              <a:uLnTx/>
              <a:uFillTx/>
            </a:endParaRPr>
          </a:p>
        </p:txBody>
      </p:sp>
      <p:sp>
        <p:nvSpPr>
          <p:cNvPr id="4" name="Rectangle 3">
            <a:extLst>
              <a:ext uri="{FF2B5EF4-FFF2-40B4-BE49-F238E27FC236}">
                <a16:creationId xmlns:a16="http://schemas.microsoft.com/office/drawing/2014/main" id="{B2441A78-F2EE-E117-6E97-ED80F8566277}"/>
              </a:ext>
            </a:extLst>
          </p:cNvPr>
          <p:cNvSpPr/>
          <p:nvPr/>
        </p:nvSpPr>
        <p:spPr>
          <a:xfrm>
            <a:off x="1598067" y="1383224"/>
            <a:ext cx="8995866" cy="698314"/>
          </a:xfrm>
          <a:prstGeom prst="rect">
            <a:avLst/>
          </a:prstGeom>
          <a:solidFill>
            <a:srgbClr val="0080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Quality Assurance and Quality Control (QAQC)</a:t>
            </a:r>
            <a:endParaRPr lang="LID4096"/>
          </a:p>
        </p:txBody>
      </p:sp>
      <p:sp>
        <p:nvSpPr>
          <p:cNvPr id="7" name="Rectangle 6">
            <a:extLst>
              <a:ext uri="{FF2B5EF4-FFF2-40B4-BE49-F238E27FC236}">
                <a16:creationId xmlns:a16="http://schemas.microsoft.com/office/drawing/2014/main" id="{06F65B4B-3F32-A0FD-593D-B76005CA69C6}"/>
              </a:ext>
            </a:extLst>
          </p:cNvPr>
          <p:cNvSpPr/>
          <p:nvPr/>
        </p:nvSpPr>
        <p:spPr>
          <a:xfrm>
            <a:off x="1598067" y="2081538"/>
            <a:ext cx="8995866" cy="492056"/>
          </a:xfrm>
          <a:prstGeom prst="rect">
            <a:avLst/>
          </a:prstGeom>
          <a:solidFill>
            <a:srgbClr val="33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EEA in cooperation with European Topic Centre on Climate Change Adaptation and LULUCF</a:t>
            </a:r>
            <a:endParaRPr lang="LID4096"/>
          </a:p>
        </p:txBody>
      </p:sp>
      <p:sp>
        <p:nvSpPr>
          <p:cNvPr id="8" name="Rectangle 7">
            <a:extLst>
              <a:ext uri="{FF2B5EF4-FFF2-40B4-BE49-F238E27FC236}">
                <a16:creationId xmlns:a16="http://schemas.microsoft.com/office/drawing/2014/main" id="{E204C33A-645C-3967-442C-F4D96D00FBEE}"/>
              </a:ext>
            </a:extLst>
          </p:cNvPr>
          <p:cNvSpPr/>
          <p:nvPr/>
        </p:nvSpPr>
        <p:spPr>
          <a:xfrm>
            <a:off x="1605441" y="2799517"/>
            <a:ext cx="2413494" cy="62925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Review submissions</a:t>
            </a:r>
            <a:endParaRPr lang="LID4096"/>
          </a:p>
        </p:txBody>
      </p:sp>
      <p:sp>
        <p:nvSpPr>
          <p:cNvPr id="9" name="Rectangle 8">
            <a:extLst>
              <a:ext uri="{FF2B5EF4-FFF2-40B4-BE49-F238E27FC236}">
                <a16:creationId xmlns:a16="http://schemas.microsoft.com/office/drawing/2014/main" id="{A1E73AE0-FE2D-7E1B-1613-CDFFB1E5476E}"/>
              </a:ext>
            </a:extLst>
          </p:cNvPr>
          <p:cNvSpPr/>
          <p:nvPr/>
        </p:nvSpPr>
        <p:spPr>
          <a:xfrm>
            <a:off x="4889253" y="2799517"/>
            <a:ext cx="2413494" cy="629258"/>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Check for likely errors in data quality</a:t>
            </a:r>
            <a:endParaRPr lang="LID4096"/>
          </a:p>
        </p:txBody>
      </p:sp>
      <p:sp>
        <p:nvSpPr>
          <p:cNvPr id="11" name="Rectangle 10">
            <a:extLst>
              <a:ext uri="{FF2B5EF4-FFF2-40B4-BE49-F238E27FC236}">
                <a16:creationId xmlns:a16="http://schemas.microsoft.com/office/drawing/2014/main" id="{4769019A-174A-1DDC-F8BF-360825C1FC97}"/>
              </a:ext>
            </a:extLst>
          </p:cNvPr>
          <p:cNvSpPr/>
          <p:nvPr/>
        </p:nvSpPr>
        <p:spPr>
          <a:xfrm>
            <a:off x="8180439" y="2799517"/>
            <a:ext cx="2413494" cy="62925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dirty="0"/>
              <a:t>Communicate with Contracting Parties</a:t>
            </a:r>
            <a:endParaRPr lang="LID4096" dirty="0"/>
          </a:p>
        </p:txBody>
      </p:sp>
      <p:sp>
        <p:nvSpPr>
          <p:cNvPr id="12" name="Rectangle 11">
            <a:extLst>
              <a:ext uri="{FF2B5EF4-FFF2-40B4-BE49-F238E27FC236}">
                <a16:creationId xmlns:a16="http://schemas.microsoft.com/office/drawing/2014/main" id="{A37613B4-2D78-6FB3-0134-C303843290D1}"/>
              </a:ext>
            </a:extLst>
          </p:cNvPr>
          <p:cNvSpPr/>
          <p:nvPr/>
        </p:nvSpPr>
        <p:spPr>
          <a:xfrm>
            <a:off x="1597992" y="3871133"/>
            <a:ext cx="547824" cy="257135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r>
              <a:rPr lang="en-GB" b="1"/>
              <a:t>T</a:t>
            </a:r>
          </a:p>
          <a:p>
            <a:pPr algn="ctr">
              <a:lnSpc>
                <a:spcPct val="150000"/>
              </a:lnSpc>
            </a:pPr>
            <a:r>
              <a:rPr lang="en-GB" b="1"/>
              <a:t>T</a:t>
            </a:r>
          </a:p>
          <a:p>
            <a:pPr algn="ctr">
              <a:lnSpc>
                <a:spcPct val="150000"/>
              </a:lnSpc>
            </a:pPr>
            <a:r>
              <a:rPr lang="en-GB" b="1"/>
              <a:t>A</a:t>
            </a:r>
          </a:p>
          <a:p>
            <a:pPr algn="ctr">
              <a:lnSpc>
                <a:spcPct val="150000"/>
              </a:lnSpc>
            </a:pPr>
            <a:r>
              <a:rPr lang="en-GB" b="1"/>
              <a:t>C</a:t>
            </a:r>
          </a:p>
          <a:p>
            <a:pPr algn="ctr">
              <a:lnSpc>
                <a:spcPct val="150000"/>
              </a:lnSpc>
            </a:pPr>
            <a:r>
              <a:rPr lang="en-GB" b="1"/>
              <a:t>C</a:t>
            </a:r>
          </a:p>
          <a:p>
            <a:pPr algn="ctr">
              <a:lnSpc>
                <a:spcPct val="150000"/>
              </a:lnSpc>
            </a:pPr>
            <a:r>
              <a:rPr lang="en-GB" b="1"/>
              <a:t>C</a:t>
            </a:r>
            <a:endParaRPr lang="LID4096"/>
          </a:p>
        </p:txBody>
      </p:sp>
      <p:sp>
        <p:nvSpPr>
          <p:cNvPr id="13" name="Rectangle 12">
            <a:extLst>
              <a:ext uri="{FF2B5EF4-FFF2-40B4-BE49-F238E27FC236}">
                <a16:creationId xmlns:a16="http://schemas.microsoft.com/office/drawing/2014/main" id="{11FCCFA0-AE84-BD0F-281C-1845513FA271}"/>
              </a:ext>
            </a:extLst>
          </p:cNvPr>
          <p:cNvSpPr/>
          <p:nvPr/>
        </p:nvSpPr>
        <p:spPr>
          <a:xfrm>
            <a:off x="2237163" y="3962180"/>
            <a:ext cx="1921882" cy="32222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Timeliness</a:t>
            </a:r>
            <a:endParaRPr lang="LID4096"/>
          </a:p>
        </p:txBody>
      </p:sp>
      <p:sp>
        <p:nvSpPr>
          <p:cNvPr id="14" name="Rectangle 13">
            <a:extLst>
              <a:ext uri="{FF2B5EF4-FFF2-40B4-BE49-F238E27FC236}">
                <a16:creationId xmlns:a16="http://schemas.microsoft.com/office/drawing/2014/main" id="{D2634BEB-5444-B173-EC8B-F5CA9E45B8CA}"/>
              </a:ext>
            </a:extLst>
          </p:cNvPr>
          <p:cNvSpPr/>
          <p:nvPr/>
        </p:nvSpPr>
        <p:spPr>
          <a:xfrm>
            <a:off x="2237163" y="4416922"/>
            <a:ext cx="1921882" cy="32222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Transparency</a:t>
            </a:r>
            <a:endParaRPr lang="LID4096"/>
          </a:p>
        </p:txBody>
      </p:sp>
      <p:sp>
        <p:nvSpPr>
          <p:cNvPr id="15" name="Rectangle 14">
            <a:extLst>
              <a:ext uri="{FF2B5EF4-FFF2-40B4-BE49-F238E27FC236}">
                <a16:creationId xmlns:a16="http://schemas.microsoft.com/office/drawing/2014/main" id="{CE205C14-9B2A-F725-9D13-554B61D106D0}"/>
              </a:ext>
            </a:extLst>
          </p:cNvPr>
          <p:cNvSpPr/>
          <p:nvPr/>
        </p:nvSpPr>
        <p:spPr>
          <a:xfrm>
            <a:off x="2237163" y="4832109"/>
            <a:ext cx="1921882" cy="32222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Accuracy</a:t>
            </a:r>
            <a:endParaRPr lang="LID4096"/>
          </a:p>
        </p:txBody>
      </p:sp>
      <p:sp>
        <p:nvSpPr>
          <p:cNvPr id="16" name="Rectangle 15">
            <a:extLst>
              <a:ext uri="{FF2B5EF4-FFF2-40B4-BE49-F238E27FC236}">
                <a16:creationId xmlns:a16="http://schemas.microsoft.com/office/drawing/2014/main" id="{BD4B785F-1956-E316-FC28-C5C3DA0B7B08}"/>
              </a:ext>
            </a:extLst>
          </p:cNvPr>
          <p:cNvSpPr/>
          <p:nvPr/>
        </p:nvSpPr>
        <p:spPr>
          <a:xfrm>
            <a:off x="2237163" y="5239922"/>
            <a:ext cx="1921882" cy="32222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Completeness</a:t>
            </a:r>
            <a:endParaRPr lang="LID4096"/>
          </a:p>
        </p:txBody>
      </p:sp>
      <p:sp>
        <p:nvSpPr>
          <p:cNvPr id="17" name="Rectangle 16">
            <a:extLst>
              <a:ext uri="{FF2B5EF4-FFF2-40B4-BE49-F238E27FC236}">
                <a16:creationId xmlns:a16="http://schemas.microsoft.com/office/drawing/2014/main" id="{7B43223D-08F7-52EE-4649-C270C85E4D94}"/>
              </a:ext>
            </a:extLst>
          </p:cNvPr>
          <p:cNvSpPr/>
          <p:nvPr/>
        </p:nvSpPr>
        <p:spPr>
          <a:xfrm>
            <a:off x="2237163" y="5653108"/>
            <a:ext cx="1921882" cy="32222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Consistency</a:t>
            </a:r>
            <a:endParaRPr lang="LID4096"/>
          </a:p>
        </p:txBody>
      </p:sp>
      <p:sp>
        <p:nvSpPr>
          <p:cNvPr id="19" name="Rectangle 18">
            <a:extLst>
              <a:ext uri="{FF2B5EF4-FFF2-40B4-BE49-F238E27FC236}">
                <a16:creationId xmlns:a16="http://schemas.microsoft.com/office/drawing/2014/main" id="{B4EE62B8-DC12-DC79-1922-59FF7ED46789}"/>
              </a:ext>
            </a:extLst>
          </p:cNvPr>
          <p:cNvSpPr/>
          <p:nvPr/>
        </p:nvSpPr>
        <p:spPr>
          <a:xfrm>
            <a:off x="2237163" y="6058920"/>
            <a:ext cx="1921882" cy="32222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t>Coherence</a:t>
            </a:r>
            <a:endParaRPr lang="LID4096"/>
          </a:p>
        </p:txBody>
      </p:sp>
      <p:sp>
        <p:nvSpPr>
          <p:cNvPr id="20" name="Rectangle 19">
            <a:extLst>
              <a:ext uri="{FF2B5EF4-FFF2-40B4-BE49-F238E27FC236}">
                <a16:creationId xmlns:a16="http://schemas.microsoft.com/office/drawing/2014/main" id="{7E1BA444-5621-12E6-3F9B-141C7D2E7331}"/>
              </a:ext>
            </a:extLst>
          </p:cNvPr>
          <p:cNvSpPr/>
          <p:nvPr/>
        </p:nvSpPr>
        <p:spPr>
          <a:xfrm>
            <a:off x="8180439" y="3921007"/>
            <a:ext cx="2413494" cy="77394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dirty="0"/>
              <a:t>Contracting Parties to update submission</a:t>
            </a:r>
            <a:endParaRPr lang="LID4096" dirty="0"/>
          </a:p>
        </p:txBody>
      </p:sp>
      <p:cxnSp>
        <p:nvCxnSpPr>
          <p:cNvPr id="22" name="Straight Arrow Connector 21">
            <a:extLst>
              <a:ext uri="{FF2B5EF4-FFF2-40B4-BE49-F238E27FC236}">
                <a16:creationId xmlns:a16="http://schemas.microsoft.com/office/drawing/2014/main" id="{A2B61289-DB96-7541-CA93-852F8B4D86E2}"/>
              </a:ext>
            </a:extLst>
          </p:cNvPr>
          <p:cNvCxnSpPr>
            <a:stCxn id="11" idx="2"/>
            <a:endCxn id="20" idx="0"/>
          </p:cNvCxnSpPr>
          <p:nvPr/>
        </p:nvCxnSpPr>
        <p:spPr>
          <a:xfrm>
            <a:off x="9387186" y="3428775"/>
            <a:ext cx="0" cy="492232"/>
          </a:xfrm>
          <a:prstGeom prst="straightConnector1">
            <a:avLst/>
          </a:prstGeom>
          <a:ln>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8D8C0F8-00EF-0B63-4433-44343FCECF4D}"/>
              </a:ext>
            </a:extLst>
          </p:cNvPr>
          <p:cNvSpPr/>
          <p:nvPr/>
        </p:nvSpPr>
        <p:spPr>
          <a:xfrm>
            <a:off x="8616098" y="5653108"/>
            <a:ext cx="2106821" cy="975951"/>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u="sng"/>
              <a:t>When?</a:t>
            </a:r>
          </a:p>
          <a:p>
            <a:pPr algn="ctr"/>
            <a:r>
              <a:rPr lang="en-GB" b="1"/>
              <a:t>15 March – 31 May</a:t>
            </a:r>
            <a:endParaRPr lang="LID4096" b="1"/>
          </a:p>
        </p:txBody>
      </p:sp>
      <p:pic>
        <p:nvPicPr>
          <p:cNvPr id="28" name="Graphic 27" descr="Open envelope with solid fill">
            <a:extLst>
              <a:ext uri="{FF2B5EF4-FFF2-40B4-BE49-F238E27FC236}">
                <a16:creationId xmlns:a16="http://schemas.microsoft.com/office/drawing/2014/main" id="{9CBC0CB9-D795-D112-52D6-EFAFC316DA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56701" y="4385284"/>
            <a:ext cx="629258" cy="629258"/>
          </a:xfrm>
          <a:prstGeom prst="rect">
            <a:avLst/>
          </a:prstGeom>
        </p:spPr>
      </p:pic>
      <p:pic>
        <p:nvPicPr>
          <p:cNvPr id="30" name="Graphic 29" descr="Chat bubble with solid fill">
            <a:extLst>
              <a:ext uri="{FF2B5EF4-FFF2-40B4-BE49-F238E27FC236}">
                <a16:creationId xmlns:a16="http://schemas.microsoft.com/office/drawing/2014/main" id="{4A0F34AC-8BDD-DC1A-72ED-D8B5A57C914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56701" y="3224294"/>
            <a:ext cx="629258" cy="629258"/>
          </a:xfrm>
          <a:prstGeom prst="rect">
            <a:avLst/>
          </a:prstGeom>
        </p:spPr>
      </p:pic>
      <p:pic>
        <p:nvPicPr>
          <p:cNvPr id="32" name="Graphic 31" descr="Magnifying glass with solid fill">
            <a:extLst>
              <a:ext uri="{FF2B5EF4-FFF2-40B4-BE49-F238E27FC236}">
                <a16:creationId xmlns:a16="http://schemas.microsoft.com/office/drawing/2014/main" id="{AFA247BB-5FFC-7BC8-DBB2-D5F48EAAB46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844416" y="3129785"/>
            <a:ext cx="629258" cy="629258"/>
          </a:xfrm>
          <a:prstGeom prst="rect">
            <a:avLst/>
          </a:prstGeom>
        </p:spPr>
      </p:pic>
      <p:pic>
        <p:nvPicPr>
          <p:cNvPr id="34" name="Graphic 33" descr="Warning with solid fill">
            <a:extLst>
              <a:ext uri="{FF2B5EF4-FFF2-40B4-BE49-F238E27FC236}">
                <a16:creationId xmlns:a16="http://schemas.microsoft.com/office/drawing/2014/main" id="{8AB7FF5A-4902-EBF2-F6D3-D0B73943FEB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232046" y="3129785"/>
            <a:ext cx="629258" cy="629258"/>
          </a:xfrm>
          <a:prstGeom prst="rect">
            <a:avLst/>
          </a:prstGeom>
        </p:spPr>
      </p:pic>
      <p:pic>
        <p:nvPicPr>
          <p:cNvPr id="3" name="Picture 2" descr="A logo with a black background&#10;&#10;Description automatically generated">
            <a:extLst>
              <a:ext uri="{FF2B5EF4-FFF2-40B4-BE49-F238E27FC236}">
                <a16:creationId xmlns:a16="http://schemas.microsoft.com/office/drawing/2014/main" id="{09255AEE-379C-47FA-BD3C-6712E88ADECF}"/>
              </a:ext>
            </a:extLst>
          </p:cNvPr>
          <p:cNvPicPr>
            <a:picLocks noChangeAspect="1"/>
          </p:cNvPicPr>
          <p:nvPr/>
        </p:nvPicPr>
        <p:blipFill rotWithShape="1">
          <a:blip r:embed="rId11">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
        <p:nvSpPr>
          <p:cNvPr id="5" name="Oval 4">
            <a:extLst>
              <a:ext uri="{FF2B5EF4-FFF2-40B4-BE49-F238E27FC236}">
                <a16:creationId xmlns:a16="http://schemas.microsoft.com/office/drawing/2014/main" id="{B8D4FA40-1A36-93C3-2AB3-4BD07924540A}"/>
              </a:ext>
            </a:extLst>
          </p:cNvPr>
          <p:cNvSpPr/>
          <p:nvPr/>
        </p:nvSpPr>
        <p:spPr>
          <a:xfrm>
            <a:off x="149511" y="208930"/>
            <a:ext cx="1429226" cy="1319972"/>
          </a:xfrm>
          <a:prstGeom prst="ellipse">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chemeClr val="accent5"/>
                </a:solidFill>
              </a:rPr>
              <a:t>Q2</a:t>
            </a:r>
          </a:p>
          <a:p>
            <a:pPr algn="ctr"/>
            <a:r>
              <a:rPr lang="en-US" sz="2400">
                <a:solidFill>
                  <a:schemeClr val="accent5"/>
                </a:solidFill>
              </a:rPr>
              <a:t>2025</a:t>
            </a:r>
          </a:p>
        </p:txBody>
      </p:sp>
    </p:spTree>
    <p:extLst>
      <p:ext uri="{BB962C8B-B14F-4D97-AF65-F5344CB8AC3E}">
        <p14:creationId xmlns:p14="http://schemas.microsoft.com/office/powerpoint/2010/main" val="6257164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1B34F-C338-A3CF-AF22-E64447731BDB}"/>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7D691CCE-BA4A-DAB9-5014-50D93AB7C423}"/>
              </a:ext>
            </a:extLst>
          </p:cNvPr>
          <p:cNvSpPr>
            <a:spLocks/>
          </p:cNvSpPr>
          <p:nvPr/>
        </p:nvSpPr>
        <p:spPr bwMode="auto">
          <a:xfrm>
            <a:off x="1877388" y="661752"/>
            <a:ext cx="11623386" cy="676111"/>
          </a:xfrm>
          <a:prstGeom prst="rect">
            <a:avLst/>
          </a:prstGeom>
        </p:spPr>
        <p:txBody>
          <a:bodyPr/>
          <a:lstStyle>
            <a:lvl1pPr marL="422051" indent="-422051" algn="l" defTabSz="1125472">
              <a:spcBef>
                <a:spcPts val="0"/>
              </a:spcBef>
              <a:buFont typeface="Arial"/>
              <a:buChar char="•"/>
              <a:defRPr sz="3950">
                <a:solidFill>
                  <a:schemeClr val="tx1"/>
                </a:solidFill>
                <a:latin typeface="+mn-lt"/>
                <a:ea typeface="+mn-ea"/>
                <a:cs typeface="+mn-cs"/>
              </a:defRPr>
            </a:lvl1pPr>
            <a:lvl2pPr marL="914446" indent="-351710" algn="l" defTabSz="1125472">
              <a:spcBef>
                <a:spcPts val="0"/>
              </a:spcBef>
              <a:buFont typeface="Arial"/>
              <a:buChar char="–"/>
              <a:defRPr sz="3450">
                <a:solidFill>
                  <a:schemeClr val="tx1"/>
                </a:solidFill>
                <a:latin typeface="+mn-lt"/>
                <a:ea typeface="+mn-ea"/>
                <a:cs typeface="+mn-cs"/>
              </a:defRPr>
            </a:lvl2pPr>
            <a:lvl3pPr marL="1406839" indent="-281368" algn="l" defTabSz="1125472">
              <a:spcBef>
                <a:spcPts val="0"/>
              </a:spcBef>
              <a:buFont typeface="Arial"/>
              <a:buChar char="•"/>
              <a:defRPr sz="2950">
                <a:solidFill>
                  <a:schemeClr val="tx1"/>
                </a:solidFill>
                <a:latin typeface="+mn-lt"/>
                <a:ea typeface="+mn-ea"/>
                <a:cs typeface="+mn-cs"/>
              </a:defRPr>
            </a:lvl3pPr>
            <a:lvl4pPr marL="1969575" indent="-281368" algn="l" defTabSz="1125472">
              <a:spcBef>
                <a:spcPts val="0"/>
              </a:spcBef>
              <a:buFont typeface="Arial"/>
              <a:buChar char="–"/>
              <a:defRPr sz="2450">
                <a:solidFill>
                  <a:schemeClr val="tx1"/>
                </a:solidFill>
                <a:latin typeface="+mn-lt"/>
                <a:ea typeface="+mn-ea"/>
                <a:cs typeface="+mn-cs"/>
              </a:defRPr>
            </a:lvl4pPr>
            <a:lvl5pPr marL="2532312" indent="-281368" algn="l" defTabSz="1125472">
              <a:spcBef>
                <a:spcPts val="0"/>
              </a:spcBef>
              <a:buFont typeface="Arial"/>
              <a:buChar char="»"/>
              <a:defRPr sz="2450">
                <a:solidFill>
                  <a:schemeClr val="tx1"/>
                </a:solidFill>
                <a:latin typeface="+mn-lt"/>
                <a:ea typeface="+mn-ea"/>
                <a:cs typeface="+mn-cs"/>
              </a:defRPr>
            </a:lvl5pPr>
            <a:lvl6pPr marL="3095047" indent="-281368" algn="l" defTabSz="1125472">
              <a:spcBef>
                <a:spcPts val="0"/>
              </a:spcBef>
              <a:buFont typeface="Arial"/>
              <a:buChar char="•"/>
              <a:defRPr sz="2450">
                <a:solidFill>
                  <a:schemeClr val="tx1"/>
                </a:solidFill>
                <a:latin typeface="+mn-lt"/>
                <a:ea typeface="+mn-ea"/>
                <a:cs typeface="+mn-cs"/>
              </a:defRPr>
            </a:lvl6pPr>
            <a:lvl7pPr marL="3657783" indent="-281368" algn="l" defTabSz="1125472">
              <a:spcBef>
                <a:spcPts val="0"/>
              </a:spcBef>
              <a:buFont typeface="Arial"/>
              <a:buChar char="•"/>
              <a:defRPr sz="2450">
                <a:solidFill>
                  <a:schemeClr val="tx1"/>
                </a:solidFill>
                <a:latin typeface="+mn-lt"/>
                <a:ea typeface="+mn-ea"/>
                <a:cs typeface="+mn-cs"/>
              </a:defRPr>
            </a:lvl7pPr>
            <a:lvl8pPr marL="4220519" indent="-281368" algn="l" defTabSz="1125472">
              <a:spcBef>
                <a:spcPts val="0"/>
              </a:spcBef>
              <a:buFont typeface="Arial"/>
              <a:buChar char="•"/>
              <a:defRPr sz="2450">
                <a:solidFill>
                  <a:schemeClr val="tx1"/>
                </a:solidFill>
                <a:latin typeface="+mn-lt"/>
                <a:ea typeface="+mn-ea"/>
                <a:cs typeface="+mn-cs"/>
              </a:defRPr>
            </a:lvl8pPr>
            <a:lvl9pPr marL="4783254" indent="-281368" algn="l" defTabSz="1125472">
              <a:spcBef>
                <a:spcPts val="0"/>
              </a:spcBef>
              <a:buFont typeface="Arial"/>
              <a:buChar char="•"/>
              <a:defRPr sz="2450">
                <a:solidFill>
                  <a:schemeClr val="tx1"/>
                </a:solidFill>
                <a:latin typeface="+mn-lt"/>
                <a:ea typeface="+mn-ea"/>
                <a:cs typeface="+mn-cs"/>
              </a:defRPr>
            </a:lvl9pPr>
          </a:lstStyle>
          <a:p>
            <a:pPr marL="0" indent="0">
              <a:buNone/>
              <a:defRPr/>
            </a:pPr>
            <a:r>
              <a:rPr lang="en-US" sz="3200">
                <a:solidFill>
                  <a:schemeClr val="accent5">
                    <a:lumMod val="75000"/>
                  </a:schemeClr>
                </a:solidFill>
                <a:latin typeface="+mj-lt"/>
                <a:cs typeface="Times New Roman" panose="02020603050405020304" pitchFamily="18" charset="0"/>
              </a:rPr>
              <a:t>Processing data</a:t>
            </a:r>
            <a:endParaRPr sz="3200">
              <a:solidFill>
                <a:schemeClr val="accent5">
                  <a:lumMod val="75000"/>
                </a:schemeClr>
              </a:solidFill>
              <a:latin typeface="+mj-lt"/>
              <a:cs typeface="Times New Roman" panose="02020603050405020304" pitchFamily="18" charset="0"/>
            </a:endParaRPr>
          </a:p>
        </p:txBody>
      </p:sp>
      <p:pic>
        <p:nvPicPr>
          <p:cNvPr id="4" name="Picture 3">
            <a:extLst>
              <a:ext uri="{FF2B5EF4-FFF2-40B4-BE49-F238E27FC236}">
                <a16:creationId xmlns:a16="http://schemas.microsoft.com/office/drawing/2014/main" id="{65BC79BA-DFC2-91BE-4CB6-9519C30091EE}"/>
              </a:ext>
            </a:extLst>
          </p:cNvPr>
          <p:cNvPicPr>
            <a:picLocks noChangeAspect="1"/>
          </p:cNvPicPr>
          <p:nvPr/>
        </p:nvPicPr>
        <p:blipFill>
          <a:blip r:embed="rId3"/>
          <a:stretch/>
        </p:blipFill>
        <p:spPr bwMode="auto">
          <a:xfrm>
            <a:off x="49990" y="2817494"/>
            <a:ext cx="943107" cy="1467055"/>
          </a:xfrm>
          <a:prstGeom prst="rect">
            <a:avLst/>
          </a:prstGeom>
        </p:spPr>
      </p:pic>
      <p:pic>
        <p:nvPicPr>
          <p:cNvPr id="5" name="Picture 7" descr="A picture containing indoor&#10;&#10;Description automatically generated">
            <a:extLst>
              <a:ext uri="{FF2B5EF4-FFF2-40B4-BE49-F238E27FC236}">
                <a16:creationId xmlns:a16="http://schemas.microsoft.com/office/drawing/2014/main" id="{D5D6CC3D-135E-26AF-64A0-E6388379133D}"/>
              </a:ext>
            </a:extLst>
          </p:cNvPr>
          <p:cNvPicPr>
            <a:picLocks noChangeAspect="1"/>
          </p:cNvPicPr>
          <p:nvPr/>
        </p:nvPicPr>
        <p:blipFill>
          <a:blip r:embed="rId4"/>
          <a:stretch/>
        </p:blipFill>
        <p:spPr bwMode="auto">
          <a:xfrm>
            <a:off x="1943455" y="2696798"/>
            <a:ext cx="1118587" cy="1350407"/>
          </a:xfrm>
          <a:prstGeom prst="rect">
            <a:avLst/>
          </a:prstGeom>
        </p:spPr>
      </p:pic>
      <p:sp>
        <p:nvSpPr>
          <p:cNvPr id="6" name="Flowchart: Multidocument 10">
            <a:extLst>
              <a:ext uri="{FF2B5EF4-FFF2-40B4-BE49-F238E27FC236}">
                <a16:creationId xmlns:a16="http://schemas.microsoft.com/office/drawing/2014/main" id="{193EB474-8799-6D13-A410-5FD751F56646}"/>
              </a:ext>
            </a:extLst>
          </p:cNvPr>
          <p:cNvSpPr/>
          <p:nvPr/>
        </p:nvSpPr>
        <p:spPr bwMode="auto">
          <a:xfrm>
            <a:off x="3177539" y="2472546"/>
            <a:ext cx="1580225" cy="1713390"/>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9" name="TextBox 14">
            <a:extLst>
              <a:ext uri="{FF2B5EF4-FFF2-40B4-BE49-F238E27FC236}">
                <a16:creationId xmlns:a16="http://schemas.microsoft.com/office/drawing/2014/main" id="{0C8E38F9-3157-5C61-649E-AC63665E4438}"/>
              </a:ext>
            </a:extLst>
          </p:cNvPr>
          <p:cNvSpPr>
            <a:spLocks/>
          </p:cNvSpPr>
          <p:nvPr/>
        </p:nvSpPr>
        <p:spPr bwMode="auto">
          <a:xfrm>
            <a:off x="1943455" y="4515815"/>
            <a:ext cx="3095639" cy="1477328"/>
          </a:xfrm>
          <a:prstGeom prst="rect">
            <a:avLst/>
          </a:prstGeom>
          <a:noFill/>
        </p:spPr>
        <p:txBody>
          <a:bodyPr wrap="square" rtlCol="0">
            <a:spAutoFit/>
          </a:bodyPr>
          <a:lstStyle/>
          <a:p>
            <a:pPr algn="ctr">
              <a:defRPr/>
            </a:pPr>
            <a:r>
              <a:rPr lang="da-DK"/>
              <a:t>S</a:t>
            </a:r>
            <a:r>
              <a:rPr err="1"/>
              <a:t>tored</a:t>
            </a:r>
            <a:r>
              <a:t> in a </a:t>
            </a:r>
            <a:r>
              <a:rPr lang="en-US"/>
              <a:t>database</a:t>
            </a:r>
            <a:r>
              <a:t> ~immediately</a:t>
            </a:r>
            <a:endParaRPr lang="en-GB"/>
          </a:p>
          <a:p>
            <a:pPr algn="ctr">
              <a:defRPr/>
            </a:pPr>
            <a:endParaRPr lang="en-GB"/>
          </a:p>
          <a:p>
            <a:pPr algn="ctr">
              <a:defRPr/>
            </a:pPr>
            <a:r>
              <a:rPr lang="en-GB"/>
              <a:t>Data processing and harvesting</a:t>
            </a:r>
            <a:endParaRPr/>
          </a:p>
        </p:txBody>
      </p:sp>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088A977E-305B-DA71-5138-AB661996D6E3}"/>
                  </a:ext>
                </a:extLst>
              </p14:cNvPr>
              <p14:cNvContentPartPr/>
              <p14:nvPr/>
            </p14:nvContentPartPr>
            <p14:xfrm>
              <a:off x="1059655" y="3131781"/>
              <a:ext cx="605880" cy="160200"/>
            </p14:xfrm>
          </p:contentPart>
        </mc:Choice>
        <mc:Fallback xmlns="">
          <p:pic>
            <p:nvPicPr>
              <p:cNvPr id="18" name="Ink 17">
                <a:extLst>
                  <a:ext uri="{FF2B5EF4-FFF2-40B4-BE49-F238E27FC236}">
                    <a16:creationId xmlns:a16="http://schemas.microsoft.com/office/drawing/2014/main" id="{088A977E-305B-DA71-5138-AB661996D6E3}"/>
                  </a:ext>
                </a:extLst>
              </p:cNvPr>
              <p:cNvPicPr/>
              <p:nvPr/>
            </p:nvPicPr>
            <p:blipFill>
              <a:blip r:embed="rId6"/>
              <a:stretch>
                <a:fillRect/>
              </a:stretch>
            </p:blipFill>
            <p:spPr>
              <a:xfrm>
                <a:off x="1041655" y="3095700"/>
                <a:ext cx="641520" cy="23200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BD673FAD-41E8-32D4-17CC-C080267DBF2C}"/>
                  </a:ext>
                </a:extLst>
              </p14:cNvPr>
              <p14:cNvContentPartPr/>
              <p14:nvPr/>
            </p14:nvContentPartPr>
            <p14:xfrm>
              <a:off x="1377175" y="3258501"/>
              <a:ext cx="248760" cy="208440"/>
            </p14:xfrm>
          </p:contentPart>
        </mc:Choice>
        <mc:Fallback xmlns="">
          <p:pic>
            <p:nvPicPr>
              <p:cNvPr id="19" name="Ink 18">
                <a:extLst>
                  <a:ext uri="{FF2B5EF4-FFF2-40B4-BE49-F238E27FC236}">
                    <a16:creationId xmlns:a16="http://schemas.microsoft.com/office/drawing/2014/main" id="{BD673FAD-41E8-32D4-17CC-C080267DBF2C}"/>
                  </a:ext>
                </a:extLst>
              </p:cNvPr>
              <p:cNvPicPr/>
              <p:nvPr/>
            </p:nvPicPr>
            <p:blipFill>
              <a:blip r:embed="rId8"/>
              <a:stretch>
                <a:fillRect/>
              </a:stretch>
            </p:blipFill>
            <p:spPr>
              <a:xfrm>
                <a:off x="1359175" y="3222501"/>
                <a:ext cx="28440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71CCDC88-D542-6137-A763-F18AD3D918FC}"/>
                  </a:ext>
                </a:extLst>
              </p14:cNvPr>
              <p14:cNvContentPartPr/>
              <p14:nvPr/>
            </p14:nvContentPartPr>
            <p14:xfrm>
              <a:off x="5039094" y="3098301"/>
              <a:ext cx="605880" cy="160200"/>
            </p14:xfrm>
          </p:contentPart>
        </mc:Choice>
        <mc:Fallback xmlns="">
          <p:pic>
            <p:nvPicPr>
              <p:cNvPr id="20" name="Ink 19">
                <a:extLst>
                  <a:ext uri="{FF2B5EF4-FFF2-40B4-BE49-F238E27FC236}">
                    <a16:creationId xmlns:a16="http://schemas.microsoft.com/office/drawing/2014/main" id="{71CCDC88-D542-6137-A763-F18AD3D918FC}"/>
                  </a:ext>
                </a:extLst>
              </p:cNvPr>
              <p:cNvPicPr/>
              <p:nvPr/>
            </p:nvPicPr>
            <p:blipFill>
              <a:blip r:embed="rId6"/>
              <a:stretch>
                <a:fillRect/>
              </a:stretch>
            </p:blipFill>
            <p:spPr>
              <a:xfrm>
                <a:off x="5021094" y="3062220"/>
                <a:ext cx="641520" cy="232001"/>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Ink 20">
                <a:extLst>
                  <a:ext uri="{FF2B5EF4-FFF2-40B4-BE49-F238E27FC236}">
                    <a16:creationId xmlns:a16="http://schemas.microsoft.com/office/drawing/2014/main" id="{4188E425-33F1-8688-0571-8139397A26DD}"/>
                  </a:ext>
                </a:extLst>
              </p14:cNvPr>
              <p14:cNvContentPartPr/>
              <p14:nvPr/>
            </p14:nvContentPartPr>
            <p14:xfrm>
              <a:off x="5356614" y="3225021"/>
              <a:ext cx="248760" cy="208440"/>
            </p14:xfrm>
          </p:contentPart>
        </mc:Choice>
        <mc:Fallback xmlns="">
          <p:pic>
            <p:nvPicPr>
              <p:cNvPr id="21" name="Ink 20">
                <a:extLst>
                  <a:ext uri="{FF2B5EF4-FFF2-40B4-BE49-F238E27FC236}">
                    <a16:creationId xmlns:a16="http://schemas.microsoft.com/office/drawing/2014/main" id="{4188E425-33F1-8688-0571-8139397A26DD}"/>
                  </a:ext>
                </a:extLst>
              </p:cNvPr>
              <p:cNvPicPr/>
              <p:nvPr/>
            </p:nvPicPr>
            <p:blipFill>
              <a:blip r:embed="rId8"/>
              <a:stretch>
                <a:fillRect/>
              </a:stretch>
            </p:blipFill>
            <p:spPr>
              <a:xfrm>
                <a:off x="5338614" y="3189021"/>
                <a:ext cx="284400" cy="280080"/>
              </a:xfrm>
              <a:prstGeom prst="rect">
                <a:avLst/>
              </a:prstGeom>
            </p:spPr>
          </p:pic>
        </mc:Fallback>
      </mc:AlternateContent>
      <p:pic>
        <p:nvPicPr>
          <p:cNvPr id="26" name="Picture 25">
            <a:extLst>
              <a:ext uri="{FF2B5EF4-FFF2-40B4-BE49-F238E27FC236}">
                <a16:creationId xmlns:a16="http://schemas.microsoft.com/office/drawing/2014/main" id="{EF8E589C-5A78-611F-C510-BDE53E6B47AD}"/>
              </a:ext>
            </a:extLst>
          </p:cNvPr>
          <p:cNvPicPr>
            <a:picLocks noChangeAspect="1"/>
          </p:cNvPicPr>
          <p:nvPr/>
        </p:nvPicPr>
        <p:blipFill>
          <a:blip r:embed="rId11"/>
          <a:stretch>
            <a:fillRect/>
          </a:stretch>
        </p:blipFill>
        <p:spPr bwMode="auto">
          <a:xfrm>
            <a:off x="96074" y="4267039"/>
            <a:ext cx="1133475" cy="523875"/>
          </a:xfrm>
          <a:prstGeom prst="rect">
            <a:avLst/>
          </a:prstGeom>
        </p:spPr>
      </p:pic>
      <p:pic>
        <p:nvPicPr>
          <p:cNvPr id="2" name="Picture 1" descr="A logo with a black background&#10;&#10;Description automatically generated">
            <a:extLst>
              <a:ext uri="{FF2B5EF4-FFF2-40B4-BE49-F238E27FC236}">
                <a16:creationId xmlns:a16="http://schemas.microsoft.com/office/drawing/2014/main" id="{21A6A247-465C-D450-AD2F-7EF0D6321575}"/>
              </a:ext>
            </a:extLst>
          </p:cNvPr>
          <p:cNvPicPr>
            <a:picLocks noChangeAspect="1"/>
          </p:cNvPicPr>
          <p:nvPr/>
        </p:nvPicPr>
        <p:blipFill rotWithShape="1">
          <a:blip r:embed="rId12">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pic>
        <p:nvPicPr>
          <p:cNvPr id="33" name="Picture 32">
            <a:extLst>
              <a:ext uri="{FF2B5EF4-FFF2-40B4-BE49-F238E27FC236}">
                <a16:creationId xmlns:a16="http://schemas.microsoft.com/office/drawing/2014/main" id="{53FA3907-738A-8AD3-BA02-72D37B41382D}"/>
              </a:ext>
            </a:extLst>
          </p:cNvPr>
          <p:cNvPicPr>
            <a:picLocks noChangeAspect="1"/>
          </p:cNvPicPr>
          <p:nvPr/>
        </p:nvPicPr>
        <p:blipFill rotWithShape="1">
          <a:blip r:embed="rId13"/>
          <a:srcRect t="8442" b="3977"/>
          <a:stretch/>
        </p:blipFill>
        <p:spPr>
          <a:xfrm>
            <a:off x="6199398" y="129483"/>
            <a:ext cx="1922221" cy="676111"/>
          </a:xfrm>
          <a:prstGeom prst="rect">
            <a:avLst/>
          </a:prstGeom>
        </p:spPr>
      </p:pic>
      <p:sp>
        <p:nvSpPr>
          <p:cNvPr id="11" name="Oval 10">
            <a:extLst>
              <a:ext uri="{FF2B5EF4-FFF2-40B4-BE49-F238E27FC236}">
                <a16:creationId xmlns:a16="http://schemas.microsoft.com/office/drawing/2014/main" id="{A77492E1-FB9B-9C13-7F5D-1EE87C3885AF}"/>
              </a:ext>
            </a:extLst>
          </p:cNvPr>
          <p:cNvSpPr/>
          <p:nvPr/>
        </p:nvSpPr>
        <p:spPr>
          <a:xfrm>
            <a:off x="228390" y="288895"/>
            <a:ext cx="1429226" cy="1319972"/>
          </a:xfrm>
          <a:prstGeom prst="ellipse">
            <a:avLst/>
          </a:prstGeom>
          <a:solidFill>
            <a:schemeClr val="bg1"/>
          </a:solidFill>
          <a:ln w="381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chemeClr val="accent5"/>
                </a:solidFill>
              </a:rPr>
              <a:t>Q2</a:t>
            </a:r>
          </a:p>
          <a:p>
            <a:pPr algn="ctr"/>
            <a:r>
              <a:rPr lang="en-US" sz="2400">
                <a:solidFill>
                  <a:schemeClr val="accent5"/>
                </a:solidFill>
              </a:rPr>
              <a:t>2025</a:t>
            </a:r>
          </a:p>
        </p:txBody>
      </p:sp>
      <p:sp>
        <p:nvSpPr>
          <p:cNvPr id="16" name="Rectangle 15">
            <a:extLst>
              <a:ext uri="{FF2B5EF4-FFF2-40B4-BE49-F238E27FC236}">
                <a16:creationId xmlns:a16="http://schemas.microsoft.com/office/drawing/2014/main" id="{49CE6A53-1192-607B-2BE9-70E74798E426}"/>
              </a:ext>
            </a:extLst>
          </p:cNvPr>
          <p:cNvSpPr/>
          <p:nvPr/>
        </p:nvSpPr>
        <p:spPr>
          <a:xfrm>
            <a:off x="8939885" y="5670876"/>
            <a:ext cx="1848634" cy="94292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u="sng"/>
              <a:t>When?</a:t>
            </a:r>
          </a:p>
          <a:p>
            <a:pPr algn="ctr"/>
            <a:r>
              <a:rPr lang="en-GB" b="1" u="sng"/>
              <a:t>1 June -  15 July</a:t>
            </a:r>
          </a:p>
        </p:txBody>
      </p:sp>
      <p:pic>
        <p:nvPicPr>
          <p:cNvPr id="8" name="Picture 7">
            <a:extLst>
              <a:ext uri="{FF2B5EF4-FFF2-40B4-BE49-F238E27FC236}">
                <a16:creationId xmlns:a16="http://schemas.microsoft.com/office/drawing/2014/main" id="{738A5DC5-EEBB-34C2-C42B-BEBF585505B6}"/>
              </a:ext>
            </a:extLst>
          </p:cNvPr>
          <p:cNvPicPr>
            <a:picLocks noChangeAspect="1"/>
          </p:cNvPicPr>
          <p:nvPr/>
        </p:nvPicPr>
        <p:blipFill>
          <a:blip r:embed="rId14"/>
          <a:stretch>
            <a:fillRect/>
          </a:stretch>
        </p:blipFill>
        <p:spPr>
          <a:xfrm>
            <a:off x="8969279" y="1187124"/>
            <a:ext cx="3025664" cy="3932879"/>
          </a:xfrm>
          <a:prstGeom prst="rect">
            <a:avLst/>
          </a:prstGeom>
        </p:spPr>
      </p:pic>
      <p:pic>
        <p:nvPicPr>
          <p:cNvPr id="27" name="Picture 26">
            <a:extLst>
              <a:ext uri="{FF2B5EF4-FFF2-40B4-BE49-F238E27FC236}">
                <a16:creationId xmlns:a16="http://schemas.microsoft.com/office/drawing/2014/main" id="{C18430D3-6A1E-A544-46CB-C7A50878D311}"/>
              </a:ext>
            </a:extLst>
          </p:cNvPr>
          <p:cNvPicPr>
            <a:picLocks noChangeAspect="1"/>
          </p:cNvPicPr>
          <p:nvPr/>
        </p:nvPicPr>
        <p:blipFill>
          <a:blip r:embed="rId15"/>
          <a:stretch>
            <a:fillRect/>
          </a:stretch>
        </p:blipFill>
        <p:spPr>
          <a:xfrm>
            <a:off x="5693769" y="1194021"/>
            <a:ext cx="3160648" cy="5107239"/>
          </a:xfrm>
          <a:prstGeom prst="rect">
            <a:avLst/>
          </a:prstGeom>
        </p:spPr>
      </p:pic>
      <p:sp>
        <p:nvSpPr>
          <p:cNvPr id="30" name="TextBox 29">
            <a:extLst>
              <a:ext uri="{FF2B5EF4-FFF2-40B4-BE49-F238E27FC236}">
                <a16:creationId xmlns:a16="http://schemas.microsoft.com/office/drawing/2014/main" id="{D7DD89AC-60F3-8CBA-780C-7AC6AB1B563C}"/>
              </a:ext>
            </a:extLst>
          </p:cNvPr>
          <p:cNvSpPr txBox="1"/>
          <p:nvPr/>
        </p:nvSpPr>
        <p:spPr>
          <a:xfrm>
            <a:off x="6324600" y="774677"/>
            <a:ext cx="6097772" cy="369332"/>
          </a:xfrm>
          <a:prstGeom prst="rect">
            <a:avLst/>
          </a:prstGeom>
          <a:noFill/>
        </p:spPr>
        <p:txBody>
          <a:bodyPr wrap="square">
            <a:spAutoFit/>
          </a:bodyPr>
          <a:lstStyle/>
          <a:p>
            <a:r>
              <a:rPr lang="en-US">
                <a:solidFill>
                  <a:srgbClr val="002060"/>
                </a:solidFill>
                <a:hlinkClick r:id="rId16">
                  <a:extLst>
                    <a:ext uri="{A12FA001-AC4F-418D-AE19-62706E023703}">
                      <ahyp:hlinkClr xmlns:ahyp="http://schemas.microsoft.com/office/drawing/2018/hyperlinkcolor" val="tx"/>
                    </a:ext>
                  </a:extLst>
                </a:hlinkClick>
              </a:rPr>
              <a:t>Country Profiles</a:t>
            </a:r>
            <a:endParaRPr lang="en-DK">
              <a:solidFill>
                <a:srgbClr val="002060"/>
              </a:solidFill>
            </a:endParaRPr>
          </a:p>
        </p:txBody>
      </p:sp>
      <p:sp>
        <p:nvSpPr>
          <p:cNvPr id="32" name="TextBox 31">
            <a:extLst>
              <a:ext uri="{FF2B5EF4-FFF2-40B4-BE49-F238E27FC236}">
                <a16:creationId xmlns:a16="http://schemas.microsoft.com/office/drawing/2014/main" id="{DFA50F30-B8E5-A4CB-CAFC-70FBB7449DA3}"/>
              </a:ext>
            </a:extLst>
          </p:cNvPr>
          <p:cNvSpPr txBox="1"/>
          <p:nvPr/>
        </p:nvSpPr>
        <p:spPr>
          <a:xfrm>
            <a:off x="9103260" y="790000"/>
            <a:ext cx="6097772" cy="369332"/>
          </a:xfrm>
          <a:prstGeom prst="rect">
            <a:avLst/>
          </a:prstGeom>
          <a:noFill/>
        </p:spPr>
        <p:txBody>
          <a:bodyPr wrap="square">
            <a:spAutoFit/>
          </a:bodyPr>
          <a:lstStyle/>
          <a:p>
            <a:r>
              <a:rPr lang="en-US">
                <a:solidFill>
                  <a:srgbClr val="002060"/>
                </a:solidFill>
                <a:hlinkClick r:id="rId17">
                  <a:extLst>
                    <a:ext uri="{A12FA001-AC4F-418D-AE19-62706E023703}">
                      <ahyp:hlinkClr xmlns:ahyp="http://schemas.microsoft.com/office/drawing/2018/hyperlinkcolor" val="tx"/>
                    </a:ext>
                  </a:extLst>
                </a:hlinkClick>
              </a:rPr>
              <a:t>Climate and Energy Portal</a:t>
            </a:r>
            <a:endParaRPr lang="en-DK">
              <a:solidFill>
                <a:srgbClr val="002060"/>
              </a:solidFill>
            </a:endParaRPr>
          </a:p>
        </p:txBody>
      </p:sp>
    </p:spTree>
    <p:extLst>
      <p:ext uri="{BB962C8B-B14F-4D97-AF65-F5344CB8AC3E}">
        <p14:creationId xmlns:p14="http://schemas.microsoft.com/office/powerpoint/2010/main" val="41127261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4279F-5B57-8C9E-4AB9-3D8FD5FB8F49}"/>
            </a:ext>
          </a:extLst>
        </p:cNvPr>
        <p:cNvGrpSpPr/>
        <p:nvPr/>
      </p:nvGrpSpPr>
      <p:grpSpPr>
        <a:xfrm>
          <a:off x="0" y="0"/>
          <a:ext cx="0" cy="0"/>
          <a:chOff x="0" y="0"/>
          <a:chExt cx="0" cy="0"/>
        </a:xfrm>
      </p:grpSpPr>
      <p:pic>
        <p:nvPicPr>
          <p:cNvPr id="5" name="Picture 4" descr="A group of people walking on a bridge&#10;&#10;AI-generated content may be incorrect.">
            <a:extLst>
              <a:ext uri="{FF2B5EF4-FFF2-40B4-BE49-F238E27FC236}">
                <a16:creationId xmlns:a16="http://schemas.microsoft.com/office/drawing/2014/main" id="{D446B1A0-FCB3-982A-8FAE-38F7DD704C83}"/>
              </a:ext>
            </a:extLst>
          </p:cNvPr>
          <p:cNvPicPr>
            <a:picLocks noChangeAspect="1"/>
          </p:cNvPicPr>
          <p:nvPr/>
        </p:nvPicPr>
        <p:blipFill>
          <a:blip r:embed="rId3">
            <a:extLst>
              <a:ext uri="{28A0092B-C50C-407E-A947-70E740481C1C}">
                <a14:useLocalDpi xmlns:a14="http://schemas.microsoft.com/office/drawing/2010/main" val="0"/>
              </a:ext>
            </a:extLst>
          </a:blip>
          <a:srcRect l="4758" t="15605" r="59274"/>
          <a:stretch/>
        </p:blipFill>
        <p:spPr>
          <a:xfrm>
            <a:off x="0" y="0"/>
            <a:ext cx="4385187" cy="6858000"/>
          </a:xfrm>
          <a:prstGeom prst="rect">
            <a:avLst/>
          </a:prstGeom>
        </p:spPr>
      </p:pic>
      <p:sp>
        <p:nvSpPr>
          <p:cNvPr id="7" name="TextBox 6">
            <a:extLst>
              <a:ext uri="{FF2B5EF4-FFF2-40B4-BE49-F238E27FC236}">
                <a16:creationId xmlns:a16="http://schemas.microsoft.com/office/drawing/2014/main" id="{10459988-3FA1-E73F-1033-EE7137CCD9CE}"/>
              </a:ext>
            </a:extLst>
          </p:cNvPr>
          <p:cNvSpPr txBox="1"/>
          <p:nvPr/>
        </p:nvSpPr>
        <p:spPr>
          <a:xfrm>
            <a:off x="98324" y="6511623"/>
            <a:ext cx="6272980" cy="261610"/>
          </a:xfrm>
          <a:prstGeom prst="rect">
            <a:avLst/>
          </a:prstGeom>
          <a:noFill/>
        </p:spPr>
        <p:txBody>
          <a:bodyPr wrap="square">
            <a:spAutoFit/>
          </a:bodyPr>
          <a:lstStyle/>
          <a:p>
            <a:r>
              <a:rPr lang="en-US" sz="1100">
                <a:solidFill>
                  <a:schemeClr val="bg1"/>
                </a:solidFill>
              </a:rPr>
              <a:t>©T</a:t>
            </a:r>
            <a:r>
              <a:rPr lang="en-DK" sz="1100">
                <a:solidFill>
                  <a:schemeClr val="bg1"/>
                </a:solidFill>
              </a:rPr>
              <a:t>Peter </a:t>
            </a:r>
            <a:r>
              <a:rPr lang="en-DK" sz="1100" err="1">
                <a:solidFill>
                  <a:schemeClr val="bg1"/>
                </a:solidFill>
              </a:rPr>
              <a:t>Vadocz</a:t>
            </a:r>
            <a:r>
              <a:rPr lang="en-DK" sz="1100">
                <a:solidFill>
                  <a:schemeClr val="bg1"/>
                </a:solidFill>
              </a:rPr>
              <a:t>, Urban Treasures  EEA</a:t>
            </a:r>
          </a:p>
        </p:txBody>
      </p:sp>
      <p:sp>
        <p:nvSpPr>
          <p:cNvPr id="9" name="Title 1">
            <a:extLst>
              <a:ext uri="{FF2B5EF4-FFF2-40B4-BE49-F238E27FC236}">
                <a16:creationId xmlns:a16="http://schemas.microsoft.com/office/drawing/2014/main" id="{ACB73C1B-B685-F023-E1FB-EEDCAF3336F4}"/>
              </a:ext>
            </a:extLst>
          </p:cNvPr>
          <p:cNvSpPr>
            <a:spLocks noGrp="1"/>
          </p:cNvSpPr>
          <p:nvPr>
            <p:ph type="ctrTitle"/>
          </p:nvPr>
        </p:nvSpPr>
        <p:spPr>
          <a:xfrm>
            <a:off x="6371304" y="809039"/>
            <a:ext cx="6086168" cy="617947"/>
          </a:xfrm>
        </p:spPr>
        <p:txBody>
          <a:bodyPr>
            <a:noAutofit/>
          </a:bodyPr>
          <a:lstStyle/>
          <a:p>
            <a:pPr algn="l"/>
            <a:r>
              <a:rPr lang="en-US" sz="3600">
                <a:solidFill>
                  <a:srgbClr val="00B0F0"/>
                </a:solidFill>
                <a:latin typeface="+mn-lt"/>
              </a:rPr>
              <a:t>Assessment</a:t>
            </a:r>
            <a:endParaRPr lang="en-DK" sz="3600">
              <a:solidFill>
                <a:srgbClr val="00B0F0"/>
              </a:solidFill>
              <a:latin typeface="+mn-lt"/>
            </a:endParaRPr>
          </a:p>
        </p:txBody>
      </p:sp>
      <p:sp>
        <p:nvSpPr>
          <p:cNvPr id="3" name="Text Placeholder 16">
            <a:extLst>
              <a:ext uri="{FF2B5EF4-FFF2-40B4-BE49-F238E27FC236}">
                <a16:creationId xmlns:a16="http://schemas.microsoft.com/office/drawing/2014/main" id="{224045EA-D23C-8C71-A2AA-061C01E14B00}"/>
              </a:ext>
            </a:extLst>
          </p:cNvPr>
          <p:cNvSpPr txBox="1">
            <a:spLocks/>
          </p:cNvSpPr>
          <p:nvPr/>
        </p:nvSpPr>
        <p:spPr>
          <a:xfrm>
            <a:off x="4891992" y="2554599"/>
            <a:ext cx="7147608" cy="2621422"/>
          </a:xfrm>
          <a:prstGeom prst="rect">
            <a:avLst/>
          </a:prstGeom>
        </p:spPr>
        <p:txBody>
          <a:bodyPr vert="horz" lIns="91440" tIns="45720" rIns="91440" bIns="45720" rtlCol="0" anchor="ctr"/>
          <a:lstStyle>
            <a:defPPr>
              <a:defRPr lang="en-DK"/>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400" dirty="0">
                <a:solidFill>
                  <a:schemeClr val="tx1"/>
                </a:solidFill>
                <a:ea typeface="Lato Light"/>
                <a:cs typeface="Lato Light"/>
              </a:rPr>
              <a:t>Assessment of information</a:t>
            </a:r>
          </a:p>
          <a:p>
            <a:pPr algn="l"/>
            <a:r>
              <a:rPr lang="en-US" sz="2400" dirty="0">
                <a:solidFill>
                  <a:schemeClr val="tx1"/>
                </a:solidFill>
                <a:ea typeface="Lato Light"/>
                <a:cs typeface="Lato Light"/>
              </a:rPr>
              <a:t>Supporting Energy Community Secretariat products Outcomes feeding into EEA products</a:t>
            </a:r>
          </a:p>
          <a:p>
            <a:pPr algn="l"/>
            <a:endParaRPr lang="en-US" sz="2400">
              <a:solidFill>
                <a:schemeClr val="tx1"/>
              </a:solidFill>
              <a:ea typeface="Lato Light" panose="020F0502020204030203" pitchFamily="34" charset="0"/>
              <a:cs typeface="Lato Light" panose="020F0502020204030203" pitchFamily="34" charset="0"/>
            </a:endParaRPr>
          </a:p>
          <a:p>
            <a:pPr algn="l"/>
            <a:r>
              <a:rPr lang="en-US" sz="2400" dirty="0">
                <a:solidFill>
                  <a:schemeClr val="tx1"/>
                </a:solidFill>
                <a:ea typeface="Lato Light"/>
                <a:cs typeface="Lato Light"/>
              </a:rPr>
              <a:t>Closing Article 17 dataflow</a:t>
            </a:r>
          </a:p>
          <a:p>
            <a:pPr algn="l"/>
            <a:r>
              <a:rPr lang="en-US" sz="2400" dirty="0">
                <a:solidFill>
                  <a:schemeClr val="tx1"/>
                </a:solidFill>
                <a:ea typeface="Lato Light"/>
                <a:cs typeface="Lato Light"/>
              </a:rPr>
              <a:t>Publication of final EU datasets</a:t>
            </a:r>
          </a:p>
          <a:p>
            <a:pPr algn="l"/>
            <a:r>
              <a:rPr lang="en-US" sz="2400" dirty="0">
                <a:solidFill>
                  <a:schemeClr val="tx1"/>
                </a:solidFill>
                <a:ea typeface="Lato Light"/>
                <a:cs typeface="Lato Light"/>
              </a:rPr>
              <a:t> </a:t>
            </a:r>
          </a:p>
        </p:txBody>
      </p:sp>
      <p:sp>
        <p:nvSpPr>
          <p:cNvPr id="4" name="Rectangle 3">
            <a:extLst>
              <a:ext uri="{FF2B5EF4-FFF2-40B4-BE49-F238E27FC236}">
                <a16:creationId xmlns:a16="http://schemas.microsoft.com/office/drawing/2014/main" id="{E39CAB2F-D115-46A6-12BD-BD00D33C9187}"/>
              </a:ext>
            </a:extLst>
          </p:cNvPr>
          <p:cNvSpPr/>
          <p:nvPr/>
        </p:nvSpPr>
        <p:spPr>
          <a:xfrm>
            <a:off x="8616098" y="5601611"/>
            <a:ext cx="2106821" cy="975951"/>
          </a:xfrm>
          <a:prstGeom prst="rect">
            <a:avLst/>
          </a:prstGeom>
          <a:solidFill>
            <a:schemeClr val="accent5">
              <a:lumMod val="7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u="sng"/>
              <a:t>When?</a:t>
            </a:r>
          </a:p>
          <a:p>
            <a:pPr algn="ctr"/>
            <a:r>
              <a:rPr lang="en-GB" b="1"/>
              <a:t>July - September</a:t>
            </a:r>
            <a:endParaRPr lang="LID4096" b="1"/>
          </a:p>
        </p:txBody>
      </p:sp>
      <p:pic>
        <p:nvPicPr>
          <p:cNvPr id="8" name="Picture 7" descr="A logo with a black background&#10;&#10;Description automatically generated">
            <a:extLst>
              <a:ext uri="{FF2B5EF4-FFF2-40B4-BE49-F238E27FC236}">
                <a16:creationId xmlns:a16="http://schemas.microsoft.com/office/drawing/2014/main" id="{BECECBE0-660D-F231-A5C0-ACFDABF40A87}"/>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
        <p:nvSpPr>
          <p:cNvPr id="6" name="Oval 5">
            <a:extLst>
              <a:ext uri="{FF2B5EF4-FFF2-40B4-BE49-F238E27FC236}">
                <a16:creationId xmlns:a16="http://schemas.microsoft.com/office/drawing/2014/main" id="{6DD7E66A-FBB0-7BBF-6191-55CC757EBA91}"/>
              </a:ext>
            </a:extLst>
          </p:cNvPr>
          <p:cNvSpPr/>
          <p:nvPr/>
        </p:nvSpPr>
        <p:spPr>
          <a:xfrm>
            <a:off x="4781757" y="458025"/>
            <a:ext cx="1429225" cy="1319973"/>
          </a:xfrm>
          <a:prstGeom prst="ellipse">
            <a:avLst/>
          </a:prstGeom>
          <a:solidFill>
            <a:schemeClr val="bg1"/>
          </a:solid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rgbClr val="00B0F0"/>
                </a:solidFill>
              </a:rPr>
              <a:t>Q3</a:t>
            </a:r>
          </a:p>
          <a:p>
            <a:pPr algn="ctr"/>
            <a:r>
              <a:rPr lang="en-US" sz="2400">
                <a:solidFill>
                  <a:srgbClr val="00B0F0"/>
                </a:solidFill>
              </a:rPr>
              <a:t>2025</a:t>
            </a:r>
          </a:p>
        </p:txBody>
      </p:sp>
    </p:spTree>
    <p:extLst>
      <p:ext uri="{BB962C8B-B14F-4D97-AF65-F5344CB8AC3E}">
        <p14:creationId xmlns:p14="http://schemas.microsoft.com/office/powerpoint/2010/main" val="26293872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442FE-7ED7-847B-C0FB-8723DC6BAF82}"/>
            </a:ext>
          </a:extLst>
        </p:cNvPr>
        <p:cNvGrpSpPr/>
        <p:nvPr/>
      </p:nvGrpSpPr>
      <p:grpSpPr>
        <a:xfrm>
          <a:off x="0" y="0"/>
          <a:ext cx="0" cy="0"/>
          <a:chOff x="0" y="0"/>
          <a:chExt cx="0" cy="0"/>
        </a:xfrm>
      </p:grpSpPr>
      <p:pic>
        <p:nvPicPr>
          <p:cNvPr id="5" name="Picture 4" descr="A group of people walking on a bridge&#10;&#10;AI-generated content may be incorrect.">
            <a:extLst>
              <a:ext uri="{FF2B5EF4-FFF2-40B4-BE49-F238E27FC236}">
                <a16:creationId xmlns:a16="http://schemas.microsoft.com/office/drawing/2014/main" id="{CEAE96F4-00BB-090D-DFF9-BB12B1C39B61}"/>
              </a:ext>
            </a:extLst>
          </p:cNvPr>
          <p:cNvPicPr>
            <a:picLocks noChangeAspect="1"/>
          </p:cNvPicPr>
          <p:nvPr/>
        </p:nvPicPr>
        <p:blipFill>
          <a:blip r:embed="rId3">
            <a:extLst>
              <a:ext uri="{28A0092B-C50C-407E-A947-70E740481C1C}">
                <a14:useLocalDpi xmlns:a14="http://schemas.microsoft.com/office/drawing/2010/main" val="0"/>
              </a:ext>
            </a:extLst>
          </a:blip>
          <a:srcRect l="62430" t="15605" r="1602"/>
          <a:stretch/>
        </p:blipFill>
        <p:spPr>
          <a:xfrm>
            <a:off x="0" y="0"/>
            <a:ext cx="4385187" cy="6858000"/>
          </a:xfrm>
          <a:prstGeom prst="rect">
            <a:avLst/>
          </a:prstGeom>
        </p:spPr>
      </p:pic>
      <p:sp>
        <p:nvSpPr>
          <p:cNvPr id="7" name="TextBox 6">
            <a:extLst>
              <a:ext uri="{FF2B5EF4-FFF2-40B4-BE49-F238E27FC236}">
                <a16:creationId xmlns:a16="http://schemas.microsoft.com/office/drawing/2014/main" id="{BF924246-58C2-CE1D-7939-80E4763DCE18}"/>
              </a:ext>
            </a:extLst>
          </p:cNvPr>
          <p:cNvSpPr txBox="1"/>
          <p:nvPr/>
        </p:nvSpPr>
        <p:spPr>
          <a:xfrm>
            <a:off x="98324" y="6524323"/>
            <a:ext cx="6272980" cy="261610"/>
          </a:xfrm>
          <a:prstGeom prst="rect">
            <a:avLst/>
          </a:prstGeom>
          <a:noFill/>
        </p:spPr>
        <p:txBody>
          <a:bodyPr wrap="square">
            <a:spAutoFit/>
          </a:bodyPr>
          <a:lstStyle/>
          <a:p>
            <a:r>
              <a:rPr lang="en-US" sz="1100">
                <a:solidFill>
                  <a:schemeClr val="bg1"/>
                </a:solidFill>
              </a:rPr>
              <a:t>©T</a:t>
            </a:r>
            <a:r>
              <a:rPr lang="en-DK" sz="1100">
                <a:solidFill>
                  <a:schemeClr val="bg1"/>
                </a:solidFill>
              </a:rPr>
              <a:t>Peter </a:t>
            </a:r>
            <a:r>
              <a:rPr lang="en-DK" sz="1100" err="1">
                <a:solidFill>
                  <a:schemeClr val="bg1"/>
                </a:solidFill>
              </a:rPr>
              <a:t>Vadocz</a:t>
            </a:r>
            <a:r>
              <a:rPr lang="en-DK" sz="1100">
                <a:solidFill>
                  <a:schemeClr val="bg1"/>
                </a:solidFill>
              </a:rPr>
              <a:t>, Urban Treasures  EEA</a:t>
            </a:r>
          </a:p>
        </p:txBody>
      </p:sp>
      <p:sp>
        <p:nvSpPr>
          <p:cNvPr id="9" name="Title 1">
            <a:extLst>
              <a:ext uri="{FF2B5EF4-FFF2-40B4-BE49-F238E27FC236}">
                <a16:creationId xmlns:a16="http://schemas.microsoft.com/office/drawing/2014/main" id="{BA568E45-A500-113F-2EA4-27147EF3E4B0}"/>
              </a:ext>
            </a:extLst>
          </p:cNvPr>
          <p:cNvSpPr>
            <a:spLocks noGrp="1"/>
          </p:cNvSpPr>
          <p:nvPr>
            <p:ph type="ctrTitle"/>
          </p:nvPr>
        </p:nvSpPr>
        <p:spPr>
          <a:xfrm>
            <a:off x="6371304" y="809039"/>
            <a:ext cx="6086168" cy="617947"/>
          </a:xfrm>
        </p:spPr>
        <p:txBody>
          <a:bodyPr>
            <a:noAutofit/>
          </a:bodyPr>
          <a:lstStyle/>
          <a:p>
            <a:pPr algn="l"/>
            <a:r>
              <a:rPr lang="en-US" sz="3600">
                <a:solidFill>
                  <a:schemeClr val="accent3">
                    <a:lumMod val="75000"/>
                  </a:schemeClr>
                </a:solidFill>
                <a:latin typeface="+mn-lt"/>
              </a:rPr>
              <a:t>Product development</a:t>
            </a:r>
            <a:endParaRPr lang="en-DK" sz="3600">
              <a:solidFill>
                <a:schemeClr val="accent3">
                  <a:lumMod val="75000"/>
                </a:schemeClr>
              </a:solidFill>
              <a:latin typeface="+mn-lt"/>
            </a:endParaRPr>
          </a:p>
        </p:txBody>
      </p:sp>
      <p:sp>
        <p:nvSpPr>
          <p:cNvPr id="3" name="Text Placeholder 16">
            <a:extLst>
              <a:ext uri="{FF2B5EF4-FFF2-40B4-BE49-F238E27FC236}">
                <a16:creationId xmlns:a16="http://schemas.microsoft.com/office/drawing/2014/main" id="{0FCD95FF-3639-DCAA-A6CA-124B371B2B75}"/>
              </a:ext>
            </a:extLst>
          </p:cNvPr>
          <p:cNvSpPr txBox="1">
            <a:spLocks/>
          </p:cNvSpPr>
          <p:nvPr/>
        </p:nvSpPr>
        <p:spPr>
          <a:xfrm>
            <a:off x="4770096" y="2118289"/>
            <a:ext cx="6977404" cy="2621422"/>
          </a:xfrm>
          <a:prstGeom prst="rect">
            <a:avLst/>
          </a:prstGeom>
        </p:spPr>
        <p:txBody>
          <a:bodyPr vert="horz" lIns="91440" tIns="45720" rIns="91440" bIns="45720" rtlCol="0" anchor="ctr"/>
          <a:lstStyle>
            <a:defPPr>
              <a:defRPr lang="en-DK"/>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2400" dirty="0">
                <a:solidFill>
                  <a:schemeClr val="tx1"/>
                </a:solidFill>
                <a:ea typeface="Lato Light"/>
                <a:cs typeface="Lato Light"/>
              </a:rPr>
              <a:t>EEA product development of the 2026 EEA reports</a:t>
            </a:r>
            <a:endParaRPr lang="en-US" sz="2400" dirty="0">
              <a:solidFill>
                <a:schemeClr val="tx1"/>
              </a:solidFill>
              <a:ea typeface="Lato Light" panose="020F0502020204030203" pitchFamily="34" charset="0"/>
              <a:cs typeface="Lato Light" panose="020F0502020204030203" pitchFamily="34" charset="0"/>
            </a:endParaRPr>
          </a:p>
          <a:p>
            <a:pPr algn="l"/>
            <a:r>
              <a:rPr lang="en-US" sz="2400" dirty="0">
                <a:solidFill>
                  <a:schemeClr val="tx1"/>
                </a:solidFill>
                <a:ea typeface="Lato Light"/>
                <a:cs typeface="Lato Light"/>
              </a:rPr>
              <a:t>Closing Article 17 dataflow</a:t>
            </a:r>
          </a:p>
          <a:p>
            <a:pPr algn="l"/>
            <a:r>
              <a:rPr lang="en-US" sz="2400" dirty="0">
                <a:solidFill>
                  <a:schemeClr val="tx1"/>
                </a:solidFill>
                <a:ea typeface="Lato Light"/>
                <a:cs typeface="Lato Light"/>
              </a:rPr>
              <a:t>Article 19 dataflow remains open</a:t>
            </a:r>
          </a:p>
          <a:p>
            <a:pPr algn="l"/>
            <a:r>
              <a:rPr lang="en-US" sz="2400" dirty="0">
                <a:solidFill>
                  <a:schemeClr val="tx1"/>
                </a:solidFill>
                <a:ea typeface="Lato Light"/>
                <a:cs typeface="Lato Light"/>
              </a:rPr>
              <a:t>Country support with voluntary resubmissions</a:t>
            </a:r>
          </a:p>
          <a:p>
            <a:pPr algn="l"/>
            <a:r>
              <a:rPr lang="en-US" sz="2400" dirty="0">
                <a:solidFill>
                  <a:schemeClr val="tx1"/>
                </a:solidFill>
                <a:ea typeface="Lato Light"/>
                <a:cs typeface="Lato Light"/>
              </a:rPr>
              <a:t> </a:t>
            </a:r>
          </a:p>
        </p:txBody>
      </p:sp>
      <p:sp>
        <p:nvSpPr>
          <p:cNvPr id="4" name="Rectangle 3">
            <a:extLst>
              <a:ext uri="{FF2B5EF4-FFF2-40B4-BE49-F238E27FC236}">
                <a16:creationId xmlns:a16="http://schemas.microsoft.com/office/drawing/2014/main" id="{0563D7D3-C977-DA8E-E6CE-0DA5B3D4A701}"/>
              </a:ext>
            </a:extLst>
          </p:cNvPr>
          <p:cNvSpPr/>
          <p:nvPr/>
        </p:nvSpPr>
        <p:spPr>
          <a:xfrm>
            <a:off x="8343900" y="5601611"/>
            <a:ext cx="2379019" cy="975951"/>
          </a:xfrm>
          <a:prstGeom prst="rect">
            <a:avLst/>
          </a:prstGeom>
          <a:solidFill>
            <a:schemeClr val="accent5">
              <a:lumMod val="7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u="sng"/>
              <a:t>When?</a:t>
            </a:r>
          </a:p>
          <a:p>
            <a:pPr algn="ctr"/>
            <a:r>
              <a:rPr lang="en-GB" b="1" u="sng"/>
              <a:t>October - December</a:t>
            </a:r>
          </a:p>
        </p:txBody>
      </p:sp>
      <p:pic>
        <p:nvPicPr>
          <p:cNvPr id="8" name="Picture 7" descr="A logo with a black background&#10;&#10;Description automatically generated">
            <a:extLst>
              <a:ext uri="{FF2B5EF4-FFF2-40B4-BE49-F238E27FC236}">
                <a16:creationId xmlns:a16="http://schemas.microsoft.com/office/drawing/2014/main" id="{2EAD1B26-4E07-5FAD-9DEF-F2CDF0FAC132}"/>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
        <p:nvSpPr>
          <p:cNvPr id="2" name="Oval 1">
            <a:extLst>
              <a:ext uri="{FF2B5EF4-FFF2-40B4-BE49-F238E27FC236}">
                <a16:creationId xmlns:a16="http://schemas.microsoft.com/office/drawing/2014/main" id="{9AE6BE04-9DDB-B8D8-945C-6F51F304884D}"/>
              </a:ext>
            </a:extLst>
          </p:cNvPr>
          <p:cNvSpPr/>
          <p:nvPr/>
        </p:nvSpPr>
        <p:spPr>
          <a:xfrm>
            <a:off x="4761288" y="458026"/>
            <a:ext cx="1429225" cy="1319972"/>
          </a:xfrm>
          <a:prstGeom prst="ellips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solidFill>
                  <a:schemeClr val="accent3"/>
                </a:solidFill>
              </a:rPr>
              <a:t>Q4</a:t>
            </a:r>
          </a:p>
          <a:p>
            <a:pPr algn="ctr"/>
            <a:r>
              <a:rPr lang="en-US" sz="2400">
                <a:solidFill>
                  <a:schemeClr val="accent3"/>
                </a:solidFill>
              </a:rPr>
              <a:t>2025</a:t>
            </a:r>
          </a:p>
        </p:txBody>
      </p:sp>
    </p:spTree>
    <p:extLst>
      <p:ext uri="{BB962C8B-B14F-4D97-AF65-F5344CB8AC3E}">
        <p14:creationId xmlns:p14="http://schemas.microsoft.com/office/powerpoint/2010/main" val="42816432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CC087-ED13-70EF-24A8-CB27EC5DA7CB}"/>
              </a:ext>
            </a:extLst>
          </p:cNvPr>
          <p:cNvSpPr>
            <a:spLocks noGrp="1"/>
          </p:cNvSpPr>
          <p:nvPr>
            <p:ph type="title" idx="4294967295"/>
          </p:nvPr>
        </p:nvSpPr>
        <p:spPr>
          <a:xfrm>
            <a:off x="352425" y="323044"/>
            <a:ext cx="12334875" cy="830263"/>
          </a:xfrm>
        </p:spPr>
        <p:txBody>
          <a:bodyPr>
            <a:noAutofit/>
          </a:bodyPr>
          <a:lstStyle/>
          <a:p>
            <a:r>
              <a:rPr lang="en-US" sz="3200">
                <a:solidFill>
                  <a:srgbClr val="009999"/>
                </a:solidFill>
                <a:latin typeface="+mn-lt"/>
              </a:rPr>
              <a:t>EEA / ETC CA </a:t>
            </a:r>
            <a:br>
              <a:rPr lang="en-US" sz="3200">
                <a:solidFill>
                  <a:srgbClr val="009999"/>
                </a:solidFill>
                <a:latin typeface="+mn-lt"/>
              </a:rPr>
            </a:br>
            <a:r>
              <a:rPr lang="en-US" sz="3200">
                <a:solidFill>
                  <a:srgbClr val="009999"/>
                </a:solidFill>
                <a:latin typeface="+mn-lt"/>
              </a:rPr>
              <a:t>Publications on National adaptation policies and actions </a:t>
            </a:r>
            <a:endParaRPr lang="en-DK" sz="3200">
              <a:solidFill>
                <a:srgbClr val="009999"/>
              </a:solidFill>
              <a:latin typeface="+mn-lt"/>
            </a:endParaRPr>
          </a:p>
        </p:txBody>
      </p:sp>
      <p:pic>
        <p:nvPicPr>
          <p:cNvPr id="12" name="Picture 11" descr="A picture containing graphical user interface&#10;&#10;Description automatically generated">
            <a:extLst>
              <a:ext uri="{FF2B5EF4-FFF2-40B4-BE49-F238E27FC236}">
                <a16:creationId xmlns:a16="http://schemas.microsoft.com/office/drawing/2014/main" id="{E3A52CD4-EE96-2D65-2F28-20562C1A75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4872" y="1471648"/>
            <a:ext cx="1727955" cy="2426782"/>
          </a:xfrm>
          <a:prstGeom prst="round2DiagRect">
            <a:avLst>
              <a:gd name="adj1" fmla="val 16667"/>
              <a:gd name="adj2" fmla="val 0"/>
            </a:avLst>
          </a:prstGeom>
          <a:ln w="38100" cap="sq">
            <a:solidFill>
              <a:schemeClr val="tx2">
                <a:lumMod val="25000"/>
                <a:lumOff val="75000"/>
              </a:schemeClr>
            </a:solidFill>
            <a:miter lim="800000"/>
          </a:ln>
          <a:effectLst/>
        </p:spPr>
      </p:pic>
      <p:pic>
        <p:nvPicPr>
          <p:cNvPr id="13" name="Picture 12" descr="A picture containing text, salamander&#10;&#10;Description automatically generated">
            <a:extLst>
              <a:ext uri="{FF2B5EF4-FFF2-40B4-BE49-F238E27FC236}">
                <a16:creationId xmlns:a16="http://schemas.microsoft.com/office/drawing/2014/main" id="{7385505D-163C-69D5-14E5-D3F7739BC83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91436" y="1438582"/>
            <a:ext cx="1727955" cy="2426782"/>
          </a:xfrm>
          <a:prstGeom prst="round2DiagRect">
            <a:avLst>
              <a:gd name="adj1" fmla="val 16667"/>
              <a:gd name="adj2" fmla="val 0"/>
            </a:avLst>
          </a:prstGeom>
          <a:ln w="38100" cap="sq">
            <a:solidFill>
              <a:schemeClr val="tx2">
                <a:lumMod val="50000"/>
                <a:lumOff val="50000"/>
              </a:schemeClr>
            </a:solidFill>
            <a:miter lim="800000"/>
          </a:ln>
          <a:effectLst/>
        </p:spPr>
      </p:pic>
      <p:pic>
        <p:nvPicPr>
          <p:cNvPr id="14" name="Picture 13">
            <a:extLst>
              <a:ext uri="{FF2B5EF4-FFF2-40B4-BE49-F238E27FC236}">
                <a16:creationId xmlns:a16="http://schemas.microsoft.com/office/drawing/2014/main" id="{B9DA6869-864C-FB8E-B98F-F6022B929342}"/>
              </a:ext>
            </a:extLst>
          </p:cNvPr>
          <p:cNvPicPr>
            <a:picLocks noChangeAspect="1"/>
          </p:cNvPicPr>
          <p:nvPr/>
        </p:nvPicPr>
        <p:blipFill>
          <a:blip r:embed="rId5" cstate="print">
            <a:extLst>
              <a:ext uri="{28A0092B-C50C-407E-A947-70E740481C1C}">
                <a14:useLocalDpi xmlns:a14="http://schemas.microsoft.com/office/drawing/2010/main" val="0"/>
              </a:ext>
            </a:extLst>
          </a:blip>
          <a:srcRect t="362" b="362"/>
          <a:stretch/>
        </p:blipFill>
        <p:spPr>
          <a:xfrm>
            <a:off x="2215327" y="1460597"/>
            <a:ext cx="1719932" cy="2415514"/>
          </a:xfrm>
          <a:prstGeom prst="round2DiagRect">
            <a:avLst>
              <a:gd name="adj1" fmla="val 16667"/>
              <a:gd name="adj2" fmla="val 0"/>
            </a:avLst>
          </a:prstGeom>
          <a:ln w="38100" cap="sq">
            <a:solidFill>
              <a:schemeClr val="tx2">
                <a:lumMod val="10000"/>
                <a:lumOff val="90000"/>
              </a:schemeClr>
            </a:solidFill>
            <a:miter lim="800000"/>
          </a:ln>
          <a:effectLst/>
        </p:spPr>
      </p:pic>
      <p:sp>
        <p:nvSpPr>
          <p:cNvPr id="22" name="TextBox 21">
            <a:extLst>
              <a:ext uri="{FF2B5EF4-FFF2-40B4-BE49-F238E27FC236}">
                <a16:creationId xmlns:a16="http://schemas.microsoft.com/office/drawing/2014/main" id="{E842DD0C-2253-3837-5653-C383254878DF}"/>
              </a:ext>
            </a:extLst>
          </p:cNvPr>
          <p:cNvSpPr txBox="1"/>
          <p:nvPr/>
        </p:nvSpPr>
        <p:spPr>
          <a:xfrm>
            <a:off x="197243" y="4189675"/>
            <a:ext cx="1682496" cy="1061829"/>
          </a:xfrm>
          <a:prstGeom prst="rect">
            <a:avLst/>
          </a:prstGeom>
          <a:noFill/>
        </p:spPr>
        <p:txBody>
          <a:bodyPr wrap="square">
            <a:spAutoFit/>
          </a:bodyPr>
          <a:lstStyle/>
          <a:p>
            <a:pPr algn="r"/>
            <a:r>
              <a:rPr lang="en-US" sz="1050">
                <a:latin typeface="Aptos" panose="020B0004020202020204" pitchFamily="34" charset="0"/>
                <a:hlinkClick r:id="rId6"/>
              </a:rPr>
              <a:t>2020 </a:t>
            </a:r>
          </a:p>
          <a:p>
            <a:pPr algn="r"/>
            <a:r>
              <a:rPr lang="en-US" sz="1050">
                <a:latin typeface="Aptos" panose="020B0004020202020204" pitchFamily="34" charset="0"/>
                <a:hlinkClick r:id="rId6"/>
              </a:rPr>
              <a:t>EEA Monitoring and evaluation of national adaptation policies throughout the policy cycle</a:t>
            </a:r>
            <a:endParaRPr lang="en-DK" sz="1050">
              <a:latin typeface="Aptos" panose="020B0004020202020204" pitchFamily="34" charset="0"/>
            </a:endParaRPr>
          </a:p>
        </p:txBody>
      </p:sp>
      <p:sp>
        <p:nvSpPr>
          <p:cNvPr id="24" name="TextBox 23">
            <a:extLst>
              <a:ext uri="{FF2B5EF4-FFF2-40B4-BE49-F238E27FC236}">
                <a16:creationId xmlns:a16="http://schemas.microsoft.com/office/drawing/2014/main" id="{5BC3C0CA-B5B6-8702-5E6C-E00E11A74135}"/>
              </a:ext>
            </a:extLst>
          </p:cNvPr>
          <p:cNvSpPr txBox="1"/>
          <p:nvPr/>
        </p:nvSpPr>
        <p:spPr>
          <a:xfrm>
            <a:off x="5917529" y="4170302"/>
            <a:ext cx="1970561" cy="900246"/>
          </a:xfrm>
          <a:prstGeom prst="rect">
            <a:avLst/>
          </a:prstGeom>
          <a:noFill/>
        </p:spPr>
        <p:txBody>
          <a:bodyPr wrap="square">
            <a:spAutoFit/>
          </a:bodyPr>
          <a:lstStyle/>
          <a:p>
            <a:pPr algn="r"/>
            <a:r>
              <a:rPr lang="en-US" sz="1050">
                <a:latin typeface="Aptos" panose="020B0004020202020204" pitchFamily="34" charset="0"/>
                <a:hlinkClick r:id="rId7"/>
              </a:rPr>
              <a:t>2022 </a:t>
            </a:r>
          </a:p>
          <a:p>
            <a:pPr algn="r"/>
            <a:r>
              <a:rPr lang="en-US" sz="1050">
                <a:latin typeface="Aptos" panose="020B0004020202020204" pitchFamily="34" charset="0"/>
                <a:hlinkClick r:id="rId7"/>
              </a:rPr>
              <a:t>EEA Advancing towards climate resilience in Europe: status of reported national adaptation actions in 2021</a:t>
            </a:r>
            <a:endParaRPr lang="en-DK" sz="1050">
              <a:latin typeface="Aptos" panose="020B0004020202020204" pitchFamily="34" charset="0"/>
            </a:endParaRPr>
          </a:p>
        </p:txBody>
      </p:sp>
      <p:sp>
        <p:nvSpPr>
          <p:cNvPr id="25" name="Rectangle: Diagonal Corners Rounded 24">
            <a:extLst>
              <a:ext uri="{FF2B5EF4-FFF2-40B4-BE49-F238E27FC236}">
                <a16:creationId xmlns:a16="http://schemas.microsoft.com/office/drawing/2014/main" id="{97DBB983-0474-12FC-8738-3A13A4CAFFBC}"/>
              </a:ext>
            </a:extLst>
          </p:cNvPr>
          <p:cNvSpPr/>
          <p:nvPr/>
        </p:nvSpPr>
        <p:spPr>
          <a:xfrm>
            <a:off x="153754" y="1438582"/>
            <a:ext cx="1835945" cy="2523082"/>
          </a:xfrm>
          <a:prstGeom prst="round2DiagRect">
            <a:avLst/>
          </a:prstGeom>
          <a:blipFill dpi="0" rotWithShape="1">
            <a:blip r:embed="rId8" cstate="print">
              <a:extLst>
                <a:ext uri="{28A0092B-C50C-407E-A947-70E740481C1C}">
                  <a14:useLocalDpi xmlns:a14="http://schemas.microsoft.com/office/drawing/2010/main" val="0"/>
                </a:ext>
              </a:extLst>
            </a:blip>
            <a:srcRect/>
            <a:stretch>
              <a:fillRect/>
            </a:stretch>
          </a:blipFill>
          <a:ln w="38100">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8" name="Rectangle: Diagonal Corners Rounded 27">
            <a:extLst>
              <a:ext uri="{FF2B5EF4-FFF2-40B4-BE49-F238E27FC236}">
                <a16:creationId xmlns:a16="http://schemas.microsoft.com/office/drawing/2014/main" id="{4608F1C6-102F-7762-7038-34CFC486B27B}"/>
              </a:ext>
            </a:extLst>
          </p:cNvPr>
          <p:cNvSpPr/>
          <p:nvPr/>
        </p:nvSpPr>
        <p:spPr>
          <a:xfrm>
            <a:off x="8168000" y="1384753"/>
            <a:ext cx="1835945" cy="2523082"/>
          </a:xfrm>
          <a:prstGeom prst="round2DiagRect">
            <a:avLst/>
          </a:prstGeom>
          <a:blipFill dpi="0" rotWithShape="1">
            <a:blip r:embed="rId9" cstate="print">
              <a:extLst>
                <a:ext uri="{28A0092B-C50C-407E-A947-70E740481C1C}">
                  <a14:useLocalDpi xmlns:a14="http://schemas.microsoft.com/office/drawing/2010/main" val="0"/>
                </a:ext>
              </a:extLst>
            </a:blip>
            <a:srcRect/>
            <a:stretch>
              <a:fillRect/>
            </a:stretch>
          </a:blipFill>
          <a:ln w="381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1" name="TextBox 30">
            <a:extLst>
              <a:ext uri="{FF2B5EF4-FFF2-40B4-BE49-F238E27FC236}">
                <a16:creationId xmlns:a16="http://schemas.microsoft.com/office/drawing/2014/main" id="{B8DD3758-A4FA-F4F8-329A-BF08134B73C8}"/>
              </a:ext>
            </a:extLst>
          </p:cNvPr>
          <p:cNvSpPr txBox="1"/>
          <p:nvPr/>
        </p:nvSpPr>
        <p:spPr>
          <a:xfrm>
            <a:off x="8026473" y="4211170"/>
            <a:ext cx="2119000" cy="900246"/>
          </a:xfrm>
          <a:prstGeom prst="rect">
            <a:avLst/>
          </a:prstGeom>
          <a:noFill/>
        </p:spPr>
        <p:txBody>
          <a:bodyPr wrap="square">
            <a:spAutoFit/>
          </a:bodyPr>
          <a:lstStyle/>
          <a:p>
            <a:pPr algn="r"/>
            <a:r>
              <a:rPr lang="en-US" sz="1050">
                <a:hlinkClick r:id="rId10"/>
              </a:rPr>
              <a:t>ETC-CA Technical Paper 2/23</a:t>
            </a:r>
          </a:p>
          <a:p>
            <a:pPr algn="r"/>
            <a:r>
              <a:rPr lang="en-US" sz="1050">
                <a:hlinkClick r:id="rId10"/>
              </a:rPr>
              <a:t> Is Europe on track with climate resilience? – Status of reported national adaptation actions in 2023</a:t>
            </a:r>
            <a:endParaRPr lang="en-DK" sz="1050">
              <a:latin typeface="Aptos" panose="020B0004020202020204" pitchFamily="34" charset="0"/>
            </a:endParaRPr>
          </a:p>
        </p:txBody>
      </p:sp>
      <p:sp>
        <p:nvSpPr>
          <p:cNvPr id="33" name="TextBox 32">
            <a:extLst>
              <a:ext uri="{FF2B5EF4-FFF2-40B4-BE49-F238E27FC236}">
                <a16:creationId xmlns:a16="http://schemas.microsoft.com/office/drawing/2014/main" id="{2F0A900B-A919-0ECA-04EF-1FBDE3CAF71E}"/>
              </a:ext>
            </a:extLst>
          </p:cNvPr>
          <p:cNvSpPr txBox="1"/>
          <p:nvPr/>
        </p:nvSpPr>
        <p:spPr>
          <a:xfrm>
            <a:off x="3935259" y="4197504"/>
            <a:ext cx="1970561" cy="900246"/>
          </a:xfrm>
          <a:prstGeom prst="rect">
            <a:avLst/>
          </a:prstGeom>
          <a:noFill/>
        </p:spPr>
        <p:txBody>
          <a:bodyPr wrap="square">
            <a:spAutoFit/>
          </a:bodyPr>
          <a:lstStyle/>
          <a:p>
            <a:pPr algn="r"/>
            <a:r>
              <a:rPr lang="en-US" sz="1050">
                <a:latin typeface="Aptos" panose="020B0004020202020204" pitchFamily="34" charset="0"/>
                <a:hlinkClick r:id="rId11"/>
              </a:rPr>
              <a:t>2021 </a:t>
            </a:r>
          </a:p>
          <a:p>
            <a:pPr algn="r"/>
            <a:r>
              <a:rPr lang="en-US" sz="1050">
                <a:latin typeface="Aptos" panose="020B0004020202020204" pitchFamily="34" charset="0"/>
                <a:hlinkClick r:id="rId11"/>
              </a:rPr>
              <a:t>ETC-CA Using Key Type Measures to report climate adaptation action in the EEA member countries</a:t>
            </a:r>
            <a:endParaRPr lang="en-DK" sz="1050">
              <a:latin typeface="Aptos" panose="020B0004020202020204" pitchFamily="34" charset="0"/>
            </a:endParaRPr>
          </a:p>
        </p:txBody>
      </p:sp>
      <p:sp>
        <p:nvSpPr>
          <p:cNvPr id="35" name="TextBox 34">
            <a:extLst>
              <a:ext uri="{FF2B5EF4-FFF2-40B4-BE49-F238E27FC236}">
                <a16:creationId xmlns:a16="http://schemas.microsoft.com/office/drawing/2014/main" id="{1A5E51E4-A719-6CB4-85A0-86FAEA8CE548}"/>
              </a:ext>
            </a:extLst>
          </p:cNvPr>
          <p:cNvSpPr txBox="1"/>
          <p:nvPr/>
        </p:nvSpPr>
        <p:spPr>
          <a:xfrm>
            <a:off x="2032522" y="4189676"/>
            <a:ext cx="1835945" cy="900246"/>
          </a:xfrm>
          <a:prstGeom prst="rect">
            <a:avLst/>
          </a:prstGeom>
          <a:noFill/>
        </p:spPr>
        <p:txBody>
          <a:bodyPr wrap="square">
            <a:spAutoFit/>
          </a:bodyPr>
          <a:lstStyle/>
          <a:p>
            <a:pPr algn="r"/>
            <a:r>
              <a:rPr lang="en-US" sz="1050">
                <a:latin typeface="Aptos" panose="020B0004020202020204" pitchFamily="34" charset="0"/>
                <a:hlinkClick r:id="rId12"/>
              </a:rPr>
              <a:t>2020 </a:t>
            </a:r>
          </a:p>
          <a:p>
            <a:pPr algn="r"/>
            <a:r>
              <a:rPr lang="en-US" sz="1050">
                <a:latin typeface="Aptos" panose="020B0004020202020204" pitchFamily="34" charset="0"/>
                <a:hlinkClick r:id="rId12"/>
              </a:rPr>
              <a:t>ETC-CA Rationale, approach and added value of Key Type of Measures for adaptation to climate change</a:t>
            </a:r>
            <a:endParaRPr lang="en-DK" sz="1050">
              <a:latin typeface="Aptos" panose="020B0004020202020204" pitchFamily="34" charset="0"/>
            </a:endParaRPr>
          </a:p>
        </p:txBody>
      </p:sp>
      <p:pic>
        <p:nvPicPr>
          <p:cNvPr id="8" name="Picture 7" descr="A logo with a black background&#10;&#10;Description automatically generated">
            <a:extLst>
              <a:ext uri="{FF2B5EF4-FFF2-40B4-BE49-F238E27FC236}">
                <a16:creationId xmlns:a16="http://schemas.microsoft.com/office/drawing/2014/main" id="{C76818CE-7467-238B-1ED6-C578CB74F864}"/>
              </a:ext>
            </a:extLst>
          </p:cNvPr>
          <p:cNvPicPr>
            <a:picLocks noChangeAspect="1"/>
          </p:cNvPicPr>
          <p:nvPr/>
        </p:nvPicPr>
        <p:blipFill rotWithShape="1">
          <a:blip r:embed="rId13">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
        <p:nvSpPr>
          <p:cNvPr id="11" name="Rectangle: Diagonal Corners Rounded 10">
            <a:extLst>
              <a:ext uri="{FF2B5EF4-FFF2-40B4-BE49-F238E27FC236}">
                <a16:creationId xmlns:a16="http://schemas.microsoft.com/office/drawing/2014/main" id="{09164F0F-AAE0-7865-AE54-3E446AEF34A3}"/>
              </a:ext>
            </a:extLst>
          </p:cNvPr>
          <p:cNvSpPr/>
          <p:nvPr/>
        </p:nvSpPr>
        <p:spPr>
          <a:xfrm>
            <a:off x="10187723" y="1355540"/>
            <a:ext cx="1818925" cy="2509824"/>
          </a:xfrm>
          <a:prstGeom prst="round2DiagRect">
            <a:avLst/>
          </a:prstGeom>
          <a:blipFill dpi="0" rotWithShape="1">
            <a:blip r:embed="rId14">
              <a:extLst>
                <a:ext uri="{28A0092B-C50C-407E-A947-70E740481C1C}">
                  <a14:useLocalDpi xmlns:a14="http://schemas.microsoft.com/office/drawing/2010/main" val="0"/>
                </a:ext>
              </a:extLst>
            </a:blip>
            <a:srcRect/>
            <a:stretch>
              <a:fillRect/>
            </a:stretch>
          </a:blip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8" name="TextBox 17">
            <a:extLst>
              <a:ext uri="{FF2B5EF4-FFF2-40B4-BE49-F238E27FC236}">
                <a16:creationId xmlns:a16="http://schemas.microsoft.com/office/drawing/2014/main" id="{B6D27262-6213-0FDD-DCA8-94BC5001F565}"/>
              </a:ext>
            </a:extLst>
          </p:cNvPr>
          <p:cNvSpPr txBox="1"/>
          <p:nvPr/>
        </p:nvSpPr>
        <p:spPr>
          <a:xfrm>
            <a:off x="10150270" y="4197504"/>
            <a:ext cx="1813172" cy="900246"/>
          </a:xfrm>
          <a:prstGeom prst="rect">
            <a:avLst/>
          </a:prstGeom>
          <a:noFill/>
        </p:spPr>
        <p:txBody>
          <a:bodyPr wrap="square">
            <a:spAutoFit/>
          </a:bodyPr>
          <a:lstStyle/>
          <a:p>
            <a:pPr algn="r"/>
            <a:r>
              <a:rPr lang="en-US" sz="1050">
                <a:hlinkClick r:id="rId15"/>
              </a:rPr>
              <a:t>ETC-CA Report 2/2024 Characteristics and conditions of adaptation policy in EEA member and cooperating countries</a:t>
            </a:r>
            <a:endParaRPr lang="en-DK" sz="1050"/>
          </a:p>
        </p:txBody>
      </p:sp>
      <p:sp>
        <p:nvSpPr>
          <p:cNvPr id="20" name="TextBox 19">
            <a:extLst>
              <a:ext uri="{FF2B5EF4-FFF2-40B4-BE49-F238E27FC236}">
                <a16:creationId xmlns:a16="http://schemas.microsoft.com/office/drawing/2014/main" id="{F8F5722D-F85E-FFF2-726E-594DABDA488D}"/>
              </a:ext>
            </a:extLst>
          </p:cNvPr>
          <p:cNvSpPr txBox="1"/>
          <p:nvPr/>
        </p:nvSpPr>
        <p:spPr>
          <a:xfrm>
            <a:off x="8302894" y="5184706"/>
            <a:ext cx="1835945" cy="577081"/>
          </a:xfrm>
          <a:prstGeom prst="rect">
            <a:avLst/>
          </a:prstGeom>
          <a:noFill/>
        </p:spPr>
        <p:txBody>
          <a:bodyPr wrap="square">
            <a:spAutoFit/>
          </a:bodyPr>
          <a:lstStyle/>
          <a:p>
            <a:pPr algn="r"/>
            <a:r>
              <a:rPr lang="en-US" sz="1050">
                <a:hlinkClick r:id="rId16"/>
              </a:rPr>
              <a:t>2023 EEA briefing Is Europe on track towards climate resilience?</a:t>
            </a:r>
            <a:endParaRPr lang="en-DK" sz="1050"/>
          </a:p>
        </p:txBody>
      </p:sp>
      <p:sp>
        <p:nvSpPr>
          <p:cNvPr id="26" name="Rectangle 25">
            <a:extLst>
              <a:ext uri="{FF2B5EF4-FFF2-40B4-BE49-F238E27FC236}">
                <a16:creationId xmlns:a16="http://schemas.microsoft.com/office/drawing/2014/main" id="{82541A0B-EB16-2853-D427-5CB95DDAD138}"/>
              </a:ext>
            </a:extLst>
          </p:cNvPr>
          <p:cNvSpPr/>
          <p:nvPr/>
        </p:nvSpPr>
        <p:spPr>
          <a:xfrm>
            <a:off x="7818120" y="5881254"/>
            <a:ext cx="2904468" cy="720064"/>
          </a:xfrm>
          <a:prstGeom prst="rect">
            <a:avLst/>
          </a:prstGeom>
          <a:solidFill>
            <a:schemeClr val="accent5">
              <a:lumMod val="75000"/>
            </a:schemeClr>
          </a:solidFill>
          <a:ln>
            <a:noFill/>
          </a:ln>
          <a:effectLst>
            <a:softEdge rad="1270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b="1" u="sng" dirty="0"/>
              <a:t>Upcoming EEA reports </a:t>
            </a:r>
          </a:p>
          <a:p>
            <a:pPr algn="ctr"/>
            <a:r>
              <a:rPr lang="en-GB" b="1" u="sng" dirty="0"/>
              <a:t>When? Q1 2026</a:t>
            </a:r>
          </a:p>
        </p:txBody>
      </p:sp>
    </p:spTree>
    <p:extLst>
      <p:ext uri="{BB962C8B-B14F-4D97-AF65-F5344CB8AC3E}">
        <p14:creationId xmlns:p14="http://schemas.microsoft.com/office/powerpoint/2010/main" val="66471470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EC022-F4CF-9E99-751D-1A458DEAAC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8B2F3CD-31BE-EA79-3BE9-0A2CB187C26E}"/>
              </a:ext>
            </a:extLst>
          </p:cNvPr>
          <p:cNvSpPr txBox="1"/>
          <p:nvPr/>
        </p:nvSpPr>
        <p:spPr>
          <a:xfrm>
            <a:off x="4837872" y="482470"/>
            <a:ext cx="8722619" cy="646331"/>
          </a:xfrm>
          <a:prstGeom prst="rect">
            <a:avLst/>
          </a:prstGeom>
          <a:noFill/>
        </p:spPr>
        <p:txBody>
          <a:bodyPr wrap="square" rtlCol="0">
            <a:spAutoFit/>
          </a:bodyPr>
          <a:lstStyle/>
          <a:p>
            <a:r>
              <a:rPr lang="en-GB" sz="3600">
                <a:solidFill>
                  <a:srgbClr val="009999"/>
                </a:solidFill>
                <a:latin typeface="Aptos" panose="020B0004020202020204" pitchFamily="34" charset="0"/>
                <a:ea typeface="Calibri Light"/>
                <a:cs typeface="Calibri Light"/>
              </a:rPr>
              <a:t>Helpdesk</a:t>
            </a:r>
          </a:p>
        </p:txBody>
      </p:sp>
      <p:sp>
        <p:nvSpPr>
          <p:cNvPr id="3" name="TextBox 2">
            <a:extLst>
              <a:ext uri="{FF2B5EF4-FFF2-40B4-BE49-F238E27FC236}">
                <a16:creationId xmlns:a16="http://schemas.microsoft.com/office/drawing/2014/main" id="{4995AFA7-28F5-7C0D-F52D-041A623BC7AF}"/>
              </a:ext>
            </a:extLst>
          </p:cNvPr>
          <p:cNvSpPr txBox="1"/>
          <p:nvPr/>
        </p:nvSpPr>
        <p:spPr>
          <a:xfrm>
            <a:off x="4869139" y="4257056"/>
            <a:ext cx="5003486" cy="584775"/>
          </a:xfrm>
          <a:prstGeom prst="rect">
            <a:avLst/>
          </a:prstGeom>
          <a:noFill/>
        </p:spPr>
        <p:txBody>
          <a:bodyPr wrap="none" lIns="91440" tIns="45720" rIns="91440" bIns="45720" rtlCol="0" anchor="t">
            <a:spAutoFit/>
          </a:bodyPr>
          <a:lstStyle/>
          <a:p>
            <a:r>
              <a:rPr lang="en-US" sz="3200" b="1">
                <a:solidFill>
                  <a:schemeClr val="accent5">
                    <a:lumMod val="75000"/>
                  </a:schemeClr>
                </a:solidFill>
                <a:latin typeface="Calibri"/>
                <a:ea typeface="Calibri Light"/>
                <a:cs typeface="Calibri Light"/>
              </a:rPr>
              <a:t>servicedesk@eea.europa.eu</a:t>
            </a:r>
            <a:endParaRPr lang="en-DK" sz="3200" b="1">
              <a:solidFill>
                <a:schemeClr val="accent5">
                  <a:lumMod val="75000"/>
                </a:schemeClr>
              </a:solidFill>
              <a:latin typeface="Calibri"/>
              <a:ea typeface="Calibri Light"/>
              <a:cs typeface="Calibri Light"/>
            </a:endParaRPr>
          </a:p>
        </p:txBody>
      </p:sp>
      <p:sp>
        <p:nvSpPr>
          <p:cNvPr id="4" name="TextBox 3">
            <a:extLst>
              <a:ext uri="{FF2B5EF4-FFF2-40B4-BE49-F238E27FC236}">
                <a16:creationId xmlns:a16="http://schemas.microsoft.com/office/drawing/2014/main" id="{96454169-7DA5-F256-31C8-9161AEFE94C1}"/>
              </a:ext>
            </a:extLst>
          </p:cNvPr>
          <p:cNvSpPr txBox="1"/>
          <p:nvPr/>
        </p:nvSpPr>
        <p:spPr>
          <a:xfrm>
            <a:off x="4888430" y="1507960"/>
            <a:ext cx="6266889" cy="584775"/>
          </a:xfrm>
          <a:prstGeom prst="rect">
            <a:avLst/>
          </a:prstGeom>
          <a:noFill/>
        </p:spPr>
        <p:txBody>
          <a:bodyPr wrap="square" lIns="91440" tIns="45720" rIns="91440" bIns="45720" rtlCol="0" anchor="t">
            <a:spAutoFit/>
          </a:bodyPr>
          <a:lstStyle/>
          <a:p>
            <a:r>
              <a:rPr lang="en-US" sz="3200" b="1" dirty="0">
                <a:solidFill>
                  <a:schemeClr val="accent5">
                    <a:lumMod val="75000"/>
                  </a:schemeClr>
                </a:solidFill>
                <a:latin typeface="Calibri"/>
                <a:ea typeface="Calibri Light"/>
                <a:cs typeface="Calibri Light"/>
              </a:rPr>
              <a:t>aneliya.nikolova@eea.europa.eu</a:t>
            </a:r>
            <a:endParaRPr lang="en-DK" sz="3200" b="1" dirty="0">
              <a:solidFill>
                <a:schemeClr val="accent5">
                  <a:lumMod val="75000"/>
                </a:schemeClr>
              </a:solidFill>
              <a:latin typeface="Calibri"/>
              <a:ea typeface="Calibri Light"/>
              <a:cs typeface="Calibri Light"/>
            </a:endParaRPr>
          </a:p>
        </p:txBody>
      </p:sp>
      <p:sp>
        <p:nvSpPr>
          <p:cNvPr id="5" name="TextBox 4">
            <a:extLst>
              <a:ext uri="{FF2B5EF4-FFF2-40B4-BE49-F238E27FC236}">
                <a16:creationId xmlns:a16="http://schemas.microsoft.com/office/drawing/2014/main" id="{4BA6B0BE-1753-007B-A264-883C4D27273F}"/>
              </a:ext>
            </a:extLst>
          </p:cNvPr>
          <p:cNvSpPr txBox="1"/>
          <p:nvPr/>
        </p:nvSpPr>
        <p:spPr>
          <a:xfrm>
            <a:off x="4869139" y="2159233"/>
            <a:ext cx="4970848" cy="1969770"/>
          </a:xfrm>
          <a:prstGeom prst="rect">
            <a:avLst/>
          </a:prstGeom>
          <a:noFill/>
        </p:spPr>
        <p:txBody>
          <a:bodyPr wrap="none" rtlCol="0">
            <a:spAutoFit/>
          </a:bodyPr>
          <a:lstStyle/>
          <a:p>
            <a:r>
              <a:rPr lang="en-US"/>
              <a:t>First point of contact</a:t>
            </a:r>
          </a:p>
          <a:p>
            <a:r>
              <a:rPr lang="en-US"/>
              <a:t>Thematic issues with data input</a:t>
            </a:r>
          </a:p>
          <a:p>
            <a:r>
              <a:rPr lang="en-US"/>
              <a:t>Information on renomination of lead reporters</a:t>
            </a:r>
          </a:p>
          <a:p>
            <a:r>
              <a:rPr lang="en-US"/>
              <a:t>All dataflow experts will respond via this mailbox</a:t>
            </a:r>
          </a:p>
          <a:p>
            <a:endParaRPr lang="en-US"/>
          </a:p>
          <a:p>
            <a:r>
              <a:rPr lang="en-US" sz="3200"/>
              <a:t>OR</a:t>
            </a:r>
          </a:p>
        </p:txBody>
      </p:sp>
      <p:sp>
        <p:nvSpPr>
          <p:cNvPr id="6" name="TextBox 5">
            <a:extLst>
              <a:ext uri="{FF2B5EF4-FFF2-40B4-BE49-F238E27FC236}">
                <a16:creationId xmlns:a16="http://schemas.microsoft.com/office/drawing/2014/main" id="{3C6F24DA-7F5F-744E-8D92-DF27A260CFB5}"/>
              </a:ext>
            </a:extLst>
          </p:cNvPr>
          <p:cNvSpPr txBox="1"/>
          <p:nvPr/>
        </p:nvSpPr>
        <p:spPr>
          <a:xfrm>
            <a:off x="4887033" y="4908329"/>
            <a:ext cx="5082160" cy="369332"/>
          </a:xfrm>
          <a:prstGeom prst="rect">
            <a:avLst/>
          </a:prstGeom>
          <a:noFill/>
        </p:spPr>
        <p:txBody>
          <a:bodyPr wrap="none" rtlCol="0">
            <a:spAutoFit/>
          </a:bodyPr>
          <a:lstStyle/>
          <a:p>
            <a:r>
              <a:rPr lang="en-US"/>
              <a:t>IT/Technical Reportnet issues (crashes, bugs etc.)</a:t>
            </a:r>
            <a:endParaRPr lang="en-DK"/>
          </a:p>
        </p:txBody>
      </p:sp>
      <p:pic>
        <p:nvPicPr>
          <p:cNvPr id="11" name="Picture 10" descr="A group of people walking on a bridge&#10;&#10;AI-generated content may be incorrect.">
            <a:extLst>
              <a:ext uri="{FF2B5EF4-FFF2-40B4-BE49-F238E27FC236}">
                <a16:creationId xmlns:a16="http://schemas.microsoft.com/office/drawing/2014/main" id="{1C119C44-5DB6-8689-2244-32A6495E47BD}"/>
              </a:ext>
            </a:extLst>
          </p:cNvPr>
          <p:cNvPicPr>
            <a:picLocks noChangeAspect="1"/>
          </p:cNvPicPr>
          <p:nvPr/>
        </p:nvPicPr>
        <p:blipFill>
          <a:blip r:embed="rId3">
            <a:extLst>
              <a:ext uri="{28A0092B-C50C-407E-A947-70E740481C1C}">
                <a14:useLocalDpi xmlns:a14="http://schemas.microsoft.com/office/drawing/2010/main" val="0"/>
              </a:ext>
            </a:extLst>
          </a:blip>
          <a:srcRect l="59916" t="15094" r="4116" b="1"/>
          <a:stretch/>
        </p:blipFill>
        <p:spPr>
          <a:xfrm>
            <a:off x="0" y="0"/>
            <a:ext cx="4385187" cy="6858000"/>
          </a:xfrm>
          <a:prstGeom prst="rect">
            <a:avLst/>
          </a:prstGeom>
        </p:spPr>
      </p:pic>
      <p:sp>
        <p:nvSpPr>
          <p:cNvPr id="12" name="TextBox 11">
            <a:extLst>
              <a:ext uri="{FF2B5EF4-FFF2-40B4-BE49-F238E27FC236}">
                <a16:creationId xmlns:a16="http://schemas.microsoft.com/office/drawing/2014/main" id="{8832046A-BED2-5DB7-982A-25DB6066E174}"/>
              </a:ext>
            </a:extLst>
          </p:cNvPr>
          <p:cNvSpPr txBox="1"/>
          <p:nvPr/>
        </p:nvSpPr>
        <p:spPr>
          <a:xfrm>
            <a:off x="98324" y="6511623"/>
            <a:ext cx="6272980" cy="261610"/>
          </a:xfrm>
          <a:prstGeom prst="rect">
            <a:avLst/>
          </a:prstGeom>
          <a:noFill/>
        </p:spPr>
        <p:txBody>
          <a:bodyPr wrap="square">
            <a:spAutoFit/>
          </a:bodyPr>
          <a:lstStyle/>
          <a:p>
            <a:r>
              <a:rPr lang="en-US" sz="1100">
                <a:solidFill>
                  <a:schemeClr val="bg1"/>
                </a:solidFill>
              </a:rPr>
              <a:t>©T</a:t>
            </a:r>
            <a:r>
              <a:rPr lang="en-DK" sz="1100">
                <a:solidFill>
                  <a:schemeClr val="bg1"/>
                </a:solidFill>
              </a:rPr>
              <a:t>Peter </a:t>
            </a:r>
            <a:r>
              <a:rPr lang="en-DK" sz="1100" err="1">
                <a:solidFill>
                  <a:schemeClr val="bg1"/>
                </a:solidFill>
              </a:rPr>
              <a:t>Vadocz</a:t>
            </a:r>
            <a:r>
              <a:rPr lang="en-DK" sz="1100">
                <a:solidFill>
                  <a:schemeClr val="bg1"/>
                </a:solidFill>
              </a:rPr>
              <a:t>, Urban Treasures  EEA</a:t>
            </a:r>
          </a:p>
        </p:txBody>
      </p:sp>
      <p:pic>
        <p:nvPicPr>
          <p:cNvPr id="7" name="Picture 6" descr="A logo with a black background&#10;&#10;Description automatically generated">
            <a:extLst>
              <a:ext uri="{FF2B5EF4-FFF2-40B4-BE49-F238E27FC236}">
                <a16:creationId xmlns:a16="http://schemas.microsoft.com/office/drawing/2014/main" id="{82A04C16-36CD-8D4E-9359-2993BC8416BF}"/>
              </a:ext>
            </a:extLst>
          </p:cNvPr>
          <p:cNvPicPr>
            <a:picLocks noChangeAspect="1"/>
          </p:cNvPicPr>
          <p:nvPr/>
        </p:nvPicPr>
        <p:blipFill rotWithShape="1">
          <a:blip r:embed="rId4">
            <a:extLst>
              <a:ext uri="{28A0092B-C50C-407E-A947-70E740481C1C}">
                <a14:useLocalDpi xmlns:a14="http://schemas.microsoft.com/office/drawing/2010/main" val="0"/>
              </a:ext>
            </a:extLst>
          </a:blip>
          <a:srcRect l="38167" t="-11528" r="48578" b="-1"/>
          <a:stretch/>
        </p:blipFill>
        <p:spPr bwMode="auto">
          <a:xfrm>
            <a:off x="10722919" y="5396134"/>
            <a:ext cx="1429227" cy="159856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800015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4F020-2CB9-2F48-8DF4-D11B3B0CA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6C8C7-8AD9-63C2-E8BB-40D47A7EC626}"/>
              </a:ext>
            </a:extLst>
          </p:cNvPr>
          <p:cNvSpPr>
            <a:spLocks noGrp="1"/>
          </p:cNvSpPr>
          <p:nvPr>
            <p:ph type="ctrTitle"/>
          </p:nvPr>
        </p:nvSpPr>
        <p:spPr/>
        <p:txBody>
          <a:bodyPr/>
          <a:lstStyle/>
          <a:p>
            <a:endParaRPr lang="en-DK"/>
          </a:p>
        </p:txBody>
      </p:sp>
      <p:sp>
        <p:nvSpPr>
          <p:cNvPr id="3" name="Subtitle 2">
            <a:extLst>
              <a:ext uri="{FF2B5EF4-FFF2-40B4-BE49-F238E27FC236}">
                <a16:creationId xmlns:a16="http://schemas.microsoft.com/office/drawing/2014/main" id="{BEEBF74F-F505-C8E0-ADEC-C19A744E4D4A}"/>
              </a:ext>
            </a:extLst>
          </p:cNvPr>
          <p:cNvSpPr>
            <a:spLocks noGrp="1"/>
          </p:cNvSpPr>
          <p:nvPr>
            <p:ph type="subTitle" idx="1"/>
          </p:nvPr>
        </p:nvSpPr>
        <p:spPr/>
        <p:txBody>
          <a:bodyPr/>
          <a:lstStyle/>
          <a:p>
            <a:endParaRPr lang="en-DK"/>
          </a:p>
        </p:txBody>
      </p:sp>
      <p:pic>
        <p:nvPicPr>
          <p:cNvPr id="5" name="Picture 4" descr="A group of people walking on a bridge&#10;&#10;AI-generated content may be incorrect.">
            <a:extLst>
              <a:ext uri="{FF2B5EF4-FFF2-40B4-BE49-F238E27FC236}">
                <a16:creationId xmlns:a16="http://schemas.microsoft.com/office/drawing/2014/main" id="{FA0DAB1C-84C1-8BA6-71E1-16E691C3314F}"/>
              </a:ext>
            </a:extLst>
          </p:cNvPr>
          <p:cNvPicPr>
            <a:picLocks noChangeAspect="1"/>
          </p:cNvPicPr>
          <p:nvPr/>
        </p:nvPicPr>
        <p:blipFill>
          <a:blip r:embed="rId3">
            <a:extLst>
              <a:ext uri="{28A0092B-C50C-407E-A947-70E740481C1C}">
                <a14:useLocalDpi xmlns:a14="http://schemas.microsoft.com/office/drawing/2010/main" val="0"/>
              </a:ext>
            </a:extLst>
          </a:blip>
          <a:srcRect t="15605"/>
          <a:stretch/>
        </p:blipFill>
        <p:spPr>
          <a:xfrm>
            <a:off x="0" y="0"/>
            <a:ext cx="12192000" cy="6858000"/>
          </a:xfrm>
          <a:prstGeom prst="rect">
            <a:avLst/>
          </a:prstGeom>
        </p:spPr>
      </p:pic>
      <p:pic>
        <p:nvPicPr>
          <p:cNvPr id="4" name="Picture 3" descr="A blue and green logo&#10;&#10;Description automatically generated">
            <a:extLst>
              <a:ext uri="{FF2B5EF4-FFF2-40B4-BE49-F238E27FC236}">
                <a16:creationId xmlns:a16="http://schemas.microsoft.com/office/drawing/2014/main" id="{5065279B-AC4F-5967-627F-2CA31082A9CC}"/>
              </a:ext>
            </a:extLst>
          </p:cNvPr>
          <p:cNvPicPr>
            <a:picLocks noChangeAspect="1"/>
          </p:cNvPicPr>
          <p:nvPr/>
        </p:nvPicPr>
        <p:blipFill>
          <a:blip r:embed="rId4" cstate="print">
            <a:biLevel thresh="25000"/>
            <a:extLst>
              <a:ext uri="{28A0092B-C50C-407E-A947-70E740481C1C}">
                <a14:useLocalDpi xmlns:a14="http://schemas.microsoft.com/office/drawing/2010/main" val="0"/>
              </a:ext>
            </a:extLst>
          </a:blip>
          <a:stretch>
            <a:fillRect/>
          </a:stretch>
        </p:blipFill>
        <p:spPr>
          <a:xfrm>
            <a:off x="-640098" y="3222636"/>
            <a:ext cx="4373884" cy="4373884"/>
          </a:xfrm>
          <a:prstGeom prst="rect">
            <a:avLst/>
          </a:prstGeom>
        </p:spPr>
      </p:pic>
      <p:sp>
        <p:nvSpPr>
          <p:cNvPr id="6" name="TextBox 5">
            <a:extLst>
              <a:ext uri="{FF2B5EF4-FFF2-40B4-BE49-F238E27FC236}">
                <a16:creationId xmlns:a16="http://schemas.microsoft.com/office/drawing/2014/main" id="{D1BA69FA-AFDC-239F-9201-1D776C5CC2E1}"/>
              </a:ext>
            </a:extLst>
          </p:cNvPr>
          <p:cNvSpPr txBox="1"/>
          <p:nvPr/>
        </p:nvSpPr>
        <p:spPr>
          <a:xfrm>
            <a:off x="1273652" y="4747858"/>
            <a:ext cx="546383" cy="1323439"/>
          </a:xfrm>
          <a:prstGeom prst="rect">
            <a:avLst/>
          </a:prstGeom>
          <a:noFill/>
        </p:spPr>
        <p:txBody>
          <a:bodyPr wrap="square" rtlCol="0">
            <a:spAutoFit/>
          </a:bodyPr>
          <a:lstStyle/>
          <a:p>
            <a:r>
              <a:rPr lang="en-US" sz="8000">
                <a:solidFill>
                  <a:schemeClr val="bg1"/>
                </a:solidFill>
                <a:latin typeface="Aptos" panose="020B0004020202020204" pitchFamily="34" charset="0"/>
              </a:rPr>
              <a:t>?</a:t>
            </a:r>
            <a:endParaRPr lang="en-DK" sz="8000">
              <a:solidFill>
                <a:schemeClr val="bg1"/>
              </a:solidFill>
              <a:latin typeface="Aptos" panose="020B0004020202020204" pitchFamily="34" charset="0"/>
            </a:endParaRPr>
          </a:p>
        </p:txBody>
      </p:sp>
    </p:spTree>
    <p:extLst>
      <p:ext uri="{BB962C8B-B14F-4D97-AF65-F5344CB8AC3E}">
        <p14:creationId xmlns:p14="http://schemas.microsoft.com/office/powerpoint/2010/main" val="3045775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B40EECA-F908-4AB6-A5CB-8AC2EA567B73}">
  <ds:schemaRefs>
    <ds:schemaRef ds:uri="http://schemas.microsoft.com/sharepoint/v3/contenttype/forms"/>
  </ds:schemaRefs>
</ds:datastoreItem>
</file>

<file path=customXml/itemProps2.xml><?xml version="1.0" encoding="utf-8"?>
<ds:datastoreItem xmlns:ds="http://schemas.openxmlformats.org/officeDocument/2006/customXml" ds:itemID="{D0D96DCA-33F8-439E-BA63-345090273A8C}"/>
</file>

<file path=customXml/itemProps3.xml><?xml version="1.0" encoding="utf-8"?>
<ds:datastoreItem xmlns:ds="http://schemas.openxmlformats.org/officeDocument/2006/customXml" ds:itemID="{F9E13878-847F-45C2-9F12-785E7A16475E}">
  <ds:schemaRefs>
    <ds:schemaRef ds:uri="http://schemas.microsoft.com/office/2006/metadata/properties"/>
    <ds:schemaRef ds:uri="http://schemas.microsoft.com/office/infopath/2007/PartnerControls"/>
    <ds:schemaRef ds:uri="340712eb-23a5-460f-9036-c6d10688f9a1"/>
    <ds:schemaRef ds:uri="1403fb54-47f0-4125-8d87-6a6e13582a5f"/>
  </ds:schemaRefs>
</ds:datastoreItem>
</file>

<file path=docProps/app.xml><?xml version="1.0" encoding="utf-8"?>
<Properties xmlns="http://schemas.openxmlformats.org/officeDocument/2006/extended-properties" xmlns:vt="http://schemas.openxmlformats.org/officeDocument/2006/docPropsVTypes">
  <TotalTime>0</TotalTime>
  <Words>3137</Words>
  <Application>Microsoft Office PowerPoint</Application>
  <PresentationFormat>Widescreen</PresentationFormat>
  <Paragraphs>643</Paragraphs>
  <Slides>82</Slides>
  <Notes>72</Notes>
  <HiddenSlides>0</HiddenSlides>
  <MMClips>0</MMClips>
  <ScaleCrop>false</ScaleCrop>
  <HeadingPairs>
    <vt:vector size="4" baseType="variant">
      <vt:variant>
        <vt:lpstr>Theme</vt:lpstr>
      </vt:variant>
      <vt:variant>
        <vt:i4>1</vt:i4>
      </vt:variant>
      <vt:variant>
        <vt:lpstr>Slide Titles</vt:lpstr>
      </vt:variant>
      <vt:variant>
        <vt:i4>82</vt:i4>
      </vt:variant>
    </vt:vector>
  </HeadingPairs>
  <TitlesOfParts>
    <vt:vector size="83" baseType="lpstr">
      <vt:lpstr>Office Theme</vt:lpstr>
      <vt:lpstr>PowerPoint Presentation</vt:lpstr>
      <vt:lpstr>Your Adapted GovReg Team</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2025 Activities</vt:lpstr>
      <vt:lpstr>Reporting period</vt:lpstr>
      <vt:lpstr>PowerPoint Presentation</vt:lpstr>
      <vt:lpstr>PowerPoint Presentation</vt:lpstr>
      <vt:lpstr>Assessment</vt:lpstr>
      <vt:lpstr>Product development</vt:lpstr>
      <vt:lpstr>EEA / ETC CA  Publications on National adaptation policies and actions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Angelika Tamasova</dc:creator>
  <cp:lastModifiedBy>William Keeling</cp:lastModifiedBy>
  <cp:revision>435</cp:revision>
  <dcterms:created xsi:type="dcterms:W3CDTF">2025-01-29T09:12:30Z</dcterms:created>
  <dcterms:modified xsi:type="dcterms:W3CDTF">2025-10-08T09:00:10Z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0x010100CA9E40BF7383784999BA1B34A435B410</vt:lpwstr>
  </property>
  <property fmtid="{D5CDD505-2E9C-101B-9397-08002B2CF9AE}" pid="3" name="MediaServiceImageTags">
    <vt:lpwstr/>
  </property>
  <property fmtid="{D5CDD505-2E9C-101B-9397-08002B2CF9AE}" pid="4" name="Order">
    <vt:r8>124500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