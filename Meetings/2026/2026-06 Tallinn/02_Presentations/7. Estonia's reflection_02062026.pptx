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Masters/notesMaster1.xml" ContentType="application/vnd.openxmlformats-officedocument.presentationml.notesMaster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theme/theme3.xml" ContentType="application/vnd.openxmlformats-officedocument.theme+xml"/>
  <Override PartName="/ppt/theme/theme2.xml" ContentType="application/vnd.openxmlformats-officedocument.theme+xml"/>
  <Override PartName="/ppt/diagrams/drawing1.xml" ContentType="application/vnd.ms-office.drawingml.diagramDrawing+xml"/>
  <Override PartName="/ppt/authors.xml" ContentType="application/vnd.ms-powerpoint.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648" r:id="rId2"/>
  </p:sldMasterIdLst>
  <p:notesMasterIdLst>
    <p:notesMasterId r:id="rId11"/>
  </p:notesMasterIdLst>
  <p:sldIdLst>
    <p:sldId id="2145706823" r:id="rId3"/>
    <p:sldId id="2145707438" r:id="rId4"/>
    <p:sldId id="268" r:id="rId5"/>
    <p:sldId id="2145707436" r:id="rId6"/>
    <p:sldId id="2145706822" r:id="rId7"/>
    <p:sldId id="2145706912" r:id="rId8"/>
    <p:sldId id="2145707439" r:id="rId9"/>
    <p:sldId id="2145707428" r:id="rId10"/>
  </p:sldIdLst>
  <p:sldSz cx="12192000" cy="6858000"/>
  <p:notesSz cx="6858000" cy="91440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2E1218-9C74-A2DC-44A4-358FBDE08F10}" name="Merilyn Möls" initials="MM" userId="S::Merilyn.Mols@envir.ee::55fd47dd-2cab-4134-b144-a161c7902155" providerId="AD"/>
  <p188:author id="{6FAE1720-C9D9-076B-2E08-E2E688EC443B}" name="Eve Suursild" initials="ES" userId="S::Eve.Suursild@kliimaministeerium.ee::0a758bf9-3aad-4f6a-952c-4576884d4f28" providerId="AD"/>
  <p188:author id="{38BD3735-0349-F1EE-1826-63C9ED8B95B6}" name="Laura Remmelgas" initials="LR" userId="S::laura.remmelgas@envir.ee::2455ff4c-433a-4637-be0d-91be619cfb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C97CF-E8FC-F331-ACA6-82BD48AB4155}" v="110" dt="2026-03-12T13:03:07.564"/>
    <p1510:client id="{4C48BC36-25AF-3438-69BE-DF7F1981D12D}" v="5" dt="2026-03-13T15:43:18.186"/>
    <p1510:client id="{564B4EF3-0BC3-B977-BCAB-6BE5FA09C980}" v="168" dt="2026-03-13T14:26:04.142"/>
    <p1510:client id="{6CA29567-D351-8C4C-14B7-1D258BEB5A9C}" v="49" dt="2026-03-13T13:41:59.406"/>
    <p1510:client id="{A40C2461-A8B6-360E-6438-682ED485A8AC}" v="10" dt="2026-03-13T13:12:42.136"/>
    <p1510:client id="{EC9D9DDF-1E2A-4237-A74D-C3620272BAF3}" v="1" dt="2026-03-12T15:24:00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1AC42B-053E-47FC-9152-5F47BC29DD4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t-EE"/>
        </a:p>
      </dgm:t>
    </dgm:pt>
    <dgm:pt modelId="{4EADCBD7-BCBC-4413-801C-33A869020973}">
      <dgm:prSet phldrT="[Tekst]"/>
      <dgm:spPr/>
      <dgm:t>
        <a:bodyPr/>
        <a:lstStyle/>
        <a:p>
          <a:pPr algn="ctr"/>
          <a:r>
            <a:rPr lang="et-EE" b="1">
              <a:latin typeface="Roboto Condensed Light" panose="02000000000000000000" pitchFamily="2" charset="0"/>
              <a:ea typeface="Roboto Condensed Light" panose="02000000000000000000" pitchFamily="2" charset="0"/>
            </a:rPr>
            <a:t>REDUCTION OF GHG EMISSIONS</a:t>
          </a:r>
        </a:p>
      </dgm:t>
    </dgm:pt>
    <dgm:pt modelId="{C562C50D-A6CC-4306-A280-B51A0D8EFEEA}" type="parTrans" cxnId="{3EF1F923-24D3-429B-A180-4996F222B063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D01086B6-3156-4E86-AE35-CD016FAACE41}" type="sibTrans" cxnId="{3EF1F923-24D3-429B-A180-4996F222B063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E447AD78-E5F1-4AAC-B650-87D19A2E642A}">
      <dgm:prSet phldrT="[Teks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Net emissions to zero (1990–2050)</a:t>
          </a:r>
          <a:endParaRPr lang="et-EE" strike="sngStrike" baseline="0" dirty="0">
            <a:solidFill>
              <a:schemeClr val="bg1">
                <a:lumMod val="50000"/>
              </a:scheme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16A51CD9-BA95-4BC8-9AB5-77F650E0C336}" type="parTrans" cxnId="{7A099D0E-0814-4D5F-8C5D-46000CF96C2C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7EBB12EA-8D57-4D53-88AD-490BA1C6F68F}" type="sibTrans" cxnId="{7A099D0E-0814-4D5F-8C5D-46000CF96C2C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ECB748CD-DB27-4D29-A7EC-271B38FFDEEC}">
      <dgm:prSet phldrT="[Tekst]"/>
      <dgm:spPr/>
      <dgm:t>
        <a:bodyPr/>
        <a:lstStyle/>
        <a:p>
          <a:pPr algn="ctr"/>
          <a:r>
            <a:rPr lang="et-EE" b="1">
              <a:latin typeface="Roboto Condensed Light" panose="02000000000000000000" pitchFamily="2" charset="0"/>
              <a:ea typeface="Roboto Condensed Light" panose="02000000000000000000" pitchFamily="2" charset="0"/>
            </a:rPr>
            <a:t>SHARE OF RENEWABLE ENERGY</a:t>
          </a:r>
        </a:p>
      </dgm:t>
    </dgm:pt>
    <dgm:pt modelId="{665285B4-8416-4CA7-A75D-52778858065B}" type="parTrans" cxnId="{9D7D0F07-8692-4B4A-8591-0FBE4AE28FFF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B2498DCF-D156-45D6-A047-C4E49F379D29}" type="sibTrans" cxnId="{9D7D0F07-8692-4B4A-8591-0FBE4AE28FFF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12F86526-CDFC-47EE-A5C6-70B7B8083552}">
      <dgm:prSet phldrT="[Tekst]"/>
      <dgm:spPr/>
      <dgm:t>
        <a:bodyPr/>
        <a:lstStyle/>
        <a:p>
          <a:pPr algn="just"/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By 2030, at least </a:t>
          </a:r>
          <a:r>
            <a:rPr lang="en-US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65% of total final energy consumption</a:t>
          </a:r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must come from renewable energy sources:</a:t>
          </a:r>
          <a:endParaRPr lang="et-EE" b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0F3F014A-EBD9-443B-AEDD-FCCCEDE8FFD6}" type="parTrans" cxnId="{A03551C8-4303-4A32-9D51-D8E18CF8EEEA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76865249-4B23-44F9-B9BD-063F934D9E7E}" type="sibTrans" cxnId="{A03551C8-4303-4A32-9D51-D8E18CF8EEEA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00C7C0D7-D0CB-4ECB-A9FB-E0216513D1AD}">
      <dgm:prSet phldrT="[Tekst]"/>
      <dgm:spPr/>
      <dgm:t>
        <a:bodyPr/>
        <a:lstStyle/>
        <a:p>
          <a:pPr algn="ctr"/>
          <a:r>
            <a:rPr lang="et-EE" b="1">
              <a:latin typeface="Roboto Condensed Light" panose="02000000000000000000" pitchFamily="2" charset="0"/>
              <a:ea typeface="Roboto Condensed Light" panose="02000000000000000000" pitchFamily="2" charset="0"/>
            </a:rPr>
            <a:t>ENERGY CONSUMPTION</a:t>
          </a:r>
        </a:p>
      </dgm:t>
    </dgm:pt>
    <dgm:pt modelId="{5405AF37-7AD9-40EF-81C7-A3EBB217D4F6}" type="parTrans" cxnId="{F0ACEE03-A6D9-4AF6-AF10-A139A8B35E52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1746047C-1F76-49A1-8581-671DD58A744B}" type="sibTrans" cxnId="{F0ACEE03-A6D9-4AF6-AF10-A139A8B35E52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2C471071-4E35-4D80-9A9F-11EF5018054B}">
      <dgm:prSet phldrT="[Tekst]"/>
      <dgm:spPr/>
      <dgm:t>
        <a:bodyPr/>
        <a:lstStyle/>
        <a:p>
          <a:pPr algn="just"/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Final energy consumption must remain at </a:t>
          </a:r>
          <a:r>
            <a:rPr lang="en-US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29.4 TWh per year until 2030</a:t>
          </a:r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</a:t>
          </a:r>
          <a:endParaRPr lang="et-EE" b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A530FE19-E39A-4805-BDC7-D29E719A2155}" type="parTrans" cxnId="{EB842E5C-4EB9-440D-BBA1-A58382455818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552D9AE2-71EB-493E-8781-C77B075EC723}" type="sibTrans" cxnId="{EB842E5C-4EB9-440D-BBA1-A58382455818}">
      <dgm:prSet/>
      <dgm:spPr/>
      <dgm:t>
        <a:bodyPr/>
        <a:lstStyle/>
        <a:p>
          <a:pPr algn="just"/>
          <a:endParaRPr lang="et-EE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0BD2191D-1F25-46AA-91A9-30D83A36233D}">
      <dgm:prSet/>
      <dgm:spPr/>
      <dgm:t>
        <a:bodyPr/>
        <a:lstStyle/>
        <a:p>
          <a:pPr algn="l">
            <a:buFont typeface="Wingdings" panose="05000000000000000000" pitchFamily="2" charset="2"/>
            <a:buChar char="Ø"/>
          </a:pPr>
          <a:endParaRPr lang="et-EE" b="0" i="0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gm:t>
    </dgm:pt>
    <dgm:pt modelId="{B6D8CBD7-8BAC-417E-8C27-D365F9644B0E}" type="parTrans" cxnId="{B01FC513-B06B-453F-858E-6D84082B8866}">
      <dgm:prSet/>
      <dgm:spPr/>
      <dgm:t>
        <a:bodyPr/>
        <a:lstStyle/>
        <a:p>
          <a:endParaRPr lang="et-EE"/>
        </a:p>
      </dgm:t>
    </dgm:pt>
    <dgm:pt modelId="{A35342C9-3112-40C3-8A1D-2A8F947F4151}" type="sibTrans" cxnId="{B01FC513-B06B-453F-858E-6D84082B8866}">
      <dgm:prSet/>
      <dgm:spPr/>
      <dgm:t>
        <a:bodyPr/>
        <a:lstStyle/>
        <a:p>
          <a:endParaRPr lang="et-EE"/>
        </a:p>
      </dgm:t>
    </dgm:pt>
    <dgm:pt modelId="{FAF63D9F-B93E-4F23-8B1B-6F39E3C808A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Emissions in the Effort Sharing Regulation sectors in 2030: </a:t>
          </a:r>
          <a:r>
            <a:rPr lang="en-US" b="1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–24% compared to 2005</a:t>
          </a:r>
          <a:endParaRPr lang="en-US" dirty="0">
            <a:solidFill>
              <a:srgbClr val="FF0000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572FC6B3-4FC6-4759-9102-9575AE6CA6F0}" type="parTrans" cxnId="{CA709AAD-4D77-4ECC-88E1-6461B03055C1}">
      <dgm:prSet/>
      <dgm:spPr/>
      <dgm:t>
        <a:bodyPr/>
        <a:lstStyle/>
        <a:p>
          <a:endParaRPr lang="et-EE"/>
        </a:p>
      </dgm:t>
    </dgm:pt>
    <dgm:pt modelId="{F720EA10-AE7E-4E10-B80A-AECCFCEB8044}" type="sibTrans" cxnId="{CA709AAD-4D77-4ECC-88E1-6461B03055C1}">
      <dgm:prSet/>
      <dgm:spPr/>
      <dgm:t>
        <a:bodyPr/>
        <a:lstStyle/>
        <a:p>
          <a:endParaRPr lang="et-EE"/>
        </a:p>
      </dgm:t>
    </dgm:pt>
    <dgm:pt modelId="{CA7C11A3-80EE-4E88-9250-3F6D6920CB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In the Land Use, Land-Use Change and Forestry (LULUCF) sector, net removals in 2030 must increase by </a:t>
          </a:r>
          <a:r>
            <a:rPr lang="en-US" b="1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0.434 million </a:t>
          </a:r>
          <a:r>
            <a:rPr lang="en-US" b="1" dirty="0" err="1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tonnes</a:t>
          </a:r>
          <a:r>
            <a:rPr lang="en-US" b="1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of CO₂ equivalent compared to the 2016–2018 average</a:t>
          </a:r>
          <a:endParaRPr lang="en-US" dirty="0">
            <a:solidFill>
              <a:srgbClr val="FF0000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57A87BC9-6186-41F2-921F-723C519D95D2}" type="parTrans" cxnId="{AF00C4E5-8AF4-4967-966E-26F8F8A13DE3}">
      <dgm:prSet/>
      <dgm:spPr/>
      <dgm:t>
        <a:bodyPr/>
        <a:lstStyle/>
        <a:p>
          <a:endParaRPr lang="et-EE"/>
        </a:p>
      </dgm:t>
    </dgm:pt>
    <dgm:pt modelId="{5276B42D-3130-43D6-AFFF-97A0CAD20BA9}" type="sibTrans" cxnId="{AF00C4E5-8AF4-4967-966E-26F8F8A13DE3}">
      <dgm:prSet/>
      <dgm:spPr/>
      <dgm:t>
        <a:bodyPr/>
        <a:lstStyle/>
        <a:p>
          <a:endParaRPr lang="et-EE"/>
        </a:p>
      </dgm:t>
    </dgm:pt>
    <dgm:pt modelId="{53309814-5753-4F47-8F1B-D34D4E8AC1A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100% of total final electricity consumption</a:t>
          </a:r>
          <a:endParaRPr lang="en-US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F4907337-D64D-466B-ADAE-A7CCBEA8FD3F}" type="parTrans" cxnId="{76CB4D35-4334-4F16-B112-A92E91C880A1}">
      <dgm:prSet/>
      <dgm:spPr/>
      <dgm:t>
        <a:bodyPr/>
        <a:lstStyle/>
        <a:p>
          <a:endParaRPr lang="et-EE"/>
        </a:p>
      </dgm:t>
    </dgm:pt>
    <dgm:pt modelId="{8B04E2D4-6FA3-4A93-A193-03CDA0F4E80B}" type="sibTrans" cxnId="{76CB4D35-4334-4F16-B112-A92E91C880A1}">
      <dgm:prSet/>
      <dgm:spPr/>
      <dgm:t>
        <a:bodyPr/>
        <a:lstStyle/>
        <a:p>
          <a:endParaRPr lang="et-EE"/>
        </a:p>
      </dgm:t>
    </dgm:pt>
    <dgm:pt modelId="{CF098AF8-5931-4586-9AD0-59B7FFB9C8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At least 63% of total final heat consumption</a:t>
          </a:r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from renewable energy</a:t>
          </a:r>
        </a:p>
      </dgm:t>
    </dgm:pt>
    <dgm:pt modelId="{6386AA05-2211-4C39-B013-2A24F9730FF8}" type="parTrans" cxnId="{7C553C6E-9B9D-41B3-83CC-A71380546AEF}">
      <dgm:prSet/>
      <dgm:spPr/>
      <dgm:t>
        <a:bodyPr/>
        <a:lstStyle/>
        <a:p>
          <a:endParaRPr lang="et-EE"/>
        </a:p>
      </dgm:t>
    </dgm:pt>
    <dgm:pt modelId="{43A7394B-BF46-409C-B0F1-04FC8938036E}" type="sibTrans" cxnId="{7C553C6E-9B9D-41B3-83CC-A71380546AEF}">
      <dgm:prSet/>
      <dgm:spPr/>
      <dgm:t>
        <a:bodyPr/>
        <a:lstStyle/>
        <a:p>
          <a:endParaRPr lang="et-EE"/>
        </a:p>
      </dgm:t>
    </dgm:pt>
    <dgm:pt modelId="{88034867-197C-4C26-97DA-D3FC20A2F16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The share of renewable transport fuels in road and rail transport</a:t>
          </a:r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in accordance with the requirements set out in the Renewable Energy Directive.</a:t>
          </a:r>
        </a:p>
      </dgm:t>
    </dgm:pt>
    <dgm:pt modelId="{834D5209-4426-47C2-BEC7-21841C429956}" type="parTrans" cxnId="{9A3BF718-D5FC-48B9-9BE2-2F843F46A1B5}">
      <dgm:prSet/>
      <dgm:spPr/>
      <dgm:t>
        <a:bodyPr/>
        <a:lstStyle/>
        <a:p>
          <a:endParaRPr lang="et-EE"/>
        </a:p>
      </dgm:t>
    </dgm:pt>
    <dgm:pt modelId="{A4420203-ADEA-4BC4-A865-61123CD99701}" type="sibTrans" cxnId="{9A3BF718-D5FC-48B9-9BE2-2F843F46A1B5}">
      <dgm:prSet/>
      <dgm:spPr/>
      <dgm:t>
        <a:bodyPr/>
        <a:lstStyle/>
        <a:p>
          <a:endParaRPr lang="et-EE"/>
        </a:p>
      </dgm:t>
    </dgm:pt>
    <dgm:pt modelId="{E0EF8718-F021-49C2-ADE5-163209EDF359}">
      <dgm:prSet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The </a:t>
          </a:r>
          <a:r>
            <a:rPr lang="en-US" b="1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cumulative energy savings obligation for the period 2021–2030</a:t>
          </a:r>
          <a:r>
            <a:rPr lang="en-US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amounts to </a:t>
          </a:r>
          <a:r>
            <a:rPr lang="en-US" b="1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21.28 TWh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</a:t>
          </a:r>
        </a:p>
      </dgm:t>
    </dgm:pt>
    <dgm:pt modelId="{46F30930-68CA-4B1C-8CC7-3058B068E09A}" type="parTrans" cxnId="{1203921F-F8F9-4E61-BDE1-3B90D33A13E8}">
      <dgm:prSet/>
      <dgm:spPr/>
      <dgm:t>
        <a:bodyPr/>
        <a:lstStyle/>
        <a:p>
          <a:endParaRPr lang="et-EE"/>
        </a:p>
      </dgm:t>
    </dgm:pt>
    <dgm:pt modelId="{424AD890-79EF-4882-B063-7C5171E9DE7E}" type="sibTrans" cxnId="{1203921F-F8F9-4E61-BDE1-3B90D33A13E8}">
      <dgm:prSet/>
      <dgm:spPr/>
      <dgm:t>
        <a:bodyPr/>
        <a:lstStyle/>
        <a:p>
          <a:endParaRPr lang="et-EE"/>
        </a:p>
      </dgm:t>
    </dgm:pt>
    <dgm:pt modelId="{A8397F8D-6DE8-48F1-B3C7-F2360A58F2E0}">
      <dgm:prSet/>
      <dgm:spPr/>
      <dgm:t>
        <a:bodyPr/>
        <a:lstStyle/>
        <a:p>
          <a:pPr>
            <a:buNone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Primary energy consumption must decrease by up to 48% by 2030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compared to the peak consumption in recent years (2016 = 69.8 TWh), meaning that </a:t>
          </a: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primary energy consumption in 2030 must not exceed 36.5 TWh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</a:t>
          </a:r>
        </a:p>
      </dgm:t>
    </dgm:pt>
    <dgm:pt modelId="{0F1A88FB-B350-4E51-9CC8-F12BFDB4F693}" type="parTrans" cxnId="{6949F1A2-228A-4996-853F-73C291BD2562}">
      <dgm:prSet/>
      <dgm:spPr/>
      <dgm:t>
        <a:bodyPr/>
        <a:lstStyle/>
        <a:p>
          <a:endParaRPr lang="et-EE"/>
        </a:p>
      </dgm:t>
    </dgm:pt>
    <dgm:pt modelId="{4C0EC748-49AC-4E49-B7DB-1EBA9D512217}" type="sibTrans" cxnId="{6949F1A2-228A-4996-853F-73C291BD2562}">
      <dgm:prSet/>
      <dgm:spPr/>
      <dgm:t>
        <a:bodyPr/>
        <a:lstStyle/>
        <a:p>
          <a:endParaRPr lang="et-EE"/>
        </a:p>
      </dgm:t>
    </dgm:pt>
    <dgm:pt modelId="{DBDBAE68-1E43-45E2-B905-A22138DBA3EF}" type="pres">
      <dgm:prSet presAssocID="{C11AC42B-053E-47FC-9152-5F47BC29DD45}" presName="Name0" presStyleCnt="0">
        <dgm:presLayoutVars>
          <dgm:dir/>
          <dgm:animLvl val="lvl"/>
          <dgm:resizeHandles val="exact"/>
        </dgm:presLayoutVars>
      </dgm:prSet>
      <dgm:spPr/>
    </dgm:pt>
    <dgm:pt modelId="{82E7356B-501D-46FD-A04E-0FA5E7B28D33}" type="pres">
      <dgm:prSet presAssocID="{4EADCBD7-BCBC-4413-801C-33A869020973}" presName="composite" presStyleCnt="0"/>
      <dgm:spPr/>
    </dgm:pt>
    <dgm:pt modelId="{739FA4D1-6D1F-48A7-BD3B-28036C8220C8}" type="pres">
      <dgm:prSet presAssocID="{4EADCBD7-BCBC-4413-801C-33A869020973}" presName="parTx" presStyleLbl="alignNode1" presStyleIdx="0" presStyleCnt="3" custLinFactNeighborX="6177" custLinFactNeighborY="-3730">
        <dgm:presLayoutVars>
          <dgm:chMax val="0"/>
          <dgm:chPref val="0"/>
          <dgm:bulletEnabled val="1"/>
        </dgm:presLayoutVars>
      </dgm:prSet>
      <dgm:spPr/>
    </dgm:pt>
    <dgm:pt modelId="{3DA9164A-EFB4-435E-9A8B-FE5FA6278470}" type="pres">
      <dgm:prSet presAssocID="{4EADCBD7-BCBC-4413-801C-33A869020973}" presName="desTx" presStyleLbl="alignAccFollowNode1" presStyleIdx="0" presStyleCnt="3" custLinFactNeighborX="6892" custLinFactNeighborY="-281">
        <dgm:presLayoutVars>
          <dgm:bulletEnabled val="1"/>
        </dgm:presLayoutVars>
      </dgm:prSet>
      <dgm:spPr/>
    </dgm:pt>
    <dgm:pt modelId="{4732C034-69D8-45AF-91FB-9112620641F9}" type="pres">
      <dgm:prSet presAssocID="{D01086B6-3156-4E86-AE35-CD016FAACE41}" presName="space" presStyleCnt="0"/>
      <dgm:spPr/>
    </dgm:pt>
    <dgm:pt modelId="{4C8D73E3-B8DA-4A7E-B249-18DE9592CB7A}" type="pres">
      <dgm:prSet presAssocID="{ECB748CD-DB27-4D29-A7EC-271B38FFDEEC}" presName="composite" presStyleCnt="0"/>
      <dgm:spPr/>
    </dgm:pt>
    <dgm:pt modelId="{CE3801C8-CF95-4D46-8E3E-58CB2138DB40}" type="pres">
      <dgm:prSet presAssocID="{ECB748CD-DB27-4D29-A7EC-271B38FFDEE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F360A2E-175A-450D-8F7C-1A59CE08B577}" type="pres">
      <dgm:prSet presAssocID="{ECB748CD-DB27-4D29-A7EC-271B38FFDEEC}" presName="desTx" presStyleLbl="alignAccFollowNode1" presStyleIdx="1" presStyleCnt="3">
        <dgm:presLayoutVars>
          <dgm:bulletEnabled val="1"/>
        </dgm:presLayoutVars>
      </dgm:prSet>
      <dgm:spPr/>
    </dgm:pt>
    <dgm:pt modelId="{0093C472-0E41-4743-883A-EDB22892E20A}" type="pres">
      <dgm:prSet presAssocID="{B2498DCF-D156-45D6-A047-C4E49F379D29}" presName="space" presStyleCnt="0"/>
      <dgm:spPr/>
    </dgm:pt>
    <dgm:pt modelId="{AFE76DA9-1CA9-4399-B091-1F9E60566BF6}" type="pres">
      <dgm:prSet presAssocID="{00C7C0D7-D0CB-4ECB-A9FB-E0216513D1AD}" presName="composite" presStyleCnt="0"/>
      <dgm:spPr/>
    </dgm:pt>
    <dgm:pt modelId="{4F5CAAA0-2832-4EBE-9759-537D69221318}" type="pres">
      <dgm:prSet presAssocID="{00C7C0D7-D0CB-4ECB-A9FB-E0216513D1A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431DE0F-2A10-47C9-B99D-5309D0A8B788}" type="pres">
      <dgm:prSet presAssocID="{00C7C0D7-D0CB-4ECB-A9FB-E0216513D1A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0ACEE03-A6D9-4AF6-AF10-A139A8B35E52}" srcId="{C11AC42B-053E-47FC-9152-5F47BC29DD45}" destId="{00C7C0D7-D0CB-4ECB-A9FB-E0216513D1AD}" srcOrd="2" destOrd="0" parTransId="{5405AF37-7AD9-40EF-81C7-A3EBB217D4F6}" sibTransId="{1746047C-1F76-49A1-8581-671DD58A744B}"/>
    <dgm:cxn modelId="{9D7D0F07-8692-4B4A-8591-0FBE4AE28FFF}" srcId="{C11AC42B-053E-47FC-9152-5F47BC29DD45}" destId="{ECB748CD-DB27-4D29-A7EC-271B38FFDEEC}" srcOrd="1" destOrd="0" parTransId="{665285B4-8416-4CA7-A75D-52778858065B}" sibTransId="{B2498DCF-D156-45D6-A047-C4E49F379D29}"/>
    <dgm:cxn modelId="{A1910808-558F-46CF-945B-654C7F6F08C2}" type="presOf" srcId="{88034867-197C-4C26-97DA-D3FC20A2F16F}" destId="{6F360A2E-175A-450D-8F7C-1A59CE08B577}" srcOrd="0" destOrd="3" presId="urn:microsoft.com/office/officeart/2005/8/layout/hList1"/>
    <dgm:cxn modelId="{7A099D0E-0814-4D5F-8C5D-46000CF96C2C}" srcId="{4EADCBD7-BCBC-4413-801C-33A869020973}" destId="{E447AD78-E5F1-4AAC-B650-87D19A2E642A}" srcOrd="0" destOrd="0" parTransId="{16A51CD9-BA95-4BC8-9AB5-77F650E0C336}" sibTransId="{7EBB12EA-8D57-4D53-88AD-490BA1C6F68F}"/>
    <dgm:cxn modelId="{6B382410-7277-4C90-BC69-3F3E9EE69FC6}" type="presOf" srcId="{12F86526-CDFC-47EE-A5C6-70B7B8083552}" destId="{6F360A2E-175A-450D-8F7C-1A59CE08B577}" srcOrd="0" destOrd="0" presId="urn:microsoft.com/office/officeart/2005/8/layout/hList1"/>
    <dgm:cxn modelId="{B01FC513-B06B-453F-858E-6D84082B8866}" srcId="{ECB748CD-DB27-4D29-A7EC-271B38FFDEEC}" destId="{0BD2191D-1F25-46AA-91A9-30D83A36233D}" srcOrd="4" destOrd="0" parTransId="{B6D8CBD7-8BAC-417E-8C27-D365F9644B0E}" sibTransId="{A35342C9-3112-40C3-8A1D-2A8F947F4151}"/>
    <dgm:cxn modelId="{BF0A0D18-2893-47A6-AB07-AA53BFBDA371}" type="presOf" srcId="{4EADCBD7-BCBC-4413-801C-33A869020973}" destId="{739FA4D1-6D1F-48A7-BD3B-28036C8220C8}" srcOrd="0" destOrd="0" presId="urn:microsoft.com/office/officeart/2005/8/layout/hList1"/>
    <dgm:cxn modelId="{9A3BF718-D5FC-48B9-9BE2-2F843F46A1B5}" srcId="{ECB748CD-DB27-4D29-A7EC-271B38FFDEEC}" destId="{88034867-197C-4C26-97DA-D3FC20A2F16F}" srcOrd="3" destOrd="0" parTransId="{834D5209-4426-47C2-BEC7-21841C429956}" sibTransId="{A4420203-ADEA-4BC4-A865-61123CD99701}"/>
    <dgm:cxn modelId="{1203921F-F8F9-4E61-BDE1-3B90D33A13E8}" srcId="{00C7C0D7-D0CB-4ECB-A9FB-E0216513D1AD}" destId="{E0EF8718-F021-49C2-ADE5-163209EDF359}" srcOrd="1" destOrd="0" parTransId="{46F30930-68CA-4B1C-8CC7-3058B068E09A}" sibTransId="{424AD890-79EF-4882-B063-7C5171E9DE7E}"/>
    <dgm:cxn modelId="{3EF1F923-24D3-429B-A180-4996F222B063}" srcId="{C11AC42B-053E-47FC-9152-5F47BC29DD45}" destId="{4EADCBD7-BCBC-4413-801C-33A869020973}" srcOrd="0" destOrd="0" parTransId="{C562C50D-A6CC-4306-A280-B51A0D8EFEEA}" sibTransId="{D01086B6-3156-4E86-AE35-CD016FAACE41}"/>
    <dgm:cxn modelId="{79EC1833-A019-4369-A93D-040B74DA50F6}" type="presOf" srcId="{FAF63D9F-B93E-4F23-8B1B-6F39E3C808AC}" destId="{3DA9164A-EFB4-435E-9A8B-FE5FA6278470}" srcOrd="0" destOrd="1" presId="urn:microsoft.com/office/officeart/2005/8/layout/hList1"/>
    <dgm:cxn modelId="{76CB4D35-4334-4F16-B112-A92E91C880A1}" srcId="{ECB748CD-DB27-4D29-A7EC-271B38FFDEEC}" destId="{53309814-5753-4F47-8F1B-D34D4E8AC1AF}" srcOrd="1" destOrd="0" parTransId="{F4907337-D64D-466B-ADAE-A7CCBEA8FD3F}" sibTransId="{8B04E2D4-6FA3-4A93-A193-03CDA0F4E80B}"/>
    <dgm:cxn modelId="{BE0CFF3C-86AD-4CE8-AB88-DA8146BCB938}" type="presOf" srcId="{C11AC42B-053E-47FC-9152-5F47BC29DD45}" destId="{DBDBAE68-1E43-45E2-B905-A22138DBA3EF}" srcOrd="0" destOrd="0" presId="urn:microsoft.com/office/officeart/2005/8/layout/hList1"/>
    <dgm:cxn modelId="{EB842E5C-4EB9-440D-BBA1-A58382455818}" srcId="{00C7C0D7-D0CB-4ECB-A9FB-E0216513D1AD}" destId="{2C471071-4E35-4D80-9A9F-11EF5018054B}" srcOrd="0" destOrd="0" parTransId="{A530FE19-E39A-4805-BDC7-D29E719A2155}" sibTransId="{552D9AE2-71EB-493E-8781-C77B075EC723}"/>
    <dgm:cxn modelId="{3AFE945E-F258-405B-89BD-8B6666E72690}" type="presOf" srcId="{E447AD78-E5F1-4AAC-B650-87D19A2E642A}" destId="{3DA9164A-EFB4-435E-9A8B-FE5FA6278470}" srcOrd="0" destOrd="0" presId="urn:microsoft.com/office/officeart/2005/8/layout/hList1"/>
    <dgm:cxn modelId="{C9D33463-AB3B-4C8A-8F84-EBCDD34EC7E8}" type="presOf" srcId="{CA7C11A3-80EE-4E88-9250-3F6D6920CB8A}" destId="{3DA9164A-EFB4-435E-9A8B-FE5FA6278470}" srcOrd="0" destOrd="2" presId="urn:microsoft.com/office/officeart/2005/8/layout/hList1"/>
    <dgm:cxn modelId="{5BF3A849-49D6-4D3F-9DD1-28F1C57F3A1F}" type="presOf" srcId="{0BD2191D-1F25-46AA-91A9-30D83A36233D}" destId="{6F360A2E-175A-450D-8F7C-1A59CE08B577}" srcOrd="0" destOrd="4" presId="urn:microsoft.com/office/officeart/2005/8/layout/hList1"/>
    <dgm:cxn modelId="{7C553C6E-9B9D-41B3-83CC-A71380546AEF}" srcId="{ECB748CD-DB27-4D29-A7EC-271B38FFDEEC}" destId="{CF098AF8-5931-4586-9AD0-59B7FFB9C8F1}" srcOrd="2" destOrd="0" parTransId="{6386AA05-2211-4C39-B013-2A24F9730FF8}" sibTransId="{43A7394B-BF46-409C-B0F1-04FC8938036E}"/>
    <dgm:cxn modelId="{95F5A553-FFA5-4521-BF5D-06F72322C2E5}" type="presOf" srcId="{CF098AF8-5931-4586-9AD0-59B7FFB9C8F1}" destId="{6F360A2E-175A-450D-8F7C-1A59CE08B577}" srcOrd="0" destOrd="2" presId="urn:microsoft.com/office/officeart/2005/8/layout/hList1"/>
    <dgm:cxn modelId="{E5FF5F9E-435F-4716-8B1C-39600B425B88}" type="presOf" srcId="{E0EF8718-F021-49C2-ADE5-163209EDF359}" destId="{4431DE0F-2A10-47C9-B99D-5309D0A8B788}" srcOrd="0" destOrd="1" presId="urn:microsoft.com/office/officeart/2005/8/layout/hList1"/>
    <dgm:cxn modelId="{9676B0A2-31F9-45D8-9A29-6BDF34C36871}" type="presOf" srcId="{ECB748CD-DB27-4D29-A7EC-271B38FFDEEC}" destId="{CE3801C8-CF95-4D46-8E3E-58CB2138DB40}" srcOrd="0" destOrd="0" presId="urn:microsoft.com/office/officeart/2005/8/layout/hList1"/>
    <dgm:cxn modelId="{6949F1A2-228A-4996-853F-73C291BD2562}" srcId="{00C7C0D7-D0CB-4ECB-A9FB-E0216513D1AD}" destId="{A8397F8D-6DE8-48F1-B3C7-F2360A58F2E0}" srcOrd="2" destOrd="0" parTransId="{0F1A88FB-B350-4E51-9CC8-F12BFDB4F693}" sibTransId="{4C0EC748-49AC-4E49-B7DB-1EBA9D512217}"/>
    <dgm:cxn modelId="{30FBF6AC-AD92-43A3-AEB8-F0A032C6BB3F}" type="presOf" srcId="{2C471071-4E35-4D80-9A9F-11EF5018054B}" destId="{4431DE0F-2A10-47C9-B99D-5309D0A8B788}" srcOrd="0" destOrd="0" presId="urn:microsoft.com/office/officeart/2005/8/layout/hList1"/>
    <dgm:cxn modelId="{CA709AAD-4D77-4ECC-88E1-6461B03055C1}" srcId="{4EADCBD7-BCBC-4413-801C-33A869020973}" destId="{FAF63D9F-B93E-4F23-8B1B-6F39E3C808AC}" srcOrd="1" destOrd="0" parTransId="{572FC6B3-4FC6-4759-9102-9575AE6CA6F0}" sibTransId="{F720EA10-AE7E-4E10-B80A-AECCFCEB8044}"/>
    <dgm:cxn modelId="{739B8AC6-69BF-401E-853A-4F768703302B}" type="presOf" srcId="{53309814-5753-4F47-8F1B-D34D4E8AC1AF}" destId="{6F360A2E-175A-450D-8F7C-1A59CE08B577}" srcOrd="0" destOrd="1" presId="urn:microsoft.com/office/officeart/2005/8/layout/hList1"/>
    <dgm:cxn modelId="{A03551C8-4303-4A32-9D51-D8E18CF8EEEA}" srcId="{ECB748CD-DB27-4D29-A7EC-271B38FFDEEC}" destId="{12F86526-CDFC-47EE-A5C6-70B7B8083552}" srcOrd="0" destOrd="0" parTransId="{0F3F014A-EBD9-443B-AEDD-FCCCEDE8FFD6}" sibTransId="{76865249-4B23-44F9-B9BD-063F934D9E7E}"/>
    <dgm:cxn modelId="{46B831DE-FF0E-4BC3-912A-D6C95D665D05}" type="presOf" srcId="{A8397F8D-6DE8-48F1-B3C7-F2360A58F2E0}" destId="{4431DE0F-2A10-47C9-B99D-5309D0A8B788}" srcOrd="0" destOrd="2" presId="urn:microsoft.com/office/officeart/2005/8/layout/hList1"/>
    <dgm:cxn modelId="{AF00C4E5-8AF4-4967-966E-26F8F8A13DE3}" srcId="{4EADCBD7-BCBC-4413-801C-33A869020973}" destId="{CA7C11A3-80EE-4E88-9250-3F6D6920CB8A}" srcOrd="2" destOrd="0" parTransId="{57A87BC9-6186-41F2-921F-723C519D95D2}" sibTransId="{5276B42D-3130-43D6-AFFF-97A0CAD20BA9}"/>
    <dgm:cxn modelId="{E7C4C1F5-2905-405E-BE8F-34A95319AADC}" type="presOf" srcId="{00C7C0D7-D0CB-4ECB-A9FB-E0216513D1AD}" destId="{4F5CAAA0-2832-4EBE-9759-537D69221318}" srcOrd="0" destOrd="0" presId="urn:microsoft.com/office/officeart/2005/8/layout/hList1"/>
    <dgm:cxn modelId="{27AB8514-E5B3-4ACD-9C57-669E61709EC3}" type="presParOf" srcId="{DBDBAE68-1E43-45E2-B905-A22138DBA3EF}" destId="{82E7356B-501D-46FD-A04E-0FA5E7B28D33}" srcOrd="0" destOrd="0" presId="urn:microsoft.com/office/officeart/2005/8/layout/hList1"/>
    <dgm:cxn modelId="{FD9051AF-8EC4-419D-B856-18C638FBA2A4}" type="presParOf" srcId="{82E7356B-501D-46FD-A04E-0FA5E7B28D33}" destId="{739FA4D1-6D1F-48A7-BD3B-28036C8220C8}" srcOrd="0" destOrd="0" presId="urn:microsoft.com/office/officeart/2005/8/layout/hList1"/>
    <dgm:cxn modelId="{0D80420C-74EB-4DCA-98E5-303BF61565AF}" type="presParOf" srcId="{82E7356B-501D-46FD-A04E-0FA5E7B28D33}" destId="{3DA9164A-EFB4-435E-9A8B-FE5FA6278470}" srcOrd="1" destOrd="0" presId="urn:microsoft.com/office/officeart/2005/8/layout/hList1"/>
    <dgm:cxn modelId="{56F59235-0638-45ED-8CEB-332E6A3E492B}" type="presParOf" srcId="{DBDBAE68-1E43-45E2-B905-A22138DBA3EF}" destId="{4732C034-69D8-45AF-91FB-9112620641F9}" srcOrd="1" destOrd="0" presId="urn:microsoft.com/office/officeart/2005/8/layout/hList1"/>
    <dgm:cxn modelId="{9BE44525-689B-4AA7-B51A-2BCFB1D22839}" type="presParOf" srcId="{DBDBAE68-1E43-45E2-B905-A22138DBA3EF}" destId="{4C8D73E3-B8DA-4A7E-B249-18DE9592CB7A}" srcOrd="2" destOrd="0" presId="urn:microsoft.com/office/officeart/2005/8/layout/hList1"/>
    <dgm:cxn modelId="{C123AEA0-BDFC-4264-B1EE-72A917D016CB}" type="presParOf" srcId="{4C8D73E3-B8DA-4A7E-B249-18DE9592CB7A}" destId="{CE3801C8-CF95-4D46-8E3E-58CB2138DB40}" srcOrd="0" destOrd="0" presId="urn:microsoft.com/office/officeart/2005/8/layout/hList1"/>
    <dgm:cxn modelId="{CB6F6140-4F05-4CA8-847B-50D1115F4CB2}" type="presParOf" srcId="{4C8D73E3-B8DA-4A7E-B249-18DE9592CB7A}" destId="{6F360A2E-175A-450D-8F7C-1A59CE08B577}" srcOrd="1" destOrd="0" presId="urn:microsoft.com/office/officeart/2005/8/layout/hList1"/>
    <dgm:cxn modelId="{0C71651F-91FF-49A0-8528-6E3BB5D04E7C}" type="presParOf" srcId="{DBDBAE68-1E43-45E2-B905-A22138DBA3EF}" destId="{0093C472-0E41-4743-883A-EDB22892E20A}" srcOrd="3" destOrd="0" presId="urn:microsoft.com/office/officeart/2005/8/layout/hList1"/>
    <dgm:cxn modelId="{CFAB9704-4A04-4FB4-889E-25EDCEA4AA34}" type="presParOf" srcId="{DBDBAE68-1E43-45E2-B905-A22138DBA3EF}" destId="{AFE76DA9-1CA9-4399-B091-1F9E60566BF6}" srcOrd="4" destOrd="0" presId="urn:microsoft.com/office/officeart/2005/8/layout/hList1"/>
    <dgm:cxn modelId="{D4A7E5A1-D280-480D-80C1-CB26EFF04457}" type="presParOf" srcId="{AFE76DA9-1CA9-4399-B091-1F9E60566BF6}" destId="{4F5CAAA0-2832-4EBE-9759-537D69221318}" srcOrd="0" destOrd="0" presId="urn:microsoft.com/office/officeart/2005/8/layout/hList1"/>
    <dgm:cxn modelId="{8881FB7F-7E70-400A-9E82-FE99A51A4B91}" type="presParOf" srcId="{AFE76DA9-1CA9-4399-B091-1F9E60566BF6}" destId="{4431DE0F-2A10-47C9-B99D-5309D0A8B78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FA4D1-6D1F-48A7-BD3B-28036C8220C8}">
      <dsp:nvSpPr>
        <dsp:cNvPr id="0" name=""/>
        <dsp:cNvSpPr/>
      </dsp:nvSpPr>
      <dsp:spPr>
        <a:xfrm>
          <a:off x="182619" y="113261"/>
          <a:ext cx="2908148" cy="615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700" b="1" kern="1200">
              <a:latin typeface="Roboto Condensed Light" panose="02000000000000000000" pitchFamily="2" charset="0"/>
              <a:ea typeface="Roboto Condensed Light" panose="02000000000000000000" pitchFamily="2" charset="0"/>
            </a:rPr>
            <a:t>REDUCTION OF GHG EMISSIONS</a:t>
          </a:r>
        </a:p>
      </dsp:txBody>
      <dsp:txXfrm>
        <a:off x="182619" y="113261"/>
        <a:ext cx="2908148" cy="615911"/>
      </dsp:txXfrm>
    </dsp:sp>
    <dsp:sp modelId="{3DA9164A-EFB4-435E-9A8B-FE5FA6278470}">
      <dsp:nvSpPr>
        <dsp:cNvPr id="0" name=""/>
        <dsp:cNvSpPr/>
      </dsp:nvSpPr>
      <dsp:spPr>
        <a:xfrm>
          <a:off x="203412" y="739041"/>
          <a:ext cx="2908148" cy="46635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Net emissions to zero (1990–2050)</a:t>
          </a:r>
          <a:endParaRPr lang="et-EE" sz="1700" strike="sngStrike" kern="1200" baseline="0" dirty="0">
            <a:solidFill>
              <a:schemeClr val="bg1">
                <a:lumMod val="50000"/>
              </a:scheme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Emissions in the Effort Sharing Regulation sectors in 2030: </a:t>
          </a:r>
          <a:r>
            <a:rPr lang="en-US" sz="1700" b="1" kern="12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–24% compared to 2005</a:t>
          </a:r>
          <a:endParaRPr lang="en-US" sz="1700" kern="1200" dirty="0">
            <a:solidFill>
              <a:srgbClr val="FF0000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In the Land Use, Land-Use Change and Forestry (LULUCF) sector, net removals in 2030 must increase by </a:t>
          </a:r>
          <a:r>
            <a:rPr lang="en-US" sz="1700" b="1" kern="12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0.434 million </a:t>
          </a:r>
          <a:r>
            <a:rPr lang="en-US" sz="1700" b="1" kern="1200" dirty="0" err="1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tonnes</a:t>
          </a:r>
          <a:r>
            <a:rPr lang="en-US" sz="1700" b="1" kern="12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of CO₂ equivalent compared to the 2016–2018 average</a:t>
          </a:r>
          <a:endParaRPr lang="en-US" sz="1700" kern="1200" dirty="0">
            <a:solidFill>
              <a:srgbClr val="FF0000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203412" y="739041"/>
        <a:ext cx="2908148" cy="4663583"/>
      </dsp:txXfrm>
    </dsp:sp>
    <dsp:sp modelId="{CE3801C8-CF95-4D46-8E3E-58CB2138DB40}">
      <dsp:nvSpPr>
        <dsp:cNvPr id="0" name=""/>
        <dsp:cNvSpPr/>
      </dsp:nvSpPr>
      <dsp:spPr>
        <a:xfrm>
          <a:off x="3318271" y="136235"/>
          <a:ext cx="2908148" cy="615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700" b="1" kern="1200">
              <a:latin typeface="Roboto Condensed Light" panose="02000000000000000000" pitchFamily="2" charset="0"/>
              <a:ea typeface="Roboto Condensed Light" panose="02000000000000000000" pitchFamily="2" charset="0"/>
            </a:rPr>
            <a:t>SHARE OF RENEWABLE ENERGY</a:t>
          </a:r>
        </a:p>
      </dsp:txBody>
      <dsp:txXfrm>
        <a:off x="3318271" y="136235"/>
        <a:ext cx="2908148" cy="615911"/>
      </dsp:txXfrm>
    </dsp:sp>
    <dsp:sp modelId="{6F360A2E-175A-450D-8F7C-1A59CE08B577}">
      <dsp:nvSpPr>
        <dsp:cNvPr id="0" name=""/>
        <dsp:cNvSpPr/>
      </dsp:nvSpPr>
      <dsp:spPr>
        <a:xfrm>
          <a:off x="3318271" y="752146"/>
          <a:ext cx="2908148" cy="46635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By 2030, at least </a:t>
          </a:r>
          <a:r>
            <a:rPr lang="en-US" sz="1700" b="1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65% of total final energy consumption</a:t>
          </a:r>
          <a:r>
            <a:rPr lang="en-US" sz="1700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must come from renewable energy sources:</a:t>
          </a:r>
          <a:endParaRPr lang="et-EE" sz="1700" b="0" kern="12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100% of total final electricity consumption</a:t>
          </a:r>
          <a:endParaRPr lang="en-US" sz="1700" kern="12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At least 63% of total final heat consumption</a:t>
          </a:r>
          <a:r>
            <a:rPr lang="en-US" sz="1700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from renewable energy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The share of renewable transport fuels in road and rail transport</a:t>
          </a:r>
          <a:r>
            <a:rPr lang="en-US" sz="1700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in accordance with the requirements set out in the Renewable Energy Directive.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endParaRPr lang="et-EE" sz="1700" b="0" i="0" kern="1200">
            <a:latin typeface="Roboto Condensed Light" panose="02000000000000000000" pitchFamily="2" charset="0"/>
            <a:ea typeface="Roboto Condensed Light" panose="02000000000000000000" pitchFamily="2" charset="0"/>
          </a:endParaRPr>
        </a:p>
      </dsp:txBody>
      <dsp:txXfrm>
        <a:off x="3318271" y="752146"/>
        <a:ext cx="2908148" cy="4663583"/>
      </dsp:txXfrm>
    </dsp:sp>
    <dsp:sp modelId="{4F5CAAA0-2832-4EBE-9759-537D69221318}">
      <dsp:nvSpPr>
        <dsp:cNvPr id="0" name=""/>
        <dsp:cNvSpPr/>
      </dsp:nvSpPr>
      <dsp:spPr>
        <a:xfrm>
          <a:off x="6633560" y="136235"/>
          <a:ext cx="2908148" cy="615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700" b="1" kern="1200">
              <a:latin typeface="Roboto Condensed Light" panose="02000000000000000000" pitchFamily="2" charset="0"/>
              <a:ea typeface="Roboto Condensed Light" panose="02000000000000000000" pitchFamily="2" charset="0"/>
            </a:rPr>
            <a:t>ENERGY CONSUMPTION</a:t>
          </a:r>
        </a:p>
      </dsp:txBody>
      <dsp:txXfrm>
        <a:off x="6633560" y="136235"/>
        <a:ext cx="2908148" cy="615911"/>
      </dsp:txXfrm>
    </dsp:sp>
    <dsp:sp modelId="{4431DE0F-2A10-47C9-B99D-5309D0A8B788}">
      <dsp:nvSpPr>
        <dsp:cNvPr id="0" name=""/>
        <dsp:cNvSpPr/>
      </dsp:nvSpPr>
      <dsp:spPr>
        <a:xfrm>
          <a:off x="6633560" y="752146"/>
          <a:ext cx="2908148" cy="46635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Final energy consumption must remain at </a:t>
          </a:r>
          <a:r>
            <a:rPr lang="en-US" sz="1700" b="1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29.4 TWh per year until 2030</a:t>
          </a:r>
          <a:r>
            <a:rPr lang="en-US" sz="1700" kern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</a:t>
          </a:r>
          <a:endParaRPr lang="et-EE" sz="1700" b="0" kern="12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The </a:t>
          </a:r>
          <a:r>
            <a:rPr lang="en-US" sz="1700" b="1" kern="12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cumulative energy savings obligation for the period 2021–2030</a:t>
          </a:r>
          <a:r>
            <a:rPr lang="en-US" sz="1700" kern="12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amounts to </a:t>
          </a:r>
          <a:r>
            <a:rPr lang="en-US" sz="1700" b="1" kern="12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21.28 TWh</a:t>
          </a: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Primary energy consumption must decrease by up to 48% by 2030</a:t>
          </a: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compared to the peak consumption in recent years (2016 = 69.8 TWh), meaning that </a:t>
          </a:r>
          <a:r>
            <a:rPr lang="en-US" sz="17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primary energy consumption in 2030 must not exceed 36.5 TWh</a:t>
          </a: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</a:t>
          </a:r>
        </a:p>
      </dsp:txBody>
      <dsp:txXfrm>
        <a:off x="6633560" y="752146"/>
        <a:ext cx="2908148" cy="4663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se kohatäid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Kuupäeva kohatäid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B02D6-CBCE-485E-A00C-197E68E5CD83}" type="datetimeFigureOut">
              <a:rPr lang="et-EE" smtClean="0"/>
              <a:t>02.06.2026</a:t>
            </a:fld>
            <a:endParaRPr lang="et-EE"/>
          </a:p>
        </p:txBody>
      </p:sp>
      <p:sp>
        <p:nvSpPr>
          <p:cNvPr id="4" name="Slaidi pildi kohatä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Märkmete kohatäid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</a:p>
        </p:txBody>
      </p:sp>
      <p:sp>
        <p:nvSpPr>
          <p:cNvPr id="6" name="Jaluse kohatäid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aidinumbri kohatä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CF23D-2B94-45F2-A587-405169941F2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53897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i pildi kohatä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ärkmete kohatäid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t-EE"/>
              <a:t>Siin ainult WEM, baseerub 15.03.2026 KHG inventuuril ja prognoosidel</a:t>
            </a:r>
            <a:endParaRPr lang="et-E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aidinumbri kohatä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7B056-5B8C-428C-90D6-26ED2246EA8F}" type="slidenum">
              <a:rPr kumimoji="0" lang="et-E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t-E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819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14999"/>
              </a:lnSpc>
            </a:pPr>
            <a:r>
              <a:rPr lang="en-US"/>
              <a:t>Taking into account the five dimensions of the Energy Union, the main objectives of REKK 2030 are as follows:</a:t>
            </a:r>
            <a:br>
              <a:rPr lang="en-US">
                <a:cs typeface="+mn-lt"/>
              </a:rPr>
            </a:br>
            <a:r>
              <a:rPr lang="en-US"/>
              <a:t>Estonia's long-term goal is to balance greenhouse gas emissions and removals by 2050 at the latest, i.e. to bring net greenhouse gas emissions to zero by 2050. </a:t>
            </a:r>
            <a:br>
              <a:rPr lang="en-US">
                <a:cs typeface="+mn-lt"/>
              </a:rPr>
            </a:br>
            <a:r>
              <a:rPr lang="en-US"/>
              <a:t>In the sectors covered by the Effort Sharing Regulation (transport, small energy, agriculture, waste management, industrial processes), emissions in 2030 may total nearly 4.7 million </a:t>
            </a:r>
            <a:r>
              <a:rPr lang="en-US" err="1"/>
              <a:t>tonnes</a:t>
            </a:r>
            <a:r>
              <a:rPr lang="en-US"/>
              <a:t> of CO2 eq (2005=6.3 million </a:t>
            </a:r>
            <a:r>
              <a:rPr lang="en-US" err="1"/>
              <a:t>tonnes</a:t>
            </a:r>
            <a:r>
              <a:rPr lang="en-US"/>
              <a:t> of CO2 eq), i.e. by 2030, greenhouse gas emissions must be reduced by 24% compared to 2005. </a:t>
            </a:r>
            <a:br>
              <a:rPr lang="en-US">
                <a:cs typeface="+mn-lt"/>
              </a:rPr>
            </a:br>
            <a:r>
              <a:rPr lang="en-US"/>
              <a:t>In the land use, land use change and forestry sector (so-called LULUCF), GHG removals must be 0.434 million </a:t>
            </a:r>
            <a:r>
              <a:rPr lang="en-US" err="1"/>
              <a:t>tonnes</a:t>
            </a:r>
            <a:r>
              <a:rPr lang="en-US"/>
              <a:t> of CO2 eq higher by 2030 compared to the base level (2016-2018 average). </a:t>
            </a:r>
            <a:br>
              <a:rPr lang="en-US">
                <a:cs typeface="+mn-lt"/>
              </a:rPr>
            </a:br>
            <a:r>
              <a:rPr lang="en-US"/>
              <a:t>The share of renewable energy in total final energy consumption must be at least 65% in 2030, including electricity consumption must be ensured with renewable electricity at 100%, i.e. 9.4 TWh (2018 = 2.1 TWh, 2022 = 2.6 TWh) (depending on consumption, this may be achievable by 2035) </a:t>
            </a:r>
            <a:br>
              <a:rPr lang="en-US">
                <a:cs typeface="+mn-lt"/>
              </a:rPr>
            </a:br>
            <a:r>
              <a:rPr lang="en-US"/>
              <a:t>Final energy consumption must remain at a level of up to 29.4 TWh/year until 2030, and the general fulfilment of the energy saving obligation in the period 2021-2030 in the volume of up to 21.28 TWh will help to keep final energy consumption at the same level. </a:t>
            </a:r>
            <a:br>
              <a:rPr lang="en-US">
                <a:cs typeface="+mn-lt"/>
              </a:rPr>
            </a:br>
            <a:r>
              <a:rPr lang="en-US"/>
              <a:t>Indicative reduction of primary energy consumption by 2030 by up to 48% (compared to the peak of consumption in 2016 = 69.8 TWh), primarily due to a decrease in the use of oil shale and other fossil fuels, based on Article 4 of the draft new Energy Efficiency Directive, primary energy consumption in 2030 must be up to 36.5 TWh.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7B0FE-B827-43E6-9F1A-73A7AB4ED6CD}" type="slidenum">
              <a:rPr kumimoji="0" lang="et-E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t-E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95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C09D9FC-74D5-CC54-0BB9-F12C69A180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4903427"/>
            <a:ext cx="11425237" cy="109032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6A37F-07AE-46BB-5CDD-EF125B55B8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1" y="1382751"/>
            <a:ext cx="12192000" cy="327845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B18D2-B1DC-3C40-88B1-3FFDBF5A5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ACE-E02B-3F19-D0C0-55FAFEA5E285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7F7AA85-77AB-B7BB-389F-6374DE383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4381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087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44795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762F-35C5-45EF-E6D2-C5297B03C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2" y="1103887"/>
            <a:ext cx="5809729" cy="51679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80E253-6A65-8C56-B9E3-DAEA78CEA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2" y="1689100"/>
            <a:ext cx="5809729" cy="4551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D209172-84FD-2493-4D61-1C04B8EA00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5006" y="1103887"/>
            <a:ext cx="5506994" cy="513627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5F962A7E-BF88-A8C7-EDED-FA4722F76B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C5F65C-F230-7A89-4154-5DF4357D5519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5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8B089C6-8035-2B0E-08C9-2B68BE18D1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6763" y="1103887"/>
            <a:ext cx="5506994" cy="513627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E16F8D-1CC1-F516-45D4-4807023D7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0922" y="1103887"/>
            <a:ext cx="5811078" cy="51679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116B2FA-09E3-2249-93AE-F6577CFDD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922" y="1689100"/>
            <a:ext cx="5811078" cy="4551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856CF7-699E-E324-EAAE-135C21B69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937197-CE1A-E46F-B556-F776326836CE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640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36D92282-648F-2E68-E54A-14DDA20FB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0036" y="3087552"/>
            <a:ext cx="2276494" cy="682896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384C-F7E4-7128-5200-2DB61267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6D144F4-51D8-9D6B-B6EA-F5364C7ED11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730" y="0"/>
            <a:ext cx="978027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88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DEE67-71DF-471E-8DDC-82A3340113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30531"/>
            <a:ext cx="12192000" cy="2588854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1B64CB3F-A091-57BD-CC58-DF49C3BC3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2" y="3950970"/>
            <a:ext cx="4027308" cy="2237825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98677E-C31E-F5AA-C739-BC23DD7F0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070" y="3950969"/>
            <a:ext cx="7397930" cy="2237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0962980-9CC5-E476-5549-D89B67150E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0164D-4AB7-D9C6-7184-FE7CBE5A809F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59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C09D-0F77-77DC-D1A9-EF226BC176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3" y="1260330"/>
            <a:ext cx="1058703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202EE-8C6E-9FEE-4F8F-29BC6CB67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763" y="3941908"/>
            <a:ext cx="1058703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E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E637BF-152C-7916-522F-598B0BF3E8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59E097-2C51-512D-CAD9-74E20A467289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79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567D-9030-3E4D-130B-C1A6745CDB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1333500"/>
            <a:ext cx="10580687" cy="32289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B7E6D-78A0-978B-B872-B148BF271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763" y="4589463"/>
            <a:ext cx="105806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D8F9373-1395-012F-B410-50534B45BF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CF1A7-9CD4-034A-73B7-7E4BD8A42DAE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7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AE79-1BE8-D2A3-7CDF-C8DA1000D6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1214858"/>
            <a:ext cx="10587037" cy="1452142"/>
          </a:xfrm>
          <a:prstGeom prst="rect">
            <a:avLst/>
          </a:prstGeom>
        </p:spPr>
        <p:txBody>
          <a:bodyPr/>
          <a:lstStyle/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3A2F-8C92-D93D-5712-50748525B3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66762" y="2756694"/>
            <a:ext cx="10587037" cy="3509962"/>
          </a:xfrm>
        </p:spPr>
        <p:txBody>
          <a:bodyPr/>
          <a:lstStyle/>
          <a:p>
            <a:pPr lvl="0"/>
            <a:r>
              <a:rPr lang="en-US"/>
              <a:t>Click to edit Master text </a:t>
            </a:r>
            <a:r>
              <a:rPr lang="en-US" err="1"/>
              <a:t>syles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388876D-4EEF-86D8-CFD5-D2188BAD48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8CA78-0D38-BF03-3CD9-6F8F8A99ED4B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063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D8AF-9345-9EE1-6680-2873BA93B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1214856"/>
            <a:ext cx="10587037" cy="9390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9F17F-0CD5-32D8-9A2F-3280BC914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6763" y="2333305"/>
            <a:ext cx="5253037" cy="3843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18D8D7-7824-A042-9348-57C239A225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00763" y="2333305"/>
            <a:ext cx="5253037" cy="3843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31F725-DAC2-76FA-3FDE-896E029AC9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74AA99-D00E-D33D-E19F-631F319C604A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13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431B-E6BF-5D65-4B97-108FE1479B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1123121"/>
            <a:ext cx="10587037" cy="1133062"/>
          </a:xfrm>
        </p:spPr>
        <p:txBody>
          <a:bodyPr/>
          <a:lstStyle/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FB8B3-1C22-381D-E53A-DDC6164C2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2355574"/>
            <a:ext cx="10587037" cy="3821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8F29C10-6243-4F4E-7DE9-E879214E5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98A138-76F5-9165-BA96-A38E446AC882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777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B11952B-3F02-838E-6D1D-38CBD9248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51881" y="1075038"/>
            <a:ext cx="4447489" cy="17950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0B7B218-0E74-23C2-E7C2-46E4C9269A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6763" y="3081403"/>
            <a:ext cx="10587037" cy="3063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9E46283D-811B-838D-B5E9-D933237F82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06310" y="1075036"/>
            <a:ext cx="4447490" cy="179502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03F8FE-4A80-DB97-5B87-A32531CAC1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0718C4-CBE6-243F-921D-0F0AD6B4D3F2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092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B11952B-3F02-838E-6D1D-38CBD9248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6763" y="4122737"/>
            <a:ext cx="7341979" cy="20081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35645507-6BFC-03DC-1CE5-5576947BA2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58211" y="674556"/>
            <a:ext cx="2795589" cy="545636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0B7B218-0E74-23C2-E7C2-46E4C9269A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6763" y="1246909"/>
            <a:ext cx="7341979" cy="26504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D04C673-49EE-D33D-804B-C6B28416B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491EDD-7DF7-24FD-123B-ED73360D5BB4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311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75A8-8DF8-6F82-B3B4-771B17C9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69299"/>
            <a:ext cx="4005262" cy="10883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C20FC-5970-3EF4-9877-F38F1275E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914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01726-052A-8A44-5F06-2CD4947E2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4" y="2539682"/>
            <a:ext cx="4005262" cy="37391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FCDB37C-70AD-182C-A5E0-299E25A4A1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700C8C-78FB-F2A4-BA0B-69CF454827DA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144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75A8-8DF8-6F82-B3B4-771B17C9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69299"/>
            <a:ext cx="4005262" cy="10883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01726-052A-8A44-5F06-2CD4947E2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4" y="2539682"/>
            <a:ext cx="4005262" cy="37391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552B5B3-D8C4-718B-F544-3876520D6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11519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E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1313E88-EFE1-EA88-0155-5C57D3DF92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9C939E-283C-3FBE-0185-D765054B14F4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75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77DB-1347-338E-90C0-C2E086180F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1236785"/>
            <a:ext cx="10587037" cy="1133062"/>
          </a:xfrm>
        </p:spPr>
        <p:txBody>
          <a:bodyPr/>
          <a:lstStyle/>
          <a:p>
            <a:r>
              <a:rPr lang="en-US"/>
              <a:t>Title</a:t>
            </a:r>
            <a:endParaRPr lang="en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4B65D-0B95-3223-8E56-15654B320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6763" y="2549236"/>
            <a:ext cx="10587037" cy="3627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FD8FCCA-79AA-0077-4FCF-85E28D2197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E75D7B-715A-D10F-42F1-016D08E8A457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17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E4B78-732F-BC6E-6F17-AFE4BDE66C78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1168399"/>
            <a:ext cx="2628900" cy="5008564"/>
          </a:xfrm>
        </p:spPr>
        <p:txBody>
          <a:bodyPr vert="eaVert"/>
          <a:lstStyle/>
          <a:p>
            <a:r>
              <a:rPr lang="en-US"/>
              <a:t>Title</a:t>
            </a:r>
            <a:endParaRPr lang="en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833EE-FC3B-5DB3-0648-D391B1859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6763" y="1168399"/>
            <a:ext cx="7805737" cy="5008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ACE98F-9F1B-84DA-46C0-17A632862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0283C0-D351-AE1D-BC7A-5D67C9E89989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518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302FAB-7EB8-0B94-5362-42B3858A45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6296" y="1240673"/>
            <a:ext cx="4739957" cy="4634814"/>
          </a:xfrm>
          <a:custGeom>
            <a:avLst/>
            <a:gdLst>
              <a:gd name="connsiteX0" fmla="*/ 2563318 w 5126636"/>
              <a:gd name="connsiteY0" fmla="*/ 0 h 5126636"/>
              <a:gd name="connsiteX1" fmla="*/ 5126636 w 5126636"/>
              <a:gd name="connsiteY1" fmla="*/ 2563318 h 5126636"/>
              <a:gd name="connsiteX2" fmla="*/ 2563318 w 5126636"/>
              <a:gd name="connsiteY2" fmla="*/ 5126636 h 5126636"/>
              <a:gd name="connsiteX3" fmla="*/ 0 w 5126636"/>
              <a:gd name="connsiteY3" fmla="*/ 2563318 h 5126636"/>
              <a:gd name="connsiteX4" fmla="*/ 2563318 w 5126636"/>
              <a:gd name="connsiteY4" fmla="*/ 0 h 5126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6636" h="5126636">
                <a:moveTo>
                  <a:pt x="2563318" y="0"/>
                </a:moveTo>
                <a:cubicBezTo>
                  <a:pt x="3978999" y="0"/>
                  <a:pt x="5126636" y="1147637"/>
                  <a:pt x="5126636" y="2563318"/>
                </a:cubicBezTo>
                <a:cubicBezTo>
                  <a:pt x="5126636" y="3978999"/>
                  <a:pt x="3978999" y="5126636"/>
                  <a:pt x="2563318" y="5126636"/>
                </a:cubicBezTo>
                <a:cubicBezTo>
                  <a:pt x="1147637" y="5126636"/>
                  <a:pt x="0" y="3978999"/>
                  <a:pt x="0" y="2563318"/>
                </a:cubicBezTo>
                <a:cubicBezTo>
                  <a:pt x="0" y="1147637"/>
                  <a:pt x="1147637" y="0"/>
                  <a:pt x="2563318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BFD6A665-1E62-E177-472C-A250662E0D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BEB034B3-7A20-E0DE-5926-289E3945D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99CC65B-FDF6-38BB-53FC-3FCAFF433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6F197F-08D2-D55C-93B9-8141B19EC44D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199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3943C27-9858-F51B-FDFA-C9C8E119D8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9784" y="1268413"/>
            <a:ext cx="4739957" cy="46348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C238332-C4BB-3379-7A4D-66B1077C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154960-CB0C-EF6E-288D-934CAC160193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975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B102D3-AFC8-6971-D982-8AC512D8ED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6296" y="1256057"/>
            <a:ext cx="4739957" cy="4634814"/>
          </a:xfrm>
          <a:custGeom>
            <a:avLst/>
            <a:gdLst>
              <a:gd name="connsiteX0" fmla="*/ 2381219 w 4372592"/>
              <a:gd name="connsiteY0" fmla="*/ 0 h 3613973"/>
              <a:gd name="connsiteX1" fmla="*/ 4372592 w 4372592"/>
              <a:gd name="connsiteY1" fmla="*/ 0 h 3613973"/>
              <a:gd name="connsiteX2" fmla="*/ 4372592 w 4372592"/>
              <a:gd name="connsiteY2" fmla="*/ 1222218 h 3613973"/>
              <a:gd name="connsiteX3" fmla="*/ 4130257 w 4372592"/>
              <a:gd name="connsiteY3" fmla="*/ 2460240 h 3613973"/>
              <a:gd name="connsiteX4" fmla="*/ 3276811 w 4372592"/>
              <a:gd name="connsiteY4" fmla="*/ 3613973 h 3613973"/>
              <a:gd name="connsiteX5" fmla="*/ 2570874 w 4372592"/>
              <a:gd name="connsiteY5" fmla="*/ 3045010 h 3613973"/>
              <a:gd name="connsiteX6" fmla="*/ 3155643 w 4372592"/>
              <a:gd name="connsiteY6" fmla="*/ 2270586 h 3613973"/>
              <a:gd name="connsiteX7" fmla="*/ 3268004 w 4372592"/>
              <a:gd name="connsiteY7" fmla="*/ 1989809 h 3613973"/>
              <a:gd name="connsiteX8" fmla="*/ 3276017 w 4372592"/>
              <a:gd name="connsiteY8" fmla="*/ 1959763 h 3613973"/>
              <a:gd name="connsiteX9" fmla="*/ 2381219 w 4372592"/>
              <a:gd name="connsiteY9" fmla="*/ 1959763 h 3613973"/>
              <a:gd name="connsiteX10" fmla="*/ 0 w 4372592"/>
              <a:gd name="connsiteY10" fmla="*/ 0 h 3613973"/>
              <a:gd name="connsiteX11" fmla="*/ 1991374 w 4372592"/>
              <a:gd name="connsiteY11" fmla="*/ 0 h 3613973"/>
              <a:gd name="connsiteX12" fmla="*/ 1991374 w 4372592"/>
              <a:gd name="connsiteY12" fmla="*/ 1222218 h 3613973"/>
              <a:gd name="connsiteX13" fmla="*/ 1749037 w 4372592"/>
              <a:gd name="connsiteY13" fmla="*/ 2460240 h 3613973"/>
              <a:gd name="connsiteX14" fmla="*/ 895591 w 4372592"/>
              <a:gd name="connsiteY14" fmla="*/ 3613973 h 3613973"/>
              <a:gd name="connsiteX15" fmla="*/ 189655 w 4372592"/>
              <a:gd name="connsiteY15" fmla="*/ 3045010 h 3613973"/>
              <a:gd name="connsiteX16" fmla="*/ 774424 w 4372592"/>
              <a:gd name="connsiteY16" fmla="*/ 2270586 h 3613973"/>
              <a:gd name="connsiteX17" fmla="*/ 886784 w 4372592"/>
              <a:gd name="connsiteY17" fmla="*/ 1989809 h 3613973"/>
              <a:gd name="connsiteX18" fmla="*/ 894798 w 4372592"/>
              <a:gd name="connsiteY18" fmla="*/ 1959763 h 3613973"/>
              <a:gd name="connsiteX19" fmla="*/ 0 w 4372592"/>
              <a:gd name="connsiteY19" fmla="*/ 1959763 h 3613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372592" h="3613973">
                <a:moveTo>
                  <a:pt x="2381219" y="0"/>
                </a:moveTo>
                <a:lnTo>
                  <a:pt x="4372592" y="0"/>
                </a:lnTo>
                <a:lnTo>
                  <a:pt x="4372592" y="1222218"/>
                </a:lnTo>
                <a:cubicBezTo>
                  <a:pt x="4372592" y="1678794"/>
                  <a:pt x="4291813" y="2091468"/>
                  <a:pt x="4130257" y="2460240"/>
                </a:cubicBezTo>
                <a:cubicBezTo>
                  <a:pt x="3968699" y="2829014"/>
                  <a:pt x="3684216" y="3213591"/>
                  <a:pt x="3276811" y="3613973"/>
                </a:cubicBezTo>
                <a:lnTo>
                  <a:pt x="2570874" y="3045010"/>
                </a:lnTo>
                <a:cubicBezTo>
                  <a:pt x="2837795" y="2771063"/>
                  <a:pt x="3032717" y="2512923"/>
                  <a:pt x="3155643" y="2270586"/>
                </a:cubicBezTo>
                <a:cubicBezTo>
                  <a:pt x="3201740" y="2179709"/>
                  <a:pt x="3239192" y="2086118"/>
                  <a:pt x="3268004" y="1989809"/>
                </a:cubicBezTo>
                <a:lnTo>
                  <a:pt x="3276017" y="1959763"/>
                </a:lnTo>
                <a:lnTo>
                  <a:pt x="2381219" y="1959763"/>
                </a:lnTo>
                <a:close/>
                <a:moveTo>
                  <a:pt x="0" y="0"/>
                </a:moveTo>
                <a:lnTo>
                  <a:pt x="1991374" y="0"/>
                </a:lnTo>
                <a:lnTo>
                  <a:pt x="1991374" y="1222218"/>
                </a:lnTo>
                <a:cubicBezTo>
                  <a:pt x="1991374" y="1678794"/>
                  <a:pt x="1910595" y="2091468"/>
                  <a:pt x="1749037" y="2460240"/>
                </a:cubicBezTo>
                <a:cubicBezTo>
                  <a:pt x="1587480" y="2829014"/>
                  <a:pt x="1302998" y="3213591"/>
                  <a:pt x="895591" y="3613973"/>
                </a:cubicBezTo>
                <a:lnTo>
                  <a:pt x="189655" y="3045010"/>
                </a:lnTo>
                <a:cubicBezTo>
                  <a:pt x="456577" y="2771063"/>
                  <a:pt x="651500" y="2512923"/>
                  <a:pt x="774424" y="2270586"/>
                </a:cubicBezTo>
                <a:cubicBezTo>
                  <a:pt x="820520" y="2179709"/>
                  <a:pt x="857974" y="2086118"/>
                  <a:pt x="886784" y="1989809"/>
                </a:cubicBezTo>
                <a:lnTo>
                  <a:pt x="894798" y="1959763"/>
                </a:lnTo>
                <a:lnTo>
                  <a:pt x="0" y="195976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53DCDA0-BE9F-B2FB-C9E9-ABA2BF6705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54D7BD-0D51-A1BD-04D9-A91510162480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092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D5DEA732-F44C-44F5-7C1A-DB188537C7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770E43-98B2-9D5F-8B57-C383E2C3F9AB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Picture Placeholder 78">
            <a:extLst>
              <a:ext uri="{FF2B5EF4-FFF2-40B4-BE49-F238E27FC236}">
                <a16:creationId xmlns:a16="http://schemas.microsoft.com/office/drawing/2014/main" id="{4F3D3FCE-43B9-B437-E13E-4EFE4B6BD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8047" y="1342554"/>
            <a:ext cx="4598834" cy="4431287"/>
          </a:xfrm>
          <a:custGeom>
            <a:avLst/>
            <a:gdLst>
              <a:gd name="connsiteX0" fmla="*/ 5915154 w 6496870"/>
              <a:gd name="connsiteY0" fmla="*/ 2697750 h 6260173"/>
              <a:gd name="connsiteX1" fmla="*/ 5955543 w 6496870"/>
              <a:gd name="connsiteY1" fmla="*/ 2714516 h 6260173"/>
              <a:gd name="connsiteX2" fmla="*/ 6478434 w 6496870"/>
              <a:gd name="connsiteY2" fmla="*/ 3846630 h 6260173"/>
              <a:gd name="connsiteX3" fmla="*/ 6482206 w 6496870"/>
              <a:gd name="connsiteY3" fmla="*/ 4350699 h 6260173"/>
              <a:gd name="connsiteX4" fmla="*/ 6362137 w 6496870"/>
              <a:gd name="connsiteY4" fmla="*/ 4822162 h 6260173"/>
              <a:gd name="connsiteX5" fmla="*/ 5820903 w 6496870"/>
              <a:gd name="connsiteY5" fmla="*/ 5603362 h 6260173"/>
              <a:gd name="connsiteX6" fmla="*/ 4990709 w 6496870"/>
              <a:gd name="connsiteY6" fmla="*/ 6069373 h 6260173"/>
              <a:gd name="connsiteX7" fmla="*/ 4510709 w 6496870"/>
              <a:gd name="connsiteY7" fmla="*/ 6144630 h 6260173"/>
              <a:gd name="connsiteX8" fmla="*/ 4453452 w 6496870"/>
              <a:gd name="connsiteY8" fmla="*/ 6145487 h 6260173"/>
              <a:gd name="connsiteX9" fmla="*/ 4026663 w 6496870"/>
              <a:gd name="connsiteY9" fmla="*/ 6097385 h 6260173"/>
              <a:gd name="connsiteX10" fmla="*/ 3986309 w 6496870"/>
              <a:gd name="connsiteY10" fmla="*/ 6112230 h 6260173"/>
              <a:gd name="connsiteX11" fmla="*/ 3359497 w 6496870"/>
              <a:gd name="connsiteY11" fmla="*/ 6259796 h 6260173"/>
              <a:gd name="connsiteX12" fmla="*/ 3353326 w 6496870"/>
              <a:gd name="connsiteY12" fmla="*/ 6260173 h 6260173"/>
              <a:gd name="connsiteX13" fmla="*/ 3301726 w 6496870"/>
              <a:gd name="connsiteY13" fmla="*/ 6214230 h 6260173"/>
              <a:gd name="connsiteX14" fmla="*/ 3347292 w 6496870"/>
              <a:gd name="connsiteY14" fmla="*/ 6156459 h 6260173"/>
              <a:gd name="connsiteX15" fmla="*/ 3950823 w 6496870"/>
              <a:gd name="connsiteY15" fmla="*/ 6014070 h 6260173"/>
              <a:gd name="connsiteX16" fmla="*/ 3935052 w 6496870"/>
              <a:gd name="connsiteY16" fmla="*/ 4381830 h 6260173"/>
              <a:gd name="connsiteX17" fmla="*/ 4415943 w 6496870"/>
              <a:gd name="connsiteY17" fmla="*/ 3677190 h 6260173"/>
              <a:gd name="connsiteX18" fmla="*/ 5155349 w 6496870"/>
              <a:gd name="connsiteY18" fmla="*/ 3235384 h 6260173"/>
              <a:gd name="connsiteX19" fmla="*/ 5876240 w 6496870"/>
              <a:gd name="connsiteY19" fmla="*/ 2717739 h 6260173"/>
              <a:gd name="connsiteX20" fmla="*/ 5915154 w 6496870"/>
              <a:gd name="connsiteY20" fmla="*/ 2697750 h 6260173"/>
              <a:gd name="connsiteX21" fmla="*/ 759240 w 6496870"/>
              <a:gd name="connsiteY21" fmla="*/ 2109053 h 6260173"/>
              <a:gd name="connsiteX22" fmla="*/ 779478 w 6496870"/>
              <a:gd name="connsiteY22" fmla="*/ 2113294 h 6260173"/>
              <a:gd name="connsiteX23" fmla="*/ 806736 w 6496870"/>
              <a:gd name="connsiteY23" fmla="*/ 2181625 h 6260173"/>
              <a:gd name="connsiteX24" fmla="*/ 628313 w 6496870"/>
              <a:gd name="connsiteY24" fmla="*/ 2775488 h 6260173"/>
              <a:gd name="connsiteX25" fmla="*/ 2049798 w 6496870"/>
              <a:gd name="connsiteY25" fmla="*/ 3577945 h 6260173"/>
              <a:gd name="connsiteX26" fmla="*/ 2419536 w 6496870"/>
              <a:gd name="connsiteY26" fmla="*/ 4346700 h 6260173"/>
              <a:gd name="connsiteX27" fmla="*/ 2432427 w 6496870"/>
              <a:gd name="connsiteY27" fmla="*/ 5207923 h 6260173"/>
              <a:gd name="connsiteX28" fmla="*/ 2520301 w 6496870"/>
              <a:gd name="connsiteY28" fmla="*/ 6091088 h 6260173"/>
              <a:gd name="connsiteX29" fmla="*/ 2518141 w 6496870"/>
              <a:gd name="connsiteY29" fmla="*/ 6134837 h 6260173"/>
              <a:gd name="connsiteX30" fmla="*/ 2483410 w 6496870"/>
              <a:gd name="connsiteY30" fmla="*/ 6161443 h 6260173"/>
              <a:gd name="connsiteX31" fmla="*/ 2035604 w 6496870"/>
              <a:gd name="connsiteY31" fmla="*/ 6211191 h 6260173"/>
              <a:gd name="connsiteX32" fmla="*/ 1241547 w 6496870"/>
              <a:gd name="connsiteY32" fmla="*/ 6048231 h 6260173"/>
              <a:gd name="connsiteX33" fmla="*/ 803101 w 6496870"/>
              <a:gd name="connsiteY33" fmla="*/ 5799454 h 6260173"/>
              <a:gd name="connsiteX34" fmla="*/ 454827 w 6496870"/>
              <a:gd name="connsiteY34" fmla="*/ 5459751 h 6260173"/>
              <a:gd name="connsiteX35" fmla="*/ 48884 w 6496870"/>
              <a:gd name="connsiteY35" fmla="*/ 4600414 h 6260173"/>
              <a:gd name="connsiteX36" fmla="*/ 60404 w 6496870"/>
              <a:gd name="connsiteY36" fmla="*/ 3648437 h 6260173"/>
              <a:gd name="connsiteX37" fmla="*/ 235227 w 6496870"/>
              <a:gd name="connsiteY37" fmla="*/ 3195077 h 6260173"/>
              <a:gd name="connsiteX38" fmla="*/ 518153 w 6496870"/>
              <a:gd name="connsiteY38" fmla="*/ 2799522 h 6260173"/>
              <a:gd name="connsiteX39" fmla="*/ 525490 w 6496870"/>
              <a:gd name="connsiteY39" fmla="*/ 2757145 h 6260173"/>
              <a:gd name="connsiteX40" fmla="*/ 711113 w 6496870"/>
              <a:gd name="connsiteY40" fmla="*/ 2140551 h 6260173"/>
              <a:gd name="connsiteX41" fmla="*/ 759240 w 6496870"/>
              <a:gd name="connsiteY41" fmla="*/ 2109053 h 6260173"/>
              <a:gd name="connsiteX42" fmla="*/ 3198583 w 6496870"/>
              <a:gd name="connsiteY42" fmla="*/ 258 h 6260173"/>
              <a:gd name="connsiteX43" fmla="*/ 4081658 w 6496870"/>
              <a:gd name="connsiteY43" fmla="*/ 215114 h 6260173"/>
              <a:gd name="connsiteX44" fmla="*/ 4730207 w 6496870"/>
              <a:gd name="connsiteY44" fmla="*/ 705229 h 6260173"/>
              <a:gd name="connsiteX45" fmla="*/ 5129361 w 6496870"/>
              <a:gd name="connsiteY45" fmla="*/ 1412029 h 6260173"/>
              <a:gd name="connsiteX46" fmla="*/ 5162344 w 6496870"/>
              <a:gd name="connsiteY46" fmla="*/ 1439492 h 6260173"/>
              <a:gd name="connsiteX47" fmla="*/ 5603532 w 6496870"/>
              <a:gd name="connsiteY47" fmla="*/ 1908554 h 6260173"/>
              <a:gd name="connsiteX48" fmla="*/ 5592972 w 6496870"/>
              <a:gd name="connsiteY48" fmla="*/ 1981412 h 6260173"/>
              <a:gd name="connsiteX49" fmla="*/ 5561875 w 6496870"/>
              <a:gd name="connsiteY49" fmla="*/ 1991766 h 6260173"/>
              <a:gd name="connsiteX50" fmla="*/ 5520150 w 6496870"/>
              <a:gd name="connsiteY50" fmla="*/ 1970852 h 6260173"/>
              <a:gd name="connsiteX51" fmla="*/ 5095075 w 6496870"/>
              <a:gd name="connsiteY51" fmla="*/ 1519377 h 6260173"/>
              <a:gd name="connsiteX52" fmla="*/ 3689258 w 6496870"/>
              <a:gd name="connsiteY52" fmla="*/ 2349160 h 6260173"/>
              <a:gd name="connsiteX53" fmla="*/ 3419532 w 6496870"/>
              <a:gd name="connsiteY53" fmla="*/ 2366166 h 6260173"/>
              <a:gd name="connsiteX54" fmla="*/ 2838766 w 6496870"/>
              <a:gd name="connsiteY54" fmla="*/ 2284943 h 6260173"/>
              <a:gd name="connsiteX55" fmla="*/ 2086435 w 6496870"/>
              <a:gd name="connsiteY55" fmla="*/ 1865492 h 6260173"/>
              <a:gd name="connsiteX56" fmla="*/ 1277704 w 6496870"/>
              <a:gd name="connsiteY56" fmla="*/ 1500040 h 6260173"/>
              <a:gd name="connsiteX57" fmla="*/ 1220446 w 6496870"/>
              <a:gd name="connsiteY57" fmla="*/ 1492017 h 6260173"/>
              <a:gd name="connsiteX58" fmla="*/ 1234401 w 6496870"/>
              <a:gd name="connsiteY58" fmla="*/ 1435926 h 6260173"/>
              <a:gd name="connsiteX59" fmla="*/ 1721018 w 6496870"/>
              <a:gd name="connsiteY59" fmla="*/ 643514 h 6260173"/>
              <a:gd name="connsiteX60" fmla="*/ 2479555 w 6496870"/>
              <a:gd name="connsiteY60" fmla="*/ 128097 h 6260173"/>
              <a:gd name="connsiteX61" fmla="*/ 2480721 w 6496870"/>
              <a:gd name="connsiteY61" fmla="*/ 127617 h 6260173"/>
              <a:gd name="connsiteX62" fmla="*/ 3071181 w 6496870"/>
              <a:gd name="connsiteY62" fmla="*/ 2321 h 6260173"/>
              <a:gd name="connsiteX63" fmla="*/ 3198583 w 6496870"/>
              <a:gd name="connsiteY63" fmla="*/ 258 h 626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496870" h="6260173">
                <a:moveTo>
                  <a:pt x="5915154" y="2697750"/>
                </a:moveTo>
                <a:cubicBezTo>
                  <a:pt x="5930343" y="2697099"/>
                  <a:pt x="5945223" y="2703236"/>
                  <a:pt x="5955543" y="2714516"/>
                </a:cubicBezTo>
                <a:cubicBezTo>
                  <a:pt x="6246286" y="3030664"/>
                  <a:pt x="6427109" y="3422139"/>
                  <a:pt x="6478434" y="3846630"/>
                </a:cubicBezTo>
                <a:cubicBezTo>
                  <a:pt x="6501680" y="4014390"/>
                  <a:pt x="6502949" y="4183967"/>
                  <a:pt x="6482206" y="4350699"/>
                </a:cubicBezTo>
                <a:cubicBezTo>
                  <a:pt x="6462286" y="4511122"/>
                  <a:pt x="6421897" y="4669727"/>
                  <a:pt x="6362137" y="4822162"/>
                </a:cubicBezTo>
                <a:cubicBezTo>
                  <a:pt x="6247143" y="5115716"/>
                  <a:pt x="6060011" y="5385853"/>
                  <a:pt x="5820903" y="5603362"/>
                </a:cubicBezTo>
                <a:cubicBezTo>
                  <a:pt x="5581520" y="5821144"/>
                  <a:pt x="5294480" y="5982287"/>
                  <a:pt x="4990709" y="6069373"/>
                </a:cubicBezTo>
                <a:cubicBezTo>
                  <a:pt x="4833406" y="6114459"/>
                  <a:pt x="4671920" y="6139796"/>
                  <a:pt x="4510709" y="6144630"/>
                </a:cubicBezTo>
                <a:cubicBezTo>
                  <a:pt x="4491611" y="6145213"/>
                  <a:pt x="4472549" y="6145487"/>
                  <a:pt x="4453452" y="6145487"/>
                </a:cubicBezTo>
                <a:cubicBezTo>
                  <a:pt x="4310172" y="6145487"/>
                  <a:pt x="4166960" y="6129373"/>
                  <a:pt x="4026663" y="6097385"/>
                </a:cubicBezTo>
                <a:cubicBezTo>
                  <a:pt x="4013257" y="6102425"/>
                  <a:pt x="3999783" y="6107396"/>
                  <a:pt x="3986309" y="6112230"/>
                </a:cubicBezTo>
                <a:cubicBezTo>
                  <a:pt x="3783851" y="6184916"/>
                  <a:pt x="3572960" y="6234527"/>
                  <a:pt x="3359497" y="6259796"/>
                </a:cubicBezTo>
                <a:cubicBezTo>
                  <a:pt x="3357440" y="6260036"/>
                  <a:pt x="3355349" y="6260173"/>
                  <a:pt x="3353326" y="6260173"/>
                </a:cubicBezTo>
                <a:cubicBezTo>
                  <a:pt x="3327337" y="6260173"/>
                  <a:pt x="3304846" y="6240699"/>
                  <a:pt x="3301726" y="6214230"/>
                </a:cubicBezTo>
                <a:cubicBezTo>
                  <a:pt x="3298366" y="6185670"/>
                  <a:pt x="3318732" y="6159819"/>
                  <a:pt x="3347292" y="6156459"/>
                </a:cubicBezTo>
                <a:cubicBezTo>
                  <a:pt x="3552834" y="6132184"/>
                  <a:pt x="3755840" y="6084082"/>
                  <a:pt x="3950823" y="6014070"/>
                </a:cubicBezTo>
                <a:cubicBezTo>
                  <a:pt x="3714834" y="5513636"/>
                  <a:pt x="3708423" y="4922276"/>
                  <a:pt x="3935052" y="4381830"/>
                </a:cubicBezTo>
                <a:cubicBezTo>
                  <a:pt x="4046652" y="4115670"/>
                  <a:pt x="4212937" y="3872002"/>
                  <a:pt x="4415943" y="3677190"/>
                </a:cubicBezTo>
                <a:cubicBezTo>
                  <a:pt x="4631120" y="3470687"/>
                  <a:pt x="4879897" y="3322024"/>
                  <a:pt x="5155349" y="3235384"/>
                </a:cubicBezTo>
                <a:cubicBezTo>
                  <a:pt x="5437554" y="3139384"/>
                  <a:pt x="5686812" y="2960413"/>
                  <a:pt x="5876240" y="2717739"/>
                </a:cubicBezTo>
                <a:cubicBezTo>
                  <a:pt x="5885634" y="2705670"/>
                  <a:pt x="5899897" y="2698367"/>
                  <a:pt x="5915154" y="2697750"/>
                </a:cubicBezTo>
                <a:close/>
                <a:moveTo>
                  <a:pt x="759240" y="2109053"/>
                </a:moveTo>
                <a:cubicBezTo>
                  <a:pt x="766002" y="2109091"/>
                  <a:pt x="772869" y="2110457"/>
                  <a:pt x="779478" y="2113294"/>
                </a:cubicBezTo>
                <a:cubicBezTo>
                  <a:pt x="805878" y="2124643"/>
                  <a:pt x="818084" y="2155260"/>
                  <a:pt x="806736" y="2181625"/>
                </a:cubicBezTo>
                <a:cubicBezTo>
                  <a:pt x="724998" y="2371842"/>
                  <a:pt x="665170" y="2571660"/>
                  <a:pt x="628313" y="2775488"/>
                </a:cubicBezTo>
                <a:cubicBezTo>
                  <a:pt x="1179696" y="2821328"/>
                  <a:pt x="1695078" y="3111454"/>
                  <a:pt x="2049798" y="3577945"/>
                </a:cubicBezTo>
                <a:cubicBezTo>
                  <a:pt x="2224484" y="3807660"/>
                  <a:pt x="2352336" y="4073511"/>
                  <a:pt x="2419536" y="4346700"/>
                </a:cubicBezTo>
                <a:cubicBezTo>
                  <a:pt x="2490781" y="4636311"/>
                  <a:pt x="2495101" y="4926060"/>
                  <a:pt x="2432427" y="5207923"/>
                </a:cubicBezTo>
                <a:cubicBezTo>
                  <a:pt x="2374484" y="5500311"/>
                  <a:pt x="2404827" y="5805728"/>
                  <a:pt x="2520301" y="6091088"/>
                </a:cubicBezTo>
                <a:cubicBezTo>
                  <a:pt x="2526061" y="6105317"/>
                  <a:pt x="2525238" y="6121294"/>
                  <a:pt x="2518141" y="6134837"/>
                </a:cubicBezTo>
                <a:cubicBezTo>
                  <a:pt x="2511044" y="6148345"/>
                  <a:pt x="2498358" y="6158117"/>
                  <a:pt x="2483410" y="6161443"/>
                </a:cubicBezTo>
                <a:cubicBezTo>
                  <a:pt x="2334781" y="6194665"/>
                  <a:pt x="2184781" y="6211191"/>
                  <a:pt x="2035604" y="6211191"/>
                </a:cubicBezTo>
                <a:cubicBezTo>
                  <a:pt x="1764164" y="6211191"/>
                  <a:pt x="1495330" y="6156505"/>
                  <a:pt x="1241547" y="6048231"/>
                </a:cubicBezTo>
                <a:cubicBezTo>
                  <a:pt x="1084656" y="5984494"/>
                  <a:pt x="937124" y="5900768"/>
                  <a:pt x="803101" y="5799454"/>
                </a:cubicBezTo>
                <a:cubicBezTo>
                  <a:pt x="674153" y="5701980"/>
                  <a:pt x="556998" y="5587671"/>
                  <a:pt x="454827" y="5459751"/>
                </a:cubicBezTo>
                <a:cubicBezTo>
                  <a:pt x="258096" y="5213374"/>
                  <a:pt x="117730" y="4916220"/>
                  <a:pt x="48884" y="4600414"/>
                </a:cubicBezTo>
                <a:cubicBezTo>
                  <a:pt x="-19996" y="4284231"/>
                  <a:pt x="-16019" y="3955020"/>
                  <a:pt x="60404" y="3648437"/>
                </a:cubicBezTo>
                <a:cubicBezTo>
                  <a:pt x="100004" y="3489660"/>
                  <a:pt x="158838" y="3337123"/>
                  <a:pt x="235227" y="3195077"/>
                </a:cubicBezTo>
                <a:cubicBezTo>
                  <a:pt x="312164" y="3052071"/>
                  <a:pt x="407307" y="2919077"/>
                  <a:pt x="518153" y="2799522"/>
                </a:cubicBezTo>
                <a:cubicBezTo>
                  <a:pt x="520484" y="2785397"/>
                  <a:pt x="522918" y="2771271"/>
                  <a:pt x="525490" y="2757145"/>
                </a:cubicBezTo>
                <a:cubicBezTo>
                  <a:pt x="563787" y="2545500"/>
                  <a:pt x="626256" y="2338037"/>
                  <a:pt x="711113" y="2140551"/>
                </a:cubicBezTo>
                <a:cubicBezTo>
                  <a:pt x="719624" y="2120751"/>
                  <a:pt x="738955" y="2108935"/>
                  <a:pt x="759240" y="2109053"/>
                </a:cubicBezTo>
                <a:close/>
                <a:moveTo>
                  <a:pt x="3198583" y="258"/>
                </a:moveTo>
                <a:cubicBezTo>
                  <a:pt x="3496657" y="5064"/>
                  <a:pt x="3799171" y="77133"/>
                  <a:pt x="4081658" y="215114"/>
                </a:cubicBezTo>
                <a:cubicBezTo>
                  <a:pt x="4328275" y="335594"/>
                  <a:pt x="4552572" y="505069"/>
                  <a:pt x="4730207" y="705229"/>
                </a:cubicBezTo>
                <a:cubicBezTo>
                  <a:pt x="4915692" y="914200"/>
                  <a:pt x="5049921" y="1151937"/>
                  <a:pt x="5129361" y="1412029"/>
                </a:cubicBezTo>
                <a:cubicBezTo>
                  <a:pt x="5140435" y="1421080"/>
                  <a:pt x="5151407" y="1430234"/>
                  <a:pt x="5162344" y="1439492"/>
                </a:cubicBezTo>
                <a:cubicBezTo>
                  <a:pt x="5326504" y="1578486"/>
                  <a:pt x="5474927" y="1736269"/>
                  <a:pt x="5603532" y="1908554"/>
                </a:cubicBezTo>
                <a:cubicBezTo>
                  <a:pt x="5620744" y="1931594"/>
                  <a:pt x="5616012" y="1964200"/>
                  <a:pt x="5592972" y="1981412"/>
                </a:cubicBezTo>
                <a:cubicBezTo>
                  <a:pt x="5583647" y="1988372"/>
                  <a:pt x="5572710" y="1991766"/>
                  <a:pt x="5561875" y="1991766"/>
                </a:cubicBezTo>
                <a:cubicBezTo>
                  <a:pt x="5546001" y="1991766"/>
                  <a:pt x="5530332" y="1984532"/>
                  <a:pt x="5520150" y="1970852"/>
                </a:cubicBezTo>
                <a:cubicBezTo>
                  <a:pt x="5396309" y="1804977"/>
                  <a:pt x="5253167" y="1653229"/>
                  <a:pt x="5095075" y="1519377"/>
                </a:cubicBezTo>
                <a:cubicBezTo>
                  <a:pt x="4779509" y="1973972"/>
                  <a:pt x="4270572" y="2275274"/>
                  <a:pt x="3689258" y="2349160"/>
                </a:cubicBezTo>
                <a:cubicBezTo>
                  <a:pt x="3599807" y="2360509"/>
                  <a:pt x="3509567" y="2366166"/>
                  <a:pt x="3419532" y="2366166"/>
                </a:cubicBezTo>
                <a:cubicBezTo>
                  <a:pt x="3221498" y="2366166"/>
                  <a:pt x="3024492" y="2338840"/>
                  <a:pt x="2838766" y="2284943"/>
                </a:cubicBezTo>
                <a:cubicBezTo>
                  <a:pt x="2552378" y="2201834"/>
                  <a:pt x="2299212" y="2060714"/>
                  <a:pt x="2086435" y="1865492"/>
                </a:cubicBezTo>
                <a:cubicBezTo>
                  <a:pt x="1862172" y="1669103"/>
                  <a:pt x="1582504" y="1542760"/>
                  <a:pt x="1277704" y="1500040"/>
                </a:cubicBezTo>
                <a:lnTo>
                  <a:pt x="1220446" y="1492017"/>
                </a:lnTo>
                <a:lnTo>
                  <a:pt x="1234401" y="1435926"/>
                </a:lnTo>
                <a:cubicBezTo>
                  <a:pt x="1301464" y="1166303"/>
                  <a:pt x="1469738" y="892292"/>
                  <a:pt x="1721018" y="643514"/>
                </a:cubicBezTo>
                <a:cubicBezTo>
                  <a:pt x="1943155" y="423572"/>
                  <a:pt x="2212538" y="240555"/>
                  <a:pt x="2479555" y="128097"/>
                </a:cubicBezTo>
                <a:lnTo>
                  <a:pt x="2480721" y="127617"/>
                </a:lnTo>
                <a:cubicBezTo>
                  <a:pt x="2668551" y="53843"/>
                  <a:pt x="2868001" y="12223"/>
                  <a:pt x="3071181" y="2321"/>
                </a:cubicBezTo>
                <a:cubicBezTo>
                  <a:pt x="3113510" y="258"/>
                  <a:pt x="3156002" y="-428"/>
                  <a:pt x="3198583" y="258"/>
                </a:cubicBezTo>
                <a:close/>
              </a:path>
            </a:pathLst>
          </a:custGeom>
          <a:solidFill>
            <a:srgbClr val="003087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4268136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B84D1D-A6C0-ADA3-E147-0861852C28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8034" y="1268413"/>
            <a:ext cx="3783458" cy="4656564"/>
          </a:xfrm>
          <a:custGeom>
            <a:avLst/>
            <a:gdLst>
              <a:gd name="connsiteX0" fmla="*/ 1882028 w 3783458"/>
              <a:gd name="connsiteY0" fmla="*/ 0 h 4656564"/>
              <a:gd name="connsiteX1" fmla="*/ 2289477 w 3783458"/>
              <a:gd name="connsiteY1" fmla="*/ 194024 h 4656564"/>
              <a:gd name="connsiteX2" fmla="*/ 3201388 w 3783458"/>
              <a:gd name="connsiteY2" fmla="*/ 1746212 h 4656564"/>
              <a:gd name="connsiteX3" fmla="*/ 2793938 w 3783458"/>
              <a:gd name="connsiteY3" fmla="*/ 1746212 h 4656564"/>
              <a:gd name="connsiteX4" fmla="*/ 3531228 w 3783458"/>
              <a:gd name="connsiteY4" fmla="*/ 2910353 h 4656564"/>
              <a:gd name="connsiteX5" fmla="*/ 3104376 w 3783458"/>
              <a:gd name="connsiteY5" fmla="*/ 2910353 h 4656564"/>
              <a:gd name="connsiteX6" fmla="*/ 3783458 w 3783458"/>
              <a:gd name="connsiteY6" fmla="*/ 4074494 h 4656564"/>
              <a:gd name="connsiteX7" fmla="*/ 2037247 w 3783458"/>
              <a:gd name="connsiteY7" fmla="*/ 4074494 h 4656564"/>
              <a:gd name="connsiteX8" fmla="*/ 2037247 w 3783458"/>
              <a:gd name="connsiteY8" fmla="*/ 4656564 h 4656564"/>
              <a:gd name="connsiteX9" fmla="*/ 1649200 w 3783458"/>
              <a:gd name="connsiteY9" fmla="*/ 4656564 h 4656564"/>
              <a:gd name="connsiteX10" fmla="*/ 1649200 w 3783458"/>
              <a:gd name="connsiteY10" fmla="*/ 4074494 h 4656564"/>
              <a:gd name="connsiteX11" fmla="*/ 0 w 3783458"/>
              <a:gd name="connsiteY11" fmla="*/ 4074494 h 4656564"/>
              <a:gd name="connsiteX12" fmla="*/ 679082 w 3783458"/>
              <a:gd name="connsiteY12" fmla="*/ 2910353 h 4656564"/>
              <a:gd name="connsiteX13" fmla="*/ 213426 w 3783458"/>
              <a:gd name="connsiteY13" fmla="*/ 2910353 h 4656564"/>
              <a:gd name="connsiteX14" fmla="*/ 989520 w 3783458"/>
              <a:gd name="connsiteY14" fmla="*/ 1746212 h 4656564"/>
              <a:gd name="connsiteX15" fmla="*/ 562668 w 3783458"/>
              <a:gd name="connsiteY15" fmla="*/ 1746212 h 4656564"/>
              <a:gd name="connsiteX16" fmla="*/ 1455176 w 3783458"/>
              <a:gd name="connsiteY16" fmla="*/ 213426 h 4656564"/>
              <a:gd name="connsiteX17" fmla="*/ 1474579 w 3783458"/>
              <a:gd name="connsiteY17" fmla="*/ 194024 h 4656564"/>
              <a:gd name="connsiteX18" fmla="*/ 1882028 w 3783458"/>
              <a:gd name="connsiteY18" fmla="*/ 0 h 4656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83458" h="4656564">
                <a:moveTo>
                  <a:pt x="1882028" y="0"/>
                </a:moveTo>
                <a:cubicBezTo>
                  <a:pt x="2037247" y="0"/>
                  <a:pt x="2192466" y="77609"/>
                  <a:pt x="2289477" y="194024"/>
                </a:cubicBezTo>
                <a:lnTo>
                  <a:pt x="3201388" y="1746212"/>
                </a:lnTo>
                <a:lnTo>
                  <a:pt x="2793938" y="1746212"/>
                </a:lnTo>
                <a:cubicBezTo>
                  <a:pt x="2793938" y="1746212"/>
                  <a:pt x="3531228" y="2910353"/>
                  <a:pt x="3531228" y="2910353"/>
                </a:cubicBezTo>
                <a:lnTo>
                  <a:pt x="3104376" y="2910353"/>
                </a:lnTo>
                <a:lnTo>
                  <a:pt x="3783458" y="4074494"/>
                </a:lnTo>
                <a:lnTo>
                  <a:pt x="2037247" y="4074494"/>
                </a:lnTo>
                <a:lnTo>
                  <a:pt x="2037247" y="4656564"/>
                </a:lnTo>
                <a:lnTo>
                  <a:pt x="1649200" y="4656564"/>
                </a:lnTo>
                <a:lnTo>
                  <a:pt x="1649200" y="4074494"/>
                </a:lnTo>
                <a:lnTo>
                  <a:pt x="0" y="4074494"/>
                </a:lnTo>
                <a:lnTo>
                  <a:pt x="679082" y="2910353"/>
                </a:lnTo>
                <a:lnTo>
                  <a:pt x="213426" y="2910353"/>
                </a:lnTo>
                <a:lnTo>
                  <a:pt x="989520" y="1746212"/>
                </a:lnTo>
                <a:lnTo>
                  <a:pt x="562668" y="1746212"/>
                </a:lnTo>
                <a:lnTo>
                  <a:pt x="1455176" y="213426"/>
                </a:lnTo>
                <a:lnTo>
                  <a:pt x="1474579" y="194024"/>
                </a:lnTo>
                <a:cubicBezTo>
                  <a:pt x="1571590" y="77609"/>
                  <a:pt x="1726809" y="0"/>
                  <a:pt x="1882028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D5DEA732-F44C-44F5-7C1A-DB188537C7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770E43-98B2-9D5F-8B57-C383E2C3F9AB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633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63303C2-7A19-FE96-47CD-AFD80BF0E5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8017" y="1317840"/>
            <a:ext cx="3396516" cy="4528453"/>
          </a:xfrm>
          <a:custGeom>
            <a:avLst/>
            <a:gdLst>
              <a:gd name="connsiteX0" fmla="*/ 944261 w 3396516"/>
              <a:gd name="connsiteY0" fmla="*/ 3962508 h 4528453"/>
              <a:gd name="connsiteX1" fmla="*/ 2453448 w 3396516"/>
              <a:gd name="connsiteY1" fmla="*/ 3962508 h 4528453"/>
              <a:gd name="connsiteX2" fmla="*/ 2453448 w 3396516"/>
              <a:gd name="connsiteY2" fmla="*/ 4528453 h 4528453"/>
              <a:gd name="connsiteX3" fmla="*/ 944261 w 3396516"/>
              <a:gd name="connsiteY3" fmla="*/ 4528453 h 4528453"/>
              <a:gd name="connsiteX4" fmla="*/ 1746764 w 3396516"/>
              <a:gd name="connsiteY4" fmla="*/ 748 h 4528453"/>
              <a:gd name="connsiteX5" fmla="*/ 1920017 w 3396516"/>
              <a:gd name="connsiteY5" fmla="*/ 14707 h 4528453"/>
              <a:gd name="connsiteX6" fmla="*/ 3381810 w 3396516"/>
              <a:gd name="connsiteY6" fmla="*/ 1919555 h 4528453"/>
              <a:gd name="connsiteX7" fmla="*/ 2817916 w 3396516"/>
              <a:gd name="connsiteY7" fmla="*/ 2974557 h 4528453"/>
              <a:gd name="connsiteX8" fmla="*/ 2477595 w 3396516"/>
              <a:gd name="connsiteY8" fmla="*/ 3585211 h 4528453"/>
              <a:gd name="connsiteX9" fmla="*/ 1887503 w 3396516"/>
              <a:gd name="connsiteY9" fmla="*/ 3585211 h 4528453"/>
              <a:gd name="connsiteX10" fmla="*/ 1887503 w 3396516"/>
              <a:gd name="connsiteY10" fmla="*/ 2041313 h 4528453"/>
              <a:gd name="connsiteX11" fmla="*/ 2264800 w 3396516"/>
              <a:gd name="connsiteY11" fmla="*/ 1510080 h 4528453"/>
              <a:gd name="connsiteX12" fmla="*/ 1887503 w 3396516"/>
              <a:gd name="connsiteY12" fmla="*/ 1510080 h 4528453"/>
              <a:gd name="connsiteX13" fmla="*/ 1698855 w 3396516"/>
              <a:gd name="connsiteY13" fmla="*/ 1698728 h 4528453"/>
              <a:gd name="connsiteX14" fmla="*/ 1510206 w 3396516"/>
              <a:gd name="connsiteY14" fmla="*/ 1510080 h 4528453"/>
              <a:gd name="connsiteX15" fmla="*/ 1132910 w 3396516"/>
              <a:gd name="connsiteY15" fmla="*/ 1510080 h 4528453"/>
              <a:gd name="connsiteX16" fmla="*/ 1510206 w 3396516"/>
              <a:gd name="connsiteY16" fmla="*/ 2041313 h 4528453"/>
              <a:gd name="connsiteX17" fmla="*/ 1510206 w 3396516"/>
              <a:gd name="connsiteY17" fmla="*/ 3585211 h 4528453"/>
              <a:gd name="connsiteX18" fmla="*/ 920680 w 3396516"/>
              <a:gd name="connsiteY18" fmla="*/ 3585211 h 4528453"/>
              <a:gd name="connsiteX19" fmla="*/ 542063 w 3396516"/>
              <a:gd name="connsiteY19" fmla="*/ 2940600 h 4528453"/>
              <a:gd name="connsiteX20" fmla="*/ 15168 w 3396516"/>
              <a:gd name="connsiteY20" fmla="*/ 1476500 h 4528453"/>
              <a:gd name="connsiteX21" fmla="*/ 1746764 w 3396516"/>
              <a:gd name="connsiteY21" fmla="*/ 748 h 452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396516" h="4528453">
                <a:moveTo>
                  <a:pt x="944261" y="3962508"/>
                </a:moveTo>
                <a:lnTo>
                  <a:pt x="2453448" y="3962508"/>
                </a:lnTo>
                <a:lnTo>
                  <a:pt x="2453448" y="4528453"/>
                </a:lnTo>
                <a:lnTo>
                  <a:pt x="944261" y="4528453"/>
                </a:lnTo>
                <a:close/>
                <a:moveTo>
                  <a:pt x="1746764" y="748"/>
                </a:moveTo>
                <a:cubicBezTo>
                  <a:pt x="1804108" y="2448"/>
                  <a:pt x="1861913" y="7061"/>
                  <a:pt x="1920017" y="14707"/>
                </a:cubicBezTo>
                <a:cubicBezTo>
                  <a:pt x="2849689" y="137053"/>
                  <a:pt x="3504156" y="989883"/>
                  <a:pt x="3381810" y="1919555"/>
                </a:cubicBezTo>
                <a:cubicBezTo>
                  <a:pt x="3328060" y="2327987"/>
                  <a:pt x="3127646" y="2702945"/>
                  <a:pt x="2817916" y="2974557"/>
                </a:cubicBezTo>
                <a:cubicBezTo>
                  <a:pt x="2640172" y="3134956"/>
                  <a:pt x="2520510" y="3349671"/>
                  <a:pt x="2477595" y="3585211"/>
                </a:cubicBezTo>
                <a:lnTo>
                  <a:pt x="1887503" y="3585211"/>
                </a:lnTo>
                <a:lnTo>
                  <a:pt x="1887503" y="2041313"/>
                </a:lnTo>
                <a:cubicBezTo>
                  <a:pt x="2112815" y="1961656"/>
                  <a:pt x="2263809" y="1749057"/>
                  <a:pt x="2264800" y="1510080"/>
                </a:cubicBezTo>
                <a:lnTo>
                  <a:pt x="1887503" y="1510080"/>
                </a:lnTo>
                <a:cubicBezTo>
                  <a:pt x="1887503" y="1614267"/>
                  <a:pt x="1803042" y="1698728"/>
                  <a:pt x="1698855" y="1698728"/>
                </a:cubicBezTo>
                <a:cubicBezTo>
                  <a:pt x="1594667" y="1698728"/>
                  <a:pt x="1510206" y="1614267"/>
                  <a:pt x="1510206" y="1510080"/>
                </a:cubicBezTo>
                <a:lnTo>
                  <a:pt x="1132910" y="1510080"/>
                </a:lnTo>
                <a:cubicBezTo>
                  <a:pt x="1133900" y="1749057"/>
                  <a:pt x="1284894" y="1961656"/>
                  <a:pt x="1510206" y="2041313"/>
                </a:cubicBezTo>
                <a:lnTo>
                  <a:pt x="1510206" y="3585211"/>
                </a:lnTo>
                <a:lnTo>
                  <a:pt x="920680" y="3585211"/>
                </a:lnTo>
                <a:cubicBezTo>
                  <a:pt x="864200" y="3336346"/>
                  <a:pt x="731916" y="3111127"/>
                  <a:pt x="542063" y="2940600"/>
                </a:cubicBezTo>
                <a:cubicBezTo>
                  <a:pt x="138283" y="2567625"/>
                  <a:pt x="-58348" y="2021242"/>
                  <a:pt x="15168" y="1476500"/>
                </a:cubicBezTo>
                <a:cubicBezTo>
                  <a:pt x="129868" y="604933"/>
                  <a:pt x="886594" y="-24756"/>
                  <a:pt x="1746764" y="748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40EFA2-DF55-AE0A-6BC0-1DE8D64A0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AB9748-3C65-6BD7-C3A9-F2FBCFFBF946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6232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D78977-66E6-B3D4-BDF0-D3A74279CB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6763" y="1438381"/>
            <a:ext cx="4951446" cy="4303007"/>
          </a:xfrm>
          <a:custGeom>
            <a:avLst/>
            <a:gdLst>
              <a:gd name="connsiteX0" fmla="*/ 2475723 w 4951446"/>
              <a:gd name="connsiteY0" fmla="*/ 0 h 4303007"/>
              <a:gd name="connsiteX1" fmla="*/ 3119750 w 4951446"/>
              <a:gd name="connsiteY1" fmla="*/ 527148 h 4303007"/>
              <a:gd name="connsiteX2" fmla="*/ 3402838 w 4951446"/>
              <a:gd name="connsiteY2" fmla="*/ 2139599 h 4303007"/>
              <a:gd name="connsiteX3" fmla="*/ 4705046 w 4951446"/>
              <a:gd name="connsiteY3" fmla="*/ 3115180 h 4303007"/>
              <a:gd name="connsiteX4" fmla="*/ 4881976 w 4951446"/>
              <a:gd name="connsiteY4" fmla="*/ 3933331 h 4303007"/>
              <a:gd name="connsiteX5" fmla="*/ 4129432 w 4951446"/>
              <a:gd name="connsiteY5" fmla="*/ 4281583 h 4303007"/>
              <a:gd name="connsiteX6" fmla="*/ 2475723 w 4951446"/>
              <a:gd name="connsiteY6" fmla="*/ 3518292 h 4303007"/>
              <a:gd name="connsiteX7" fmla="*/ 822015 w 4951446"/>
              <a:gd name="connsiteY7" fmla="*/ 4281583 h 4303007"/>
              <a:gd name="connsiteX8" fmla="*/ 69471 w 4951446"/>
              <a:gd name="connsiteY8" fmla="*/ 3933331 h 4303007"/>
              <a:gd name="connsiteX9" fmla="*/ 246401 w 4951446"/>
              <a:gd name="connsiteY9" fmla="*/ 3115180 h 4303007"/>
              <a:gd name="connsiteX10" fmla="*/ 1548608 w 4951446"/>
              <a:gd name="connsiteY10" fmla="*/ 2139599 h 4303007"/>
              <a:gd name="connsiteX11" fmla="*/ 1831697 w 4951446"/>
              <a:gd name="connsiteY11" fmla="*/ 527148 h 4303007"/>
              <a:gd name="connsiteX12" fmla="*/ 2475723 w 4951446"/>
              <a:gd name="connsiteY12" fmla="*/ 0 h 43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51446" h="4303007">
                <a:moveTo>
                  <a:pt x="2475723" y="0"/>
                </a:moveTo>
                <a:cubicBezTo>
                  <a:pt x="2789480" y="0"/>
                  <a:pt x="3056055" y="217061"/>
                  <a:pt x="3119750" y="527148"/>
                </a:cubicBezTo>
                <a:cubicBezTo>
                  <a:pt x="3199958" y="899252"/>
                  <a:pt x="3334425" y="1574287"/>
                  <a:pt x="3402838" y="2139599"/>
                </a:cubicBezTo>
                <a:cubicBezTo>
                  <a:pt x="3874652" y="2454456"/>
                  <a:pt x="4410162" y="2876651"/>
                  <a:pt x="4705046" y="3115180"/>
                </a:cubicBezTo>
                <a:cubicBezTo>
                  <a:pt x="4945671" y="3308387"/>
                  <a:pt x="5021161" y="3654253"/>
                  <a:pt x="4881976" y="3933331"/>
                </a:cubicBezTo>
                <a:cubicBezTo>
                  <a:pt x="4742791" y="4217180"/>
                  <a:pt x="4433753" y="4360297"/>
                  <a:pt x="4129432" y="4281583"/>
                </a:cubicBezTo>
                <a:cubicBezTo>
                  <a:pt x="3815676" y="4200483"/>
                  <a:pt x="2947538" y="3673336"/>
                  <a:pt x="2475723" y="3518292"/>
                </a:cubicBezTo>
                <a:cubicBezTo>
                  <a:pt x="2003909" y="3673336"/>
                  <a:pt x="1135771" y="4200483"/>
                  <a:pt x="822015" y="4281583"/>
                </a:cubicBezTo>
                <a:cubicBezTo>
                  <a:pt x="517694" y="4360297"/>
                  <a:pt x="208656" y="4217180"/>
                  <a:pt x="69471" y="3933331"/>
                </a:cubicBezTo>
                <a:cubicBezTo>
                  <a:pt x="-69714" y="3654253"/>
                  <a:pt x="5776" y="3308387"/>
                  <a:pt x="246401" y="3115180"/>
                </a:cubicBezTo>
                <a:cubicBezTo>
                  <a:pt x="541285" y="2876651"/>
                  <a:pt x="1076794" y="2454456"/>
                  <a:pt x="1548608" y="2139599"/>
                </a:cubicBezTo>
                <a:cubicBezTo>
                  <a:pt x="1617021" y="1574287"/>
                  <a:pt x="1751489" y="899252"/>
                  <a:pt x="1831697" y="527148"/>
                </a:cubicBezTo>
                <a:cubicBezTo>
                  <a:pt x="1895392" y="217061"/>
                  <a:pt x="2161967" y="0"/>
                  <a:pt x="2475723" y="0"/>
                </a:cubicBezTo>
                <a:close/>
              </a:path>
            </a:pathLst>
          </a:custGeom>
          <a:solidFill>
            <a:srgbClr val="003087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40EFA2-DF55-AE0A-6BC0-1DE8D64A0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AB9748-3C65-6BD7-C3A9-F2FBCFFBF946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0999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9C8D4E9-9E63-30C6-9B77-B1795CEECD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9655" y="1500166"/>
            <a:ext cx="4513239" cy="4164462"/>
          </a:xfrm>
          <a:custGeom>
            <a:avLst/>
            <a:gdLst>
              <a:gd name="connsiteX0" fmla="*/ 274657 w 4681650"/>
              <a:gd name="connsiteY0" fmla="*/ 3511238 h 4291523"/>
              <a:gd name="connsiteX1" fmla="*/ 895756 w 4681650"/>
              <a:gd name="connsiteY1" fmla="*/ 3511238 h 4291523"/>
              <a:gd name="connsiteX2" fmla="*/ 1074726 w 4681650"/>
              <a:gd name="connsiteY2" fmla="*/ 3690208 h 4291523"/>
              <a:gd name="connsiteX3" fmla="*/ 1445070 w 4681650"/>
              <a:gd name="connsiteY3" fmla="*/ 3511238 h 4291523"/>
              <a:gd name="connsiteX4" fmla="*/ 2066169 w 4681650"/>
              <a:gd name="connsiteY4" fmla="*/ 3511238 h 4291523"/>
              <a:gd name="connsiteX5" fmla="*/ 2245139 w 4681650"/>
              <a:gd name="connsiteY5" fmla="*/ 3690208 h 4291523"/>
              <a:gd name="connsiteX6" fmla="*/ 2615482 w 4681650"/>
              <a:gd name="connsiteY6" fmla="*/ 3511238 h 4291523"/>
              <a:gd name="connsiteX7" fmla="*/ 3236581 w 4681650"/>
              <a:gd name="connsiteY7" fmla="*/ 3511238 h 4291523"/>
              <a:gd name="connsiteX8" fmla="*/ 3415551 w 4681650"/>
              <a:gd name="connsiteY8" fmla="*/ 3690208 h 4291523"/>
              <a:gd name="connsiteX9" fmla="*/ 3785895 w 4681650"/>
              <a:gd name="connsiteY9" fmla="*/ 3511238 h 4291523"/>
              <a:gd name="connsiteX10" fmla="*/ 4406993 w 4681650"/>
              <a:gd name="connsiteY10" fmla="*/ 3511238 h 4291523"/>
              <a:gd name="connsiteX11" fmla="*/ 4681650 w 4681650"/>
              <a:gd name="connsiteY11" fmla="*/ 3706306 h 4291523"/>
              <a:gd name="connsiteX12" fmla="*/ 4681650 w 4681650"/>
              <a:gd name="connsiteY12" fmla="*/ 4291513 h 4291523"/>
              <a:gd name="connsiteX13" fmla="*/ 4096444 w 4681650"/>
              <a:gd name="connsiteY13" fmla="*/ 4063282 h 4291523"/>
              <a:gd name="connsiteX14" fmla="*/ 2926031 w 4681650"/>
              <a:gd name="connsiteY14" fmla="*/ 4063282 h 4291523"/>
              <a:gd name="connsiteX15" fmla="*/ 1755619 w 4681650"/>
              <a:gd name="connsiteY15" fmla="*/ 4063282 h 4291523"/>
              <a:gd name="connsiteX16" fmla="*/ 585206 w 4681650"/>
              <a:gd name="connsiteY16" fmla="*/ 4063282 h 4291523"/>
              <a:gd name="connsiteX17" fmla="*/ 0 w 4681650"/>
              <a:gd name="connsiteY17" fmla="*/ 4291513 h 4291523"/>
              <a:gd name="connsiteX18" fmla="*/ 0 w 4681650"/>
              <a:gd name="connsiteY18" fmla="*/ 3706306 h 4291523"/>
              <a:gd name="connsiteX19" fmla="*/ 274657 w 4681650"/>
              <a:gd name="connsiteY19" fmla="*/ 3511238 h 4291523"/>
              <a:gd name="connsiteX20" fmla="*/ 274657 w 4681650"/>
              <a:gd name="connsiteY20" fmla="*/ 2340825 h 4291523"/>
              <a:gd name="connsiteX21" fmla="*/ 895756 w 4681650"/>
              <a:gd name="connsiteY21" fmla="*/ 2340825 h 4291523"/>
              <a:gd name="connsiteX22" fmla="*/ 1266099 w 4681650"/>
              <a:gd name="connsiteY22" fmla="*/ 2519796 h 4291523"/>
              <a:gd name="connsiteX23" fmla="*/ 1445070 w 4681650"/>
              <a:gd name="connsiteY23" fmla="*/ 2340825 h 4291523"/>
              <a:gd name="connsiteX24" fmla="*/ 2066169 w 4681650"/>
              <a:gd name="connsiteY24" fmla="*/ 2340825 h 4291523"/>
              <a:gd name="connsiteX25" fmla="*/ 2436512 w 4681650"/>
              <a:gd name="connsiteY25" fmla="*/ 2519796 h 4291523"/>
              <a:gd name="connsiteX26" fmla="*/ 2615482 w 4681650"/>
              <a:gd name="connsiteY26" fmla="*/ 2340825 h 4291523"/>
              <a:gd name="connsiteX27" fmla="*/ 3236580 w 4681650"/>
              <a:gd name="connsiteY27" fmla="*/ 2340825 h 4291523"/>
              <a:gd name="connsiteX28" fmla="*/ 3606924 w 4681650"/>
              <a:gd name="connsiteY28" fmla="*/ 2519796 h 4291523"/>
              <a:gd name="connsiteX29" fmla="*/ 3785895 w 4681650"/>
              <a:gd name="connsiteY29" fmla="*/ 2340825 h 4291523"/>
              <a:gd name="connsiteX30" fmla="*/ 4406993 w 4681650"/>
              <a:gd name="connsiteY30" fmla="*/ 2340825 h 4291523"/>
              <a:gd name="connsiteX31" fmla="*/ 4681650 w 4681650"/>
              <a:gd name="connsiteY31" fmla="*/ 2535894 h 4291523"/>
              <a:gd name="connsiteX32" fmla="*/ 4681650 w 4681650"/>
              <a:gd name="connsiteY32" fmla="*/ 3121100 h 4291523"/>
              <a:gd name="connsiteX33" fmla="*/ 4096444 w 4681650"/>
              <a:gd name="connsiteY33" fmla="*/ 2892870 h 4291523"/>
              <a:gd name="connsiteX34" fmla="*/ 2926031 w 4681650"/>
              <a:gd name="connsiteY34" fmla="*/ 2892870 h 4291523"/>
              <a:gd name="connsiteX35" fmla="*/ 1755619 w 4681650"/>
              <a:gd name="connsiteY35" fmla="*/ 2892870 h 4291523"/>
              <a:gd name="connsiteX36" fmla="*/ 585206 w 4681650"/>
              <a:gd name="connsiteY36" fmla="*/ 2892870 h 4291523"/>
              <a:gd name="connsiteX37" fmla="*/ 0 w 4681650"/>
              <a:gd name="connsiteY37" fmla="*/ 3121100 h 4291523"/>
              <a:gd name="connsiteX38" fmla="*/ 0 w 4681650"/>
              <a:gd name="connsiteY38" fmla="*/ 2535894 h 4291523"/>
              <a:gd name="connsiteX39" fmla="*/ 274657 w 4681650"/>
              <a:gd name="connsiteY39" fmla="*/ 2340825 h 4291523"/>
              <a:gd name="connsiteX40" fmla="*/ 274657 w 4681650"/>
              <a:gd name="connsiteY40" fmla="*/ 1170413 h 4291523"/>
              <a:gd name="connsiteX41" fmla="*/ 895756 w 4681650"/>
              <a:gd name="connsiteY41" fmla="*/ 1170413 h 4291523"/>
              <a:gd name="connsiteX42" fmla="*/ 1074726 w 4681650"/>
              <a:gd name="connsiteY42" fmla="*/ 1349383 h 4291523"/>
              <a:gd name="connsiteX43" fmla="*/ 1445070 w 4681650"/>
              <a:gd name="connsiteY43" fmla="*/ 1170413 h 4291523"/>
              <a:gd name="connsiteX44" fmla="*/ 2066169 w 4681650"/>
              <a:gd name="connsiteY44" fmla="*/ 1170413 h 4291523"/>
              <a:gd name="connsiteX45" fmla="*/ 2245139 w 4681650"/>
              <a:gd name="connsiteY45" fmla="*/ 1349383 h 4291523"/>
              <a:gd name="connsiteX46" fmla="*/ 2615482 w 4681650"/>
              <a:gd name="connsiteY46" fmla="*/ 1170413 h 4291523"/>
              <a:gd name="connsiteX47" fmla="*/ 3236581 w 4681650"/>
              <a:gd name="connsiteY47" fmla="*/ 1170413 h 4291523"/>
              <a:gd name="connsiteX48" fmla="*/ 3415551 w 4681650"/>
              <a:gd name="connsiteY48" fmla="*/ 1349383 h 4291523"/>
              <a:gd name="connsiteX49" fmla="*/ 3785895 w 4681650"/>
              <a:gd name="connsiteY49" fmla="*/ 1170413 h 4291523"/>
              <a:gd name="connsiteX50" fmla="*/ 4406993 w 4681650"/>
              <a:gd name="connsiteY50" fmla="*/ 1170413 h 4291523"/>
              <a:gd name="connsiteX51" fmla="*/ 4681650 w 4681650"/>
              <a:gd name="connsiteY51" fmla="*/ 1365481 h 4291523"/>
              <a:gd name="connsiteX52" fmla="*/ 4681650 w 4681650"/>
              <a:gd name="connsiteY52" fmla="*/ 1950688 h 4291523"/>
              <a:gd name="connsiteX53" fmla="*/ 4096444 w 4681650"/>
              <a:gd name="connsiteY53" fmla="*/ 1722457 h 4291523"/>
              <a:gd name="connsiteX54" fmla="*/ 2926031 w 4681650"/>
              <a:gd name="connsiteY54" fmla="*/ 1722457 h 4291523"/>
              <a:gd name="connsiteX55" fmla="*/ 1755619 w 4681650"/>
              <a:gd name="connsiteY55" fmla="*/ 1722457 h 4291523"/>
              <a:gd name="connsiteX56" fmla="*/ 585206 w 4681650"/>
              <a:gd name="connsiteY56" fmla="*/ 1722457 h 4291523"/>
              <a:gd name="connsiteX57" fmla="*/ 0 w 4681650"/>
              <a:gd name="connsiteY57" fmla="*/ 1950688 h 4291523"/>
              <a:gd name="connsiteX58" fmla="*/ 0 w 4681650"/>
              <a:gd name="connsiteY58" fmla="*/ 1365481 h 4291523"/>
              <a:gd name="connsiteX59" fmla="*/ 274657 w 4681650"/>
              <a:gd name="connsiteY59" fmla="*/ 1170413 h 4291523"/>
              <a:gd name="connsiteX60" fmla="*/ 274657 w 4681650"/>
              <a:gd name="connsiteY60" fmla="*/ 0 h 4291523"/>
              <a:gd name="connsiteX61" fmla="*/ 895756 w 4681650"/>
              <a:gd name="connsiteY61" fmla="*/ 0 h 4291523"/>
              <a:gd name="connsiteX62" fmla="*/ 1074726 w 4681650"/>
              <a:gd name="connsiteY62" fmla="*/ 178970 h 4291523"/>
              <a:gd name="connsiteX63" fmla="*/ 1445070 w 4681650"/>
              <a:gd name="connsiteY63" fmla="*/ 0 h 4291523"/>
              <a:gd name="connsiteX64" fmla="*/ 2066169 w 4681650"/>
              <a:gd name="connsiteY64" fmla="*/ 0 h 4291523"/>
              <a:gd name="connsiteX65" fmla="*/ 2245139 w 4681650"/>
              <a:gd name="connsiteY65" fmla="*/ 178970 h 4291523"/>
              <a:gd name="connsiteX66" fmla="*/ 2615482 w 4681650"/>
              <a:gd name="connsiteY66" fmla="*/ 0 h 4291523"/>
              <a:gd name="connsiteX67" fmla="*/ 3236581 w 4681650"/>
              <a:gd name="connsiteY67" fmla="*/ 0 h 4291523"/>
              <a:gd name="connsiteX68" fmla="*/ 3415551 w 4681650"/>
              <a:gd name="connsiteY68" fmla="*/ 178970 h 4291523"/>
              <a:gd name="connsiteX69" fmla="*/ 3785895 w 4681650"/>
              <a:gd name="connsiteY69" fmla="*/ 0 h 4291523"/>
              <a:gd name="connsiteX70" fmla="*/ 4406993 w 4681650"/>
              <a:gd name="connsiteY70" fmla="*/ 0 h 4291523"/>
              <a:gd name="connsiteX71" fmla="*/ 4681650 w 4681650"/>
              <a:gd name="connsiteY71" fmla="*/ 195069 h 4291523"/>
              <a:gd name="connsiteX72" fmla="*/ 4681650 w 4681650"/>
              <a:gd name="connsiteY72" fmla="*/ 780275 h 4291523"/>
              <a:gd name="connsiteX73" fmla="*/ 4096444 w 4681650"/>
              <a:gd name="connsiteY73" fmla="*/ 552045 h 4291523"/>
              <a:gd name="connsiteX74" fmla="*/ 2926031 w 4681650"/>
              <a:gd name="connsiteY74" fmla="*/ 552045 h 4291523"/>
              <a:gd name="connsiteX75" fmla="*/ 1755619 w 4681650"/>
              <a:gd name="connsiteY75" fmla="*/ 552045 h 4291523"/>
              <a:gd name="connsiteX76" fmla="*/ 585206 w 4681650"/>
              <a:gd name="connsiteY76" fmla="*/ 552045 h 4291523"/>
              <a:gd name="connsiteX77" fmla="*/ 0 w 4681650"/>
              <a:gd name="connsiteY77" fmla="*/ 780275 h 4291523"/>
              <a:gd name="connsiteX78" fmla="*/ 0 w 4681650"/>
              <a:gd name="connsiteY78" fmla="*/ 195069 h 4291523"/>
              <a:gd name="connsiteX79" fmla="*/ 274657 w 4681650"/>
              <a:gd name="connsiteY79" fmla="*/ 0 h 4291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681650" h="4291523">
                <a:moveTo>
                  <a:pt x="274657" y="3511238"/>
                </a:moveTo>
                <a:lnTo>
                  <a:pt x="895756" y="3511238"/>
                </a:lnTo>
                <a:cubicBezTo>
                  <a:pt x="924967" y="3595085"/>
                  <a:pt x="990878" y="3660997"/>
                  <a:pt x="1074726" y="3690208"/>
                </a:cubicBezTo>
                <a:cubicBezTo>
                  <a:pt x="1226415" y="3743055"/>
                  <a:pt x="1392224" y="3662927"/>
                  <a:pt x="1445070" y="3511238"/>
                </a:cubicBezTo>
                <a:lnTo>
                  <a:pt x="2066169" y="3511238"/>
                </a:lnTo>
                <a:cubicBezTo>
                  <a:pt x="2095379" y="3595085"/>
                  <a:pt x="2161291" y="3660997"/>
                  <a:pt x="2245139" y="3690208"/>
                </a:cubicBezTo>
                <a:cubicBezTo>
                  <a:pt x="2396828" y="3743055"/>
                  <a:pt x="2562636" y="3662927"/>
                  <a:pt x="2615482" y="3511238"/>
                </a:cubicBezTo>
                <a:lnTo>
                  <a:pt x="3236581" y="3511238"/>
                </a:lnTo>
                <a:cubicBezTo>
                  <a:pt x="3265792" y="3595085"/>
                  <a:pt x="3331703" y="3660997"/>
                  <a:pt x="3415551" y="3690208"/>
                </a:cubicBezTo>
                <a:cubicBezTo>
                  <a:pt x="3567240" y="3743055"/>
                  <a:pt x="3733049" y="3662927"/>
                  <a:pt x="3785895" y="3511238"/>
                </a:cubicBezTo>
                <a:lnTo>
                  <a:pt x="4406993" y="3511238"/>
                </a:lnTo>
                <a:cubicBezTo>
                  <a:pt x="4448178" y="3627728"/>
                  <a:pt x="4558096" y="3705794"/>
                  <a:pt x="4681650" y="3706306"/>
                </a:cubicBezTo>
                <a:lnTo>
                  <a:pt x="4681650" y="4291513"/>
                </a:lnTo>
                <a:cubicBezTo>
                  <a:pt x="4464995" y="4290817"/>
                  <a:pt x="4256366" y="4209451"/>
                  <a:pt x="4096444" y="4063282"/>
                </a:cubicBezTo>
                <a:cubicBezTo>
                  <a:pt x="3765652" y="4367604"/>
                  <a:pt x="3256824" y="4367604"/>
                  <a:pt x="2926031" y="4063282"/>
                </a:cubicBezTo>
                <a:cubicBezTo>
                  <a:pt x="2595239" y="4367604"/>
                  <a:pt x="2086411" y="4367604"/>
                  <a:pt x="1755619" y="4063282"/>
                </a:cubicBezTo>
                <a:cubicBezTo>
                  <a:pt x="1424827" y="4367604"/>
                  <a:pt x="915999" y="4367604"/>
                  <a:pt x="585206" y="4063282"/>
                </a:cubicBezTo>
                <a:cubicBezTo>
                  <a:pt x="425286" y="4209451"/>
                  <a:pt x="216656" y="4290817"/>
                  <a:pt x="0" y="4291513"/>
                </a:cubicBezTo>
                <a:lnTo>
                  <a:pt x="0" y="3706306"/>
                </a:lnTo>
                <a:cubicBezTo>
                  <a:pt x="123555" y="3705794"/>
                  <a:pt x="233473" y="3627728"/>
                  <a:pt x="274657" y="3511238"/>
                </a:cubicBezTo>
                <a:close/>
                <a:moveTo>
                  <a:pt x="274657" y="2340825"/>
                </a:moveTo>
                <a:lnTo>
                  <a:pt x="895756" y="2340825"/>
                </a:lnTo>
                <a:cubicBezTo>
                  <a:pt x="948602" y="2492514"/>
                  <a:pt x="1114410" y="2572642"/>
                  <a:pt x="1266099" y="2519796"/>
                </a:cubicBezTo>
                <a:cubicBezTo>
                  <a:pt x="1349947" y="2490585"/>
                  <a:pt x="1415859" y="2424673"/>
                  <a:pt x="1445070" y="2340825"/>
                </a:cubicBezTo>
                <a:lnTo>
                  <a:pt x="2066169" y="2340825"/>
                </a:lnTo>
                <a:cubicBezTo>
                  <a:pt x="2119014" y="2492514"/>
                  <a:pt x="2284823" y="2572642"/>
                  <a:pt x="2436512" y="2519796"/>
                </a:cubicBezTo>
                <a:cubicBezTo>
                  <a:pt x="2520359" y="2490585"/>
                  <a:pt x="2586271" y="2424673"/>
                  <a:pt x="2615482" y="2340825"/>
                </a:cubicBezTo>
                <a:lnTo>
                  <a:pt x="3236580" y="2340825"/>
                </a:lnTo>
                <a:cubicBezTo>
                  <a:pt x="3289427" y="2492514"/>
                  <a:pt x="3455235" y="2572642"/>
                  <a:pt x="3606924" y="2519796"/>
                </a:cubicBezTo>
                <a:cubicBezTo>
                  <a:pt x="3690772" y="2490585"/>
                  <a:pt x="3756683" y="2424673"/>
                  <a:pt x="3785895" y="2340825"/>
                </a:cubicBezTo>
                <a:lnTo>
                  <a:pt x="4406993" y="2340825"/>
                </a:lnTo>
                <a:cubicBezTo>
                  <a:pt x="4448177" y="2457315"/>
                  <a:pt x="4558096" y="2535382"/>
                  <a:pt x="4681650" y="2535894"/>
                </a:cubicBezTo>
                <a:lnTo>
                  <a:pt x="4681650" y="3121100"/>
                </a:lnTo>
                <a:cubicBezTo>
                  <a:pt x="4464995" y="3120404"/>
                  <a:pt x="4256366" y="3039039"/>
                  <a:pt x="4096444" y="2892870"/>
                </a:cubicBezTo>
                <a:cubicBezTo>
                  <a:pt x="3765652" y="3197191"/>
                  <a:pt x="3256824" y="3197191"/>
                  <a:pt x="2926031" y="2892870"/>
                </a:cubicBezTo>
                <a:cubicBezTo>
                  <a:pt x="2595239" y="3197191"/>
                  <a:pt x="2086411" y="3197191"/>
                  <a:pt x="1755619" y="2892870"/>
                </a:cubicBezTo>
                <a:cubicBezTo>
                  <a:pt x="1424827" y="3197191"/>
                  <a:pt x="915999" y="3197191"/>
                  <a:pt x="585206" y="2892870"/>
                </a:cubicBezTo>
                <a:cubicBezTo>
                  <a:pt x="425286" y="3039039"/>
                  <a:pt x="216656" y="3120404"/>
                  <a:pt x="0" y="3121100"/>
                </a:cubicBezTo>
                <a:lnTo>
                  <a:pt x="0" y="2535894"/>
                </a:lnTo>
                <a:cubicBezTo>
                  <a:pt x="123555" y="2535382"/>
                  <a:pt x="233473" y="2457315"/>
                  <a:pt x="274657" y="2340825"/>
                </a:cubicBezTo>
                <a:close/>
                <a:moveTo>
                  <a:pt x="274657" y="1170413"/>
                </a:moveTo>
                <a:lnTo>
                  <a:pt x="895756" y="1170413"/>
                </a:lnTo>
                <a:cubicBezTo>
                  <a:pt x="924967" y="1254261"/>
                  <a:pt x="990878" y="1320172"/>
                  <a:pt x="1074726" y="1349383"/>
                </a:cubicBezTo>
                <a:cubicBezTo>
                  <a:pt x="1226415" y="1402230"/>
                  <a:pt x="1392224" y="1322102"/>
                  <a:pt x="1445070" y="1170413"/>
                </a:cubicBezTo>
                <a:lnTo>
                  <a:pt x="2066169" y="1170413"/>
                </a:lnTo>
                <a:cubicBezTo>
                  <a:pt x="2095379" y="1254261"/>
                  <a:pt x="2161291" y="1320172"/>
                  <a:pt x="2245139" y="1349383"/>
                </a:cubicBezTo>
                <a:cubicBezTo>
                  <a:pt x="2396828" y="1402230"/>
                  <a:pt x="2562636" y="1322102"/>
                  <a:pt x="2615482" y="1170413"/>
                </a:cubicBezTo>
                <a:lnTo>
                  <a:pt x="3236581" y="1170413"/>
                </a:lnTo>
                <a:cubicBezTo>
                  <a:pt x="3265792" y="1254261"/>
                  <a:pt x="3331703" y="1320172"/>
                  <a:pt x="3415551" y="1349383"/>
                </a:cubicBezTo>
                <a:cubicBezTo>
                  <a:pt x="3567240" y="1402230"/>
                  <a:pt x="3733049" y="1322102"/>
                  <a:pt x="3785895" y="1170413"/>
                </a:cubicBezTo>
                <a:lnTo>
                  <a:pt x="4406993" y="1170413"/>
                </a:lnTo>
                <a:cubicBezTo>
                  <a:pt x="4448178" y="1286903"/>
                  <a:pt x="4558096" y="1364970"/>
                  <a:pt x="4681650" y="1365481"/>
                </a:cubicBezTo>
                <a:lnTo>
                  <a:pt x="4681650" y="1950688"/>
                </a:lnTo>
                <a:cubicBezTo>
                  <a:pt x="4464995" y="1949992"/>
                  <a:pt x="4256366" y="1868625"/>
                  <a:pt x="4096444" y="1722457"/>
                </a:cubicBezTo>
                <a:cubicBezTo>
                  <a:pt x="3765652" y="2026779"/>
                  <a:pt x="3256824" y="2026779"/>
                  <a:pt x="2926031" y="1722457"/>
                </a:cubicBezTo>
                <a:cubicBezTo>
                  <a:pt x="2595239" y="2026779"/>
                  <a:pt x="2086411" y="2026779"/>
                  <a:pt x="1755619" y="1722457"/>
                </a:cubicBezTo>
                <a:cubicBezTo>
                  <a:pt x="1424827" y="2026779"/>
                  <a:pt x="915999" y="2026779"/>
                  <a:pt x="585206" y="1722457"/>
                </a:cubicBezTo>
                <a:cubicBezTo>
                  <a:pt x="425286" y="1868625"/>
                  <a:pt x="216656" y="1949992"/>
                  <a:pt x="0" y="1950688"/>
                </a:cubicBezTo>
                <a:lnTo>
                  <a:pt x="0" y="1365481"/>
                </a:lnTo>
                <a:cubicBezTo>
                  <a:pt x="123555" y="1364970"/>
                  <a:pt x="233473" y="1286903"/>
                  <a:pt x="274657" y="1170413"/>
                </a:cubicBezTo>
                <a:close/>
                <a:moveTo>
                  <a:pt x="274657" y="0"/>
                </a:moveTo>
                <a:lnTo>
                  <a:pt x="895756" y="0"/>
                </a:lnTo>
                <a:cubicBezTo>
                  <a:pt x="924967" y="83848"/>
                  <a:pt x="990878" y="149760"/>
                  <a:pt x="1074726" y="178970"/>
                </a:cubicBezTo>
                <a:cubicBezTo>
                  <a:pt x="1226415" y="231817"/>
                  <a:pt x="1392224" y="151689"/>
                  <a:pt x="1445070" y="0"/>
                </a:cubicBezTo>
                <a:lnTo>
                  <a:pt x="2066169" y="0"/>
                </a:lnTo>
                <a:cubicBezTo>
                  <a:pt x="2095379" y="83848"/>
                  <a:pt x="2161291" y="149760"/>
                  <a:pt x="2245139" y="178970"/>
                </a:cubicBezTo>
                <a:cubicBezTo>
                  <a:pt x="2396828" y="231817"/>
                  <a:pt x="2562636" y="151689"/>
                  <a:pt x="2615482" y="0"/>
                </a:cubicBezTo>
                <a:lnTo>
                  <a:pt x="3236581" y="0"/>
                </a:lnTo>
                <a:cubicBezTo>
                  <a:pt x="3265792" y="83848"/>
                  <a:pt x="3331703" y="149760"/>
                  <a:pt x="3415551" y="178970"/>
                </a:cubicBezTo>
                <a:cubicBezTo>
                  <a:pt x="3567240" y="231817"/>
                  <a:pt x="3733049" y="151689"/>
                  <a:pt x="3785895" y="0"/>
                </a:cubicBezTo>
                <a:lnTo>
                  <a:pt x="4406993" y="0"/>
                </a:lnTo>
                <a:cubicBezTo>
                  <a:pt x="4448178" y="116490"/>
                  <a:pt x="4558096" y="194556"/>
                  <a:pt x="4681650" y="195069"/>
                </a:cubicBezTo>
                <a:lnTo>
                  <a:pt x="4681650" y="780275"/>
                </a:lnTo>
                <a:cubicBezTo>
                  <a:pt x="4464995" y="779579"/>
                  <a:pt x="4256366" y="698213"/>
                  <a:pt x="4096444" y="552045"/>
                </a:cubicBezTo>
                <a:cubicBezTo>
                  <a:pt x="3765652" y="856366"/>
                  <a:pt x="3256824" y="856366"/>
                  <a:pt x="2926031" y="552045"/>
                </a:cubicBezTo>
                <a:cubicBezTo>
                  <a:pt x="2595239" y="856366"/>
                  <a:pt x="2086411" y="856366"/>
                  <a:pt x="1755619" y="552045"/>
                </a:cubicBezTo>
                <a:cubicBezTo>
                  <a:pt x="1424827" y="856366"/>
                  <a:pt x="915999" y="856366"/>
                  <a:pt x="585206" y="552045"/>
                </a:cubicBezTo>
                <a:cubicBezTo>
                  <a:pt x="425286" y="698213"/>
                  <a:pt x="216656" y="779579"/>
                  <a:pt x="0" y="780275"/>
                </a:cubicBezTo>
                <a:lnTo>
                  <a:pt x="0" y="195069"/>
                </a:lnTo>
                <a:cubicBezTo>
                  <a:pt x="123555" y="194556"/>
                  <a:pt x="233473" y="116490"/>
                  <a:pt x="274657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40EFA2-DF55-AE0A-6BC0-1DE8D64A0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AB9748-3C65-6BD7-C3A9-F2FBCFFBF946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5283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40EFA2-DF55-AE0A-6BC0-1DE8D64A0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AB9748-3C65-6BD7-C3A9-F2FBCFFBF946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48">
            <a:extLst>
              <a:ext uri="{FF2B5EF4-FFF2-40B4-BE49-F238E27FC236}">
                <a16:creationId xmlns:a16="http://schemas.microsoft.com/office/drawing/2014/main" id="{2A9600F7-C5ED-1F84-9997-5E42D81369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6017" y="1358194"/>
            <a:ext cx="4472010" cy="4472917"/>
          </a:xfrm>
          <a:custGeom>
            <a:avLst/>
            <a:gdLst>
              <a:gd name="connsiteX0" fmla="*/ 4472010 w 4472010"/>
              <a:gd name="connsiteY0" fmla="*/ 0 h 4472917"/>
              <a:gd name="connsiteX1" fmla="*/ 4463450 w 4472010"/>
              <a:gd name="connsiteY1" fmla="*/ 220762 h 4472917"/>
              <a:gd name="connsiteX2" fmla="*/ 3434497 w 4472010"/>
              <a:gd name="connsiteY2" fmla="*/ 3884492 h 4472917"/>
              <a:gd name="connsiteX3" fmla="*/ 739606 w 4472010"/>
              <a:gd name="connsiteY3" fmla="*/ 4020602 h 4472917"/>
              <a:gd name="connsiteX4" fmla="*/ 452454 w 4472010"/>
              <a:gd name="connsiteY4" fmla="*/ 3733735 h 4472917"/>
              <a:gd name="connsiteX5" fmla="*/ 587803 w 4472010"/>
              <a:gd name="connsiteY5" fmla="*/ 1038940 h 4472917"/>
              <a:gd name="connsiteX6" fmla="*/ 4251439 w 4472010"/>
              <a:gd name="connsiteY6" fmla="*/ 9702 h 4472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2010" h="4472917">
                <a:moveTo>
                  <a:pt x="4472010" y="0"/>
                </a:moveTo>
                <a:lnTo>
                  <a:pt x="4463450" y="220762"/>
                </a:lnTo>
                <a:cubicBezTo>
                  <a:pt x="4459170" y="332522"/>
                  <a:pt x="4345127" y="2973862"/>
                  <a:pt x="3434497" y="3884492"/>
                </a:cubicBezTo>
                <a:cubicBezTo>
                  <a:pt x="2703729" y="4613548"/>
                  <a:pt x="1540188" y="4672329"/>
                  <a:pt x="739606" y="4020602"/>
                </a:cubicBezTo>
                <a:lnTo>
                  <a:pt x="452454" y="3733735"/>
                </a:lnTo>
                <a:cubicBezTo>
                  <a:pt x="-199178" y="2933439"/>
                  <a:pt x="-140777" y="1769993"/>
                  <a:pt x="587803" y="1038940"/>
                </a:cubicBezTo>
                <a:cubicBezTo>
                  <a:pt x="1480646" y="146096"/>
                  <a:pt x="4138823" y="15028"/>
                  <a:pt x="4251439" y="9702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449572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20948E7-CE7B-344F-B087-A681706923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9239" y="1463095"/>
            <a:ext cx="4234071" cy="4234485"/>
          </a:xfrm>
          <a:custGeom>
            <a:avLst/>
            <a:gdLst>
              <a:gd name="connsiteX0" fmla="*/ 2116622 w 4234071"/>
              <a:gd name="connsiteY0" fmla="*/ 0 h 4234485"/>
              <a:gd name="connsiteX1" fmla="*/ 2442861 w 4234071"/>
              <a:gd name="connsiteY1" fmla="*/ 112881 h 4234485"/>
              <a:gd name="connsiteX2" fmla="*/ 3527841 w 4234071"/>
              <a:gd name="connsiteY2" fmla="*/ 962176 h 4234485"/>
              <a:gd name="connsiteX3" fmla="*/ 3527841 w 4234071"/>
              <a:gd name="connsiteY3" fmla="*/ 351048 h 4234485"/>
              <a:gd name="connsiteX4" fmla="*/ 3880956 w 4234071"/>
              <a:gd name="connsiteY4" fmla="*/ 351048 h 4234485"/>
              <a:gd name="connsiteX5" fmla="*/ 3880956 w 4234071"/>
              <a:gd name="connsiteY5" fmla="*/ 1233421 h 4234485"/>
              <a:gd name="connsiteX6" fmla="*/ 3874340 w 4234071"/>
              <a:gd name="connsiteY6" fmla="*/ 1233421 h 4234485"/>
              <a:gd name="connsiteX7" fmla="*/ 4030637 w 4234071"/>
              <a:gd name="connsiteY7" fmla="*/ 1355812 h 4234485"/>
              <a:gd name="connsiteX8" fmla="*/ 4234071 w 4234071"/>
              <a:gd name="connsiteY8" fmla="*/ 1772604 h 4234485"/>
              <a:gd name="connsiteX9" fmla="*/ 4234071 w 4234071"/>
              <a:gd name="connsiteY9" fmla="*/ 4234485 h 4234485"/>
              <a:gd name="connsiteX10" fmla="*/ 0 w 4234071"/>
              <a:gd name="connsiteY10" fmla="*/ 4234485 h 4234485"/>
              <a:gd name="connsiteX11" fmla="*/ 0 w 4234071"/>
              <a:gd name="connsiteY11" fmla="*/ 1772604 h 4234485"/>
              <a:gd name="connsiteX12" fmla="*/ 202607 w 4234071"/>
              <a:gd name="connsiteY12" fmla="*/ 1354986 h 4234485"/>
              <a:gd name="connsiteX13" fmla="*/ 1790384 w 4234071"/>
              <a:gd name="connsiteY13" fmla="*/ 112881 h 4234485"/>
              <a:gd name="connsiteX14" fmla="*/ 2116622 w 4234071"/>
              <a:gd name="connsiteY14" fmla="*/ 0 h 423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34071" h="4234485">
                <a:moveTo>
                  <a:pt x="2116622" y="0"/>
                </a:moveTo>
                <a:cubicBezTo>
                  <a:pt x="2231777" y="0"/>
                  <a:pt x="2346933" y="37627"/>
                  <a:pt x="2442861" y="112881"/>
                </a:cubicBezTo>
                <a:lnTo>
                  <a:pt x="3527841" y="962176"/>
                </a:lnTo>
                <a:lnTo>
                  <a:pt x="3527841" y="351048"/>
                </a:lnTo>
                <a:lnTo>
                  <a:pt x="3880956" y="351048"/>
                </a:lnTo>
                <a:lnTo>
                  <a:pt x="3880956" y="1233421"/>
                </a:lnTo>
                <a:lnTo>
                  <a:pt x="3874340" y="1233421"/>
                </a:lnTo>
                <a:lnTo>
                  <a:pt x="4030637" y="1355812"/>
                </a:lnTo>
                <a:cubicBezTo>
                  <a:pt x="4159644" y="1456702"/>
                  <a:pt x="4234071" y="1608037"/>
                  <a:pt x="4234071" y="1772604"/>
                </a:cubicBezTo>
                <a:lnTo>
                  <a:pt x="4234071" y="4234485"/>
                </a:lnTo>
                <a:lnTo>
                  <a:pt x="0" y="4234485"/>
                </a:lnTo>
                <a:lnTo>
                  <a:pt x="0" y="1772604"/>
                </a:lnTo>
                <a:cubicBezTo>
                  <a:pt x="0" y="1608864"/>
                  <a:pt x="74427" y="1456702"/>
                  <a:pt x="202607" y="1354986"/>
                </a:cubicBezTo>
                <a:lnTo>
                  <a:pt x="1790384" y="112881"/>
                </a:lnTo>
                <a:cubicBezTo>
                  <a:pt x="1886312" y="37627"/>
                  <a:pt x="2001467" y="0"/>
                  <a:pt x="2116622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40EFA2-DF55-AE0A-6BC0-1DE8D64A0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AB9748-3C65-6BD7-C3A9-F2FBCFFBF946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7346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104E27F-2680-58CF-D591-B036BE1347B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1304" y="1438381"/>
            <a:ext cx="4449941" cy="4264526"/>
          </a:xfrm>
          <a:custGeom>
            <a:avLst/>
            <a:gdLst>
              <a:gd name="connsiteX0" fmla="*/ 2900059 w 4094201"/>
              <a:gd name="connsiteY0" fmla="*/ 3411835 h 3923609"/>
              <a:gd name="connsiteX1" fmla="*/ 3582426 w 4094201"/>
              <a:gd name="connsiteY1" fmla="*/ 3411835 h 3923609"/>
              <a:gd name="connsiteX2" fmla="*/ 3582426 w 4094201"/>
              <a:gd name="connsiteY2" fmla="*/ 3923609 h 3923609"/>
              <a:gd name="connsiteX3" fmla="*/ 2900059 w 4094201"/>
              <a:gd name="connsiteY3" fmla="*/ 3923609 h 3923609"/>
              <a:gd name="connsiteX4" fmla="*/ 511776 w 4094201"/>
              <a:gd name="connsiteY4" fmla="*/ 3411835 h 3923609"/>
              <a:gd name="connsiteX5" fmla="*/ 1194142 w 4094201"/>
              <a:gd name="connsiteY5" fmla="*/ 3411835 h 3923609"/>
              <a:gd name="connsiteX6" fmla="*/ 1194142 w 4094201"/>
              <a:gd name="connsiteY6" fmla="*/ 3923609 h 3923609"/>
              <a:gd name="connsiteX7" fmla="*/ 511776 w 4094201"/>
              <a:gd name="connsiteY7" fmla="*/ 3923609 h 3923609"/>
              <a:gd name="connsiteX8" fmla="*/ 3241243 w 4094201"/>
              <a:gd name="connsiteY8" fmla="*/ 2388284 h 3923609"/>
              <a:gd name="connsiteX9" fmla="*/ 3070651 w 4094201"/>
              <a:gd name="connsiteY9" fmla="*/ 2558876 h 3923609"/>
              <a:gd name="connsiteX10" fmla="*/ 3241243 w 4094201"/>
              <a:gd name="connsiteY10" fmla="*/ 2729467 h 3923609"/>
              <a:gd name="connsiteX11" fmla="*/ 3411835 w 4094201"/>
              <a:gd name="connsiteY11" fmla="*/ 2558876 h 3923609"/>
              <a:gd name="connsiteX12" fmla="*/ 3241243 w 4094201"/>
              <a:gd name="connsiteY12" fmla="*/ 2388284 h 3923609"/>
              <a:gd name="connsiteX13" fmla="*/ 852958 w 4094201"/>
              <a:gd name="connsiteY13" fmla="*/ 2388284 h 3923609"/>
              <a:gd name="connsiteX14" fmla="*/ 682368 w 4094201"/>
              <a:gd name="connsiteY14" fmla="*/ 2558876 h 3923609"/>
              <a:gd name="connsiteX15" fmla="*/ 852958 w 4094201"/>
              <a:gd name="connsiteY15" fmla="*/ 2729467 h 3923609"/>
              <a:gd name="connsiteX16" fmla="*/ 1023550 w 4094201"/>
              <a:gd name="connsiteY16" fmla="*/ 2558876 h 3923609"/>
              <a:gd name="connsiteX17" fmla="*/ 852958 w 4094201"/>
              <a:gd name="connsiteY17" fmla="*/ 2388284 h 3923609"/>
              <a:gd name="connsiteX18" fmla="*/ 59025 w 4094201"/>
              <a:gd name="connsiteY18" fmla="*/ 2047101 h 3923609"/>
              <a:gd name="connsiteX19" fmla="*/ 4035176 w 4094201"/>
              <a:gd name="connsiteY19" fmla="*/ 2047101 h 3923609"/>
              <a:gd name="connsiteX20" fmla="*/ 4094201 w 4094201"/>
              <a:gd name="connsiteY20" fmla="*/ 2734927 h 3923609"/>
              <a:gd name="connsiteX21" fmla="*/ 4094201 w 4094201"/>
              <a:gd name="connsiteY21" fmla="*/ 3070651 h 3923609"/>
              <a:gd name="connsiteX22" fmla="*/ 0 w 4094201"/>
              <a:gd name="connsiteY22" fmla="*/ 3070651 h 3923609"/>
              <a:gd name="connsiteX23" fmla="*/ 0 w 4094201"/>
              <a:gd name="connsiteY23" fmla="*/ 2734927 h 3923609"/>
              <a:gd name="connsiteX24" fmla="*/ 59025 w 4094201"/>
              <a:gd name="connsiteY24" fmla="*/ 2047101 h 3923609"/>
              <a:gd name="connsiteX25" fmla="*/ 1091787 w 4094201"/>
              <a:gd name="connsiteY25" fmla="*/ 0 h 3923609"/>
              <a:gd name="connsiteX26" fmla="*/ 3002414 w 4094201"/>
              <a:gd name="connsiteY26" fmla="*/ 0 h 3923609"/>
              <a:gd name="connsiteX27" fmla="*/ 3483141 w 4094201"/>
              <a:gd name="connsiteY27" fmla="*/ 336919 h 3923609"/>
              <a:gd name="connsiteX28" fmla="*/ 3848890 w 4094201"/>
              <a:gd name="connsiteY28" fmla="*/ 1342387 h 3923609"/>
              <a:gd name="connsiteX29" fmla="*/ 3961310 w 4094201"/>
              <a:gd name="connsiteY29" fmla="*/ 1705917 h 3923609"/>
              <a:gd name="connsiteX30" fmla="*/ 132891 w 4094201"/>
              <a:gd name="connsiteY30" fmla="*/ 1705917 h 3923609"/>
              <a:gd name="connsiteX31" fmla="*/ 245311 w 4094201"/>
              <a:gd name="connsiteY31" fmla="*/ 1342387 h 3923609"/>
              <a:gd name="connsiteX32" fmla="*/ 611060 w 4094201"/>
              <a:gd name="connsiteY32" fmla="*/ 336919 h 3923609"/>
              <a:gd name="connsiteX33" fmla="*/ 1091787 w 4094201"/>
              <a:gd name="connsiteY33" fmla="*/ 0 h 392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94201" h="3923609">
                <a:moveTo>
                  <a:pt x="2900059" y="3411835"/>
                </a:moveTo>
                <a:lnTo>
                  <a:pt x="3582426" y="3411835"/>
                </a:lnTo>
                <a:lnTo>
                  <a:pt x="3582426" y="3923609"/>
                </a:lnTo>
                <a:lnTo>
                  <a:pt x="2900059" y="3923609"/>
                </a:lnTo>
                <a:close/>
                <a:moveTo>
                  <a:pt x="511776" y="3411835"/>
                </a:moveTo>
                <a:lnTo>
                  <a:pt x="1194142" y="3411835"/>
                </a:lnTo>
                <a:lnTo>
                  <a:pt x="1194142" y="3923609"/>
                </a:lnTo>
                <a:lnTo>
                  <a:pt x="511776" y="3923609"/>
                </a:lnTo>
                <a:close/>
                <a:moveTo>
                  <a:pt x="3241243" y="2388284"/>
                </a:moveTo>
                <a:cubicBezTo>
                  <a:pt x="3147028" y="2388284"/>
                  <a:pt x="3070651" y="2464660"/>
                  <a:pt x="3070651" y="2558876"/>
                </a:cubicBezTo>
                <a:cubicBezTo>
                  <a:pt x="3070651" y="2653091"/>
                  <a:pt x="3147028" y="2729467"/>
                  <a:pt x="3241243" y="2729467"/>
                </a:cubicBezTo>
                <a:cubicBezTo>
                  <a:pt x="3335458" y="2729467"/>
                  <a:pt x="3411835" y="2653091"/>
                  <a:pt x="3411835" y="2558876"/>
                </a:cubicBezTo>
                <a:cubicBezTo>
                  <a:pt x="3411835" y="2464660"/>
                  <a:pt x="3335458" y="2388284"/>
                  <a:pt x="3241243" y="2388284"/>
                </a:cubicBezTo>
                <a:close/>
                <a:moveTo>
                  <a:pt x="852958" y="2388284"/>
                </a:moveTo>
                <a:cubicBezTo>
                  <a:pt x="758743" y="2388284"/>
                  <a:pt x="682368" y="2464660"/>
                  <a:pt x="682368" y="2558876"/>
                </a:cubicBezTo>
                <a:cubicBezTo>
                  <a:pt x="682368" y="2653091"/>
                  <a:pt x="758743" y="2729467"/>
                  <a:pt x="852958" y="2729467"/>
                </a:cubicBezTo>
                <a:cubicBezTo>
                  <a:pt x="947174" y="2729467"/>
                  <a:pt x="1023550" y="2653091"/>
                  <a:pt x="1023550" y="2558876"/>
                </a:cubicBezTo>
                <a:cubicBezTo>
                  <a:pt x="1023550" y="2464660"/>
                  <a:pt x="947174" y="2388284"/>
                  <a:pt x="852958" y="2388284"/>
                </a:cubicBezTo>
                <a:close/>
                <a:moveTo>
                  <a:pt x="59025" y="2047101"/>
                </a:moveTo>
                <a:lnTo>
                  <a:pt x="4035176" y="2047101"/>
                </a:lnTo>
                <a:cubicBezTo>
                  <a:pt x="4074262" y="2274295"/>
                  <a:pt x="4094007" y="2504395"/>
                  <a:pt x="4094201" y="2734927"/>
                </a:cubicBezTo>
                <a:lnTo>
                  <a:pt x="4094201" y="3070651"/>
                </a:lnTo>
                <a:lnTo>
                  <a:pt x="0" y="3070651"/>
                </a:lnTo>
                <a:lnTo>
                  <a:pt x="0" y="2734927"/>
                </a:lnTo>
                <a:cubicBezTo>
                  <a:pt x="195" y="2504395"/>
                  <a:pt x="19939" y="2274295"/>
                  <a:pt x="59025" y="2047101"/>
                </a:cubicBezTo>
                <a:close/>
                <a:moveTo>
                  <a:pt x="1091787" y="0"/>
                </a:moveTo>
                <a:lnTo>
                  <a:pt x="3002414" y="0"/>
                </a:lnTo>
                <a:cubicBezTo>
                  <a:pt x="3217431" y="455"/>
                  <a:pt x="3409348" y="134960"/>
                  <a:pt x="3483141" y="336919"/>
                </a:cubicBezTo>
                <a:lnTo>
                  <a:pt x="3848890" y="1342387"/>
                </a:lnTo>
                <a:cubicBezTo>
                  <a:pt x="3893073" y="1462142"/>
                  <a:pt x="3929240" y="1583432"/>
                  <a:pt x="3961310" y="1705917"/>
                </a:cubicBezTo>
                <a:lnTo>
                  <a:pt x="132891" y="1705917"/>
                </a:lnTo>
                <a:cubicBezTo>
                  <a:pt x="164963" y="1583432"/>
                  <a:pt x="201810" y="1462142"/>
                  <a:pt x="245311" y="1342387"/>
                </a:cubicBezTo>
                <a:lnTo>
                  <a:pt x="611060" y="336919"/>
                </a:lnTo>
                <a:cubicBezTo>
                  <a:pt x="684853" y="134960"/>
                  <a:pt x="876770" y="455"/>
                  <a:pt x="1091787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E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E5DC-4FCC-6074-7120-F6B1D59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28" y="775600"/>
            <a:ext cx="5565115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B2B-D397-3E6D-D3C0-12387A5D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571664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40EFA2-DF55-AE0A-6BC0-1DE8D64A0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AB9748-3C65-6BD7-C3A9-F2FBCFFBF946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8668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C33F9AB-5BC4-1A26-73BD-DDAB097454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362" y="2460162"/>
            <a:ext cx="10629275" cy="1319121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E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D573727-67A7-19A6-D178-E8E8F5631F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81400" y="4258739"/>
            <a:ext cx="4806182" cy="539385"/>
          </a:xfrm>
          <a:prstGeom prst="roundRect">
            <a:avLst>
              <a:gd name="adj" fmla="val 50000"/>
            </a:avLst>
          </a:prstGeom>
          <a:solidFill>
            <a:srgbClr val="00308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t-EE" err="1"/>
              <a:t>Website</a:t>
            </a:r>
            <a:r>
              <a:rPr lang="et-EE"/>
              <a:t> </a:t>
            </a:r>
            <a:r>
              <a:rPr lang="et-EE" err="1"/>
              <a:t>or</a:t>
            </a:r>
            <a:r>
              <a:rPr lang="et-EE"/>
              <a:t> email </a:t>
            </a:r>
            <a:r>
              <a:rPr lang="et-EE" err="1"/>
              <a:t>address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904560B-CCF2-7B63-F0D9-00B1983B9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A0D26-7EA8-821D-C35A-530C9D592E75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4087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(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904560B-CCF2-7B63-F0D9-00B1983B9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A0D26-7EA8-821D-C35A-530C9D592E75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5639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EF898F4-52FC-36FD-5009-BB54847BC2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2686032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C09D9FC-74D5-CC54-0BB9-F12C69A1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4903427"/>
            <a:ext cx="10587036" cy="1090324"/>
          </a:xfrm>
        </p:spPr>
        <p:txBody>
          <a:bodyPr>
            <a:normAutofit/>
          </a:bodyPr>
          <a:lstStyle>
            <a:lvl1pPr>
              <a:defRPr sz="3500"/>
            </a:lvl1pPr>
          </a:lstStyle>
          <a:p>
            <a:endParaRPr lang="en-E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6A37F-07AE-46BB-5CDD-EF125B55B8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1" y="1382751"/>
            <a:ext cx="12192000" cy="327845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B18D2-B1DC-3C40-88B1-3FFDBF5A5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ACE-E02B-3F19-D0C0-55FAFEA5E285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7F7AA85-77AB-B7BB-389F-6374DE383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4381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087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4280657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762F-35C5-45EF-E6D2-C5297B03C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1103887"/>
            <a:ext cx="5809729" cy="516796"/>
          </a:xfrm>
        </p:spPr>
        <p:txBody>
          <a:bodyPr>
            <a:noAutofit/>
          </a:bodyPr>
          <a:lstStyle>
            <a:lvl1pPr>
              <a:defRPr sz="3500"/>
            </a:lvl1pPr>
          </a:lstStyle>
          <a:p>
            <a:endParaRPr lang="en-E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80E253-6A65-8C56-B9E3-DAEA78CEA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2" y="1689100"/>
            <a:ext cx="5809729" cy="4551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D209172-84FD-2493-4D61-1C04B8EA00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5006" y="1103887"/>
            <a:ext cx="4668793" cy="513627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5F962A7E-BF88-A8C7-EDED-FA4722F76B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C5F65C-F230-7A89-4154-5DF4357D5519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837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8B089C6-8035-2B0E-08C9-2B68BE18D1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6763" y="1103887"/>
            <a:ext cx="5506994" cy="513627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E16F8D-1CC1-F516-45D4-4807023D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922" y="1103887"/>
            <a:ext cx="4971291" cy="516796"/>
          </a:xfrm>
        </p:spPr>
        <p:txBody>
          <a:bodyPr>
            <a:noAutofit/>
          </a:bodyPr>
          <a:lstStyle>
            <a:lvl1pPr>
              <a:defRPr sz="3500"/>
            </a:lvl1pPr>
          </a:lstStyle>
          <a:p>
            <a:endParaRPr lang="en-EE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116B2FA-09E3-2249-93AE-F6577CFDD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922" y="1689100"/>
            <a:ext cx="4971291" cy="4551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856CF7-699E-E324-EAAE-135C21B69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937197-CE1A-E46F-B556-F776326836CE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860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384C-F7E4-7128-5200-2DB61267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6D144F4-51D8-9D6B-B6EA-F5364C7ED11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730" y="0"/>
            <a:ext cx="978027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3" name="Title 11">
            <a:extLst>
              <a:ext uri="{FF2B5EF4-FFF2-40B4-BE49-F238E27FC236}">
                <a16:creationId xmlns:a16="http://schemas.microsoft.com/office/drawing/2014/main" id="{AC3749C6-C616-17F3-E1A1-12262D3B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64616" y="2892900"/>
            <a:ext cx="2276494" cy="1072200"/>
          </a:xfrm>
        </p:spPr>
        <p:txBody>
          <a:bodyPr>
            <a:normAutofit/>
          </a:bodyPr>
          <a:lstStyle>
            <a:lvl1pPr algn="ctr">
              <a:defRPr sz="3500"/>
            </a:lvl1pPr>
          </a:lstStyle>
          <a:p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530086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DEE67-71DF-471E-8DDC-82A3340113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30531"/>
            <a:ext cx="12192000" cy="2588854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Image Placeholder</a:t>
            </a:r>
            <a:endParaRPr lang="en-ID"/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1B64CB3F-A091-57BD-CC58-DF49C3BC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3950970"/>
            <a:ext cx="4027308" cy="2237825"/>
          </a:xfrm>
        </p:spPr>
        <p:txBody>
          <a:bodyPr>
            <a:normAutofit/>
          </a:bodyPr>
          <a:lstStyle>
            <a:lvl1pPr algn="ctr">
              <a:defRPr sz="3500"/>
            </a:lvl1pPr>
          </a:lstStyle>
          <a:p>
            <a:endParaRPr lang="en-EE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98677E-C31E-F5AA-C739-BC23DD7F0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070" y="3950969"/>
            <a:ext cx="6558143" cy="2237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0962980-9CC5-E476-5549-D89B67150E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0164D-4AB7-D9C6-7184-FE7CBE5A809F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0845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C09D-0F77-77DC-D1A9-EF226BC17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1260330"/>
            <a:ext cx="10587037" cy="2387600"/>
          </a:xfr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202EE-8C6E-9FEE-4F8F-29BC6CB67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763" y="3941908"/>
            <a:ext cx="10587037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E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E637BF-152C-7916-522F-598B0BF3E8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59E097-2C51-512D-CAD9-74E20A467289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9719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567D-9030-3E4D-130B-C1A6745C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333500"/>
            <a:ext cx="10580687" cy="3228975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B7E6D-78A0-978B-B872-B148BF271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763" y="4589463"/>
            <a:ext cx="10580687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D8F9373-1395-012F-B410-50534B45BF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CF1A7-9CD4-034A-73B7-7E4BD8A42DAE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3224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AE79-1BE8-D2A3-7CDF-C8DA1000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14858"/>
            <a:ext cx="10587037" cy="1452142"/>
          </a:xfrm>
          <a:prstGeom prst="rect">
            <a:avLst/>
          </a:prstGeom>
        </p:spPr>
        <p:txBody>
          <a:bodyPr/>
          <a:lstStyle/>
          <a:p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3A2F-8C92-D93D-5712-50748525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2" y="2756694"/>
            <a:ext cx="10587037" cy="3509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388876D-4EEF-86D8-CFD5-D2188BAD48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8CA78-0D38-BF03-3CD9-6F8F8A99ED4B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6122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D8AF-9345-9EE1-6680-2873BA93B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14856"/>
            <a:ext cx="10587037" cy="939063"/>
          </a:xfrm>
          <a:prstGeom prst="rect">
            <a:avLst/>
          </a:prstGeom>
        </p:spPr>
        <p:txBody>
          <a:bodyPr/>
          <a:lstStyle/>
          <a:p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9F17F-0CD5-32D8-9A2F-3280BC914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6763" y="2333305"/>
            <a:ext cx="5253037" cy="3843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18D8D7-7824-A042-9348-57C239A225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00763" y="2333305"/>
            <a:ext cx="5253037" cy="3843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31F725-DAC2-76FA-3FDE-896E029AC9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74AA99-D00E-D33D-E19F-631F319C604A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3380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431B-E6BF-5D65-4B97-108FE147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123121"/>
            <a:ext cx="10587037" cy="1133062"/>
          </a:xfrm>
        </p:spPr>
        <p:txBody>
          <a:bodyPr/>
          <a:lstStyle/>
          <a:p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FB8B3-1C22-381D-E53A-DDC6164C2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2355574"/>
            <a:ext cx="10587037" cy="3821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8F29C10-6243-4F4E-7DE9-E879214E5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98A138-76F5-9165-BA96-A38E446AC882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6414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B11952B-3F02-838E-6D1D-38CBD9248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949" y="1180711"/>
            <a:ext cx="5205850" cy="17950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0B7B218-0E74-23C2-E7C2-46E4C9269A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6763" y="3081403"/>
            <a:ext cx="10587037" cy="3063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03F8FE-4A80-DB97-5B87-A32531CAC1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0718C4-CBE6-243F-921D-0F0AD6B4D3F2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8A01D208-8DD0-0EB4-4F03-14FEDE7940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6763" y="1180711"/>
            <a:ext cx="5205850" cy="17950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5037643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B11952B-3F02-838E-6D1D-38CBD9248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6763" y="4122737"/>
            <a:ext cx="7341979" cy="20081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35645507-6BFC-03DC-1CE5-5576947BA2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58211" y="1246909"/>
            <a:ext cx="2795589" cy="488401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0B7B218-0E74-23C2-E7C2-46E4C9269A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6763" y="1246909"/>
            <a:ext cx="7341979" cy="26504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D04C673-49EE-D33D-804B-C6B28416B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491EDD-7DF7-24FD-123B-ED73360D5BB4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589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75A8-8DF8-6F82-B3B4-771B17C9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69299"/>
            <a:ext cx="4005262" cy="1088389"/>
          </a:xfrm>
        </p:spPr>
        <p:txBody>
          <a:bodyPr anchor="b">
            <a:normAutofit/>
          </a:bodyPr>
          <a:lstStyle>
            <a:lvl1pPr>
              <a:defRPr sz="3500"/>
            </a:lvl1pPr>
          </a:lstStyle>
          <a:p>
            <a:r>
              <a:rPr lang="en-US"/>
              <a:t>Click to edit Master title style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C20FC-5970-3EF4-9877-F38F1275E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69299"/>
            <a:ext cx="6172200" cy="50095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01726-052A-8A44-5F06-2CD4947E2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4" y="2539682"/>
            <a:ext cx="4005262" cy="37391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FCDB37C-70AD-182C-A5E0-299E25A4A1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700C8C-78FB-F2A4-BA0B-69CF454827DA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7099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75A8-8DF8-6F82-B3B4-771B17C9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69299"/>
            <a:ext cx="4005262" cy="1088389"/>
          </a:xfrm>
        </p:spPr>
        <p:txBody>
          <a:bodyPr anchor="b">
            <a:normAutofit/>
          </a:bodyPr>
          <a:lstStyle>
            <a:lvl1pPr>
              <a:defRPr sz="3500"/>
            </a:lvl1pPr>
          </a:lstStyle>
          <a:p>
            <a:r>
              <a:rPr lang="en-US"/>
              <a:t>Click to edit Master title style</a:t>
            </a:r>
            <a:endParaRPr lang="en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01726-052A-8A44-5F06-2CD4947E2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4" y="2539682"/>
            <a:ext cx="4005262" cy="37391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552B5B3-D8C4-718B-F544-3876520D6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69299"/>
            <a:ext cx="6172200" cy="50095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E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1313E88-EFE1-EA88-0155-5C57D3DF92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9C939E-283C-3FBE-0185-D765054B14F4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6208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77DB-1347-338E-90C0-C2E08618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6785"/>
            <a:ext cx="10587037" cy="1133062"/>
          </a:xfrm>
        </p:spPr>
        <p:txBody>
          <a:bodyPr/>
          <a:lstStyle/>
          <a:p>
            <a:endParaRPr lang="en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4B65D-0B95-3223-8E56-15654B320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6763" y="2549236"/>
            <a:ext cx="10587037" cy="3627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FD8FCCA-79AA-0077-4FCF-85E28D2197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E75D7B-715A-D10F-42F1-016D08E8A457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9360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E4B78-732F-BC6E-6F17-AFE4BDE66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68399"/>
            <a:ext cx="2628900" cy="5008564"/>
          </a:xfrm>
        </p:spPr>
        <p:txBody>
          <a:bodyPr vert="eaVert"/>
          <a:lstStyle/>
          <a:p>
            <a:endParaRPr lang="en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833EE-FC3B-5DB3-0648-D391B1859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6763" y="1168399"/>
            <a:ext cx="7805737" cy="5008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ACE98F-9F1B-84DA-46C0-17A632862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0283C0-D351-AE1D-BC7A-5D67C9E89989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4776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302FAB-7EB8-0B94-5362-42B3858A45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8454" y="1395563"/>
            <a:ext cx="4646135" cy="4543073"/>
          </a:xfrm>
          <a:custGeom>
            <a:avLst/>
            <a:gdLst>
              <a:gd name="connsiteX0" fmla="*/ 2563318 w 5126636"/>
              <a:gd name="connsiteY0" fmla="*/ 0 h 5126636"/>
              <a:gd name="connsiteX1" fmla="*/ 5126636 w 5126636"/>
              <a:gd name="connsiteY1" fmla="*/ 2563318 h 5126636"/>
              <a:gd name="connsiteX2" fmla="*/ 2563318 w 5126636"/>
              <a:gd name="connsiteY2" fmla="*/ 5126636 h 5126636"/>
              <a:gd name="connsiteX3" fmla="*/ 0 w 5126636"/>
              <a:gd name="connsiteY3" fmla="*/ 2563318 h 5126636"/>
              <a:gd name="connsiteX4" fmla="*/ 2563318 w 5126636"/>
              <a:gd name="connsiteY4" fmla="*/ 0 h 5126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6636" h="5126636">
                <a:moveTo>
                  <a:pt x="2563318" y="0"/>
                </a:moveTo>
                <a:cubicBezTo>
                  <a:pt x="3978999" y="0"/>
                  <a:pt x="5126636" y="1147637"/>
                  <a:pt x="5126636" y="2563318"/>
                </a:cubicBezTo>
                <a:cubicBezTo>
                  <a:pt x="5126636" y="3978999"/>
                  <a:pt x="3978999" y="5126636"/>
                  <a:pt x="2563318" y="5126636"/>
                </a:cubicBezTo>
                <a:cubicBezTo>
                  <a:pt x="1147637" y="5126636"/>
                  <a:pt x="0" y="3978999"/>
                  <a:pt x="0" y="2563318"/>
                </a:cubicBezTo>
                <a:cubicBezTo>
                  <a:pt x="0" y="1147637"/>
                  <a:pt x="1147637" y="0"/>
                  <a:pt x="2563318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EE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BFD6A665-1E62-E177-472C-A250662E0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129" y="775600"/>
            <a:ext cx="5248576" cy="1325563"/>
          </a:xfrm>
        </p:spPr>
        <p:txBody>
          <a:bodyPr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endParaRPr lang="en-EE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BEB034B3-7A20-E0DE-5926-289E3945D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248576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99CC65B-FDF6-38BB-53FC-3FCAFF433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6F197F-08D2-D55C-93B9-8141B19EC44D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0996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C238332-C4BB-3379-7A4D-66B1077C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154960-CB0C-EF6E-288D-934CAC160193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99F748CB-0A01-D973-4D7A-46B00D4E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129" y="775600"/>
            <a:ext cx="5248576" cy="1325563"/>
          </a:xfrm>
        </p:spPr>
        <p:txBody>
          <a:bodyPr>
            <a:normAutofit/>
          </a:bodyPr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endParaRPr lang="en-E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168EC2-C121-C2D3-78DF-BE474A4B7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9" y="2313710"/>
            <a:ext cx="5248576" cy="40038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DB2E815-E433-0114-6B31-265E3C012A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1544" y="1349693"/>
            <a:ext cx="4739957" cy="46348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00882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C33F9AB-5BC4-1A26-73BD-DDAB0974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362" y="2460162"/>
            <a:ext cx="10572437" cy="1319121"/>
          </a:xfrm>
        </p:spPr>
        <p:txBody>
          <a:bodyPr>
            <a:norm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endParaRPr lang="en-E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904560B-CCF2-7B63-F0D9-00B1983B9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A0D26-7EA8-821D-C35A-530C9D592E75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9B14B1-2C3A-2700-446E-0BE18C987916}"/>
              </a:ext>
            </a:extLst>
          </p:cNvPr>
          <p:cNvSpPr/>
          <p:nvPr userDrawn="1"/>
        </p:nvSpPr>
        <p:spPr>
          <a:xfrm>
            <a:off x="3689350" y="4039898"/>
            <a:ext cx="4813300" cy="63370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E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05EFFA05-A1AE-9ED9-97E2-394F5EB6E3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5250" y="4169773"/>
            <a:ext cx="4381500" cy="40222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596659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(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904560B-CCF2-7B63-F0D9-00B1983B9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A0D26-7EA8-821D-C35A-530C9D592E75}"/>
              </a:ext>
            </a:extLst>
          </p:cNvPr>
          <p:cNvCxnSpPr>
            <a:cxnSpLocks/>
          </p:cNvCxnSpPr>
          <p:nvPr userDrawn="1"/>
        </p:nvCxnSpPr>
        <p:spPr>
          <a:xfrm>
            <a:off x="766763" y="6533258"/>
            <a:ext cx="9520237" cy="0"/>
          </a:xfrm>
          <a:prstGeom prst="line">
            <a:avLst/>
          </a:prstGeom>
          <a:ln w="12700" cap="flat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523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EF898F4-52FC-36FD-5009-BB54847BC2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96939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E14A5-A74C-764E-B305-E10A1529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123121"/>
            <a:ext cx="10587037" cy="1133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F800F-A350-F3C6-6C1F-A7298C642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763" y="2355574"/>
            <a:ext cx="10587037" cy="3821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FB07-7CE0-C186-107C-BAB09F583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4124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087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endParaRPr lang="en-E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CF7DDE-0858-C9C7-378E-42CCAD4D8253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/>
          <a:stretch/>
        </p:blipFill>
        <p:spPr>
          <a:xfrm>
            <a:off x="261671" y="237098"/>
            <a:ext cx="1767384" cy="785504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07EF822-C0C3-57CC-E99B-B4C7C3DF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03933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E14A5-A74C-764E-B305-E10A1529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123121"/>
            <a:ext cx="10587037" cy="1133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F800F-A350-F3C6-6C1F-A7298C642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763" y="2355574"/>
            <a:ext cx="10587037" cy="3821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FB07-7CE0-C186-107C-BAB09F583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4124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087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endParaRPr lang="en-EE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07EF822-C0C3-57CC-E99B-B4C7C3DF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2466" y="6356350"/>
            <a:ext cx="931333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19755129-49AE-4A41-9597-34695D8D41C6}" type="slidenum">
              <a:rPr lang="en-EE" smtClean="0"/>
              <a:pPr/>
              <a:t>‹#›</a:t>
            </a:fld>
            <a:endParaRPr lang="en-E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45F4D-D065-6292-D91D-B06BB6E9CCDB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rcRect/>
          <a:stretch/>
        </p:blipFill>
        <p:spPr>
          <a:xfrm>
            <a:off x="261671" y="237098"/>
            <a:ext cx="1767384" cy="7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7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5" r:id="rId5"/>
    <p:sldLayoutId id="2147483649" r:id="rId6"/>
    <p:sldLayoutId id="2147483651" r:id="rId7"/>
    <p:sldLayoutId id="2147483666" r:id="rId8"/>
    <p:sldLayoutId id="2147483667" r:id="rId9"/>
    <p:sldLayoutId id="2147483650" r:id="rId10"/>
    <p:sldLayoutId id="2147483668" r:id="rId11"/>
    <p:sldLayoutId id="2147483669" r:id="rId12"/>
    <p:sldLayoutId id="2147483656" r:id="rId13"/>
    <p:sldLayoutId id="2147483675" r:id="rId14"/>
    <p:sldLayoutId id="2147483658" r:id="rId15"/>
    <p:sldLayoutId id="2147483659" r:id="rId16"/>
    <p:sldLayoutId id="2147483670" r:id="rId17"/>
    <p:sldLayoutId id="2147483671" r:id="rId18"/>
    <p:sldLayoutId id="2147483673" r:id="rId19"/>
    <p:sldLayoutId id="2147483730" r:id="rId20"/>
    <p:sldLayoutId id="214748367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0AC4-9830-AF74-094C-21A9FE5D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98" y="4903427"/>
            <a:ext cx="10978619" cy="1534824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latin typeface="Roboto Light"/>
                <a:ea typeface="Roboto Light"/>
                <a:cs typeface="Roboto Light"/>
              </a:rPr>
              <a:t>Estonia’s reflection</a:t>
            </a:r>
            <a:r>
              <a:rPr lang="et-EE" sz="2800" b="1" dirty="0">
                <a:latin typeface="Roboto Light"/>
                <a:ea typeface="Roboto Light"/>
                <a:cs typeface="Roboto Light"/>
              </a:rPr>
              <a:t> on </a:t>
            </a:r>
            <a:r>
              <a:rPr lang="en-US" sz="2800" b="1" dirty="0">
                <a:latin typeface="Roboto Light"/>
                <a:ea typeface="Roboto Light"/>
                <a:cs typeface="Roboto Light"/>
              </a:rPr>
              <a:t>Commission’s assessment of Estonia’s NECP</a:t>
            </a:r>
            <a:br>
              <a:rPr lang="en-US" sz="2800" dirty="0"/>
            </a:br>
            <a:br>
              <a:rPr lang="en-US" sz="1400" dirty="0">
                <a:latin typeface="Roboto Light"/>
                <a:ea typeface="Roboto Light"/>
                <a:cs typeface="Roboto Light"/>
              </a:rPr>
            </a:br>
            <a:r>
              <a:rPr lang="et-EE" sz="1600" b="1" dirty="0">
                <a:latin typeface="Roboto Light"/>
                <a:ea typeface="Roboto Light"/>
                <a:cs typeface="Roboto Light"/>
              </a:rPr>
              <a:t>Merilyn Möls</a:t>
            </a:r>
            <a:br>
              <a:rPr lang="en-US" sz="1100" b="1" dirty="0"/>
            </a:br>
            <a:br>
              <a:rPr lang="en-US" sz="1100" dirty="0">
                <a:latin typeface="Roboto Light"/>
                <a:ea typeface="Roboto Light"/>
                <a:cs typeface="Roboto Light"/>
              </a:rPr>
            </a:br>
            <a:r>
              <a:rPr lang="et-EE" sz="1100" dirty="0" err="1">
                <a:latin typeface="Roboto Light"/>
                <a:ea typeface="Roboto Light"/>
                <a:cs typeface="Roboto Light"/>
              </a:rPr>
              <a:t>Policy</a:t>
            </a:r>
            <a:r>
              <a:rPr lang="et-EE" sz="1100" dirty="0">
                <a:latin typeface="Roboto Light"/>
                <a:ea typeface="Roboto Light"/>
                <a:cs typeface="Roboto Light"/>
              </a:rPr>
              <a:t> </a:t>
            </a:r>
            <a:r>
              <a:rPr lang="et-EE" sz="1100" dirty="0" err="1">
                <a:latin typeface="Roboto Light"/>
                <a:ea typeface="Roboto Light"/>
                <a:cs typeface="Roboto Light"/>
              </a:rPr>
              <a:t>lead</a:t>
            </a:r>
            <a:r>
              <a:rPr lang="et-EE" sz="1100" dirty="0">
                <a:latin typeface="Roboto Light"/>
                <a:ea typeface="Roboto Light"/>
                <a:cs typeface="Roboto Light"/>
              </a:rPr>
              <a:t> of </a:t>
            </a:r>
            <a:r>
              <a:rPr lang="et-EE" sz="1100" dirty="0" err="1">
                <a:latin typeface="Roboto Light"/>
                <a:ea typeface="Roboto Light"/>
                <a:cs typeface="Roboto Light"/>
              </a:rPr>
              <a:t>Climate</a:t>
            </a:r>
            <a:r>
              <a:rPr lang="et-EE" sz="1100" dirty="0">
                <a:latin typeface="Roboto Light"/>
                <a:ea typeface="Roboto Light"/>
                <a:cs typeface="Roboto Light"/>
              </a:rPr>
              <a:t> </a:t>
            </a:r>
            <a:r>
              <a:rPr lang="et-EE" sz="1100" dirty="0" err="1">
                <a:latin typeface="Roboto Light"/>
                <a:ea typeface="Roboto Light"/>
                <a:cs typeface="Roboto Light"/>
              </a:rPr>
              <a:t>strategy</a:t>
            </a:r>
            <a:br>
              <a:rPr lang="en-US" sz="1100" dirty="0"/>
            </a:br>
            <a:r>
              <a:rPr lang="en-US" sz="1100" dirty="0">
                <a:latin typeface="Roboto Light"/>
                <a:ea typeface="Roboto Light"/>
                <a:cs typeface="Roboto Light"/>
              </a:rPr>
              <a:t>Climate Department </a:t>
            </a:r>
            <a:br>
              <a:rPr lang="en-US" sz="1100" dirty="0">
                <a:latin typeface="Roboto Light"/>
                <a:ea typeface="Roboto Light"/>
                <a:cs typeface="Roboto Light"/>
              </a:rPr>
            </a:br>
            <a:r>
              <a:rPr lang="et-EE" sz="1100" dirty="0">
                <a:latin typeface="Roboto Light"/>
                <a:ea typeface="Roboto Light"/>
                <a:cs typeface="Roboto Light"/>
              </a:rPr>
              <a:t>02</a:t>
            </a:r>
            <a:r>
              <a:rPr lang="en-US" sz="1100" dirty="0">
                <a:latin typeface="Roboto Light"/>
                <a:ea typeface="Roboto Light"/>
                <a:cs typeface="Roboto Light"/>
              </a:rPr>
              <a:t> </a:t>
            </a:r>
            <a:r>
              <a:rPr lang="et-EE" sz="1100" dirty="0" err="1">
                <a:latin typeface="Roboto Light"/>
                <a:ea typeface="Roboto Light"/>
                <a:cs typeface="Roboto Light"/>
              </a:rPr>
              <a:t>June</a:t>
            </a:r>
            <a:r>
              <a:rPr lang="en-US" sz="1100" dirty="0">
                <a:latin typeface="Roboto Light"/>
                <a:ea typeface="Roboto Light"/>
                <a:cs typeface="Roboto Light"/>
              </a:rPr>
              <a:t> 2026</a:t>
            </a:r>
          </a:p>
        </p:txBody>
      </p:sp>
      <p:pic>
        <p:nvPicPr>
          <p:cNvPr id="6" name="Pildi kohatäide 3" descr="Pilt, millel on kujutatud õues, maastik, puu, vesi&#10;&#10;Kirjeldus on genereeritud automaatselt">
            <a:extLst>
              <a:ext uri="{FF2B5EF4-FFF2-40B4-BE49-F238E27FC236}">
                <a16:creationId xmlns:a16="http://schemas.microsoft.com/office/drawing/2014/main" id="{CC0A9303-36D4-83F9-2A3C-2F5CBBFFBB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26" b="44388"/>
          <a:stretch>
            <a:fillRect/>
          </a:stretch>
        </p:blipFill>
        <p:spPr>
          <a:xfrm>
            <a:off x="1" y="1382751"/>
            <a:ext cx="12192000" cy="327845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28DD2-CA46-1F41-30E8-ACDD21563C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755129-49AE-4A41-9597-34695D8D41C6}" type="slidenum">
              <a:rPr lang="en-EE" smtClean="0"/>
              <a:pPr>
                <a:spcAft>
                  <a:spcPts val="600"/>
                </a:spcAft>
              </a:pPr>
              <a:t>1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376486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56F1953B-3325-C329-8BBC-218FE737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81" y="868348"/>
            <a:ext cx="10587037" cy="1452142"/>
          </a:xfrm>
        </p:spPr>
        <p:txBody>
          <a:bodyPr/>
          <a:lstStyle/>
          <a:p>
            <a:r>
              <a:rPr lang="et-EE" dirty="0"/>
              <a:t>NECP </a:t>
            </a:r>
            <a:r>
              <a:rPr lang="et-EE" dirty="0" err="1"/>
              <a:t>acts</a:t>
            </a:r>
            <a:r>
              <a:rPr lang="et-EE" dirty="0"/>
              <a:t> as a </a:t>
            </a:r>
            <a:r>
              <a:rPr lang="et-EE" dirty="0" err="1"/>
              <a:t>mirror</a:t>
            </a:r>
            <a:r>
              <a:rPr lang="et-EE" dirty="0"/>
              <a:t>, </a:t>
            </a:r>
            <a:r>
              <a:rPr lang="et-EE" dirty="0" err="1"/>
              <a:t>synthesizing</a:t>
            </a:r>
            <a:r>
              <a:rPr lang="et-EE" dirty="0"/>
              <a:t> </a:t>
            </a:r>
            <a:r>
              <a:rPr lang="et-EE" dirty="0" err="1"/>
              <a:t>existing</a:t>
            </a:r>
            <a:r>
              <a:rPr lang="et-EE" dirty="0"/>
              <a:t> </a:t>
            </a:r>
            <a:r>
              <a:rPr lang="et-EE" dirty="0" err="1"/>
              <a:t>national</a:t>
            </a:r>
            <a:r>
              <a:rPr lang="et-EE" dirty="0"/>
              <a:t> </a:t>
            </a:r>
            <a:r>
              <a:rPr lang="et-EE" dirty="0" err="1"/>
              <a:t>measures</a:t>
            </a:r>
            <a:r>
              <a:rPr lang="et-EE" dirty="0"/>
              <a:t> and </a:t>
            </a:r>
            <a:r>
              <a:rPr lang="et-EE" dirty="0" err="1"/>
              <a:t>energy</a:t>
            </a:r>
            <a:r>
              <a:rPr lang="et-EE" dirty="0"/>
              <a:t> </a:t>
            </a:r>
            <a:r>
              <a:rPr lang="et-EE" dirty="0" err="1"/>
              <a:t>objectives</a:t>
            </a:r>
            <a:endParaRPr lang="et-EE" dirty="0"/>
          </a:p>
        </p:txBody>
      </p:sp>
      <p:pic>
        <p:nvPicPr>
          <p:cNvPr id="6" name="Sisu kohatäide 5">
            <a:extLst>
              <a:ext uri="{FF2B5EF4-FFF2-40B4-BE49-F238E27FC236}">
                <a16:creationId xmlns:a16="http://schemas.microsoft.com/office/drawing/2014/main" id="{DF8E3BD7-3AF6-C344-A80E-31DCEE94A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140" r="1451" b="3737"/>
          <a:stretch>
            <a:fillRect/>
          </a:stretch>
        </p:blipFill>
        <p:spPr>
          <a:xfrm>
            <a:off x="2174695" y="2320490"/>
            <a:ext cx="9179104" cy="4009391"/>
          </a:xfrm>
          <a:prstGeom prst="rect">
            <a:avLst/>
          </a:prstGeom>
        </p:spPr>
      </p:pic>
      <p:sp>
        <p:nvSpPr>
          <p:cNvPr id="4" name="Slaidinumbri kohatäide 3">
            <a:extLst>
              <a:ext uri="{FF2B5EF4-FFF2-40B4-BE49-F238E27FC236}">
                <a16:creationId xmlns:a16="http://schemas.microsoft.com/office/drawing/2014/main" id="{36C492CF-B210-7F7A-5A8E-EEDFDDE49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755129-49AE-4A41-9597-34695D8D41C6}" type="slidenum">
              <a:rPr lang="en-EE" smtClean="0"/>
              <a:pPr/>
              <a:t>2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356622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AA575-143F-C1D7-5C0C-5834F08B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Estonia’s National Energy and Climate Plan </a:t>
            </a:r>
            <a:r>
              <a:rPr lang="en-US" dirty="0" err="1"/>
              <a:t>summarises</a:t>
            </a:r>
            <a:r>
              <a:rPr lang="en-US" dirty="0"/>
              <a:t> the country’s current climate and energy policy objectives and measures</a:t>
            </a:r>
          </a:p>
          <a:p>
            <a:endParaRPr lang="en-US" sz="3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4" name="Pilt 13">
            <a:extLst>
              <a:ext uri="{FF2B5EF4-FFF2-40B4-BE49-F238E27FC236}">
                <a16:creationId xmlns:a16="http://schemas.microsoft.com/office/drawing/2014/main" id="{4BA95C91-E515-F64B-0038-41EB1EDD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49" r="1047" b="2629"/>
          <a:stretch>
            <a:fillRect/>
          </a:stretch>
        </p:blipFill>
        <p:spPr>
          <a:xfrm>
            <a:off x="288758" y="1492568"/>
            <a:ext cx="11771697" cy="50619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58682-5C26-349E-E5B5-99FBFEBCE6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19755129-49AE-4A41-9597-34695D8D41C6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90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892C6FD5-575F-FFD5-3944-38C454469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608" y="409990"/>
            <a:ext cx="10587037" cy="1452142"/>
          </a:xfrm>
        </p:spPr>
        <p:txBody>
          <a:bodyPr/>
          <a:lstStyle/>
          <a:p>
            <a:r>
              <a:rPr lang="en-US" dirty="0"/>
              <a:t>Integrating Commission recommendations into Estonia’s policy cycle</a:t>
            </a:r>
            <a:endParaRPr lang="et-EE" dirty="0"/>
          </a:p>
        </p:txBody>
      </p:sp>
      <p:pic>
        <p:nvPicPr>
          <p:cNvPr id="6" name="Sisu kohatäide 5">
            <a:extLst>
              <a:ext uri="{FF2B5EF4-FFF2-40B4-BE49-F238E27FC236}">
                <a16:creationId xmlns:a16="http://schemas.microsoft.com/office/drawing/2014/main" id="{1B4ECBE0-24C8-CC79-F785-29FC5514B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870" r="630"/>
          <a:stretch>
            <a:fillRect/>
          </a:stretch>
        </p:blipFill>
        <p:spPr>
          <a:xfrm>
            <a:off x="2465240" y="1636611"/>
            <a:ext cx="9036021" cy="5221389"/>
          </a:xfrm>
          <a:prstGeom prst="rect">
            <a:avLst/>
          </a:prstGeom>
        </p:spPr>
      </p:pic>
      <p:sp>
        <p:nvSpPr>
          <p:cNvPr id="4" name="Slaidinumbri kohatäide 3">
            <a:extLst>
              <a:ext uri="{FF2B5EF4-FFF2-40B4-BE49-F238E27FC236}">
                <a16:creationId xmlns:a16="http://schemas.microsoft.com/office/drawing/2014/main" id="{668E930F-8E1A-5D0A-8779-BED16DB405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755129-49AE-4A41-9597-34695D8D41C6}" type="slidenum">
              <a:rPr lang="en-EE" smtClean="0"/>
              <a:pPr/>
              <a:t>4</a:t>
            </a:fld>
            <a:endParaRPr lang="en-E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4AB8B-5637-FCF3-A17B-722FF5D86BBF}"/>
              </a:ext>
            </a:extLst>
          </p:cNvPr>
          <p:cNvSpPr txBox="1"/>
          <p:nvPr/>
        </p:nvSpPr>
        <p:spPr>
          <a:xfrm>
            <a:off x="278965" y="2875108"/>
            <a:ext cx="3231781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t-EE" b="1" u="sng" dirty="0">
                <a:solidFill>
                  <a:schemeClr val="tx2"/>
                </a:solidFill>
              </a:rPr>
              <a:t>CHALLLENGES: </a:t>
            </a:r>
          </a:p>
          <a:p>
            <a:endParaRPr lang="et-EE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reporting vs policy cycles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investment planning uncertainty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administrative burden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data availability</a:t>
            </a:r>
          </a:p>
        </p:txBody>
      </p:sp>
    </p:spTree>
    <p:extLst>
      <p:ext uri="{BB962C8B-B14F-4D97-AF65-F5344CB8AC3E}">
        <p14:creationId xmlns:p14="http://schemas.microsoft.com/office/powerpoint/2010/main" val="256003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19940DAB-14A0-D9C7-30C1-02A02E1E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944528"/>
            <a:ext cx="10587037" cy="918749"/>
          </a:xfrm>
        </p:spPr>
        <p:txBody>
          <a:bodyPr anchor="ctr">
            <a:normAutofit/>
          </a:bodyPr>
          <a:lstStyle/>
          <a:p>
            <a:r>
              <a:rPr lang="en-US" dirty="0"/>
              <a:t>Estonian climate projections</a:t>
            </a:r>
            <a:endParaRPr lang="et-EE" dirty="0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86CEA70F-9190-22E0-1F69-4AE27D95FF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22466" y="6356350"/>
            <a:ext cx="93133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9755129-49AE-4A41-9597-34695D8D41C6}" type="slidenum">
              <a:rPr lang="en-EE" smtClean="0"/>
              <a:pPr>
                <a:spcAft>
                  <a:spcPts val="600"/>
                </a:spcAft>
              </a:pPr>
              <a:t>5</a:t>
            </a:fld>
            <a:endParaRPr lang="en-EE"/>
          </a:p>
        </p:txBody>
      </p:sp>
      <p:pic>
        <p:nvPicPr>
          <p:cNvPr id="11" name="Sisu kohatäide 10">
            <a:extLst>
              <a:ext uri="{FF2B5EF4-FFF2-40B4-BE49-F238E27FC236}">
                <a16:creationId xmlns:a16="http://schemas.microsoft.com/office/drawing/2014/main" id="{6DAD64B6-D0E7-5897-BB96-9E78EF494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1778" y="1724893"/>
            <a:ext cx="9557886" cy="4769842"/>
          </a:xfrm>
          <a:prstGeom prst="rect">
            <a:avLst/>
          </a:prstGeom>
        </p:spPr>
      </p:pic>
      <p:cxnSp>
        <p:nvCxnSpPr>
          <p:cNvPr id="13" name="Sirge noolkonnektor 12">
            <a:extLst>
              <a:ext uri="{FF2B5EF4-FFF2-40B4-BE49-F238E27FC236}">
                <a16:creationId xmlns:a16="http://schemas.microsoft.com/office/drawing/2014/main" id="{BADFF989-D526-4A64-92B8-494378000CE0}"/>
              </a:ext>
            </a:extLst>
          </p:cNvPr>
          <p:cNvCxnSpPr/>
          <p:nvPr/>
        </p:nvCxnSpPr>
        <p:spPr>
          <a:xfrm>
            <a:off x="10422466" y="4640366"/>
            <a:ext cx="0" cy="58111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5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36070" y="510112"/>
            <a:ext cx="10544880" cy="620107"/>
          </a:xfrm>
        </p:spPr>
        <p:txBody>
          <a:bodyPr>
            <a:noAutofit/>
          </a:bodyPr>
          <a:lstStyle/>
          <a:p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Estonia's</a:t>
            </a:r>
            <a:r>
              <a:rPr lang="et-EE" altLang="et-EE" sz="4000" dirty="0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national</a:t>
            </a:r>
            <a:r>
              <a:rPr lang="et-EE" altLang="et-EE" sz="4000" dirty="0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climate</a:t>
            </a:r>
            <a:r>
              <a:rPr lang="et-EE" altLang="et-EE" sz="4000" dirty="0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 and </a:t>
            </a:r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energy</a:t>
            </a:r>
            <a:r>
              <a:rPr lang="et-EE" altLang="et-EE" sz="4000" dirty="0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targets</a:t>
            </a:r>
            <a:r>
              <a:rPr lang="et-EE" altLang="et-EE" sz="4000" dirty="0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 and </a:t>
            </a:r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identified</a:t>
            </a:r>
            <a:r>
              <a:rPr lang="et-EE" altLang="et-EE" sz="4000" dirty="0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target</a:t>
            </a:r>
            <a:r>
              <a:rPr lang="et-EE" altLang="et-EE" sz="4000" dirty="0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t-EE" altLang="et-EE" sz="4000" dirty="0" err="1">
                <a:solidFill>
                  <a:srgbClr val="003399"/>
                </a:solidFill>
                <a:latin typeface="Roboto Light"/>
                <a:ea typeface="Roboto Light"/>
                <a:cs typeface="Roboto Light"/>
              </a:rPr>
              <a:t>gaps</a:t>
            </a:r>
            <a:endParaRPr lang="et-EE" altLang="et-EE" sz="4000" dirty="0">
              <a:solidFill>
                <a:srgbClr val="003399"/>
              </a:solidFill>
              <a:latin typeface="Roboto Light"/>
              <a:ea typeface="Roboto Light"/>
              <a:cs typeface="Roboto Light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258976" y="956828"/>
            <a:ext cx="7146990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" name="Skemaatiline diagramm 6">
            <a:extLst>
              <a:ext uri="{FF2B5EF4-FFF2-40B4-BE49-F238E27FC236}">
                <a16:creationId xmlns:a16="http://schemas.microsoft.com/office/drawing/2014/main" id="{C4CD4A9E-7DA9-F00C-6622-92D2D3632A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57238"/>
              </p:ext>
            </p:extLst>
          </p:nvPr>
        </p:nvGraphicFramePr>
        <p:xfrm>
          <a:off x="1099479" y="1303609"/>
          <a:ext cx="9544691" cy="5551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0949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666C0EA7-0E5D-B306-50B2-E1C0B8C8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526" y="501650"/>
            <a:ext cx="10587037" cy="1452142"/>
          </a:xfrm>
        </p:spPr>
        <p:txBody>
          <a:bodyPr/>
          <a:lstStyle/>
          <a:p>
            <a:r>
              <a:rPr lang="et-EE" dirty="0" err="1"/>
              <a:t>Understanding</a:t>
            </a:r>
            <a:r>
              <a:rPr lang="et-EE" dirty="0"/>
              <a:t> </a:t>
            </a:r>
            <a:r>
              <a:rPr lang="et-EE" dirty="0" err="1"/>
              <a:t>the</a:t>
            </a:r>
            <a:r>
              <a:rPr lang="et-EE" dirty="0"/>
              <a:t> </a:t>
            </a:r>
            <a:r>
              <a:rPr lang="et-EE" dirty="0" err="1"/>
              <a:t>Gaps</a:t>
            </a:r>
            <a:r>
              <a:rPr lang="et-EE" dirty="0"/>
              <a:t>: </a:t>
            </a:r>
            <a:r>
              <a:rPr lang="et-EE" dirty="0" err="1"/>
              <a:t>Root</a:t>
            </a:r>
            <a:r>
              <a:rPr lang="et-EE" dirty="0"/>
              <a:t> </a:t>
            </a:r>
            <a:r>
              <a:rPr lang="et-EE" dirty="0" err="1"/>
              <a:t>Causes</a:t>
            </a:r>
            <a:r>
              <a:rPr lang="et-EE" dirty="0"/>
              <a:t> and </a:t>
            </a:r>
            <a:r>
              <a:rPr lang="et-EE" dirty="0" err="1"/>
              <a:t>Strategic</a:t>
            </a:r>
            <a:r>
              <a:rPr lang="et-EE" dirty="0"/>
              <a:t> </a:t>
            </a:r>
            <a:r>
              <a:rPr lang="et-EE" dirty="0" err="1"/>
              <a:t>Challenges</a:t>
            </a:r>
            <a:endParaRPr lang="et-EE" dirty="0"/>
          </a:p>
        </p:txBody>
      </p:sp>
      <p:pic>
        <p:nvPicPr>
          <p:cNvPr id="6" name="Sisu kohatäide 5">
            <a:extLst>
              <a:ext uri="{FF2B5EF4-FFF2-40B4-BE49-F238E27FC236}">
                <a16:creationId xmlns:a16="http://schemas.microsoft.com/office/drawing/2014/main" id="{E8200FFE-CA52-EFB9-E41B-F8D8CE3BC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6" t="12597" r="81" b="17718"/>
          <a:stretch>
            <a:fillRect/>
          </a:stretch>
        </p:blipFill>
        <p:spPr>
          <a:xfrm>
            <a:off x="395437" y="1953792"/>
            <a:ext cx="11078044" cy="4325419"/>
          </a:xfrm>
          <a:prstGeom prst="rect">
            <a:avLst/>
          </a:prstGeom>
        </p:spPr>
      </p:pic>
      <p:sp>
        <p:nvSpPr>
          <p:cNvPr id="4" name="Slaidinumbri kohatäide 3">
            <a:extLst>
              <a:ext uri="{FF2B5EF4-FFF2-40B4-BE49-F238E27FC236}">
                <a16:creationId xmlns:a16="http://schemas.microsoft.com/office/drawing/2014/main" id="{CEAFCC2A-C0E0-9005-0FAB-E6B8EB5E11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755129-49AE-4A41-9597-34695D8D41C6}" type="slidenum">
              <a:rPr lang="en-EE" smtClean="0"/>
              <a:pPr/>
              <a:t>7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48872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57B5-D009-5E62-F2E6-533DA02E8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713" y="2570281"/>
            <a:ext cx="10587037" cy="1133062"/>
          </a:xfrm>
        </p:spPr>
        <p:txBody>
          <a:bodyPr>
            <a:normAutofit/>
          </a:bodyPr>
          <a:lstStyle/>
          <a:p>
            <a:r>
              <a:rPr lang="et-EE" dirty="0" err="1">
                <a:latin typeface="Roboto Light"/>
                <a:ea typeface="Roboto Light"/>
                <a:cs typeface="Roboto Light"/>
              </a:rPr>
              <a:t>Thank</a:t>
            </a:r>
            <a:r>
              <a:rPr lang="et-EE" dirty="0">
                <a:latin typeface="Roboto Light"/>
                <a:ea typeface="Roboto Light"/>
                <a:cs typeface="Roboto Light"/>
              </a:rPr>
              <a:t> </a:t>
            </a:r>
            <a:r>
              <a:rPr lang="et-EE" dirty="0" err="1">
                <a:latin typeface="Roboto Light"/>
                <a:ea typeface="Roboto Light"/>
                <a:cs typeface="Roboto Light"/>
              </a:rPr>
              <a:t>you</a:t>
            </a:r>
            <a:r>
              <a:rPr lang="et-EE" dirty="0">
                <a:latin typeface="Roboto Light"/>
                <a:ea typeface="Roboto Light"/>
                <a:cs typeface="Roboto Light"/>
              </a:rPr>
              <a:t>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D6636-0546-9A61-1C6A-0C763E8997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755129-49AE-4A41-9597-34695D8D41C6}" type="slidenum">
              <a:rPr lang="en-EE" smtClean="0"/>
              <a:pPr/>
              <a:t>8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646969885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Custom 1">
      <a:dk1>
        <a:srgbClr val="003087"/>
      </a:dk1>
      <a:lt1>
        <a:srgbClr val="FFFFFF"/>
      </a:lt1>
      <a:dk2>
        <a:srgbClr val="272727"/>
      </a:dk2>
      <a:lt2>
        <a:srgbClr val="E7E6E6"/>
      </a:lt2>
      <a:accent1>
        <a:srgbClr val="003087"/>
      </a:accent1>
      <a:accent2>
        <a:srgbClr val="F0A320"/>
      </a:accent2>
      <a:accent3>
        <a:srgbClr val="006EB5"/>
      </a:accent3>
      <a:accent4>
        <a:srgbClr val="90C8E8"/>
      </a:accent4>
      <a:accent5>
        <a:srgbClr val="E76000"/>
      </a:accent5>
      <a:accent6>
        <a:srgbClr val="B9D9EB"/>
      </a:accent6>
      <a:hlink>
        <a:srgbClr val="003087"/>
      </a:hlink>
      <a:folHlink>
        <a:srgbClr val="003087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Custom 1">
      <a:dk1>
        <a:srgbClr val="003087"/>
      </a:dk1>
      <a:lt1>
        <a:srgbClr val="FFFFFF"/>
      </a:lt1>
      <a:dk2>
        <a:srgbClr val="272727"/>
      </a:dk2>
      <a:lt2>
        <a:srgbClr val="E7E6E6"/>
      </a:lt2>
      <a:accent1>
        <a:srgbClr val="003087"/>
      </a:accent1>
      <a:accent2>
        <a:srgbClr val="F0A320"/>
      </a:accent2>
      <a:accent3>
        <a:srgbClr val="006EB5"/>
      </a:accent3>
      <a:accent4>
        <a:srgbClr val="90C8E8"/>
      </a:accent4>
      <a:accent5>
        <a:srgbClr val="E76000"/>
      </a:accent5>
      <a:accent6>
        <a:srgbClr val="B9D9EB"/>
      </a:accent6>
      <a:hlink>
        <a:srgbClr val="003087"/>
      </a:hlink>
      <a:folHlink>
        <a:srgbClr val="003087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'i kujundu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9E15451F77F4B856619B28208FAAA" ma:contentTypeVersion="12" ma:contentTypeDescription="Create a new document." ma:contentTypeScope="" ma:versionID="1a7fdba3ad7db10c9904a5197bd15a1b">
  <xsd:schema xmlns:xsd="http://www.w3.org/2001/XMLSchema" xmlns:xs="http://www.w3.org/2001/XMLSchema" xmlns:p="http://schemas.microsoft.com/office/2006/metadata/properties" xmlns:ns2="d85d5ab4-6aee-4f28-851d-b4a73bf57296" xmlns:ns3="31301ee9-83ff-4db9-9060-04877f3eb4da" targetNamespace="http://schemas.microsoft.com/office/2006/metadata/properties" ma:root="true" ma:fieldsID="7da69f85872c69f1fa5142d23b825db5" ns2:_="" ns3:_="">
    <xsd:import namespace="d85d5ab4-6aee-4f28-851d-b4a73bf57296"/>
    <xsd:import namespace="31301ee9-83ff-4db9-9060-04877f3eb4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d5ab4-6aee-4f28-851d-b4a73bf57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de42cbc-566b-46c9-aea5-a71cdcd36d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01ee9-83ff-4db9-9060-04877f3eb4d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8aacfc-34eb-42b2-8dd0-ea7de858e4b3}" ma:internalName="TaxCatchAll" ma:showField="CatchAllData" ma:web="31301ee9-83ff-4db9-9060-04877f3eb4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1301ee9-83ff-4db9-9060-04877f3eb4da" xsi:nil="true"/>
    <lcf76f155ced4ddcb4097134ff3c332f xmlns="d85d5ab4-6aee-4f28-851d-b4a73bf5729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49EA83-5D67-4E5A-B415-8260A615C658}"/>
</file>

<file path=customXml/itemProps2.xml><?xml version="1.0" encoding="utf-8"?>
<ds:datastoreItem xmlns:ds="http://schemas.openxmlformats.org/officeDocument/2006/customXml" ds:itemID="{6475E8AC-85E5-4B82-BAF1-5367C259BEA0}"/>
</file>

<file path=customXml/itemProps3.xml><?xml version="1.0" encoding="utf-8"?>
<ds:datastoreItem xmlns:ds="http://schemas.openxmlformats.org/officeDocument/2006/customXml" ds:itemID="{6057905F-5B5E-4AAA-A7F3-004AB4C36F47}"/>
</file>

<file path=docMetadata/LabelInfo.xml><?xml version="1.0" encoding="utf-8"?>
<clbl:labelList xmlns:clbl="http://schemas.microsoft.com/office/2020/mipLabelMetadata">
  <clbl:label id="{982d5054-1b3c-4a65-9351-3c842ea4ca12}" enabled="0" method="" siteId="{982d5054-1b3c-4a65-9351-3c842ea4ca1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650</Words>
  <Application>Microsoft Office PowerPoint</Application>
  <PresentationFormat>Laiekraan</PresentationFormat>
  <Paragraphs>38</Paragraphs>
  <Slides>8</Slides>
  <Notes>2</Notes>
  <HiddenSlides>0</HiddenSlides>
  <MMClips>0</MMClips>
  <ScaleCrop>false</ScaleCrop>
  <HeadingPairs>
    <vt:vector size="6" baseType="variant">
      <vt:variant>
        <vt:lpstr>Kasutatud fondid</vt:lpstr>
      </vt:variant>
      <vt:variant>
        <vt:i4>7</vt:i4>
      </vt:variant>
      <vt:variant>
        <vt:lpstr>Kujundus</vt:lpstr>
      </vt:variant>
      <vt:variant>
        <vt:i4>2</vt:i4>
      </vt:variant>
      <vt:variant>
        <vt:lpstr>Slaidipealkirjad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Roboto</vt:lpstr>
      <vt:lpstr>Roboto Condensed Light</vt:lpstr>
      <vt:lpstr>Roboto Light</vt:lpstr>
      <vt:lpstr>Wingdings</vt:lpstr>
      <vt:lpstr>White</vt:lpstr>
      <vt:lpstr>White</vt:lpstr>
      <vt:lpstr>Estonia’s reflection on Commission’s assessment of Estonia’s NECP  Merilyn Möls  Policy lead of Climate strategy Climate Department  02 June 2026</vt:lpstr>
      <vt:lpstr>NECP acts as a mirror, synthesizing existing national measures and energy objectives</vt:lpstr>
      <vt:lpstr>Estonia’s National Energy and Climate Plan summarises the country’s current climate and energy policy objectives and measures </vt:lpstr>
      <vt:lpstr>Integrating Commission recommendations into Estonia’s policy cycle</vt:lpstr>
      <vt:lpstr>Estonian climate projections</vt:lpstr>
      <vt:lpstr>Estonia's national climate and energy targets and identified target gaps</vt:lpstr>
      <vt:lpstr>Understanding the Gaps: Root Causes and Strategic Challenges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 Suursild</dc:creator>
  <cp:lastModifiedBy>Merilyn Möls</cp:lastModifiedBy>
  <cp:revision>76</cp:revision>
  <dcterms:created xsi:type="dcterms:W3CDTF">2026-03-04T12:00:23Z</dcterms:created>
  <dcterms:modified xsi:type="dcterms:W3CDTF">2026-06-02T09:36:05Z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0x010100DA49E15451F77F4B856619B28208FAAA</vt:lpwstr>
  </property>
  <property fmtid="{D5CDD505-2E9C-101B-9397-08002B2CF9AE}" pid="3" name="Order">
    <vt:r8>293300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